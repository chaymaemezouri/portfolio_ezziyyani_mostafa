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diagrams/layout2.xml" ContentType="application/vnd.openxmlformats-officedocument.drawingml.diagramLayout+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61"/>
  </p:notesMasterIdLst>
  <p:sldIdLst>
    <p:sldId id="257" r:id="rId2"/>
    <p:sldId id="258" r:id="rId3"/>
    <p:sldId id="288" r:id="rId4"/>
    <p:sldId id="262" r:id="rId5"/>
    <p:sldId id="261" r:id="rId6"/>
    <p:sldId id="287" r:id="rId7"/>
    <p:sldId id="263" r:id="rId8"/>
    <p:sldId id="264" r:id="rId9"/>
    <p:sldId id="265" r:id="rId10"/>
    <p:sldId id="259" r:id="rId11"/>
    <p:sldId id="266" r:id="rId12"/>
    <p:sldId id="267" r:id="rId13"/>
    <p:sldId id="268" r:id="rId14"/>
    <p:sldId id="269" r:id="rId15"/>
    <p:sldId id="260" r:id="rId16"/>
    <p:sldId id="297" r:id="rId17"/>
    <p:sldId id="298" r:id="rId18"/>
    <p:sldId id="299" r:id="rId19"/>
    <p:sldId id="271" r:id="rId20"/>
    <p:sldId id="291" r:id="rId21"/>
    <p:sldId id="289" r:id="rId22"/>
    <p:sldId id="292" r:id="rId23"/>
    <p:sldId id="294" r:id="rId24"/>
    <p:sldId id="293" r:id="rId25"/>
    <p:sldId id="295" r:id="rId26"/>
    <p:sldId id="300" r:id="rId27"/>
    <p:sldId id="296" r:id="rId28"/>
    <p:sldId id="301" r:id="rId29"/>
    <p:sldId id="302" r:id="rId30"/>
    <p:sldId id="303" r:id="rId31"/>
    <p:sldId id="304" r:id="rId32"/>
    <p:sldId id="305" r:id="rId33"/>
    <p:sldId id="306" r:id="rId34"/>
    <p:sldId id="307" r:id="rId35"/>
    <p:sldId id="308" r:id="rId36"/>
    <p:sldId id="312" r:id="rId37"/>
    <p:sldId id="313" r:id="rId38"/>
    <p:sldId id="314" r:id="rId39"/>
    <p:sldId id="315" r:id="rId40"/>
    <p:sldId id="309" r:id="rId41"/>
    <p:sldId id="316" r:id="rId42"/>
    <p:sldId id="317" r:id="rId43"/>
    <p:sldId id="310" r:id="rId44"/>
    <p:sldId id="311" r:id="rId45"/>
    <p:sldId id="318" r:id="rId46"/>
    <p:sldId id="319" r:id="rId47"/>
    <p:sldId id="320" r:id="rId48"/>
    <p:sldId id="321" r:id="rId49"/>
    <p:sldId id="322" r:id="rId50"/>
    <p:sldId id="323" r:id="rId51"/>
    <p:sldId id="326" r:id="rId52"/>
    <p:sldId id="324" r:id="rId53"/>
    <p:sldId id="325" r:id="rId54"/>
    <p:sldId id="327" r:id="rId55"/>
    <p:sldId id="328" r:id="rId56"/>
    <p:sldId id="329" r:id="rId57"/>
    <p:sldId id="330" r:id="rId58"/>
    <p:sldId id="331" r:id="rId59"/>
    <p:sldId id="332"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648C"/>
    <a:srgbClr val="EBE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Style moyen 1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7" autoAdjust="0"/>
    <p:restoredTop sz="94660"/>
  </p:normalViewPr>
  <p:slideViewPr>
    <p:cSldViewPr snapToGrid="0">
      <p:cViewPr varScale="1">
        <p:scale>
          <a:sx n="68" d="100"/>
          <a:sy n="68" d="100"/>
        </p:scale>
        <p:origin x="-584" y="-6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DF0D4D-76F2-48A0-800A-38BF6E6F6888}"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fr-FR"/>
        </a:p>
      </dgm:t>
    </dgm:pt>
    <dgm:pt modelId="{0EE89FCB-8440-4C64-B9D6-6F00367751B8}">
      <dgm:prSet phldrT="[Texte]" custT="1"/>
      <dgm:spPr/>
      <dgm:t>
        <a:bodyPr/>
        <a:lstStyle/>
        <a:p>
          <a:r>
            <a:rPr lang="fr-FR" sz="2000" b="1" dirty="0">
              <a:latin typeface="Times New Roman" panose="02020603050405020304" pitchFamily="18" charset="0"/>
              <a:cs typeface="Times New Roman" panose="02020603050405020304" pitchFamily="18" charset="0"/>
            </a:rPr>
            <a:t>Particulier</a:t>
          </a:r>
        </a:p>
      </dgm:t>
    </dgm:pt>
    <dgm:pt modelId="{8B365255-F3F2-4B6F-8BB2-0ABA22E9B46F}" type="parTrans" cxnId="{31A2729B-F6B9-4115-9428-C8214233F1AC}">
      <dgm:prSet/>
      <dgm:spPr/>
      <dgm:t>
        <a:bodyPr/>
        <a:lstStyle/>
        <a:p>
          <a:endParaRPr lang="fr-FR" sz="2000" b="1">
            <a:latin typeface="Times New Roman" panose="02020603050405020304" pitchFamily="18" charset="0"/>
            <a:cs typeface="Times New Roman" panose="02020603050405020304" pitchFamily="18" charset="0"/>
          </a:endParaRPr>
        </a:p>
      </dgm:t>
    </dgm:pt>
    <dgm:pt modelId="{CC9698F8-36EC-439D-B37F-E9EDEFAAAF39}" type="sibTrans" cxnId="{31A2729B-F6B9-4115-9428-C8214233F1AC}">
      <dgm:prSet/>
      <dgm:spPr/>
      <dgm:t>
        <a:bodyPr/>
        <a:lstStyle/>
        <a:p>
          <a:endParaRPr lang="fr-FR" sz="2000" b="1">
            <a:latin typeface="Times New Roman" panose="02020603050405020304" pitchFamily="18" charset="0"/>
            <a:cs typeface="Times New Roman" panose="02020603050405020304" pitchFamily="18" charset="0"/>
          </a:endParaRPr>
        </a:p>
      </dgm:t>
    </dgm:pt>
    <dgm:pt modelId="{B524FE6A-5B17-4313-9941-60D7F13A7378}">
      <dgm:prSet phldrT="[Texte]" custT="1"/>
      <dgm:spPr/>
      <dgm:t>
        <a:bodyPr/>
        <a:lstStyle/>
        <a:p>
          <a:r>
            <a:rPr lang="fr-FR" sz="2000" b="1" dirty="0">
              <a:latin typeface="Times New Roman" panose="02020603050405020304" pitchFamily="18" charset="0"/>
              <a:cs typeface="Times New Roman" panose="02020603050405020304" pitchFamily="18" charset="0"/>
            </a:rPr>
            <a:t>Écoles, Universités</a:t>
          </a:r>
        </a:p>
      </dgm:t>
    </dgm:pt>
    <dgm:pt modelId="{DA6CB9C4-68D7-4E6D-BB01-46031A1E2B5C}" type="parTrans" cxnId="{49B68003-6956-427F-BC85-6CA74C723A90}">
      <dgm:prSet/>
      <dgm:spPr/>
      <dgm:t>
        <a:bodyPr/>
        <a:lstStyle/>
        <a:p>
          <a:endParaRPr lang="fr-FR" sz="2000" b="1">
            <a:latin typeface="Times New Roman" panose="02020603050405020304" pitchFamily="18" charset="0"/>
            <a:cs typeface="Times New Roman" panose="02020603050405020304" pitchFamily="18" charset="0"/>
          </a:endParaRPr>
        </a:p>
      </dgm:t>
    </dgm:pt>
    <dgm:pt modelId="{0883DDB2-5FF2-4481-8F36-F7E03445974A}" type="sibTrans" cxnId="{49B68003-6956-427F-BC85-6CA74C723A90}">
      <dgm:prSet/>
      <dgm:spPr/>
      <dgm:t>
        <a:bodyPr/>
        <a:lstStyle/>
        <a:p>
          <a:endParaRPr lang="fr-FR" sz="2000" b="1">
            <a:latin typeface="Times New Roman" panose="02020603050405020304" pitchFamily="18" charset="0"/>
            <a:cs typeface="Times New Roman" panose="02020603050405020304" pitchFamily="18" charset="0"/>
          </a:endParaRPr>
        </a:p>
      </dgm:t>
    </dgm:pt>
    <dgm:pt modelId="{7D742DB0-0640-417C-B84D-D95AA3CEB680}">
      <dgm:prSet phldrT="[Texte]" custT="1"/>
      <dgm:spPr/>
      <dgm:t>
        <a:bodyPr/>
        <a:lstStyle/>
        <a:p>
          <a:r>
            <a:rPr lang="fr-FR" sz="2000" b="1" dirty="0">
              <a:latin typeface="Times New Roman" panose="02020603050405020304" pitchFamily="18" charset="0"/>
              <a:cs typeface="Times New Roman" panose="02020603050405020304" pitchFamily="18" charset="0"/>
            </a:rPr>
            <a:t>Entreprises</a:t>
          </a:r>
        </a:p>
      </dgm:t>
    </dgm:pt>
    <dgm:pt modelId="{79C8DDB1-5D0F-4E86-9A21-279610F89881}" type="parTrans" cxnId="{417226BE-D259-4091-A049-E1E65AAC8F88}">
      <dgm:prSet/>
      <dgm:spPr/>
      <dgm:t>
        <a:bodyPr/>
        <a:lstStyle/>
        <a:p>
          <a:endParaRPr lang="fr-FR" sz="2000" b="1">
            <a:latin typeface="Times New Roman" panose="02020603050405020304" pitchFamily="18" charset="0"/>
            <a:cs typeface="Times New Roman" panose="02020603050405020304" pitchFamily="18" charset="0"/>
          </a:endParaRPr>
        </a:p>
      </dgm:t>
    </dgm:pt>
    <dgm:pt modelId="{97472D73-6A4F-4F05-923D-78DB4A9030F0}" type="sibTrans" cxnId="{417226BE-D259-4091-A049-E1E65AAC8F88}">
      <dgm:prSet/>
      <dgm:spPr/>
      <dgm:t>
        <a:bodyPr/>
        <a:lstStyle/>
        <a:p>
          <a:endParaRPr lang="fr-FR" sz="2000" b="1">
            <a:latin typeface="Times New Roman" panose="02020603050405020304" pitchFamily="18" charset="0"/>
            <a:cs typeface="Times New Roman" panose="02020603050405020304" pitchFamily="18" charset="0"/>
          </a:endParaRPr>
        </a:p>
      </dgm:t>
    </dgm:pt>
    <dgm:pt modelId="{3BA89BDF-CC0F-4FFA-8BAF-4CB91F37A6C0}">
      <dgm:prSet custT="1"/>
      <dgm:spPr/>
      <dgm:t>
        <a:bodyPr/>
        <a:lstStyle/>
        <a:p>
          <a:r>
            <a:rPr lang="fr-FR" sz="2000" b="1" dirty="0">
              <a:latin typeface="Times New Roman" panose="02020603050405020304" pitchFamily="18" charset="0"/>
              <a:cs typeface="Times New Roman" panose="02020603050405020304" pitchFamily="18" charset="0"/>
            </a:rPr>
            <a:t>Gouvernement</a:t>
          </a:r>
        </a:p>
      </dgm:t>
    </dgm:pt>
    <dgm:pt modelId="{A15AD697-5216-4C8A-8BE1-9916700B8028}" type="parTrans" cxnId="{ABB061F9-EEB3-41F4-843A-1AA85A839A95}">
      <dgm:prSet/>
      <dgm:spPr/>
      <dgm:t>
        <a:bodyPr/>
        <a:lstStyle/>
        <a:p>
          <a:endParaRPr lang="fr-FR" sz="2000" b="1">
            <a:latin typeface="Times New Roman" panose="02020603050405020304" pitchFamily="18" charset="0"/>
            <a:cs typeface="Times New Roman" panose="02020603050405020304" pitchFamily="18" charset="0"/>
          </a:endParaRPr>
        </a:p>
      </dgm:t>
    </dgm:pt>
    <dgm:pt modelId="{5A8D2D76-6731-482B-BFEC-A7FA86382B99}" type="sibTrans" cxnId="{ABB061F9-EEB3-41F4-843A-1AA85A839A95}">
      <dgm:prSet/>
      <dgm:spPr/>
      <dgm:t>
        <a:bodyPr/>
        <a:lstStyle/>
        <a:p>
          <a:endParaRPr lang="fr-FR" sz="2000" b="1">
            <a:latin typeface="Times New Roman" panose="02020603050405020304" pitchFamily="18" charset="0"/>
            <a:cs typeface="Times New Roman" panose="02020603050405020304" pitchFamily="18" charset="0"/>
          </a:endParaRPr>
        </a:p>
      </dgm:t>
    </dgm:pt>
    <dgm:pt modelId="{BE2E7BBA-0B33-43CE-97D4-DDB7A2EB5B8E}">
      <dgm:prSet custT="1"/>
      <dgm:spPr/>
      <dgm:t>
        <a:bodyPr/>
        <a:lstStyle/>
        <a:p>
          <a:r>
            <a:rPr lang="fr-FR" sz="2000" b="1" dirty="0">
              <a:latin typeface="Times New Roman" panose="02020603050405020304" pitchFamily="18" charset="0"/>
              <a:cs typeface="Times New Roman" panose="02020603050405020304" pitchFamily="18" charset="0"/>
            </a:rPr>
            <a:t>Carnet d’adresse: nom, prénom, tél, email, adresse…</a:t>
          </a:r>
        </a:p>
      </dgm:t>
    </dgm:pt>
    <dgm:pt modelId="{0E2F6A13-914B-4DAA-8A1C-E4CF06912802}" type="parTrans" cxnId="{9BAA08A0-EC43-4951-9254-3B97AAF4D71B}">
      <dgm:prSet/>
      <dgm:spPr/>
      <dgm:t>
        <a:bodyPr/>
        <a:lstStyle/>
        <a:p>
          <a:endParaRPr lang="fr-FR" sz="2000" b="1">
            <a:latin typeface="Times New Roman" panose="02020603050405020304" pitchFamily="18" charset="0"/>
            <a:cs typeface="Times New Roman" panose="02020603050405020304" pitchFamily="18" charset="0"/>
          </a:endParaRPr>
        </a:p>
      </dgm:t>
    </dgm:pt>
    <dgm:pt modelId="{6DD2A14E-DE94-4AE8-8477-F171F7D0EE13}" type="sibTrans" cxnId="{9BAA08A0-EC43-4951-9254-3B97AAF4D71B}">
      <dgm:prSet/>
      <dgm:spPr/>
      <dgm:t>
        <a:bodyPr/>
        <a:lstStyle/>
        <a:p>
          <a:endParaRPr lang="fr-FR" sz="2000" b="1">
            <a:latin typeface="Times New Roman" panose="02020603050405020304" pitchFamily="18" charset="0"/>
            <a:cs typeface="Times New Roman" panose="02020603050405020304" pitchFamily="18" charset="0"/>
          </a:endParaRPr>
        </a:p>
      </dgm:t>
    </dgm:pt>
    <dgm:pt modelId="{F108456D-E73A-4143-B5EA-511C29AD940C}">
      <dgm:prSet custT="1"/>
      <dgm:spPr/>
      <dgm:t>
        <a:bodyPr/>
        <a:lstStyle/>
        <a:p>
          <a:r>
            <a:rPr lang="fr-FR" sz="2000" b="1" dirty="0">
              <a:latin typeface="Times New Roman" panose="02020603050405020304" pitchFamily="18" charset="0"/>
              <a:cs typeface="Times New Roman" panose="02020603050405020304" pitchFamily="18" charset="0"/>
            </a:rPr>
            <a:t>Données sur les étudiants : Id, nom, prénom, classe, section, cycle, année…</a:t>
          </a:r>
        </a:p>
      </dgm:t>
    </dgm:pt>
    <dgm:pt modelId="{308E3D7B-D416-4F0E-B874-AEE55C88E5D8}" type="parTrans" cxnId="{0F7B7C61-37A6-442A-BA67-49FF5D64C0FB}">
      <dgm:prSet/>
      <dgm:spPr/>
      <dgm:t>
        <a:bodyPr/>
        <a:lstStyle/>
        <a:p>
          <a:endParaRPr lang="fr-FR" sz="2000" b="1">
            <a:latin typeface="Times New Roman" panose="02020603050405020304" pitchFamily="18" charset="0"/>
            <a:cs typeface="Times New Roman" panose="02020603050405020304" pitchFamily="18" charset="0"/>
          </a:endParaRPr>
        </a:p>
      </dgm:t>
    </dgm:pt>
    <dgm:pt modelId="{67AB256C-FEC7-44E5-B4F1-64600C7EE955}" type="sibTrans" cxnId="{0F7B7C61-37A6-442A-BA67-49FF5D64C0FB}">
      <dgm:prSet/>
      <dgm:spPr/>
      <dgm:t>
        <a:bodyPr/>
        <a:lstStyle/>
        <a:p>
          <a:endParaRPr lang="fr-FR" sz="2000" b="1">
            <a:latin typeface="Times New Roman" panose="02020603050405020304" pitchFamily="18" charset="0"/>
            <a:cs typeface="Times New Roman" panose="02020603050405020304" pitchFamily="18" charset="0"/>
          </a:endParaRPr>
        </a:p>
      </dgm:t>
    </dgm:pt>
    <dgm:pt modelId="{00044CCC-B32B-40AD-B6A4-9B8E4A75AB89}">
      <dgm:prSet custT="1"/>
      <dgm:spPr/>
      <dgm:t>
        <a:bodyPr/>
        <a:lstStyle/>
        <a:p>
          <a:r>
            <a:rPr lang="fr-FR" sz="2000" b="1" dirty="0">
              <a:latin typeface="Times New Roman" panose="02020603050405020304" pitchFamily="18" charset="0"/>
              <a:cs typeface="Times New Roman" panose="02020603050405020304" pitchFamily="18" charset="0"/>
            </a:rPr>
            <a:t>Données sur les formations : matière, intervenant, masse horaire, salle</a:t>
          </a:r>
        </a:p>
      </dgm:t>
    </dgm:pt>
    <dgm:pt modelId="{9F3412FD-D042-4B3D-98B0-2CAC1311ED89}" type="parTrans" cxnId="{B5854BA3-FCC3-40E3-AAC2-65A589D57FFF}">
      <dgm:prSet/>
      <dgm:spPr/>
      <dgm:t>
        <a:bodyPr/>
        <a:lstStyle/>
        <a:p>
          <a:endParaRPr lang="fr-FR" sz="2000" b="1">
            <a:latin typeface="Times New Roman" panose="02020603050405020304" pitchFamily="18" charset="0"/>
            <a:cs typeface="Times New Roman" panose="02020603050405020304" pitchFamily="18" charset="0"/>
          </a:endParaRPr>
        </a:p>
      </dgm:t>
    </dgm:pt>
    <dgm:pt modelId="{4D8D26F5-78A2-4378-8F5A-EA400383102A}" type="sibTrans" cxnId="{B5854BA3-FCC3-40E3-AAC2-65A589D57FFF}">
      <dgm:prSet/>
      <dgm:spPr/>
      <dgm:t>
        <a:bodyPr/>
        <a:lstStyle/>
        <a:p>
          <a:endParaRPr lang="fr-FR" sz="2000" b="1">
            <a:latin typeface="Times New Roman" panose="02020603050405020304" pitchFamily="18" charset="0"/>
            <a:cs typeface="Times New Roman" panose="02020603050405020304" pitchFamily="18" charset="0"/>
          </a:endParaRPr>
        </a:p>
      </dgm:t>
    </dgm:pt>
    <dgm:pt modelId="{865EDD46-9B2A-4675-824A-6D94ADBB8D12}">
      <dgm:prSet custT="1"/>
      <dgm:spPr/>
      <dgm:t>
        <a:bodyPr/>
        <a:lstStyle/>
        <a:p>
          <a:r>
            <a:rPr lang="fr-FR" sz="2000" b="1" dirty="0">
              <a:latin typeface="Times New Roman" panose="02020603050405020304" pitchFamily="18" charset="0"/>
              <a:cs typeface="Times New Roman" panose="02020603050405020304" pitchFamily="18" charset="0"/>
            </a:rPr>
            <a:t>Données sur les résultats : matière, intervenant, pondération, résultat</a:t>
          </a:r>
        </a:p>
      </dgm:t>
    </dgm:pt>
    <dgm:pt modelId="{3F7DE4E8-3556-4651-94D7-C11F13768467}" type="parTrans" cxnId="{B16E9A3C-C3C1-4B63-8E62-3D4C3982CC75}">
      <dgm:prSet/>
      <dgm:spPr/>
      <dgm:t>
        <a:bodyPr/>
        <a:lstStyle/>
        <a:p>
          <a:endParaRPr lang="fr-FR" sz="2000" b="1">
            <a:latin typeface="Times New Roman" panose="02020603050405020304" pitchFamily="18" charset="0"/>
            <a:cs typeface="Times New Roman" panose="02020603050405020304" pitchFamily="18" charset="0"/>
          </a:endParaRPr>
        </a:p>
      </dgm:t>
    </dgm:pt>
    <dgm:pt modelId="{25698426-EA08-4D90-A0A2-168B45FF1916}" type="sibTrans" cxnId="{B16E9A3C-C3C1-4B63-8E62-3D4C3982CC75}">
      <dgm:prSet/>
      <dgm:spPr/>
      <dgm:t>
        <a:bodyPr/>
        <a:lstStyle/>
        <a:p>
          <a:endParaRPr lang="fr-FR" sz="2000" b="1">
            <a:latin typeface="Times New Roman" panose="02020603050405020304" pitchFamily="18" charset="0"/>
            <a:cs typeface="Times New Roman" panose="02020603050405020304" pitchFamily="18" charset="0"/>
          </a:endParaRPr>
        </a:p>
      </dgm:t>
    </dgm:pt>
    <dgm:pt modelId="{BA6D67F6-297F-49A3-A5EA-6780E775A570}">
      <dgm:prSet custT="1"/>
      <dgm:spPr/>
      <dgm:t>
        <a:bodyPr/>
        <a:lstStyle/>
        <a:p>
          <a:r>
            <a:rPr lang="fr-FR" sz="2000" b="1" dirty="0">
              <a:latin typeface="Times New Roman" panose="02020603050405020304" pitchFamily="18" charset="0"/>
              <a:cs typeface="Times New Roman" panose="02020603050405020304" pitchFamily="18" charset="0"/>
            </a:rPr>
            <a:t>Fichiers clients, fournisseurs, commandes</a:t>
          </a:r>
        </a:p>
      </dgm:t>
    </dgm:pt>
    <dgm:pt modelId="{FB15844B-FCC9-4AED-8774-29E200A3F6EF}" type="parTrans" cxnId="{AF177FB2-8746-4788-A988-746CFEC2D759}">
      <dgm:prSet/>
      <dgm:spPr/>
      <dgm:t>
        <a:bodyPr/>
        <a:lstStyle/>
        <a:p>
          <a:endParaRPr lang="fr-FR" sz="2000" b="1">
            <a:latin typeface="Times New Roman" panose="02020603050405020304" pitchFamily="18" charset="0"/>
            <a:cs typeface="Times New Roman" panose="02020603050405020304" pitchFamily="18" charset="0"/>
          </a:endParaRPr>
        </a:p>
      </dgm:t>
    </dgm:pt>
    <dgm:pt modelId="{449DCD4C-370F-4FFA-9CE3-3C00963333FC}" type="sibTrans" cxnId="{AF177FB2-8746-4788-A988-746CFEC2D759}">
      <dgm:prSet/>
      <dgm:spPr/>
      <dgm:t>
        <a:bodyPr/>
        <a:lstStyle/>
        <a:p>
          <a:endParaRPr lang="fr-FR" sz="2000" b="1">
            <a:latin typeface="Times New Roman" panose="02020603050405020304" pitchFamily="18" charset="0"/>
            <a:cs typeface="Times New Roman" panose="02020603050405020304" pitchFamily="18" charset="0"/>
          </a:endParaRPr>
        </a:p>
      </dgm:t>
    </dgm:pt>
    <dgm:pt modelId="{4E07BD9D-16B1-4372-A803-A1D3268C634B}">
      <dgm:prSet custT="1"/>
      <dgm:spPr/>
      <dgm:t>
        <a:bodyPr/>
        <a:lstStyle/>
        <a:p>
          <a:r>
            <a:rPr lang="fr-FR" sz="2000" b="1" dirty="0">
              <a:latin typeface="Times New Roman" panose="02020603050405020304" pitchFamily="18" charset="0"/>
              <a:cs typeface="Times New Roman" panose="02020603050405020304" pitchFamily="18" charset="0"/>
            </a:rPr>
            <a:t>Facturation</a:t>
          </a:r>
        </a:p>
      </dgm:t>
    </dgm:pt>
    <dgm:pt modelId="{CF123C2C-A955-4BBC-B3D9-F9F20F1D73F3}" type="parTrans" cxnId="{670DAB39-E4FC-4429-B384-E91E2C67D37D}">
      <dgm:prSet/>
      <dgm:spPr/>
      <dgm:t>
        <a:bodyPr/>
        <a:lstStyle/>
        <a:p>
          <a:endParaRPr lang="fr-FR" sz="2000" b="1">
            <a:latin typeface="Times New Roman" panose="02020603050405020304" pitchFamily="18" charset="0"/>
            <a:cs typeface="Times New Roman" panose="02020603050405020304" pitchFamily="18" charset="0"/>
          </a:endParaRPr>
        </a:p>
      </dgm:t>
    </dgm:pt>
    <dgm:pt modelId="{88AFB251-19B4-46B1-AD3F-40F28A27F76D}" type="sibTrans" cxnId="{670DAB39-E4FC-4429-B384-E91E2C67D37D}">
      <dgm:prSet/>
      <dgm:spPr/>
      <dgm:t>
        <a:bodyPr/>
        <a:lstStyle/>
        <a:p>
          <a:endParaRPr lang="fr-FR" sz="2000" b="1">
            <a:latin typeface="Times New Roman" panose="02020603050405020304" pitchFamily="18" charset="0"/>
            <a:cs typeface="Times New Roman" panose="02020603050405020304" pitchFamily="18" charset="0"/>
          </a:endParaRPr>
        </a:p>
      </dgm:t>
    </dgm:pt>
    <dgm:pt modelId="{D2ABAABD-A155-4C63-A61A-89816F24BC53}">
      <dgm:prSet custT="1"/>
      <dgm:spPr/>
      <dgm:t>
        <a:bodyPr/>
        <a:lstStyle/>
        <a:p>
          <a:r>
            <a:rPr lang="fr-FR" sz="2000" b="1" dirty="0">
              <a:latin typeface="Times New Roman" panose="02020603050405020304" pitchFamily="18" charset="0"/>
              <a:cs typeface="Times New Roman" panose="02020603050405020304" pitchFamily="18" charset="0"/>
            </a:rPr>
            <a:t>Gestion de stock, inventaire</a:t>
          </a:r>
        </a:p>
      </dgm:t>
    </dgm:pt>
    <dgm:pt modelId="{39A34059-CCB8-437B-857F-33AA271E2F70}" type="parTrans" cxnId="{35D2171B-C736-4D60-9F96-30C898BD5BD0}">
      <dgm:prSet/>
      <dgm:spPr/>
      <dgm:t>
        <a:bodyPr/>
        <a:lstStyle/>
        <a:p>
          <a:endParaRPr lang="fr-FR" sz="2000" b="1">
            <a:latin typeface="Times New Roman" panose="02020603050405020304" pitchFamily="18" charset="0"/>
            <a:cs typeface="Times New Roman" panose="02020603050405020304" pitchFamily="18" charset="0"/>
          </a:endParaRPr>
        </a:p>
      </dgm:t>
    </dgm:pt>
    <dgm:pt modelId="{1381FEAF-8B26-45E4-8745-02949FED9748}" type="sibTrans" cxnId="{35D2171B-C736-4D60-9F96-30C898BD5BD0}">
      <dgm:prSet/>
      <dgm:spPr/>
      <dgm:t>
        <a:bodyPr/>
        <a:lstStyle/>
        <a:p>
          <a:endParaRPr lang="fr-FR" sz="2000" b="1">
            <a:latin typeface="Times New Roman" panose="02020603050405020304" pitchFamily="18" charset="0"/>
            <a:cs typeface="Times New Roman" panose="02020603050405020304" pitchFamily="18" charset="0"/>
          </a:endParaRPr>
        </a:p>
      </dgm:t>
    </dgm:pt>
    <dgm:pt modelId="{EDD0AA17-342B-4F8E-ADCD-68DC63E33AB2}">
      <dgm:prSet custT="1"/>
      <dgm:spPr/>
      <dgm:t>
        <a:bodyPr/>
        <a:lstStyle/>
        <a:p>
          <a:r>
            <a:rPr lang="fr-FR" sz="2000" b="1" dirty="0">
              <a:latin typeface="Times New Roman" panose="02020603050405020304" pitchFamily="18" charset="0"/>
              <a:cs typeface="Times New Roman" panose="02020603050405020304" pitchFamily="18" charset="0"/>
            </a:rPr>
            <a:t>Données sur les citoyens : CIN, nom, prénom, date de naissance, lieu de naissance, adresse, photo</a:t>
          </a:r>
        </a:p>
      </dgm:t>
    </dgm:pt>
    <dgm:pt modelId="{A1E52244-D4A8-410F-8C1C-AD8945B28640}" type="parTrans" cxnId="{B202A539-4C88-4EC4-ACD1-8D02B49DE336}">
      <dgm:prSet/>
      <dgm:spPr/>
      <dgm:t>
        <a:bodyPr/>
        <a:lstStyle/>
        <a:p>
          <a:endParaRPr lang="fr-FR" sz="2000" b="1">
            <a:latin typeface="Times New Roman" panose="02020603050405020304" pitchFamily="18" charset="0"/>
            <a:cs typeface="Times New Roman" panose="02020603050405020304" pitchFamily="18" charset="0"/>
          </a:endParaRPr>
        </a:p>
      </dgm:t>
    </dgm:pt>
    <dgm:pt modelId="{3186A74B-36AF-4F23-AD19-1C7540A9D5BE}" type="sibTrans" cxnId="{B202A539-4C88-4EC4-ACD1-8D02B49DE336}">
      <dgm:prSet/>
      <dgm:spPr/>
      <dgm:t>
        <a:bodyPr/>
        <a:lstStyle/>
        <a:p>
          <a:endParaRPr lang="fr-FR" sz="2000" b="1">
            <a:latin typeface="Times New Roman" panose="02020603050405020304" pitchFamily="18" charset="0"/>
            <a:cs typeface="Times New Roman" panose="02020603050405020304" pitchFamily="18" charset="0"/>
          </a:endParaRPr>
        </a:p>
      </dgm:t>
    </dgm:pt>
    <dgm:pt modelId="{C1D551AE-EDC3-4AF7-B88A-600191AF07DF}">
      <dgm:prSet custT="1"/>
      <dgm:spPr/>
      <dgm:t>
        <a:bodyPr/>
        <a:lstStyle/>
        <a:p>
          <a:r>
            <a:rPr lang="fr-FR" sz="2000" b="1" dirty="0">
              <a:latin typeface="Times New Roman" panose="02020603050405020304" pitchFamily="18" charset="0"/>
              <a:cs typeface="Times New Roman" panose="02020603050405020304" pitchFamily="18" charset="0"/>
            </a:rPr>
            <a:t>Données sur les impôts : Raison sociale, nom, montant de taxe, date d’application…</a:t>
          </a:r>
        </a:p>
      </dgm:t>
    </dgm:pt>
    <dgm:pt modelId="{0908812A-2BA7-43DB-A12C-2485A150F4AC}" type="parTrans" cxnId="{0F523257-6AB1-467F-8F73-A7D619BFB000}">
      <dgm:prSet/>
      <dgm:spPr/>
      <dgm:t>
        <a:bodyPr/>
        <a:lstStyle/>
        <a:p>
          <a:endParaRPr lang="fr-FR" sz="2000" b="1">
            <a:latin typeface="Times New Roman" panose="02020603050405020304" pitchFamily="18" charset="0"/>
            <a:cs typeface="Times New Roman" panose="02020603050405020304" pitchFamily="18" charset="0"/>
          </a:endParaRPr>
        </a:p>
      </dgm:t>
    </dgm:pt>
    <dgm:pt modelId="{1A2298F1-7E6E-4FE7-A200-966587FA059B}" type="sibTrans" cxnId="{0F523257-6AB1-467F-8F73-A7D619BFB000}">
      <dgm:prSet/>
      <dgm:spPr/>
      <dgm:t>
        <a:bodyPr/>
        <a:lstStyle/>
        <a:p>
          <a:endParaRPr lang="fr-FR" sz="2000" b="1">
            <a:latin typeface="Times New Roman" panose="02020603050405020304" pitchFamily="18" charset="0"/>
            <a:cs typeface="Times New Roman" panose="02020603050405020304" pitchFamily="18" charset="0"/>
          </a:endParaRPr>
        </a:p>
      </dgm:t>
    </dgm:pt>
    <dgm:pt modelId="{1533F770-37D7-486E-A825-1C59DBF39952}" type="pres">
      <dgm:prSet presAssocID="{C5DF0D4D-76F2-48A0-800A-38BF6E6F6888}" presName="linear" presStyleCnt="0">
        <dgm:presLayoutVars>
          <dgm:dir/>
          <dgm:animLvl val="lvl"/>
          <dgm:resizeHandles val="exact"/>
        </dgm:presLayoutVars>
      </dgm:prSet>
      <dgm:spPr/>
      <dgm:t>
        <a:bodyPr/>
        <a:lstStyle/>
        <a:p>
          <a:endParaRPr lang="fr-FR"/>
        </a:p>
      </dgm:t>
    </dgm:pt>
    <dgm:pt modelId="{3C27E2B4-BC18-42D8-9F3F-BAF4073A2BEB}" type="pres">
      <dgm:prSet presAssocID="{0EE89FCB-8440-4C64-B9D6-6F00367751B8}" presName="parentLin" presStyleCnt="0"/>
      <dgm:spPr/>
    </dgm:pt>
    <dgm:pt modelId="{61C248F7-6828-472E-B2E3-EEA9AD9D2455}" type="pres">
      <dgm:prSet presAssocID="{0EE89FCB-8440-4C64-B9D6-6F00367751B8}" presName="parentLeftMargin" presStyleLbl="node1" presStyleIdx="0" presStyleCnt="4"/>
      <dgm:spPr/>
      <dgm:t>
        <a:bodyPr/>
        <a:lstStyle/>
        <a:p>
          <a:endParaRPr lang="fr-FR"/>
        </a:p>
      </dgm:t>
    </dgm:pt>
    <dgm:pt modelId="{84060B38-5A66-4264-8161-BCFF752CC33C}" type="pres">
      <dgm:prSet presAssocID="{0EE89FCB-8440-4C64-B9D6-6F00367751B8}" presName="parentText" presStyleLbl="node1" presStyleIdx="0" presStyleCnt="4" custScaleY="202856">
        <dgm:presLayoutVars>
          <dgm:chMax val="0"/>
          <dgm:bulletEnabled val="1"/>
        </dgm:presLayoutVars>
      </dgm:prSet>
      <dgm:spPr/>
      <dgm:t>
        <a:bodyPr/>
        <a:lstStyle/>
        <a:p>
          <a:endParaRPr lang="fr-FR"/>
        </a:p>
      </dgm:t>
    </dgm:pt>
    <dgm:pt modelId="{57DE4B3C-DCD6-4DA1-BFB9-9639EDD94D54}" type="pres">
      <dgm:prSet presAssocID="{0EE89FCB-8440-4C64-B9D6-6F00367751B8}" presName="negativeSpace" presStyleCnt="0"/>
      <dgm:spPr/>
    </dgm:pt>
    <dgm:pt modelId="{63C69CC9-3B14-4222-9037-E6CBF0559854}" type="pres">
      <dgm:prSet presAssocID="{0EE89FCB-8440-4C64-B9D6-6F00367751B8}" presName="childText" presStyleLbl="conFgAcc1" presStyleIdx="0" presStyleCnt="4" custLinFactNeighborY="28065">
        <dgm:presLayoutVars>
          <dgm:bulletEnabled val="1"/>
        </dgm:presLayoutVars>
      </dgm:prSet>
      <dgm:spPr/>
      <dgm:t>
        <a:bodyPr/>
        <a:lstStyle/>
        <a:p>
          <a:endParaRPr lang="fr-FR"/>
        </a:p>
      </dgm:t>
    </dgm:pt>
    <dgm:pt modelId="{095DCB3A-41B9-4D27-B842-E2EAA577AD6D}" type="pres">
      <dgm:prSet presAssocID="{CC9698F8-36EC-439D-B37F-E9EDEFAAAF39}" presName="spaceBetweenRectangles" presStyleCnt="0"/>
      <dgm:spPr/>
    </dgm:pt>
    <dgm:pt modelId="{45CCCB19-EB34-412B-A7A9-D29A1D3042C6}" type="pres">
      <dgm:prSet presAssocID="{B524FE6A-5B17-4313-9941-60D7F13A7378}" presName="parentLin" presStyleCnt="0"/>
      <dgm:spPr/>
    </dgm:pt>
    <dgm:pt modelId="{E97F2966-63EB-4C50-9430-EC3D58C515B4}" type="pres">
      <dgm:prSet presAssocID="{B524FE6A-5B17-4313-9941-60D7F13A7378}" presName="parentLeftMargin" presStyleLbl="node1" presStyleIdx="0" presStyleCnt="4"/>
      <dgm:spPr/>
      <dgm:t>
        <a:bodyPr/>
        <a:lstStyle/>
        <a:p>
          <a:endParaRPr lang="fr-FR"/>
        </a:p>
      </dgm:t>
    </dgm:pt>
    <dgm:pt modelId="{9A834B14-67CE-4694-9177-4A051CBD2467}" type="pres">
      <dgm:prSet presAssocID="{B524FE6A-5B17-4313-9941-60D7F13A7378}" presName="parentText" presStyleLbl="node1" presStyleIdx="1" presStyleCnt="4" custScaleY="202856">
        <dgm:presLayoutVars>
          <dgm:chMax val="0"/>
          <dgm:bulletEnabled val="1"/>
        </dgm:presLayoutVars>
      </dgm:prSet>
      <dgm:spPr/>
      <dgm:t>
        <a:bodyPr/>
        <a:lstStyle/>
        <a:p>
          <a:endParaRPr lang="fr-FR"/>
        </a:p>
      </dgm:t>
    </dgm:pt>
    <dgm:pt modelId="{C3D3EBE6-4279-4C3E-9A76-FB69CE3F71BA}" type="pres">
      <dgm:prSet presAssocID="{B524FE6A-5B17-4313-9941-60D7F13A7378}" presName="negativeSpace" presStyleCnt="0"/>
      <dgm:spPr/>
    </dgm:pt>
    <dgm:pt modelId="{5FB8474C-E065-4BB1-99BF-EFB46BC741CA}" type="pres">
      <dgm:prSet presAssocID="{B524FE6A-5B17-4313-9941-60D7F13A7378}" presName="childText" presStyleLbl="conFgAcc1" presStyleIdx="1" presStyleCnt="4">
        <dgm:presLayoutVars>
          <dgm:bulletEnabled val="1"/>
        </dgm:presLayoutVars>
      </dgm:prSet>
      <dgm:spPr/>
      <dgm:t>
        <a:bodyPr/>
        <a:lstStyle/>
        <a:p>
          <a:endParaRPr lang="fr-FR"/>
        </a:p>
      </dgm:t>
    </dgm:pt>
    <dgm:pt modelId="{4C005947-5B1E-4C6C-A052-6253D29B0936}" type="pres">
      <dgm:prSet presAssocID="{0883DDB2-5FF2-4481-8F36-F7E03445974A}" presName="spaceBetweenRectangles" presStyleCnt="0"/>
      <dgm:spPr/>
    </dgm:pt>
    <dgm:pt modelId="{3E10C55F-D104-4A74-A8DB-B5C464098C09}" type="pres">
      <dgm:prSet presAssocID="{7D742DB0-0640-417C-B84D-D95AA3CEB680}" presName="parentLin" presStyleCnt="0"/>
      <dgm:spPr/>
    </dgm:pt>
    <dgm:pt modelId="{D205B7B2-D1CF-4683-9093-3C2FEBF9A69C}" type="pres">
      <dgm:prSet presAssocID="{7D742DB0-0640-417C-B84D-D95AA3CEB680}" presName="parentLeftMargin" presStyleLbl="node1" presStyleIdx="1" presStyleCnt="4"/>
      <dgm:spPr/>
      <dgm:t>
        <a:bodyPr/>
        <a:lstStyle/>
        <a:p>
          <a:endParaRPr lang="fr-FR"/>
        </a:p>
      </dgm:t>
    </dgm:pt>
    <dgm:pt modelId="{16F1C77F-8901-4933-A569-FADF819D6724}" type="pres">
      <dgm:prSet presAssocID="{7D742DB0-0640-417C-B84D-D95AA3CEB680}" presName="parentText" presStyleLbl="node1" presStyleIdx="2" presStyleCnt="4" custScaleY="202856">
        <dgm:presLayoutVars>
          <dgm:chMax val="0"/>
          <dgm:bulletEnabled val="1"/>
        </dgm:presLayoutVars>
      </dgm:prSet>
      <dgm:spPr/>
      <dgm:t>
        <a:bodyPr/>
        <a:lstStyle/>
        <a:p>
          <a:endParaRPr lang="fr-FR"/>
        </a:p>
      </dgm:t>
    </dgm:pt>
    <dgm:pt modelId="{4E601B8C-F8FE-432C-A4FD-0B38A375B06B}" type="pres">
      <dgm:prSet presAssocID="{7D742DB0-0640-417C-B84D-D95AA3CEB680}" presName="negativeSpace" presStyleCnt="0"/>
      <dgm:spPr/>
    </dgm:pt>
    <dgm:pt modelId="{9D3EBBF0-4A3F-415E-9AB2-78BECC43823E}" type="pres">
      <dgm:prSet presAssocID="{7D742DB0-0640-417C-B84D-D95AA3CEB680}" presName="childText" presStyleLbl="conFgAcc1" presStyleIdx="2" presStyleCnt="4">
        <dgm:presLayoutVars>
          <dgm:bulletEnabled val="1"/>
        </dgm:presLayoutVars>
      </dgm:prSet>
      <dgm:spPr/>
      <dgm:t>
        <a:bodyPr/>
        <a:lstStyle/>
        <a:p>
          <a:endParaRPr lang="fr-FR"/>
        </a:p>
      </dgm:t>
    </dgm:pt>
    <dgm:pt modelId="{E421137B-1F78-4DC3-9673-94ED5AAA92D6}" type="pres">
      <dgm:prSet presAssocID="{97472D73-6A4F-4F05-923D-78DB4A9030F0}" presName="spaceBetweenRectangles" presStyleCnt="0"/>
      <dgm:spPr/>
    </dgm:pt>
    <dgm:pt modelId="{68273C9A-F9FA-4619-8835-EFD2242297E3}" type="pres">
      <dgm:prSet presAssocID="{3BA89BDF-CC0F-4FFA-8BAF-4CB91F37A6C0}" presName="parentLin" presStyleCnt="0"/>
      <dgm:spPr/>
    </dgm:pt>
    <dgm:pt modelId="{210253B9-F917-435E-9280-653232432D40}" type="pres">
      <dgm:prSet presAssocID="{3BA89BDF-CC0F-4FFA-8BAF-4CB91F37A6C0}" presName="parentLeftMargin" presStyleLbl="node1" presStyleIdx="2" presStyleCnt="4"/>
      <dgm:spPr/>
      <dgm:t>
        <a:bodyPr/>
        <a:lstStyle/>
        <a:p>
          <a:endParaRPr lang="fr-FR"/>
        </a:p>
      </dgm:t>
    </dgm:pt>
    <dgm:pt modelId="{B54E4A40-EC2D-40F6-8D7A-64D40E66F5AF}" type="pres">
      <dgm:prSet presAssocID="{3BA89BDF-CC0F-4FFA-8BAF-4CB91F37A6C0}" presName="parentText" presStyleLbl="node1" presStyleIdx="3" presStyleCnt="4" custScaleY="202856">
        <dgm:presLayoutVars>
          <dgm:chMax val="0"/>
          <dgm:bulletEnabled val="1"/>
        </dgm:presLayoutVars>
      </dgm:prSet>
      <dgm:spPr/>
      <dgm:t>
        <a:bodyPr/>
        <a:lstStyle/>
        <a:p>
          <a:endParaRPr lang="fr-FR"/>
        </a:p>
      </dgm:t>
    </dgm:pt>
    <dgm:pt modelId="{A7889FD9-5109-4567-961C-6E3BCCE031D7}" type="pres">
      <dgm:prSet presAssocID="{3BA89BDF-CC0F-4FFA-8BAF-4CB91F37A6C0}" presName="negativeSpace" presStyleCnt="0"/>
      <dgm:spPr/>
    </dgm:pt>
    <dgm:pt modelId="{10B024EA-3E05-4F01-AA98-F67248F5CB83}" type="pres">
      <dgm:prSet presAssocID="{3BA89BDF-CC0F-4FFA-8BAF-4CB91F37A6C0}" presName="childText" presStyleLbl="conFgAcc1" presStyleIdx="3" presStyleCnt="4" custLinFactNeighborX="433" custLinFactNeighborY="75981">
        <dgm:presLayoutVars>
          <dgm:bulletEnabled val="1"/>
        </dgm:presLayoutVars>
      </dgm:prSet>
      <dgm:spPr/>
      <dgm:t>
        <a:bodyPr/>
        <a:lstStyle/>
        <a:p>
          <a:endParaRPr lang="fr-FR"/>
        </a:p>
      </dgm:t>
    </dgm:pt>
  </dgm:ptLst>
  <dgm:cxnLst>
    <dgm:cxn modelId="{B202A539-4C88-4EC4-ACD1-8D02B49DE336}" srcId="{3BA89BDF-CC0F-4FFA-8BAF-4CB91F37A6C0}" destId="{EDD0AA17-342B-4F8E-ADCD-68DC63E33AB2}" srcOrd="0" destOrd="0" parTransId="{A1E52244-D4A8-410F-8C1C-AD8945B28640}" sibTransId="{3186A74B-36AF-4F23-AD19-1C7540A9D5BE}"/>
    <dgm:cxn modelId="{71EABDD4-A01F-4257-9010-92F78739CD08}" type="presOf" srcId="{B524FE6A-5B17-4313-9941-60D7F13A7378}" destId="{E97F2966-63EB-4C50-9430-EC3D58C515B4}" srcOrd="0" destOrd="0" presId="urn:microsoft.com/office/officeart/2005/8/layout/list1"/>
    <dgm:cxn modelId="{289C5B38-E83C-4C5D-AA2F-9B2467727FF5}" type="presOf" srcId="{C5DF0D4D-76F2-48A0-800A-38BF6E6F6888}" destId="{1533F770-37D7-486E-A825-1C59DBF39952}" srcOrd="0" destOrd="0" presId="urn:microsoft.com/office/officeart/2005/8/layout/list1"/>
    <dgm:cxn modelId="{670DAB39-E4FC-4429-B384-E91E2C67D37D}" srcId="{7D742DB0-0640-417C-B84D-D95AA3CEB680}" destId="{4E07BD9D-16B1-4372-A803-A1D3268C634B}" srcOrd="1" destOrd="0" parTransId="{CF123C2C-A955-4BBC-B3D9-F9F20F1D73F3}" sibTransId="{88AFB251-19B4-46B1-AD3F-40F28A27F76D}"/>
    <dgm:cxn modelId="{00FB346D-4EE6-495B-8706-4AA20A64E37F}" type="presOf" srcId="{BA6D67F6-297F-49A3-A5EA-6780E775A570}" destId="{9D3EBBF0-4A3F-415E-9AB2-78BECC43823E}" srcOrd="0" destOrd="0" presId="urn:microsoft.com/office/officeart/2005/8/layout/list1"/>
    <dgm:cxn modelId="{9D47BC3B-E006-40C1-BDC6-04991B91A75C}" type="presOf" srcId="{0EE89FCB-8440-4C64-B9D6-6F00367751B8}" destId="{61C248F7-6828-472E-B2E3-EEA9AD9D2455}" srcOrd="0" destOrd="0" presId="urn:microsoft.com/office/officeart/2005/8/layout/list1"/>
    <dgm:cxn modelId="{0F523257-6AB1-467F-8F73-A7D619BFB000}" srcId="{3BA89BDF-CC0F-4FFA-8BAF-4CB91F37A6C0}" destId="{C1D551AE-EDC3-4AF7-B88A-600191AF07DF}" srcOrd="1" destOrd="0" parTransId="{0908812A-2BA7-43DB-A12C-2485A150F4AC}" sibTransId="{1A2298F1-7E6E-4FE7-A200-966587FA059B}"/>
    <dgm:cxn modelId="{B5854BA3-FCC3-40E3-AAC2-65A589D57FFF}" srcId="{B524FE6A-5B17-4313-9941-60D7F13A7378}" destId="{00044CCC-B32B-40AD-B6A4-9B8E4A75AB89}" srcOrd="1" destOrd="0" parTransId="{9F3412FD-D042-4B3D-98B0-2CAC1311ED89}" sibTransId="{4D8D26F5-78A2-4378-8F5A-EA400383102A}"/>
    <dgm:cxn modelId="{78E14161-74D4-4653-9330-7DE43FF8BA0B}" type="presOf" srcId="{7D742DB0-0640-417C-B84D-D95AA3CEB680}" destId="{16F1C77F-8901-4933-A569-FADF819D6724}" srcOrd="1" destOrd="0" presId="urn:microsoft.com/office/officeart/2005/8/layout/list1"/>
    <dgm:cxn modelId="{A751D56F-C44A-4820-B139-6B2B316A04EE}" type="presOf" srcId="{EDD0AA17-342B-4F8E-ADCD-68DC63E33AB2}" destId="{10B024EA-3E05-4F01-AA98-F67248F5CB83}" srcOrd="0" destOrd="0" presId="urn:microsoft.com/office/officeart/2005/8/layout/list1"/>
    <dgm:cxn modelId="{4E64E7E3-9F9D-46D6-A658-99EE02796735}" type="presOf" srcId="{4E07BD9D-16B1-4372-A803-A1D3268C634B}" destId="{9D3EBBF0-4A3F-415E-9AB2-78BECC43823E}" srcOrd="0" destOrd="1" presId="urn:microsoft.com/office/officeart/2005/8/layout/list1"/>
    <dgm:cxn modelId="{35D2171B-C736-4D60-9F96-30C898BD5BD0}" srcId="{7D742DB0-0640-417C-B84D-D95AA3CEB680}" destId="{D2ABAABD-A155-4C63-A61A-89816F24BC53}" srcOrd="2" destOrd="0" parTransId="{39A34059-CCB8-437B-857F-33AA271E2F70}" sibTransId="{1381FEAF-8B26-45E4-8745-02949FED9748}"/>
    <dgm:cxn modelId="{73B0C0AC-F80E-4CC9-9455-1F4F3AB43FDF}" type="presOf" srcId="{865EDD46-9B2A-4675-824A-6D94ADBB8D12}" destId="{5FB8474C-E065-4BB1-99BF-EFB46BC741CA}" srcOrd="0" destOrd="2" presId="urn:microsoft.com/office/officeart/2005/8/layout/list1"/>
    <dgm:cxn modelId="{F9BFBADE-CBC5-4F90-9C96-618A1792F5D2}" type="presOf" srcId="{B524FE6A-5B17-4313-9941-60D7F13A7378}" destId="{9A834B14-67CE-4694-9177-4A051CBD2467}" srcOrd="1" destOrd="0" presId="urn:microsoft.com/office/officeart/2005/8/layout/list1"/>
    <dgm:cxn modelId="{39CF27ED-5FAD-4EB3-9FC7-E50CB8E2E103}" type="presOf" srcId="{D2ABAABD-A155-4C63-A61A-89816F24BC53}" destId="{9D3EBBF0-4A3F-415E-9AB2-78BECC43823E}" srcOrd="0" destOrd="2" presId="urn:microsoft.com/office/officeart/2005/8/layout/list1"/>
    <dgm:cxn modelId="{0F7B7C61-37A6-442A-BA67-49FF5D64C0FB}" srcId="{B524FE6A-5B17-4313-9941-60D7F13A7378}" destId="{F108456D-E73A-4143-B5EA-511C29AD940C}" srcOrd="0" destOrd="0" parTransId="{308E3D7B-D416-4F0E-B874-AEE55C88E5D8}" sibTransId="{67AB256C-FEC7-44E5-B4F1-64600C7EE955}"/>
    <dgm:cxn modelId="{417226BE-D259-4091-A049-E1E65AAC8F88}" srcId="{C5DF0D4D-76F2-48A0-800A-38BF6E6F6888}" destId="{7D742DB0-0640-417C-B84D-D95AA3CEB680}" srcOrd="2" destOrd="0" parTransId="{79C8DDB1-5D0F-4E86-9A21-279610F89881}" sibTransId="{97472D73-6A4F-4F05-923D-78DB4A9030F0}"/>
    <dgm:cxn modelId="{43819A3F-E675-4342-8B92-DA2D077C5000}" type="presOf" srcId="{3BA89BDF-CC0F-4FFA-8BAF-4CB91F37A6C0}" destId="{210253B9-F917-435E-9280-653232432D40}" srcOrd="0" destOrd="0" presId="urn:microsoft.com/office/officeart/2005/8/layout/list1"/>
    <dgm:cxn modelId="{49B68003-6956-427F-BC85-6CA74C723A90}" srcId="{C5DF0D4D-76F2-48A0-800A-38BF6E6F6888}" destId="{B524FE6A-5B17-4313-9941-60D7F13A7378}" srcOrd="1" destOrd="0" parTransId="{DA6CB9C4-68D7-4E6D-BB01-46031A1E2B5C}" sibTransId="{0883DDB2-5FF2-4481-8F36-F7E03445974A}"/>
    <dgm:cxn modelId="{31A2729B-F6B9-4115-9428-C8214233F1AC}" srcId="{C5DF0D4D-76F2-48A0-800A-38BF6E6F6888}" destId="{0EE89FCB-8440-4C64-B9D6-6F00367751B8}" srcOrd="0" destOrd="0" parTransId="{8B365255-F3F2-4B6F-8BB2-0ABA22E9B46F}" sibTransId="{CC9698F8-36EC-439D-B37F-E9EDEFAAAF39}"/>
    <dgm:cxn modelId="{D080D54C-C0BC-4681-98CC-90B5B2BD0898}" type="presOf" srcId="{BE2E7BBA-0B33-43CE-97D4-DDB7A2EB5B8E}" destId="{63C69CC9-3B14-4222-9037-E6CBF0559854}" srcOrd="0" destOrd="0" presId="urn:microsoft.com/office/officeart/2005/8/layout/list1"/>
    <dgm:cxn modelId="{6E991205-532E-492A-A930-E60F1026025B}" type="presOf" srcId="{C1D551AE-EDC3-4AF7-B88A-600191AF07DF}" destId="{10B024EA-3E05-4F01-AA98-F67248F5CB83}" srcOrd="0" destOrd="1" presId="urn:microsoft.com/office/officeart/2005/8/layout/list1"/>
    <dgm:cxn modelId="{ABB061F9-EEB3-41F4-843A-1AA85A839A95}" srcId="{C5DF0D4D-76F2-48A0-800A-38BF6E6F6888}" destId="{3BA89BDF-CC0F-4FFA-8BAF-4CB91F37A6C0}" srcOrd="3" destOrd="0" parTransId="{A15AD697-5216-4C8A-8BE1-9916700B8028}" sibTransId="{5A8D2D76-6731-482B-BFEC-A7FA86382B99}"/>
    <dgm:cxn modelId="{838E3C3D-425E-4472-B76E-4582F78CAF31}" type="presOf" srcId="{F108456D-E73A-4143-B5EA-511C29AD940C}" destId="{5FB8474C-E065-4BB1-99BF-EFB46BC741CA}" srcOrd="0" destOrd="0" presId="urn:microsoft.com/office/officeart/2005/8/layout/list1"/>
    <dgm:cxn modelId="{1168E450-566E-4FCE-95F3-E484900B652A}" type="presOf" srcId="{7D742DB0-0640-417C-B84D-D95AA3CEB680}" destId="{D205B7B2-D1CF-4683-9093-3C2FEBF9A69C}" srcOrd="0" destOrd="0" presId="urn:microsoft.com/office/officeart/2005/8/layout/list1"/>
    <dgm:cxn modelId="{AF177FB2-8746-4788-A988-746CFEC2D759}" srcId="{7D742DB0-0640-417C-B84D-D95AA3CEB680}" destId="{BA6D67F6-297F-49A3-A5EA-6780E775A570}" srcOrd="0" destOrd="0" parTransId="{FB15844B-FCC9-4AED-8774-29E200A3F6EF}" sibTransId="{449DCD4C-370F-4FFA-9CE3-3C00963333FC}"/>
    <dgm:cxn modelId="{8F7CE5A1-E03F-4F41-BC34-6E56C73236DD}" type="presOf" srcId="{0EE89FCB-8440-4C64-B9D6-6F00367751B8}" destId="{84060B38-5A66-4264-8161-BCFF752CC33C}" srcOrd="1" destOrd="0" presId="urn:microsoft.com/office/officeart/2005/8/layout/list1"/>
    <dgm:cxn modelId="{9782CCA6-2CA3-41F5-84D9-88711CDAB85E}" type="presOf" srcId="{3BA89BDF-CC0F-4FFA-8BAF-4CB91F37A6C0}" destId="{B54E4A40-EC2D-40F6-8D7A-64D40E66F5AF}" srcOrd="1" destOrd="0" presId="urn:microsoft.com/office/officeart/2005/8/layout/list1"/>
    <dgm:cxn modelId="{9BAA08A0-EC43-4951-9254-3B97AAF4D71B}" srcId="{0EE89FCB-8440-4C64-B9D6-6F00367751B8}" destId="{BE2E7BBA-0B33-43CE-97D4-DDB7A2EB5B8E}" srcOrd="0" destOrd="0" parTransId="{0E2F6A13-914B-4DAA-8A1C-E4CF06912802}" sibTransId="{6DD2A14E-DE94-4AE8-8477-F171F7D0EE13}"/>
    <dgm:cxn modelId="{5B3BDB2A-DC7C-40CF-A09A-0FC8CBCE2E13}" type="presOf" srcId="{00044CCC-B32B-40AD-B6A4-9B8E4A75AB89}" destId="{5FB8474C-E065-4BB1-99BF-EFB46BC741CA}" srcOrd="0" destOrd="1" presId="urn:microsoft.com/office/officeart/2005/8/layout/list1"/>
    <dgm:cxn modelId="{B16E9A3C-C3C1-4B63-8E62-3D4C3982CC75}" srcId="{B524FE6A-5B17-4313-9941-60D7F13A7378}" destId="{865EDD46-9B2A-4675-824A-6D94ADBB8D12}" srcOrd="2" destOrd="0" parTransId="{3F7DE4E8-3556-4651-94D7-C11F13768467}" sibTransId="{25698426-EA08-4D90-A0A2-168B45FF1916}"/>
    <dgm:cxn modelId="{00607D40-0E81-481F-A8F8-0F0E687339BC}" type="presParOf" srcId="{1533F770-37D7-486E-A825-1C59DBF39952}" destId="{3C27E2B4-BC18-42D8-9F3F-BAF4073A2BEB}" srcOrd="0" destOrd="0" presId="urn:microsoft.com/office/officeart/2005/8/layout/list1"/>
    <dgm:cxn modelId="{7E6B5181-010F-4044-A957-286EFE8B9892}" type="presParOf" srcId="{3C27E2B4-BC18-42D8-9F3F-BAF4073A2BEB}" destId="{61C248F7-6828-472E-B2E3-EEA9AD9D2455}" srcOrd="0" destOrd="0" presId="urn:microsoft.com/office/officeart/2005/8/layout/list1"/>
    <dgm:cxn modelId="{9B3226B0-2A52-4C3F-A8F7-4E3352898983}" type="presParOf" srcId="{3C27E2B4-BC18-42D8-9F3F-BAF4073A2BEB}" destId="{84060B38-5A66-4264-8161-BCFF752CC33C}" srcOrd="1" destOrd="0" presId="urn:microsoft.com/office/officeart/2005/8/layout/list1"/>
    <dgm:cxn modelId="{BD2D5045-E6A8-4F5F-8E90-5EEA8FED6A5D}" type="presParOf" srcId="{1533F770-37D7-486E-A825-1C59DBF39952}" destId="{57DE4B3C-DCD6-4DA1-BFB9-9639EDD94D54}" srcOrd="1" destOrd="0" presId="urn:microsoft.com/office/officeart/2005/8/layout/list1"/>
    <dgm:cxn modelId="{FFB9FA0A-0390-4DBF-9A6B-04F0412BC616}" type="presParOf" srcId="{1533F770-37D7-486E-A825-1C59DBF39952}" destId="{63C69CC9-3B14-4222-9037-E6CBF0559854}" srcOrd="2" destOrd="0" presId="urn:microsoft.com/office/officeart/2005/8/layout/list1"/>
    <dgm:cxn modelId="{F89911B0-CFA2-4B34-AB50-8B10E6E04154}" type="presParOf" srcId="{1533F770-37D7-486E-A825-1C59DBF39952}" destId="{095DCB3A-41B9-4D27-B842-E2EAA577AD6D}" srcOrd="3" destOrd="0" presId="urn:microsoft.com/office/officeart/2005/8/layout/list1"/>
    <dgm:cxn modelId="{39D1EADE-6A76-41AA-8921-CD75EA206628}" type="presParOf" srcId="{1533F770-37D7-486E-A825-1C59DBF39952}" destId="{45CCCB19-EB34-412B-A7A9-D29A1D3042C6}" srcOrd="4" destOrd="0" presId="urn:microsoft.com/office/officeart/2005/8/layout/list1"/>
    <dgm:cxn modelId="{558BF4E7-85F8-4C67-8374-7ABDFB8083BF}" type="presParOf" srcId="{45CCCB19-EB34-412B-A7A9-D29A1D3042C6}" destId="{E97F2966-63EB-4C50-9430-EC3D58C515B4}" srcOrd="0" destOrd="0" presId="urn:microsoft.com/office/officeart/2005/8/layout/list1"/>
    <dgm:cxn modelId="{C954BE40-2DBB-4B71-8D18-B5B7C289ACA6}" type="presParOf" srcId="{45CCCB19-EB34-412B-A7A9-D29A1D3042C6}" destId="{9A834B14-67CE-4694-9177-4A051CBD2467}" srcOrd="1" destOrd="0" presId="urn:microsoft.com/office/officeart/2005/8/layout/list1"/>
    <dgm:cxn modelId="{13829F03-28D8-429E-9758-9EB8B818664D}" type="presParOf" srcId="{1533F770-37D7-486E-A825-1C59DBF39952}" destId="{C3D3EBE6-4279-4C3E-9A76-FB69CE3F71BA}" srcOrd="5" destOrd="0" presId="urn:microsoft.com/office/officeart/2005/8/layout/list1"/>
    <dgm:cxn modelId="{E3BF9D73-72A0-489B-9992-54A8B816945D}" type="presParOf" srcId="{1533F770-37D7-486E-A825-1C59DBF39952}" destId="{5FB8474C-E065-4BB1-99BF-EFB46BC741CA}" srcOrd="6" destOrd="0" presId="urn:microsoft.com/office/officeart/2005/8/layout/list1"/>
    <dgm:cxn modelId="{820E01E2-E84B-4F9B-8A15-B48BCF492894}" type="presParOf" srcId="{1533F770-37D7-486E-A825-1C59DBF39952}" destId="{4C005947-5B1E-4C6C-A052-6253D29B0936}" srcOrd="7" destOrd="0" presId="urn:microsoft.com/office/officeart/2005/8/layout/list1"/>
    <dgm:cxn modelId="{F55BAC72-1246-4F30-B010-36EA22EDD9E4}" type="presParOf" srcId="{1533F770-37D7-486E-A825-1C59DBF39952}" destId="{3E10C55F-D104-4A74-A8DB-B5C464098C09}" srcOrd="8" destOrd="0" presId="urn:microsoft.com/office/officeart/2005/8/layout/list1"/>
    <dgm:cxn modelId="{6A827652-1890-454C-843E-BE8F84DCF9B2}" type="presParOf" srcId="{3E10C55F-D104-4A74-A8DB-B5C464098C09}" destId="{D205B7B2-D1CF-4683-9093-3C2FEBF9A69C}" srcOrd="0" destOrd="0" presId="urn:microsoft.com/office/officeart/2005/8/layout/list1"/>
    <dgm:cxn modelId="{DAEB7AB3-F768-48B7-8353-EE4D01E79A59}" type="presParOf" srcId="{3E10C55F-D104-4A74-A8DB-B5C464098C09}" destId="{16F1C77F-8901-4933-A569-FADF819D6724}" srcOrd="1" destOrd="0" presId="urn:microsoft.com/office/officeart/2005/8/layout/list1"/>
    <dgm:cxn modelId="{F2C5A111-88E6-4D5E-8F3C-AEFD4BECC831}" type="presParOf" srcId="{1533F770-37D7-486E-A825-1C59DBF39952}" destId="{4E601B8C-F8FE-432C-A4FD-0B38A375B06B}" srcOrd="9" destOrd="0" presId="urn:microsoft.com/office/officeart/2005/8/layout/list1"/>
    <dgm:cxn modelId="{A0587283-082E-485E-B2B1-9493059174FF}" type="presParOf" srcId="{1533F770-37D7-486E-A825-1C59DBF39952}" destId="{9D3EBBF0-4A3F-415E-9AB2-78BECC43823E}" srcOrd="10" destOrd="0" presId="urn:microsoft.com/office/officeart/2005/8/layout/list1"/>
    <dgm:cxn modelId="{D55B8CAC-5EAE-4716-8BC9-99ACFACB80EA}" type="presParOf" srcId="{1533F770-37D7-486E-A825-1C59DBF39952}" destId="{E421137B-1F78-4DC3-9673-94ED5AAA92D6}" srcOrd="11" destOrd="0" presId="urn:microsoft.com/office/officeart/2005/8/layout/list1"/>
    <dgm:cxn modelId="{426AA463-D1E8-451A-ABF8-15D7FB0F9F57}" type="presParOf" srcId="{1533F770-37D7-486E-A825-1C59DBF39952}" destId="{68273C9A-F9FA-4619-8835-EFD2242297E3}" srcOrd="12" destOrd="0" presId="urn:microsoft.com/office/officeart/2005/8/layout/list1"/>
    <dgm:cxn modelId="{37139C79-2C0F-4DB4-93FB-FB28759EE288}" type="presParOf" srcId="{68273C9A-F9FA-4619-8835-EFD2242297E3}" destId="{210253B9-F917-435E-9280-653232432D40}" srcOrd="0" destOrd="0" presId="urn:microsoft.com/office/officeart/2005/8/layout/list1"/>
    <dgm:cxn modelId="{8FAD0357-CF01-435D-8B33-8A1014A8D2B3}" type="presParOf" srcId="{68273C9A-F9FA-4619-8835-EFD2242297E3}" destId="{B54E4A40-EC2D-40F6-8D7A-64D40E66F5AF}" srcOrd="1" destOrd="0" presId="urn:microsoft.com/office/officeart/2005/8/layout/list1"/>
    <dgm:cxn modelId="{C2BFB083-7DDF-4669-9455-F4AE479ED183}" type="presParOf" srcId="{1533F770-37D7-486E-A825-1C59DBF39952}" destId="{A7889FD9-5109-4567-961C-6E3BCCE031D7}" srcOrd="13" destOrd="0" presId="urn:microsoft.com/office/officeart/2005/8/layout/list1"/>
    <dgm:cxn modelId="{1492C8C7-25B1-487C-9F35-663289BD370B}" type="presParOf" srcId="{1533F770-37D7-486E-A825-1C59DBF39952}" destId="{10B024EA-3E05-4F01-AA98-F67248F5CB83}" srcOrd="14" destOrd="0" presId="urn:microsoft.com/office/officeart/2005/8/layout/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AF4177-7C69-4286-A073-FD7517B99666}" type="doc">
      <dgm:prSet loTypeId="urn:microsoft.com/office/officeart/2005/8/layout/chevron1" loCatId="process" qsTypeId="urn:microsoft.com/office/officeart/2005/8/quickstyle/simple1" qsCatId="simple" csTypeId="urn:microsoft.com/office/officeart/2005/8/colors/colorful1#7" csCatId="colorful" phldr="1"/>
      <dgm:spPr/>
    </dgm:pt>
    <dgm:pt modelId="{3518F6EF-1B9D-4C1D-81D5-0B847F26179F}">
      <dgm:prSet phldrT="[Texte]"/>
      <dgm:spPr/>
      <dgm:t>
        <a:bodyPr/>
        <a:lstStyle/>
        <a:p>
          <a:r>
            <a:rPr lang="fr-FR" b="0" i="0" dirty="0"/>
            <a:t>Analyse conceptuelle</a:t>
          </a:r>
          <a:endParaRPr lang="fr-FR" dirty="0"/>
        </a:p>
      </dgm:t>
    </dgm:pt>
    <dgm:pt modelId="{B8FC2FF0-A4BE-40FB-AAF1-177592604C83}" type="parTrans" cxnId="{3E92B6B5-41AD-4F76-BDB0-7DB9B5975164}">
      <dgm:prSet/>
      <dgm:spPr/>
      <dgm:t>
        <a:bodyPr/>
        <a:lstStyle/>
        <a:p>
          <a:endParaRPr lang="fr-FR"/>
        </a:p>
      </dgm:t>
    </dgm:pt>
    <dgm:pt modelId="{FFA48EB1-E26C-47B3-A965-4A128ED432F9}" type="sibTrans" cxnId="{3E92B6B5-41AD-4F76-BDB0-7DB9B5975164}">
      <dgm:prSet/>
      <dgm:spPr/>
      <dgm:t>
        <a:bodyPr/>
        <a:lstStyle/>
        <a:p>
          <a:endParaRPr lang="fr-FR"/>
        </a:p>
      </dgm:t>
    </dgm:pt>
    <dgm:pt modelId="{80E5F059-5C1E-458F-8FAE-BF8030A9B05B}">
      <dgm:prSet phldrT="[Texte]"/>
      <dgm:spPr/>
      <dgm:t>
        <a:bodyPr/>
        <a:lstStyle/>
        <a:p>
          <a:r>
            <a:rPr lang="fr-FR" b="0" i="0" dirty="0"/>
            <a:t>Conception logique</a:t>
          </a:r>
          <a:endParaRPr lang="fr-FR" dirty="0"/>
        </a:p>
      </dgm:t>
    </dgm:pt>
    <dgm:pt modelId="{05D24A9D-052C-4EFC-92C4-86194D0FBD57}" type="parTrans" cxnId="{A386BE2C-5709-467E-8871-4D789298D163}">
      <dgm:prSet/>
      <dgm:spPr/>
      <dgm:t>
        <a:bodyPr/>
        <a:lstStyle/>
        <a:p>
          <a:endParaRPr lang="fr-FR"/>
        </a:p>
      </dgm:t>
    </dgm:pt>
    <dgm:pt modelId="{4B3303A8-457B-47D0-96CA-69A958C3918F}" type="sibTrans" cxnId="{A386BE2C-5709-467E-8871-4D789298D163}">
      <dgm:prSet/>
      <dgm:spPr/>
      <dgm:t>
        <a:bodyPr/>
        <a:lstStyle/>
        <a:p>
          <a:endParaRPr lang="fr-FR"/>
        </a:p>
      </dgm:t>
    </dgm:pt>
    <dgm:pt modelId="{53F073C3-9CE3-4E35-9EB4-5E8F55FC45EA}">
      <dgm:prSet phldrT="[Texte]"/>
      <dgm:spPr/>
      <dgm:t>
        <a:bodyPr/>
        <a:lstStyle/>
        <a:p>
          <a:r>
            <a:rPr lang="fr-FR" b="0" i="0" dirty="0"/>
            <a:t>Mise en place</a:t>
          </a:r>
          <a:endParaRPr lang="fr-FR" dirty="0"/>
        </a:p>
      </dgm:t>
    </dgm:pt>
    <dgm:pt modelId="{0BE765CC-377B-4801-9C22-CE0070388D03}" type="parTrans" cxnId="{2A4B2C7F-8CE9-4063-8853-F2953D1DFB23}">
      <dgm:prSet/>
      <dgm:spPr/>
      <dgm:t>
        <a:bodyPr/>
        <a:lstStyle/>
        <a:p>
          <a:endParaRPr lang="fr-FR"/>
        </a:p>
      </dgm:t>
    </dgm:pt>
    <dgm:pt modelId="{19E4B741-F8B1-4EE2-9413-3441EAF0EBDB}" type="sibTrans" cxnId="{2A4B2C7F-8CE9-4063-8853-F2953D1DFB23}">
      <dgm:prSet/>
      <dgm:spPr/>
      <dgm:t>
        <a:bodyPr/>
        <a:lstStyle/>
        <a:p>
          <a:endParaRPr lang="fr-FR"/>
        </a:p>
      </dgm:t>
    </dgm:pt>
    <dgm:pt modelId="{8A3DDBBC-BDB9-4284-8070-5DC230430E27}" type="pres">
      <dgm:prSet presAssocID="{44AF4177-7C69-4286-A073-FD7517B99666}" presName="Name0" presStyleCnt="0">
        <dgm:presLayoutVars>
          <dgm:dir/>
          <dgm:animLvl val="lvl"/>
          <dgm:resizeHandles val="exact"/>
        </dgm:presLayoutVars>
      </dgm:prSet>
      <dgm:spPr/>
    </dgm:pt>
    <dgm:pt modelId="{77CF711F-FEBA-45E1-9A1A-B32BC1E15845}" type="pres">
      <dgm:prSet presAssocID="{3518F6EF-1B9D-4C1D-81D5-0B847F26179F}" presName="parTxOnly" presStyleLbl="node1" presStyleIdx="0" presStyleCnt="3">
        <dgm:presLayoutVars>
          <dgm:chMax val="0"/>
          <dgm:chPref val="0"/>
          <dgm:bulletEnabled val="1"/>
        </dgm:presLayoutVars>
      </dgm:prSet>
      <dgm:spPr/>
      <dgm:t>
        <a:bodyPr/>
        <a:lstStyle/>
        <a:p>
          <a:endParaRPr lang="fr-FR"/>
        </a:p>
      </dgm:t>
    </dgm:pt>
    <dgm:pt modelId="{9638314C-197A-441E-8B5D-9A6B17CC2E6C}" type="pres">
      <dgm:prSet presAssocID="{FFA48EB1-E26C-47B3-A965-4A128ED432F9}" presName="parTxOnlySpace" presStyleCnt="0"/>
      <dgm:spPr/>
    </dgm:pt>
    <dgm:pt modelId="{EF41BC06-E77F-495B-82E0-5C44B92201DB}" type="pres">
      <dgm:prSet presAssocID="{80E5F059-5C1E-458F-8FAE-BF8030A9B05B}" presName="parTxOnly" presStyleLbl="node1" presStyleIdx="1" presStyleCnt="3">
        <dgm:presLayoutVars>
          <dgm:chMax val="0"/>
          <dgm:chPref val="0"/>
          <dgm:bulletEnabled val="1"/>
        </dgm:presLayoutVars>
      </dgm:prSet>
      <dgm:spPr/>
      <dgm:t>
        <a:bodyPr/>
        <a:lstStyle/>
        <a:p>
          <a:endParaRPr lang="fr-FR"/>
        </a:p>
      </dgm:t>
    </dgm:pt>
    <dgm:pt modelId="{7A9BBCB2-225C-4451-A73E-CD64874CB38A}" type="pres">
      <dgm:prSet presAssocID="{4B3303A8-457B-47D0-96CA-69A958C3918F}" presName="parTxOnlySpace" presStyleCnt="0"/>
      <dgm:spPr/>
    </dgm:pt>
    <dgm:pt modelId="{191835F5-FCC9-4E09-A9F0-B8BC7516B025}" type="pres">
      <dgm:prSet presAssocID="{53F073C3-9CE3-4E35-9EB4-5E8F55FC45EA}" presName="parTxOnly" presStyleLbl="node1" presStyleIdx="2" presStyleCnt="3">
        <dgm:presLayoutVars>
          <dgm:chMax val="0"/>
          <dgm:chPref val="0"/>
          <dgm:bulletEnabled val="1"/>
        </dgm:presLayoutVars>
      </dgm:prSet>
      <dgm:spPr/>
      <dgm:t>
        <a:bodyPr/>
        <a:lstStyle/>
        <a:p>
          <a:endParaRPr lang="fr-FR"/>
        </a:p>
      </dgm:t>
    </dgm:pt>
  </dgm:ptLst>
  <dgm:cxnLst>
    <dgm:cxn modelId="{555B7C3B-9B77-43E9-8D8D-76462905CC18}" type="presOf" srcId="{44AF4177-7C69-4286-A073-FD7517B99666}" destId="{8A3DDBBC-BDB9-4284-8070-5DC230430E27}" srcOrd="0" destOrd="0" presId="urn:microsoft.com/office/officeart/2005/8/layout/chevron1"/>
    <dgm:cxn modelId="{A053A15C-A322-41EF-91D6-B5E9933A8FB8}" type="presOf" srcId="{3518F6EF-1B9D-4C1D-81D5-0B847F26179F}" destId="{77CF711F-FEBA-45E1-9A1A-B32BC1E15845}" srcOrd="0" destOrd="0" presId="urn:microsoft.com/office/officeart/2005/8/layout/chevron1"/>
    <dgm:cxn modelId="{A386BE2C-5709-467E-8871-4D789298D163}" srcId="{44AF4177-7C69-4286-A073-FD7517B99666}" destId="{80E5F059-5C1E-458F-8FAE-BF8030A9B05B}" srcOrd="1" destOrd="0" parTransId="{05D24A9D-052C-4EFC-92C4-86194D0FBD57}" sibTransId="{4B3303A8-457B-47D0-96CA-69A958C3918F}"/>
    <dgm:cxn modelId="{3E92B6B5-41AD-4F76-BDB0-7DB9B5975164}" srcId="{44AF4177-7C69-4286-A073-FD7517B99666}" destId="{3518F6EF-1B9D-4C1D-81D5-0B847F26179F}" srcOrd="0" destOrd="0" parTransId="{B8FC2FF0-A4BE-40FB-AAF1-177592604C83}" sibTransId="{FFA48EB1-E26C-47B3-A965-4A128ED432F9}"/>
    <dgm:cxn modelId="{2ACC25B1-FF4B-4607-BF12-29DC3AD32DA7}" type="presOf" srcId="{53F073C3-9CE3-4E35-9EB4-5E8F55FC45EA}" destId="{191835F5-FCC9-4E09-A9F0-B8BC7516B025}" srcOrd="0" destOrd="0" presId="urn:microsoft.com/office/officeart/2005/8/layout/chevron1"/>
    <dgm:cxn modelId="{BB51D528-3ECE-435E-9750-E6179CC62BA2}" type="presOf" srcId="{80E5F059-5C1E-458F-8FAE-BF8030A9B05B}" destId="{EF41BC06-E77F-495B-82E0-5C44B92201DB}" srcOrd="0" destOrd="0" presId="urn:microsoft.com/office/officeart/2005/8/layout/chevron1"/>
    <dgm:cxn modelId="{2A4B2C7F-8CE9-4063-8853-F2953D1DFB23}" srcId="{44AF4177-7C69-4286-A073-FD7517B99666}" destId="{53F073C3-9CE3-4E35-9EB4-5E8F55FC45EA}" srcOrd="2" destOrd="0" parTransId="{0BE765CC-377B-4801-9C22-CE0070388D03}" sibTransId="{19E4B741-F8B1-4EE2-9413-3441EAF0EBDB}"/>
    <dgm:cxn modelId="{4A442473-DDFF-4735-B9B9-31D1CD0AE770}" type="presParOf" srcId="{8A3DDBBC-BDB9-4284-8070-5DC230430E27}" destId="{77CF711F-FEBA-45E1-9A1A-B32BC1E15845}" srcOrd="0" destOrd="0" presId="urn:microsoft.com/office/officeart/2005/8/layout/chevron1"/>
    <dgm:cxn modelId="{49502480-9E32-40CB-8B42-9231D9E8F2B4}" type="presParOf" srcId="{8A3DDBBC-BDB9-4284-8070-5DC230430E27}" destId="{9638314C-197A-441E-8B5D-9A6B17CC2E6C}" srcOrd="1" destOrd="0" presId="urn:microsoft.com/office/officeart/2005/8/layout/chevron1"/>
    <dgm:cxn modelId="{BB249FC8-3EF3-415B-968F-E8E8690FAB46}" type="presParOf" srcId="{8A3DDBBC-BDB9-4284-8070-5DC230430E27}" destId="{EF41BC06-E77F-495B-82E0-5C44B92201DB}" srcOrd="2" destOrd="0" presId="urn:microsoft.com/office/officeart/2005/8/layout/chevron1"/>
    <dgm:cxn modelId="{FD789B66-5199-4DD1-9BD6-038CC8E9B135}" type="presParOf" srcId="{8A3DDBBC-BDB9-4284-8070-5DC230430E27}" destId="{7A9BBCB2-225C-4451-A73E-CD64874CB38A}" srcOrd="3" destOrd="0" presId="urn:microsoft.com/office/officeart/2005/8/layout/chevron1"/>
    <dgm:cxn modelId="{C61F976F-3907-4D28-8A81-1BC745E5CE1C}" type="presParOf" srcId="{8A3DDBBC-BDB9-4284-8070-5DC230430E27}" destId="{191835F5-FCC9-4E09-A9F0-B8BC7516B025}" srcOrd="4" destOrd="0" presId="urn:microsoft.com/office/officeart/2005/8/layout/chevron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3C69CC9-3B14-4222-9037-E6CBF0559854}">
      <dsp:nvSpPr>
        <dsp:cNvPr id="0" name=""/>
        <dsp:cNvSpPr/>
      </dsp:nvSpPr>
      <dsp:spPr>
        <a:xfrm>
          <a:off x="0" y="379670"/>
          <a:ext cx="10151388" cy="519750"/>
        </a:xfrm>
        <a:prstGeom prst="rect">
          <a:avLst/>
        </a:prstGeom>
        <a:solidFill>
          <a:schemeClr val="lt1">
            <a:alpha val="90000"/>
            <a:hueOff val="0"/>
            <a:satOff val="0"/>
            <a:lumOff val="0"/>
            <a:alphaOff val="0"/>
          </a:schemeClr>
        </a:solidFill>
        <a:ln w="34925"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7861" tIns="104140" rIns="787861" bIns="142240" numCol="1" spcCol="1270" anchor="t" anchorCtr="0">
          <a:noAutofit/>
        </a:bodyPr>
        <a:lstStyle/>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Carnet d’adresse: nom, prénom, tél, email, adresse…</a:t>
          </a:r>
        </a:p>
      </dsp:txBody>
      <dsp:txXfrm>
        <a:off x="0" y="379670"/>
        <a:ext cx="10151388" cy="519750"/>
      </dsp:txXfrm>
    </dsp:sp>
    <dsp:sp modelId="{84060B38-5A66-4264-8161-BCFF752CC33C}">
      <dsp:nvSpPr>
        <dsp:cNvPr id="0" name=""/>
        <dsp:cNvSpPr/>
      </dsp:nvSpPr>
      <dsp:spPr>
        <a:xfrm>
          <a:off x="507569" y="146477"/>
          <a:ext cx="7105971" cy="299415"/>
        </a:xfrm>
        <a:prstGeom prst="roundRect">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8589" tIns="0" rIns="268589" bIns="0" numCol="1" spcCol="1270" anchor="ctr" anchorCtr="0">
          <a:noAutofit/>
        </a:bodyPr>
        <a:lstStyle/>
        <a:p>
          <a:pPr lvl="0" algn="l" defTabSz="889000">
            <a:lnSpc>
              <a:spcPct val="90000"/>
            </a:lnSpc>
            <a:spcBef>
              <a:spcPct val="0"/>
            </a:spcBef>
            <a:spcAft>
              <a:spcPct val="35000"/>
            </a:spcAft>
          </a:pPr>
          <a:r>
            <a:rPr lang="fr-FR" sz="2000" b="1" kern="1200" dirty="0">
              <a:latin typeface="Times New Roman" panose="02020603050405020304" pitchFamily="18" charset="0"/>
              <a:cs typeface="Times New Roman" panose="02020603050405020304" pitchFamily="18" charset="0"/>
            </a:rPr>
            <a:t>Particulier</a:t>
          </a:r>
        </a:p>
      </dsp:txBody>
      <dsp:txXfrm>
        <a:off x="507569" y="146477"/>
        <a:ext cx="7105971" cy="299415"/>
      </dsp:txXfrm>
    </dsp:sp>
    <dsp:sp modelId="{5FB8474C-E065-4BB1-99BF-EFB46BC741CA}">
      <dsp:nvSpPr>
        <dsp:cNvPr id="0" name=""/>
        <dsp:cNvSpPr/>
      </dsp:nvSpPr>
      <dsp:spPr>
        <a:xfrm>
          <a:off x="0" y="1144458"/>
          <a:ext cx="10151388" cy="1134000"/>
        </a:xfrm>
        <a:prstGeom prst="rect">
          <a:avLst/>
        </a:prstGeom>
        <a:solidFill>
          <a:schemeClr val="lt1">
            <a:alpha val="90000"/>
            <a:hueOff val="0"/>
            <a:satOff val="0"/>
            <a:lumOff val="0"/>
            <a:alphaOff val="0"/>
          </a:schemeClr>
        </a:solidFill>
        <a:ln w="34925" cap="flat" cmpd="sng" algn="in">
          <a:solidFill>
            <a:schemeClr val="accent5">
              <a:hueOff val="2944100"/>
              <a:satOff val="9586"/>
              <a:lumOff val="333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7861" tIns="104140" rIns="787861" bIns="142240" numCol="1" spcCol="1270" anchor="t" anchorCtr="0">
          <a:noAutofit/>
        </a:bodyPr>
        <a:lstStyle/>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Données sur les étudiants : Id, nom, prénom, classe, section, cycle, année…</a:t>
          </a:r>
        </a:p>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Données sur les formations : matière, intervenant, masse horaire, salle</a:t>
          </a:r>
        </a:p>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Données sur les résultats : matière, intervenant, pondération, résultat</a:t>
          </a:r>
        </a:p>
      </dsp:txBody>
      <dsp:txXfrm>
        <a:off x="0" y="1144458"/>
        <a:ext cx="10151388" cy="1134000"/>
      </dsp:txXfrm>
    </dsp:sp>
    <dsp:sp modelId="{9A834B14-67CE-4694-9177-4A051CBD2467}">
      <dsp:nvSpPr>
        <dsp:cNvPr id="0" name=""/>
        <dsp:cNvSpPr/>
      </dsp:nvSpPr>
      <dsp:spPr>
        <a:xfrm>
          <a:off x="507569" y="918843"/>
          <a:ext cx="7105971" cy="299415"/>
        </a:xfrm>
        <a:prstGeom prst="roundRect">
          <a:avLst/>
        </a:prstGeom>
        <a:solidFill>
          <a:schemeClr val="accent5">
            <a:hueOff val="2944100"/>
            <a:satOff val="9586"/>
            <a:lumOff val="3333"/>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8589" tIns="0" rIns="268589" bIns="0" numCol="1" spcCol="1270" anchor="ctr" anchorCtr="0">
          <a:noAutofit/>
        </a:bodyPr>
        <a:lstStyle/>
        <a:p>
          <a:pPr lvl="0" algn="l" defTabSz="889000">
            <a:lnSpc>
              <a:spcPct val="90000"/>
            </a:lnSpc>
            <a:spcBef>
              <a:spcPct val="0"/>
            </a:spcBef>
            <a:spcAft>
              <a:spcPct val="35000"/>
            </a:spcAft>
          </a:pPr>
          <a:r>
            <a:rPr lang="fr-FR" sz="2000" b="1" kern="1200" dirty="0">
              <a:latin typeface="Times New Roman" panose="02020603050405020304" pitchFamily="18" charset="0"/>
              <a:cs typeface="Times New Roman" panose="02020603050405020304" pitchFamily="18" charset="0"/>
            </a:rPr>
            <a:t>Écoles, Universités</a:t>
          </a:r>
        </a:p>
      </dsp:txBody>
      <dsp:txXfrm>
        <a:off x="507569" y="918843"/>
        <a:ext cx="7105971" cy="299415"/>
      </dsp:txXfrm>
    </dsp:sp>
    <dsp:sp modelId="{9D3EBBF0-4A3F-415E-9AB2-78BECC43823E}">
      <dsp:nvSpPr>
        <dsp:cNvPr id="0" name=""/>
        <dsp:cNvSpPr/>
      </dsp:nvSpPr>
      <dsp:spPr>
        <a:xfrm>
          <a:off x="0" y="2531073"/>
          <a:ext cx="10151388" cy="1134000"/>
        </a:xfrm>
        <a:prstGeom prst="rect">
          <a:avLst/>
        </a:prstGeom>
        <a:solidFill>
          <a:schemeClr val="lt1">
            <a:alpha val="90000"/>
            <a:hueOff val="0"/>
            <a:satOff val="0"/>
            <a:lumOff val="0"/>
            <a:alphaOff val="0"/>
          </a:schemeClr>
        </a:solidFill>
        <a:ln w="34925" cap="flat" cmpd="sng" algn="in">
          <a:solidFill>
            <a:schemeClr val="accent5">
              <a:hueOff val="5888199"/>
              <a:satOff val="19172"/>
              <a:lumOff val="666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7861" tIns="104140" rIns="787861" bIns="142240" numCol="1" spcCol="1270" anchor="t" anchorCtr="0">
          <a:noAutofit/>
        </a:bodyPr>
        <a:lstStyle/>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Fichiers clients, fournisseurs, commandes</a:t>
          </a:r>
        </a:p>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Facturation</a:t>
          </a:r>
        </a:p>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Gestion de stock, inventaire</a:t>
          </a:r>
        </a:p>
      </dsp:txBody>
      <dsp:txXfrm>
        <a:off x="0" y="2531073"/>
        <a:ext cx="10151388" cy="1134000"/>
      </dsp:txXfrm>
    </dsp:sp>
    <dsp:sp modelId="{16F1C77F-8901-4933-A569-FADF819D6724}">
      <dsp:nvSpPr>
        <dsp:cNvPr id="0" name=""/>
        <dsp:cNvSpPr/>
      </dsp:nvSpPr>
      <dsp:spPr>
        <a:xfrm>
          <a:off x="507569" y="2305458"/>
          <a:ext cx="7105971" cy="299415"/>
        </a:xfrm>
        <a:prstGeom prst="roundRect">
          <a:avLst/>
        </a:prstGeom>
        <a:solidFill>
          <a:schemeClr val="accent5">
            <a:hueOff val="5888199"/>
            <a:satOff val="19172"/>
            <a:lumOff val="6667"/>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8589" tIns="0" rIns="268589" bIns="0" numCol="1" spcCol="1270" anchor="ctr" anchorCtr="0">
          <a:noAutofit/>
        </a:bodyPr>
        <a:lstStyle/>
        <a:p>
          <a:pPr lvl="0" algn="l" defTabSz="889000">
            <a:lnSpc>
              <a:spcPct val="90000"/>
            </a:lnSpc>
            <a:spcBef>
              <a:spcPct val="0"/>
            </a:spcBef>
            <a:spcAft>
              <a:spcPct val="35000"/>
            </a:spcAft>
          </a:pPr>
          <a:r>
            <a:rPr lang="fr-FR" sz="2000" b="1" kern="1200" dirty="0">
              <a:latin typeface="Times New Roman" panose="02020603050405020304" pitchFamily="18" charset="0"/>
              <a:cs typeface="Times New Roman" panose="02020603050405020304" pitchFamily="18" charset="0"/>
            </a:rPr>
            <a:t>Entreprises</a:t>
          </a:r>
        </a:p>
      </dsp:txBody>
      <dsp:txXfrm>
        <a:off x="507569" y="2305458"/>
        <a:ext cx="7105971" cy="299415"/>
      </dsp:txXfrm>
    </dsp:sp>
    <dsp:sp modelId="{10B024EA-3E05-4F01-AA98-F67248F5CB83}">
      <dsp:nvSpPr>
        <dsp:cNvPr id="0" name=""/>
        <dsp:cNvSpPr/>
      </dsp:nvSpPr>
      <dsp:spPr>
        <a:xfrm>
          <a:off x="0" y="3973763"/>
          <a:ext cx="10151388" cy="1354500"/>
        </a:xfrm>
        <a:prstGeom prst="rect">
          <a:avLst/>
        </a:prstGeom>
        <a:solidFill>
          <a:schemeClr val="lt1">
            <a:alpha val="90000"/>
            <a:hueOff val="0"/>
            <a:satOff val="0"/>
            <a:lumOff val="0"/>
            <a:alphaOff val="0"/>
          </a:schemeClr>
        </a:solidFill>
        <a:ln w="34925" cap="flat" cmpd="sng" algn="in">
          <a:solidFill>
            <a:schemeClr val="accent5">
              <a:hueOff val="8832298"/>
              <a:satOff val="28758"/>
              <a:lumOff val="10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7861" tIns="104140" rIns="787861" bIns="142240" numCol="1" spcCol="1270" anchor="t" anchorCtr="0">
          <a:noAutofit/>
        </a:bodyPr>
        <a:lstStyle/>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Données sur les citoyens : CIN, nom, prénom, date de naissance, lieu de naissance, adresse, photo</a:t>
          </a:r>
        </a:p>
        <a:p>
          <a:pPr marL="228600" lvl="1" indent="-228600" algn="l" defTabSz="889000">
            <a:lnSpc>
              <a:spcPct val="90000"/>
            </a:lnSpc>
            <a:spcBef>
              <a:spcPct val="0"/>
            </a:spcBef>
            <a:spcAft>
              <a:spcPct val="15000"/>
            </a:spcAft>
            <a:buChar char="••"/>
          </a:pPr>
          <a:r>
            <a:rPr lang="fr-FR" sz="2000" b="1" kern="1200" dirty="0">
              <a:latin typeface="Times New Roman" panose="02020603050405020304" pitchFamily="18" charset="0"/>
              <a:cs typeface="Times New Roman" panose="02020603050405020304" pitchFamily="18" charset="0"/>
            </a:rPr>
            <a:t>Données sur les impôts : Raison sociale, nom, montant de taxe, date d’application…</a:t>
          </a:r>
        </a:p>
      </dsp:txBody>
      <dsp:txXfrm>
        <a:off x="0" y="3973763"/>
        <a:ext cx="10151388" cy="1354500"/>
      </dsp:txXfrm>
    </dsp:sp>
    <dsp:sp modelId="{B54E4A40-EC2D-40F6-8D7A-64D40E66F5AF}">
      <dsp:nvSpPr>
        <dsp:cNvPr id="0" name=""/>
        <dsp:cNvSpPr/>
      </dsp:nvSpPr>
      <dsp:spPr>
        <a:xfrm>
          <a:off x="507569" y="3692073"/>
          <a:ext cx="7105971" cy="299415"/>
        </a:xfrm>
        <a:prstGeom prst="roundRect">
          <a:avLst/>
        </a:prstGeom>
        <a:solidFill>
          <a:schemeClr val="accent5">
            <a:hueOff val="8832298"/>
            <a:satOff val="28758"/>
            <a:lumOff val="1000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8589" tIns="0" rIns="268589" bIns="0" numCol="1" spcCol="1270" anchor="ctr" anchorCtr="0">
          <a:noAutofit/>
        </a:bodyPr>
        <a:lstStyle/>
        <a:p>
          <a:pPr lvl="0" algn="l" defTabSz="889000">
            <a:lnSpc>
              <a:spcPct val="90000"/>
            </a:lnSpc>
            <a:spcBef>
              <a:spcPct val="0"/>
            </a:spcBef>
            <a:spcAft>
              <a:spcPct val="35000"/>
            </a:spcAft>
          </a:pPr>
          <a:r>
            <a:rPr lang="fr-FR" sz="2000" b="1" kern="1200" dirty="0">
              <a:latin typeface="Times New Roman" panose="02020603050405020304" pitchFamily="18" charset="0"/>
              <a:cs typeface="Times New Roman" panose="02020603050405020304" pitchFamily="18" charset="0"/>
            </a:rPr>
            <a:t>Gouvernement</a:t>
          </a:r>
        </a:p>
      </dsp:txBody>
      <dsp:txXfrm>
        <a:off x="507569" y="3692073"/>
        <a:ext cx="7105971" cy="299415"/>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7CF711F-FEBA-45E1-9A1A-B32BC1E15845}">
      <dsp:nvSpPr>
        <dsp:cNvPr id="0" name=""/>
        <dsp:cNvSpPr/>
      </dsp:nvSpPr>
      <dsp:spPr>
        <a:xfrm>
          <a:off x="3112" y="489788"/>
          <a:ext cx="3792555" cy="1517022"/>
        </a:xfrm>
        <a:prstGeom prst="chevron">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lvl="0" algn="ctr" defTabSz="1333500">
            <a:lnSpc>
              <a:spcPct val="90000"/>
            </a:lnSpc>
            <a:spcBef>
              <a:spcPct val="0"/>
            </a:spcBef>
            <a:spcAft>
              <a:spcPct val="35000"/>
            </a:spcAft>
          </a:pPr>
          <a:r>
            <a:rPr lang="fr-FR" sz="3000" b="0" i="0" kern="1200" dirty="0"/>
            <a:t>Analyse conceptuelle</a:t>
          </a:r>
          <a:endParaRPr lang="fr-FR" sz="3000" kern="1200" dirty="0"/>
        </a:p>
      </dsp:txBody>
      <dsp:txXfrm>
        <a:off x="3112" y="489788"/>
        <a:ext cx="3792555" cy="1517022"/>
      </dsp:txXfrm>
    </dsp:sp>
    <dsp:sp modelId="{EF41BC06-E77F-495B-82E0-5C44B92201DB}">
      <dsp:nvSpPr>
        <dsp:cNvPr id="0" name=""/>
        <dsp:cNvSpPr/>
      </dsp:nvSpPr>
      <dsp:spPr>
        <a:xfrm>
          <a:off x="3416412" y="489788"/>
          <a:ext cx="3792555" cy="1517022"/>
        </a:xfrm>
        <a:prstGeom prst="chevron">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lvl="0" algn="ctr" defTabSz="1333500">
            <a:lnSpc>
              <a:spcPct val="90000"/>
            </a:lnSpc>
            <a:spcBef>
              <a:spcPct val="0"/>
            </a:spcBef>
            <a:spcAft>
              <a:spcPct val="35000"/>
            </a:spcAft>
          </a:pPr>
          <a:r>
            <a:rPr lang="fr-FR" sz="3000" b="0" i="0" kern="1200" dirty="0"/>
            <a:t>Conception logique</a:t>
          </a:r>
          <a:endParaRPr lang="fr-FR" sz="3000" kern="1200" dirty="0"/>
        </a:p>
      </dsp:txBody>
      <dsp:txXfrm>
        <a:off x="3416412" y="489788"/>
        <a:ext cx="3792555" cy="1517022"/>
      </dsp:txXfrm>
    </dsp:sp>
    <dsp:sp modelId="{191835F5-FCC9-4E09-A9F0-B8BC7516B025}">
      <dsp:nvSpPr>
        <dsp:cNvPr id="0" name=""/>
        <dsp:cNvSpPr/>
      </dsp:nvSpPr>
      <dsp:spPr>
        <a:xfrm>
          <a:off x="6829712" y="489788"/>
          <a:ext cx="3792555" cy="1517022"/>
        </a:xfrm>
        <a:prstGeom prst="chevron">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lvl="0" algn="ctr" defTabSz="1333500">
            <a:lnSpc>
              <a:spcPct val="90000"/>
            </a:lnSpc>
            <a:spcBef>
              <a:spcPct val="0"/>
            </a:spcBef>
            <a:spcAft>
              <a:spcPct val="35000"/>
            </a:spcAft>
          </a:pPr>
          <a:r>
            <a:rPr lang="fr-FR" sz="3000" b="0" i="0" kern="1200" dirty="0"/>
            <a:t>Mise en place</a:t>
          </a:r>
          <a:endParaRPr lang="fr-FR" sz="3000" kern="1200" dirty="0"/>
        </a:p>
      </dsp:txBody>
      <dsp:txXfrm>
        <a:off x="6829712" y="489788"/>
        <a:ext cx="3792555" cy="151702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BD00AC-7446-4621-B927-D44F303F3125}" type="datetimeFigureOut">
              <a:rPr lang="fr-FR" smtClean="0"/>
              <a:pPr/>
              <a:t>30/11/2024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38192-AF52-4FC7-8F0F-BE90AE31CF1C}" type="slidenum">
              <a:rPr lang="fr-FR" smtClean="0"/>
              <a:pPr/>
              <a:t>‹N°›</a:t>
            </a:fld>
            <a:endParaRPr lang="fr-FR"/>
          </a:p>
        </p:txBody>
      </p:sp>
    </p:spTree>
    <p:extLst>
      <p:ext uri="{BB962C8B-B14F-4D97-AF65-F5344CB8AC3E}">
        <p14:creationId xmlns:p14="http://schemas.microsoft.com/office/powerpoint/2010/main" xmlns="" val="1024875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57CE6E8-589D-4484-BDE1-E07BFDBB240C}" type="datetime1">
              <a:rPr lang="fr-FR" smtClean="0"/>
              <a:pPr/>
              <a:t>30/11/2024</a:t>
            </a:fld>
            <a:endParaRPr lang="fr-F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15B59467-8B33-4B1A-8FFF-43B74E510468}" type="slidenum">
              <a:rPr lang="fr-FR" smtClean="0"/>
              <a:pPr/>
              <a:t>‹N°›</a:t>
            </a:fld>
            <a:endParaRPr lang="fr-F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xmlns="" val="72099360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7CE6E8-589D-4484-BDE1-E07BFDBB240C}" type="datetime1">
              <a:rPr lang="fr-FR" smtClean="0"/>
              <a:pPr/>
              <a:t>30/11/2024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5B59467-8B33-4B1A-8FFF-43B74E510468}" type="slidenum">
              <a:rPr lang="fr-FR" smtClean="0"/>
              <a:pPr/>
              <a:t>‹N°›</a:t>
            </a:fld>
            <a:endParaRPr lang="fr-FR"/>
          </a:p>
        </p:txBody>
      </p:sp>
    </p:spTree>
    <p:extLst>
      <p:ext uri="{BB962C8B-B14F-4D97-AF65-F5344CB8AC3E}">
        <p14:creationId xmlns:p14="http://schemas.microsoft.com/office/powerpoint/2010/main" xmlns="" val="391152205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57CE6E8-589D-4484-BDE1-E07BFDBB240C}" type="datetime1">
              <a:rPr lang="fr-FR" smtClean="0"/>
              <a:pPr/>
              <a:t>30/11/2024</a:t>
            </a:fld>
            <a:endParaRPr lang="fr-F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5B59467-8B33-4B1A-8FFF-43B74E510468}" type="slidenum">
              <a:rPr lang="fr-FR" smtClean="0"/>
              <a:pPr/>
              <a:t>‹N°›</a:t>
            </a:fld>
            <a:endParaRPr lang="fr-FR"/>
          </a:p>
        </p:txBody>
      </p:sp>
      <p:sp>
        <p:nvSpPr>
          <p:cNvPr id="7" name="Freeform 6"/>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xmlns="" val="36121405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7CE6E8-589D-4484-BDE1-E07BFDBB240C}" type="datetime1">
              <a:rPr lang="fr-FR" smtClean="0"/>
              <a:pPr/>
              <a:t>30/11/2024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5B59467-8B33-4B1A-8FFF-43B74E510468}" type="slidenum">
              <a:rPr lang="fr-FR" smtClean="0"/>
              <a:pPr/>
              <a:t>‹N°›</a:t>
            </a:fld>
            <a:endParaRPr lang="fr-FR"/>
          </a:p>
        </p:txBody>
      </p:sp>
    </p:spTree>
    <p:extLst>
      <p:ext uri="{BB962C8B-B14F-4D97-AF65-F5344CB8AC3E}">
        <p14:creationId xmlns:p14="http://schemas.microsoft.com/office/powerpoint/2010/main" xmlns="" val="166028248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7CE6E8-589D-4484-BDE1-E07BFDBB240C}" type="datetime1">
              <a:rPr lang="fr-FR" smtClean="0"/>
              <a:pPr/>
              <a:t>30/11/2024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5B59467-8B33-4B1A-8FFF-43B74E510468}" type="slidenum">
              <a:rPr lang="fr-FR" smtClean="0"/>
              <a:pPr/>
              <a:t>‹N°›</a:t>
            </a:fld>
            <a:endParaRPr lang="fr-FR"/>
          </a:p>
        </p:txBody>
      </p:sp>
    </p:spTree>
    <p:extLst>
      <p:ext uri="{BB962C8B-B14F-4D97-AF65-F5344CB8AC3E}">
        <p14:creationId xmlns:p14="http://schemas.microsoft.com/office/powerpoint/2010/main" xmlns="" val="14710019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7CE6E8-589D-4484-BDE1-E07BFDBB240C}" type="datetime1">
              <a:rPr lang="fr-FR" smtClean="0"/>
              <a:pPr/>
              <a:t>30/11/2024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5B59467-8B33-4B1A-8FFF-43B74E510468}" type="slidenum">
              <a:rPr lang="fr-FR" smtClean="0"/>
              <a:pPr/>
              <a:t>‹N°›</a:t>
            </a:fld>
            <a:endParaRPr lang="fr-FR"/>
          </a:p>
        </p:txBody>
      </p:sp>
    </p:spTree>
    <p:extLst>
      <p:ext uri="{BB962C8B-B14F-4D97-AF65-F5344CB8AC3E}">
        <p14:creationId xmlns:p14="http://schemas.microsoft.com/office/powerpoint/2010/main" xmlns="" val="372753729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CE6E8-589D-4484-BDE1-E07BFDBB240C}" type="datetime1">
              <a:rPr lang="fr-FR" smtClean="0"/>
              <a:pPr/>
              <a:t>30/11/2024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5B59467-8B33-4B1A-8FFF-43B74E510468}" type="slidenum">
              <a:rPr lang="fr-FR" smtClean="0"/>
              <a:pPr/>
              <a:t>‹N°›</a:t>
            </a:fld>
            <a:endParaRPr lang="fr-FR"/>
          </a:p>
        </p:txBody>
      </p:sp>
    </p:spTree>
    <p:extLst>
      <p:ext uri="{BB962C8B-B14F-4D97-AF65-F5344CB8AC3E}">
        <p14:creationId xmlns:p14="http://schemas.microsoft.com/office/powerpoint/2010/main" xmlns="" val="109591977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57CE6E8-589D-4484-BDE1-E07BFDBB240C}" type="datetime1">
              <a:rPr lang="fr-FR" smtClean="0"/>
              <a:pPr/>
              <a:t>30/11/2024</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5B59467-8B33-4B1A-8FFF-43B74E510468}" type="slidenum">
              <a:rPr lang="fr-FR" smtClean="0"/>
              <a:pPr/>
              <a:t>‹N°›</a:t>
            </a:fld>
            <a:endParaRPr lang="fr-FR"/>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94794238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57CE6E8-589D-4484-BDE1-E07BFDBB240C}" type="datetime1">
              <a:rPr lang="fr-FR" smtClean="0"/>
              <a:pPr/>
              <a:t>30/11/2024</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5B59467-8B33-4B1A-8FFF-43B74E510468}" type="slidenum">
              <a:rPr lang="fr-FR" smtClean="0"/>
              <a:pPr/>
              <a:t>‹N°›</a:t>
            </a:fld>
            <a:endParaRPr lang="fr-FR"/>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96483890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7CE6E8-589D-4484-BDE1-E07BFDBB240C}" type="datetime1">
              <a:rPr lang="fr-FR" smtClean="0"/>
              <a:pPr/>
              <a:t>30/11/2024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5B59467-8B33-4B1A-8FFF-43B74E510468}" type="slidenum">
              <a:rPr lang="fr-FR" smtClean="0"/>
              <a:pPr/>
              <a:t>‹N°›</a:t>
            </a:fld>
            <a:endParaRPr lang="fr-FR"/>
          </a:p>
        </p:txBody>
      </p:sp>
    </p:spTree>
    <p:extLst>
      <p:ext uri="{BB962C8B-B14F-4D97-AF65-F5344CB8AC3E}">
        <p14:creationId xmlns:p14="http://schemas.microsoft.com/office/powerpoint/2010/main" xmlns="" val="290304084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7CE6E8-589D-4484-BDE1-E07BFDBB240C}" type="datetime1">
              <a:rPr lang="fr-FR" smtClean="0"/>
              <a:pPr/>
              <a:t>30/11/2024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5B59467-8B33-4B1A-8FFF-43B74E510468}" type="slidenum">
              <a:rPr lang="fr-FR" smtClean="0"/>
              <a:pPr/>
              <a:t>‹N°›</a:t>
            </a:fld>
            <a:endParaRPr lang="fr-FR"/>
          </a:p>
        </p:txBody>
      </p:sp>
    </p:spTree>
    <p:extLst>
      <p:ext uri="{BB962C8B-B14F-4D97-AF65-F5344CB8AC3E}">
        <p14:creationId xmlns:p14="http://schemas.microsoft.com/office/powerpoint/2010/main" xmlns="" val="68508636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57CE6E8-589D-4484-BDE1-E07BFDBB240C}" type="datetime1">
              <a:rPr lang="fr-FR" smtClean="0"/>
              <a:pPr/>
              <a:t>30/11/2024</a:t>
            </a:fld>
            <a:endParaRPr lang="fr-F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fr-F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15B59467-8B33-4B1A-8FFF-43B74E510468}" type="slidenum">
              <a:rPr lang="fr-FR" smtClean="0"/>
              <a:pPr/>
              <a:t>‹N°›</a:t>
            </a:fld>
            <a:endParaRPr lang="fr-FR"/>
          </a:p>
        </p:txBody>
      </p:sp>
      <p:sp>
        <p:nvSpPr>
          <p:cNvPr id="9" name="Rectangle 8"/>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417358255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hf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2EDEB5E-B2A0-41F4-BC9C-4F43481E69F2}"/>
              </a:ext>
            </a:extLst>
          </p:cNvPr>
          <p:cNvSpPr>
            <a:spLocks noGrp="1"/>
          </p:cNvSpPr>
          <p:nvPr>
            <p:ph type="ctrTitle"/>
          </p:nvPr>
        </p:nvSpPr>
        <p:spPr>
          <a:xfrm>
            <a:off x="1670179" y="1915996"/>
            <a:ext cx="8520752" cy="1980980"/>
          </a:xfrm>
        </p:spPr>
        <p:txBody>
          <a:bodyPr anchor="ctr">
            <a:normAutofit/>
          </a:bodyPr>
          <a:lstStyle/>
          <a:p>
            <a:r>
              <a:rPr lang="fr-FR" b="1" dirty="0"/>
              <a:t>Base de </a:t>
            </a:r>
            <a:r>
              <a:rPr lang="fr-FR" b="1" dirty="0" smtClean="0"/>
              <a:t>données</a:t>
            </a:r>
            <a:endParaRPr lang="fr-FR" b="1" dirty="0"/>
          </a:p>
        </p:txBody>
      </p:sp>
      <p:sp>
        <p:nvSpPr>
          <p:cNvPr id="3" name="Titre 1">
            <a:extLst>
              <a:ext uri="{FF2B5EF4-FFF2-40B4-BE49-F238E27FC236}">
                <a16:creationId xmlns:a16="http://schemas.microsoft.com/office/drawing/2014/main" xmlns="" id="{D2EDEB5E-B2A0-41F4-BC9C-4F43481E69F2}"/>
              </a:ext>
            </a:extLst>
          </p:cNvPr>
          <p:cNvSpPr txBox="1">
            <a:spLocks/>
          </p:cNvSpPr>
          <p:nvPr/>
        </p:nvSpPr>
        <p:spPr>
          <a:xfrm>
            <a:off x="1800808" y="3567514"/>
            <a:ext cx="8520752" cy="198098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89000"/>
              </a:lnSpc>
              <a:spcBef>
                <a:spcPct val="0"/>
              </a:spcBef>
              <a:spcAft>
                <a:spcPts val="0"/>
              </a:spcAft>
              <a:buClrTx/>
              <a:buSzTx/>
              <a:buFontTx/>
              <a:buNone/>
              <a:tabLst/>
              <a:defRPr/>
            </a:pPr>
            <a:r>
              <a:rPr kumimoji="0" lang="fr-FR" sz="3600" b="1" i="0" u="none" strike="noStrike" kern="1200" cap="all" spc="0" normalizeH="0" baseline="0" noProof="0" dirty="0" smtClean="0">
                <a:ln>
                  <a:noFill/>
                </a:ln>
                <a:solidFill>
                  <a:schemeClr val="tx2"/>
                </a:solidFill>
                <a:effectLst/>
                <a:uLnTx/>
                <a:uFillTx/>
                <a:latin typeface="+mj-lt"/>
                <a:ea typeface="+mj-ea"/>
                <a:cs typeface="+mj-cs"/>
              </a:rPr>
              <a:t>Prof.</a:t>
            </a:r>
            <a:r>
              <a:rPr kumimoji="0" lang="fr-FR" sz="3600" b="1" i="0" u="none" strike="noStrike" kern="1200" cap="all" spc="0" normalizeH="0" noProof="0" dirty="0" smtClean="0">
                <a:ln>
                  <a:noFill/>
                </a:ln>
                <a:solidFill>
                  <a:schemeClr val="tx2"/>
                </a:solidFill>
                <a:effectLst/>
                <a:uLnTx/>
                <a:uFillTx/>
                <a:latin typeface="+mj-lt"/>
                <a:ea typeface="+mj-ea"/>
                <a:cs typeface="+mj-cs"/>
              </a:rPr>
              <a:t> Mostafa </a:t>
            </a:r>
            <a:r>
              <a:rPr kumimoji="0" lang="fr-FR" sz="3600" b="1" i="0" u="none" strike="noStrike" kern="1200" cap="all" spc="0" normalizeH="0" noProof="0" dirty="0" err="1" smtClean="0">
                <a:ln>
                  <a:noFill/>
                </a:ln>
                <a:solidFill>
                  <a:schemeClr val="tx2"/>
                </a:solidFill>
                <a:effectLst/>
                <a:uLnTx/>
                <a:uFillTx/>
                <a:latin typeface="+mj-lt"/>
                <a:ea typeface="+mj-ea"/>
                <a:cs typeface="+mj-cs"/>
              </a:rPr>
              <a:t>ezziyyani</a:t>
            </a:r>
            <a:endParaRPr kumimoji="0" lang="fr-FR" sz="3600" b="1" i="0" u="none" strike="noStrike" kern="1200" cap="all"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21338876"/>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76B6D8B8-F5EF-42D3-AA44-BB94491D92B9}"/>
              </a:ext>
            </a:extLst>
          </p:cNvPr>
          <p:cNvSpPr>
            <a:spLocks noGrp="1"/>
          </p:cNvSpPr>
          <p:nvPr>
            <p:ph type="title"/>
          </p:nvPr>
        </p:nvSpPr>
        <p:spPr/>
        <p:txBody>
          <a:bodyPr/>
          <a:lstStyle/>
          <a:p>
            <a:r>
              <a:rPr lang="fr-FR" dirty="0"/>
              <a:t>Plan du cours</a:t>
            </a:r>
          </a:p>
        </p:txBody>
      </p:sp>
      <p:sp>
        <p:nvSpPr>
          <p:cNvPr id="3" name="Espace réservé du contenu 2">
            <a:extLst>
              <a:ext uri="{FF2B5EF4-FFF2-40B4-BE49-F238E27FC236}">
                <a16:creationId xmlns:a16="http://schemas.microsoft.com/office/drawing/2014/main" xmlns="" id="{F8616BB4-06CC-49BF-91CE-D32ED2DEF8D6}"/>
              </a:ext>
            </a:extLst>
          </p:cNvPr>
          <p:cNvSpPr>
            <a:spLocks noGrp="1"/>
          </p:cNvSpPr>
          <p:nvPr>
            <p:ph idx="1"/>
          </p:nvPr>
        </p:nvSpPr>
        <p:spPr/>
        <p:txBody>
          <a:bodyPr>
            <a:normAutofit/>
          </a:bodyPr>
          <a:lstStyle/>
          <a:p>
            <a:r>
              <a:rPr lang="fr-FR" sz="3200" dirty="0"/>
              <a:t>Introduction aux bases de données</a:t>
            </a:r>
          </a:p>
          <a:p>
            <a:r>
              <a:rPr lang="fr-FR" sz="3200" dirty="0"/>
              <a:t>Construction d’une base de données</a:t>
            </a:r>
          </a:p>
          <a:p>
            <a:pPr lvl="1"/>
            <a:r>
              <a:rPr lang="fr-FR" sz="3200" dirty="0"/>
              <a:t>MCD</a:t>
            </a:r>
          </a:p>
          <a:p>
            <a:pPr lvl="1"/>
            <a:r>
              <a:rPr lang="fr-FR" sz="3200" dirty="0"/>
              <a:t>MLD</a:t>
            </a:r>
          </a:p>
          <a:p>
            <a:r>
              <a:rPr lang="fr-FR" sz="3200" dirty="0"/>
              <a:t>Langage SQL</a:t>
            </a:r>
          </a:p>
        </p:txBody>
      </p:sp>
      <p:sp>
        <p:nvSpPr>
          <p:cNvPr id="4" name="Espace réservé du numéro de diapositive 3">
            <a:extLst>
              <a:ext uri="{FF2B5EF4-FFF2-40B4-BE49-F238E27FC236}">
                <a16:creationId xmlns:a16="http://schemas.microsoft.com/office/drawing/2014/main" xmlns="" id="{0AEC541B-8B50-4247-B258-7382182FEC81}"/>
              </a:ext>
            </a:extLst>
          </p:cNvPr>
          <p:cNvSpPr>
            <a:spLocks noGrp="1"/>
          </p:cNvSpPr>
          <p:nvPr>
            <p:ph type="sldNum" sz="quarter" idx="12"/>
          </p:nvPr>
        </p:nvSpPr>
        <p:spPr/>
        <p:txBody>
          <a:bodyPr/>
          <a:lstStyle/>
          <a:p>
            <a:fld id="{15B59467-8B33-4B1A-8FFF-43B74E510468}" type="slidenum">
              <a:rPr lang="fr-FR" smtClean="0"/>
              <a:pPr/>
              <a:t>2</a:t>
            </a:fld>
            <a:endParaRPr lang="fr-FR"/>
          </a:p>
        </p:txBody>
      </p:sp>
    </p:spTree>
    <p:extLst>
      <p:ext uri="{BB962C8B-B14F-4D97-AF65-F5344CB8AC3E}">
        <p14:creationId xmlns:p14="http://schemas.microsoft.com/office/powerpoint/2010/main" xmlns="" val="3750972357"/>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CD6614CE-2019-44F0-B96B-2B99F7FF9862}"/>
              </a:ext>
            </a:extLst>
          </p:cNvPr>
          <p:cNvSpPr>
            <a:spLocks noGrp="1"/>
          </p:cNvSpPr>
          <p:nvPr>
            <p:ph type="title"/>
          </p:nvPr>
        </p:nvSpPr>
        <p:spPr/>
        <p:txBody>
          <a:bodyPr/>
          <a:lstStyle/>
          <a:p>
            <a:r>
              <a:rPr lang="fr-FR" dirty="0"/>
              <a:t>Objectifs</a:t>
            </a:r>
          </a:p>
        </p:txBody>
      </p:sp>
      <p:sp>
        <p:nvSpPr>
          <p:cNvPr id="6" name="Espace réservé du numéro de diapositive 5">
            <a:extLst>
              <a:ext uri="{FF2B5EF4-FFF2-40B4-BE49-F238E27FC236}">
                <a16:creationId xmlns:a16="http://schemas.microsoft.com/office/drawing/2014/main" xmlns="" id="{F4BDCEBB-4EE5-401D-AEBA-02DA1FE406F6}"/>
              </a:ext>
            </a:extLst>
          </p:cNvPr>
          <p:cNvSpPr>
            <a:spLocks noGrp="1"/>
          </p:cNvSpPr>
          <p:nvPr>
            <p:ph type="sldNum" sz="quarter" idx="12"/>
          </p:nvPr>
        </p:nvSpPr>
        <p:spPr/>
        <p:txBody>
          <a:bodyPr/>
          <a:lstStyle/>
          <a:p>
            <a:fld id="{15B59467-8B33-4B1A-8FFF-43B74E510468}" type="slidenum">
              <a:rPr lang="fr-FR" smtClean="0"/>
              <a:pPr/>
              <a:t>3</a:t>
            </a:fld>
            <a:endParaRPr lang="fr-FR"/>
          </a:p>
        </p:txBody>
      </p:sp>
      <p:sp>
        <p:nvSpPr>
          <p:cNvPr id="5" name="ZoneTexte 4">
            <a:extLst>
              <a:ext uri="{FF2B5EF4-FFF2-40B4-BE49-F238E27FC236}">
                <a16:creationId xmlns:a16="http://schemas.microsoft.com/office/drawing/2014/main" xmlns="" id="{D962CFE9-6A4C-48C6-860D-95A0A5CEE7B8}"/>
              </a:ext>
            </a:extLst>
          </p:cNvPr>
          <p:cNvSpPr txBox="1"/>
          <p:nvPr/>
        </p:nvSpPr>
        <p:spPr>
          <a:xfrm>
            <a:off x="960895" y="1921790"/>
            <a:ext cx="10392905" cy="2431435"/>
          </a:xfrm>
          <a:prstGeom prst="rect">
            <a:avLst/>
          </a:prstGeom>
          <a:noFill/>
        </p:spPr>
        <p:txBody>
          <a:bodyPr wrap="square">
            <a:spAutoFit/>
          </a:bodyPr>
          <a:lstStyle/>
          <a:p>
            <a:pPr marL="457200" indent="-457200" algn="just">
              <a:spcBef>
                <a:spcPts val="1200"/>
              </a:spcBef>
              <a:spcAft>
                <a:spcPts val="1200"/>
              </a:spcAft>
              <a:buClr>
                <a:srgbClr val="C00000"/>
              </a:buClr>
              <a:buFont typeface="Wingdings" panose="05000000000000000000" pitchFamily="2" charset="2"/>
              <a:buChar char="Ø"/>
            </a:pPr>
            <a:r>
              <a:rPr lang="fr-FR" sz="2800" b="0" i="0" dirty="0">
                <a:solidFill>
                  <a:srgbClr val="000000"/>
                </a:solidFill>
                <a:effectLst/>
              </a:rPr>
              <a:t>Connaître les principales caractéristiques des bases de données</a:t>
            </a:r>
          </a:p>
          <a:p>
            <a:pPr marL="457200" indent="-457200" algn="just">
              <a:spcBef>
                <a:spcPts val="1200"/>
              </a:spcBef>
              <a:spcAft>
                <a:spcPts val="1200"/>
              </a:spcAft>
              <a:buClr>
                <a:srgbClr val="C00000"/>
              </a:buClr>
              <a:buFont typeface="Wingdings" panose="05000000000000000000" pitchFamily="2" charset="2"/>
              <a:buChar char="Ø"/>
            </a:pPr>
            <a:r>
              <a:rPr lang="fr-FR" sz="2800" b="0" i="0" dirty="0">
                <a:solidFill>
                  <a:srgbClr val="000000"/>
                </a:solidFill>
                <a:effectLst/>
              </a:rPr>
              <a:t>Être capable d'effectuer une modélisation de données puis</a:t>
            </a:r>
            <a:br>
              <a:rPr lang="fr-FR" sz="2800" b="0" i="0" dirty="0">
                <a:solidFill>
                  <a:srgbClr val="000000"/>
                </a:solidFill>
                <a:effectLst/>
              </a:rPr>
            </a:br>
            <a:r>
              <a:rPr lang="fr-FR" sz="2800" b="0" i="0" dirty="0">
                <a:solidFill>
                  <a:srgbClr val="000000"/>
                </a:solidFill>
                <a:effectLst/>
              </a:rPr>
              <a:t>de créer une base de données équivalente</a:t>
            </a:r>
            <a:endParaRPr lang="fr-FR" sz="2800" dirty="0">
              <a:solidFill>
                <a:srgbClr val="000000"/>
              </a:solidFill>
            </a:endParaRPr>
          </a:p>
          <a:p>
            <a:pPr marL="457200" indent="-457200" algn="just">
              <a:spcBef>
                <a:spcPts val="1200"/>
              </a:spcBef>
              <a:spcAft>
                <a:spcPts val="1200"/>
              </a:spcAft>
              <a:buClr>
                <a:srgbClr val="C00000"/>
              </a:buClr>
              <a:buFont typeface="Wingdings" panose="05000000000000000000" pitchFamily="2" charset="2"/>
              <a:buChar char="Ø"/>
            </a:pPr>
            <a:r>
              <a:rPr lang="fr-FR" sz="2800" b="0" i="0" dirty="0">
                <a:solidFill>
                  <a:srgbClr val="000000"/>
                </a:solidFill>
                <a:effectLst/>
              </a:rPr>
              <a:t>Maîtriser l'essentiel du langage SQL</a:t>
            </a:r>
          </a:p>
        </p:txBody>
      </p:sp>
    </p:spTree>
    <p:extLst>
      <p:ext uri="{BB962C8B-B14F-4D97-AF65-F5344CB8AC3E}">
        <p14:creationId xmlns:p14="http://schemas.microsoft.com/office/powerpoint/2010/main" xmlns="" val="231432743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6EA9D991-10DE-4496-9FF9-FD66CA8AFD79}"/>
              </a:ext>
            </a:extLst>
          </p:cNvPr>
          <p:cNvSpPr>
            <a:spLocks noGrp="1"/>
          </p:cNvSpPr>
          <p:nvPr>
            <p:ph type="title"/>
          </p:nvPr>
        </p:nvSpPr>
        <p:spPr/>
        <p:txBody>
          <a:bodyPr/>
          <a:lstStyle/>
          <a:p>
            <a:r>
              <a:rPr lang="fr-FR" dirty="0"/>
              <a:t>Introduction aux bases de données</a:t>
            </a:r>
          </a:p>
        </p:txBody>
      </p:sp>
      <p:sp>
        <p:nvSpPr>
          <p:cNvPr id="3" name="Espace réservé du numéro de diapositive 2">
            <a:extLst>
              <a:ext uri="{FF2B5EF4-FFF2-40B4-BE49-F238E27FC236}">
                <a16:creationId xmlns:a16="http://schemas.microsoft.com/office/drawing/2014/main" xmlns="" id="{EB94F0E4-C24D-4FB4-9C13-668B1259D418}"/>
              </a:ext>
            </a:extLst>
          </p:cNvPr>
          <p:cNvSpPr>
            <a:spLocks noGrp="1"/>
          </p:cNvSpPr>
          <p:nvPr>
            <p:ph type="sldNum" sz="quarter" idx="12"/>
          </p:nvPr>
        </p:nvSpPr>
        <p:spPr/>
        <p:txBody>
          <a:bodyPr/>
          <a:lstStyle/>
          <a:p>
            <a:fld id="{15B59467-8B33-4B1A-8FFF-43B74E510468}" type="slidenum">
              <a:rPr lang="fr-FR" smtClean="0"/>
              <a:pPr/>
              <a:t>4</a:t>
            </a:fld>
            <a:endParaRPr lang="fr-FR"/>
          </a:p>
        </p:txBody>
      </p:sp>
      <p:sp>
        <p:nvSpPr>
          <p:cNvPr id="5" name="Phylactère : pensées 4">
            <a:extLst>
              <a:ext uri="{FF2B5EF4-FFF2-40B4-BE49-F238E27FC236}">
                <a16:creationId xmlns:a16="http://schemas.microsoft.com/office/drawing/2014/main" xmlns="" id="{0730B3C3-48D1-4A08-9DE3-815D0FD057AB}"/>
              </a:ext>
            </a:extLst>
          </p:cNvPr>
          <p:cNvSpPr/>
          <p:nvPr/>
        </p:nvSpPr>
        <p:spPr>
          <a:xfrm>
            <a:off x="3735376" y="1655128"/>
            <a:ext cx="5134496" cy="2842953"/>
          </a:xfrm>
          <a:prstGeom prst="cloud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FR" sz="2800" b="1" dirty="0"/>
              <a:t>Des données? Est-ce important pour nous?</a:t>
            </a:r>
          </a:p>
        </p:txBody>
      </p:sp>
      <p:sp>
        <p:nvSpPr>
          <p:cNvPr id="6" name="Rectangle : carré corné 5">
            <a:extLst>
              <a:ext uri="{FF2B5EF4-FFF2-40B4-BE49-F238E27FC236}">
                <a16:creationId xmlns:a16="http://schemas.microsoft.com/office/drawing/2014/main" xmlns="" id="{D3D813B7-28DB-46E1-B071-43618EB248D8}"/>
              </a:ext>
            </a:extLst>
          </p:cNvPr>
          <p:cNvSpPr/>
          <p:nvPr/>
        </p:nvSpPr>
        <p:spPr>
          <a:xfrm>
            <a:off x="838200" y="1674061"/>
            <a:ext cx="1695796" cy="1745673"/>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a:t>Des relevés de banques, de cartes de crédit</a:t>
            </a:r>
            <a:endParaRPr lang="fr-FR" sz="2000" b="1" dirty="0"/>
          </a:p>
        </p:txBody>
      </p:sp>
      <p:sp>
        <p:nvSpPr>
          <p:cNvPr id="7" name="Rectangle : carré corné 6">
            <a:extLst>
              <a:ext uri="{FF2B5EF4-FFF2-40B4-BE49-F238E27FC236}">
                <a16:creationId xmlns:a16="http://schemas.microsoft.com/office/drawing/2014/main" xmlns="" id="{F6C6B8CE-F1D9-45FD-BC0D-008C8D44DEB3}"/>
              </a:ext>
            </a:extLst>
          </p:cNvPr>
          <p:cNvSpPr/>
          <p:nvPr/>
        </p:nvSpPr>
        <p:spPr>
          <a:xfrm>
            <a:off x="1239981" y="4197925"/>
            <a:ext cx="1695796" cy="1745673"/>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dirty="0"/>
              <a:t>Des carnets d’adresses</a:t>
            </a:r>
          </a:p>
        </p:txBody>
      </p:sp>
      <p:sp>
        <p:nvSpPr>
          <p:cNvPr id="8" name="Rectangle : carré corné 7">
            <a:extLst>
              <a:ext uri="{FF2B5EF4-FFF2-40B4-BE49-F238E27FC236}">
                <a16:creationId xmlns:a16="http://schemas.microsoft.com/office/drawing/2014/main" xmlns="" id="{6E5E35A4-1951-4767-97B2-8E4F8BA69B1E}"/>
              </a:ext>
            </a:extLst>
          </p:cNvPr>
          <p:cNvSpPr/>
          <p:nvPr/>
        </p:nvSpPr>
        <p:spPr>
          <a:xfrm>
            <a:off x="3691542" y="5014504"/>
            <a:ext cx="1896687" cy="1745673"/>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dirty="0"/>
              <a:t>La consommation de téléphone</a:t>
            </a:r>
          </a:p>
        </p:txBody>
      </p:sp>
      <p:sp>
        <p:nvSpPr>
          <p:cNvPr id="9" name="Rectangle : carré corné 8">
            <a:extLst>
              <a:ext uri="{FF2B5EF4-FFF2-40B4-BE49-F238E27FC236}">
                <a16:creationId xmlns:a16="http://schemas.microsoft.com/office/drawing/2014/main" xmlns="" id="{2B147D7B-CCE8-4443-AD69-309904B8795E}"/>
              </a:ext>
            </a:extLst>
          </p:cNvPr>
          <p:cNvSpPr/>
          <p:nvPr/>
        </p:nvSpPr>
        <p:spPr>
          <a:xfrm>
            <a:off x="6682049" y="5031130"/>
            <a:ext cx="1695796" cy="1745673"/>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dirty="0"/>
              <a:t>Des inscriptions à des clubs, associations,</a:t>
            </a:r>
          </a:p>
        </p:txBody>
      </p:sp>
      <p:sp>
        <p:nvSpPr>
          <p:cNvPr id="10" name="Rectangle : carré corné 9">
            <a:extLst>
              <a:ext uri="{FF2B5EF4-FFF2-40B4-BE49-F238E27FC236}">
                <a16:creationId xmlns:a16="http://schemas.microsoft.com/office/drawing/2014/main" xmlns="" id="{19B28D5B-9595-4E81-93E5-77B56F769287}"/>
              </a:ext>
            </a:extLst>
          </p:cNvPr>
          <p:cNvSpPr/>
          <p:nvPr/>
        </p:nvSpPr>
        <p:spPr>
          <a:xfrm>
            <a:off x="9239195" y="4197925"/>
            <a:ext cx="1695796" cy="1745673"/>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dirty="0"/>
              <a:t>Des horaires et disponibilités de transport</a:t>
            </a:r>
          </a:p>
        </p:txBody>
      </p:sp>
      <p:sp>
        <p:nvSpPr>
          <p:cNvPr id="11" name="Rectangle : carré corné 10">
            <a:extLst>
              <a:ext uri="{FF2B5EF4-FFF2-40B4-BE49-F238E27FC236}">
                <a16:creationId xmlns:a16="http://schemas.microsoft.com/office/drawing/2014/main" xmlns="" id="{521AC3C9-135A-4729-9FB9-AD57D6DC220B}"/>
              </a:ext>
            </a:extLst>
          </p:cNvPr>
          <p:cNvSpPr/>
          <p:nvPr/>
        </p:nvSpPr>
        <p:spPr>
          <a:xfrm>
            <a:off x="9625126" y="1699000"/>
            <a:ext cx="1695796" cy="1745673"/>
          </a:xfrm>
          <a:prstGeom prst="foldedCorne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b="1" dirty="0"/>
              <a:t>Des programmes de télé</a:t>
            </a:r>
          </a:p>
        </p:txBody>
      </p:sp>
    </p:spTree>
    <p:extLst>
      <p:ext uri="{BB962C8B-B14F-4D97-AF65-F5344CB8AC3E}">
        <p14:creationId xmlns:p14="http://schemas.microsoft.com/office/powerpoint/2010/main" xmlns="" val="353485440"/>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ppt_w</p:attrName>
                                        </p:attrNameLst>
                                      </p:cBhvr>
                                      <p:tavLst>
                                        <p:tav tm="0">
                                          <p:val>
                                            <p:fltVal val="0"/>
                                          </p:val>
                                        </p:tav>
                                        <p:tav tm="100000">
                                          <p:val>
                                            <p:strVal val="#ppt_w"/>
                                          </p:val>
                                        </p:tav>
                                      </p:tavLst>
                                    </p:anim>
                                    <p:anim calcmode="lin" valueType="num">
                                      <p:cBhvr>
                                        <p:cTn id="43" dur="500" fill="hold"/>
                                        <p:tgtEl>
                                          <p:spTgt spid="10"/>
                                        </p:tgtEl>
                                        <p:attrNameLst>
                                          <p:attrName>ppt_h</p:attrName>
                                        </p:attrNameLst>
                                      </p:cBhvr>
                                      <p:tavLst>
                                        <p:tav tm="0">
                                          <p:val>
                                            <p:fltVal val="0"/>
                                          </p:val>
                                        </p:tav>
                                        <p:tav tm="100000">
                                          <p:val>
                                            <p:strVal val="#ppt_h"/>
                                          </p:val>
                                        </p:tav>
                                      </p:tavLst>
                                    </p:anim>
                                    <p:animEffect transition="in" filter="fade">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7A8FD2C6-D0F5-4F60-9C1F-31C66342E94C}"/>
              </a:ext>
            </a:extLst>
          </p:cNvPr>
          <p:cNvSpPr>
            <a:spLocks noGrp="1"/>
          </p:cNvSpPr>
          <p:nvPr>
            <p:ph type="title"/>
          </p:nvPr>
        </p:nvSpPr>
        <p:spPr>
          <a:xfrm>
            <a:off x="838200" y="272204"/>
            <a:ext cx="10515600" cy="1325563"/>
          </a:xfrm>
        </p:spPr>
        <p:txBody>
          <a:bodyPr/>
          <a:lstStyle/>
          <a:p>
            <a:r>
              <a:rPr lang="fr-FR" dirty="0"/>
              <a:t>Introduction aux bases de données</a:t>
            </a:r>
          </a:p>
        </p:txBody>
      </p:sp>
      <p:sp>
        <p:nvSpPr>
          <p:cNvPr id="3" name="Espace réservé du numéro de diapositive 2">
            <a:extLst>
              <a:ext uri="{FF2B5EF4-FFF2-40B4-BE49-F238E27FC236}">
                <a16:creationId xmlns:a16="http://schemas.microsoft.com/office/drawing/2014/main" xmlns="" id="{2C097F4A-2654-4654-A318-85F82D26BE05}"/>
              </a:ext>
            </a:extLst>
          </p:cNvPr>
          <p:cNvSpPr>
            <a:spLocks noGrp="1"/>
          </p:cNvSpPr>
          <p:nvPr>
            <p:ph type="sldNum" sz="quarter" idx="12"/>
          </p:nvPr>
        </p:nvSpPr>
        <p:spPr/>
        <p:txBody>
          <a:bodyPr/>
          <a:lstStyle/>
          <a:p>
            <a:fld id="{15B59467-8B33-4B1A-8FFF-43B74E510468}" type="slidenum">
              <a:rPr lang="fr-FR" smtClean="0"/>
              <a:pPr/>
              <a:t>5</a:t>
            </a:fld>
            <a:endParaRPr lang="fr-FR"/>
          </a:p>
        </p:txBody>
      </p:sp>
      <p:graphicFrame>
        <p:nvGraphicFramePr>
          <p:cNvPr id="9" name="Diagramme 8">
            <a:extLst>
              <a:ext uri="{FF2B5EF4-FFF2-40B4-BE49-F238E27FC236}">
                <a16:creationId xmlns:a16="http://schemas.microsoft.com/office/drawing/2014/main" xmlns="" id="{A25D333C-4F83-4A17-A252-1A5EDB050C06}"/>
              </a:ext>
            </a:extLst>
          </p:cNvPr>
          <p:cNvGraphicFramePr/>
          <p:nvPr>
            <p:extLst>
              <p:ext uri="{D42A27DB-BD31-4B8C-83A1-F6EECF244321}">
                <p14:modId xmlns:p14="http://schemas.microsoft.com/office/powerpoint/2010/main" xmlns="" val="1710688004"/>
              </p:ext>
            </p:extLst>
          </p:nvPr>
        </p:nvGraphicFramePr>
        <p:xfrm>
          <a:off x="976395" y="1517200"/>
          <a:ext cx="10151388"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Bulle narrative : ronde 9">
            <a:extLst>
              <a:ext uri="{FF2B5EF4-FFF2-40B4-BE49-F238E27FC236}">
                <a16:creationId xmlns:a16="http://schemas.microsoft.com/office/drawing/2014/main" xmlns="" id="{8100E6F9-A08E-4CCD-BB05-34C4F7340F9E}"/>
              </a:ext>
            </a:extLst>
          </p:cNvPr>
          <p:cNvSpPr/>
          <p:nvPr/>
        </p:nvSpPr>
        <p:spPr>
          <a:xfrm>
            <a:off x="9345478" y="1007391"/>
            <a:ext cx="2650210" cy="2557220"/>
          </a:xfrm>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b="1" dirty="0">
                <a:solidFill>
                  <a:schemeClr val="accent5"/>
                </a:solidFill>
              </a:rPr>
              <a:t>Les données sont importantes pour nous</a:t>
            </a:r>
          </a:p>
          <a:p>
            <a:pPr algn="ctr"/>
            <a:r>
              <a:rPr lang="fr-FR" b="1" dirty="0">
                <a:solidFill>
                  <a:schemeClr val="accent5"/>
                </a:solidFill>
              </a:rPr>
              <a:t>Et c’est primordial pour les entreprises</a:t>
            </a:r>
          </a:p>
        </p:txBody>
      </p:sp>
    </p:spTree>
    <p:extLst>
      <p:ext uri="{BB962C8B-B14F-4D97-AF65-F5344CB8AC3E}">
        <p14:creationId xmlns:p14="http://schemas.microsoft.com/office/powerpoint/2010/main" xmlns="" val="1453642685"/>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xmlns="" id="{C0136C82-003E-4206-8D54-0F8C3BCE0C59}"/>
              </a:ext>
            </a:extLst>
          </p:cNvPr>
          <p:cNvSpPr>
            <a:spLocks noGrp="1"/>
          </p:cNvSpPr>
          <p:nvPr>
            <p:ph type="title"/>
          </p:nvPr>
        </p:nvSpPr>
        <p:spPr>
          <a:xfrm>
            <a:off x="838200" y="272204"/>
            <a:ext cx="10515600" cy="1325563"/>
          </a:xfrm>
        </p:spPr>
        <p:txBody>
          <a:bodyPr/>
          <a:lstStyle/>
          <a:p>
            <a:r>
              <a:rPr lang="fr-FR" dirty="0"/>
              <a:t>Introduction aux bases de données</a:t>
            </a:r>
          </a:p>
        </p:txBody>
      </p:sp>
      <p:sp>
        <p:nvSpPr>
          <p:cNvPr id="2" name="Espace réservé du numéro de diapositive 1">
            <a:extLst>
              <a:ext uri="{FF2B5EF4-FFF2-40B4-BE49-F238E27FC236}">
                <a16:creationId xmlns:a16="http://schemas.microsoft.com/office/drawing/2014/main" xmlns="" id="{8786E5B7-4B5A-4200-9EB4-BEE81E19DF55}"/>
              </a:ext>
            </a:extLst>
          </p:cNvPr>
          <p:cNvSpPr>
            <a:spLocks noGrp="1"/>
          </p:cNvSpPr>
          <p:nvPr>
            <p:ph type="sldNum" sz="quarter" idx="12"/>
          </p:nvPr>
        </p:nvSpPr>
        <p:spPr/>
        <p:txBody>
          <a:bodyPr/>
          <a:lstStyle/>
          <a:p>
            <a:fld id="{15B59467-8B33-4B1A-8FFF-43B74E510468}" type="slidenum">
              <a:rPr lang="fr-FR" smtClean="0"/>
              <a:pPr/>
              <a:t>6</a:t>
            </a:fld>
            <a:endParaRPr lang="fr-FR"/>
          </a:p>
        </p:txBody>
      </p:sp>
      <p:pic>
        <p:nvPicPr>
          <p:cNvPr id="8" name="Image 7" descr="Une image contenant texte&#10;&#10;Description générée automatiquement">
            <a:extLst>
              <a:ext uri="{FF2B5EF4-FFF2-40B4-BE49-F238E27FC236}">
                <a16:creationId xmlns:a16="http://schemas.microsoft.com/office/drawing/2014/main" xmlns="" id="{4E8BAA6D-8E93-4D63-A965-AB76ED180337}"/>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73258" y="1754979"/>
            <a:ext cx="10045484" cy="4830817"/>
          </a:xfrm>
          <a:prstGeom prst="rect">
            <a:avLst/>
          </a:prstGeom>
          <a:ln>
            <a:solidFill>
              <a:schemeClr val="bg2">
                <a:lumMod val="75000"/>
              </a:schemeClr>
            </a:solidFill>
          </a:ln>
        </p:spPr>
      </p:pic>
    </p:spTree>
    <p:extLst>
      <p:ext uri="{BB962C8B-B14F-4D97-AF65-F5344CB8AC3E}">
        <p14:creationId xmlns:p14="http://schemas.microsoft.com/office/powerpoint/2010/main" xmlns="" val="4024470879"/>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FBA2455-404E-4BF9-B0CA-679DE53BCFFB}"/>
              </a:ext>
            </a:extLst>
          </p:cNvPr>
          <p:cNvSpPr>
            <a:spLocks noGrp="1"/>
          </p:cNvSpPr>
          <p:nvPr>
            <p:ph type="title"/>
          </p:nvPr>
        </p:nvSpPr>
        <p:spPr/>
        <p:txBody>
          <a:bodyPr/>
          <a:lstStyle/>
          <a:p>
            <a:r>
              <a:rPr lang="fr-FR" dirty="0"/>
              <a:t>Introduction aux bases de données</a:t>
            </a:r>
          </a:p>
        </p:txBody>
      </p:sp>
      <p:sp>
        <p:nvSpPr>
          <p:cNvPr id="3" name="Espace réservé du numéro de diapositive 2">
            <a:extLst>
              <a:ext uri="{FF2B5EF4-FFF2-40B4-BE49-F238E27FC236}">
                <a16:creationId xmlns:a16="http://schemas.microsoft.com/office/drawing/2014/main" xmlns="" id="{7814E495-0838-4E52-8151-E171B9C62353}"/>
              </a:ext>
            </a:extLst>
          </p:cNvPr>
          <p:cNvSpPr>
            <a:spLocks noGrp="1"/>
          </p:cNvSpPr>
          <p:nvPr>
            <p:ph type="sldNum" sz="quarter" idx="12"/>
          </p:nvPr>
        </p:nvSpPr>
        <p:spPr/>
        <p:txBody>
          <a:bodyPr/>
          <a:lstStyle/>
          <a:p>
            <a:fld id="{15B59467-8B33-4B1A-8FFF-43B74E510468}" type="slidenum">
              <a:rPr lang="fr-FR" smtClean="0"/>
              <a:pPr/>
              <a:t>7</a:t>
            </a:fld>
            <a:endParaRPr lang="fr-FR"/>
          </a:p>
        </p:txBody>
      </p:sp>
      <p:sp>
        <p:nvSpPr>
          <p:cNvPr id="4" name="Phylactère : pensées 3">
            <a:extLst>
              <a:ext uri="{FF2B5EF4-FFF2-40B4-BE49-F238E27FC236}">
                <a16:creationId xmlns:a16="http://schemas.microsoft.com/office/drawing/2014/main" xmlns="" id="{84C43BAF-E1E8-458C-B940-22030DD1718E}"/>
              </a:ext>
            </a:extLst>
          </p:cNvPr>
          <p:cNvSpPr/>
          <p:nvPr/>
        </p:nvSpPr>
        <p:spPr>
          <a:xfrm>
            <a:off x="3843862" y="1757921"/>
            <a:ext cx="5134496" cy="2388692"/>
          </a:xfrm>
          <a:prstGeom prst="cloud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FR" sz="2800" b="1" dirty="0"/>
              <a:t>Et si ces données sont éparpillées?</a:t>
            </a:r>
          </a:p>
        </p:txBody>
      </p:sp>
      <p:sp>
        <p:nvSpPr>
          <p:cNvPr id="6" name="Rectangle : carré corné 5">
            <a:extLst>
              <a:ext uri="{FF2B5EF4-FFF2-40B4-BE49-F238E27FC236}">
                <a16:creationId xmlns:a16="http://schemas.microsoft.com/office/drawing/2014/main" xmlns="" id="{AC145732-4E39-40FB-88C9-2CFD2F78B5F5}"/>
              </a:ext>
            </a:extLst>
          </p:cNvPr>
          <p:cNvSpPr/>
          <p:nvPr/>
        </p:nvSpPr>
        <p:spPr>
          <a:xfrm>
            <a:off x="1427417" y="2766218"/>
            <a:ext cx="1786226" cy="1325563"/>
          </a:xfrm>
          <a:prstGeom prst="foldedCorner">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sz="1800" b="1" dirty="0"/>
              <a:t>Risque d’oublier ces informations</a:t>
            </a:r>
          </a:p>
        </p:txBody>
      </p:sp>
      <p:sp>
        <p:nvSpPr>
          <p:cNvPr id="12" name="Rectangle : carré corné 11">
            <a:extLst>
              <a:ext uri="{FF2B5EF4-FFF2-40B4-BE49-F238E27FC236}">
                <a16:creationId xmlns:a16="http://schemas.microsoft.com/office/drawing/2014/main" xmlns="" id="{4AE7F5E6-699C-4C43-BA29-48CA5BA0AE68}"/>
              </a:ext>
            </a:extLst>
          </p:cNvPr>
          <p:cNvSpPr/>
          <p:nvPr/>
        </p:nvSpPr>
        <p:spPr>
          <a:xfrm>
            <a:off x="3730549" y="4992965"/>
            <a:ext cx="1786226" cy="1325563"/>
          </a:xfrm>
          <a:prstGeom prst="foldedCorner">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sz="1800" b="1" dirty="0"/>
              <a:t>Risque de faire des erreurs</a:t>
            </a:r>
          </a:p>
        </p:txBody>
      </p:sp>
      <p:sp>
        <p:nvSpPr>
          <p:cNvPr id="13" name="Rectangle : carré corné 12">
            <a:extLst>
              <a:ext uri="{FF2B5EF4-FFF2-40B4-BE49-F238E27FC236}">
                <a16:creationId xmlns:a16="http://schemas.microsoft.com/office/drawing/2014/main" xmlns="" id="{DB0D31C3-C6B1-4A1B-8180-A43C1A483460}"/>
              </a:ext>
            </a:extLst>
          </p:cNvPr>
          <p:cNvSpPr/>
          <p:nvPr/>
        </p:nvSpPr>
        <p:spPr>
          <a:xfrm>
            <a:off x="7320038" y="4992965"/>
            <a:ext cx="1786226" cy="1325563"/>
          </a:xfrm>
          <a:prstGeom prst="foldedCorner">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sz="1800" b="1" dirty="0"/>
              <a:t>Risque de perdre du temps</a:t>
            </a:r>
          </a:p>
        </p:txBody>
      </p:sp>
      <p:sp>
        <p:nvSpPr>
          <p:cNvPr id="14" name="Rectangle : carré corné 13">
            <a:extLst>
              <a:ext uri="{FF2B5EF4-FFF2-40B4-BE49-F238E27FC236}">
                <a16:creationId xmlns:a16="http://schemas.microsoft.com/office/drawing/2014/main" xmlns="" id="{715F9F3B-0775-4B25-8540-23AA28BCFB3C}"/>
              </a:ext>
            </a:extLst>
          </p:cNvPr>
          <p:cNvSpPr/>
          <p:nvPr/>
        </p:nvSpPr>
        <p:spPr>
          <a:xfrm>
            <a:off x="9608577" y="2709242"/>
            <a:ext cx="1786226" cy="1325563"/>
          </a:xfrm>
          <a:prstGeom prst="foldedCorner">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sz="1800" b="1" dirty="0"/>
              <a:t>Risque de prendre de mauvaise décision</a:t>
            </a:r>
          </a:p>
        </p:txBody>
      </p:sp>
    </p:spTree>
    <p:extLst>
      <p:ext uri="{BB962C8B-B14F-4D97-AF65-F5344CB8AC3E}">
        <p14:creationId xmlns:p14="http://schemas.microsoft.com/office/powerpoint/2010/main" xmlns="" val="1836396519"/>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xmlns="" id="{6AB61B10-6E67-4D62-8EBD-0AD9F8624054}"/>
              </a:ext>
            </a:extLst>
          </p:cNvPr>
          <p:cNvSpPr>
            <a:spLocks noGrp="1"/>
          </p:cNvSpPr>
          <p:nvPr>
            <p:ph type="title"/>
          </p:nvPr>
        </p:nvSpPr>
        <p:spPr>
          <a:xfrm>
            <a:off x="838200" y="365125"/>
            <a:ext cx="10515600" cy="1325563"/>
          </a:xfrm>
        </p:spPr>
        <p:txBody>
          <a:bodyPr/>
          <a:lstStyle/>
          <a:p>
            <a:r>
              <a:rPr lang="fr-FR" dirty="0"/>
              <a:t>Introduction aux bases de données</a:t>
            </a:r>
          </a:p>
        </p:txBody>
      </p:sp>
      <p:sp>
        <p:nvSpPr>
          <p:cNvPr id="2" name="Espace réservé du numéro de diapositive 1">
            <a:extLst>
              <a:ext uri="{FF2B5EF4-FFF2-40B4-BE49-F238E27FC236}">
                <a16:creationId xmlns:a16="http://schemas.microsoft.com/office/drawing/2014/main" xmlns="" id="{532DC36B-0299-48DB-AEA0-FBC7CBFA9E7E}"/>
              </a:ext>
            </a:extLst>
          </p:cNvPr>
          <p:cNvSpPr>
            <a:spLocks noGrp="1"/>
          </p:cNvSpPr>
          <p:nvPr>
            <p:ph type="sldNum" sz="quarter" idx="12"/>
          </p:nvPr>
        </p:nvSpPr>
        <p:spPr/>
        <p:txBody>
          <a:bodyPr/>
          <a:lstStyle/>
          <a:p>
            <a:fld id="{15B59467-8B33-4B1A-8FFF-43B74E510468}" type="slidenum">
              <a:rPr lang="fr-FR" smtClean="0"/>
              <a:pPr/>
              <a:t>8</a:t>
            </a:fld>
            <a:endParaRPr lang="fr-FR"/>
          </a:p>
        </p:txBody>
      </p:sp>
      <p:sp>
        <p:nvSpPr>
          <p:cNvPr id="5" name="Rectangle 4">
            <a:extLst>
              <a:ext uri="{FF2B5EF4-FFF2-40B4-BE49-F238E27FC236}">
                <a16:creationId xmlns:a16="http://schemas.microsoft.com/office/drawing/2014/main" xmlns="" id="{FAD726D3-548B-49D9-8E36-14F99D1124DA}"/>
              </a:ext>
            </a:extLst>
          </p:cNvPr>
          <p:cNvSpPr/>
          <p:nvPr/>
        </p:nvSpPr>
        <p:spPr>
          <a:xfrm>
            <a:off x="4122549" y="1518834"/>
            <a:ext cx="2975675" cy="9608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rgbClr val="C00000"/>
                </a:solidFill>
              </a:rPr>
              <a:t>Solution?</a:t>
            </a:r>
          </a:p>
        </p:txBody>
      </p:sp>
      <p:sp>
        <p:nvSpPr>
          <p:cNvPr id="6" name="Ellipse 5">
            <a:extLst>
              <a:ext uri="{FF2B5EF4-FFF2-40B4-BE49-F238E27FC236}">
                <a16:creationId xmlns:a16="http://schemas.microsoft.com/office/drawing/2014/main" xmlns="" id="{8A131BDB-192F-4390-9932-BCED97BCE483}"/>
              </a:ext>
            </a:extLst>
          </p:cNvPr>
          <p:cNvSpPr/>
          <p:nvPr/>
        </p:nvSpPr>
        <p:spPr>
          <a:xfrm>
            <a:off x="1689315" y="2479273"/>
            <a:ext cx="2216258" cy="1325562"/>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FR" b="1" dirty="0"/>
              <a:t>Centralisation et  organisation des données</a:t>
            </a:r>
          </a:p>
        </p:txBody>
      </p:sp>
      <p:sp>
        <p:nvSpPr>
          <p:cNvPr id="7" name="Organigramme : Disque magnétique 6">
            <a:extLst>
              <a:ext uri="{FF2B5EF4-FFF2-40B4-BE49-F238E27FC236}">
                <a16:creationId xmlns:a16="http://schemas.microsoft.com/office/drawing/2014/main" xmlns="" id="{2FB8EA67-735F-4196-8933-E93C5FE2CFD0}"/>
              </a:ext>
            </a:extLst>
          </p:cNvPr>
          <p:cNvSpPr/>
          <p:nvPr/>
        </p:nvSpPr>
        <p:spPr>
          <a:xfrm>
            <a:off x="1844298" y="4866467"/>
            <a:ext cx="2061275" cy="1859797"/>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FR" b="1" dirty="0"/>
              <a:t>Support de stockage</a:t>
            </a:r>
          </a:p>
        </p:txBody>
      </p:sp>
      <p:cxnSp>
        <p:nvCxnSpPr>
          <p:cNvPr id="9" name="Connecteur droit avec flèche 8">
            <a:extLst>
              <a:ext uri="{FF2B5EF4-FFF2-40B4-BE49-F238E27FC236}">
                <a16:creationId xmlns:a16="http://schemas.microsoft.com/office/drawing/2014/main" xmlns="" id="{260A1113-C341-434B-BA0F-88B3D596F724}"/>
              </a:ext>
            </a:extLst>
          </p:cNvPr>
          <p:cNvCxnSpPr>
            <a:cxnSpLocks/>
          </p:cNvCxnSpPr>
          <p:nvPr/>
        </p:nvCxnSpPr>
        <p:spPr>
          <a:xfrm>
            <a:off x="2487477" y="3805292"/>
            <a:ext cx="0" cy="5497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1" name="Connecteur droit avec flèche 10">
            <a:extLst>
              <a:ext uri="{FF2B5EF4-FFF2-40B4-BE49-F238E27FC236}">
                <a16:creationId xmlns:a16="http://schemas.microsoft.com/office/drawing/2014/main" xmlns="" id="{78A9EB19-5C23-4F17-8338-A33F5DC80265}"/>
              </a:ext>
            </a:extLst>
          </p:cNvPr>
          <p:cNvCxnSpPr>
            <a:cxnSpLocks/>
          </p:cNvCxnSpPr>
          <p:nvPr/>
        </p:nvCxnSpPr>
        <p:spPr>
          <a:xfrm>
            <a:off x="2797443" y="4053264"/>
            <a:ext cx="0" cy="5497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2" name="Connecteur droit avec flèche 11">
            <a:extLst>
              <a:ext uri="{FF2B5EF4-FFF2-40B4-BE49-F238E27FC236}">
                <a16:creationId xmlns:a16="http://schemas.microsoft.com/office/drawing/2014/main" xmlns="" id="{9A2DA580-C77B-4D4B-BEED-DE8E646A1AB5}"/>
              </a:ext>
            </a:extLst>
          </p:cNvPr>
          <p:cNvCxnSpPr>
            <a:cxnSpLocks/>
          </p:cNvCxnSpPr>
          <p:nvPr/>
        </p:nvCxnSpPr>
        <p:spPr>
          <a:xfrm>
            <a:off x="3099660" y="4328130"/>
            <a:ext cx="0" cy="5497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3" name="Ellipse 12">
            <a:extLst>
              <a:ext uri="{FF2B5EF4-FFF2-40B4-BE49-F238E27FC236}">
                <a16:creationId xmlns:a16="http://schemas.microsoft.com/office/drawing/2014/main" xmlns="" id="{6DFEC2C0-7521-4425-AF61-B82A348B888A}"/>
              </a:ext>
            </a:extLst>
          </p:cNvPr>
          <p:cNvSpPr/>
          <p:nvPr/>
        </p:nvSpPr>
        <p:spPr>
          <a:xfrm>
            <a:off x="7919068" y="2532731"/>
            <a:ext cx="2216258" cy="1325562"/>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FR" b="1" dirty="0"/>
              <a:t>Exploitation de la puissance des ordinateurs</a:t>
            </a:r>
          </a:p>
        </p:txBody>
      </p:sp>
      <p:pic>
        <p:nvPicPr>
          <p:cNvPr id="1026" name="Picture 2" descr="What is a Desktop Computer? (with pictures)">
            <a:extLst>
              <a:ext uri="{FF2B5EF4-FFF2-40B4-BE49-F238E27FC236}">
                <a16:creationId xmlns:a16="http://schemas.microsoft.com/office/drawing/2014/main" xmlns="" id="{C8718128-6194-4E58-824B-EB71840E5206}"/>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396727" y="4355024"/>
            <a:ext cx="2950975" cy="210783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04133630"/>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xmlns="" id="{2AF52143-3A78-49B5-89C8-F7D88A397552}"/>
              </a:ext>
            </a:extLst>
          </p:cNvPr>
          <p:cNvSpPr>
            <a:spLocks noGrp="1"/>
          </p:cNvSpPr>
          <p:nvPr>
            <p:ph type="title"/>
          </p:nvPr>
        </p:nvSpPr>
        <p:spPr>
          <a:xfrm>
            <a:off x="838200" y="365125"/>
            <a:ext cx="10515600" cy="1325563"/>
          </a:xfrm>
        </p:spPr>
        <p:txBody>
          <a:bodyPr/>
          <a:lstStyle/>
          <a:p>
            <a:r>
              <a:rPr lang="fr-FR" dirty="0"/>
              <a:t>Introduction aux bases de données</a:t>
            </a:r>
          </a:p>
        </p:txBody>
      </p:sp>
      <p:sp>
        <p:nvSpPr>
          <p:cNvPr id="2" name="Espace réservé du numéro de diapositive 1">
            <a:extLst>
              <a:ext uri="{FF2B5EF4-FFF2-40B4-BE49-F238E27FC236}">
                <a16:creationId xmlns:a16="http://schemas.microsoft.com/office/drawing/2014/main" xmlns="" id="{47F7388B-6CF1-4F69-B391-C5438182B81C}"/>
              </a:ext>
            </a:extLst>
          </p:cNvPr>
          <p:cNvSpPr>
            <a:spLocks noGrp="1"/>
          </p:cNvSpPr>
          <p:nvPr>
            <p:ph type="sldNum" sz="quarter" idx="12"/>
          </p:nvPr>
        </p:nvSpPr>
        <p:spPr/>
        <p:txBody>
          <a:bodyPr/>
          <a:lstStyle/>
          <a:p>
            <a:fld id="{15B59467-8B33-4B1A-8FFF-43B74E510468}" type="slidenum">
              <a:rPr lang="fr-FR" smtClean="0"/>
              <a:pPr/>
              <a:t>9</a:t>
            </a:fld>
            <a:endParaRPr lang="fr-FR"/>
          </a:p>
        </p:txBody>
      </p:sp>
      <p:sp>
        <p:nvSpPr>
          <p:cNvPr id="5" name="Phylactère : pensées 4">
            <a:extLst>
              <a:ext uri="{FF2B5EF4-FFF2-40B4-BE49-F238E27FC236}">
                <a16:creationId xmlns:a16="http://schemas.microsoft.com/office/drawing/2014/main" xmlns="" id="{C1BA1E95-6B57-451C-B576-C2AB97929EED}"/>
              </a:ext>
            </a:extLst>
          </p:cNvPr>
          <p:cNvSpPr/>
          <p:nvPr/>
        </p:nvSpPr>
        <p:spPr>
          <a:xfrm>
            <a:off x="3528752" y="2095627"/>
            <a:ext cx="5134496" cy="2388692"/>
          </a:xfrm>
          <a:prstGeom prst="cloud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FR" sz="2800" b="1" dirty="0"/>
              <a:t>Qu’est-ce qu’une base de données?</a:t>
            </a:r>
          </a:p>
        </p:txBody>
      </p:sp>
    </p:spTree>
    <p:extLst>
      <p:ext uri="{BB962C8B-B14F-4D97-AF65-F5344CB8AC3E}">
        <p14:creationId xmlns:p14="http://schemas.microsoft.com/office/powerpoint/2010/main" xmlns="" val="216955890"/>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xmlns="" id="{2AF52143-3A78-49B5-89C8-F7D88A397552}"/>
              </a:ext>
            </a:extLst>
          </p:cNvPr>
          <p:cNvSpPr>
            <a:spLocks noGrp="1"/>
          </p:cNvSpPr>
          <p:nvPr>
            <p:ph type="title"/>
          </p:nvPr>
        </p:nvSpPr>
        <p:spPr>
          <a:xfrm>
            <a:off x="838200" y="365125"/>
            <a:ext cx="10515600" cy="1325563"/>
          </a:xfrm>
        </p:spPr>
        <p:txBody>
          <a:bodyPr/>
          <a:lstStyle/>
          <a:p>
            <a:r>
              <a:rPr lang="fr-FR" dirty="0"/>
              <a:t>Introduction aux bases de données</a:t>
            </a:r>
          </a:p>
        </p:txBody>
      </p:sp>
      <p:sp>
        <p:nvSpPr>
          <p:cNvPr id="3" name="Espace réservé du contenu 2">
            <a:extLst>
              <a:ext uri="{FF2B5EF4-FFF2-40B4-BE49-F238E27FC236}">
                <a16:creationId xmlns:a16="http://schemas.microsoft.com/office/drawing/2014/main" xmlns="" id="{5004E312-2D6A-4736-8828-654636576A93}"/>
              </a:ext>
            </a:extLst>
          </p:cNvPr>
          <p:cNvSpPr>
            <a:spLocks noGrp="1"/>
          </p:cNvSpPr>
          <p:nvPr>
            <p:ph idx="1"/>
          </p:nvPr>
        </p:nvSpPr>
        <p:spPr>
          <a:xfrm>
            <a:off x="838200" y="1984595"/>
            <a:ext cx="10515600" cy="3701310"/>
          </a:xfrm>
        </p:spPr>
        <p:txBody>
          <a:bodyPr>
            <a:normAutofit/>
          </a:bodyPr>
          <a:lstStyle/>
          <a:p>
            <a:pPr>
              <a:lnSpc>
                <a:spcPct val="100000"/>
              </a:lnSpc>
              <a:spcBef>
                <a:spcPts val="600"/>
              </a:spcBef>
              <a:spcAft>
                <a:spcPts val="600"/>
              </a:spcAft>
            </a:pPr>
            <a:r>
              <a:rPr lang="fr-FR" b="1" dirty="0"/>
              <a:t>Une Base De Données (BDD) est un ensemble de données :</a:t>
            </a:r>
          </a:p>
          <a:p>
            <a:pPr lvl="1">
              <a:lnSpc>
                <a:spcPct val="100000"/>
              </a:lnSpc>
              <a:spcBef>
                <a:spcPts val="600"/>
              </a:spcBef>
              <a:spcAft>
                <a:spcPts val="600"/>
              </a:spcAft>
            </a:pPr>
            <a:r>
              <a:rPr lang="fr-FR" sz="2800" b="1" dirty="0"/>
              <a:t>Structurés</a:t>
            </a:r>
          </a:p>
          <a:p>
            <a:pPr lvl="1">
              <a:lnSpc>
                <a:spcPct val="100000"/>
              </a:lnSpc>
              <a:spcBef>
                <a:spcPts val="600"/>
              </a:spcBef>
              <a:spcAft>
                <a:spcPts val="600"/>
              </a:spcAft>
            </a:pPr>
            <a:r>
              <a:rPr lang="fr-FR" sz="2800" b="1" dirty="0"/>
              <a:t>Organisés sous formes de tables</a:t>
            </a:r>
          </a:p>
          <a:p>
            <a:pPr lvl="1">
              <a:lnSpc>
                <a:spcPct val="100000"/>
              </a:lnSpc>
              <a:spcBef>
                <a:spcPts val="600"/>
              </a:spcBef>
              <a:spcAft>
                <a:spcPts val="600"/>
              </a:spcAft>
            </a:pPr>
            <a:r>
              <a:rPr lang="fr-FR" sz="2800" b="1" dirty="0"/>
              <a:t>Interreliés </a:t>
            </a:r>
          </a:p>
          <a:p>
            <a:pPr lvl="1">
              <a:lnSpc>
                <a:spcPct val="100000"/>
              </a:lnSpc>
              <a:spcBef>
                <a:spcPts val="600"/>
              </a:spcBef>
              <a:spcAft>
                <a:spcPts val="600"/>
              </a:spcAft>
            </a:pPr>
            <a:r>
              <a:rPr lang="fr-FR" sz="2800" b="1" dirty="0"/>
              <a:t>Enregistrées sur des supports informatique pour satisfaire</a:t>
            </a:r>
            <a:br>
              <a:rPr lang="fr-FR" sz="2800" b="1" dirty="0"/>
            </a:br>
            <a:r>
              <a:rPr lang="fr-FR" sz="2800" b="1" dirty="0"/>
              <a:t>simultanément plusieurs utilisateurs de façon sélective. </a:t>
            </a:r>
            <a:r>
              <a:rPr lang="fr-FR" sz="2800" dirty="0"/>
              <a:t/>
            </a:r>
            <a:br>
              <a:rPr lang="fr-FR" sz="2800" dirty="0"/>
            </a:br>
            <a:endParaRPr lang="fr-FR" sz="2800" b="1" dirty="0"/>
          </a:p>
        </p:txBody>
      </p:sp>
      <p:sp>
        <p:nvSpPr>
          <p:cNvPr id="2" name="Espace réservé du numéro de diapositive 1">
            <a:extLst>
              <a:ext uri="{FF2B5EF4-FFF2-40B4-BE49-F238E27FC236}">
                <a16:creationId xmlns:a16="http://schemas.microsoft.com/office/drawing/2014/main" xmlns="" id="{88186651-A816-4F97-961E-065D77CA345A}"/>
              </a:ext>
            </a:extLst>
          </p:cNvPr>
          <p:cNvSpPr>
            <a:spLocks noGrp="1"/>
          </p:cNvSpPr>
          <p:nvPr>
            <p:ph type="sldNum" sz="quarter" idx="12"/>
          </p:nvPr>
        </p:nvSpPr>
        <p:spPr/>
        <p:txBody>
          <a:bodyPr/>
          <a:lstStyle/>
          <a:p>
            <a:fld id="{15B59467-8B33-4B1A-8FFF-43B74E510468}" type="slidenum">
              <a:rPr lang="fr-FR" smtClean="0"/>
              <a:pPr/>
              <a:t>10</a:t>
            </a:fld>
            <a:endParaRPr lang="fr-FR"/>
          </a:p>
        </p:txBody>
      </p:sp>
    </p:spTree>
    <p:extLst>
      <p:ext uri="{BB962C8B-B14F-4D97-AF65-F5344CB8AC3E}">
        <p14:creationId xmlns:p14="http://schemas.microsoft.com/office/powerpoint/2010/main" xmlns="" val="342803427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xmlns="" id="{2AF52143-3A78-49B5-89C8-F7D88A397552}"/>
              </a:ext>
            </a:extLst>
          </p:cNvPr>
          <p:cNvSpPr>
            <a:spLocks noGrp="1"/>
          </p:cNvSpPr>
          <p:nvPr>
            <p:ph type="title"/>
          </p:nvPr>
        </p:nvSpPr>
        <p:spPr>
          <a:xfrm>
            <a:off x="838200" y="365125"/>
            <a:ext cx="10515600" cy="1325563"/>
          </a:xfrm>
        </p:spPr>
        <p:txBody>
          <a:bodyPr/>
          <a:lstStyle/>
          <a:p>
            <a:r>
              <a:rPr lang="fr-FR" dirty="0"/>
              <a:t>Introduction aux bases de données</a:t>
            </a:r>
          </a:p>
        </p:txBody>
      </p:sp>
      <p:sp>
        <p:nvSpPr>
          <p:cNvPr id="2" name="Espace réservé du numéro de diapositive 1">
            <a:extLst>
              <a:ext uri="{FF2B5EF4-FFF2-40B4-BE49-F238E27FC236}">
                <a16:creationId xmlns:a16="http://schemas.microsoft.com/office/drawing/2014/main" xmlns="" id="{BD0A5906-D941-4567-9A92-88217B88997F}"/>
              </a:ext>
            </a:extLst>
          </p:cNvPr>
          <p:cNvSpPr>
            <a:spLocks noGrp="1"/>
          </p:cNvSpPr>
          <p:nvPr>
            <p:ph type="sldNum" sz="quarter" idx="12"/>
          </p:nvPr>
        </p:nvSpPr>
        <p:spPr/>
        <p:txBody>
          <a:bodyPr/>
          <a:lstStyle/>
          <a:p>
            <a:fld id="{15B59467-8B33-4B1A-8FFF-43B74E510468}" type="slidenum">
              <a:rPr lang="fr-FR" smtClean="0"/>
              <a:pPr/>
              <a:t>11</a:t>
            </a:fld>
            <a:endParaRPr lang="fr-FR"/>
          </a:p>
        </p:txBody>
      </p:sp>
      <p:sp>
        <p:nvSpPr>
          <p:cNvPr id="5" name="Phylactère : pensées 4">
            <a:extLst>
              <a:ext uri="{FF2B5EF4-FFF2-40B4-BE49-F238E27FC236}">
                <a16:creationId xmlns:a16="http://schemas.microsoft.com/office/drawing/2014/main" xmlns="" id="{C1BA1E95-6B57-451C-B576-C2AB97929EED}"/>
              </a:ext>
            </a:extLst>
          </p:cNvPr>
          <p:cNvSpPr/>
          <p:nvPr/>
        </p:nvSpPr>
        <p:spPr>
          <a:xfrm>
            <a:off x="3528752" y="2095627"/>
            <a:ext cx="5134496" cy="2388692"/>
          </a:xfrm>
          <a:prstGeom prst="cloud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FR" sz="2800" b="1" dirty="0"/>
              <a:t>De quel logiciel a-t-on besoin pour gérer cette base de données?</a:t>
            </a:r>
          </a:p>
        </p:txBody>
      </p:sp>
    </p:spTree>
    <p:extLst>
      <p:ext uri="{BB962C8B-B14F-4D97-AF65-F5344CB8AC3E}">
        <p14:creationId xmlns:p14="http://schemas.microsoft.com/office/powerpoint/2010/main" xmlns="" val="3793271406"/>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xmlns="" id="{2AF52143-3A78-49B5-89C8-F7D88A397552}"/>
              </a:ext>
            </a:extLst>
          </p:cNvPr>
          <p:cNvSpPr>
            <a:spLocks noGrp="1"/>
          </p:cNvSpPr>
          <p:nvPr>
            <p:ph type="title"/>
          </p:nvPr>
        </p:nvSpPr>
        <p:spPr>
          <a:xfrm>
            <a:off x="838200" y="365125"/>
            <a:ext cx="10515600" cy="1325563"/>
          </a:xfrm>
        </p:spPr>
        <p:txBody>
          <a:bodyPr/>
          <a:lstStyle/>
          <a:p>
            <a:r>
              <a:rPr lang="fr-FR" dirty="0"/>
              <a:t>Introduction aux bases de données</a:t>
            </a:r>
          </a:p>
        </p:txBody>
      </p:sp>
      <p:sp>
        <p:nvSpPr>
          <p:cNvPr id="2" name="Espace réservé du numéro de diapositive 1">
            <a:extLst>
              <a:ext uri="{FF2B5EF4-FFF2-40B4-BE49-F238E27FC236}">
                <a16:creationId xmlns:a16="http://schemas.microsoft.com/office/drawing/2014/main" xmlns="" id="{F7B93BC2-25D5-45F3-8F57-16530FCDA8CC}"/>
              </a:ext>
            </a:extLst>
          </p:cNvPr>
          <p:cNvSpPr>
            <a:spLocks noGrp="1"/>
          </p:cNvSpPr>
          <p:nvPr>
            <p:ph type="sldNum" sz="quarter" idx="12"/>
          </p:nvPr>
        </p:nvSpPr>
        <p:spPr/>
        <p:txBody>
          <a:bodyPr/>
          <a:lstStyle/>
          <a:p>
            <a:fld id="{15B59467-8B33-4B1A-8FFF-43B74E510468}" type="slidenum">
              <a:rPr lang="fr-FR" smtClean="0"/>
              <a:pPr/>
              <a:t>12</a:t>
            </a:fld>
            <a:endParaRPr lang="fr-FR"/>
          </a:p>
        </p:txBody>
      </p:sp>
      <p:pic>
        <p:nvPicPr>
          <p:cNvPr id="3" name="Image 2">
            <a:extLst>
              <a:ext uri="{FF2B5EF4-FFF2-40B4-BE49-F238E27FC236}">
                <a16:creationId xmlns:a16="http://schemas.microsoft.com/office/drawing/2014/main" xmlns="" id="{EBA11054-9D22-4641-B479-E1A179A3053F}"/>
              </a:ext>
            </a:extLst>
          </p:cNvPr>
          <p:cNvPicPr>
            <a:picLocks noChangeAspect="1"/>
          </p:cNvPicPr>
          <p:nvPr/>
        </p:nvPicPr>
        <p:blipFill>
          <a:blip r:embed="rId2" cstate="print">
            <a:duotone>
              <a:schemeClr val="accent4">
                <a:shade val="45000"/>
                <a:satMod val="135000"/>
              </a:schemeClr>
              <a:prstClr val="white"/>
            </a:duotone>
            <a:extLst>
              <a:ext uri="{28A0092B-C50C-407E-A947-70E740481C1C}">
                <a14:useLocalDpi xmlns:a14="http://schemas.microsoft.com/office/drawing/2010/main" xmlns="" val="0"/>
              </a:ext>
            </a:extLst>
          </a:blip>
          <a:stretch>
            <a:fillRect/>
          </a:stretch>
        </p:blipFill>
        <p:spPr>
          <a:xfrm>
            <a:off x="1945178" y="2224438"/>
            <a:ext cx="1760913" cy="1760913"/>
          </a:xfrm>
          <a:prstGeom prst="rect">
            <a:avLst/>
          </a:prstGeom>
        </p:spPr>
      </p:pic>
      <p:pic>
        <p:nvPicPr>
          <p:cNvPr id="7" name="Image 6">
            <a:extLst>
              <a:ext uri="{FF2B5EF4-FFF2-40B4-BE49-F238E27FC236}">
                <a16:creationId xmlns:a16="http://schemas.microsoft.com/office/drawing/2014/main" xmlns="" id="{45BE903F-4EE0-4D18-B30F-8E40A3F74435}"/>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137469" y="2413006"/>
            <a:ext cx="1760912" cy="1760912"/>
          </a:xfrm>
          <a:prstGeom prst="rect">
            <a:avLst/>
          </a:prstGeom>
        </p:spPr>
      </p:pic>
      <p:sp>
        <p:nvSpPr>
          <p:cNvPr id="8" name="ZoneTexte 7">
            <a:extLst>
              <a:ext uri="{FF2B5EF4-FFF2-40B4-BE49-F238E27FC236}">
                <a16:creationId xmlns:a16="http://schemas.microsoft.com/office/drawing/2014/main" xmlns="" id="{47CF135B-552F-4B93-9A3F-7EF9870E65A5}"/>
              </a:ext>
            </a:extLst>
          </p:cNvPr>
          <p:cNvSpPr txBox="1"/>
          <p:nvPr/>
        </p:nvSpPr>
        <p:spPr>
          <a:xfrm>
            <a:off x="7941081" y="4173918"/>
            <a:ext cx="2153687" cy="400110"/>
          </a:xfrm>
          <a:prstGeom prst="rect">
            <a:avLst/>
          </a:prstGeom>
          <a:noFill/>
        </p:spPr>
        <p:txBody>
          <a:bodyPr wrap="square" rtlCol="0">
            <a:spAutoFit/>
          </a:bodyPr>
          <a:lstStyle/>
          <a:p>
            <a:r>
              <a:rPr lang="fr-FR" sz="2000" b="1" dirty="0"/>
              <a:t>Base de données</a:t>
            </a:r>
          </a:p>
        </p:txBody>
      </p:sp>
      <p:sp>
        <p:nvSpPr>
          <p:cNvPr id="10" name="ZoneTexte 9">
            <a:extLst>
              <a:ext uri="{FF2B5EF4-FFF2-40B4-BE49-F238E27FC236}">
                <a16:creationId xmlns:a16="http://schemas.microsoft.com/office/drawing/2014/main" xmlns="" id="{3C44F9A0-A657-4F8D-82A2-D5AC13F41396}"/>
              </a:ext>
            </a:extLst>
          </p:cNvPr>
          <p:cNvSpPr txBox="1"/>
          <p:nvPr/>
        </p:nvSpPr>
        <p:spPr>
          <a:xfrm>
            <a:off x="7736378" y="2012896"/>
            <a:ext cx="3042458" cy="400110"/>
          </a:xfrm>
          <a:prstGeom prst="rect">
            <a:avLst/>
          </a:prstGeom>
          <a:noFill/>
        </p:spPr>
        <p:txBody>
          <a:bodyPr wrap="square" rtlCol="0">
            <a:spAutoFit/>
          </a:bodyPr>
          <a:lstStyle/>
          <a:p>
            <a:r>
              <a:rPr lang="fr-FR" sz="2000" b="1" dirty="0"/>
              <a:t>Support de stockage</a:t>
            </a:r>
          </a:p>
        </p:txBody>
      </p:sp>
      <p:sp>
        <p:nvSpPr>
          <p:cNvPr id="12" name="Flèche : double flèche horizontale 11">
            <a:extLst>
              <a:ext uri="{FF2B5EF4-FFF2-40B4-BE49-F238E27FC236}">
                <a16:creationId xmlns:a16="http://schemas.microsoft.com/office/drawing/2014/main" xmlns="" id="{3C2B5979-5728-4497-85F9-F56296EA4369}"/>
              </a:ext>
            </a:extLst>
          </p:cNvPr>
          <p:cNvSpPr/>
          <p:nvPr/>
        </p:nvSpPr>
        <p:spPr>
          <a:xfrm>
            <a:off x="3956858" y="3293462"/>
            <a:ext cx="3906982" cy="239915"/>
          </a:xfrm>
          <a:prstGeom prst="lef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xmlns="" id="{8C194413-80CE-4940-B27D-ED4FD7B82A39}"/>
              </a:ext>
            </a:extLst>
          </p:cNvPr>
          <p:cNvSpPr txBox="1"/>
          <p:nvPr/>
        </p:nvSpPr>
        <p:spPr>
          <a:xfrm>
            <a:off x="5475317" y="2591624"/>
            <a:ext cx="2261061" cy="523220"/>
          </a:xfrm>
          <a:prstGeom prst="rect">
            <a:avLst/>
          </a:prstGeom>
          <a:noFill/>
        </p:spPr>
        <p:txBody>
          <a:bodyPr wrap="square" rtlCol="0">
            <a:spAutoFit/>
          </a:bodyPr>
          <a:lstStyle/>
          <a:p>
            <a:r>
              <a:rPr lang="fr-FR" sz="2800" b="1" dirty="0"/>
              <a:t>SGBD</a:t>
            </a:r>
          </a:p>
        </p:txBody>
      </p:sp>
      <p:sp>
        <p:nvSpPr>
          <p:cNvPr id="14" name="ZoneTexte 13">
            <a:extLst>
              <a:ext uri="{FF2B5EF4-FFF2-40B4-BE49-F238E27FC236}">
                <a16:creationId xmlns:a16="http://schemas.microsoft.com/office/drawing/2014/main" xmlns="" id="{38557D27-887D-4789-B630-86DFF7C3CBE8}"/>
              </a:ext>
            </a:extLst>
          </p:cNvPr>
          <p:cNvSpPr txBox="1"/>
          <p:nvPr/>
        </p:nvSpPr>
        <p:spPr>
          <a:xfrm>
            <a:off x="652549" y="5053765"/>
            <a:ext cx="10515600" cy="1384995"/>
          </a:xfrm>
          <a:prstGeom prst="rect">
            <a:avLst/>
          </a:prstGeom>
          <a:noFill/>
        </p:spPr>
        <p:txBody>
          <a:bodyPr wrap="square" rtlCol="0">
            <a:spAutoFit/>
          </a:bodyPr>
          <a:lstStyle/>
          <a:p>
            <a:pPr algn="just"/>
            <a:r>
              <a:rPr lang="fr-FR" sz="2800" b="1" dirty="0"/>
              <a:t>Un Système de Gestion de Bases de données (SGBD) est un outil (logiciel) permettant de gérer et de manipuler des BDD.</a:t>
            </a:r>
          </a:p>
          <a:p>
            <a:pPr algn="ctr"/>
            <a:endParaRPr lang="fr-FR" sz="2800" b="1" dirty="0"/>
          </a:p>
        </p:txBody>
      </p:sp>
    </p:spTree>
    <p:extLst>
      <p:ext uri="{BB962C8B-B14F-4D97-AF65-F5344CB8AC3E}">
        <p14:creationId xmlns:p14="http://schemas.microsoft.com/office/powerpoint/2010/main" xmlns="" val="861653443"/>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xmlns="" id="{B63B18EA-7A4E-446A-B9A1-64FB0FE1A9EA}"/>
              </a:ext>
            </a:extLst>
          </p:cNvPr>
          <p:cNvSpPr txBox="1"/>
          <p:nvPr/>
        </p:nvSpPr>
        <p:spPr>
          <a:xfrm>
            <a:off x="838200" y="1690688"/>
            <a:ext cx="10515600" cy="4534446"/>
          </a:xfrm>
          <a:prstGeom prst="rect">
            <a:avLst/>
          </a:prstGeom>
          <a:noFill/>
        </p:spPr>
        <p:txBody>
          <a:bodyPr wrap="square" rtlCol="0">
            <a:spAutoFit/>
          </a:bodyPr>
          <a:lstStyle/>
          <a:p>
            <a:pPr algn="just">
              <a:spcAft>
                <a:spcPts val="1200"/>
              </a:spcAft>
            </a:pPr>
            <a:r>
              <a:rPr lang="fr-FR" sz="2800" b="1" dirty="0">
                <a:solidFill>
                  <a:srgbClr val="C00000"/>
                </a:solidFill>
              </a:rPr>
              <a:t>Exemples de SGBD</a:t>
            </a:r>
          </a:p>
          <a:p>
            <a:pPr marL="457200" indent="-457200" algn="just">
              <a:lnSpc>
                <a:spcPct val="150000"/>
              </a:lnSpc>
              <a:spcBef>
                <a:spcPts val="600"/>
              </a:spcBef>
              <a:spcAft>
                <a:spcPts val="600"/>
              </a:spcAft>
              <a:buClr>
                <a:srgbClr val="C00000"/>
              </a:buClr>
              <a:buFont typeface="Wingdings" panose="05000000000000000000" pitchFamily="2" charset="2"/>
              <a:buChar char="Ø"/>
            </a:pPr>
            <a:r>
              <a:rPr lang="fr-FR" sz="2800" b="1" dirty="0"/>
              <a:t>Microsoft Access </a:t>
            </a:r>
          </a:p>
          <a:p>
            <a:pPr marL="457200" indent="-457200" algn="just">
              <a:lnSpc>
                <a:spcPct val="150000"/>
              </a:lnSpc>
              <a:spcBef>
                <a:spcPts val="600"/>
              </a:spcBef>
              <a:spcAft>
                <a:spcPts val="600"/>
              </a:spcAft>
              <a:buClr>
                <a:srgbClr val="C00000"/>
              </a:buClr>
              <a:buFont typeface="Wingdings" panose="05000000000000000000" pitchFamily="2" charset="2"/>
              <a:buChar char="Ø"/>
            </a:pPr>
            <a:r>
              <a:rPr lang="fr-FR" sz="2800" b="1" dirty="0"/>
              <a:t>Oracle </a:t>
            </a:r>
          </a:p>
          <a:p>
            <a:pPr marL="457200" indent="-457200" algn="just">
              <a:lnSpc>
                <a:spcPct val="150000"/>
              </a:lnSpc>
              <a:spcBef>
                <a:spcPts val="600"/>
              </a:spcBef>
              <a:spcAft>
                <a:spcPts val="600"/>
              </a:spcAft>
              <a:buClr>
                <a:srgbClr val="C00000"/>
              </a:buClr>
              <a:buFont typeface="Wingdings" panose="05000000000000000000" pitchFamily="2" charset="2"/>
              <a:buChar char="Ø"/>
            </a:pPr>
            <a:r>
              <a:rPr lang="fr-FR" sz="2800" b="1" dirty="0"/>
              <a:t>SQL Server</a:t>
            </a:r>
          </a:p>
          <a:p>
            <a:pPr marL="457200" indent="-457200" algn="just">
              <a:lnSpc>
                <a:spcPct val="150000"/>
              </a:lnSpc>
              <a:spcBef>
                <a:spcPts val="600"/>
              </a:spcBef>
              <a:spcAft>
                <a:spcPts val="600"/>
              </a:spcAft>
              <a:buClr>
                <a:srgbClr val="C00000"/>
              </a:buClr>
              <a:buFont typeface="Wingdings" panose="05000000000000000000" pitchFamily="2" charset="2"/>
              <a:buChar char="Ø"/>
            </a:pPr>
            <a:r>
              <a:rPr lang="fr-FR" sz="2800" b="1" dirty="0" err="1"/>
              <a:t>My</a:t>
            </a:r>
            <a:r>
              <a:rPr lang="fr-FR" sz="2800" b="1" dirty="0"/>
              <a:t> SQL </a:t>
            </a:r>
          </a:p>
          <a:p>
            <a:pPr marL="457200" indent="-457200" algn="just">
              <a:lnSpc>
                <a:spcPct val="150000"/>
              </a:lnSpc>
              <a:spcBef>
                <a:spcPts val="600"/>
              </a:spcBef>
              <a:spcAft>
                <a:spcPts val="600"/>
              </a:spcAft>
              <a:buClr>
                <a:srgbClr val="C00000"/>
              </a:buClr>
              <a:buFont typeface="Wingdings" panose="05000000000000000000" pitchFamily="2" charset="2"/>
              <a:buChar char="Ø"/>
            </a:pPr>
            <a:r>
              <a:rPr lang="fr-FR" sz="2800" b="1" dirty="0" err="1"/>
              <a:t>PostegreSQL</a:t>
            </a:r>
            <a:r>
              <a:rPr lang="fr-FR" sz="2800" b="1" dirty="0"/>
              <a:t> </a:t>
            </a:r>
          </a:p>
        </p:txBody>
      </p:sp>
      <p:pic>
        <p:nvPicPr>
          <p:cNvPr id="8" name="Image 7">
            <a:extLst>
              <a:ext uri="{FF2B5EF4-FFF2-40B4-BE49-F238E27FC236}">
                <a16:creationId xmlns:a16="http://schemas.microsoft.com/office/drawing/2014/main" xmlns="" id="{68172FCC-4D64-4B53-A5DE-5F967755051E}"/>
              </a:ext>
            </a:extLst>
          </p:cNvPr>
          <p:cNvPicPr>
            <a:picLocks noChangeAspect="1"/>
          </p:cNvPicPr>
          <p:nvPr/>
        </p:nvPicPr>
        <p:blipFill>
          <a:blip r:embed="rId2" cstate="print"/>
          <a:stretch>
            <a:fillRect/>
          </a:stretch>
        </p:blipFill>
        <p:spPr>
          <a:xfrm flipH="1">
            <a:off x="3995352" y="2171360"/>
            <a:ext cx="686783" cy="641642"/>
          </a:xfrm>
          <a:prstGeom prst="rect">
            <a:avLst/>
          </a:prstGeom>
        </p:spPr>
      </p:pic>
      <p:pic>
        <p:nvPicPr>
          <p:cNvPr id="10" name="Image 9">
            <a:extLst>
              <a:ext uri="{FF2B5EF4-FFF2-40B4-BE49-F238E27FC236}">
                <a16:creationId xmlns:a16="http://schemas.microsoft.com/office/drawing/2014/main" xmlns="" id="{9DE7494E-0DC2-4EE7-8C06-6150C62A3112}"/>
              </a:ext>
            </a:extLst>
          </p:cNvPr>
          <p:cNvPicPr>
            <a:picLocks noChangeAspect="1"/>
          </p:cNvPicPr>
          <p:nvPr/>
        </p:nvPicPr>
        <p:blipFill>
          <a:blip r:embed="rId3" cstate="print"/>
          <a:stretch>
            <a:fillRect/>
          </a:stretch>
        </p:blipFill>
        <p:spPr>
          <a:xfrm>
            <a:off x="2774214" y="3228721"/>
            <a:ext cx="1907921" cy="335794"/>
          </a:xfrm>
          <a:prstGeom prst="rect">
            <a:avLst/>
          </a:prstGeom>
        </p:spPr>
      </p:pic>
      <p:pic>
        <p:nvPicPr>
          <p:cNvPr id="12" name="Image 11">
            <a:extLst>
              <a:ext uri="{FF2B5EF4-FFF2-40B4-BE49-F238E27FC236}">
                <a16:creationId xmlns:a16="http://schemas.microsoft.com/office/drawing/2014/main" xmlns="" id="{C5E59591-F416-4A06-8EEB-0AF3FB7BDB9B}"/>
              </a:ext>
            </a:extLst>
          </p:cNvPr>
          <p:cNvPicPr>
            <a:picLocks noChangeAspect="1"/>
          </p:cNvPicPr>
          <p:nvPr/>
        </p:nvPicPr>
        <p:blipFill>
          <a:blip r:embed="rId4" cstate="print"/>
          <a:stretch>
            <a:fillRect/>
          </a:stretch>
        </p:blipFill>
        <p:spPr>
          <a:xfrm>
            <a:off x="2951371" y="4497640"/>
            <a:ext cx="1301230" cy="696272"/>
          </a:xfrm>
          <a:prstGeom prst="rect">
            <a:avLst/>
          </a:prstGeom>
        </p:spPr>
      </p:pic>
      <p:pic>
        <p:nvPicPr>
          <p:cNvPr id="14" name="Image 13">
            <a:extLst>
              <a:ext uri="{FF2B5EF4-FFF2-40B4-BE49-F238E27FC236}">
                <a16:creationId xmlns:a16="http://schemas.microsoft.com/office/drawing/2014/main" xmlns="" id="{B0AB4DB1-394F-48A8-AC69-A0721D09209F}"/>
              </a:ext>
            </a:extLst>
          </p:cNvPr>
          <p:cNvPicPr>
            <a:picLocks noChangeAspect="1"/>
          </p:cNvPicPr>
          <p:nvPr/>
        </p:nvPicPr>
        <p:blipFill>
          <a:blip r:embed="rId5" cstate="print"/>
          <a:stretch>
            <a:fillRect/>
          </a:stretch>
        </p:blipFill>
        <p:spPr>
          <a:xfrm>
            <a:off x="3601986" y="5296180"/>
            <a:ext cx="1779447" cy="801766"/>
          </a:xfrm>
          <a:prstGeom prst="rect">
            <a:avLst/>
          </a:prstGeom>
        </p:spPr>
      </p:pic>
      <p:pic>
        <p:nvPicPr>
          <p:cNvPr id="18" name="Image 17">
            <a:extLst>
              <a:ext uri="{FF2B5EF4-FFF2-40B4-BE49-F238E27FC236}">
                <a16:creationId xmlns:a16="http://schemas.microsoft.com/office/drawing/2014/main" xmlns="" id="{A2AAB852-6345-464B-9CB9-42C82C8460B8}"/>
              </a:ext>
            </a:extLst>
          </p:cNvPr>
          <p:cNvPicPr>
            <a:picLocks noChangeAspect="1"/>
          </p:cNvPicPr>
          <p:nvPr/>
        </p:nvPicPr>
        <p:blipFill>
          <a:blip r:embed="rId6" cstate="print"/>
          <a:stretch>
            <a:fillRect/>
          </a:stretch>
        </p:blipFill>
        <p:spPr>
          <a:xfrm>
            <a:off x="3995352" y="3835639"/>
            <a:ext cx="2772162" cy="724001"/>
          </a:xfrm>
          <a:prstGeom prst="rect">
            <a:avLst/>
          </a:prstGeom>
        </p:spPr>
      </p:pic>
      <p:sp>
        <p:nvSpPr>
          <p:cNvPr id="9" name="Titre 1">
            <a:extLst>
              <a:ext uri="{FF2B5EF4-FFF2-40B4-BE49-F238E27FC236}">
                <a16:creationId xmlns:a16="http://schemas.microsoft.com/office/drawing/2014/main" xmlns="" id="{273AA729-ADD2-470B-A9C1-B6C5D9C0611B}"/>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
        <p:nvSpPr>
          <p:cNvPr id="6" name="Espace réservé du numéro de diapositive 5">
            <a:extLst>
              <a:ext uri="{FF2B5EF4-FFF2-40B4-BE49-F238E27FC236}">
                <a16:creationId xmlns:a16="http://schemas.microsoft.com/office/drawing/2014/main" xmlns="" id="{0CC45DE3-6E36-4C79-AE5D-6F21BEFA20F1}"/>
              </a:ext>
            </a:extLst>
          </p:cNvPr>
          <p:cNvSpPr>
            <a:spLocks noGrp="1"/>
          </p:cNvSpPr>
          <p:nvPr>
            <p:ph type="sldNum" sz="quarter" idx="12"/>
          </p:nvPr>
        </p:nvSpPr>
        <p:spPr/>
        <p:txBody>
          <a:bodyPr/>
          <a:lstStyle/>
          <a:p>
            <a:fld id="{15B59467-8B33-4B1A-8FFF-43B74E510468}" type="slidenum">
              <a:rPr lang="fr-FR" smtClean="0"/>
              <a:pPr/>
              <a:t>13</a:t>
            </a:fld>
            <a:endParaRPr lang="fr-FR"/>
          </a:p>
        </p:txBody>
      </p:sp>
    </p:spTree>
    <p:extLst>
      <p:ext uri="{BB962C8B-B14F-4D97-AF65-F5344CB8AC3E}">
        <p14:creationId xmlns:p14="http://schemas.microsoft.com/office/powerpoint/2010/main" xmlns="" val="545116533"/>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8A1DA9ED-2C60-4EA7-A53C-78421BD4EDD4}"/>
              </a:ext>
            </a:extLst>
          </p:cNvPr>
          <p:cNvSpPr>
            <a:spLocks noGrp="1"/>
          </p:cNvSpPr>
          <p:nvPr>
            <p:ph idx="1"/>
          </p:nvPr>
        </p:nvSpPr>
        <p:spPr>
          <a:xfrm>
            <a:off x="838200" y="1719768"/>
            <a:ext cx="10515600" cy="4138593"/>
          </a:xfrm>
        </p:spPr>
        <p:txBody>
          <a:bodyPr>
            <a:normAutofit/>
          </a:bodyPr>
          <a:lstStyle/>
          <a:p>
            <a:pPr marL="0" indent="0" algn="just">
              <a:spcAft>
                <a:spcPts val="1800"/>
              </a:spcAft>
              <a:buNone/>
            </a:pPr>
            <a:r>
              <a:rPr lang="fr-FR" b="1" dirty="0">
                <a:solidFill>
                  <a:srgbClr val="C00000"/>
                </a:solidFill>
              </a:rPr>
              <a:t>Objectifs d’un SGBD</a:t>
            </a:r>
          </a:p>
          <a:p>
            <a:pPr marL="0" indent="0" algn="just">
              <a:spcAft>
                <a:spcPts val="1200"/>
              </a:spcAft>
              <a:buNone/>
            </a:pPr>
            <a:r>
              <a:rPr lang="fr-FR" b="1" dirty="0"/>
              <a:t>Un SGBD doit permettre à l’utilisateur de :</a:t>
            </a:r>
          </a:p>
          <a:p>
            <a:pPr algn="just">
              <a:spcBef>
                <a:spcPts val="1200"/>
              </a:spcBef>
            </a:pPr>
            <a:r>
              <a:rPr lang="fr-FR" b="1" dirty="0"/>
              <a:t>Créer une base de données</a:t>
            </a:r>
          </a:p>
          <a:p>
            <a:pPr algn="just">
              <a:spcBef>
                <a:spcPts val="1200"/>
              </a:spcBef>
            </a:pPr>
            <a:r>
              <a:rPr lang="fr-FR" b="1" dirty="0"/>
              <a:t>Insérer des données</a:t>
            </a:r>
          </a:p>
          <a:p>
            <a:pPr algn="just">
              <a:spcBef>
                <a:spcPts val="1200"/>
              </a:spcBef>
            </a:pPr>
            <a:r>
              <a:rPr lang="fr-FR" b="1" dirty="0"/>
              <a:t>Extraire les données</a:t>
            </a:r>
          </a:p>
          <a:p>
            <a:pPr algn="just">
              <a:spcBef>
                <a:spcPts val="1200"/>
              </a:spcBef>
            </a:pPr>
            <a:r>
              <a:rPr lang="fr-FR" b="1" dirty="0"/>
              <a:t>Mettre à jour les données</a:t>
            </a:r>
          </a:p>
        </p:txBody>
      </p:sp>
      <p:sp>
        <p:nvSpPr>
          <p:cNvPr id="10" name="Espace réservé du numéro de diapositive 9">
            <a:extLst>
              <a:ext uri="{FF2B5EF4-FFF2-40B4-BE49-F238E27FC236}">
                <a16:creationId xmlns:a16="http://schemas.microsoft.com/office/drawing/2014/main" xmlns="" id="{43772317-20EB-4A66-ADF2-D7E7BBD97634}"/>
              </a:ext>
            </a:extLst>
          </p:cNvPr>
          <p:cNvSpPr>
            <a:spLocks noGrp="1"/>
          </p:cNvSpPr>
          <p:nvPr>
            <p:ph type="sldNum" sz="quarter" idx="12"/>
          </p:nvPr>
        </p:nvSpPr>
        <p:spPr/>
        <p:txBody>
          <a:bodyPr/>
          <a:lstStyle/>
          <a:p>
            <a:fld id="{15B59467-8B33-4B1A-8FFF-43B74E510468}" type="slidenum">
              <a:rPr lang="fr-FR" smtClean="0"/>
              <a:pPr/>
              <a:t>14</a:t>
            </a:fld>
            <a:endParaRPr lang="fr-FR"/>
          </a:p>
        </p:txBody>
      </p:sp>
      <p:sp>
        <p:nvSpPr>
          <p:cNvPr id="6" name="Titre 1">
            <a:extLst>
              <a:ext uri="{FF2B5EF4-FFF2-40B4-BE49-F238E27FC236}">
                <a16:creationId xmlns:a16="http://schemas.microsoft.com/office/drawing/2014/main" xmlns="" id="{CFFCD428-338F-4232-A75B-D1E2E58AA71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1741613885"/>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8A1DA9ED-2C60-4EA7-A53C-78421BD4EDD4}"/>
              </a:ext>
            </a:extLst>
          </p:cNvPr>
          <p:cNvSpPr>
            <a:spLocks noGrp="1"/>
          </p:cNvSpPr>
          <p:nvPr>
            <p:ph idx="1"/>
          </p:nvPr>
        </p:nvSpPr>
        <p:spPr>
          <a:xfrm>
            <a:off x="838200" y="1713021"/>
            <a:ext cx="10515600" cy="4424308"/>
          </a:xfrm>
        </p:spPr>
        <p:txBody>
          <a:bodyPr>
            <a:normAutofit/>
          </a:bodyPr>
          <a:lstStyle/>
          <a:p>
            <a:pPr marL="0" indent="0" algn="just">
              <a:lnSpc>
                <a:spcPct val="100000"/>
              </a:lnSpc>
              <a:spcAft>
                <a:spcPts val="1800"/>
              </a:spcAft>
              <a:buNone/>
            </a:pPr>
            <a:r>
              <a:rPr lang="fr-FR" sz="2800" b="1" dirty="0">
                <a:solidFill>
                  <a:srgbClr val="C00000"/>
                </a:solidFill>
              </a:rPr>
              <a:t>Objectifs d’un SGBD</a:t>
            </a:r>
            <a:endParaRPr lang="fr-FR" b="1" dirty="0"/>
          </a:p>
          <a:p>
            <a:pPr marL="0" indent="0" algn="just">
              <a:lnSpc>
                <a:spcPct val="100000"/>
              </a:lnSpc>
              <a:spcBef>
                <a:spcPts val="1200"/>
              </a:spcBef>
              <a:buNone/>
            </a:pPr>
            <a:r>
              <a:rPr lang="fr-FR" b="1" dirty="0"/>
              <a:t>Un SGBD doit assurer les fonctions suivantes:</a:t>
            </a:r>
          </a:p>
          <a:p>
            <a:pPr algn="just">
              <a:lnSpc>
                <a:spcPct val="100000"/>
              </a:lnSpc>
              <a:spcBef>
                <a:spcPts val="1200"/>
              </a:spcBef>
            </a:pPr>
            <a:r>
              <a:rPr lang="fr-FR" b="1" dirty="0"/>
              <a:t>Exploitation de gros volumes de données avec une structuration des données et méthodes d’accès efficaces,</a:t>
            </a:r>
          </a:p>
          <a:p>
            <a:pPr algn="just">
              <a:lnSpc>
                <a:spcPct val="100000"/>
              </a:lnSpc>
              <a:spcBef>
                <a:spcPts val="1200"/>
              </a:spcBef>
            </a:pPr>
            <a:r>
              <a:rPr lang="fr-FR" b="1" dirty="0"/>
              <a:t> Exploitation par différents types d’utilisateurs avec des différents outils d’accès ou interfaces-utilisateurs.</a:t>
            </a:r>
          </a:p>
          <a:p>
            <a:pPr algn="just">
              <a:lnSpc>
                <a:spcPct val="100000"/>
              </a:lnSpc>
              <a:spcBef>
                <a:spcPts val="1200"/>
              </a:spcBef>
            </a:pPr>
            <a:r>
              <a:rPr lang="fr-FR" b="1" dirty="0"/>
              <a:t>Gestion de données sensibles avec sécurité et fiabilité maximal.</a:t>
            </a:r>
          </a:p>
        </p:txBody>
      </p:sp>
      <p:sp>
        <p:nvSpPr>
          <p:cNvPr id="5" name="Espace réservé du numéro de diapositive 4">
            <a:extLst>
              <a:ext uri="{FF2B5EF4-FFF2-40B4-BE49-F238E27FC236}">
                <a16:creationId xmlns:a16="http://schemas.microsoft.com/office/drawing/2014/main" xmlns="" id="{5E7EC4D6-F934-4E62-81CA-BFFE7345B355}"/>
              </a:ext>
            </a:extLst>
          </p:cNvPr>
          <p:cNvSpPr>
            <a:spLocks noGrp="1"/>
          </p:cNvSpPr>
          <p:nvPr>
            <p:ph type="sldNum" sz="quarter" idx="12"/>
          </p:nvPr>
        </p:nvSpPr>
        <p:spPr/>
        <p:txBody>
          <a:bodyPr/>
          <a:lstStyle/>
          <a:p>
            <a:fld id="{15B59467-8B33-4B1A-8FFF-43B74E510468}" type="slidenum">
              <a:rPr lang="fr-FR" smtClean="0"/>
              <a:pPr/>
              <a:t>15</a:t>
            </a:fld>
            <a:endParaRPr lang="fr-FR"/>
          </a:p>
        </p:txBody>
      </p:sp>
      <p:sp>
        <p:nvSpPr>
          <p:cNvPr id="6" name="Titre 1">
            <a:extLst>
              <a:ext uri="{FF2B5EF4-FFF2-40B4-BE49-F238E27FC236}">
                <a16:creationId xmlns:a16="http://schemas.microsoft.com/office/drawing/2014/main" xmlns="" id="{A64166F9-955B-4DBE-B1FF-D6C17095E7FC}"/>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2192070946"/>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xmlns="" id="{8B5EDF3B-7C96-4D18-8A13-66DE911D3C2E}"/>
              </a:ext>
            </a:extLst>
          </p:cNvPr>
          <p:cNvSpPr txBox="1"/>
          <p:nvPr/>
        </p:nvSpPr>
        <p:spPr>
          <a:xfrm>
            <a:off x="786034" y="1629896"/>
            <a:ext cx="8632995" cy="523220"/>
          </a:xfrm>
          <a:prstGeom prst="rect">
            <a:avLst/>
          </a:prstGeom>
          <a:noFill/>
        </p:spPr>
        <p:txBody>
          <a:bodyPr wrap="square" rtlCol="0">
            <a:spAutoFit/>
          </a:bodyPr>
          <a:lstStyle/>
          <a:p>
            <a:r>
              <a:rPr lang="fr-FR" sz="2800" b="1" dirty="0">
                <a:solidFill>
                  <a:srgbClr val="C00000"/>
                </a:solidFill>
              </a:rPr>
              <a:t>Problématique de la représentation des données</a:t>
            </a:r>
          </a:p>
        </p:txBody>
      </p:sp>
      <p:sp>
        <p:nvSpPr>
          <p:cNvPr id="8" name="ZoneTexte 7">
            <a:extLst>
              <a:ext uri="{FF2B5EF4-FFF2-40B4-BE49-F238E27FC236}">
                <a16:creationId xmlns:a16="http://schemas.microsoft.com/office/drawing/2014/main" xmlns="" id="{BF311E90-E266-4F24-A359-3260710A526C}"/>
              </a:ext>
            </a:extLst>
          </p:cNvPr>
          <p:cNvSpPr txBox="1"/>
          <p:nvPr/>
        </p:nvSpPr>
        <p:spPr>
          <a:xfrm>
            <a:off x="1425407" y="5399841"/>
            <a:ext cx="4543132" cy="461665"/>
          </a:xfrm>
          <a:prstGeom prst="rect">
            <a:avLst/>
          </a:prstGeom>
          <a:noFill/>
        </p:spPr>
        <p:txBody>
          <a:bodyPr wrap="square" rtlCol="0">
            <a:spAutoFit/>
          </a:bodyPr>
          <a:lstStyle/>
          <a:p>
            <a:r>
              <a:rPr lang="fr-FR" sz="2400" b="1" dirty="0"/>
              <a:t>Anomalies lors d’une insertion</a:t>
            </a:r>
          </a:p>
        </p:txBody>
      </p:sp>
      <p:sp>
        <p:nvSpPr>
          <p:cNvPr id="9" name="Flèche : droite 8">
            <a:extLst>
              <a:ext uri="{FF2B5EF4-FFF2-40B4-BE49-F238E27FC236}">
                <a16:creationId xmlns:a16="http://schemas.microsoft.com/office/drawing/2014/main" xmlns="" id="{5A1F1B1E-7EA4-4D5A-9AB1-2400463FE041}"/>
              </a:ext>
            </a:extLst>
          </p:cNvPr>
          <p:cNvSpPr/>
          <p:nvPr/>
        </p:nvSpPr>
        <p:spPr>
          <a:xfrm>
            <a:off x="838200" y="5542177"/>
            <a:ext cx="548414" cy="17467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xmlns="" id="{EB51009D-5A6E-489B-A0AC-B990DCA14D83}"/>
              </a:ext>
            </a:extLst>
          </p:cNvPr>
          <p:cNvSpPr txBox="1"/>
          <p:nvPr/>
        </p:nvSpPr>
        <p:spPr>
          <a:xfrm>
            <a:off x="1428181" y="5834871"/>
            <a:ext cx="4540357" cy="461665"/>
          </a:xfrm>
          <a:prstGeom prst="rect">
            <a:avLst/>
          </a:prstGeom>
          <a:noFill/>
        </p:spPr>
        <p:txBody>
          <a:bodyPr wrap="square" rtlCol="0">
            <a:spAutoFit/>
          </a:bodyPr>
          <a:lstStyle/>
          <a:p>
            <a:r>
              <a:rPr lang="fr-FR" sz="2400" b="1" dirty="0"/>
              <a:t>Anomalies lors d’une modification</a:t>
            </a:r>
          </a:p>
        </p:txBody>
      </p:sp>
      <p:sp>
        <p:nvSpPr>
          <p:cNvPr id="11" name="Flèche : droite 10">
            <a:extLst>
              <a:ext uri="{FF2B5EF4-FFF2-40B4-BE49-F238E27FC236}">
                <a16:creationId xmlns:a16="http://schemas.microsoft.com/office/drawing/2014/main" xmlns="" id="{420ECF44-A651-4461-BCBD-2B529A0B7138}"/>
              </a:ext>
            </a:extLst>
          </p:cNvPr>
          <p:cNvSpPr/>
          <p:nvPr/>
        </p:nvSpPr>
        <p:spPr>
          <a:xfrm>
            <a:off x="840975" y="5977207"/>
            <a:ext cx="548414" cy="17467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xmlns="" id="{1D00ECAC-5B97-4A9E-A474-A6F840AE189C}"/>
              </a:ext>
            </a:extLst>
          </p:cNvPr>
          <p:cNvSpPr txBox="1"/>
          <p:nvPr/>
        </p:nvSpPr>
        <p:spPr>
          <a:xfrm>
            <a:off x="1425407" y="6239709"/>
            <a:ext cx="4670594" cy="461665"/>
          </a:xfrm>
          <a:prstGeom prst="rect">
            <a:avLst/>
          </a:prstGeom>
          <a:noFill/>
        </p:spPr>
        <p:txBody>
          <a:bodyPr wrap="square" rtlCol="0">
            <a:spAutoFit/>
          </a:bodyPr>
          <a:lstStyle/>
          <a:p>
            <a:r>
              <a:rPr lang="fr-FR" sz="2400" b="1" dirty="0"/>
              <a:t>Anomalies lors d’une suppression</a:t>
            </a:r>
          </a:p>
        </p:txBody>
      </p:sp>
      <p:sp>
        <p:nvSpPr>
          <p:cNvPr id="13" name="Flèche : droite 12">
            <a:extLst>
              <a:ext uri="{FF2B5EF4-FFF2-40B4-BE49-F238E27FC236}">
                <a16:creationId xmlns:a16="http://schemas.microsoft.com/office/drawing/2014/main" xmlns="" id="{3C62EC66-AAAC-4319-9C01-CB1D2933DEEA}"/>
              </a:ext>
            </a:extLst>
          </p:cNvPr>
          <p:cNvSpPr/>
          <p:nvPr/>
        </p:nvSpPr>
        <p:spPr>
          <a:xfrm>
            <a:off x="860371" y="6412242"/>
            <a:ext cx="548414" cy="17467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a:p>
        </p:txBody>
      </p:sp>
      <p:sp>
        <p:nvSpPr>
          <p:cNvPr id="14" name="Espace réservé du numéro de diapositive 13">
            <a:extLst>
              <a:ext uri="{FF2B5EF4-FFF2-40B4-BE49-F238E27FC236}">
                <a16:creationId xmlns:a16="http://schemas.microsoft.com/office/drawing/2014/main" xmlns="" id="{C0BAEC9F-5FA6-4A24-AF40-D5D78F494CFC}"/>
              </a:ext>
            </a:extLst>
          </p:cNvPr>
          <p:cNvSpPr>
            <a:spLocks noGrp="1"/>
          </p:cNvSpPr>
          <p:nvPr>
            <p:ph type="sldNum" sz="quarter" idx="12"/>
          </p:nvPr>
        </p:nvSpPr>
        <p:spPr/>
        <p:txBody>
          <a:bodyPr/>
          <a:lstStyle/>
          <a:p>
            <a:fld id="{15B59467-8B33-4B1A-8FFF-43B74E510468}" type="slidenum">
              <a:rPr lang="fr-FR" smtClean="0"/>
              <a:pPr/>
              <a:t>16</a:t>
            </a:fld>
            <a:endParaRPr lang="fr-FR"/>
          </a:p>
        </p:txBody>
      </p:sp>
      <p:pic>
        <p:nvPicPr>
          <p:cNvPr id="18" name="Image 17">
            <a:extLst>
              <a:ext uri="{FF2B5EF4-FFF2-40B4-BE49-F238E27FC236}">
                <a16:creationId xmlns:a16="http://schemas.microsoft.com/office/drawing/2014/main" xmlns="" id="{9B1369C2-AF2F-47DE-B2A6-1F5AA99018DE}"/>
              </a:ext>
            </a:extLst>
          </p:cNvPr>
          <p:cNvPicPr>
            <a:picLocks noChangeAspect="1"/>
          </p:cNvPicPr>
          <p:nvPr/>
        </p:nvPicPr>
        <p:blipFill>
          <a:blip r:embed="rId2" cstate="print"/>
          <a:stretch>
            <a:fillRect/>
          </a:stretch>
        </p:blipFill>
        <p:spPr>
          <a:xfrm>
            <a:off x="1386614" y="2137071"/>
            <a:ext cx="9835491" cy="3202956"/>
          </a:xfrm>
          <a:prstGeom prst="rect">
            <a:avLst/>
          </a:prstGeom>
        </p:spPr>
      </p:pic>
      <p:sp>
        <p:nvSpPr>
          <p:cNvPr id="15" name="Titre 1">
            <a:extLst>
              <a:ext uri="{FF2B5EF4-FFF2-40B4-BE49-F238E27FC236}">
                <a16:creationId xmlns:a16="http://schemas.microsoft.com/office/drawing/2014/main" xmlns="" id="{EFD9A3D5-94E3-4563-A248-0BFA5B17B5A3}"/>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200342955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2" grpId="0"/>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contenu 2">
            <a:extLst>
              <a:ext uri="{FF2B5EF4-FFF2-40B4-BE49-F238E27FC236}">
                <a16:creationId xmlns:a16="http://schemas.microsoft.com/office/drawing/2014/main" xmlns="" id="{E876705C-F924-4A84-BE27-FF96F27A9FB9}"/>
              </a:ext>
            </a:extLst>
          </p:cNvPr>
          <p:cNvSpPr>
            <a:spLocks noGrp="1"/>
          </p:cNvSpPr>
          <p:nvPr>
            <p:ph idx="1"/>
          </p:nvPr>
        </p:nvSpPr>
        <p:spPr>
          <a:xfrm>
            <a:off x="838200" y="1713021"/>
            <a:ext cx="10515600" cy="4424308"/>
          </a:xfrm>
        </p:spPr>
        <p:txBody>
          <a:bodyPr>
            <a:normAutofit lnSpcReduction="10000"/>
          </a:bodyPr>
          <a:lstStyle/>
          <a:p>
            <a:pPr marL="0" indent="0">
              <a:buNone/>
            </a:pPr>
            <a:r>
              <a:rPr lang="fr-FR" sz="2800" b="1" dirty="0">
                <a:solidFill>
                  <a:srgbClr val="C00000"/>
                </a:solidFill>
              </a:rPr>
              <a:t>Problématique de la représentation des données</a:t>
            </a:r>
          </a:p>
          <a:p>
            <a:pPr marL="0" indent="0" algn="just">
              <a:buNone/>
            </a:pPr>
            <a:r>
              <a:rPr lang="fr-FR" sz="2400" b="1" dirty="0">
                <a:effectLst/>
                <a:ea typeface="Calibri" panose="020F0502020204030204" pitchFamily="34" charset="0"/>
              </a:rPr>
              <a:t>Une bonne représentation des données est celle qui respecte les conditions suivantes :</a:t>
            </a:r>
          </a:p>
          <a:p>
            <a:pPr algn="just">
              <a:buFont typeface="Wingdings" panose="05000000000000000000" pitchFamily="2" charset="2"/>
              <a:buChar char="Ø"/>
            </a:pPr>
            <a:r>
              <a:rPr lang="fr-FR" sz="2400" b="1" dirty="0">
                <a:effectLst/>
                <a:ea typeface="Calibri" panose="020F0502020204030204" pitchFamily="34" charset="0"/>
              </a:rPr>
              <a:t>Être capable de représenter individuellement les clients, les commandes et les produits, de manière qu’une action sur l’un n’entraîne pas systématiquement une action sur l’autre.</a:t>
            </a:r>
          </a:p>
          <a:p>
            <a:pPr algn="just">
              <a:buFont typeface="Wingdings" panose="05000000000000000000" pitchFamily="2" charset="2"/>
              <a:buChar char="Ø"/>
            </a:pPr>
            <a:r>
              <a:rPr lang="fr-FR" sz="2400" b="1" dirty="0">
                <a:effectLst/>
                <a:ea typeface="Calibri" panose="020F0502020204030204" pitchFamily="34" charset="0"/>
              </a:rPr>
              <a:t>Définir une méthode d’identification, d’un client, d’une commande et d’un produit, qui permette d’assurer que la même information soit représentée une seule fois.</a:t>
            </a:r>
          </a:p>
          <a:p>
            <a:pPr algn="just">
              <a:buFont typeface="Wingdings" panose="05000000000000000000" pitchFamily="2" charset="2"/>
              <a:buChar char="Ø"/>
            </a:pPr>
            <a:r>
              <a:rPr lang="fr-FR" sz="2400" b="1" dirty="0">
                <a:effectLst/>
                <a:ea typeface="Calibri" panose="020F0502020204030204" pitchFamily="34" charset="0"/>
              </a:rPr>
              <a:t>Préserver le lien entre les clients, les commandes et les produits, mais sans introduire de redondance. </a:t>
            </a:r>
          </a:p>
          <a:p>
            <a:pPr marL="0" indent="0">
              <a:buNone/>
            </a:pPr>
            <a:endParaRPr lang="fr-FR" sz="2800" b="1" dirty="0">
              <a:solidFill>
                <a:srgbClr val="C00000"/>
              </a:solidFill>
            </a:endParaRPr>
          </a:p>
        </p:txBody>
      </p:sp>
      <p:sp>
        <p:nvSpPr>
          <p:cNvPr id="14" name="Espace réservé du numéro de diapositive 13">
            <a:extLst>
              <a:ext uri="{FF2B5EF4-FFF2-40B4-BE49-F238E27FC236}">
                <a16:creationId xmlns:a16="http://schemas.microsoft.com/office/drawing/2014/main" xmlns="" id="{C0BAEC9F-5FA6-4A24-AF40-D5D78F494CFC}"/>
              </a:ext>
            </a:extLst>
          </p:cNvPr>
          <p:cNvSpPr>
            <a:spLocks noGrp="1"/>
          </p:cNvSpPr>
          <p:nvPr>
            <p:ph type="sldNum" sz="quarter" idx="12"/>
          </p:nvPr>
        </p:nvSpPr>
        <p:spPr/>
        <p:txBody>
          <a:bodyPr/>
          <a:lstStyle/>
          <a:p>
            <a:fld id="{15B59467-8B33-4B1A-8FFF-43B74E510468}" type="slidenum">
              <a:rPr lang="fr-FR" smtClean="0"/>
              <a:pPr/>
              <a:t>17</a:t>
            </a:fld>
            <a:endParaRPr lang="fr-FR"/>
          </a:p>
        </p:txBody>
      </p:sp>
      <p:sp>
        <p:nvSpPr>
          <p:cNvPr id="5" name="Titre 1">
            <a:extLst>
              <a:ext uri="{FF2B5EF4-FFF2-40B4-BE49-F238E27FC236}">
                <a16:creationId xmlns:a16="http://schemas.microsoft.com/office/drawing/2014/main" xmlns="" id="{3130BEAD-7D1D-4504-A0AE-5331EB2E62A2}"/>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1383738468"/>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xmlns="" id="{FF0748D3-736F-4DB8-82FE-30D9ECA6F7A9}"/>
              </a:ext>
            </a:extLst>
          </p:cNvPr>
          <p:cNvSpPr>
            <a:spLocks noGrp="1"/>
          </p:cNvSpPr>
          <p:nvPr>
            <p:ph type="sldNum" sz="quarter" idx="12"/>
          </p:nvPr>
        </p:nvSpPr>
        <p:spPr/>
        <p:txBody>
          <a:bodyPr/>
          <a:lstStyle/>
          <a:p>
            <a:fld id="{15B59467-8B33-4B1A-8FFF-43B74E510468}" type="slidenum">
              <a:rPr lang="fr-FR" smtClean="0"/>
              <a:pPr/>
              <a:t>18</a:t>
            </a:fld>
            <a:endParaRPr lang="fr-FR"/>
          </a:p>
        </p:txBody>
      </p:sp>
      <p:pic>
        <p:nvPicPr>
          <p:cNvPr id="3" name="Image 2">
            <a:extLst>
              <a:ext uri="{FF2B5EF4-FFF2-40B4-BE49-F238E27FC236}">
                <a16:creationId xmlns:a16="http://schemas.microsoft.com/office/drawing/2014/main" xmlns="" id="{E43690BB-1204-4925-918B-3D11671172D4}"/>
              </a:ext>
            </a:extLst>
          </p:cNvPr>
          <p:cNvPicPr>
            <a:picLocks noChangeAspect="1"/>
          </p:cNvPicPr>
          <p:nvPr/>
        </p:nvPicPr>
        <p:blipFill>
          <a:blip r:embed="rId2" cstate="print"/>
          <a:stretch>
            <a:fillRect/>
          </a:stretch>
        </p:blipFill>
        <p:spPr>
          <a:xfrm>
            <a:off x="6505712" y="1682123"/>
            <a:ext cx="3570768" cy="1336789"/>
          </a:xfrm>
          <a:prstGeom prst="rect">
            <a:avLst/>
          </a:prstGeom>
        </p:spPr>
      </p:pic>
      <p:pic>
        <p:nvPicPr>
          <p:cNvPr id="6" name="Image 5">
            <a:extLst>
              <a:ext uri="{FF2B5EF4-FFF2-40B4-BE49-F238E27FC236}">
                <a16:creationId xmlns:a16="http://schemas.microsoft.com/office/drawing/2014/main" xmlns="" id="{8194CF55-3330-45ED-890C-B3FF6E9EB18A}"/>
              </a:ext>
            </a:extLst>
          </p:cNvPr>
          <p:cNvPicPr>
            <a:picLocks noChangeAspect="1"/>
          </p:cNvPicPr>
          <p:nvPr/>
        </p:nvPicPr>
        <p:blipFill>
          <a:blip r:embed="rId3" cstate="print"/>
          <a:stretch>
            <a:fillRect/>
          </a:stretch>
        </p:blipFill>
        <p:spPr>
          <a:xfrm>
            <a:off x="865967" y="1711358"/>
            <a:ext cx="4544076" cy="1682349"/>
          </a:xfrm>
          <a:prstGeom prst="rect">
            <a:avLst/>
          </a:prstGeom>
        </p:spPr>
      </p:pic>
      <p:pic>
        <p:nvPicPr>
          <p:cNvPr id="8" name="Image 7">
            <a:extLst>
              <a:ext uri="{FF2B5EF4-FFF2-40B4-BE49-F238E27FC236}">
                <a16:creationId xmlns:a16="http://schemas.microsoft.com/office/drawing/2014/main" xmlns="" id="{F1630D27-B65C-4F7B-B487-F11E5F505E45}"/>
              </a:ext>
            </a:extLst>
          </p:cNvPr>
          <p:cNvPicPr>
            <a:picLocks noChangeAspect="1"/>
          </p:cNvPicPr>
          <p:nvPr/>
        </p:nvPicPr>
        <p:blipFill>
          <a:blip r:embed="rId4" cstate="print"/>
          <a:stretch>
            <a:fillRect/>
          </a:stretch>
        </p:blipFill>
        <p:spPr>
          <a:xfrm>
            <a:off x="865967" y="3525657"/>
            <a:ext cx="4544076" cy="1899949"/>
          </a:xfrm>
          <a:prstGeom prst="rect">
            <a:avLst/>
          </a:prstGeom>
        </p:spPr>
      </p:pic>
      <p:pic>
        <p:nvPicPr>
          <p:cNvPr id="10" name="Image 9">
            <a:extLst>
              <a:ext uri="{FF2B5EF4-FFF2-40B4-BE49-F238E27FC236}">
                <a16:creationId xmlns:a16="http://schemas.microsoft.com/office/drawing/2014/main" xmlns="" id="{D392EE3D-F9F6-40FF-9E73-DD00EB39291F}"/>
              </a:ext>
            </a:extLst>
          </p:cNvPr>
          <p:cNvPicPr>
            <a:picLocks noChangeAspect="1"/>
          </p:cNvPicPr>
          <p:nvPr/>
        </p:nvPicPr>
        <p:blipFill>
          <a:blip r:embed="rId5" cstate="print"/>
          <a:stretch>
            <a:fillRect/>
          </a:stretch>
        </p:blipFill>
        <p:spPr>
          <a:xfrm>
            <a:off x="6505712" y="3018913"/>
            <a:ext cx="4209775" cy="3164903"/>
          </a:xfrm>
          <a:prstGeom prst="rect">
            <a:avLst/>
          </a:prstGeom>
        </p:spPr>
      </p:pic>
      <p:sp>
        <p:nvSpPr>
          <p:cNvPr id="12" name="ZoneTexte 11">
            <a:extLst>
              <a:ext uri="{FF2B5EF4-FFF2-40B4-BE49-F238E27FC236}">
                <a16:creationId xmlns:a16="http://schemas.microsoft.com/office/drawing/2014/main" xmlns="" id="{91CA3E65-78A5-4779-B5C1-8712032D4F40}"/>
              </a:ext>
            </a:extLst>
          </p:cNvPr>
          <p:cNvSpPr txBox="1"/>
          <p:nvPr/>
        </p:nvSpPr>
        <p:spPr>
          <a:xfrm>
            <a:off x="1666067" y="6172583"/>
            <a:ext cx="8050350" cy="461665"/>
          </a:xfrm>
          <a:prstGeom prst="rect">
            <a:avLst/>
          </a:prstGeom>
          <a:noFill/>
        </p:spPr>
        <p:txBody>
          <a:bodyPr wrap="square" rtlCol="0">
            <a:spAutoFit/>
          </a:bodyPr>
          <a:lstStyle/>
          <a:p>
            <a:r>
              <a:rPr lang="fr-FR" sz="2400" b="1" dirty="0"/>
              <a:t>Reconstitution intégrale de l’information décomposée</a:t>
            </a:r>
          </a:p>
        </p:txBody>
      </p:sp>
      <p:sp>
        <p:nvSpPr>
          <p:cNvPr id="13" name="Flèche : droite 12">
            <a:extLst>
              <a:ext uri="{FF2B5EF4-FFF2-40B4-BE49-F238E27FC236}">
                <a16:creationId xmlns:a16="http://schemas.microsoft.com/office/drawing/2014/main" xmlns="" id="{318C3688-2B02-4BCA-8ADE-3AFA60024A0E}"/>
              </a:ext>
            </a:extLst>
          </p:cNvPr>
          <p:cNvSpPr/>
          <p:nvPr/>
        </p:nvSpPr>
        <p:spPr>
          <a:xfrm>
            <a:off x="865967" y="6270554"/>
            <a:ext cx="506186" cy="326572"/>
          </a:xfrm>
          <a:prstGeom prst="rightArrow">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Titre 1">
            <a:extLst>
              <a:ext uri="{FF2B5EF4-FFF2-40B4-BE49-F238E27FC236}">
                <a16:creationId xmlns:a16="http://schemas.microsoft.com/office/drawing/2014/main" xmlns="" id="{99CAE4F8-97CF-4719-A572-7EC7D444C41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48449979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xmlns="" id="{4619B7FD-48B7-4D82-B920-37B87634DCB7}"/>
              </a:ext>
            </a:extLst>
          </p:cNvPr>
          <p:cNvSpPr txBox="1"/>
          <p:nvPr/>
        </p:nvSpPr>
        <p:spPr>
          <a:xfrm>
            <a:off x="838200" y="1737182"/>
            <a:ext cx="10284229" cy="2616101"/>
          </a:xfrm>
          <a:prstGeom prst="rect">
            <a:avLst/>
          </a:prstGeom>
          <a:noFill/>
        </p:spPr>
        <p:txBody>
          <a:bodyPr wrap="square">
            <a:spAutoFit/>
          </a:bodyPr>
          <a:lstStyle/>
          <a:p>
            <a:pPr algn="just">
              <a:spcAft>
                <a:spcPts val="1800"/>
              </a:spcAft>
            </a:pPr>
            <a:r>
              <a:rPr lang="fr-FR" sz="2800" b="1" dirty="0">
                <a:solidFill>
                  <a:srgbClr val="C00000"/>
                </a:solidFill>
              </a:rPr>
              <a:t>Vocabulaire des bases de données : les tables </a:t>
            </a:r>
          </a:p>
          <a:p>
            <a:pPr algn="just">
              <a:spcBef>
                <a:spcPts val="600"/>
              </a:spcBef>
            </a:pPr>
            <a:r>
              <a:rPr lang="fr-FR" sz="2800" b="1" dirty="0"/>
              <a:t>Les TABLES constituent un objet principal d’une base de données</a:t>
            </a:r>
            <a:r>
              <a:rPr lang="fr-FR" sz="1800" b="0" i="0" dirty="0">
                <a:solidFill>
                  <a:srgbClr val="000000"/>
                </a:solidFill>
                <a:effectLst/>
                <a:latin typeface="Calibri" panose="020F0502020204030204" pitchFamily="34" charset="0"/>
              </a:rPr>
              <a:t>.</a:t>
            </a:r>
            <a:r>
              <a:rPr lang="fr-FR" sz="2800" dirty="0"/>
              <a:t> </a:t>
            </a:r>
            <a:br>
              <a:rPr lang="fr-FR" sz="2800" dirty="0"/>
            </a:br>
            <a:r>
              <a:rPr lang="fr-FR" sz="2800" b="1" i="0" dirty="0">
                <a:effectLst/>
              </a:rPr>
              <a:t>Une </a:t>
            </a:r>
            <a:r>
              <a:rPr lang="fr-FR" sz="3200" b="1" i="0" dirty="0">
                <a:effectLst/>
              </a:rPr>
              <a:t>table</a:t>
            </a:r>
            <a:r>
              <a:rPr lang="fr-FR" sz="2800" b="1" i="0" dirty="0">
                <a:effectLst/>
              </a:rPr>
              <a:t> se compose d’un ensemble de COLONNES , qui contiennent les différentes valeurs de données relatives à un attribut. </a:t>
            </a:r>
            <a:endParaRPr lang="fr-FR" sz="2800" b="1" dirty="0"/>
          </a:p>
        </p:txBody>
      </p:sp>
      <p:sp>
        <p:nvSpPr>
          <p:cNvPr id="6" name="Espace réservé du numéro de diapositive 5">
            <a:extLst>
              <a:ext uri="{FF2B5EF4-FFF2-40B4-BE49-F238E27FC236}">
                <a16:creationId xmlns:a16="http://schemas.microsoft.com/office/drawing/2014/main" xmlns="" id="{755BAB58-C462-4D35-BF1B-7DEF8A6F0CB8}"/>
              </a:ext>
            </a:extLst>
          </p:cNvPr>
          <p:cNvSpPr>
            <a:spLocks noGrp="1"/>
          </p:cNvSpPr>
          <p:nvPr>
            <p:ph type="sldNum" sz="quarter" idx="12"/>
          </p:nvPr>
        </p:nvSpPr>
        <p:spPr/>
        <p:txBody>
          <a:bodyPr/>
          <a:lstStyle/>
          <a:p>
            <a:fld id="{15B59467-8B33-4B1A-8FFF-43B74E510468}" type="slidenum">
              <a:rPr lang="fr-FR" smtClean="0"/>
              <a:pPr/>
              <a:t>19</a:t>
            </a:fld>
            <a:endParaRPr lang="fr-FR"/>
          </a:p>
        </p:txBody>
      </p:sp>
      <p:sp>
        <p:nvSpPr>
          <p:cNvPr id="5" name="Titre 1">
            <a:extLst>
              <a:ext uri="{FF2B5EF4-FFF2-40B4-BE49-F238E27FC236}">
                <a16:creationId xmlns:a16="http://schemas.microsoft.com/office/drawing/2014/main" xmlns="" id="{99344640-FE9E-4E7E-B5FC-17DB31C0180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3534758374"/>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xmlns="" id="{4619B7FD-48B7-4D82-B920-37B87634DCB7}"/>
              </a:ext>
            </a:extLst>
          </p:cNvPr>
          <p:cNvSpPr txBox="1"/>
          <p:nvPr/>
        </p:nvSpPr>
        <p:spPr>
          <a:xfrm>
            <a:off x="838200" y="1613271"/>
            <a:ext cx="10284229" cy="523220"/>
          </a:xfrm>
          <a:prstGeom prst="rect">
            <a:avLst/>
          </a:prstGeom>
          <a:noFill/>
        </p:spPr>
        <p:txBody>
          <a:bodyPr wrap="square">
            <a:spAutoFit/>
          </a:bodyPr>
          <a:lstStyle/>
          <a:p>
            <a:pPr algn="just">
              <a:spcAft>
                <a:spcPts val="1800"/>
              </a:spcAft>
            </a:pPr>
            <a:r>
              <a:rPr lang="fr-FR" sz="2800" b="1" dirty="0">
                <a:solidFill>
                  <a:srgbClr val="C00000"/>
                </a:solidFill>
              </a:rPr>
              <a:t>Vocabulaire des bases de données : les tables </a:t>
            </a:r>
          </a:p>
        </p:txBody>
      </p:sp>
      <p:pic>
        <p:nvPicPr>
          <p:cNvPr id="5" name="Image 4">
            <a:extLst>
              <a:ext uri="{FF2B5EF4-FFF2-40B4-BE49-F238E27FC236}">
                <a16:creationId xmlns:a16="http://schemas.microsoft.com/office/drawing/2014/main" xmlns="" id="{3D24A9E9-F759-45EB-9E9A-514AD5AE66D3}"/>
              </a:ext>
            </a:extLst>
          </p:cNvPr>
          <p:cNvPicPr>
            <a:picLocks noChangeAspect="1"/>
          </p:cNvPicPr>
          <p:nvPr/>
        </p:nvPicPr>
        <p:blipFill>
          <a:blip r:embed="rId2" cstate="print"/>
          <a:stretch>
            <a:fillRect/>
          </a:stretch>
        </p:blipFill>
        <p:spPr>
          <a:xfrm>
            <a:off x="2587102" y="2093378"/>
            <a:ext cx="6883441" cy="4615183"/>
          </a:xfrm>
          <a:prstGeom prst="rect">
            <a:avLst/>
          </a:prstGeom>
        </p:spPr>
      </p:pic>
      <p:sp>
        <p:nvSpPr>
          <p:cNvPr id="2" name="Rectangle 1">
            <a:extLst>
              <a:ext uri="{FF2B5EF4-FFF2-40B4-BE49-F238E27FC236}">
                <a16:creationId xmlns:a16="http://schemas.microsoft.com/office/drawing/2014/main" xmlns="" id="{A188DB39-69FA-4DE4-840F-ACDC480176A8}"/>
              </a:ext>
            </a:extLst>
          </p:cNvPr>
          <p:cNvSpPr/>
          <p:nvPr/>
        </p:nvSpPr>
        <p:spPr>
          <a:xfrm>
            <a:off x="2261060" y="2049441"/>
            <a:ext cx="7531331" cy="4746567"/>
          </a:xfrm>
          <a:prstGeom prst="rect">
            <a:avLst/>
          </a:prstGeom>
          <a:noFill/>
          <a:ln w="28575">
            <a:solidFill>
              <a:srgbClr val="C0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a:p>
        </p:txBody>
      </p:sp>
      <p:sp>
        <p:nvSpPr>
          <p:cNvPr id="3" name="Espace réservé du numéro de diapositive 2">
            <a:extLst>
              <a:ext uri="{FF2B5EF4-FFF2-40B4-BE49-F238E27FC236}">
                <a16:creationId xmlns:a16="http://schemas.microsoft.com/office/drawing/2014/main" xmlns="" id="{8BD36B08-2E81-42A5-9830-33B6FB83EB37}"/>
              </a:ext>
            </a:extLst>
          </p:cNvPr>
          <p:cNvSpPr>
            <a:spLocks noGrp="1"/>
          </p:cNvSpPr>
          <p:nvPr>
            <p:ph type="sldNum" sz="quarter" idx="12"/>
          </p:nvPr>
        </p:nvSpPr>
        <p:spPr/>
        <p:txBody>
          <a:bodyPr/>
          <a:lstStyle/>
          <a:p>
            <a:fld id="{15B59467-8B33-4B1A-8FFF-43B74E510468}" type="slidenum">
              <a:rPr lang="fr-FR" smtClean="0"/>
              <a:pPr/>
              <a:t>20</a:t>
            </a:fld>
            <a:endParaRPr lang="fr-FR"/>
          </a:p>
        </p:txBody>
      </p:sp>
      <p:sp>
        <p:nvSpPr>
          <p:cNvPr id="7" name="Titre 1">
            <a:extLst>
              <a:ext uri="{FF2B5EF4-FFF2-40B4-BE49-F238E27FC236}">
                <a16:creationId xmlns:a16="http://schemas.microsoft.com/office/drawing/2014/main" xmlns="" id="{B69E7E27-C627-43E6-9214-E71F23BC6A1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3968687895"/>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xmlns="" id="{ACCC07BF-E4C8-417D-8FF2-A435F7490464}"/>
              </a:ext>
            </a:extLst>
          </p:cNvPr>
          <p:cNvSpPr txBox="1"/>
          <p:nvPr/>
        </p:nvSpPr>
        <p:spPr>
          <a:xfrm>
            <a:off x="838200" y="1679771"/>
            <a:ext cx="10284229" cy="1184940"/>
          </a:xfrm>
          <a:prstGeom prst="rect">
            <a:avLst/>
          </a:prstGeom>
          <a:noFill/>
        </p:spPr>
        <p:txBody>
          <a:bodyPr wrap="square">
            <a:spAutoFit/>
          </a:bodyPr>
          <a:lstStyle/>
          <a:p>
            <a:pPr algn="just">
              <a:spcAft>
                <a:spcPts val="1800"/>
              </a:spcAft>
            </a:pPr>
            <a:r>
              <a:rPr lang="fr-FR" sz="2800" b="1" dirty="0">
                <a:solidFill>
                  <a:srgbClr val="C00000"/>
                </a:solidFill>
              </a:rPr>
              <a:t>Vocabulaire des bases de données : les enregistrements </a:t>
            </a:r>
          </a:p>
          <a:p>
            <a:r>
              <a:rPr lang="fr-FR" sz="2800" b="1" dirty="0"/>
              <a:t>Les enregistrements correspondent aux données saisies (= ligne).</a:t>
            </a:r>
          </a:p>
        </p:txBody>
      </p:sp>
      <p:sp>
        <p:nvSpPr>
          <p:cNvPr id="7" name="Espace réservé du numéro de diapositive 6">
            <a:extLst>
              <a:ext uri="{FF2B5EF4-FFF2-40B4-BE49-F238E27FC236}">
                <a16:creationId xmlns:a16="http://schemas.microsoft.com/office/drawing/2014/main" xmlns="" id="{BB165F84-2D62-4298-A270-3F75152BFF5D}"/>
              </a:ext>
            </a:extLst>
          </p:cNvPr>
          <p:cNvSpPr>
            <a:spLocks noGrp="1"/>
          </p:cNvSpPr>
          <p:nvPr>
            <p:ph type="sldNum" sz="quarter" idx="12"/>
          </p:nvPr>
        </p:nvSpPr>
        <p:spPr/>
        <p:txBody>
          <a:bodyPr/>
          <a:lstStyle/>
          <a:p>
            <a:fld id="{15B59467-8B33-4B1A-8FFF-43B74E510468}" type="slidenum">
              <a:rPr lang="fr-FR" smtClean="0"/>
              <a:pPr/>
              <a:t>21</a:t>
            </a:fld>
            <a:endParaRPr lang="fr-FR"/>
          </a:p>
        </p:txBody>
      </p:sp>
      <p:sp>
        <p:nvSpPr>
          <p:cNvPr id="6" name="Titre 1">
            <a:extLst>
              <a:ext uri="{FF2B5EF4-FFF2-40B4-BE49-F238E27FC236}">
                <a16:creationId xmlns:a16="http://schemas.microsoft.com/office/drawing/2014/main" xmlns="" id="{235306A3-3FBC-439B-8697-1C562A55BD2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1209472623"/>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xmlns="" id="{ACCC07BF-E4C8-417D-8FF2-A435F7490464}"/>
              </a:ext>
            </a:extLst>
          </p:cNvPr>
          <p:cNvSpPr txBox="1"/>
          <p:nvPr/>
        </p:nvSpPr>
        <p:spPr>
          <a:xfrm>
            <a:off x="838200" y="1679771"/>
            <a:ext cx="10284229" cy="523220"/>
          </a:xfrm>
          <a:prstGeom prst="rect">
            <a:avLst/>
          </a:prstGeom>
          <a:noFill/>
        </p:spPr>
        <p:txBody>
          <a:bodyPr wrap="square">
            <a:spAutoFit/>
          </a:bodyPr>
          <a:lstStyle/>
          <a:p>
            <a:pPr algn="just">
              <a:spcAft>
                <a:spcPts val="1800"/>
              </a:spcAft>
            </a:pPr>
            <a:r>
              <a:rPr lang="fr-FR" sz="2800" b="1" dirty="0">
                <a:solidFill>
                  <a:srgbClr val="C00000"/>
                </a:solidFill>
              </a:rPr>
              <a:t>Vocabulaire des bases de données : les enregistrements </a:t>
            </a:r>
          </a:p>
        </p:txBody>
      </p:sp>
      <p:pic>
        <p:nvPicPr>
          <p:cNvPr id="6" name="Image 5">
            <a:extLst>
              <a:ext uri="{FF2B5EF4-FFF2-40B4-BE49-F238E27FC236}">
                <a16:creationId xmlns:a16="http://schemas.microsoft.com/office/drawing/2014/main" xmlns="" id="{B8FFE4A8-5BE7-4328-8E70-47C2339A2A50}"/>
              </a:ext>
            </a:extLst>
          </p:cNvPr>
          <p:cNvPicPr>
            <a:picLocks noChangeAspect="1"/>
          </p:cNvPicPr>
          <p:nvPr/>
        </p:nvPicPr>
        <p:blipFill>
          <a:blip r:embed="rId2" cstate="print"/>
          <a:stretch>
            <a:fillRect/>
          </a:stretch>
        </p:blipFill>
        <p:spPr>
          <a:xfrm>
            <a:off x="2613596" y="2236241"/>
            <a:ext cx="6883441" cy="4615183"/>
          </a:xfrm>
          <a:prstGeom prst="rect">
            <a:avLst/>
          </a:prstGeom>
        </p:spPr>
      </p:pic>
      <p:sp>
        <p:nvSpPr>
          <p:cNvPr id="7" name="Rectangle 6">
            <a:extLst>
              <a:ext uri="{FF2B5EF4-FFF2-40B4-BE49-F238E27FC236}">
                <a16:creationId xmlns:a16="http://schemas.microsoft.com/office/drawing/2014/main" xmlns="" id="{DE514835-A5DF-4182-BBE7-652384B064F3}"/>
              </a:ext>
            </a:extLst>
          </p:cNvPr>
          <p:cNvSpPr/>
          <p:nvPr/>
        </p:nvSpPr>
        <p:spPr>
          <a:xfrm>
            <a:off x="2338647" y="2922209"/>
            <a:ext cx="7448205" cy="207219"/>
          </a:xfrm>
          <a:prstGeom prst="rect">
            <a:avLst/>
          </a:prstGeom>
          <a:noFill/>
          <a:ln w="28575">
            <a:solidFill>
              <a:srgbClr val="C0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a:p>
        </p:txBody>
      </p:sp>
      <p:sp>
        <p:nvSpPr>
          <p:cNvPr id="2" name="Espace réservé du numéro de diapositive 1">
            <a:extLst>
              <a:ext uri="{FF2B5EF4-FFF2-40B4-BE49-F238E27FC236}">
                <a16:creationId xmlns:a16="http://schemas.microsoft.com/office/drawing/2014/main" xmlns="" id="{DA20E04E-F5EF-4A3B-9E05-12E08AF4B1D0}"/>
              </a:ext>
            </a:extLst>
          </p:cNvPr>
          <p:cNvSpPr>
            <a:spLocks noGrp="1"/>
          </p:cNvSpPr>
          <p:nvPr>
            <p:ph type="sldNum" sz="quarter" idx="12"/>
          </p:nvPr>
        </p:nvSpPr>
        <p:spPr/>
        <p:txBody>
          <a:bodyPr/>
          <a:lstStyle/>
          <a:p>
            <a:fld id="{15B59467-8B33-4B1A-8FFF-43B74E510468}" type="slidenum">
              <a:rPr lang="fr-FR" smtClean="0"/>
              <a:pPr/>
              <a:t>22</a:t>
            </a:fld>
            <a:endParaRPr lang="fr-FR"/>
          </a:p>
        </p:txBody>
      </p:sp>
      <p:sp>
        <p:nvSpPr>
          <p:cNvPr id="8" name="Titre 1">
            <a:extLst>
              <a:ext uri="{FF2B5EF4-FFF2-40B4-BE49-F238E27FC236}">
                <a16:creationId xmlns:a16="http://schemas.microsoft.com/office/drawing/2014/main" xmlns="" id="{4798DFBB-2AE3-4657-A78D-C718829174AC}"/>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1539497097"/>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xmlns="" id="{ACCC07BF-E4C8-417D-8FF2-A435F7490464}"/>
              </a:ext>
            </a:extLst>
          </p:cNvPr>
          <p:cNvSpPr txBox="1"/>
          <p:nvPr/>
        </p:nvSpPr>
        <p:spPr>
          <a:xfrm>
            <a:off x="838200" y="1713021"/>
            <a:ext cx="10284229" cy="523220"/>
          </a:xfrm>
          <a:prstGeom prst="rect">
            <a:avLst/>
          </a:prstGeom>
          <a:noFill/>
        </p:spPr>
        <p:txBody>
          <a:bodyPr wrap="square">
            <a:spAutoFit/>
          </a:bodyPr>
          <a:lstStyle/>
          <a:p>
            <a:pPr algn="just">
              <a:spcAft>
                <a:spcPts val="1800"/>
              </a:spcAft>
            </a:pPr>
            <a:r>
              <a:rPr lang="fr-FR" sz="2800" b="1" dirty="0">
                <a:solidFill>
                  <a:srgbClr val="C00000"/>
                </a:solidFill>
              </a:rPr>
              <a:t>Vocabulaire des bases de données : Clé primaire</a:t>
            </a:r>
          </a:p>
        </p:txBody>
      </p:sp>
      <p:sp>
        <p:nvSpPr>
          <p:cNvPr id="7" name="ZoneTexte 6">
            <a:extLst>
              <a:ext uri="{FF2B5EF4-FFF2-40B4-BE49-F238E27FC236}">
                <a16:creationId xmlns:a16="http://schemas.microsoft.com/office/drawing/2014/main" xmlns="" id="{E6265E62-D555-4BD5-9478-E4438D268FED}"/>
              </a:ext>
            </a:extLst>
          </p:cNvPr>
          <p:cNvSpPr txBox="1"/>
          <p:nvPr/>
        </p:nvSpPr>
        <p:spPr>
          <a:xfrm>
            <a:off x="953885" y="2261856"/>
            <a:ext cx="10284229" cy="954107"/>
          </a:xfrm>
          <a:prstGeom prst="rect">
            <a:avLst/>
          </a:prstGeom>
          <a:noFill/>
        </p:spPr>
        <p:txBody>
          <a:bodyPr wrap="square">
            <a:spAutoFit/>
          </a:bodyPr>
          <a:lstStyle/>
          <a:p>
            <a:pPr algn="just"/>
            <a:r>
              <a:rPr lang="fr-FR" sz="2800" b="1" dirty="0"/>
              <a:t>Une clé primaire est la donnée qui permet d'identifier de manière unique un enregistrement dans une table. </a:t>
            </a:r>
          </a:p>
        </p:txBody>
      </p:sp>
      <p:sp>
        <p:nvSpPr>
          <p:cNvPr id="2" name="Espace réservé du numéro de diapositive 1">
            <a:extLst>
              <a:ext uri="{FF2B5EF4-FFF2-40B4-BE49-F238E27FC236}">
                <a16:creationId xmlns:a16="http://schemas.microsoft.com/office/drawing/2014/main" xmlns="" id="{1BBDA68E-0982-4126-BA37-9E0256AA2157}"/>
              </a:ext>
            </a:extLst>
          </p:cNvPr>
          <p:cNvSpPr>
            <a:spLocks noGrp="1"/>
          </p:cNvSpPr>
          <p:nvPr>
            <p:ph type="sldNum" sz="quarter" idx="12"/>
          </p:nvPr>
        </p:nvSpPr>
        <p:spPr/>
        <p:txBody>
          <a:bodyPr/>
          <a:lstStyle/>
          <a:p>
            <a:fld id="{15B59467-8B33-4B1A-8FFF-43B74E510468}" type="slidenum">
              <a:rPr lang="fr-FR" smtClean="0"/>
              <a:pPr/>
              <a:t>23</a:t>
            </a:fld>
            <a:endParaRPr lang="fr-FR"/>
          </a:p>
        </p:txBody>
      </p:sp>
      <p:sp>
        <p:nvSpPr>
          <p:cNvPr id="6" name="Titre 1">
            <a:extLst>
              <a:ext uri="{FF2B5EF4-FFF2-40B4-BE49-F238E27FC236}">
                <a16:creationId xmlns:a16="http://schemas.microsoft.com/office/drawing/2014/main" xmlns="" id="{9C2DC8A8-AAA7-440E-A60A-FB8DFB68D09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54072048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xmlns="" id="{ACCC07BF-E4C8-417D-8FF2-A435F7490464}"/>
              </a:ext>
            </a:extLst>
          </p:cNvPr>
          <p:cNvSpPr txBox="1"/>
          <p:nvPr/>
        </p:nvSpPr>
        <p:spPr>
          <a:xfrm>
            <a:off x="838200" y="1713021"/>
            <a:ext cx="10284229" cy="523220"/>
          </a:xfrm>
          <a:prstGeom prst="rect">
            <a:avLst/>
          </a:prstGeom>
          <a:noFill/>
        </p:spPr>
        <p:txBody>
          <a:bodyPr wrap="square">
            <a:spAutoFit/>
          </a:bodyPr>
          <a:lstStyle/>
          <a:p>
            <a:pPr algn="just">
              <a:spcAft>
                <a:spcPts val="1800"/>
              </a:spcAft>
            </a:pPr>
            <a:r>
              <a:rPr lang="fr-FR" sz="2800" b="1" dirty="0">
                <a:solidFill>
                  <a:srgbClr val="C00000"/>
                </a:solidFill>
              </a:rPr>
              <a:t>Vocabulaire des bases de données : Clé primaire</a:t>
            </a:r>
          </a:p>
        </p:txBody>
      </p:sp>
      <p:pic>
        <p:nvPicPr>
          <p:cNvPr id="6" name="Image 5">
            <a:extLst>
              <a:ext uri="{FF2B5EF4-FFF2-40B4-BE49-F238E27FC236}">
                <a16:creationId xmlns:a16="http://schemas.microsoft.com/office/drawing/2014/main" xmlns="" id="{B8FFE4A8-5BE7-4328-8E70-47C2339A2A50}"/>
              </a:ext>
            </a:extLst>
          </p:cNvPr>
          <p:cNvPicPr>
            <a:picLocks noChangeAspect="1"/>
          </p:cNvPicPr>
          <p:nvPr/>
        </p:nvPicPr>
        <p:blipFill>
          <a:blip r:embed="rId2" cstate="print"/>
          <a:stretch>
            <a:fillRect/>
          </a:stretch>
        </p:blipFill>
        <p:spPr>
          <a:xfrm>
            <a:off x="2613596" y="2236241"/>
            <a:ext cx="6883441" cy="4615183"/>
          </a:xfrm>
          <a:prstGeom prst="rect">
            <a:avLst/>
          </a:prstGeom>
        </p:spPr>
      </p:pic>
      <p:sp>
        <p:nvSpPr>
          <p:cNvPr id="9" name="Rectangle 8">
            <a:extLst>
              <a:ext uri="{FF2B5EF4-FFF2-40B4-BE49-F238E27FC236}">
                <a16:creationId xmlns:a16="http://schemas.microsoft.com/office/drawing/2014/main" xmlns="" id="{E486AC01-C197-4961-9FA4-30A9C00031EA}"/>
              </a:ext>
            </a:extLst>
          </p:cNvPr>
          <p:cNvSpPr/>
          <p:nvPr/>
        </p:nvSpPr>
        <p:spPr>
          <a:xfrm>
            <a:off x="2351491" y="2460568"/>
            <a:ext cx="1762298" cy="423349"/>
          </a:xfrm>
          <a:prstGeom prst="rect">
            <a:avLst/>
          </a:prstGeom>
          <a:solidFill>
            <a:srgbClr val="EBE9D9"/>
          </a:solidFill>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b="1" dirty="0"/>
              <a:t>Code client</a:t>
            </a:r>
          </a:p>
        </p:txBody>
      </p:sp>
      <p:sp>
        <p:nvSpPr>
          <p:cNvPr id="10" name="Espace réservé du numéro de diapositive 9">
            <a:extLst>
              <a:ext uri="{FF2B5EF4-FFF2-40B4-BE49-F238E27FC236}">
                <a16:creationId xmlns:a16="http://schemas.microsoft.com/office/drawing/2014/main" xmlns="" id="{03D4E034-47DE-4B4C-8700-BCAF9D9AE8FC}"/>
              </a:ext>
            </a:extLst>
          </p:cNvPr>
          <p:cNvSpPr>
            <a:spLocks noGrp="1"/>
          </p:cNvSpPr>
          <p:nvPr>
            <p:ph type="sldNum" sz="quarter" idx="12"/>
          </p:nvPr>
        </p:nvSpPr>
        <p:spPr/>
        <p:txBody>
          <a:bodyPr/>
          <a:lstStyle/>
          <a:p>
            <a:fld id="{15B59467-8B33-4B1A-8FFF-43B74E510468}" type="slidenum">
              <a:rPr lang="fr-FR" smtClean="0"/>
              <a:pPr/>
              <a:t>24</a:t>
            </a:fld>
            <a:endParaRPr lang="fr-FR"/>
          </a:p>
        </p:txBody>
      </p:sp>
      <p:sp>
        <p:nvSpPr>
          <p:cNvPr id="7" name="Titre 1">
            <a:extLst>
              <a:ext uri="{FF2B5EF4-FFF2-40B4-BE49-F238E27FC236}">
                <a16:creationId xmlns:a16="http://schemas.microsoft.com/office/drawing/2014/main" xmlns="" id="{1E513D0C-8313-44EF-98FB-BE600903233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solidFill>
                  <a:schemeClr val="accent5"/>
                </a:solidFill>
              </a:rPr>
              <a:t>Introduction aux bases de données</a:t>
            </a:r>
          </a:p>
        </p:txBody>
      </p:sp>
    </p:spTree>
    <p:extLst>
      <p:ext uri="{BB962C8B-B14F-4D97-AF65-F5344CB8AC3E}">
        <p14:creationId xmlns:p14="http://schemas.microsoft.com/office/powerpoint/2010/main" xmlns="" val="384855282"/>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a:t>
            </a:r>
          </a:p>
        </p:txBody>
      </p:sp>
      <p:sp>
        <p:nvSpPr>
          <p:cNvPr id="10" name="Espace réservé du numéro de diapositive 9">
            <a:extLst>
              <a:ext uri="{FF2B5EF4-FFF2-40B4-BE49-F238E27FC236}">
                <a16:creationId xmlns:a16="http://schemas.microsoft.com/office/drawing/2014/main" xmlns="" id="{876F76FE-B54D-4A3B-A91A-885DF48B7222}"/>
              </a:ext>
            </a:extLst>
          </p:cNvPr>
          <p:cNvSpPr>
            <a:spLocks noGrp="1"/>
          </p:cNvSpPr>
          <p:nvPr>
            <p:ph type="sldNum" sz="quarter" idx="12"/>
          </p:nvPr>
        </p:nvSpPr>
        <p:spPr/>
        <p:txBody>
          <a:bodyPr/>
          <a:lstStyle/>
          <a:p>
            <a:fld id="{15B59467-8B33-4B1A-8FFF-43B74E510468}" type="slidenum">
              <a:rPr lang="fr-FR" smtClean="0"/>
              <a:pPr/>
              <a:t>25</a:t>
            </a:fld>
            <a:endParaRPr lang="fr-FR"/>
          </a:p>
        </p:txBody>
      </p:sp>
      <p:graphicFrame>
        <p:nvGraphicFramePr>
          <p:cNvPr id="6" name="Diagramme 5">
            <a:extLst>
              <a:ext uri="{FF2B5EF4-FFF2-40B4-BE49-F238E27FC236}">
                <a16:creationId xmlns:a16="http://schemas.microsoft.com/office/drawing/2014/main" xmlns="" id="{3177824A-FAC9-4984-B6F2-2F9F5B490D6E}"/>
              </a:ext>
            </a:extLst>
          </p:cNvPr>
          <p:cNvGraphicFramePr/>
          <p:nvPr>
            <p:extLst>
              <p:ext uri="{D42A27DB-BD31-4B8C-83A1-F6EECF244321}">
                <p14:modId xmlns:p14="http://schemas.microsoft.com/office/powerpoint/2010/main" xmlns="" val="617861041"/>
              </p:ext>
            </p:extLst>
          </p:nvPr>
        </p:nvGraphicFramePr>
        <p:xfrm>
          <a:off x="838200" y="1286359"/>
          <a:ext cx="10625380" cy="2496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 carré corné 6">
            <a:extLst>
              <a:ext uri="{FF2B5EF4-FFF2-40B4-BE49-F238E27FC236}">
                <a16:creationId xmlns:a16="http://schemas.microsoft.com/office/drawing/2014/main" xmlns="" id="{DDF3B1B0-BFB0-4BB1-98A2-7049E068A48A}"/>
              </a:ext>
            </a:extLst>
          </p:cNvPr>
          <p:cNvSpPr/>
          <p:nvPr/>
        </p:nvSpPr>
        <p:spPr>
          <a:xfrm>
            <a:off x="838200" y="3525905"/>
            <a:ext cx="3377339" cy="2709917"/>
          </a:xfrm>
          <a:prstGeom prst="foldedCorner">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fr-FR" sz="2200" b="1" i="0" dirty="0">
                <a:solidFill>
                  <a:schemeClr val="bg1"/>
                </a:solidFill>
                <a:effectLst/>
                <a:ea typeface="Calibri" panose="020F0502020204030204" pitchFamily="34" charset="0"/>
                <a:cs typeface="Arial" panose="020B0604020202020204" pitchFamily="34" charset="0"/>
              </a:rPr>
              <a:t>Modélisation des données à partir des besoins et de l'existant, sous la forme d'un schéma conceptuel (étape d'abstraction)</a:t>
            </a:r>
            <a:endParaRPr lang="fr-FR" sz="2200" b="1" dirty="0">
              <a:solidFill>
                <a:schemeClr val="bg1"/>
              </a:solidFill>
              <a:effectLst/>
              <a:ea typeface="Calibri" panose="020F0502020204030204" pitchFamily="34" charset="0"/>
            </a:endParaRPr>
          </a:p>
        </p:txBody>
      </p:sp>
      <p:sp>
        <p:nvSpPr>
          <p:cNvPr id="8" name="Rectangle : carré corné 7">
            <a:extLst>
              <a:ext uri="{FF2B5EF4-FFF2-40B4-BE49-F238E27FC236}">
                <a16:creationId xmlns:a16="http://schemas.microsoft.com/office/drawing/2014/main" xmlns="" id="{FD06F98B-7A50-4DF2-9571-7205BFF396A2}"/>
              </a:ext>
            </a:extLst>
          </p:cNvPr>
          <p:cNvSpPr/>
          <p:nvPr/>
        </p:nvSpPr>
        <p:spPr>
          <a:xfrm>
            <a:off x="4301110" y="3525905"/>
            <a:ext cx="3377339" cy="2709917"/>
          </a:xfrm>
          <a:prstGeom prst="foldedCorner">
            <a:avLst/>
          </a:prstGeom>
        </p:spPr>
        <p:style>
          <a:lnRef idx="3">
            <a:schemeClr val="lt1"/>
          </a:lnRef>
          <a:fillRef idx="1">
            <a:schemeClr val="accent3"/>
          </a:fillRef>
          <a:effectRef idx="1">
            <a:schemeClr val="accent3"/>
          </a:effectRef>
          <a:fontRef idx="minor">
            <a:schemeClr val="lt1"/>
          </a:fontRef>
        </p:style>
        <p:txBody>
          <a:bodyPr rtlCol="0" anchor="ctr"/>
          <a:lstStyle/>
          <a:p>
            <a:pPr algn="ctr">
              <a:spcBef>
                <a:spcPts val="600"/>
              </a:spcBef>
            </a:pPr>
            <a:endParaRPr lang="fr-FR" sz="2200" b="1" dirty="0">
              <a:solidFill>
                <a:schemeClr val="bg1"/>
              </a:solidFill>
              <a:cs typeface="Arial" panose="020B0604020202020204" pitchFamily="34" charset="0"/>
            </a:endParaRPr>
          </a:p>
          <a:p>
            <a:pPr algn="ctr"/>
            <a:r>
              <a:rPr lang="fr-FR" sz="2200" b="1" dirty="0">
                <a:solidFill>
                  <a:schemeClr val="bg1"/>
                </a:solidFill>
                <a:cs typeface="Arial" panose="020B0604020202020204" pitchFamily="34" charset="0"/>
              </a:rPr>
              <a:t>Traduction du schéma conceptuel selon le modèle de base de données</a:t>
            </a:r>
            <a:br>
              <a:rPr lang="fr-FR" sz="2200" b="1" dirty="0">
                <a:solidFill>
                  <a:schemeClr val="bg1"/>
                </a:solidFill>
                <a:cs typeface="Arial" panose="020B0604020202020204" pitchFamily="34" charset="0"/>
              </a:rPr>
            </a:br>
            <a:r>
              <a:rPr lang="fr-FR" sz="2200" b="1" dirty="0">
                <a:solidFill>
                  <a:schemeClr val="bg1"/>
                </a:solidFill>
                <a:cs typeface="Arial" panose="020B0604020202020204" pitchFamily="34" charset="0"/>
              </a:rPr>
              <a:t>sous la forme d'un schéma logique (étape automatisable) </a:t>
            </a:r>
            <a:endParaRPr lang="fr-FR" sz="2200" b="1" dirty="0">
              <a:solidFill>
                <a:schemeClr val="bg1"/>
              </a:solidFill>
              <a:effectLst/>
              <a:ea typeface="Calibri" panose="020F0502020204030204" pitchFamily="34" charset="0"/>
              <a:cs typeface="Arial" panose="020B0604020202020204" pitchFamily="34" charset="0"/>
            </a:endParaRPr>
          </a:p>
        </p:txBody>
      </p:sp>
      <p:sp>
        <p:nvSpPr>
          <p:cNvPr id="9" name="Rectangle : carré corné 8">
            <a:extLst>
              <a:ext uri="{FF2B5EF4-FFF2-40B4-BE49-F238E27FC236}">
                <a16:creationId xmlns:a16="http://schemas.microsoft.com/office/drawing/2014/main" xmlns="" id="{1F231B63-5E72-4AB5-9FF5-41672E80C3DF}"/>
              </a:ext>
            </a:extLst>
          </p:cNvPr>
          <p:cNvSpPr/>
          <p:nvPr/>
        </p:nvSpPr>
        <p:spPr>
          <a:xfrm>
            <a:off x="7802883" y="3533583"/>
            <a:ext cx="3377339" cy="2709917"/>
          </a:xfrm>
          <a:prstGeom prst="foldedCorner">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sz="2200" b="1" dirty="0">
              <a:solidFill>
                <a:schemeClr val="bg1"/>
              </a:solidFill>
              <a:cs typeface="Arial" panose="020B0604020202020204" pitchFamily="34" charset="0"/>
            </a:endParaRPr>
          </a:p>
          <a:p>
            <a:pPr algn="ctr"/>
            <a:r>
              <a:rPr lang="fr-FR" sz="2200" b="1" dirty="0">
                <a:solidFill>
                  <a:schemeClr val="bg1"/>
                </a:solidFill>
                <a:cs typeface="Arial" panose="020B0604020202020204" pitchFamily="34" charset="0"/>
              </a:rPr>
              <a:t>Optimisation du schéma logique en un schéma physique mis en place</a:t>
            </a:r>
            <a:br>
              <a:rPr lang="fr-FR" sz="2200" b="1" dirty="0">
                <a:solidFill>
                  <a:schemeClr val="bg1"/>
                </a:solidFill>
                <a:cs typeface="Arial" panose="020B0604020202020204" pitchFamily="34" charset="0"/>
              </a:rPr>
            </a:br>
            <a:r>
              <a:rPr lang="fr-FR" sz="2200" b="1" dirty="0">
                <a:solidFill>
                  <a:schemeClr val="bg1"/>
                </a:solidFill>
                <a:cs typeface="Arial" panose="020B0604020202020204" pitchFamily="34" charset="0"/>
              </a:rPr>
              <a:t>dans un SGBD avec production de code complémentaire </a:t>
            </a:r>
            <a:endParaRPr lang="fr-FR" sz="2200" b="1" dirty="0">
              <a:solidFill>
                <a:schemeClr val="bg1"/>
              </a:solidFill>
              <a:effectLs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xmlns="" val="1242672017"/>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7"/>
                                        </p:tgtEl>
                                        <p:attrNameLst>
                                          <p:attrName>style.visibility</p:attrName>
                                        </p:attrNameLst>
                                      </p:cBhvr>
                                      <p:to>
                                        <p:strVal val="hidden"/>
                                      </p:to>
                                    </p:set>
                                  </p:childTnLst>
                                </p:cTn>
                              </p:par>
                            </p:childTnLst>
                          </p:cTn>
                        </p:par>
                        <p:par>
                          <p:cTn id="14" fill="hold">
                            <p:stCondLst>
                              <p:cond delay="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8"/>
                                        </p:tgtEl>
                                        <p:attrNameLst>
                                          <p:attrName>style.visibility</p:attrName>
                                        </p:attrNameLst>
                                      </p:cBhvr>
                                      <p:to>
                                        <p:strVal val="hidden"/>
                                      </p:to>
                                    </p:set>
                                  </p:childTnLst>
                                </p:cTn>
                              </p:par>
                            </p:childTnLst>
                          </p:cTn>
                        </p:par>
                        <p:par>
                          <p:cTn id="24" fill="hold">
                            <p:stCondLst>
                              <p:cond delay="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554AC854-2A44-415D-9FC5-5A4F15708027}"/>
              </a:ext>
            </a:extLst>
          </p:cNvPr>
          <p:cNvSpPr>
            <a:spLocks noGrp="1"/>
          </p:cNvSpPr>
          <p:nvPr>
            <p:ph idx="1"/>
          </p:nvPr>
        </p:nvSpPr>
        <p:spPr>
          <a:xfrm>
            <a:off x="904700" y="1825625"/>
            <a:ext cx="10515600" cy="4351338"/>
          </a:xfrm>
        </p:spPr>
        <p:txBody>
          <a:bodyPr>
            <a:normAutofit/>
          </a:bodyPr>
          <a:lstStyle/>
          <a:p>
            <a:pPr marL="0" indent="0" algn="just">
              <a:lnSpc>
                <a:spcPct val="100000"/>
              </a:lnSpc>
              <a:spcAft>
                <a:spcPts val="1800"/>
              </a:spcAft>
              <a:buNone/>
            </a:pPr>
            <a:r>
              <a:rPr lang="fr-FR" b="1" dirty="0">
                <a:solidFill>
                  <a:srgbClr val="FF0000"/>
                </a:solidFill>
                <a:effectLst/>
                <a:ea typeface="Times New Roman" panose="02020603050405020304" pitchFamily="18" charset="0"/>
              </a:rPr>
              <a:t>Modèle conceptuel de données (MCD)</a:t>
            </a:r>
          </a:p>
          <a:p>
            <a:pPr algn="just">
              <a:lnSpc>
                <a:spcPct val="100000"/>
              </a:lnSpc>
              <a:spcAft>
                <a:spcPts val="1200"/>
              </a:spcAft>
            </a:pPr>
            <a:r>
              <a:rPr lang="fr-FR" dirty="0">
                <a:solidFill>
                  <a:srgbClr val="000000"/>
                </a:solidFill>
                <a:ea typeface="Times New Roman" panose="02020603050405020304" pitchFamily="18" charset="0"/>
              </a:rPr>
              <a:t>P</a:t>
            </a:r>
            <a:r>
              <a:rPr lang="fr-FR" dirty="0">
                <a:solidFill>
                  <a:srgbClr val="000000"/>
                </a:solidFill>
                <a:effectLst/>
                <a:ea typeface="Times New Roman" panose="02020603050405020304" pitchFamily="18" charset="0"/>
              </a:rPr>
              <a:t>ermet de modéliser la </a:t>
            </a:r>
            <a:r>
              <a:rPr lang="fr-FR" b="1" dirty="0">
                <a:solidFill>
                  <a:srgbClr val="000000"/>
                </a:solidFill>
                <a:effectLst/>
                <a:ea typeface="Times New Roman" panose="02020603050405020304" pitchFamily="18" charset="0"/>
              </a:rPr>
              <a:t>sémantique des informations </a:t>
            </a:r>
            <a:r>
              <a:rPr lang="fr-FR" dirty="0">
                <a:solidFill>
                  <a:srgbClr val="000000"/>
                </a:solidFill>
                <a:effectLst/>
                <a:ea typeface="Times New Roman" panose="02020603050405020304" pitchFamily="18" charset="0"/>
              </a:rPr>
              <a:t>d'une façon </a:t>
            </a:r>
            <a:r>
              <a:rPr lang="fr-FR" b="1" dirty="0">
                <a:solidFill>
                  <a:srgbClr val="000000"/>
                </a:solidFill>
                <a:effectLst/>
                <a:ea typeface="Times New Roman" panose="02020603050405020304" pitchFamily="18" charset="0"/>
              </a:rPr>
              <a:t>compréhensible par l'utilisateur </a:t>
            </a:r>
            <a:r>
              <a:rPr lang="fr-FR" dirty="0">
                <a:solidFill>
                  <a:srgbClr val="000000"/>
                </a:solidFill>
                <a:effectLst/>
                <a:ea typeface="Times New Roman" panose="02020603050405020304" pitchFamily="18" charset="0"/>
              </a:rPr>
              <a:t>de la future base de données </a:t>
            </a:r>
            <a:endParaRPr lang="fr-FR" dirty="0">
              <a:effectLst/>
              <a:ea typeface="Calibri" panose="020F0502020204030204" pitchFamily="34" charset="0"/>
            </a:endParaRPr>
          </a:p>
          <a:p>
            <a:pPr algn="just">
              <a:lnSpc>
                <a:spcPct val="100000"/>
              </a:lnSpc>
            </a:pPr>
            <a:r>
              <a:rPr lang="fr-FR" b="1" dirty="0">
                <a:solidFill>
                  <a:srgbClr val="000000"/>
                </a:solidFill>
                <a:ea typeface="Times New Roman" panose="02020603050405020304" pitchFamily="18" charset="0"/>
              </a:rPr>
              <a:t>N</a:t>
            </a:r>
            <a:r>
              <a:rPr lang="fr-FR" b="1" dirty="0">
                <a:solidFill>
                  <a:srgbClr val="000000"/>
                </a:solidFill>
                <a:effectLst/>
                <a:ea typeface="Times New Roman" panose="02020603050405020304" pitchFamily="18" charset="0"/>
              </a:rPr>
              <a:t>e permet pas d'implémentation informatique de la base de données </a:t>
            </a:r>
            <a:r>
              <a:rPr lang="fr-FR" dirty="0">
                <a:solidFill>
                  <a:srgbClr val="000000"/>
                </a:solidFill>
                <a:effectLst/>
                <a:ea typeface="Times New Roman" panose="02020603050405020304" pitchFamily="18" charset="0"/>
              </a:rPr>
              <a:t>dans un SGBD donné</a:t>
            </a:r>
            <a:endParaRPr lang="fr-FR" dirty="0">
              <a:effectLst/>
              <a:ea typeface="Calibri" panose="020F0502020204030204" pitchFamily="34" charset="0"/>
            </a:endParaRPr>
          </a:p>
          <a:p>
            <a:pPr algn="just">
              <a:lnSpc>
                <a:spcPct val="100000"/>
              </a:lnSpc>
            </a:pPr>
            <a:endParaRPr lang="fr-FR" dirty="0"/>
          </a:p>
        </p:txBody>
      </p:sp>
      <p:sp>
        <p:nvSpPr>
          <p:cNvPr id="4" name="Espace réservé du numéro de diapositive 3">
            <a:extLst>
              <a:ext uri="{FF2B5EF4-FFF2-40B4-BE49-F238E27FC236}">
                <a16:creationId xmlns:a16="http://schemas.microsoft.com/office/drawing/2014/main" xmlns="" id="{17799D48-972F-4715-B024-C4839593ED9B}"/>
              </a:ext>
            </a:extLst>
          </p:cNvPr>
          <p:cNvSpPr>
            <a:spLocks noGrp="1"/>
          </p:cNvSpPr>
          <p:nvPr>
            <p:ph type="sldNum" sz="quarter" idx="12"/>
          </p:nvPr>
        </p:nvSpPr>
        <p:spPr/>
        <p:txBody>
          <a:bodyPr/>
          <a:lstStyle/>
          <a:p>
            <a:fld id="{15B59467-8B33-4B1A-8FFF-43B74E510468}" type="slidenum">
              <a:rPr lang="fr-FR" smtClean="0"/>
              <a:pPr/>
              <a:t>26</a:t>
            </a:fld>
            <a:endParaRPr lang="fr-FR"/>
          </a:p>
        </p:txBody>
      </p:sp>
      <p:sp>
        <p:nvSpPr>
          <p:cNvPr id="7" name="Titre 1">
            <a:extLst>
              <a:ext uri="{FF2B5EF4-FFF2-40B4-BE49-F238E27FC236}">
                <a16:creationId xmlns:a16="http://schemas.microsoft.com/office/drawing/2014/main" xmlns="" id="{040457DE-91D8-4210-9823-F0596F35B01A}"/>
              </a:ext>
            </a:extLst>
          </p:cNvPr>
          <p:cNvSpPr txBox="1">
            <a:spLocks/>
          </p:cNvSpPr>
          <p:nvPr/>
        </p:nvSpPr>
        <p:spPr>
          <a:xfrm>
            <a:off x="874225" y="384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Construction d’une base de données : MCD</a:t>
            </a:r>
          </a:p>
        </p:txBody>
      </p:sp>
    </p:spTree>
    <p:extLst>
      <p:ext uri="{BB962C8B-B14F-4D97-AF65-F5344CB8AC3E}">
        <p14:creationId xmlns:p14="http://schemas.microsoft.com/office/powerpoint/2010/main" xmlns="" val="2109827239"/>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27</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894558"/>
          </a:xfrm>
          <a:prstGeom prst="rect">
            <a:avLst/>
          </a:prstGeom>
          <a:noFill/>
        </p:spPr>
        <p:txBody>
          <a:bodyPr wrap="square" rtlCol="0">
            <a:spAutoFit/>
          </a:bodyPr>
          <a:lstStyle/>
          <a:p>
            <a:pPr>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L’e</a:t>
            </a:r>
            <a:r>
              <a:rPr lang="fr-FR" sz="2400" b="1" u="sng" dirty="0">
                <a:solidFill>
                  <a:srgbClr val="FF0000"/>
                </a:solidFill>
                <a:effectLst/>
                <a:ea typeface="Calibri" panose="020F0502020204030204" pitchFamily="34" charset="0"/>
                <a:cs typeface="Times New Roman" panose="02020603050405020304" pitchFamily="18" charset="0"/>
              </a:rPr>
              <a:t>ntité :</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effectLst/>
              </a:rPr>
              <a:t>L’entité modélise l’ensemble des objets de la même nature, concrets ou abstraits. </a:t>
            </a:r>
            <a:r>
              <a:rPr lang="fr-FR" sz="2400" dirty="0">
                <a:effectLst/>
                <a:ea typeface="Calibri" panose="020F0502020204030204" pitchFamily="34" charset="0"/>
                <a:cs typeface="Times New Roman" panose="02020603050405020304" pitchFamily="18" charset="0"/>
              </a:rPr>
              <a:t>Par exemple, dans une entreprise qui achète et vend des produits, on a l’entité </a:t>
            </a:r>
            <a:r>
              <a:rPr lang="fr-FR" sz="2400" b="1" dirty="0">
                <a:effectLst/>
                <a:ea typeface="Calibri" panose="020F0502020204030204" pitchFamily="34" charset="0"/>
                <a:cs typeface="Times New Roman" panose="02020603050405020304" pitchFamily="18" charset="0"/>
              </a:rPr>
              <a:t>clients</a:t>
            </a:r>
            <a:r>
              <a:rPr lang="fr-FR" sz="2400" dirty="0">
                <a:effectLst/>
                <a:ea typeface="Calibri" panose="020F0502020204030204" pitchFamily="34" charset="0"/>
                <a:cs typeface="Times New Roman" panose="02020603050405020304" pitchFamily="18" charset="0"/>
              </a:rPr>
              <a:t>, l’entité </a:t>
            </a:r>
            <a:r>
              <a:rPr lang="fr-FR" sz="2400" b="1" dirty="0">
                <a:effectLst/>
                <a:ea typeface="Calibri" panose="020F0502020204030204" pitchFamily="34" charset="0"/>
                <a:cs typeface="Times New Roman" panose="02020603050405020304" pitchFamily="18" charset="0"/>
              </a:rPr>
              <a:t>articles</a:t>
            </a:r>
            <a:r>
              <a:rPr lang="fr-FR" sz="2400" dirty="0">
                <a:effectLst/>
                <a:ea typeface="Calibri" panose="020F0502020204030204" pitchFamily="34" charset="0"/>
                <a:cs typeface="Times New Roman" panose="02020603050405020304" pitchFamily="18" charset="0"/>
              </a:rPr>
              <a:t> et l’entité </a:t>
            </a:r>
            <a:r>
              <a:rPr lang="fr-FR" sz="2400" b="1" dirty="0">
                <a:effectLst/>
                <a:ea typeface="Calibri" panose="020F0502020204030204" pitchFamily="34" charset="0"/>
                <a:cs typeface="Times New Roman" panose="02020603050405020304" pitchFamily="18" charset="0"/>
              </a:rPr>
              <a:t>fournisseurs</a:t>
            </a:r>
            <a:r>
              <a:rPr lang="fr-FR" sz="2400" dirty="0">
                <a:effectLst/>
                <a:ea typeface="Calibri" panose="020F0502020204030204" pitchFamily="34" charset="0"/>
                <a:cs typeface="Times New Roman" panose="02020603050405020304" pitchFamily="18" charset="0"/>
              </a:rPr>
              <a:t>.</a:t>
            </a:r>
            <a:endParaRPr lang="fr-FR" sz="2400" dirty="0"/>
          </a:p>
        </p:txBody>
      </p:sp>
      <p:pic>
        <p:nvPicPr>
          <p:cNvPr id="7" name="Image 6">
            <a:extLst>
              <a:ext uri="{FF2B5EF4-FFF2-40B4-BE49-F238E27FC236}">
                <a16:creationId xmlns:a16="http://schemas.microsoft.com/office/drawing/2014/main" xmlns="" id="{C8690ECC-780B-4726-AF37-5A6D1329EACA}"/>
              </a:ext>
            </a:extLst>
          </p:cNvPr>
          <p:cNvPicPr>
            <a:picLocks noChangeAspect="1"/>
          </p:cNvPicPr>
          <p:nvPr/>
        </p:nvPicPr>
        <p:blipFill>
          <a:blip r:embed="rId2" cstate="print"/>
          <a:stretch>
            <a:fillRect/>
          </a:stretch>
        </p:blipFill>
        <p:spPr>
          <a:xfrm>
            <a:off x="2155314" y="3833211"/>
            <a:ext cx="7468535" cy="2164177"/>
          </a:xfrm>
          <a:prstGeom prst="rect">
            <a:avLst/>
          </a:prstGeom>
        </p:spPr>
      </p:pic>
    </p:spTree>
    <p:extLst>
      <p:ext uri="{BB962C8B-B14F-4D97-AF65-F5344CB8AC3E}">
        <p14:creationId xmlns:p14="http://schemas.microsoft.com/office/powerpoint/2010/main" xmlns="" val="3000942008"/>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28</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2447529"/>
          </a:xfrm>
          <a:prstGeom prst="rect">
            <a:avLst/>
          </a:prstGeom>
          <a:noFill/>
        </p:spPr>
        <p:txBody>
          <a:bodyPr wrap="square" rtlCol="0">
            <a:spAutoFit/>
          </a:bodyPr>
          <a:lstStyle/>
          <a:p>
            <a:pPr>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Une association :</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Une association est un lien entre plusieurs entités.</a:t>
            </a:r>
          </a:p>
          <a:p>
            <a:pPr algn="just">
              <a:lnSpc>
                <a:spcPct val="115000"/>
              </a:lnSpc>
              <a:spcAft>
                <a:spcPts val="1000"/>
              </a:spcAft>
            </a:pPr>
            <a:r>
              <a:rPr lang="fr-FR" sz="2400" dirty="0">
                <a:effectLst/>
                <a:ea typeface="Calibri" panose="020F0502020204030204" pitchFamily="34" charset="0"/>
              </a:rPr>
              <a:t>Dans notre exemple, l’association </a:t>
            </a:r>
            <a:r>
              <a:rPr lang="fr-FR" sz="2400" b="1" dirty="0">
                <a:effectLst/>
                <a:ea typeface="Calibri" panose="020F0502020204030204" pitchFamily="34" charset="0"/>
              </a:rPr>
              <a:t>acheter</a:t>
            </a:r>
            <a:r>
              <a:rPr lang="fr-FR" sz="2400" dirty="0">
                <a:effectLst/>
                <a:ea typeface="Calibri" panose="020F0502020204030204" pitchFamily="34" charset="0"/>
              </a:rPr>
              <a:t> fait le lien entre les entités </a:t>
            </a:r>
            <a:r>
              <a:rPr lang="fr-FR" sz="2400" b="1" dirty="0">
                <a:effectLst/>
                <a:ea typeface="Calibri" panose="020F0502020204030204" pitchFamily="34" charset="0"/>
              </a:rPr>
              <a:t>articles</a:t>
            </a:r>
            <a:r>
              <a:rPr lang="fr-FR" sz="2400" dirty="0">
                <a:effectLst/>
                <a:ea typeface="Calibri" panose="020F0502020204030204" pitchFamily="34" charset="0"/>
              </a:rPr>
              <a:t> et </a:t>
            </a:r>
            <a:r>
              <a:rPr lang="fr-FR" sz="2400" b="1" dirty="0">
                <a:effectLst/>
                <a:ea typeface="Calibri" panose="020F0502020204030204" pitchFamily="34" charset="0"/>
              </a:rPr>
              <a:t>clients</a:t>
            </a:r>
            <a:r>
              <a:rPr lang="fr-FR" sz="2400" dirty="0">
                <a:effectLst/>
                <a:ea typeface="Calibri" panose="020F0502020204030204" pitchFamily="34" charset="0"/>
              </a:rPr>
              <a:t>, tandis que l’association </a:t>
            </a:r>
            <a:r>
              <a:rPr lang="fr-FR" sz="2400" b="1" dirty="0">
                <a:effectLst/>
                <a:ea typeface="Calibri" panose="020F0502020204030204" pitchFamily="34" charset="0"/>
              </a:rPr>
              <a:t>livrer</a:t>
            </a:r>
            <a:r>
              <a:rPr lang="fr-FR" sz="2400" dirty="0">
                <a:effectLst/>
                <a:ea typeface="Calibri" panose="020F0502020204030204" pitchFamily="34" charset="0"/>
              </a:rPr>
              <a:t> fait le lien entre les entités </a:t>
            </a:r>
            <a:r>
              <a:rPr lang="fr-FR" sz="2400" b="1" dirty="0">
                <a:effectLst/>
                <a:ea typeface="Calibri" panose="020F0502020204030204" pitchFamily="34" charset="0"/>
              </a:rPr>
              <a:t>articles</a:t>
            </a:r>
            <a:r>
              <a:rPr lang="fr-FR" sz="2400" dirty="0">
                <a:effectLst/>
                <a:ea typeface="Calibri" panose="020F0502020204030204" pitchFamily="34" charset="0"/>
              </a:rPr>
              <a:t> et </a:t>
            </a:r>
            <a:r>
              <a:rPr lang="fr-FR" sz="2400" b="1" dirty="0">
                <a:effectLst/>
                <a:ea typeface="Calibri" panose="020F0502020204030204" pitchFamily="34" charset="0"/>
              </a:rPr>
              <a:t>fournisseurs</a:t>
            </a:r>
            <a:r>
              <a:rPr lang="fr-FR" sz="2400" dirty="0">
                <a:effectLst/>
                <a:ea typeface="Calibri" panose="020F0502020204030204" pitchFamily="34" charset="0"/>
              </a:rPr>
              <a:t>.</a:t>
            </a:r>
            <a:endParaRPr lang="fr-FR" sz="2400" dirty="0"/>
          </a:p>
        </p:txBody>
      </p:sp>
      <p:pic>
        <p:nvPicPr>
          <p:cNvPr id="6" name="Image 5">
            <a:extLst>
              <a:ext uri="{FF2B5EF4-FFF2-40B4-BE49-F238E27FC236}">
                <a16:creationId xmlns:a16="http://schemas.microsoft.com/office/drawing/2014/main" xmlns="" id="{8C29EDB4-40EC-4270-AAC3-3AC8CCB72CD0}"/>
              </a:ext>
            </a:extLst>
          </p:cNvPr>
          <p:cNvPicPr>
            <a:picLocks noChangeAspect="1"/>
          </p:cNvPicPr>
          <p:nvPr/>
        </p:nvPicPr>
        <p:blipFill>
          <a:blip r:embed="rId2" cstate="print"/>
          <a:stretch>
            <a:fillRect/>
          </a:stretch>
        </p:blipFill>
        <p:spPr>
          <a:xfrm>
            <a:off x="1756374" y="4168697"/>
            <a:ext cx="8586043" cy="2354658"/>
          </a:xfrm>
          <a:prstGeom prst="rect">
            <a:avLst/>
          </a:prstGeom>
        </p:spPr>
      </p:pic>
    </p:spTree>
    <p:extLst>
      <p:ext uri="{BB962C8B-B14F-4D97-AF65-F5344CB8AC3E}">
        <p14:creationId xmlns:p14="http://schemas.microsoft.com/office/powerpoint/2010/main" xmlns="" val="142819508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29</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598066"/>
          </a:xfrm>
          <a:prstGeom prst="rect">
            <a:avLst/>
          </a:prstGeom>
          <a:noFill/>
        </p:spPr>
        <p:txBody>
          <a:bodyPr wrap="square" rtlCol="0">
            <a:spAutoFit/>
          </a:bodyPr>
          <a:lstStyle/>
          <a:p>
            <a:pPr>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Un attribut :</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Un attribut est une propriété d’une entité ou d’une association.</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Dans notre exemple:</a:t>
            </a:r>
          </a:p>
        </p:txBody>
      </p:sp>
      <p:pic>
        <p:nvPicPr>
          <p:cNvPr id="6" name="Image 5">
            <a:extLst>
              <a:ext uri="{FF2B5EF4-FFF2-40B4-BE49-F238E27FC236}">
                <a16:creationId xmlns:a16="http://schemas.microsoft.com/office/drawing/2014/main" xmlns="" id="{D5849151-ED6A-4EB6-9393-B61DFF1BC8EE}"/>
              </a:ext>
            </a:extLst>
          </p:cNvPr>
          <p:cNvPicPr>
            <a:picLocks noChangeAspect="1"/>
          </p:cNvPicPr>
          <p:nvPr/>
        </p:nvPicPr>
        <p:blipFill>
          <a:blip r:embed="rId2" cstate="print"/>
          <a:stretch>
            <a:fillRect/>
          </a:stretch>
        </p:blipFill>
        <p:spPr>
          <a:xfrm>
            <a:off x="943101" y="3307082"/>
            <a:ext cx="10427187" cy="2827712"/>
          </a:xfrm>
          <a:prstGeom prst="rect">
            <a:avLst/>
          </a:prstGeom>
        </p:spPr>
      </p:pic>
    </p:spTree>
    <p:extLst>
      <p:ext uri="{BB962C8B-B14F-4D97-AF65-F5344CB8AC3E}">
        <p14:creationId xmlns:p14="http://schemas.microsoft.com/office/powerpoint/2010/main" xmlns="" val="1647163425"/>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30</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469826"/>
          </a:xfrm>
          <a:prstGeom prst="rect">
            <a:avLst/>
          </a:prstGeom>
          <a:noFill/>
        </p:spPr>
        <p:txBody>
          <a:bodyPr wrap="square" rtlCol="0">
            <a:spAutoFit/>
          </a:bodyPr>
          <a:lstStyle/>
          <a:p>
            <a:pPr>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L’identifiant:</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Chaque individu d’une entité doit être identifiable de manière unique. C’est pourquoi les entités doivent posséder un attribut sans doublon : </a:t>
            </a:r>
            <a:r>
              <a:rPr lang="fr-FR" sz="2400" b="1" dirty="0">
                <a:effectLst/>
                <a:ea typeface="Calibri" panose="020F0502020204030204" pitchFamily="34" charset="0"/>
                <a:cs typeface="Times New Roman" panose="02020603050405020304" pitchFamily="18" charset="0"/>
              </a:rPr>
              <a:t>l’identifiant</a:t>
            </a:r>
            <a:r>
              <a:rPr lang="fr-FR" sz="2400" dirty="0">
                <a:effectLst/>
                <a:ea typeface="Calibri" panose="020F0502020204030204" pitchFamily="34" charset="0"/>
                <a:cs typeface="Times New Roman" panose="02020603050405020304" pitchFamily="18" charset="0"/>
              </a:rPr>
              <a:t>.</a:t>
            </a:r>
          </a:p>
        </p:txBody>
      </p:sp>
      <p:pic>
        <p:nvPicPr>
          <p:cNvPr id="7" name="Image 6">
            <a:extLst>
              <a:ext uri="{FF2B5EF4-FFF2-40B4-BE49-F238E27FC236}">
                <a16:creationId xmlns:a16="http://schemas.microsoft.com/office/drawing/2014/main" xmlns="" id="{3CD86207-58C0-4D88-80DA-F1F0C03BDE8F}"/>
              </a:ext>
            </a:extLst>
          </p:cNvPr>
          <p:cNvPicPr>
            <a:picLocks noChangeAspect="1"/>
          </p:cNvPicPr>
          <p:nvPr/>
        </p:nvPicPr>
        <p:blipFill>
          <a:blip r:embed="rId2" cstate="print"/>
          <a:stretch>
            <a:fillRect/>
          </a:stretch>
        </p:blipFill>
        <p:spPr>
          <a:xfrm>
            <a:off x="256309" y="3287454"/>
            <a:ext cx="11530036" cy="3068896"/>
          </a:xfrm>
          <a:prstGeom prst="rect">
            <a:avLst/>
          </a:prstGeom>
        </p:spPr>
      </p:pic>
    </p:spTree>
    <p:extLst>
      <p:ext uri="{BB962C8B-B14F-4D97-AF65-F5344CB8AC3E}">
        <p14:creationId xmlns:p14="http://schemas.microsoft.com/office/powerpoint/2010/main" xmlns="" val="512468437"/>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31</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000501"/>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Remarques :</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Un attribut ne doit pas figurer dans deux entités ou associations différentes (donc il faut spécialiser l’attribut nom en nom du client, nom du produit et nom du fournisseur)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Une entité possède au moins un attribut (son identifiant)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Une association peut ne pas posséder d’attribut.</a:t>
            </a: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234236410"/>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32</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590938"/>
            <a:ext cx="10515600" cy="5252400"/>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Conseils :</a:t>
            </a:r>
            <a:endParaRPr lang="fr-FR" sz="2400" dirty="0">
              <a:solidFill>
                <a:srgbClr val="FF0000"/>
              </a:solidFill>
              <a:effectLst/>
              <a:ea typeface="Calibri" panose="020F0502020204030204" pitchFamily="34" charset="0"/>
              <a:cs typeface="Times New Roman" panose="02020603050405020304" pitchFamily="18" charset="0"/>
            </a:endParaRPr>
          </a:p>
          <a:p>
            <a:pPr marL="342900" indent="-342900" algn="just">
              <a:lnSpc>
                <a:spcPct val="115000"/>
              </a:lnSpc>
              <a:spcAft>
                <a:spcPts val="1000"/>
              </a:spcAft>
              <a:buFont typeface="Wingdings" panose="05000000000000000000" pitchFamily="2" charset="2"/>
              <a:buChar char="Ø"/>
            </a:pPr>
            <a:r>
              <a:rPr lang="fr-FR" sz="2300" dirty="0">
                <a:solidFill>
                  <a:srgbClr val="000000"/>
                </a:solidFill>
                <a:effectLst/>
                <a:ea typeface="Calibri" panose="020F0502020204030204" pitchFamily="34" charset="0"/>
                <a:cs typeface="Times New Roman" panose="02020603050405020304" pitchFamily="18" charset="0"/>
              </a:rPr>
              <a:t>Eviter les identifiants composées de plusieurs attributs (comme par exemple un identifiant formé par les attributs nom du client et prénom) ;</a:t>
            </a:r>
            <a:endParaRPr lang="fr-FR" sz="23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300" dirty="0">
                <a:solidFill>
                  <a:srgbClr val="000000"/>
                </a:solidFill>
                <a:effectLst/>
                <a:ea typeface="Calibri" panose="020F0502020204030204" pitchFamily="34" charset="0"/>
                <a:cs typeface="Times New Roman" panose="02020603050405020304" pitchFamily="18" charset="0"/>
              </a:rPr>
              <a:t>Il faut un identifiant totalement indépendant des autres attributs (éviter par exemple d’ajouter un identifiant </a:t>
            </a:r>
            <a:r>
              <a:rPr lang="fr-FR" sz="2300" dirty="0" err="1">
                <a:solidFill>
                  <a:srgbClr val="000000"/>
                </a:solidFill>
                <a:effectLst/>
                <a:ea typeface="Calibri" panose="020F0502020204030204" pitchFamily="34" charset="0"/>
                <a:cs typeface="Times New Roman" panose="02020603050405020304" pitchFamily="18" charset="0"/>
              </a:rPr>
              <a:t>NomPrénom</a:t>
            </a:r>
            <a:r>
              <a:rPr lang="fr-FR" sz="2300" dirty="0">
                <a:solidFill>
                  <a:srgbClr val="000000"/>
                </a:solidFill>
                <a:effectLst/>
                <a:ea typeface="Calibri" panose="020F0502020204030204" pitchFamily="34" charset="0"/>
                <a:cs typeface="Times New Roman" panose="02020603050405020304" pitchFamily="18" charset="0"/>
              </a:rPr>
              <a:t> qui serait la concaténation des attributs nom du client et prénom) ;</a:t>
            </a:r>
            <a:endParaRPr lang="fr-FR" sz="23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300" dirty="0">
                <a:solidFill>
                  <a:srgbClr val="000000"/>
                </a:solidFill>
                <a:effectLst/>
                <a:ea typeface="Calibri" panose="020F0502020204030204" pitchFamily="34" charset="0"/>
                <a:cs typeface="Times New Roman" panose="02020603050405020304" pitchFamily="18" charset="0"/>
              </a:rPr>
              <a:t>Préférer un identifiant court pour rendre la recherche la plus rapide possible (éviter par exemple les chaînes de caractères comme le numéro de sécurité sociale ou la plaque d’immatriculation) ;</a:t>
            </a:r>
            <a:endParaRPr lang="fr-FR" sz="23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300" dirty="0">
                <a:solidFill>
                  <a:srgbClr val="000000"/>
                </a:solidFill>
                <a:effectLst/>
                <a:ea typeface="Calibri" panose="020F0502020204030204" pitchFamily="34" charset="0"/>
                <a:cs typeface="Times New Roman" panose="02020603050405020304" pitchFamily="18" charset="0"/>
              </a:rPr>
              <a:t>Conclusion : dans le modèle physique de données, on utilise une clé numérique (un entier) incrémentée automatiquement.</a:t>
            </a:r>
            <a:endParaRPr lang="fr-FR" sz="23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696548229"/>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33</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469826"/>
          </a:xfrm>
          <a:prstGeom prst="rect">
            <a:avLst/>
          </a:prstGeom>
          <a:noFill/>
        </p:spPr>
        <p:txBody>
          <a:bodyPr wrap="square" rtlCol="0">
            <a:spAutoFit/>
          </a:bodyPr>
          <a:lstStyle/>
          <a:p>
            <a:pPr>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Cardinalités</a:t>
            </a:r>
            <a:r>
              <a:rPr lang="fr-FR" sz="2400" b="1" u="sng" dirty="0">
                <a:solidFill>
                  <a:srgbClr val="FF0000"/>
                </a:solidFill>
                <a:effectLst/>
                <a:ea typeface="Calibri" panose="020F0502020204030204" pitchFamily="34" charset="0"/>
                <a:cs typeface="Times New Roman" panose="02020603050405020304" pitchFamily="18" charset="0"/>
              </a:rPr>
              <a:t>:</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La cardinalité d’un lien entre une entité et une association est le minimum et le maximum de fois qu’un individu de l’entité peut être concerné par l’association.</a:t>
            </a:r>
            <a:endParaRPr lang="fr-FR" sz="2400" dirty="0">
              <a:effectLst/>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xmlns="" id="{7CA78962-D537-47B5-8F44-7FB7F1FCEDB7}"/>
              </a:ext>
            </a:extLst>
          </p:cNvPr>
          <p:cNvPicPr>
            <a:picLocks noChangeAspect="1"/>
          </p:cNvPicPr>
          <p:nvPr/>
        </p:nvPicPr>
        <p:blipFill>
          <a:blip r:embed="rId2" cstate="print"/>
          <a:stretch>
            <a:fillRect/>
          </a:stretch>
        </p:blipFill>
        <p:spPr>
          <a:xfrm>
            <a:off x="230413" y="3183776"/>
            <a:ext cx="11812369" cy="3139323"/>
          </a:xfrm>
          <a:prstGeom prst="rect">
            <a:avLst/>
          </a:prstGeom>
        </p:spPr>
      </p:pic>
    </p:spTree>
    <p:extLst>
      <p:ext uri="{BB962C8B-B14F-4D97-AF65-F5344CB8AC3E}">
        <p14:creationId xmlns:p14="http://schemas.microsoft.com/office/powerpoint/2010/main" xmlns="" val="398680393"/>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34</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2575770"/>
          </a:xfrm>
          <a:prstGeom prst="rect">
            <a:avLst/>
          </a:prstGeom>
          <a:noFill/>
        </p:spPr>
        <p:txBody>
          <a:bodyPr wrap="square" rtlCol="0">
            <a:spAutoFit/>
          </a:bodyPr>
          <a:lstStyle/>
          <a:p>
            <a:pPr>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Cardinalité (suite):</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b="1" i="1" u="sng" dirty="0">
                <a:effectLst/>
                <a:ea typeface="Calibri" panose="020F0502020204030204" pitchFamily="34" charset="0"/>
                <a:cs typeface="Times New Roman" panose="02020603050405020304" pitchFamily="18" charset="0"/>
              </a:rPr>
              <a:t>Remarque :</a:t>
            </a:r>
            <a:r>
              <a:rPr lang="fr-FR" sz="2400" dirty="0">
                <a:effectLst/>
                <a:ea typeface="Calibri" panose="020F0502020204030204" pitchFamily="34" charset="0"/>
                <a:cs typeface="Times New Roman" panose="02020603050405020304" pitchFamily="18" charset="0"/>
              </a:rPr>
              <a:t> </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si une cardinalité est connue et vaut 2, 3, etc. on considère quand même qu’elle est indéterminée n, de telle sorte qu’on ne puisse avoir que des cardinalités 0, 1 ou n.</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xmlns="" val="208786498"/>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35</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2575770"/>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Cas particulier 1 : « association réflexive »</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Exemple d’association binaire réflexive : dans ce cas, un employé est dirigé par un employé (sauf le directeur général) et un employé peut diriger plusieurs employés.</a:t>
            </a:r>
          </a:p>
          <a:p>
            <a:pPr>
              <a:lnSpc>
                <a:spcPct val="115000"/>
              </a:lnSpc>
              <a:spcAft>
                <a:spcPts val="1000"/>
              </a:spcAft>
            </a:pP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endParaRPr lang="fr-FR" sz="2400" dirty="0">
              <a:effectLst/>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xmlns="" id="{14DEEC65-1D73-40C1-A8A3-3F1D973CB0F7}"/>
              </a:ext>
            </a:extLst>
          </p:cNvPr>
          <p:cNvPicPr>
            <a:picLocks noChangeAspect="1"/>
          </p:cNvPicPr>
          <p:nvPr/>
        </p:nvPicPr>
        <p:blipFill>
          <a:blip r:embed="rId2" cstate="print"/>
          <a:stretch>
            <a:fillRect/>
          </a:stretch>
        </p:blipFill>
        <p:spPr>
          <a:xfrm>
            <a:off x="4290816" y="3105542"/>
            <a:ext cx="3610367" cy="3615933"/>
          </a:xfrm>
          <a:prstGeom prst="rect">
            <a:avLst/>
          </a:prstGeom>
        </p:spPr>
      </p:pic>
    </p:spTree>
    <p:extLst>
      <p:ext uri="{BB962C8B-B14F-4D97-AF65-F5344CB8AC3E}">
        <p14:creationId xmlns:p14="http://schemas.microsoft.com/office/powerpoint/2010/main" xmlns="" val="3498447387"/>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36</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894558"/>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Cas particulier 2 : « association ternaire »</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Exemple d’association entre trois entités (association ternaire) : dans ce cas, un avion, un pilote ou un aéroport peuvent être utilisés 0 ou plusieurs fois par l’ensemble des vols (d’où les cardinalités).</a:t>
            </a:r>
          </a:p>
        </p:txBody>
      </p:sp>
    </p:spTree>
    <p:extLst>
      <p:ext uri="{BB962C8B-B14F-4D97-AF65-F5344CB8AC3E}">
        <p14:creationId xmlns:p14="http://schemas.microsoft.com/office/powerpoint/2010/main" xmlns="" val="2097619757"/>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37</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492122"/>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Cas particulier 2 : « association ternaire » </a:t>
            </a:r>
            <a:endParaRPr lang="fr-FR" sz="2400" dirty="0">
              <a:solidFill>
                <a:srgbClr val="FF0000"/>
              </a:solidFill>
              <a:effectLst/>
              <a:ea typeface="Calibri" panose="020F0502020204030204" pitchFamily="34" charset="0"/>
              <a:cs typeface="Times New Roman" panose="02020603050405020304" pitchFamily="18" charset="0"/>
            </a:endParaRPr>
          </a:p>
        </p:txBody>
      </p:sp>
      <p:pic>
        <p:nvPicPr>
          <p:cNvPr id="6" name="Image 5">
            <a:extLst>
              <a:ext uri="{FF2B5EF4-FFF2-40B4-BE49-F238E27FC236}">
                <a16:creationId xmlns:a16="http://schemas.microsoft.com/office/drawing/2014/main" xmlns="" id="{E1A2C7C4-E64A-4839-9A08-262137DECFF2}"/>
              </a:ext>
            </a:extLst>
          </p:cNvPr>
          <p:cNvPicPr>
            <a:picLocks noChangeAspect="1"/>
          </p:cNvPicPr>
          <p:nvPr/>
        </p:nvPicPr>
        <p:blipFill>
          <a:blip r:embed="rId2" cstate="print"/>
          <a:stretch>
            <a:fillRect/>
          </a:stretch>
        </p:blipFill>
        <p:spPr>
          <a:xfrm>
            <a:off x="2253223" y="2213290"/>
            <a:ext cx="7685554" cy="4342199"/>
          </a:xfrm>
          <a:prstGeom prst="rect">
            <a:avLst/>
          </a:prstGeom>
        </p:spPr>
      </p:pic>
    </p:spTree>
    <p:extLst>
      <p:ext uri="{BB962C8B-B14F-4D97-AF65-F5344CB8AC3E}">
        <p14:creationId xmlns:p14="http://schemas.microsoft.com/office/powerpoint/2010/main" xmlns="" val="890463488"/>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38</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296993"/>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Cas particulier 3: « association plurielle »</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Exemple de plusieurs associations entre deux mêmes entités : dans ce cas, un être humain peut être propriétaire, locataire et/ou chargé de l’entretien. On suppose qu’un être humain ne réside que dans un logement au maximum, qu’un logement n’est occupé que par une personne au maximum et qu’un logement est entretenu par une et une seule personne (il s’agit d’un exemple).</a:t>
            </a:r>
          </a:p>
          <a:p>
            <a:pPr algn="just">
              <a:lnSpc>
                <a:spcPct val="115000"/>
              </a:lnSpc>
              <a:spcAft>
                <a:spcPts val="1000"/>
              </a:spcAft>
            </a:pP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4258587527"/>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39</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492122"/>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Cas particulier 3 : « association plurielle »</a:t>
            </a:r>
          </a:p>
        </p:txBody>
      </p:sp>
      <p:pic>
        <p:nvPicPr>
          <p:cNvPr id="7" name="Image 6">
            <a:extLst>
              <a:ext uri="{FF2B5EF4-FFF2-40B4-BE49-F238E27FC236}">
                <a16:creationId xmlns:a16="http://schemas.microsoft.com/office/drawing/2014/main" xmlns="" id="{84681413-166F-4461-A19B-D064462F2412}"/>
              </a:ext>
            </a:extLst>
          </p:cNvPr>
          <p:cNvPicPr>
            <a:picLocks noChangeAspect="1"/>
          </p:cNvPicPr>
          <p:nvPr/>
        </p:nvPicPr>
        <p:blipFill>
          <a:blip r:embed="rId2" cstate="print"/>
          <a:stretch>
            <a:fillRect/>
          </a:stretch>
        </p:blipFill>
        <p:spPr>
          <a:xfrm>
            <a:off x="2102873" y="2213290"/>
            <a:ext cx="7986253" cy="4508185"/>
          </a:xfrm>
          <a:prstGeom prst="rect">
            <a:avLst/>
          </a:prstGeom>
        </p:spPr>
      </p:pic>
    </p:spTree>
    <p:extLst>
      <p:ext uri="{BB962C8B-B14F-4D97-AF65-F5344CB8AC3E}">
        <p14:creationId xmlns:p14="http://schemas.microsoft.com/office/powerpoint/2010/main" xmlns="" val="2459497389"/>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40</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849965"/>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Règles de normalisation :</a:t>
            </a:r>
            <a:endParaRPr lang="fr-FR" sz="2400" dirty="0">
              <a:solidFill>
                <a:srgbClr val="FF0000"/>
              </a:solidFill>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b="1" i="1" u="sng" dirty="0">
                <a:solidFill>
                  <a:srgbClr val="000000"/>
                </a:solidFill>
                <a:effectLst/>
                <a:ea typeface="Calibri" panose="020F0502020204030204" pitchFamily="34" charset="0"/>
                <a:cs typeface="Times New Roman" panose="02020603050405020304" pitchFamily="18" charset="0"/>
              </a:rPr>
              <a:t>Première forme normale :</a:t>
            </a:r>
            <a:r>
              <a:rPr lang="fr-FR" sz="2400" dirty="0">
                <a:solidFill>
                  <a:srgbClr val="000000"/>
                </a:solidFill>
                <a:effectLst/>
                <a:ea typeface="Calibri" panose="020F0502020204030204" pitchFamily="34" charset="0"/>
                <a:cs typeface="Times New Roman" panose="02020603050405020304" pitchFamily="18" charset="0"/>
              </a:rPr>
              <a:t> chaque entité doit posséder un identifiant qui caractérise ses individus de manière unique.</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b="1" i="1" u="sng" dirty="0">
                <a:solidFill>
                  <a:srgbClr val="000000"/>
                </a:solidFill>
                <a:effectLst/>
                <a:ea typeface="Calibri" panose="020F0502020204030204" pitchFamily="34" charset="0"/>
                <a:cs typeface="Times New Roman" panose="02020603050405020304" pitchFamily="18" charset="0"/>
              </a:rPr>
              <a:t>Deuxième forme normale :</a:t>
            </a:r>
            <a:r>
              <a:rPr lang="fr-FR" sz="2400" dirty="0">
                <a:solidFill>
                  <a:srgbClr val="000000"/>
                </a:solidFill>
                <a:effectLst/>
                <a:ea typeface="Calibri" panose="020F0502020204030204" pitchFamily="34" charset="0"/>
                <a:cs typeface="Times New Roman" panose="02020603050405020304" pitchFamily="18" charset="0"/>
              </a:rPr>
              <a:t> l’identifiant peut être composée de plusieurs attributs mais les autres attributs de l’entité doivent être dépendant de l’identifiant en entier (et non pas une partie de cet identifiant).</a:t>
            </a:r>
            <a:endParaRPr lang="fr-FR" sz="2400" dirty="0">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Ces deux premières formes normales peuvent être oubliées si on suit le conseil de n’utiliser que des identifiants non composés de type numéro.</a:t>
            </a: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3340703216"/>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41</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296993"/>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Règles de normalisation :</a:t>
            </a:r>
            <a:endParaRPr lang="fr-FR" sz="2400" dirty="0">
              <a:solidFill>
                <a:srgbClr val="FF0000"/>
              </a:solidFill>
              <a:effectLst/>
              <a:ea typeface="Calibri" panose="020F0502020204030204" pitchFamily="34" charset="0"/>
              <a:cs typeface="Times New Roman" panose="02020603050405020304" pitchFamily="18" charset="0"/>
            </a:endParaRPr>
          </a:p>
          <a:p>
            <a:pPr marL="342900" lvl="0" indent="-342900" algn="just" rtl="0">
              <a:lnSpc>
                <a:spcPct val="115000"/>
              </a:lnSpc>
              <a:spcAft>
                <a:spcPts val="1000"/>
              </a:spcAft>
              <a:buFont typeface="Wingdings" panose="05000000000000000000" pitchFamily="2" charset="2"/>
              <a:buChar char=""/>
            </a:pPr>
            <a:r>
              <a:rPr lang="fr-FR" sz="2400" b="1" i="1" u="sng" dirty="0">
                <a:solidFill>
                  <a:srgbClr val="000000"/>
                </a:solidFill>
                <a:effectLst/>
                <a:ea typeface="Calibri" panose="020F0502020204030204" pitchFamily="34" charset="0"/>
                <a:cs typeface="Times New Roman" panose="02020603050405020304" pitchFamily="18" charset="0"/>
              </a:rPr>
              <a:t>Troisième forme normale (importante) :</a:t>
            </a:r>
            <a:r>
              <a:rPr lang="fr-FR" sz="2400" dirty="0">
                <a:solidFill>
                  <a:srgbClr val="000000"/>
                </a:solidFill>
                <a:effectLst/>
                <a:ea typeface="Calibri" panose="020F0502020204030204" pitchFamily="34" charset="0"/>
                <a:cs typeface="Times New Roman" panose="02020603050405020304" pitchFamily="18" charset="0"/>
              </a:rPr>
              <a:t> les attributs d’une entité doivent dépendre directement de son identifiant. Par exemple, la date de fête d’un client ne dépend pas de son identifiant numéro de client mais plutôt de son prénom. Il faut donc faire une entité calendrier à part.</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b="1" i="1" u="sng" dirty="0">
                <a:solidFill>
                  <a:srgbClr val="000000"/>
                </a:solidFill>
                <a:effectLst/>
                <a:ea typeface="Calibri" panose="020F0502020204030204" pitchFamily="34" charset="0"/>
                <a:cs typeface="Times New Roman" panose="02020603050405020304" pitchFamily="18" charset="0"/>
              </a:rPr>
              <a:t>Forme normale de Boyce-Codd (à oublier également) :</a:t>
            </a:r>
            <a:r>
              <a:rPr lang="fr-FR" sz="2400" dirty="0">
                <a:solidFill>
                  <a:srgbClr val="000000"/>
                </a:solidFill>
                <a:effectLst/>
                <a:ea typeface="Calibri" panose="020F0502020204030204" pitchFamily="34" charset="0"/>
                <a:cs typeface="Times New Roman" panose="02020603050405020304" pitchFamily="18" charset="0"/>
              </a:rPr>
              <a:t> les attributs d’un identifiant composé ne doivent pas dépendre d’un autre attribut de l’entité.</a:t>
            </a: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3987459985"/>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42</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2319289"/>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Règles de normalisation :</a:t>
            </a:r>
          </a:p>
          <a:p>
            <a:pPr algn="just">
              <a:lnSpc>
                <a:spcPct val="115000"/>
              </a:lnSpc>
              <a:spcAft>
                <a:spcPts val="1000"/>
              </a:spcAft>
            </a:pPr>
            <a:r>
              <a:rPr lang="fr-FR" sz="2400" b="1" i="1" u="sng" dirty="0">
                <a:solidFill>
                  <a:srgbClr val="000000"/>
                </a:solidFill>
                <a:effectLst/>
                <a:ea typeface="Calibri" panose="020F0502020204030204" pitchFamily="34" charset="0"/>
                <a:cs typeface="Times New Roman" panose="02020603050405020304" pitchFamily="18" charset="0"/>
              </a:rPr>
              <a:t>Normalisation des relations (importante) :</a:t>
            </a:r>
            <a:r>
              <a:rPr lang="fr-FR" sz="2400" dirty="0">
                <a:solidFill>
                  <a:srgbClr val="000000"/>
                </a:solidFill>
                <a:effectLst/>
                <a:ea typeface="Calibri" panose="020F0502020204030204" pitchFamily="34" charset="0"/>
                <a:cs typeface="Times New Roman" panose="02020603050405020304" pitchFamily="18" charset="0"/>
              </a:rPr>
              <a:t> les attributs des associations doivent dépendre des identifiants de toutes les entités en association. Par exemple, la quantité commandée dépend à la fois du numéro de client et du numéro d’article, par contre la date de commande non. </a:t>
            </a: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7612082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43</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045094"/>
          </a:xfrm>
          <a:prstGeom prst="rect">
            <a:avLst/>
          </a:prstGeom>
          <a:noFill/>
        </p:spPr>
        <p:txBody>
          <a:bodyPr wrap="square" rtlCol="0">
            <a:spAutoFit/>
          </a:bodyPr>
          <a:lstStyle/>
          <a:p>
            <a:pPr>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Normalisation des relations :</a:t>
            </a:r>
          </a:p>
          <a:p>
            <a:pPr>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Il faut donc faire une entité commandes à part :</a:t>
            </a:r>
            <a:endParaRPr lang="fr-FR" sz="2400" dirty="0">
              <a:solidFill>
                <a:srgbClr val="FF0000"/>
              </a:solidFill>
              <a:effectLst/>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xmlns="" id="{BA708434-72BE-4A1E-BFB8-0E25E6BE1B6E}"/>
              </a:ext>
            </a:extLst>
          </p:cNvPr>
          <p:cNvPicPr>
            <a:picLocks noChangeAspect="1"/>
          </p:cNvPicPr>
          <p:nvPr/>
        </p:nvPicPr>
        <p:blipFill>
          <a:blip r:embed="rId2" cstate="print"/>
          <a:stretch>
            <a:fillRect/>
          </a:stretch>
        </p:blipFill>
        <p:spPr>
          <a:xfrm>
            <a:off x="1213757" y="2735782"/>
            <a:ext cx="9764486" cy="4084069"/>
          </a:xfrm>
          <a:prstGeom prst="rect">
            <a:avLst/>
          </a:prstGeom>
        </p:spPr>
      </p:pic>
    </p:spTree>
    <p:extLst>
      <p:ext uri="{BB962C8B-B14F-4D97-AF65-F5344CB8AC3E}">
        <p14:creationId xmlns:p14="http://schemas.microsoft.com/office/powerpoint/2010/main" xmlns="" val="3510516478"/>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44</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4787657"/>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Méthodologie :</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Face à un problème bien formulé (même si¸ ça n’existe pas) procéder ainsi :</a:t>
            </a: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Identifier les entités en présence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Lister leurs attributs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Ajouter les identifiants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Etablir les relations entre les entités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effectLst/>
                <a:ea typeface="Calibri" panose="020F0502020204030204" pitchFamily="34" charset="0"/>
                <a:cs typeface="Times New Roman" panose="02020603050405020304" pitchFamily="18" charset="0"/>
              </a:rPr>
              <a:t>Lister leurs attributs ;</a:t>
            </a:r>
          </a:p>
          <a:p>
            <a:pPr marL="342900" lvl="0" indent="-342900" algn="just">
              <a:lnSpc>
                <a:spcPct val="115000"/>
              </a:lnSpc>
              <a:spcAft>
                <a:spcPts val="1000"/>
              </a:spcAft>
              <a:buFont typeface="Wingdings" panose="05000000000000000000" pitchFamily="2" charset="2"/>
              <a:buChar char=""/>
            </a:pPr>
            <a:r>
              <a:rPr lang="fr-FR" sz="2400" dirty="0">
                <a:effectLst/>
                <a:ea typeface="Calibri" panose="020F0502020204030204" pitchFamily="34" charset="0"/>
                <a:cs typeface="Times New Roman" panose="02020603050405020304" pitchFamily="18" charset="0"/>
              </a:rPr>
              <a:t>Eliminer les synonymes (plusieurs signifiant pour un signifié) et les polysèmes (plusieurs signifié pour un signifiant) ;</a:t>
            </a:r>
          </a:p>
        </p:txBody>
      </p:sp>
    </p:spTree>
    <p:extLst>
      <p:ext uri="{BB962C8B-B14F-4D97-AF65-F5344CB8AC3E}">
        <p14:creationId xmlns:p14="http://schemas.microsoft.com/office/powerpoint/2010/main" xmlns="" val="2940337714"/>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MCD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45</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707362"/>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Méthodologie (suite) :</a:t>
            </a:r>
          </a:p>
          <a:p>
            <a:pPr marL="342900" lvl="0" indent="-342900" algn="just" rtl="0">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Calculer les cardinalités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Vérifier la troisième forme normale et la normalisation des relations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Effectuer les corrections nécessaires.</a:t>
            </a:r>
            <a:endParaRPr lang="fr-FR" sz="2400" dirty="0">
              <a:effectLst/>
              <a:ea typeface="Calibri" panose="020F0502020204030204" pitchFamily="34" charset="0"/>
              <a:cs typeface="Times New Roman" panose="02020603050405020304" pitchFamily="18" charset="0"/>
            </a:endParaRPr>
          </a:p>
          <a:p>
            <a:pPr algn="just">
              <a:lnSpc>
                <a:spcPct val="115000"/>
              </a:lnSpc>
              <a:spcBef>
                <a:spcPts val="1200"/>
              </a:spcBef>
              <a:spcAft>
                <a:spcPts val="1000"/>
              </a:spcAft>
            </a:pPr>
            <a:r>
              <a:rPr lang="fr-FR" sz="2400" dirty="0">
                <a:effectLst/>
                <a:ea typeface="Calibri" panose="020F0502020204030204" pitchFamily="34" charset="0"/>
                <a:cs typeface="Times New Roman" panose="02020603050405020304" pitchFamily="18" charset="0"/>
              </a:rPr>
              <a:t>Il faut garder également à l’esprit que le modèle doit être exhaustif (c’est-`a-dire contenir toutes les informations nécessaires) et éviter toute redondance (le prix unitaire d’un article n’a pas besoin de figurer dans l’entité commandes).</a:t>
            </a:r>
          </a:p>
        </p:txBody>
      </p:sp>
    </p:spTree>
    <p:extLst>
      <p:ext uri="{BB962C8B-B14F-4D97-AF65-F5344CB8AC3E}">
        <p14:creationId xmlns:p14="http://schemas.microsoft.com/office/powerpoint/2010/main" xmlns="" val="3883657883"/>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46</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4274696"/>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Schéma relationnel :</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Concentrons-nous sur le MLD relationnel (MLDR). Lorsque des données ont la même structure (comme par exemple, les bordereaux de livraison), on peut les organiser en table dans laquelle les colonnes décrivent les champs en commun et les lignes contiennent les valeurs de ces champs pour chaque enregistrement.</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Les lignes d’une table doivent être uniques, cela signifie qu’une colonne (au moins) doit servir de clé primaire. La clé primaire d’une ligne ne doit pas changer au cours du temps, alors que les autres colonnes le peuvent.</a:t>
            </a:r>
          </a:p>
          <a:p>
            <a:pPr algn="just">
              <a:lnSpc>
                <a:spcPct val="115000"/>
              </a:lnSpc>
              <a:spcAft>
                <a:spcPts val="1000"/>
              </a:spcAft>
            </a:pP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820814597"/>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47</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4827668"/>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Schéma relationnel :</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Par ailleurs, il se peut qu’une colonne </a:t>
            </a:r>
            <a:r>
              <a:rPr lang="fr-FR" sz="2400" b="1" dirty="0">
                <a:effectLst/>
                <a:ea typeface="Calibri" panose="020F0502020204030204" pitchFamily="34" charset="0"/>
                <a:cs typeface="Times New Roman" panose="02020603050405020304" pitchFamily="18" charset="0"/>
              </a:rPr>
              <a:t>Colonne1</a:t>
            </a:r>
            <a:r>
              <a:rPr lang="fr-FR" sz="2400" dirty="0">
                <a:effectLst/>
                <a:ea typeface="Calibri" panose="020F0502020204030204" pitchFamily="34" charset="0"/>
                <a:cs typeface="Times New Roman" panose="02020603050405020304" pitchFamily="18" charset="0"/>
              </a:rPr>
              <a:t> d’une table ne doive contenir que des valeurs prises par une colonne </a:t>
            </a:r>
            <a:r>
              <a:rPr lang="fr-FR" sz="2400" b="1" dirty="0">
                <a:effectLst/>
                <a:ea typeface="Calibri" panose="020F0502020204030204" pitchFamily="34" charset="0"/>
                <a:cs typeface="Times New Roman" panose="02020603050405020304" pitchFamily="18" charset="0"/>
              </a:rPr>
              <a:t>Colonne2</a:t>
            </a:r>
            <a:r>
              <a:rPr lang="fr-FR" sz="2400" dirty="0">
                <a:effectLst/>
                <a:ea typeface="Calibri" panose="020F0502020204030204" pitchFamily="34" charset="0"/>
                <a:cs typeface="Times New Roman" panose="02020603050405020304" pitchFamily="18" charset="0"/>
              </a:rPr>
              <a:t> d’une autre table (par exemple, le numéro du client sur une commande doit correspondre à un vrai numéro de client). La </a:t>
            </a:r>
            <a:r>
              <a:rPr lang="fr-FR" sz="2400" b="1" dirty="0">
                <a:effectLst/>
                <a:ea typeface="Calibri" panose="020F0502020204030204" pitchFamily="34" charset="0"/>
                <a:cs typeface="Times New Roman" panose="02020603050405020304" pitchFamily="18" charset="0"/>
              </a:rPr>
              <a:t>Colonne2</a:t>
            </a:r>
            <a:r>
              <a:rPr lang="fr-FR" sz="2400" dirty="0">
                <a:effectLst/>
                <a:ea typeface="Calibri" panose="020F0502020204030204" pitchFamily="34" charset="0"/>
                <a:cs typeface="Times New Roman" panose="02020603050405020304" pitchFamily="18" charset="0"/>
              </a:rPr>
              <a:t> doit être sans doublons (bien souvent il s’agit d’une clé primaire) et on dit que la </a:t>
            </a:r>
            <a:r>
              <a:rPr lang="fr-FR" sz="2400" b="1" dirty="0">
                <a:effectLst/>
                <a:ea typeface="Calibri" panose="020F0502020204030204" pitchFamily="34" charset="0"/>
                <a:cs typeface="Times New Roman" panose="02020603050405020304" pitchFamily="18" charset="0"/>
              </a:rPr>
              <a:t>Colonne1</a:t>
            </a:r>
            <a:r>
              <a:rPr lang="fr-FR" sz="2400" dirty="0">
                <a:effectLst/>
                <a:ea typeface="Calibri" panose="020F0502020204030204" pitchFamily="34" charset="0"/>
                <a:cs typeface="Times New Roman" panose="02020603050405020304" pitchFamily="18" charset="0"/>
              </a:rPr>
              <a:t> est clé étrangère.</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Par convention, on souligne les clés primaires et on fait précéder les clés étrangères d’un dièse # dans la description des colonnes d’une table :</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clients(</a:t>
            </a:r>
            <a:r>
              <a:rPr lang="fr-FR" sz="2400" u="sng" dirty="0">
                <a:effectLst/>
                <a:ea typeface="Calibri" panose="020F0502020204030204" pitchFamily="34" charset="0"/>
                <a:cs typeface="Times New Roman" panose="02020603050405020304" pitchFamily="18" charset="0"/>
              </a:rPr>
              <a:t>numéro client</a:t>
            </a:r>
            <a:r>
              <a:rPr lang="fr-FR" sz="2400" dirty="0">
                <a:effectLst/>
                <a:ea typeface="Calibri" panose="020F0502020204030204" pitchFamily="34" charset="0"/>
                <a:cs typeface="Times New Roman" panose="02020603050405020304" pitchFamily="18" charset="0"/>
              </a:rPr>
              <a:t>, nom client, prénom, adresse client, ...)</a:t>
            </a: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commandes(</a:t>
            </a:r>
            <a:r>
              <a:rPr lang="fr-FR" sz="2400" u="sng" dirty="0">
                <a:effectLst/>
                <a:ea typeface="Calibri" panose="020F0502020204030204" pitchFamily="34" charset="0"/>
                <a:cs typeface="Times New Roman" panose="02020603050405020304" pitchFamily="18" charset="0"/>
              </a:rPr>
              <a:t>numéro commande</a:t>
            </a:r>
            <a:r>
              <a:rPr lang="fr-FR" sz="2400" dirty="0">
                <a:effectLst/>
                <a:ea typeface="Calibri" panose="020F0502020204030204" pitchFamily="34" charset="0"/>
                <a:cs typeface="Times New Roman" panose="02020603050405020304" pitchFamily="18" charset="0"/>
              </a:rPr>
              <a:t>, date, #numéro client, ...)</a:t>
            </a:r>
          </a:p>
        </p:txBody>
      </p:sp>
    </p:spTree>
    <p:extLst>
      <p:ext uri="{BB962C8B-B14F-4D97-AF65-F5344CB8AC3E}">
        <p14:creationId xmlns:p14="http://schemas.microsoft.com/office/powerpoint/2010/main" xmlns="" val="2691355535"/>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48</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4106445"/>
          </a:xfrm>
          <a:prstGeom prst="rect">
            <a:avLst/>
          </a:prstGeom>
          <a:noFill/>
        </p:spPr>
        <p:txBody>
          <a:bodyPr wrap="square" rtlCol="0">
            <a:spAutoFit/>
          </a:bodyPr>
          <a:lstStyle/>
          <a:p>
            <a:pPr algn="just">
              <a:lnSpc>
                <a:spcPct val="115000"/>
              </a:lnSpc>
              <a:spcAft>
                <a:spcPts val="1000"/>
              </a:spcAft>
            </a:pPr>
            <a:r>
              <a:rPr lang="fr-FR" sz="2400" b="1" i="1" u="sng" dirty="0">
                <a:solidFill>
                  <a:srgbClr val="FF0000"/>
                </a:solidFill>
                <a:effectLst/>
                <a:ea typeface="Calibri" panose="020F0502020204030204" pitchFamily="34" charset="0"/>
                <a:cs typeface="Times New Roman" panose="02020603050405020304" pitchFamily="18" charset="0"/>
              </a:rPr>
              <a:t>Remarques :</a:t>
            </a:r>
            <a:endParaRPr lang="fr-FR" sz="2400" dirty="0">
              <a:solidFill>
                <a:srgbClr val="FF0000"/>
              </a:solidFill>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Une même table peut avoir plusieurs clés étrangères mais une seule clé primaire (éventuellement composées de plusieurs colonnes)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Une clé étrangère peut aussi être primaire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Une clé étrangère peut être composée (c’est le cas si la clé primaire en liaison est composée).</a:t>
            </a:r>
            <a:endParaRPr lang="fr-FR" sz="2400" dirty="0">
              <a:effectLst/>
              <a:ea typeface="Calibri" panose="020F0502020204030204" pitchFamily="34" charset="0"/>
              <a:cs typeface="Times New Roman" panose="02020603050405020304" pitchFamily="18" charset="0"/>
            </a:endParaRPr>
          </a:p>
          <a:p>
            <a:pPr algn="ctr">
              <a:lnSpc>
                <a:spcPct val="115000"/>
              </a:lnSpc>
              <a:spcAft>
                <a:spcPts val="1000"/>
              </a:spcAft>
            </a:pPr>
            <a:r>
              <a:rPr lang="fr-FR" sz="2400" b="1" dirty="0">
                <a:effectLst/>
                <a:ea typeface="Calibri" panose="020F0502020204030204" pitchFamily="34" charset="0"/>
                <a:cs typeface="Times New Roman" panose="02020603050405020304" pitchFamily="18" charset="0"/>
              </a:rPr>
              <a:t> </a:t>
            </a:r>
            <a:endParaRPr lang="fr-FR" sz="2400" dirty="0">
              <a:effectLst/>
              <a:ea typeface="Calibri" panose="020F0502020204030204" pitchFamily="34" charset="0"/>
              <a:cs typeface="Times New Roman" panose="02020603050405020304" pitchFamily="18" charset="0"/>
            </a:endParaRPr>
          </a:p>
          <a:p>
            <a:pPr algn="just">
              <a:lnSpc>
                <a:spcPct val="115000"/>
              </a:lnSpc>
              <a:spcAft>
                <a:spcPts val="1000"/>
              </a:spcAft>
            </a:pP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1516025538"/>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49</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894558"/>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ffectLst/>
                <a:ea typeface="Calibri" panose="020F0502020204030204" pitchFamily="34" charset="0"/>
                <a:cs typeface="Times New Roman" panose="02020603050405020304" pitchFamily="18" charset="0"/>
              </a:rPr>
              <a:t>Schéma relationnel (suite)</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On peut représenter les tables d’une base de données relationnelle par un schéma relationnel dans lequel les tables sont appelées relations et les liens entre les clés étrangères et leur clé primaire est symbolisé par un connecteur :</a:t>
            </a:r>
          </a:p>
        </p:txBody>
      </p:sp>
      <p:pic>
        <p:nvPicPr>
          <p:cNvPr id="7" name="Image 6">
            <a:extLst>
              <a:ext uri="{FF2B5EF4-FFF2-40B4-BE49-F238E27FC236}">
                <a16:creationId xmlns:a16="http://schemas.microsoft.com/office/drawing/2014/main" xmlns="" id="{C265EE41-6FBC-470F-A68B-7347AA6DC8EE}"/>
              </a:ext>
            </a:extLst>
          </p:cNvPr>
          <p:cNvPicPr>
            <a:picLocks noChangeAspect="1"/>
          </p:cNvPicPr>
          <p:nvPr/>
        </p:nvPicPr>
        <p:blipFill>
          <a:blip r:embed="rId2" cstate="print"/>
          <a:stretch>
            <a:fillRect/>
          </a:stretch>
        </p:blipFill>
        <p:spPr>
          <a:xfrm>
            <a:off x="2852658" y="3615726"/>
            <a:ext cx="6486683" cy="2740624"/>
          </a:xfrm>
          <a:prstGeom prst="rect">
            <a:avLst/>
          </a:prstGeom>
        </p:spPr>
      </p:pic>
    </p:spTree>
    <p:extLst>
      <p:ext uri="{BB962C8B-B14F-4D97-AF65-F5344CB8AC3E}">
        <p14:creationId xmlns:p14="http://schemas.microsoft.com/office/powerpoint/2010/main" xmlns="" val="473149203"/>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50</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000501"/>
          </a:xfrm>
          <a:prstGeom prst="rect">
            <a:avLst/>
          </a:prstGeom>
          <a:noFill/>
        </p:spPr>
        <p:txBody>
          <a:bodyPr wrap="square" rtlCol="0">
            <a:spAutoFit/>
          </a:bodyPr>
          <a:lstStyle/>
          <a:p>
            <a:pPr algn="just">
              <a:lnSpc>
                <a:spcPct val="115000"/>
              </a:lnSpc>
              <a:spcAft>
                <a:spcPts val="1000"/>
              </a:spcAft>
            </a:pPr>
            <a:r>
              <a:rPr lang="fr-FR" sz="2400" dirty="0">
                <a:effectLst/>
                <a:ea typeface="Calibri" panose="020F0502020204030204" pitchFamily="34" charset="0"/>
                <a:cs typeface="Times New Roman" panose="02020603050405020304" pitchFamily="18" charset="0"/>
              </a:rPr>
              <a:t>Pour traduire un MCD en troisième forme normale en un MLDR, il suffit d’appliquer cinq règles (à connaître par cœur). Mais avant, on dit qu’une association entre deux entités (éventuellement réflexive) est de type :</a:t>
            </a: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1 : 1 si les deux cardinalités sont 0,1 ou 1,1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1 : n si une des deux cardinalité est 0,n ou 1,n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dirty="0">
                <a:solidFill>
                  <a:srgbClr val="000000"/>
                </a:solidFill>
                <a:effectLst/>
                <a:ea typeface="Calibri" panose="020F0502020204030204" pitchFamily="34" charset="0"/>
                <a:cs typeface="Times New Roman" panose="02020603050405020304" pitchFamily="18" charset="0"/>
              </a:rPr>
              <a:t>n : m (plusieurs à plusieurs) si les deux cardinalités sont 0,n ou 1,n.</a:t>
            </a: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1166139314"/>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51</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721724"/>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marL="342900" lvl="0" indent="-342900" algn="just" rtl="0">
              <a:lnSpc>
                <a:spcPct val="115000"/>
              </a:lnSpc>
              <a:spcAft>
                <a:spcPts val="1000"/>
              </a:spcAft>
              <a:buFont typeface="Wingdings" panose="05000000000000000000" pitchFamily="2" charset="2"/>
              <a:buChar char=""/>
            </a:pPr>
            <a:r>
              <a:rPr lang="fr-FR" sz="2400" b="1" i="1" u="sng" dirty="0">
                <a:solidFill>
                  <a:srgbClr val="000000"/>
                </a:solidFill>
                <a:effectLst/>
                <a:ea typeface="Calibri" panose="020F0502020204030204" pitchFamily="34" charset="0"/>
                <a:cs typeface="Times New Roman" panose="02020603050405020304" pitchFamily="18" charset="0"/>
              </a:rPr>
              <a:t>Règle 1 :</a:t>
            </a:r>
            <a:r>
              <a:rPr lang="fr-FR" sz="2400" dirty="0">
                <a:solidFill>
                  <a:srgbClr val="000000"/>
                </a:solidFill>
                <a:effectLst/>
                <a:ea typeface="Calibri" panose="020F0502020204030204" pitchFamily="34" charset="0"/>
                <a:cs typeface="Times New Roman" panose="02020603050405020304" pitchFamily="18" charset="0"/>
              </a:rPr>
              <a:t> toute entité devient une table dans laquelle les attributs deviennent des colonnes. L’identifiant de l’entité constitue alors la clé primaire de la table. Par exemple, l’entité articles </a:t>
            </a:r>
            <a:r>
              <a:rPr lang="fr-FR" sz="2400" dirty="0">
                <a:effectLst/>
                <a:ea typeface="Calibri" panose="020F0502020204030204" pitchFamily="34" charset="0"/>
                <a:cs typeface="Times New Roman" panose="02020603050405020304" pitchFamily="18" charset="0"/>
              </a:rPr>
              <a:t>de la figure « </a:t>
            </a:r>
            <a:r>
              <a:rPr lang="fr-FR" sz="2400" b="1" dirty="0">
                <a:effectLst/>
                <a:ea typeface="Calibri" panose="020F0502020204030204" pitchFamily="34" charset="0"/>
                <a:cs typeface="Times New Roman" panose="02020603050405020304" pitchFamily="18" charset="0"/>
              </a:rPr>
              <a:t>Normalisation des relations</a:t>
            </a:r>
            <a:r>
              <a:rPr lang="fr-FR" sz="2400" dirty="0">
                <a:effectLst/>
                <a:ea typeface="Calibri" panose="020F0502020204030204" pitchFamily="34" charset="0"/>
                <a:cs typeface="Times New Roman" panose="02020603050405020304" pitchFamily="18" charset="0"/>
              </a:rPr>
              <a:t> » devient</a:t>
            </a:r>
            <a:r>
              <a:rPr lang="fr-FR" sz="2400" dirty="0">
                <a:solidFill>
                  <a:srgbClr val="000000"/>
                </a:solidFill>
                <a:effectLst/>
                <a:ea typeface="Calibri" panose="020F0502020204030204" pitchFamily="34" charset="0"/>
                <a:cs typeface="Times New Roman" panose="02020603050405020304" pitchFamily="18" charset="0"/>
              </a:rPr>
              <a:t> la table : articles (</a:t>
            </a:r>
            <a:r>
              <a:rPr lang="fr-FR" sz="2400" u="sng" dirty="0">
                <a:solidFill>
                  <a:srgbClr val="000000"/>
                </a:solidFill>
                <a:effectLst/>
                <a:ea typeface="Calibri" panose="020F0502020204030204" pitchFamily="34" charset="0"/>
                <a:cs typeface="Times New Roman" panose="02020603050405020304" pitchFamily="18" charset="0"/>
              </a:rPr>
              <a:t>numéro article</a:t>
            </a:r>
            <a:r>
              <a:rPr lang="fr-FR" sz="2400" dirty="0">
                <a:solidFill>
                  <a:srgbClr val="000000"/>
                </a:solidFill>
                <a:effectLst/>
                <a:ea typeface="Calibri" panose="020F0502020204030204" pitchFamily="34" charset="0"/>
                <a:cs typeface="Times New Roman" panose="02020603050405020304" pitchFamily="18" charset="0"/>
              </a:rPr>
              <a:t>, nom article, prix unitaire de vente, ...)</a:t>
            </a:r>
            <a:endParaRPr lang="fr-FR" sz="24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fr-FR" sz="2400" b="1" i="1" u="sng" dirty="0">
                <a:solidFill>
                  <a:srgbClr val="000000"/>
                </a:solidFill>
                <a:effectLst/>
                <a:ea typeface="Calibri" panose="020F0502020204030204" pitchFamily="34" charset="0"/>
                <a:cs typeface="Times New Roman" panose="02020603050405020304" pitchFamily="18" charset="0"/>
              </a:rPr>
              <a:t>Règle 2 :</a:t>
            </a:r>
            <a:r>
              <a:rPr lang="fr-FR" sz="2400" dirty="0">
                <a:solidFill>
                  <a:srgbClr val="000000"/>
                </a:solidFill>
                <a:effectLst/>
                <a:ea typeface="Calibri" panose="020F0502020204030204" pitchFamily="34" charset="0"/>
                <a:cs typeface="Times New Roman" panose="02020603050405020304" pitchFamily="18" charset="0"/>
              </a:rPr>
              <a:t> dans le cas de deux entités reliées par une association de type 1 : 1, on ajoute aux deux tables une clé étrangère vers la clé primaire de l’autre. Les attributs de l’association sont alors repartis vers l’une des deux tables. </a:t>
            </a: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73787302"/>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52</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978205"/>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Par exemple, l’association résider de la figure « </a:t>
            </a:r>
            <a:r>
              <a:rPr lang="fr-FR" sz="2400" b="1" dirty="0">
                <a:solidFill>
                  <a:srgbClr val="000000"/>
                </a:solidFill>
                <a:effectLst/>
                <a:ea typeface="Calibri" panose="020F0502020204030204" pitchFamily="34" charset="0"/>
                <a:cs typeface="Times New Roman" panose="02020603050405020304" pitchFamily="18" charset="0"/>
              </a:rPr>
              <a:t>Associations plurielles</a:t>
            </a:r>
            <a:r>
              <a:rPr lang="fr-FR" sz="2400" dirty="0">
                <a:solidFill>
                  <a:srgbClr val="000000"/>
                </a:solidFill>
                <a:effectLst/>
                <a:ea typeface="Calibri" panose="020F0502020204030204" pitchFamily="34" charset="0"/>
                <a:cs typeface="Times New Roman" panose="02020603050405020304" pitchFamily="18" charset="0"/>
              </a:rPr>
              <a:t> » est traduite par :</a:t>
            </a:r>
          </a:p>
          <a:p>
            <a:pPr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êtres humains (</a:t>
            </a:r>
            <a:r>
              <a:rPr lang="fr-FR" sz="2400" u="sng" dirty="0">
                <a:solidFill>
                  <a:srgbClr val="000000"/>
                </a:solidFill>
                <a:effectLst/>
                <a:ea typeface="Calibri" panose="020F0502020204030204" pitchFamily="34" charset="0"/>
                <a:cs typeface="Times New Roman" panose="02020603050405020304" pitchFamily="18" charset="0"/>
              </a:rPr>
              <a:t>numéro personnel</a:t>
            </a:r>
            <a:r>
              <a:rPr lang="fr-FR" sz="2400" dirty="0">
                <a:solidFill>
                  <a:srgbClr val="000000"/>
                </a:solidFill>
                <a:effectLst/>
                <a:ea typeface="Calibri" panose="020F0502020204030204" pitchFamily="34" charset="0"/>
                <a:cs typeface="Times New Roman" panose="02020603050405020304" pitchFamily="18" charset="0"/>
              </a:rPr>
              <a:t>, nom, prénom, #numéro appartement, date d’entrée, ...) </a:t>
            </a:r>
          </a:p>
          <a:p>
            <a:pPr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logement(</a:t>
            </a:r>
            <a:r>
              <a:rPr lang="fr-FR" sz="2400" u="sng" dirty="0">
                <a:solidFill>
                  <a:srgbClr val="000000"/>
                </a:solidFill>
                <a:effectLst/>
                <a:ea typeface="Calibri" panose="020F0502020204030204" pitchFamily="34" charset="0"/>
                <a:cs typeface="Times New Roman" panose="02020603050405020304" pitchFamily="18" charset="0"/>
              </a:rPr>
              <a:t>numéro appartement</a:t>
            </a:r>
            <a:r>
              <a:rPr lang="fr-FR" sz="2400" dirty="0">
                <a:solidFill>
                  <a:srgbClr val="000000"/>
                </a:solidFill>
                <a:effectLst/>
                <a:ea typeface="Calibri" panose="020F0502020204030204" pitchFamily="34" charset="0"/>
                <a:cs typeface="Times New Roman" panose="02020603050405020304" pitchFamily="18" charset="0"/>
              </a:rPr>
              <a:t>, adresse, #numéro personnel, montant du loyer, ...)</a:t>
            </a:r>
            <a:endParaRPr lang="fr-FR" sz="2400" dirty="0">
              <a:effectLst/>
              <a:ea typeface="Calibri" panose="020F0502020204030204" pitchFamily="34" charset="0"/>
              <a:cs typeface="Times New Roman" panose="02020603050405020304" pitchFamily="18" charset="0"/>
            </a:endParaRPr>
          </a:p>
          <a:p>
            <a:pPr algn="just">
              <a:lnSpc>
                <a:spcPct val="115000"/>
              </a:lnSpc>
              <a:spcAft>
                <a:spcPts val="1000"/>
              </a:spcAft>
            </a:pP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720414035"/>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53</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045094"/>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endParaRPr lang="fr-FR" sz="2400" dirty="0">
              <a:solidFill>
                <a:srgbClr val="FF0000"/>
              </a:solidFill>
              <a:effectLst/>
              <a:ea typeface="Calibri" panose="020F0502020204030204" pitchFamily="34" charset="0"/>
              <a:cs typeface="Times New Roman" panose="02020603050405020304" pitchFamily="18" charset="0"/>
            </a:endParaRPr>
          </a:p>
        </p:txBody>
      </p:sp>
      <p:pic>
        <p:nvPicPr>
          <p:cNvPr id="9" name="Image 8">
            <a:extLst>
              <a:ext uri="{FF2B5EF4-FFF2-40B4-BE49-F238E27FC236}">
                <a16:creationId xmlns:a16="http://schemas.microsoft.com/office/drawing/2014/main" xmlns="" id="{BCBC4788-5698-450A-8130-6BAFF1987AE4}"/>
              </a:ext>
            </a:extLst>
          </p:cNvPr>
          <p:cNvPicPr>
            <a:picLocks noChangeAspect="1"/>
          </p:cNvPicPr>
          <p:nvPr/>
        </p:nvPicPr>
        <p:blipFill>
          <a:blip r:embed="rId2" cstate="print"/>
          <a:stretch>
            <a:fillRect/>
          </a:stretch>
        </p:blipFill>
        <p:spPr>
          <a:xfrm>
            <a:off x="2115935" y="2557221"/>
            <a:ext cx="7960129" cy="3533613"/>
          </a:xfrm>
          <a:prstGeom prst="rect">
            <a:avLst/>
          </a:prstGeom>
        </p:spPr>
      </p:pic>
    </p:spTree>
    <p:extLst>
      <p:ext uri="{BB962C8B-B14F-4D97-AF65-F5344CB8AC3E}">
        <p14:creationId xmlns:p14="http://schemas.microsoft.com/office/powerpoint/2010/main" xmlns="" val="366235640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54</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849965"/>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marL="342900" lvl="0" indent="-342900" algn="just" rtl="0">
              <a:lnSpc>
                <a:spcPct val="115000"/>
              </a:lnSpc>
              <a:spcAft>
                <a:spcPts val="1000"/>
              </a:spcAft>
              <a:buFont typeface="Wingdings" panose="05000000000000000000" pitchFamily="2" charset="2"/>
              <a:buChar char=""/>
            </a:pPr>
            <a:r>
              <a:rPr lang="fr-FR" sz="2400" b="1" i="1" u="sng" dirty="0">
                <a:solidFill>
                  <a:srgbClr val="000000"/>
                </a:solidFill>
                <a:effectLst/>
                <a:ea typeface="Calibri" panose="020F0502020204030204" pitchFamily="34" charset="0"/>
                <a:cs typeface="Times New Roman" panose="02020603050405020304" pitchFamily="18" charset="0"/>
              </a:rPr>
              <a:t>Règle 3 :</a:t>
            </a:r>
            <a:r>
              <a:rPr lang="fr-FR" sz="2400" dirty="0">
                <a:solidFill>
                  <a:srgbClr val="000000"/>
                </a:solidFill>
                <a:effectLst/>
                <a:ea typeface="Calibri" panose="020F0502020204030204" pitchFamily="34" charset="0"/>
                <a:cs typeface="Times New Roman" panose="02020603050405020304" pitchFamily="18" charset="0"/>
              </a:rPr>
              <a:t> dans le cas de deux entités reliées par une association de type 1 : n, l’identifiant de l’entité côté 0,n ou 1,n devient une clé étrangère vers la clé primaire de la table côté 0,1 ou 1,1. Les attributs de l’association glissent vers la table côté 0,1 ou 1,1. Par exemple, l’association « </a:t>
            </a:r>
            <a:r>
              <a:rPr lang="fr-FR" sz="2400" b="1" dirty="0">
                <a:solidFill>
                  <a:srgbClr val="000000"/>
                </a:solidFill>
                <a:effectLst/>
                <a:ea typeface="Calibri" panose="020F0502020204030204" pitchFamily="34" charset="0"/>
                <a:cs typeface="Times New Roman" panose="02020603050405020304" pitchFamily="18" charset="0"/>
              </a:rPr>
              <a:t>concerner (2) »</a:t>
            </a:r>
            <a:r>
              <a:rPr lang="fr-FR" sz="2400" dirty="0">
                <a:solidFill>
                  <a:srgbClr val="000000"/>
                </a:solidFill>
                <a:effectLst/>
                <a:ea typeface="Calibri" panose="020F0502020204030204" pitchFamily="34" charset="0"/>
                <a:cs typeface="Times New Roman" panose="02020603050405020304" pitchFamily="18" charset="0"/>
              </a:rPr>
              <a:t> de la figure </a:t>
            </a:r>
            <a:r>
              <a:rPr lang="fr-FR" sz="2400" dirty="0">
                <a:effectLst/>
                <a:ea typeface="Calibri" panose="020F0502020204030204" pitchFamily="34" charset="0"/>
                <a:cs typeface="Times New Roman" panose="02020603050405020304" pitchFamily="18" charset="0"/>
              </a:rPr>
              <a:t>« </a:t>
            </a:r>
            <a:r>
              <a:rPr lang="fr-FR" sz="2400" b="1" dirty="0">
                <a:effectLst/>
                <a:ea typeface="Calibri" panose="020F0502020204030204" pitchFamily="34" charset="0"/>
                <a:cs typeface="Times New Roman" panose="02020603050405020304" pitchFamily="18" charset="0"/>
              </a:rPr>
              <a:t>Normalisation des relations</a:t>
            </a:r>
            <a:r>
              <a:rPr lang="fr-FR" sz="2400" dirty="0">
                <a:effectLst/>
                <a:ea typeface="Calibri" panose="020F0502020204030204" pitchFamily="34" charset="0"/>
                <a:cs typeface="Times New Roman" panose="02020603050405020304" pitchFamily="18" charset="0"/>
              </a:rPr>
              <a:t> » </a:t>
            </a:r>
            <a:r>
              <a:rPr lang="fr-FR" sz="2400" dirty="0">
                <a:solidFill>
                  <a:srgbClr val="000000"/>
                </a:solidFill>
                <a:effectLst/>
                <a:ea typeface="Calibri" panose="020F0502020204030204" pitchFamily="34" charset="0"/>
                <a:cs typeface="Times New Roman" panose="02020603050405020304" pitchFamily="18" charset="0"/>
              </a:rPr>
              <a:t>est traduite par : </a:t>
            </a:r>
            <a:endParaRPr lang="fr-FR" sz="2400" dirty="0">
              <a:effectLst/>
              <a:ea typeface="Calibri" panose="020F0502020204030204" pitchFamily="34" charset="0"/>
              <a:cs typeface="Times New Roman" panose="02020603050405020304" pitchFamily="18" charset="0"/>
            </a:endParaRPr>
          </a:p>
          <a:p>
            <a:pPr marL="270510"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articles(</a:t>
            </a:r>
            <a:r>
              <a:rPr lang="fr-FR" sz="2400" u="sng" dirty="0">
                <a:solidFill>
                  <a:srgbClr val="000000"/>
                </a:solidFill>
                <a:effectLst/>
                <a:ea typeface="Calibri" panose="020F0502020204030204" pitchFamily="34" charset="0"/>
                <a:cs typeface="Times New Roman" panose="02020603050405020304" pitchFamily="18" charset="0"/>
              </a:rPr>
              <a:t>numéro article</a:t>
            </a:r>
            <a:r>
              <a:rPr lang="fr-FR" sz="2400" dirty="0">
                <a:solidFill>
                  <a:srgbClr val="000000"/>
                </a:solidFill>
                <a:effectLst/>
                <a:ea typeface="Calibri" panose="020F0502020204030204" pitchFamily="34" charset="0"/>
                <a:cs typeface="Times New Roman" panose="02020603050405020304" pitchFamily="18" charset="0"/>
              </a:rPr>
              <a:t>, nom article, prix unitaire de vente, ...)</a:t>
            </a:r>
            <a:endParaRPr lang="fr-FR" sz="2400" dirty="0">
              <a:effectLst/>
              <a:ea typeface="Calibri" panose="020F0502020204030204" pitchFamily="34" charset="0"/>
              <a:cs typeface="Times New Roman" panose="02020603050405020304" pitchFamily="18" charset="0"/>
            </a:endParaRPr>
          </a:p>
          <a:p>
            <a:pPr marL="270510"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livraisons(</a:t>
            </a:r>
            <a:r>
              <a:rPr lang="fr-FR" sz="2400" u="sng" dirty="0">
                <a:solidFill>
                  <a:srgbClr val="000000"/>
                </a:solidFill>
                <a:effectLst/>
                <a:ea typeface="Calibri" panose="020F0502020204030204" pitchFamily="34" charset="0"/>
                <a:cs typeface="Times New Roman" panose="02020603050405020304" pitchFamily="18" charset="0"/>
              </a:rPr>
              <a:t>numéro livraison</a:t>
            </a:r>
            <a:r>
              <a:rPr lang="fr-FR" sz="2400" dirty="0">
                <a:solidFill>
                  <a:srgbClr val="000000"/>
                </a:solidFill>
                <a:effectLst/>
                <a:ea typeface="Calibri" panose="020F0502020204030204" pitchFamily="34" charset="0"/>
                <a:cs typeface="Times New Roman" panose="02020603050405020304" pitchFamily="18" charset="0"/>
              </a:rPr>
              <a:t>, date, #numéro article, quantité livrée)</a:t>
            </a: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3327977870"/>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55</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045094"/>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endParaRPr lang="fr-FR" sz="2400" dirty="0">
              <a:solidFill>
                <a:srgbClr val="FF0000"/>
              </a:solidFill>
              <a:effectLst/>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xmlns="" id="{9DD92A8F-EC2A-4AFE-960B-86C0DCF78B8C}"/>
              </a:ext>
            </a:extLst>
          </p:cNvPr>
          <p:cNvPicPr>
            <a:picLocks noChangeAspect="1"/>
          </p:cNvPicPr>
          <p:nvPr/>
        </p:nvPicPr>
        <p:blipFill>
          <a:blip r:embed="rId2" cstate="print"/>
          <a:stretch>
            <a:fillRect/>
          </a:stretch>
        </p:blipFill>
        <p:spPr>
          <a:xfrm>
            <a:off x="1631400" y="2735782"/>
            <a:ext cx="8929200" cy="3052232"/>
          </a:xfrm>
          <a:prstGeom prst="rect">
            <a:avLst/>
          </a:prstGeom>
        </p:spPr>
      </p:pic>
    </p:spTree>
    <p:extLst>
      <p:ext uri="{BB962C8B-B14F-4D97-AF65-F5344CB8AC3E}">
        <p14:creationId xmlns:p14="http://schemas.microsoft.com/office/powerpoint/2010/main" xmlns="" val="1468290566"/>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56</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4651723"/>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marL="342900" lvl="0" indent="-342900" algn="just" rtl="0">
              <a:lnSpc>
                <a:spcPct val="115000"/>
              </a:lnSpc>
              <a:spcAft>
                <a:spcPts val="1000"/>
              </a:spcAft>
              <a:buFont typeface="Wingdings" panose="05000000000000000000" pitchFamily="2" charset="2"/>
              <a:buChar char=""/>
            </a:pPr>
            <a:r>
              <a:rPr lang="fr-FR" sz="2300" b="1" i="1" u="sng" dirty="0">
                <a:solidFill>
                  <a:srgbClr val="000000"/>
                </a:solidFill>
                <a:effectLst/>
                <a:ea typeface="Calibri" panose="020F0502020204030204" pitchFamily="34" charset="0"/>
                <a:cs typeface="Times New Roman" panose="02020603050405020304" pitchFamily="18" charset="0"/>
              </a:rPr>
              <a:t>Règle 4 :</a:t>
            </a:r>
            <a:r>
              <a:rPr lang="fr-FR" sz="2300" dirty="0">
                <a:solidFill>
                  <a:srgbClr val="000000"/>
                </a:solidFill>
                <a:effectLst/>
                <a:ea typeface="Calibri" panose="020F0502020204030204" pitchFamily="34" charset="0"/>
                <a:cs typeface="Times New Roman" panose="02020603050405020304" pitchFamily="18" charset="0"/>
              </a:rPr>
              <a:t> une association entre deux entités et de type n : m est traduite par une table supplémentaire (parfois appelée table de jointure) dont la clé primaire est composée de deux clés étrangères vers les clés primaires des deux tables en association. Les attributs de l’association deviennent des colonnes de cette table. Par exemple, l’association « </a:t>
            </a:r>
            <a:r>
              <a:rPr lang="fr-FR" sz="2300" b="1" dirty="0">
                <a:solidFill>
                  <a:srgbClr val="000000"/>
                </a:solidFill>
                <a:effectLst/>
                <a:ea typeface="Calibri" panose="020F0502020204030204" pitchFamily="34" charset="0"/>
                <a:cs typeface="Times New Roman" panose="02020603050405020304" pitchFamily="18" charset="0"/>
              </a:rPr>
              <a:t>concerner (1)</a:t>
            </a:r>
            <a:r>
              <a:rPr lang="fr-FR" sz="2300" dirty="0">
                <a:solidFill>
                  <a:srgbClr val="000000"/>
                </a:solidFill>
                <a:effectLst/>
                <a:ea typeface="Calibri" panose="020F0502020204030204" pitchFamily="34" charset="0"/>
                <a:cs typeface="Times New Roman" panose="02020603050405020304" pitchFamily="18" charset="0"/>
              </a:rPr>
              <a:t> » de la figure </a:t>
            </a:r>
            <a:r>
              <a:rPr lang="fr-FR" sz="2300" dirty="0">
                <a:effectLst/>
                <a:ea typeface="Calibri" panose="020F0502020204030204" pitchFamily="34" charset="0"/>
                <a:cs typeface="Times New Roman" panose="02020603050405020304" pitchFamily="18" charset="0"/>
              </a:rPr>
              <a:t>« </a:t>
            </a:r>
            <a:r>
              <a:rPr lang="fr-FR" sz="2300" b="1" dirty="0">
                <a:effectLst/>
                <a:ea typeface="Calibri" panose="020F0502020204030204" pitchFamily="34" charset="0"/>
                <a:cs typeface="Times New Roman" panose="02020603050405020304" pitchFamily="18" charset="0"/>
              </a:rPr>
              <a:t>Normalisation des relations</a:t>
            </a:r>
            <a:r>
              <a:rPr lang="fr-FR" sz="2300" dirty="0">
                <a:effectLst/>
                <a:ea typeface="Calibri" panose="020F0502020204030204" pitchFamily="34" charset="0"/>
                <a:cs typeface="Times New Roman" panose="02020603050405020304" pitchFamily="18" charset="0"/>
              </a:rPr>
              <a:t> » </a:t>
            </a:r>
            <a:r>
              <a:rPr lang="fr-FR" sz="2300" dirty="0">
                <a:solidFill>
                  <a:srgbClr val="000000"/>
                </a:solidFill>
                <a:effectLst/>
                <a:ea typeface="Calibri" panose="020F0502020204030204" pitchFamily="34" charset="0"/>
                <a:cs typeface="Times New Roman" panose="02020603050405020304" pitchFamily="18" charset="0"/>
              </a:rPr>
              <a:t>est traduite par :</a:t>
            </a:r>
            <a:endParaRPr lang="fr-FR" sz="2300" dirty="0">
              <a:effectLst/>
              <a:ea typeface="Calibri" panose="020F0502020204030204" pitchFamily="34" charset="0"/>
              <a:cs typeface="Times New Roman" panose="02020603050405020304" pitchFamily="18" charset="0"/>
            </a:endParaRPr>
          </a:p>
          <a:p>
            <a:pPr marL="270510" algn="just">
              <a:lnSpc>
                <a:spcPct val="115000"/>
              </a:lnSpc>
              <a:spcAft>
                <a:spcPts val="1000"/>
              </a:spcAft>
            </a:pPr>
            <a:r>
              <a:rPr lang="fr-FR" sz="2300" dirty="0">
                <a:solidFill>
                  <a:srgbClr val="000000"/>
                </a:solidFill>
                <a:effectLst/>
                <a:ea typeface="Calibri" panose="020F0502020204030204" pitchFamily="34" charset="0"/>
                <a:cs typeface="Times New Roman" panose="02020603050405020304" pitchFamily="18" charset="0"/>
              </a:rPr>
              <a:t>Articles (</a:t>
            </a:r>
            <a:r>
              <a:rPr lang="fr-FR" sz="2300" u="sng" dirty="0">
                <a:solidFill>
                  <a:srgbClr val="000000"/>
                </a:solidFill>
                <a:effectLst/>
                <a:ea typeface="Calibri" panose="020F0502020204030204" pitchFamily="34" charset="0"/>
                <a:cs typeface="Times New Roman" panose="02020603050405020304" pitchFamily="18" charset="0"/>
              </a:rPr>
              <a:t>numéro article</a:t>
            </a:r>
            <a:r>
              <a:rPr lang="fr-FR" sz="2300" dirty="0">
                <a:solidFill>
                  <a:srgbClr val="000000"/>
                </a:solidFill>
                <a:effectLst/>
                <a:ea typeface="Calibri" panose="020F0502020204030204" pitchFamily="34" charset="0"/>
                <a:cs typeface="Times New Roman" panose="02020603050405020304" pitchFamily="18" charset="0"/>
              </a:rPr>
              <a:t>, nom article, prix unitaire de vente, ...)</a:t>
            </a:r>
            <a:endParaRPr lang="fr-FR" sz="2300" dirty="0">
              <a:effectLst/>
              <a:ea typeface="Calibri" panose="020F0502020204030204" pitchFamily="34" charset="0"/>
              <a:cs typeface="Times New Roman" panose="02020603050405020304" pitchFamily="18" charset="0"/>
            </a:endParaRPr>
          </a:p>
          <a:p>
            <a:pPr marL="270510" algn="just">
              <a:lnSpc>
                <a:spcPct val="115000"/>
              </a:lnSpc>
              <a:spcAft>
                <a:spcPts val="1000"/>
              </a:spcAft>
            </a:pPr>
            <a:r>
              <a:rPr lang="fr-FR" sz="2300" dirty="0">
                <a:solidFill>
                  <a:srgbClr val="000000"/>
                </a:solidFill>
                <a:effectLst/>
                <a:ea typeface="Calibri" panose="020F0502020204030204" pitchFamily="34" charset="0"/>
                <a:cs typeface="Times New Roman" panose="02020603050405020304" pitchFamily="18" charset="0"/>
              </a:rPr>
              <a:t>lignes de commande (</a:t>
            </a:r>
            <a:r>
              <a:rPr lang="fr-FR" sz="2300" u="sng" dirty="0">
                <a:solidFill>
                  <a:srgbClr val="000000"/>
                </a:solidFill>
                <a:effectLst/>
                <a:ea typeface="Calibri" panose="020F0502020204030204" pitchFamily="34" charset="0"/>
                <a:cs typeface="Times New Roman" panose="02020603050405020304" pitchFamily="18" charset="0"/>
              </a:rPr>
              <a:t>#numéro commande, #numéro article</a:t>
            </a:r>
            <a:r>
              <a:rPr lang="fr-FR" sz="2300" dirty="0">
                <a:solidFill>
                  <a:srgbClr val="000000"/>
                </a:solidFill>
                <a:effectLst/>
                <a:ea typeface="Calibri" panose="020F0502020204030204" pitchFamily="34" charset="0"/>
                <a:cs typeface="Times New Roman" panose="02020603050405020304" pitchFamily="18" charset="0"/>
              </a:rPr>
              <a:t>, quantité commandée)</a:t>
            </a:r>
            <a:endParaRPr lang="fr-FR" sz="2300" dirty="0">
              <a:effectLst/>
              <a:ea typeface="Calibri" panose="020F0502020204030204" pitchFamily="34" charset="0"/>
              <a:cs typeface="Times New Roman" panose="02020603050405020304" pitchFamily="18" charset="0"/>
            </a:endParaRPr>
          </a:p>
          <a:p>
            <a:pPr marL="270510" algn="just">
              <a:lnSpc>
                <a:spcPct val="115000"/>
              </a:lnSpc>
              <a:spcAft>
                <a:spcPts val="1000"/>
              </a:spcAft>
            </a:pPr>
            <a:r>
              <a:rPr lang="fr-FR" sz="2300" dirty="0">
                <a:solidFill>
                  <a:srgbClr val="000000"/>
                </a:solidFill>
                <a:effectLst/>
                <a:ea typeface="Calibri" panose="020F0502020204030204" pitchFamily="34" charset="0"/>
                <a:cs typeface="Times New Roman" panose="02020603050405020304" pitchFamily="18" charset="0"/>
              </a:rPr>
              <a:t>commandes (</a:t>
            </a:r>
            <a:r>
              <a:rPr lang="fr-FR" sz="2300" u="sng" dirty="0">
                <a:solidFill>
                  <a:srgbClr val="000000"/>
                </a:solidFill>
                <a:effectLst/>
                <a:ea typeface="Calibri" panose="020F0502020204030204" pitchFamily="34" charset="0"/>
                <a:cs typeface="Times New Roman" panose="02020603050405020304" pitchFamily="18" charset="0"/>
              </a:rPr>
              <a:t>numéro commande</a:t>
            </a:r>
            <a:r>
              <a:rPr lang="fr-FR" sz="2300" dirty="0">
                <a:solidFill>
                  <a:srgbClr val="000000"/>
                </a:solidFill>
                <a:effectLst/>
                <a:ea typeface="Calibri" panose="020F0502020204030204" pitchFamily="34" charset="0"/>
                <a:cs typeface="Times New Roman" panose="02020603050405020304" pitchFamily="18" charset="0"/>
              </a:rPr>
              <a:t>, date, ...)</a:t>
            </a:r>
            <a:endParaRPr lang="fr-FR" sz="23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155480240"/>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57</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045094"/>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endParaRPr lang="fr-FR" sz="2400" dirty="0">
              <a:solidFill>
                <a:srgbClr val="FF0000"/>
              </a:solidFill>
              <a:effectLst/>
              <a:ea typeface="Calibri" panose="020F0502020204030204" pitchFamily="34" charset="0"/>
              <a:cs typeface="Times New Roman" panose="02020603050405020304" pitchFamily="18" charset="0"/>
            </a:endParaRPr>
          </a:p>
        </p:txBody>
      </p:sp>
      <p:pic>
        <p:nvPicPr>
          <p:cNvPr id="6" name="Image 5">
            <a:extLst>
              <a:ext uri="{FF2B5EF4-FFF2-40B4-BE49-F238E27FC236}">
                <a16:creationId xmlns:a16="http://schemas.microsoft.com/office/drawing/2014/main" xmlns="" id="{19A1896E-4134-4A16-B513-50FE6BAF480C}"/>
              </a:ext>
            </a:extLst>
          </p:cNvPr>
          <p:cNvPicPr>
            <a:picLocks noChangeAspect="1"/>
          </p:cNvPicPr>
          <p:nvPr/>
        </p:nvPicPr>
        <p:blipFill>
          <a:blip r:embed="rId2" cstate="print"/>
          <a:stretch>
            <a:fillRect/>
          </a:stretch>
        </p:blipFill>
        <p:spPr>
          <a:xfrm>
            <a:off x="838200" y="2620407"/>
            <a:ext cx="10433527" cy="2546905"/>
          </a:xfrm>
          <a:prstGeom prst="rect">
            <a:avLst/>
          </a:prstGeom>
        </p:spPr>
      </p:pic>
    </p:spTree>
    <p:extLst>
      <p:ext uri="{BB962C8B-B14F-4D97-AF65-F5344CB8AC3E}">
        <p14:creationId xmlns:p14="http://schemas.microsoft.com/office/powerpoint/2010/main" xmlns="" val="2518123415"/>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58</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3721724"/>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marL="342900" lvl="0" indent="-342900" algn="just" rtl="0">
              <a:lnSpc>
                <a:spcPct val="115000"/>
              </a:lnSpc>
              <a:spcAft>
                <a:spcPts val="1000"/>
              </a:spcAft>
              <a:buFont typeface="Wingdings" panose="05000000000000000000" pitchFamily="2" charset="2"/>
              <a:buChar char=""/>
            </a:pPr>
            <a:r>
              <a:rPr lang="fr-FR" sz="2400" b="1" i="1" u="sng" dirty="0">
                <a:solidFill>
                  <a:srgbClr val="000000"/>
                </a:solidFill>
                <a:effectLst/>
                <a:ea typeface="Calibri" panose="020F0502020204030204" pitchFamily="34" charset="0"/>
                <a:cs typeface="Times New Roman" panose="02020603050405020304" pitchFamily="18" charset="0"/>
              </a:rPr>
              <a:t>Règle 5 :</a:t>
            </a:r>
            <a:r>
              <a:rPr lang="fr-FR" sz="2400" dirty="0">
                <a:solidFill>
                  <a:srgbClr val="000000"/>
                </a:solidFill>
                <a:effectLst/>
                <a:ea typeface="Calibri" panose="020F0502020204030204" pitchFamily="34" charset="0"/>
                <a:cs typeface="Times New Roman" panose="02020603050405020304" pitchFamily="18" charset="0"/>
              </a:rPr>
              <a:t> une association entre trois entités ou plus est traduite par une table supplémentaire dont la clé primaire est composées d’autant de clés étrangères que d’entités. Les attributs de l’association deviennent des colonnes de cette table. Par exemple, l’association vols de la figure « </a:t>
            </a:r>
            <a:r>
              <a:rPr lang="fr-FR" sz="2400" b="1" dirty="0">
                <a:solidFill>
                  <a:srgbClr val="000000"/>
                </a:solidFill>
                <a:effectLst/>
                <a:ea typeface="Calibri" panose="020F0502020204030204" pitchFamily="34" charset="0"/>
                <a:cs typeface="Times New Roman" panose="02020603050405020304" pitchFamily="18" charset="0"/>
              </a:rPr>
              <a:t>Association ternaire </a:t>
            </a:r>
            <a:r>
              <a:rPr lang="fr-FR" sz="2400" dirty="0">
                <a:solidFill>
                  <a:srgbClr val="000000"/>
                </a:solidFill>
                <a:effectLst/>
                <a:ea typeface="Calibri" panose="020F0502020204030204" pitchFamily="34" charset="0"/>
                <a:cs typeface="Times New Roman" panose="02020603050405020304" pitchFamily="18" charset="0"/>
              </a:rPr>
              <a:t>» devient la table :</a:t>
            </a:r>
            <a:endParaRPr lang="fr-FR" sz="2400" dirty="0">
              <a:effectLst/>
              <a:ea typeface="Calibri" panose="020F0502020204030204" pitchFamily="34" charset="0"/>
              <a:cs typeface="Times New Roman" panose="02020603050405020304" pitchFamily="18" charset="0"/>
            </a:endParaRPr>
          </a:p>
          <a:p>
            <a:pPr marL="270510" algn="just">
              <a:lnSpc>
                <a:spcPct val="115000"/>
              </a:lnSpc>
              <a:spcAft>
                <a:spcPts val="1000"/>
              </a:spcAft>
            </a:pPr>
            <a:r>
              <a:rPr lang="fr-FR" sz="2400" dirty="0">
                <a:solidFill>
                  <a:srgbClr val="000000"/>
                </a:solidFill>
                <a:effectLst/>
                <a:ea typeface="Calibri" panose="020F0502020204030204" pitchFamily="34" charset="0"/>
                <a:cs typeface="Times New Roman" panose="02020603050405020304" pitchFamily="18" charset="0"/>
              </a:rPr>
              <a:t>vols (</a:t>
            </a:r>
            <a:r>
              <a:rPr lang="fr-FR" sz="2400" u="sng" dirty="0">
                <a:solidFill>
                  <a:srgbClr val="000000"/>
                </a:solidFill>
                <a:effectLst/>
                <a:ea typeface="Calibri" panose="020F0502020204030204" pitchFamily="34" charset="0"/>
                <a:cs typeface="Times New Roman" panose="02020603050405020304" pitchFamily="18" charset="0"/>
              </a:rPr>
              <a:t>#numéro avion, #numéro pilote, #numéro aéroport</a:t>
            </a:r>
            <a:r>
              <a:rPr lang="fr-FR" sz="2400" dirty="0">
                <a:solidFill>
                  <a:srgbClr val="000000"/>
                </a:solidFill>
                <a:effectLst/>
                <a:ea typeface="Calibri" panose="020F0502020204030204" pitchFamily="34" charset="0"/>
                <a:cs typeface="Times New Roman" panose="02020603050405020304" pitchFamily="18" charset="0"/>
              </a:rPr>
              <a:t>, date et heure, durée, distance)</a:t>
            </a:r>
            <a:endParaRPr lang="fr-FR"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492258609"/>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79169F5-A773-45A8-A190-7A5AF49FCD4F}"/>
              </a:ext>
            </a:extLst>
          </p:cNvPr>
          <p:cNvSpPr>
            <a:spLocks noGrp="1"/>
          </p:cNvSpPr>
          <p:nvPr>
            <p:ph type="title"/>
          </p:nvPr>
        </p:nvSpPr>
        <p:spPr/>
        <p:txBody>
          <a:bodyPr/>
          <a:lstStyle/>
          <a:p>
            <a:r>
              <a:rPr lang="fr-FR" dirty="0"/>
              <a:t>Construction d’une base de données : MLD</a:t>
            </a:r>
          </a:p>
        </p:txBody>
      </p:sp>
      <p:sp>
        <p:nvSpPr>
          <p:cNvPr id="3" name="Espace réservé du numéro de diapositive 2">
            <a:extLst>
              <a:ext uri="{FF2B5EF4-FFF2-40B4-BE49-F238E27FC236}">
                <a16:creationId xmlns:a16="http://schemas.microsoft.com/office/drawing/2014/main" xmlns="" id="{BA5020EC-3B5F-42E6-866F-AB29A3256F87}"/>
              </a:ext>
            </a:extLst>
          </p:cNvPr>
          <p:cNvSpPr>
            <a:spLocks noGrp="1"/>
          </p:cNvSpPr>
          <p:nvPr>
            <p:ph type="sldNum" sz="quarter" idx="12"/>
          </p:nvPr>
        </p:nvSpPr>
        <p:spPr/>
        <p:txBody>
          <a:bodyPr/>
          <a:lstStyle/>
          <a:p>
            <a:fld id="{15B59467-8B33-4B1A-8FFF-43B74E510468}" type="slidenum">
              <a:rPr lang="fr-FR" smtClean="0"/>
              <a:pPr/>
              <a:t>59</a:t>
            </a:fld>
            <a:endParaRPr lang="fr-FR"/>
          </a:p>
        </p:txBody>
      </p:sp>
      <p:sp>
        <p:nvSpPr>
          <p:cNvPr id="4" name="ZoneTexte 3">
            <a:extLst>
              <a:ext uri="{FF2B5EF4-FFF2-40B4-BE49-F238E27FC236}">
                <a16:creationId xmlns:a16="http://schemas.microsoft.com/office/drawing/2014/main" xmlns="" id="{EFAE5714-DAED-488D-AEB9-6B89C024E63E}"/>
              </a:ext>
            </a:extLst>
          </p:cNvPr>
          <p:cNvSpPr txBox="1"/>
          <p:nvPr/>
        </p:nvSpPr>
        <p:spPr>
          <a:xfrm>
            <a:off x="838200" y="1690688"/>
            <a:ext cx="10515600" cy="1045094"/>
          </a:xfrm>
          <a:prstGeom prst="rect">
            <a:avLst/>
          </a:prstGeom>
          <a:noFill/>
        </p:spPr>
        <p:txBody>
          <a:bodyPr wrap="square" rtlCol="0">
            <a:spAutoFit/>
          </a:bodyPr>
          <a:lstStyle/>
          <a:p>
            <a:pPr algn="just">
              <a:lnSpc>
                <a:spcPct val="115000"/>
              </a:lnSpc>
              <a:spcAft>
                <a:spcPts val="1000"/>
              </a:spcAft>
            </a:pPr>
            <a:r>
              <a:rPr lang="fr-FR" sz="2400" b="1" u="sng" dirty="0">
                <a:solidFill>
                  <a:srgbClr val="FF0000"/>
                </a:solidFill>
                <a:ea typeface="Calibri" panose="020F0502020204030204" pitchFamily="34" charset="0"/>
                <a:cs typeface="Times New Roman" panose="02020603050405020304" pitchFamily="18" charset="0"/>
              </a:rPr>
              <a:t>Règles de passage du MCD vers MLD</a:t>
            </a:r>
            <a:endParaRPr lang="fr-FR" sz="2400" dirty="0">
              <a:solidFill>
                <a:srgbClr val="FF0000"/>
              </a:solidFill>
              <a:effectLst/>
              <a:ea typeface="Calibri" panose="020F0502020204030204" pitchFamily="34" charset="0"/>
              <a:cs typeface="Times New Roman" panose="02020603050405020304" pitchFamily="18" charset="0"/>
            </a:endParaRPr>
          </a:p>
          <a:p>
            <a:pPr algn="just">
              <a:lnSpc>
                <a:spcPct val="115000"/>
              </a:lnSpc>
              <a:spcAft>
                <a:spcPts val="1000"/>
              </a:spcAft>
            </a:pPr>
            <a:endParaRPr lang="fr-FR" sz="2400" dirty="0">
              <a:solidFill>
                <a:srgbClr val="FF0000"/>
              </a:solidFill>
              <a:effectLst/>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xmlns="" id="{A44D42D9-6C32-44CC-BFD9-8B53DD8AFA70}"/>
              </a:ext>
            </a:extLst>
          </p:cNvPr>
          <p:cNvPicPr>
            <a:picLocks noChangeAspect="1"/>
          </p:cNvPicPr>
          <p:nvPr/>
        </p:nvPicPr>
        <p:blipFill>
          <a:blip r:embed="rId2" cstate="print"/>
          <a:stretch>
            <a:fillRect/>
          </a:stretch>
        </p:blipFill>
        <p:spPr>
          <a:xfrm>
            <a:off x="1527589" y="2137036"/>
            <a:ext cx="9136821" cy="4584439"/>
          </a:xfrm>
          <a:prstGeom prst="rect">
            <a:avLst/>
          </a:prstGeom>
        </p:spPr>
      </p:pic>
    </p:spTree>
    <p:extLst>
      <p:ext uri="{BB962C8B-B14F-4D97-AF65-F5344CB8AC3E}">
        <p14:creationId xmlns:p14="http://schemas.microsoft.com/office/powerpoint/2010/main" xmlns="" val="1577139631"/>
      </p:ext>
    </p:extLst>
  </p:cSld>
  <p:clrMapOvr>
    <a:masterClrMapping/>
  </p:clrMapOvr>
  <mc:AlternateContent xmlns:mc="http://schemas.openxmlformats.org/markup-compatibility/2006">
    <mc:Choice xmlns:p15="http://schemas.microsoft.com/office/powerpoint/2012/main" xmlns="" Requires="p15">
      <p:transition spd="med">
        <p15:prstTrans prst="peelOff"/>
      </p:transition>
    </mc:Choice>
    <mc:Fallback>
      <p:transition spd="med">
        <p:fade/>
      </p:transition>
    </mc:Fallback>
  </mc:AlternateContent>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Crop" id="{EC9488ED-E761-4D60-9AC4-764D1FE2C171}" vid="{CE19780C-D67D-4C13-9DE9-A52BC3BA51B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{0214B7F2-CABB-8641-943C-56DBF3709574}tf10001072</Template>
  <TotalTime>1096</TotalTime>
  <Words>1761</Words>
  <Application>Microsoft Office PowerPoint</Application>
  <PresentationFormat>Personnalisé</PresentationFormat>
  <Paragraphs>315</Paragraphs>
  <Slides>59</Slides>
  <Notes>0</Notes>
  <HiddenSlides>0</HiddenSlides>
  <MMClips>0</MMClips>
  <ScaleCrop>false</ScaleCrop>
  <HeadingPairs>
    <vt:vector size="4" baseType="variant">
      <vt:variant>
        <vt:lpstr>Thème</vt:lpstr>
      </vt:variant>
      <vt:variant>
        <vt:i4>1</vt:i4>
      </vt:variant>
      <vt:variant>
        <vt:lpstr>Titres des diapositives</vt:lpstr>
      </vt:variant>
      <vt:variant>
        <vt:i4>59</vt:i4>
      </vt:variant>
    </vt:vector>
  </HeadingPairs>
  <TitlesOfParts>
    <vt:vector size="60" baseType="lpstr">
      <vt:lpstr>Crop</vt:lpstr>
      <vt:lpstr>Base de données</vt:lpstr>
      <vt:lpstr>Plan du cours</vt:lpstr>
      <vt:lpstr>Objectifs</vt:lpstr>
      <vt:lpstr>Introduction aux bases de données</vt:lpstr>
      <vt:lpstr>Introduction aux bases de données</vt:lpstr>
      <vt:lpstr>Introduction aux bases de données</vt:lpstr>
      <vt:lpstr>Introduction aux bases de données</vt:lpstr>
      <vt:lpstr>Introduction aux bases de données</vt:lpstr>
      <vt:lpstr>Introduction aux bases de données</vt:lpstr>
      <vt:lpstr>Introduction aux bases de données</vt:lpstr>
      <vt:lpstr>Introduction aux bases de données</vt:lpstr>
      <vt:lpstr>Introduction aux bases de données</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Construction d’une base de données</vt:lpstr>
      <vt:lpstr>Diapositive 26</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MCD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lpstr>Construction d’une base de données : MLD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Base de données</dc:title>
  <dc:creator>BENALLOU IMANE</dc:creator>
  <cp:lastModifiedBy>user</cp:lastModifiedBy>
  <cp:revision>115</cp:revision>
  <dcterms:created xsi:type="dcterms:W3CDTF">2021-05-02T13:03:10Z</dcterms:created>
  <dcterms:modified xsi:type="dcterms:W3CDTF">2024-11-30T17:04:59Z</dcterms:modified>
</cp:coreProperties>
</file>