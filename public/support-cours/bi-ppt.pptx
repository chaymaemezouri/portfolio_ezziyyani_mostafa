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229.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18.xml" ContentType="application/vnd.openxmlformats-officedocument.presentationml.slide+xml"/>
  <Override PartName="/ppt/diagrams/colors11.xml" ContentType="application/vnd.openxmlformats-officedocument.drawingml.diagramColors+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69.xml" ContentType="application/vnd.openxmlformats-officedocument.presentationml.slide+xml"/>
  <Override PartName="/ppt/slides/slide221.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diagrams/colors4.xml" ContentType="application/vnd.openxmlformats-officedocument.drawingml.diagramColors+xml"/>
  <Override PartName="/ppt/diagrams/drawing10.xml" ContentType="application/vnd.ms-office.drawingml.diagramDrawing+xml"/>
  <Override PartName="/ppt/diagrams/colors16.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slides/slide55.xml" ContentType="application/vnd.openxmlformats-officedocument.presentationml.slide+xml"/>
  <Override PartName="/ppt/slides/slide237.xml" ContentType="application/vnd.openxmlformats-officedocument.presentationml.slide+xml"/>
  <Override PartName="/ppt/theme/theme2.xml" ContentType="application/vnd.openxmlformats-officedocument.theme+xml"/>
  <Override PartName="/ppt/diagrams/quickStyle3.xml" ContentType="application/vnd.openxmlformats-officedocument.drawingml.diagramStyl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diagrams/layout6.xml" ContentType="application/vnd.openxmlformats-officedocument.drawingml.diagramLayout+xml"/>
  <Override PartName="/ppt/diagrams/data10.xml" ContentType="application/vnd.openxmlformats-officedocument.drawingml.diagramData+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notesSlides/notesSlide13.xml" ContentType="application/vnd.openxmlformats-officedocument.presentationml.notesSlide+xml"/>
  <Override PartName="/ppt/diagrams/quickStyle14.xml" ContentType="application/vnd.openxmlformats-officedocument.drawingml.diagramStyle+xml"/>
  <Override PartName="/ppt/diagrams/drawing15.xml" ContentType="application/vnd.ms-office.drawingml.diagramDrawing+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diagrams/drawing8.xml" ContentType="application/vnd.ms-office.drawingml.diagramDrawing+xml"/>
  <Override PartName="/ppt/slides/slide108.xml" ContentType="application/vnd.openxmlformats-officedocument.presentationml.slide+xml"/>
  <Override PartName="/ppt/slides/slide155.xml" ContentType="application/vnd.openxmlformats-officedocument.presentationml.slide+xml"/>
  <Override PartName="/ppt/diagrams/quickStyle8.xml" ContentType="application/vnd.openxmlformats-officedocument.drawingml.diagramStyle+xml"/>
  <Override PartName="/ppt/diagrams/layout14.xml" ContentType="application/vnd.openxmlformats-officedocument.drawingml.diagramLayout+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diagrams/colors1.xml" ContentType="application/vnd.openxmlformats-officedocument.drawingml.diagramColors+xml"/>
  <Override PartName="/ppt/diagrams/colors13.xml" ContentType="application/vnd.openxmlformats-officedocument.drawingml.diagramColors+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diagrams/data15.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s/slide234.xml" ContentType="application/vnd.openxmlformats-officedocument.presentationml.slide+xml"/>
  <Override PartName="/ppt/notesSlides/notesSlide18.xml" ContentType="application/vnd.openxmlformats-officedocument.presentationml.notesSlide+xml"/>
  <Override PartName="/ppt/slides/slide41.xml" ContentType="application/vnd.openxmlformats-officedocument.presentationml.slide+xml"/>
  <Override PartName="/ppt/slides/slide223.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diagrams/colors6.xml" ContentType="application/vnd.openxmlformats-officedocument.drawingml.diagramColors+xml"/>
  <Override PartName="/ppt/notesSlides/notesSlide10.xml" ContentType="application/vnd.openxmlformats-officedocument.presentationml.notesSlide+xml"/>
  <Override PartName="/ppt/diagrams/quickStyle11.xml" ContentType="application/vnd.openxmlformats-officedocument.drawingml.diagramStyle+xml"/>
  <Override PartName="/ppt/diagrams/drawing12.xml" ContentType="application/vnd.ms-office.drawingml.diagramDrawing+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diagrams/quickStyle5.xml" ContentType="application/vnd.openxmlformats-officedocument.drawingml.diagramStyl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diagrams/colors10.xml" ContentType="application/vnd.openxmlformats-officedocument.drawingml.diagramColors+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diagrams/layout8.xml" ContentType="application/vnd.openxmlformats-officedocument.drawingml.diagramLayout+xml"/>
  <Override PartName="/ppt/diagrams/data12.xml" ContentType="application/vnd.openxmlformats-officedocument.drawingml.diagramData+xml"/>
  <Override PartName="/ppt/notesSlides/notesSlide37.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diagrams/data9.xml" ContentType="application/vnd.openxmlformats-officedocument.drawingml.diagramData+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diagrams/quickStyle16.xml" ContentType="application/vnd.openxmlformats-officedocument.drawingml.diagramStyle+xml"/>
  <Override PartName="/ppt/slides/slide168.xml" ContentType="application/vnd.openxmlformats-officedocument.presentationml.slide+xml"/>
  <Override PartName="/ppt/slides/slide179.xml" ContentType="application/vnd.openxmlformats-officedocument.presentationml.slide+xml"/>
  <Override PartName="/ppt/slides/slide231.xml" ContentType="application/vnd.openxmlformats-officedocument.presentationml.slide+xml"/>
  <Override PartName="/ppt/slides/slide157.xml" ContentType="application/vnd.openxmlformats-officedocument.presentationml.slide+xml"/>
  <Override PartName="/ppt/slides/slide220.xml" ContentType="application/vnd.openxmlformats-officedocument.presentationml.slide+xml"/>
  <Override PartName="/ppt/diagrams/layout16.xml" ContentType="application/vnd.openxmlformats-officedocument.drawingml.diagramLayout+xml"/>
  <Override PartName="/ppt/notesSlides/notesSlide40.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colors15.xml" ContentType="application/vnd.openxmlformats-officedocument.drawingml.diagramColors+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diagrams/colors8.xml" ContentType="application/vnd.openxmlformats-officedocument.drawingml.diagramColors+xml"/>
  <Override PartName="/ppt/notesSlides/notesSlide12.xml" ContentType="application/vnd.openxmlformats-officedocument.presentationml.notesSlide+xml"/>
  <Override PartName="/ppt/diagrams/quickStyle13.xml" ContentType="application/vnd.openxmlformats-officedocument.drawingml.diagramStyle+xml"/>
  <Override PartName="/ppt/diagrams/drawing14.xml" ContentType="application/vnd.ms-office.drawingml.diagramDrawing+xml"/>
  <Override PartName="/ppt/slides/slide118.xml" ContentType="application/vnd.openxmlformats-officedocument.presentationml.slide+xml"/>
  <Override PartName="/ppt/slides/slide165.xml" ContentType="application/vnd.openxmlformats-officedocument.presentationml.slide+xml"/>
  <Override PartName="/ppt/diagrams/drawing7.xml" ContentType="application/vnd.ms-office.drawingml.diagramDrawing+xml"/>
  <Override PartName="/ppt/diagrams/layout13.xml" ContentType="application/vnd.openxmlformats-officedocument.drawingml.diagramLayout+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diagrams/colors12.xml" ContentType="application/vnd.openxmlformats-officedocument.drawingml.diagramColors+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diagrams/data14.xml" ContentType="application/vnd.openxmlformats-officedocument.drawingml.diagramData+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Default Extension="wdp" ContentType="image/vnd.ms-photo"/>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Override PartName="/ppt/diagrams/quickStyle10.xml" ContentType="application/vnd.openxmlformats-officedocument.drawingml.diagramStyle+xml"/>
  <Override PartName="/ppt/diagrams/drawing11.xml" ContentType="application/vnd.ms-office.drawingml.diagramDrawing+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diagrams/drawing4.xml" ContentType="application/vnd.ms-office.drawingml.diagramDrawing+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diagrams/quickStyle4.xml" ContentType="application/vnd.openxmlformats-officedocument.drawingml.diagramStyle+xml"/>
  <Override PartName="/ppt/diagrams/layout10.xml" ContentType="application/vnd.openxmlformats-officedocument.drawingml.diagram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diagrams/data11.xml" ContentType="application/vnd.openxmlformats-officedocument.drawingml.diagramData+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notesSlides/notesSlide25.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diagrams/quickStyle15.xml" ContentType="application/vnd.openxmlformats-officedocument.drawingml.diagramStyle+xml"/>
  <Override PartName="/ppt/diagrams/drawing16.xml" ContentType="application/vnd.ms-office.drawingml.diagramDrawing+xml"/>
  <Override PartName="/ppt/slides/slide167.xml" ContentType="application/vnd.openxmlformats-officedocument.presentationml.slide+xml"/>
  <Override PartName="/ppt/diagrams/drawing9.xml" ContentType="application/vnd.ms-office.drawingml.diagramDrawing+xml"/>
  <Override PartName="/ppt/diagrams/layout15.xml" ContentType="application/vnd.openxmlformats-officedocument.drawingml.diagramLayout+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diagrams/quickStyle9.xml" ContentType="application/vnd.openxmlformats-officedocument.drawingml.diagramStyl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diagrams/colors14.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diagrams/colors2.xml" ContentType="application/vnd.openxmlformats-officedocument.drawingml.diagramColors+xml"/>
  <Override PartName="/ppt/diagrams/data16.xml" ContentType="application/vnd.openxmlformats-officedocument.drawingml.diagramData+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Override PartName="/ppt/diagrams/quickStyle1.xml" ContentType="application/vnd.openxmlformats-officedocument.drawingml.diagramStyle+xml"/>
  <Default Extension="jpeg" ContentType="image/jpeg"/>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diagrams/data5.xml" ContentType="application/vnd.openxmlformats-officedocument.drawingml.diagramData+xml"/>
  <Override PartName="/ppt/diagrams/colors7.xml" ContentType="application/vnd.openxmlformats-officedocument.drawingml.diagramColors+xml"/>
  <Override PartName="/ppt/notesSlides/notesSlide11.xml" ContentType="application/vnd.openxmlformats-officedocument.presentationml.notesSlide+xml"/>
  <Override PartName="/ppt/diagrams/quickStyle12.xml" ContentType="application/vnd.openxmlformats-officedocument.drawingml.diagramStyle+xml"/>
  <Override PartName="/ppt/diagrams/drawing13.xml" ContentType="application/vnd.ms-office.drawingml.diagramDrawing+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diagrams/drawing6.xml" ContentType="application/vnd.ms-office.drawingml.diagramDrawing+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diagrams/quickStyle6.xml" ContentType="application/vnd.openxmlformats-officedocument.drawingml.diagramStyle+xml"/>
  <Override PartName="/ppt/diagrams/layout12.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9"/>
  </p:notesMasterIdLst>
  <p:sldIdLst>
    <p:sldId id="256" r:id="rId2"/>
    <p:sldId id="302" r:id="rId3"/>
    <p:sldId id="257" r:id="rId4"/>
    <p:sldId id="267" r:id="rId5"/>
    <p:sldId id="301" r:id="rId6"/>
    <p:sldId id="258" r:id="rId7"/>
    <p:sldId id="268" r:id="rId8"/>
    <p:sldId id="260" r:id="rId9"/>
    <p:sldId id="270" r:id="rId10"/>
    <p:sldId id="259" r:id="rId11"/>
    <p:sldId id="261" r:id="rId12"/>
    <p:sldId id="262" r:id="rId13"/>
    <p:sldId id="288" r:id="rId14"/>
    <p:sldId id="265" r:id="rId15"/>
    <p:sldId id="295" r:id="rId16"/>
    <p:sldId id="296" r:id="rId17"/>
    <p:sldId id="297" r:id="rId18"/>
    <p:sldId id="298" r:id="rId19"/>
    <p:sldId id="299" r:id="rId20"/>
    <p:sldId id="289" r:id="rId21"/>
    <p:sldId id="290" r:id="rId22"/>
    <p:sldId id="291" r:id="rId23"/>
    <p:sldId id="292" r:id="rId24"/>
    <p:sldId id="293" r:id="rId25"/>
    <p:sldId id="294" r:id="rId26"/>
    <p:sldId id="264" r:id="rId27"/>
    <p:sldId id="271" r:id="rId28"/>
    <p:sldId id="266"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276" r:id="rId42"/>
    <p:sldId id="315" r:id="rId43"/>
    <p:sldId id="316" r:id="rId44"/>
    <p:sldId id="269" r:id="rId45"/>
    <p:sldId id="278" r:id="rId46"/>
    <p:sldId id="279" r:id="rId47"/>
    <p:sldId id="281" r:id="rId48"/>
    <p:sldId id="280" r:id="rId49"/>
    <p:sldId id="277" r:id="rId50"/>
    <p:sldId id="286" r:id="rId51"/>
    <p:sldId id="282" r:id="rId52"/>
    <p:sldId id="283" r:id="rId53"/>
    <p:sldId id="317" r:id="rId54"/>
    <p:sldId id="272" r:id="rId55"/>
    <p:sldId id="287" r:id="rId56"/>
    <p:sldId id="273" r:id="rId57"/>
    <p:sldId id="318" r:id="rId58"/>
    <p:sldId id="319" r:id="rId59"/>
    <p:sldId id="320" r:id="rId60"/>
    <p:sldId id="321" r:id="rId61"/>
    <p:sldId id="322" r:id="rId62"/>
    <p:sldId id="323" r:id="rId63"/>
    <p:sldId id="274" r:id="rId64"/>
    <p:sldId id="324" r:id="rId65"/>
    <p:sldId id="275" r:id="rId66"/>
    <p:sldId id="325" r:id="rId67"/>
    <p:sldId id="326" r:id="rId68"/>
    <p:sldId id="327" r:id="rId69"/>
    <p:sldId id="328" r:id="rId70"/>
    <p:sldId id="329" r:id="rId71"/>
    <p:sldId id="330" r:id="rId72"/>
    <p:sldId id="337" r:id="rId73"/>
    <p:sldId id="331" r:id="rId74"/>
    <p:sldId id="338" r:id="rId75"/>
    <p:sldId id="339" r:id="rId76"/>
    <p:sldId id="332" r:id="rId77"/>
    <p:sldId id="333" r:id="rId78"/>
    <p:sldId id="334" r:id="rId79"/>
    <p:sldId id="335" r:id="rId80"/>
    <p:sldId id="336" r:id="rId81"/>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76" r:id="rId118"/>
    <p:sldId id="377" r:id="rId119"/>
    <p:sldId id="378" r:id="rId120"/>
    <p:sldId id="379" r:id="rId121"/>
    <p:sldId id="380" r:id="rId122"/>
    <p:sldId id="381" r:id="rId123"/>
    <p:sldId id="382" r:id="rId124"/>
    <p:sldId id="383" r:id="rId125"/>
    <p:sldId id="384" r:id="rId126"/>
    <p:sldId id="385" r:id="rId127"/>
    <p:sldId id="386" r:id="rId128"/>
    <p:sldId id="387" r:id="rId129"/>
    <p:sldId id="388" r:id="rId130"/>
    <p:sldId id="389" r:id="rId131"/>
    <p:sldId id="390" r:id="rId132"/>
    <p:sldId id="391" r:id="rId133"/>
    <p:sldId id="392" r:id="rId134"/>
    <p:sldId id="393" r:id="rId135"/>
    <p:sldId id="394" r:id="rId136"/>
    <p:sldId id="395" r:id="rId137"/>
    <p:sldId id="396" r:id="rId138"/>
    <p:sldId id="397" r:id="rId139"/>
    <p:sldId id="398" r:id="rId140"/>
    <p:sldId id="399" r:id="rId141"/>
    <p:sldId id="400" r:id="rId142"/>
    <p:sldId id="401" r:id="rId143"/>
    <p:sldId id="402" r:id="rId144"/>
    <p:sldId id="403" r:id="rId145"/>
    <p:sldId id="404" r:id="rId146"/>
    <p:sldId id="405" r:id="rId147"/>
    <p:sldId id="406" r:id="rId148"/>
    <p:sldId id="407" r:id="rId149"/>
    <p:sldId id="408" r:id="rId150"/>
    <p:sldId id="409" r:id="rId151"/>
    <p:sldId id="410" r:id="rId152"/>
    <p:sldId id="411" r:id="rId153"/>
    <p:sldId id="412" r:id="rId154"/>
    <p:sldId id="413" r:id="rId155"/>
    <p:sldId id="414" r:id="rId156"/>
    <p:sldId id="415" r:id="rId157"/>
    <p:sldId id="416" r:id="rId158"/>
    <p:sldId id="417" r:id="rId159"/>
    <p:sldId id="418" r:id="rId160"/>
    <p:sldId id="419" r:id="rId161"/>
    <p:sldId id="420" r:id="rId162"/>
    <p:sldId id="421" r:id="rId163"/>
    <p:sldId id="422" r:id="rId164"/>
    <p:sldId id="423" r:id="rId165"/>
    <p:sldId id="424" r:id="rId166"/>
    <p:sldId id="425" r:id="rId167"/>
    <p:sldId id="426" r:id="rId168"/>
    <p:sldId id="427" r:id="rId169"/>
    <p:sldId id="428" r:id="rId170"/>
    <p:sldId id="429" r:id="rId171"/>
    <p:sldId id="430" r:id="rId172"/>
    <p:sldId id="431" r:id="rId173"/>
    <p:sldId id="432" r:id="rId174"/>
    <p:sldId id="433" r:id="rId175"/>
    <p:sldId id="434" r:id="rId176"/>
    <p:sldId id="435" r:id="rId177"/>
    <p:sldId id="436" r:id="rId178"/>
    <p:sldId id="437" r:id="rId179"/>
    <p:sldId id="438" r:id="rId180"/>
    <p:sldId id="439" r:id="rId181"/>
    <p:sldId id="440" r:id="rId182"/>
    <p:sldId id="441" r:id="rId183"/>
    <p:sldId id="442" r:id="rId184"/>
    <p:sldId id="443" r:id="rId185"/>
    <p:sldId id="444" r:id="rId186"/>
    <p:sldId id="445" r:id="rId187"/>
    <p:sldId id="446" r:id="rId188"/>
    <p:sldId id="447" r:id="rId189"/>
    <p:sldId id="448" r:id="rId190"/>
    <p:sldId id="449" r:id="rId191"/>
    <p:sldId id="450" r:id="rId192"/>
    <p:sldId id="451" r:id="rId193"/>
    <p:sldId id="452" r:id="rId194"/>
    <p:sldId id="453" r:id="rId195"/>
    <p:sldId id="454" r:id="rId196"/>
    <p:sldId id="455" r:id="rId197"/>
    <p:sldId id="456" r:id="rId198"/>
    <p:sldId id="457" r:id="rId199"/>
    <p:sldId id="458" r:id="rId200"/>
    <p:sldId id="459" r:id="rId201"/>
    <p:sldId id="460" r:id="rId202"/>
    <p:sldId id="461" r:id="rId203"/>
    <p:sldId id="462" r:id="rId204"/>
    <p:sldId id="463" r:id="rId205"/>
    <p:sldId id="464" r:id="rId206"/>
    <p:sldId id="465" r:id="rId207"/>
    <p:sldId id="466" r:id="rId208"/>
    <p:sldId id="467" r:id="rId209"/>
    <p:sldId id="468" r:id="rId210"/>
    <p:sldId id="469" r:id="rId211"/>
    <p:sldId id="470" r:id="rId212"/>
    <p:sldId id="471" r:id="rId213"/>
    <p:sldId id="472" r:id="rId214"/>
    <p:sldId id="473" r:id="rId215"/>
    <p:sldId id="474" r:id="rId216"/>
    <p:sldId id="475" r:id="rId217"/>
    <p:sldId id="476" r:id="rId218"/>
    <p:sldId id="477" r:id="rId219"/>
    <p:sldId id="478" r:id="rId220"/>
    <p:sldId id="479" r:id="rId221"/>
    <p:sldId id="480" r:id="rId222"/>
    <p:sldId id="481" r:id="rId223"/>
    <p:sldId id="482" r:id="rId224"/>
    <p:sldId id="483" r:id="rId225"/>
    <p:sldId id="484" r:id="rId226"/>
    <p:sldId id="485" r:id="rId227"/>
    <p:sldId id="486" r:id="rId228"/>
    <p:sldId id="487" r:id="rId229"/>
    <p:sldId id="488" r:id="rId230"/>
    <p:sldId id="489" r:id="rId231"/>
    <p:sldId id="490" r:id="rId232"/>
    <p:sldId id="491" r:id="rId233"/>
    <p:sldId id="492" r:id="rId234"/>
    <p:sldId id="493" r:id="rId235"/>
    <p:sldId id="494" r:id="rId236"/>
    <p:sldId id="495" r:id="rId237"/>
    <p:sldId id="496" r:id="rId2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0541"/>
  </p:normalViewPr>
  <p:slideViewPr>
    <p:cSldViewPr snapToGrid="0" snapToObjects="1">
      <p:cViewPr varScale="1">
        <p:scale>
          <a:sx n="61" d="100"/>
          <a:sy n="61" d="100"/>
        </p:scale>
        <p:origin x="-832" y="-6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presProps" Target="pres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theme" Target="theme/theme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8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8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E70C5-44C1-E549-92C0-0DAB4F29CDF6}" type="doc">
      <dgm:prSet loTypeId="urn:microsoft.com/office/officeart/2008/layout/LinedList" loCatId="" qsTypeId="urn:microsoft.com/office/officeart/2005/8/quickstyle/simple1" qsCatId="simple" csTypeId="urn:microsoft.com/office/officeart/2005/8/colors/colorful5" csCatId="colorful" phldr="1"/>
      <dgm:spPr/>
      <dgm:t>
        <a:bodyPr/>
        <a:lstStyle/>
        <a:p>
          <a:endParaRPr lang="en-US"/>
        </a:p>
      </dgm:t>
    </dgm:pt>
    <dgm:pt modelId="{06358908-CC38-5C42-855E-703A7260B8F8}">
      <dgm:prSet phldrT="[Text]"/>
      <dgm:spPr/>
      <dgm:t>
        <a:bodyPr/>
        <a:lstStyle/>
        <a:p>
          <a:r>
            <a:rPr lang="x-none" dirty="0"/>
            <a:t>Optimisation des processus commerciaux</a:t>
          </a:r>
          <a:endParaRPr lang="en-US" dirty="0"/>
        </a:p>
      </dgm:t>
    </dgm:pt>
    <dgm:pt modelId="{CE97AC34-0112-9D43-827E-80ABAE116D40}" type="parTrans" cxnId="{D7C43DD8-33D5-F842-AE84-A19A1D2FC172}">
      <dgm:prSet/>
      <dgm:spPr/>
      <dgm:t>
        <a:bodyPr/>
        <a:lstStyle/>
        <a:p>
          <a:endParaRPr lang="en-US"/>
        </a:p>
      </dgm:t>
    </dgm:pt>
    <dgm:pt modelId="{A05F9858-2944-9941-8235-60AC5FDAFE0E}" type="sibTrans" cxnId="{D7C43DD8-33D5-F842-AE84-A19A1D2FC172}">
      <dgm:prSet/>
      <dgm:spPr/>
      <dgm:t>
        <a:bodyPr/>
        <a:lstStyle/>
        <a:p>
          <a:endParaRPr lang="en-US"/>
        </a:p>
      </dgm:t>
    </dgm:pt>
    <dgm:pt modelId="{36B84423-4D24-E14A-93C7-5B2F798E7668}">
      <dgm:prSet phldrT="[Text]" custT="1"/>
      <dgm:spPr/>
      <dgm:t>
        <a:bodyPr/>
        <a:lstStyle/>
        <a:p>
          <a:r>
            <a:rPr lang="x-none" sz="1600" dirty="0"/>
            <a:t>La BI permet d'optimiser les processus commerciaux en identifiant les inefficacités et les goulots d'étranglement. Les entreprises peuvent utiliser les données pour analyser et améliorer leurs opérations, réduire les coûts, augmenter l'efficacité et améliorer la satisfaction client.</a:t>
          </a:r>
          <a:endParaRPr lang="en-US" sz="1600" dirty="0"/>
        </a:p>
      </dgm:t>
    </dgm:pt>
    <dgm:pt modelId="{0070631D-D2EB-264E-91A3-DF923950D28C}" type="parTrans" cxnId="{73AF8E80-78A2-C645-A14F-94438720AF3F}">
      <dgm:prSet/>
      <dgm:spPr/>
      <dgm:t>
        <a:bodyPr/>
        <a:lstStyle/>
        <a:p>
          <a:endParaRPr lang="en-US"/>
        </a:p>
      </dgm:t>
    </dgm:pt>
    <dgm:pt modelId="{B59E9CC4-1A65-7D43-ADF6-1EFD2069F680}" type="sibTrans" cxnId="{73AF8E80-78A2-C645-A14F-94438720AF3F}">
      <dgm:prSet/>
      <dgm:spPr/>
      <dgm:t>
        <a:bodyPr/>
        <a:lstStyle/>
        <a:p>
          <a:endParaRPr lang="en-US"/>
        </a:p>
      </dgm:t>
    </dgm:pt>
    <dgm:pt modelId="{D9A90914-D519-5C49-8DC8-7C5CCBD75B08}">
      <dgm:prSet phldrT="[Text]"/>
      <dgm:spPr/>
      <dgm:t>
        <a:bodyPr/>
        <a:lstStyle/>
        <a:p>
          <a:r>
            <a:rPr lang="fr-FR" noProof="0" dirty="0"/>
            <a:t>Prise de décision</a:t>
          </a:r>
        </a:p>
      </dgm:t>
    </dgm:pt>
    <dgm:pt modelId="{8FC9940E-0F45-CC4D-BAA7-2E92932C4382}" type="parTrans" cxnId="{E153E92A-2031-6041-BCC6-2C7D88FB5C2A}">
      <dgm:prSet/>
      <dgm:spPr/>
      <dgm:t>
        <a:bodyPr/>
        <a:lstStyle/>
        <a:p>
          <a:endParaRPr lang="en-US"/>
        </a:p>
      </dgm:t>
    </dgm:pt>
    <dgm:pt modelId="{E056059D-D51A-DB42-BEBC-880247CCB83D}" type="sibTrans" cxnId="{E153E92A-2031-6041-BCC6-2C7D88FB5C2A}">
      <dgm:prSet/>
      <dgm:spPr/>
      <dgm:t>
        <a:bodyPr/>
        <a:lstStyle/>
        <a:p>
          <a:endParaRPr lang="en-US"/>
        </a:p>
      </dgm:t>
    </dgm:pt>
    <dgm:pt modelId="{DEFBC5E2-2404-6845-83D4-E0DCBFC9B143}">
      <dgm:prSet phldrT="[Text]" custT="1"/>
      <dgm:spPr/>
      <dgm:t>
        <a:bodyPr/>
        <a:lstStyle/>
        <a:p>
          <a:r>
            <a:rPr lang="x-none" sz="1600" dirty="0"/>
            <a:t>La Business Intelligence permet d'améliorer la prise de décision en fournissant des informations précises et en temps réel. Les décideurs ont accès à des tableaux de bord et des rapports qui leur permettent de visualiser et d'analyser les données de l'entreprise pour prendre des décisions éclairées.</a:t>
          </a:r>
          <a:endParaRPr lang="en-US" sz="1600" dirty="0"/>
        </a:p>
      </dgm:t>
    </dgm:pt>
    <dgm:pt modelId="{622F96C1-9322-FE49-9A1F-127763EBC4FE}" type="parTrans" cxnId="{FE3E8E5E-1B7A-E249-99AF-566A289244D1}">
      <dgm:prSet/>
      <dgm:spPr/>
      <dgm:t>
        <a:bodyPr/>
        <a:lstStyle/>
        <a:p>
          <a:endParaRPr lang="en-US"/>
        </a:p>
      </dgm:t>
    </dgm:pt>
    <dgm:pt modelId="{06887431-D024-D44A-806D-44A64BC0C6A9}" type="sibTrans" cxnId="{FE3E8E5E-1B7A-E249-99AF-566A289244D1}">
      <dgm:prSet/>
      <dgm:spPr/>
      <dgm:t>
        <a:bodyPr/>
        <a:lstStyle/>
        <a:p>
          <a:endParaRPr lang="en-US"/>
        </a:p>
      </dgm:t>
    </dgm:pt>
    <dgm:pt modelId="{85390DE9-3B73-4540-A21D-2FC53456B61F}">
      <dgm:prSet phldrT="[Text]"/>
      <dgm:spPr/>
      <dgm:t>
        <a:bodyPr/>
        <a:lstStyle/>
        <a:p>
          <a:r>
            <a:rPr lang="x-none" dirty="0"/>
            <a:t>Détection des tendances et des opportunités</a:t>
          </a:r>
          <a:endParaRPr lang="en-US" dirty="0"/>
        </a:p>
      </dgm:t>
    </dgm:pt>
    <dgm:pt modelId="{70CC4BEF-96EE-8540-895A-F29B9E438A92}" type="parTrans" cxnId="{C8522FFD-4681-4249-88CC-C31A30FFCBAD}">
      <dgm:prSet/>
      <dgm:spPr/>
      <dgm:t>
        <a:bodyPr/>
        <a:lstStyle/>
        <a:p>
          <a:endParaRPr lang="en-US"/>
        </a:p>
      </dgm:t>
    </dgm:pt>
    <dgm:pt modelId="{9958D237-E532-A048-A655-ECE9C00C5D51}" type="sibTrans" cxnId="{C8522FFD-4681-4249-88CC-C31A30FFCBAD}">
      <dgm:prSet/>
      <dgm:spPr/>
      <dgm:t>
        <a:bodyPr/>
        <a:lstStyle/>
        <a:p>
          <a:endParaRPr lang="en-US"/>
        </a:p>
      </dgm:t>
    </dgm:pt>
    <dgm:pt modelId="{C75647FB-AEDC-BF45-8E1F-A5B162D31813}">
      <dgm:prSet phldrT="[Text]" custT="1"/>
      <dgm:spPr/>
      <dgm:t>
        <a:bodyPr/>
        <a:lstStyle/>
        <a:p>
          <a:r>
            <a:rPr lang="x-none" sz="1600" dirty="0"/>
            <a:t>La Business Intelligence permet de détecter les tendances et les opportunités en analysant les données historiques et en identifiant les modèles et les corrélations. Cela permet aux entreprises d'anticiper les changements du marché, de prendre des mesures proactives et de rester compétitives.</a:t>
          </a:r>
          <a:endParaRPr lang="en-US" sz="1600" dirty="0"/>
        </a:p>
      </dgm:t>
    </dgm:pt>
    <dgm:pt modelId="{AFC9D2FD-3A48-1E4B-926E-975A0D85E71D}" type="parTrans" cxnId="{63385E95-E766-924C-8A8B-A1EA34D0C48F}">
      <dgm:prSet/>
      <dgm:spPr/>
      <dgm:t>
        <a:bodyPr/>
        <a:lstStyle/>
        <a:p>
          <a:endParaRPr lang="en-US"/>
        </a:p>
      </dgm:t>
    </dgm:pt>
    <dgm:pt modelId="{A231BF4E-AF56-F846-BA95-2715D8A8DDA6}" type="sibTrans" cxnId="{63385E95-E766-924C-8A8B-A1EA34D0C48F}">
      <dgm:prSet/>
      <dgm:spPr/>
      <dgm:t>
        <a:bodyPr/>
        <a:lstStyle/>
        <a:p>
          <a:endParaRPr lang="en-US"/>
        </a:p>
      </dgm:t>
    </dgm:pt>
    <dgm:pt modelId="{15671C0B-DC8A-E54F-B03B-857BD271FF9D}">
      <dgm:prSet/>
      <dgm:spPr/>
      <dgm:t>
        <a:bodyPr/>
        <a:lstStyle/>
        <a:p>
          <a:r>
            <a:rPr lang="x-none" dirty="0"/>
            <a:t>Amélioration de la rentabilité globale</a:t>
          </a:r>
          <a:endParaRPr lang="en-US" dirty="0"/>
        </a:p>
      </dgm:t>
    </dgm:pt>
    <dgm:pt modelId="{A0584B87-3F14-5040-9BE4-CE0CA2B43E39}" type="parTrans" cxnId="{83D02908-9A06-4A4F-BFB1-A27B62E19456}">
      <dgm:prSet/>
      <dgm:spPr/>
      <dgm:t>
        <a:bodyPr/>
        <a:lstStyle/>
        <a:p>
          <a:endParaRPr lang="en-US"/>
        </a:p>
      </dgm:t>
    </dgm:pt>
    <dgm:pt modelId="{B2DCCC3D-60FD-1E4B-AFFC-A17DC8EAE074}" type="sibTrans" cxnId="{83D02908-9A06-4A4F-BFB1-A27B62E19456}">
      <dgm:prSet/>
      <dgm:spPr/>
      <dgm:t>
        <a:bodyPr/>
        <a:lstStyle/>
        <a:p>
          <a:endParaRPr lang="en-US"/>
        </a:p>
      </dgm:t>
    </dgm:pt>
    <dgm:pt modelId="{E77635E5-C8EF-384E-A603-AB4A2632C2B5}">
      <dgm:prSet custT="1"/>
      <dgm:spPr/>
      <dgm:t>
        <a:bodyPr/>
        <a:lstStyle/>
        <a:p>
          <a:r>
            <a:rPr lang="x-none" sz="1600" dirty="0"/>
            <a:t>La BI permet d'améliorer la rentabilité globale de l'entreprise en identifiant les domaines d'amélioration et en prenant des mesures pour les optimiser. Les entreprises peuvent utiliser les données pour analyser leurs revenus, leurs coûts et leur rentabilité, et prendre des décisions stratégiques pour augmenter leurs marges bénéficiaires.</a:t>
          </a:r>
          <a:endParaRPr lang="en-US" sz="1600" dirty="0"/>
        </a:p>
      </dgm:t>
    </dgm:pt>
    <dgm:pt modelId="{749508BC-E3A5-E84F-8ADE-BB1FA9BD3F65}" type="parTrans" cxnId="{7C547BB4-8C31-FD4E-A48B-45811B5732D4}">
      <dgm:prSet/>
      <dgm:spPr/>
      <dgm:t>
        <a:bodyPr/>
        <a:lstStyle/>
        <a:p>
          <a:endParaRPr lang="en-US"/>
        </a:p>
      </dgm:t>
    </dgm:pt>
    <dgm:pt modelId="{BFAC7C75-4D1A-014D-8701-2392718D671F}" type="sibTrans" cxnId="{7C547BB4-8C31-FD4E-A48B-45811B5732D4}">
      <dgm:prSet/>
      <dgm:spPr/>
      <dgm:t>
        <a:bodyPr/>
        <a:lstStyle/>
        <a:p>
          <a:endParaRPr lang="en-US"/>
        </a:p>
      </dgm:t>
    </dgm:pt>
    <dgm:pt modelId="{1895AD34-F165-1346-92DD-A662FA7B3282}" type="pres">
      <dgm:prSet presAssocID="{E14E70C5-44C1-E549-92C0-0DAB4F29CDF6}" presName="vert0" presStyleCnt="0">
        <dgm:presLayoutVars>
          <dgm:dir/>
          <dgm:animOne val="branch"/>
          <dgm:animLvl val="lvl"/>
        </dgm:presLayoutVars>
      </dgm:prSet>
      <dgm:spPr/>
      <dgm:t>
        <a:bodyPr/>
        <a:lstStyle/>
        <a:p>
          <a:endParaRPr lang="fr-FR"/>
        </a:p>
      </dgm:t>
    </dgm:pt>
    <dgm:pt modelId="{82C2ECED-D05B-4243-B5CD-9BC95761824E}" type="pres">
      <dgm:prSet presAssocID="{D9A90914-D519-5C49-8DC8-7C5CCBD75B08}" presName="thickLine" presStyleLbl="alignNode1" presStyleIdx="0" presStyleCnt="4"/>
      <dgm:spPr/>
    </dgm:pt>
    <dgm:pt modelId="{CD532EDF-B79B-9F4D-9D7C-4541F95C84C8}" type="pres">
      <dgm:prSet presAssocID="{D9A90914-D519-5C49-8DC8-7C5CCBD75B08}" presName="horz1" presStyleCnt="0"/>
      <dgm:spPr/>
    </dgm:pt>
    <dgm:pt modelId="{267FD782-53CE-BC4A-ADFB-AA7F326FA8B4}" type="pres">
      <dgm:prSet presAssocID="{D9A90914-D519-5C49-8DC8-7C5CCBD75B08}" presName="tx1" presStyleLbl="revTx" presStyleIdx="0" presStyleCnt="8"/>
      <dgm:spPr/>
      <dgm:t>
        <a:bodyPr/>
        <a:lstStyle/>
        <a:p>
          <a:endParaRPr lang="fr-FR"/>
        </a:p>
      </dgm:t>
    </dgm:pt>
    <dgm:pt modelId="{A06873CB-2763-6844-BD92-ACF6285FE050}" type="pres">
      <dgm:prSet presAssocID="{D9A90914-D519-5C49-8DC8-7C5CCBD75B08}" presName="vert1" presStyleCnt="0"/>
      <dgm:spPr/>
    </dgm:pt>
    <dgm:pt modelId="{1FA5C1BD-0BCE-9445-920E-8444EEB59F49}" type="pres">
      <dgm:prSet presAssocID="{DEFBC5E2-2404-6845-83D4-E0DCBFC9B143}" presName="vertSpace2a" presStyleCnt="0"/>
      <dgm:spPr/>
    </dgm:pt>
    <dgm:pt modelId="{37895FA2-868F-6849-B11E-2551108BF847}" type="pres">
      <dgm:prSet presAssocID="{DEFBC5E2-2404-6845-83D4-E0DCBFC9B143}" presName="horz2" presStyleCnt="0"/>
      <dgm:spPr/>
    </dgm:pt>
    <dgm:pt modelId="{6312F62E-7431-364E-AA1C-10101D47F323}" type="pres">
      <dgm:prSet presAssocID="{DEFBC5E2-2404-6845-83D4-E0DCBFC9B143}" presName="horzSpace2" presStyleCnt="0"/>
      <dgm:spPr/>
    </dgm:pt>
    <dgm:pt modelId="{A28B4FC7-284F-9D4F-B914-A25BD1C995F8}" type="pres">
      <dgm:prSet presAssocID="{DEFBC5E2-2404-6845-83D4-E0DCBFC9B143}" presName="tx2" presStyleLbl="revTx" presStyleIdx="1" presStyleCnt="8"/>
      <dgm:spPr/>
      <dgm:t>
        <a:bodyPr/>
        <a:lstStyle/>
        <a:p>
          <a:endParaRPr lang="fr-FR"/>
        </a:p>
      </dgm:t>
    </dgm:pt>
    <dgm:pt modelId="{57474AD9-65BE-3B41-9EE0-8B3CD709E24B}" type="pres">
      <dgm:prSet presAssocID="{DEFBC5E2-2404-6845-83D4-E0DCBFC9B143}" presName="vert2" presStyleCnt="0"/>
      <dgm:spPr/>
    </dgm:pt>
    <dgm:pt modelId="{E6775CC3-4ED3-D847-8F28-73CFC402CFF8}" type="pres">
      <dgm:prSet presAssocID="{DEFBC5E2-2404-6845-83D4-E0DCBFC9B143}" presName="thinLine2b" presStyleLbl="callout" presStyleIdx="0" presStyleCnt="4"/>
      <dgm:spPr/>
    </dgm:pt>
    <dgm:pt modelId="{37FE39ED-19E5-D840-A034-7CE7EEB91592}" type="pres">
      <dgm:prSet presAssocID="{DEFBC5E2-2404-6845-83D4-E0DCBFC9B143}" presName="vertSpace2b" presStyleCnt="0"/>
      <dgm:spPr/>
    </dgm:pt>
    <dgm:pt modelId="{91BEDE5B-FB66-D145-8E82-17F1E2BAA4AC}" type="pres">
      <dgm:prSet presAssocID="{06358908-CC38-5C42-855E-703A7260B8F8}" presName="thickLine" presStyleLbl="alignNode1" presStyleIdx="1" presStyleCnt="4"/>
      <dgm:spPr/>
    </dgm:pt>
    <dgm:pt modelId="{2A407D89-2BA1-754B-8058-1D39AD669C83}" type="pres">
      <dgm:prSet presAssocID="{06358908-CC38-5C42-855E-703A7260B8F8}" presName="horz1" presStyleCnt="0"/>
      <dgm:spPr/>
    </dgm:pt>
    <dgm:pt modelId="{39B2E4D5-6976-1541-850C-A6DD4A7C5D5C}" type="pres">
      <dgm:prSet presAssocID="{06358908-CC38-5C42-855E-703A7260B8F8}" presName="tx1" presStyleLbl="revTx" presStyleIdx="2" presStyleCnt="8"/>
      <dgm:spPr/>
      <dgm:t>
        <a:bodyPr/>
        <a:lstStyle/>
        <a:p>
          <a:endParaRPr lang="fr-FR"/>
        </a:p>
      </dgm:t>
    </dgm:pt>
    <dgm:pt modelId="{54931CE4-FCDE-A549-B8ED-A1CC56EF7FEC}" type="pres">
      <dgm:prSet presAssocID="{06358908-CC38-5C42-855E-703A7260B8F8}" presName="vert1" presStyleCnt="0"/>
      <dgm:spPr/>
    </dgm:pt>
    <dgm:pt modelId="{F8B4C411-CC85-F948-8C8F-2EC861BA1842}" type="pres">
      <dgm:prSet presAssocID="{36B84423-4D24-E14A-93C7-5B2F798E7668}" presName="vertSpace2a" presStyleCnt="0"/>
      <dgm:spPr/>
    </dgm:pt>
    <dgm:pt modelId="{FD9F0DD7-54AF-4143-933D-5B166CD91505}" type="pres">
      <dgm:prSet presAssocID="{36B84423-4D24-E14A-93C7-5B2F798E7668}" presName="horz2" presStyleCnt="0"/>
      <dgm:spPr/>
    </dgm:pt>
    <dgm:pt modelId="{3DC3CC1E-3D92-2847-B065-88F40D7AB650}" type="pres">
      <dgm:prSet presAssocID="{36B84423-4D24-E14A-93C7-5B2F798E7668}" presName="horzSpace2" presStyleCnt="0"/>
      <dgm:spPr/>
    </dgm:pt>
    <dgm:pt modelId="{58F19539-959A-0844-9D87-45F0347545C2}" type="pres">
      <dgm:prSet presAssocID="{36B84423-4D24-E14A-93C7-5B2F798E7668}" presName="tx2" presStyleLbl="revTx" presStyleIdx="3" presStyleCnt="8"/>
      <dgm:spPr/>
      <dgm:t>
        <a:bodyPr/>
        <a:lstStyle/>
        <a:p>
          <a:endParaRPr lang="fr-FR"/>
        </a:p>
      </dgm:t>
    </dgm:pt>
    <dgm:pt modelId="{8C6D5100-192B-874D-9891-CACAF64FB124}" type="pres">
      <dgm:prSet presAssocID="{36B84423-4D24-E14A-93C7-5B2F798E7668}" presName="vert2" presStyleCnt="0"/>
      <dgm:spPr/>
    </dgm:pt>
    <dgm:pt modelId="{5B4B0D3D-5C52-EE49-BCA0-6A0596AF7421}" type="pres">
      <dgm:prSet presAssocID="{36B84423-4D24-E14A-93C7-5B2F798E7668}" presName="thinLine2b" presStyleLbl="callout" presStyleIdx="1" presStyleCnt="4"/>
      <dgm:spPr/>
    </dgm:pt>
    <dgm:pt modelId="{D038DC9E-36ED-AA46-B4CD-1BA7FB6D4194}" type="pres">
      <dgm:prSet presAssocID="{36B84423-4D24-E14A-93C7-5B2F798E7668}" presName="vertSpace2b" presStyleCnt="0"/>
      <dgm:spPr/>
    </dgm:pt>
    <dgm:pt modelId="{9A2EB377-ABD9-A14F-BC94-EA3E5C193FD8}" type="pres">
      <dgm:prSet presAssocID="{85390DE9-3B73-4540-A21D-2FC53456B61F}" presName="thickLine" presStyleLbl="alignNode1" presStyleIdx="2" presStyleCnt="4"/>
      <dgm:spPr/>
    </dgm:pt>
    <dgm:pt modelId="{79642833-7919-FE47-857C-B593A4D53018}" type="pres">
      <dgm:prSet presAssocID="{85390DE9-3B73-4540-A21D-2FC53456B61F}" presName="horz1" presStyleCnt="0"/>
      <dgm:spPr/>
    </dgm:pt>
    <dgm:pt modelId="{D1EA834D-CD97-7748-8B0B-CBD4291258B8}" type="pres">
      <dgm:prSet presAssocID="{85390DE9-3B73-4540-A21D-2FC53456B61F}" presName="tx1" presStyleLbl="revTx" presStyleIdx="4" presStyleCnt="8"/>
      <dgm:spPr/>
      <dgm:t>
        <a:bodyPr/>
        <a:lstStyle/>
        <a:p>
          <a:endParaRPr lang="fr-FR"/>
        </a:p>
      </dgm:t>
    </dgm:pt>
    <dgm:pt modelId="{C811FA3C-BF96-574D-9B9F-8C6FCF51743C}" type="pres">
      <dgm:prSet presAssocID="{85390DE9-3B73-4540-A21D-2FC53456B61F}" presName="vert1" presStyleCnt="0"/>
      <dgm:spPr/>
    </dgm:pt>
    <dgm:pt modelId="{45A789C8-749B-0A4C-A9C4-C328E8C06BE4}" type="pres">
      <dgm:prSet presAssocID="{C75647FB-AEDC-BF45-8E1F-A5B162D31813}" presName="vertSpace2a" presStyleCnt="0"/>
      <dgm:spPr/>
    </dgm:pt>
    <dgm:pt modelId="{5F90C35A-1B72-5C4C-882B-7F4E8EB56CC8}" type="pres">
      <dgm:prSet presAssocID="{C75647FB-AEDC-BF45-8E1F-A5B162D31813}" presName="horz2" presStyleCnt="0"/>
      <dgm:spPr/>
    </dgm:pt>
    <dgm:pt modelId="{7F2CEB62-C619-C44F-AEE1-8A5BA20A0031}" type="pres">
      <dgm:prSet presAssocID="{C75647FB-AEDC-BF45-8E1F-A5B162D31813}" presName="horzSpace2" presStyleCnt="0"/>
      <dgm:spPr/>
    </dgm:pt>
    <dgm:pt modelId="{547A60B3-A5E1-7942-AB8F-04BF2713B637}" type="pres">
      <dgm:prSet presAssocID="{C75647FB-AEDC-BF45-8E1F-A5B162D31813}" presName="tx2" presStyleLbl="revTx" presStyleIdx="5" presStyleCnt="8"/>
      <dgm:spPr/>
      <dgm:t>
        <a:bodyPr/>
        <a:lstStyle/>
        <a:p>
          <a:endParaRPr lang="fr-FR"/>
        </a:p>
      </dgm:t>
    </dgm:pt>
    <dgm:pt modelId="{AA2CE641-4B29-2949-98C5-123D3CCC6FF0}" type="pres">
      <dgm:prSet presAssocID="{C75647FB-AEDC-BF45-8E1F-A5B162D31813}" presName="vert2" presStyleCnt="0"/>
      <dgm:spPr/>
    </dgm:pt>
    <dgm:pt modelId="{F7A9F04E-9F40-3F4F-84E7-FF9BF91862A3}" type="pres">
      <dgm:prSet presAssocID="{C75647FB-AEDC-BF45-8E1F-A5B162D31813}" presName="thinLine2b" presStyleLbl="callout" presStyleIdx="2" presStyleCnt="4"/>
      <dgm:spPr/>
    </dgm:pt>
    <dgm:pt modelId="{645F23D5-2A92-EC41-923E-E163B75208C4}" type="pres">
      <dgm:prSet presAssocID="{C75647FB-AEDC-BF45-8E1F-A5B162D31813}" presName="vertSpace2b" presStyleCnt="0"/>
      <dgm:spPr/>
    </dgm:pt>
    <dgm:pt modelId="{004F540C-C9E8-4C47-BCE3-70A7E6250205}" type="pres">
      <dgm:prSet presAssocID="{15671C0B-DC8A-E54F-B03B-857BD271FF9D}" presName="thickLine" presStyleLbl="alignNode1" presStyleIdx="3" presStyleCnt="4"/>
      <dgm:spPr/>
    </dgm:pt>
    <dgm:pt modelId="{0F4A20CB-A7BF-F749-BC83-DDBF305027F7}" type="pres">
      <dgm:prSet presAssocID="{15671C0B-DC8A-E54F-B03B-857BD271FF9D}" presName="horz1" presStyleCnt="0"/>
      <dgm:spPr/>
    </dgm:pt>
    <dgm:pt modelId="{83355AD3-D80F-5C47-8649-63F14BF35373}" type="pres">
      <dgm:prSet presAssocID="{15671C0B-DC8A-E54F-B03B-857BD271FF9D}" presName="tx1" presStyleLbl="revTx" presStyleIdx="6" presStyleCnt="8"/>
      <dgm:spPr/>
      <dgm:t>
        <a:bodyPr/>
        <a:lstStyle/>
        <a:p>
          <a:endParaRPr lang="fr-FR"/>
        </a:p>
      </dgm:t>
    </dgm:pt>
    <dgm:pt modelId="{1F6A93C2-AA9D-8048-A79D-8B452AA67090}" type="pres">
      <dgm:prSet presAssocID="{15671C0B-DC8A-E54F-B03B-857BD271FF9D}" presName="vert1" presStyleCnt="0"/>
      <dgm:spPr/>
    </dgm:pt>
    <dgm:pt modelId="{12C10F58-74AA-C74B-9F3E-D5044468406F}" type="pres">
      <dgm:prSet presAssocID="{E77635E5-C8EF-384E-A603-AB4A2632C2B5}" presName="vertSpace2a" presStyleCnt="0"/>
      <dgm:spPr/>
    </dgm:pt>
    <dgm:pt modelId="{39C55FC5-D072-D344-857F-15CBA4186DD6}" type="pres">
      <dgm:prSet presAssocID="{E77635E5-C8EF-384E-A603-AB4A2632C2B5}" presName="horz2" presStyleCnt="0"/>
      <dgm:spPr/>
    </dgm:pt>
    <dgm:pt modelId="{76231D93-A65D-AB48-A9EF-3369DB4D1CA5}" type="pres">
      <dgm:prSet presAssocID="{E77635E5-C8EF-384E-A603-AB4A2632C2B5}" presName="horzSpace2" presStyleCnt="0"/>
      <dgm:spPr/>
    </dgm:pt>
    <dgm:pt modelId="{F8953F5F-B061-B54B-BD35-7D78FE61950B}" type="pres">
      <dgm:prSet presAssocID="{E77635E5-C8EF-384E-A603-AB4A2632C2B5}" presName="tx2" presStyleLbl="revTx" presStyleIdx="7" presStyleCnt="8"/>
      <dgm:spPr/>
      <dgm:t>
        <a:bodyPr/>
        <a:lstStyle/>
        <a:p>
          <a:endParaRPr lang="fr-FR"/>
        </a:p>
      </dgm:t>
    </dgm:pt>
    <dgm:pt modelId="{4C4499C7-8CEF-4E45-8E1C-E3782B627C09}" type="pres">
      <dgm:prSet presAssocID="{E77635E5-C8EF-384E-A603-AB4A2632C2B5}" presName="vert2" presStyleCnt="0"/>
      <dgm:spPr/>
    </dgm:pt>
    <dgm:pt modelId="{D6CB89D2-100B-E64A-A14E-3BBA53A355F0}" type="pres">
      <dgm:prSet presAssocID="{E77635E5-C8EF-384E-A603-AB4A2632C2B5}" presName="thinLine2b" presStyleLbl="callout" presStyleIdx="3" presStyleCnt="4"/>
      <dgm:spPr/>
    </dgm:pt>
    <dgm:pt modelId="{6FD1AF05-1415-A248-95C6-190575F250F8}" type="pres">
      <dgm:prSet presAssocID="{E77635E5-C8EF-384E-A603-AB4A2632C2B5}" presName="vertSpace2b" presStyleCnt="0"/>
      <dgm:spPr/>
    </dgm:pt>
  </dgm:ptLst>
  <dgm:cxnLst>
    <dgm:cxn modelId="{8F7E7925-3D91-4D4D-982F-78212719D069}" type="presOf" srcId="{E77635E5-C8EF-384E-A603-AB4A2632C2B5}" destId="{F8953F5F-B061-B54B-BD35-7D78FE61950B}" srcOrd="0" destOrd="0" presId="urn:microsoft.com/office/officeart/2008/layout/LinedList"/>
    <dgm:cxn modelId="{73AF8E80-78A2-C645-A14F-94438720AF3F}" srcId="{06358908-CC38-5C42-855E-703A7260B8F8}" destId="{36B84423-4D24-E14A-93C7-5B2F798E7668}" srcOrd="0" destOrd="0" parTransId="{0070631D-D2EB-264E-91A3-DF923950D28C}" sibTransId="{B59E9CC4-1A65-7D43-ADF6-1EFD2069F680}"/>
    <dgm:cxn modelId="{55E7CFDD-0B9C-884C-970C-2E8B67397036}" type="presOf" srcId="{36B84423-4D24-E14A-93C7-5B2F798E7668}" destId="{58F19539-959A-0844-9D87-45F0347545C2}" srcOrd="0" destOrd="0" presId="urn:microsoft.com/office/officeart/2008/layout/LinedList"/>
    <dgm:cxn modelId="{9CB92AB6-5D0E-2446-85D8-FD407BB51082}" type="presOf" srcId="{D9A90914-D519-5C49-8DC8-7C5CCBD75B08}" destId="{267FD782-53CE-BC4A-ADFB-AA7F326FA8B4}" srcOrd="0" destOrd="0" presId="urn:microsoft.com/office/officeart/2008/layout/LinedList"/>
    <dgm:cxn modelId="{8D1FE5C0-AD85-5240-8DEA-B68D88794BAA}" type="presOf" srcId="{15671C0B-DC8A-E54F-B03B-857BD271FF9D}" destId="{83355AD3-D80F-5C47-8649-63F14BF35373}" srcOrd="0" destOrd="0" presId="urn:microsoft.com/office/officeart/2008/layout/LinedList"/>
    <dgm:cxn modelId="{83D02908-9A06-4A4F-BFB1-A27B62E19456}" srcId="{E14E70C5-44C1-E549-92C0-0DAB4F29CDF6}" destId="{15671C0B-DC8A-E54F-B03B-857BD271FF9D}" srcOrd="3" destOrd="0" parTransId="{A0584B87-3F14-5040-9BE4-CE0CA2B43E39}" sibTransId="{B2DCCC3D-60FD-1E4B-AFFC-A17DC8EAE074}"/>
    <dgm:cxn modelId="{269A4498-487F-5440-822C-C28AA3FBD370}" type="presOf" srcId="{06358908-CC38-5C42-855E-703A7260B8F8}" destId="{39B2E4D5-6976-1541-850C-A6DD4A7C5D5C}" srcOrd="0" destOrd="0" presId="urn:microsoft.com/office/officeart/2008/layout/LinedList"/>
    <dgm:cxn modelId="{948AB615-A183-0F4B-BDA0-B45D57E4C06F}" type="presOf" srcId="{DEFBC5E2-2404-6845-83D4-E0DCBFC9B143}" destId="{A28B4FC7-284F-9D4F-B914-A25BD1C995F8}" srcOrd="0" destOrd="0" presId="urn:microsoft.com/office/officeart/2008/layout/LinedList"/>
    <dgm:cxn modelId="{CAE534B7-55F9-CD4E-9FA6-845CBF2F1C00}" type="presOf" srcId="{E14E70C5-44C1-E549-92C0-0DAB4F29CDF6}" destId="{1895AD34-F165-1346-92DD-A662FA7B3282}" srcOrd="0" destOrd="0" presId="urn:microsoft.com/office/officeart/2008/layout/LinedList"/>
    <dgm:cxn modelId="{FE3E8E5E-1B7A-E249-99AF-566A289244D1}" srcId="{D9A90914-D519-5C49-8DC8-7C5CCBD75B08}" destId="{DEFBC5E2-2404-6845-83D4-E0DCBFC9B143}" srcOrd="0" destOrd="0" parTransId="{622F96C1-9322-FE49-9A1F-127763EBC4FE}" sibTransId="{06887431-D024-D44A-806D-44A64BC0C6A9}"/>
    <dgm:cxn modelId="{9E97A550-498D-544C-919C-3F748197C298}" type="presOf" srcId="{C75647FB-AEDC-BF45-8E1F-A5B162D31813}" destId="{547A60B3-A5E1-7942-AB8F-04BF2713B637}" srcOrd="0" destOrd="0" presId="urn:microsoft.com/office/officeart/2008/layout/LinedList"/>
    <dgm:cxn modelId="{056BCE0A-5BE9-A34B-9BBD-1DAA4A496483}" type="presOf" srcId="{85390DE9-3B73-4540-A21D-2FC53456B61F}" destId="{D1EA834D-CD97-7748-8B0B-CBD4291258B8}" srcOrd="0" destOrd="0" presId="urn:microsoft.com/office/officeart/2008/layout/LinedList"/>
    <dgm:cxn modelId="{7C547BB4-8C31-FD4E-A48B-45811B5732D4}" srcId="{15671C0B-DC8A-E54F-B03B-857BD271FF9D}" destId="{E77635E5-C8EF-384E-A603-AB4A2632C2B5}" srcOrd="0" destOrd="0" parTransId="{749508BC-E3A5-E84F-8ADE-BB1FA9BD3F65}" sibTransId="{BFAC7C75-4D1A-014D-8701-2392718D671F}"/>
    <dgm:cxn modelId="{C8522FFD-4681-4249-88CC-C31A30FFCBAD}" srcId="{E14E70C5-44C1-E549-92C0-0DAB4F29CDF6}" destId="{85390DE9-3B73-4540-A21D-2FC53456B61F}" srcOrd="2" destOrd="0" parTransId="{70CC4BEF-96EE-8540-895A-F29B9E438A92}" sibTransId="{9958D237-E532-A048-A655-ECE9C00C5D51}"/>
    <dgm:cxn modelId="{63385E95-E766-924C-8A8B-A1EA34D0C48F}" srcId="{85390DE9-3B73-4540-A21D-2FC53456B61F}" destId="{C75647FB-AEDC-BF45-8E1F-A5B162D31813}" srcOrd="0" destOrd="0" parTransId="{AFC9D2FD-3A48-1E4B-926E-975A0D85E71D}" sibTransId="{A231BF4E-AF56-F846-BA95-2715D8A8DDA6}"/>
    <dgm:cxn modelId="{D7C43DD8-33D5-F842-AE84-A19A1D2FC172}" srcId="{E14E70C5-44C1-E549-92C0-0DAB4F29CDF6}" destId="{06358908-CC38-5C42-855E-703A7260B8F8}" srcOrd="1" destOrd="0" parTransId="{CE97AC34-0112-9D43-827E-80ABAE116D40}" sibTransId="{A05F9858-2944-9941-8235-60AC5FDAFE0E}"/>
    <dgm:cxn modelId="{E153E92A-2031-6041-BCC6-2C7D88FB5C2A}" srcId="{E14E70C5-44C1-E549-92C0-0DAB4F29CDF6}" destId="{D9A90914-D519-5C49-8DC8-7C5CCBD75B08}" srcOrd="0" destOrd="0" parTransId="{8FC9940E-0F45-CC4D-BAA7-2E92932C4382}" sibTransId="{E056059D-D51A-DB42-BEBC-880247CCB83D}"/>
    <dgm:cxn modelId="{4B59AF77-D0B0-2449-A0B5-A9F243A1742E}" type="presParOf" srcId="{1895AD34-F165-1346-92DD-A662FA7B3282}" destId="{82C2ECED-D05B-4243-B5CD-9BC95761824E}" srcOrd="0" destOrd="0" presId="urn:microsoft.com/office/officeart/2008/layout/LinedList"/>
    <dgm:cxn modelId="{4657FE0B-42C2-F240-95AF-822DC49BDC5B}" type="presParOf" srcId="{1895AD34-F165-1346-92DD-A662FA7B3282}" destId="{CD532EDF-B79B-9F4D-9D7C-4541F95C84C8}" srcOrd="1" destOrd="0" presId="urn:microsoft.com/office/officeart/2008/layout/LinedList"/>
    <dgm:cxn modelId="{D804F54C-76F7-1D4F-8359-82751772EBC4}" type="presParOf" srcId="{CD532EDF-B79B-9F4D-9D7C-4541F95C84C8}" destId="{267FD782-53CE-BC4A-ADFB-AA7F326FA8B4}" srcOrd="0" destOrd="0" presId="urn:microsoft.com/office/officeart/2008/layout/LinedList"/>
    <dgm:cxn modelId="{52108887-6B52-CE4F-9395-2DF3E492A698}" type="presParOf" srcId="{CD532EDF-B79B-9F4D-9D7C-4541F95C84C8}" destId="{A06873CB-2763-6844-BD92-ACF6285FE050}" srcOrd="1" destOrd="0" presId="urn:microsoft.com/office/officeart/2008/layout/LinedList"/>
    <dgm:cxn modelId="{CE6B7429-B1CA-D24F-BE4C-395F8E6B92C4}" type="presParOf" srcId="{A06873CB-2763-6844-BD92-ACF6285FE050}" destId="{1FA5C1BD-0BCE-9445-920E-8444EEB59F49}" srcOrd="0" destOrd="0" presId="urn:microsoft.com/office/officeart/2008/layout/LinedList"/>
    <dgm:cxn modelId="{4C59650D-8D1E-0A44-9C11-36E3DE7CDF97}" type="presParOf" srcId="{A06873CB-2763-6844-BD92-ACF6285FE050}" destId="{37895FA2-868F-6849-B11E-2551108BF847}" srcOrd="1" destOrd="0" presId="urn:microsoft.com/office/officeart/2008/layout/LinedList"/>
    <dgm:cxn modelId="{DBC592FF-9199-7340-8889-6183E82AB1EB}" type="presParOf" srcId="{37895FA2-868F-6849-B11E-2551108BF847}" destId="{6312F62E-7431-364E-AA1C-10101D47F323}" srcOrd="0" destOrd="0" presId="urn:microsoft.com/office/officeart/2008/layout/LinedList"/>
    <dgm:cxn modelId="{C5F432A8-D51C-D445-87C1-9A66EB2DD3E9}" type="presParOf" srcId="{37895FA2-868F-6849-B11E-2551108BF847}" destId="{A28B4FC7-284F-9D4F-B914-A25BD1C995F8}" srcOrd="1" destOrd="0" presId="urn:microsoft.com/office/officeart/2008/layout/LinedList"/>
    <dgm:cxn modelId="{CE88CC5B-F6B8-BA42-9E18-4B7CAC118FED}" type="presParOf" srcId="{37895FA2-868F-6849-B11E-2551108BF847}" destId="{57474AD9-65BE-3B41-9EE0-8B3CD709E24B}" srcOrd="2" destOrd="0" presId="urn:microsoft.com/office/officeart/2008/layout/LinedList"/>
    <dgm:cxn modelId="{C7C92E7D-BBF0-4D4D-B690-784705DB25C9}" type="presParOf" srcId="{A06873CB-2763-6844-BD92-ACF6285FE050}" destId="{E6775CC3-4ED3-D847-8F28-73CFC402CFF8}" srcOrd="2" destOrd="0" presId="urn:microsoft.com/office/officeart/2008/layout/LinedList"/>
    <dgm:cxn modelId="{CCE49E49-0158-8146-A40D-294C09CA7FC0}" type="presParOf" srcId="{A06873CB-2763-6844-BD92-ACF6285FE050}" destId="{37FE39ED-19E5-D840-A034-7CE7EEB91592}" srcOrd="3" destOrd="0" presId="urn:microsoft.com/office/officeart/2008/layout/LinedList"/>
    <dgm:cxn modelId="{F52A36D0-5919-884F-97ED-8EDFF81F46B6}" type="presParOf" srcId="{1895AD34-F165-1346-92DD-A662FA7B3282}" destId="{91BEDE5B-FB66-D145-8E82-17F1E2BAA4AC}" srcOrd="2" destOrd="0" presId="urn:microsoft.com/office/officeart/2008/layout/LinedList"/>
    <dgm:cxn modelId="{649A0533-F169-334B-8D3E-B21C49E38F49}" type="presParOf" srcId="{1895AD34-F165-1346-92DD-A662FA7B3282}" destId="{2A407D89-2BA1-754B-8058-1D39AD669C83}" srcOrd="3" destOrd="0" presId="urn:microsoft.com/office/officeart/2008/layout/LinedList"/>
    <dgm:cxn modelId="{547CAC7A-C621-194F-95FB-C4DDFAA298C8}" type="presParOf" srcId="{2A407D89-2BA1-754B-8058-1D39AD669C83}" destId="{39B2E4D5-6976-1541-850C-A6DD4A7C5D5C}" srcOrd="0" destOrd="0" presId="urn:microsoft.com/office/officeart/2008/layout/LinedList"/>
    <dgm:cxn modelId="{C1439A19-1E40-334C-BE75-303D398794A5}" type="presParOf" srcId="{2A407D89-2BA1-754B-8058-1D39AD669C83}" destId="{54931CE4-FCDE-A549-B8ED-A1CC56EF7FEC}" srcOrd="1" destOrd="0" presId="urn:microsoft.com/office/officeart/2008/layout/LinedList"/>
    <dgm:cxn modelId="{892EEAFB-7180-414F-89CB-187AED6DE920}" type="presParOf" srcId="{54931CE4-FCDE-A549-B8ED-A1CC56EF7FEC}" destId="{F8B4C411-CC85-F948-8C8F-2EC861BA1842}" srcOrd="0" destOrd="0" presId="urn:microsoft.com/office/officeart/2008/layout/LinedList"/>
    <dgm:cxn modelId="{EB8B61A5-6E0A-5643-A34A-9B41FB64291D}" type="presParOf" srcId="{54931CE4-FCDE-A549-B8ED-A1CC56EF7FEC}" destId="{FD9F0DD7-54AF-4143-933D-5B166CD91505}" srcOrd="1" destOrd="0" presId="urn:microsoft.com/office/officeart/2008/layout/LinedList"/>
    <dgm:cxn modelId="{C9B5B22B-0E34-A34A-92D1-4A22A3D71FEC}" type="presParOf" srcId="{FD9F0DD7-54AF-4143-933D-5B166CD91505}" destId="{3DC3CC1E-3D92-2847-B065-88F40D7AB650}" srcOrd="0" destOrd="0" presId="urn:microsoft.com/office/officeart/2008/layout/LinedList"/>
    <dgm:cxn modelId="{3F96FC43-59B7-DC48-8E69-1B6C84B490FB}" type="presParOf" srcId="{FD9F0DD7-54AF-4143-933D-5B166CD91505}" destId="{58F19539-959A-0844-9D87-45F0347545C2}" srcOrd="1" destOrd="0" presId="urn:microsoft.com/office/officeart/2008/layout/LinedList"/>
    <dgm:cxn modelId="{EDF9CE38-0C90-1A44-AC63-9C50BB75FB20}" type="presParOf" srcId="{FD9F0DD7-54AF-4143-933D-5B166CD91505}" destId="{8C6D5100-192B-874D-9891-CACAF64FB124}" srcOrd="2" destOrd="0" presId="urn:microsoft.com/office/officeart/2008/layout/LinedList"/>
    <dgm:cxn modelId="{6DCBD329-FA29-264D-B0F3-46CA80BD44E4}" type="presParOf" srcId="{54931CE4-FCDE-A549-B8ED-A1CC56EF7FEC}" destId="{5B4B0D3D-5C52-EE49-BCA0-6A0596AF7421}" srcOrd="2" destOrd="0" presId="urn:microsoft.com/office/officeart/2008/layout/LinedList"/>
    <dgm:cxn modelId="{93539678-967D-F34C-A9AB-B4DCAB778C16}" type="presParOf" srcId="{54931CE4-FCDE-A549-B8ED-A1CC56EF7FEC}" destId="{D038DC9E-36ED-AA46-B4CD-1BA7FB6D4194}" srcOrd="3" destOrd="0" presId="urn:microsoft.com/office/officeart/2008/layout/LinedList"/>
    <dgm:cxn modelId="{43A73559-3C71-3348-B82F-66F43D597F01}" type="presParOf" srcId="{1895AD34-F165-1346-92DD-A662FA7B3282}" destId="{9A2EB377-ABD9-A14F-BC94-EA3E5C193FD8}" srcOrd="4" destOrd="0" presId="urn:microsoft.com/office/officeart/2008/layout/LinedList"/>
    <dgm:cxn modelId="{2BCABF50-CC8E-E241-9B5D-8DAC3C8BA95F}" type="presParOf" srcId="{1895AD34-F165-1346-92DD-A662FA7B3282}" destId="{79642833-7919-FE47-857C-B593A4D53018}" srcOrd="5" destOrd="0" presId="urn:microsoft.com/office/officeart/2008/layout/LinedList"/>
    <dgm:cxn modelId="{65FE35F7-4B63-5B48-AB4E-E2029B7073B2}" type="presParOf" srcId="{79642833-7919-FE47-857C-B593A4D53018}" destId="{D1EA834D-CD97-7748-8B0B-CBD4291258B8}" srcOrd="0" destOrd="0" presId="urn:microsoft.com/office/officeart/2008/layout/LinedList"/>
    <dgm:cxn modelId="{ED1F7357-2782-B048-80F1-A52D1FAFF7CF}" type="presParOf" srcId="{79642833-7919-FE47-857C-B593A4D53018}" destId="{C811FA3C-BF96-574D-9B9F-8C6FCF51743C}" srcOrd="1" destOrd="0" presId="urn:microsoft.com/office/officeart/2008/layout/LinedList"/>
    <dgm:cxn modelId="{EE208B2A-553F-6946-9A5C-CC543A30C273}" type="presParOf" srcId="{C811FA3C-BF96-574D-9B9F-8C6FCF51743C}" destId="{45A789C8-749B-0A4C-A9C4-C328E8C06BE4}" srcOrd="0" destOrd="0" presId="urn:microsoft.com/office/officeart/2008/layout/LinedList"/>
    <dgm:cxn modelId="{382B40C4-2237-8F46-B7D8-B73399AE2ED7}" type="presParOf" srcId="{C811FA3C-BF96-574D-9B9F-8C6FCF51743C}" destId="{5F90C35A-1B72-5C4C-882B-7F4E8EB56CC8}" srcOrd="1" destOrd="0" presId="urn:microsoft.com/office/officeart/2008/layout/LinedList"/>
    <dgm:cxn modelId="{1B4D308D-A687-0149-A7E4-21AA417DBE7D}" type="presParOf" srcId="{5F90C35A-1B72-5C4C-882B-7F4E8EB56CC8}" destId="{7F2CEB62-C619-C44F-AEE1-8A5BA20A0031}" srcOrd="0" destOrd="0" presId="urn:microsoft.com/office/officeart/2008/layout/LinedList"/>
    <dgm:cxn modelId="{BF92BAC7-6460-4147-A5DB-56354446A783}" type="presParOf" srcId="{5F90C35A-1B72-5C4C-882B-7F4E8EB56CC8}" destId="{547A60B3-A5E1-7942-AB8F-04BF2713B637}" srcOrd="1" destOrd="0" presId="urn:microsoft.com/office/officeart/2008/layout/LinedList"/>
    <dgm:cxn modelId="{F0E5B6F0-6502-2347-90D5-CF41D174B443}" type="presParOf" srcId="{5F90C35A-1B72-5C4C-882B-7F4E8EB56CC8}" destId="{AA2CE641-4B29-2949-98C5-123D3CCC6FF0}" srcOrd="2" destOrd="0" presId="urn:microsoft.com/office/officeart/2008/layout/LinedList"/>
    <dgm:cxn modelId="{08E6946F-B78D-9B41-93A4-505C2087F793}" type="presParOf" srcId="{C811FA3C-BF96-574D-9B9F-8C6FCF51743C}" destId="{F7A9F04E-9F40-3F4F-84E7-FF9BF91862A3}" srcOrd="2" destOrd="0" presId="urn:microsoft.com/office/officeart/2008/layout/LinedList"/>
    <dgm:cxn modelId="{A81FF5DE-C64E-E147-8C7B-F829A663F0FB}" type="presParOf" srcId="{C811FA3C-BF96-574D-9B9F-8C6FCF51743C}" destId="{645F23D5-2A92-EC41-923E-E163B75208C4}" srcOrd="3" destOrd="0" presId="urn:microsoft.com/office/officeart/2008/layout/LinedList"/>
    <dgm:cxn modelId="{DCF54996-3C47-2142-8AE9-CDA420BC2989}" type="presParOf" srcId="{1895AD34-F165-1346-92DD-A662FA7B3282}" destId="{004F540C-C9E8-4C47-BCE3-70A7E6250205}" srcOrd="6" destOrd="0" presId="urn:microsoft.com/office/officeart/2008/layout/LinedList"/>
    <dgm:cxn modelId="{3EA21EAA-95D8-FE4D-B36C-C14FD98E1A5C}" type="presParOf" srcId="{1895AD34-F165-1346-92DD-A662FA7B3282}" destId="{0F4A20CB-A7BF-F749-BC83-DDBF305027F7}" srcOrd="7" destOrd="0" presId="urn:microsoft.com/office/officeart/2008/layout/LinedList"/>
    <dgm:cxn modelId="{69EC1C07-901E-C647-B856-9377509033CC}" type="presParOf" srcId="{0F4A20CB-A7BF-F749-BC83-DDBF305027F7}" destId="{83355AD3-D80F-5C47-8649-63F14BF35373}" srcOrd="0" destOrd="0" presId="urn:microsoft.com/office/officeart/2008/layout/LinedList"/>
    <dgm:cxn modelId="{247288CA-80B8-094F-B4B1-466F966EC9B8}" type="presParOf" srcId="{0F4A20CB-A7BF-F749-BC83-DDBF305027F7}" destId="{1F6A93C2-AA9D-8048-A79D-8B452AA67090}" srcOrd="1" destOrd="0" presId="urn:microsoft.com/office/officeart/2008/layout/LinedList"/>
    <dgm:cxn modelId="{F11FAA92-2F72-CA47-8621-ABC4E9AB09FA}" type="presParOf" srcId="{1F6A93C2-AA9D-8048-A79D-8B452AA67090}" destId="{12C10F58-74AA-C74B-9F3E-D5044468406F}" srcOrd="0" destOrd="0" presId="urn:microsoft.com/office/officeart/2008/layout/LinedList"/>
    <dgm:cxn modelId="{BF5824A4-1501-8042-83F4-03AB8E06FB73}" type="presParOf" srcId="{1F6A93C2-AA9D-8048-A79D-8B452AA67090}" destId="{39C55FC5-D072-D344-857F-15CBA4186DD6}" srcOrd="1" destOrd="0" presId="urn:microsoft.com/office/officeart/2008/layout/LinedList"/>
    <dgm:cxn modelId="{4DA63226-68E7-7740-90E4-2E5299868255}" type="presParOf" srcId="{39C55FC5-D072-D344-857F-15CBA4186DD6}" destId="{76231D93-A65D-AB48-A9EF-3369DB4D1CA5}" srcOrd="0" destOrd="0" presId="urn:microsoft.com/office/officeart/2008/layout/LinedList"/>
    <dgm:cxn modelId="{95448DBD-DAE0-9448-BEFA-EF42280504E1}" type="presParOf" srcId="{39C55FC5-D072-D344-857F-15CBA4186DD6}" destId="{F8953F5F-B061-B54B-BD35-7D78FE61950B}" srcOrd="1" destOrd="0" presId="urn:microsoft.com/office/officeart/2008/layout/LinedList"/>
    <dgm:cxn modelId="{AE410D8B-AD37-8947-92ED-CE579CC0736A}" type="presParOf" srcId="{39C55FC5-D072-D344-857F-15CBA4186DD6}" destId="{4C4499C7-8CEF-4E45-8E1C-E3782B627C09}" srcOrd="2" destOrd="0" presId="urn:microsoft.com/office/officeart/2008/layout/LinedList"/>
    <dgm:cxn modelId="{C909BA81-F1F7-D541-A4F7-F4738805941B}" type="presParOf" srcId="{1F6A93C2-AA9D-8048-A79D-8B452AA67090}" destId="{D6CB89D2-100B-E64A-A14E-3BBA53A355F0}" srcOrd="2" destOrd="0" presId="urn:microsoft.com/office/officeart/2008/layout/LinedList"/>
    <dgm:cxn modelId="{BD1D7C68-47EA-2747-951C-536230BD921B}" type="presParOf" srcId="{1F6A93C2-AA9D-8048-A79D-8B452AA67090}" destId="{6FD1AF05-1415-A248-95C6-190575F250F8}" srcOrd="3" destOrd="0" presId="urn:microsoft.com/office/officeart/2008/layout/Line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7BB6C4F-AA02-B846-8359-C68CD8838ACA}" type="doc">
      <dgm:prSet loTypeId="urn:microsoft.com/office/officeart/2009/3/layout/SubStepProcess" loCatId="" qsTypeId="urn:microsoft.com/office/officeart/2005/8/quickstyle/simple1" qsCatId="simple" csTypeId="urn:microsoft.com/office/officeart/2005/8/colors/colorful1#83" csCatId="colorful" phldr="1"/>
      <dgm:spPr/>
      <dgm:t>
        <a:bodyPr/>
        <a:lstStyle/>
        <a:p>
          <a:endParaRPr lang="en-US"/>
        </a:p>
      </dgm:t>
    </dgm:pt>
    <dgm:pt modelId="{C32BBEBF-7105-FF45-B300-B6D26F6114E1}">
      <dgm:prSet phldrT="[Text]"/>
      <dgm:spPr/>
      <dgm:t>
        <a:bodyPr/>
        <a:lstStyle/>
        <a:p>
          <a:pPr rtl="0"/>
          <a:r>
            <a:rPr lang="fr-FR" noProof="0" dirty="0"/>
            <a:t>Elimination des doublons</a:t>
          </a:r>
        </a:p>
      </dgm:t>
    </dgm:pt>
    <dgm:pt modelId="{6B782AFA-9ABE-7F4C-994B-6E00E81C2BFB}" type="parTrans" cxnId="{CA02630B-38A0-E246-92F5-ACD44FCDA531}">
      <dgm:prSet/>
      <dgm:spPr/>
      <dgm:t>
        <a:bodyPr/>
        <a:lstStyle/>
        <a:p>
          <a:endParaRPr lang="fr-FR" noProof="0" dirty="0"/>
        </a:p>
      </dgm:t>
    </dgm:pt>
    <dgm:pt modelId="{D4F4AB4B-DC3E-7D4D-8708-1E3DC8CDEAF8}" type="sibTrans" cxnId="{CA02630B-38A0-E246-92F5-ACD44FCDA531}">
      <dgm:prSet/>
      <dgm:spPr/>
      <dgm:t>
        <a:bodyPr/>
        <a:lstStyle/>
        <a:p>
          <a:pPr rtl="0"/>
          <a:endParaRPr lang="fr-FR" noProof="0" dirty="0"/>
        </a:p>
      </dgm:t>
    </dgm:pt>
    <dgm:pt modelId="{A7B9B2FB-3064-6348-973B-E0ECE0C5CC9F}">
      <dgm:prSet phldrT="[Text]"/>
      <dgm:spPr/>
      <dgm:t>
        <a:bodyPr/>
        <a:lstStyle/>
        <a:p>
          <a:pPr rtl="0"/>
          <a:r>
            <a:rPr lang="fr-FR" noProof="0" dirty="0"/>
            <a:t>Formatage des données</a:t>
          </a:r>
        </a:p>
      </dgm:t>
    </dgm:pt>
    <dgm:pt modelId="{B35A671C-A0B4-2C4A-BA2E-EDDB4C7D93CE}" type="parTrans" cxnId="{2E5A6085-888B-8143-B0C5-67CACCCE6CAE}">
      <dgm:prSet/>
      <dgm:spPr/>
      <dgm:t>
        <a:bodyPr/>
        <a:lstStyle/>
        <a:p>
          <a:endParaRPr lang="fr-FR" noProof="0" dirty="0"/>
        </a:p>
      </dgm:t>
    </dgm:pt>
    <dgm:pt modelId="{92095791-F0C5-0848-9E20-7DEC8A96B8B1}" type="sibTrans" cxnId="{2E5A6085-888B-8143-B0C5-67CACCCE6CAE}">
      <dgm:prSet/>
      <dgm:spPr/>
      <dgm:t>
        <a:bodyPr/>
        <a:lstStyle/>
        <a:p>
          <a:pPr rtl="0"/>
          <a:endParaRPr lang="fr-FR" noProof="0" dirty="0"/>
        </a:p>
      </dgm:t>
    </dgm:pt>
    <dgm:pt modelId="{E0A37A8A-4515-7443-B697-B508F3FC3827}">
      <dgm:prSet phldrT="[Text]"/>
      <dgm:spPr/>
      <dgm:t>
        <a:bodyPr/>
        <a:lstStyle/>
        <a:p>
          <a:pPr rtl="0"/>
          <a:r>
            <a:rPr lang="fr-FR" noProof="0" dirty="0"/>
            <a:t>Identification des données aberrante</a:t>
          </a:r>
        </a:p>
      </dgm:t>
    </dgm:pt>
    <dgm:pt modelId="{6687CACB-71A4-B54C-9C04-B84844E4758D}" type="parTrans" cxnId="{08DB13F5-DE73-1D40-AD5B-BF87F3C6B150}">
      <dgm:prSet/>
      <dgm:spPr/>
      <dgm:t>
        <a:bodyPr/>
        <a:lstStyle/>
        <a:p>
          <a:endParaRPr lang="fr-FR" noProof="0" dirty="0"/>
        </a:p>
      </dgm:t>
    </dgm:pt>
    <dgm:pt modelId="{E11153F5-5C45-A74E-AD2A-F67CC415A33E}" type="sibTrans" cxnId="{08DB13F5-DE73-1D40-AD5B-BF87F3C6B150}">
      <dgm:prSet/>
      <dgm:spPr/>
      <dgm:t>
        <a:bodyPr/>
        <a:lstStyle/>
        <a:p>
          <a:endParaRPr lang="fr-FR" noProof="0" dirty="0"/>
        </a:p>
      </dgm:t>
    </dgm:pt>
    <dgm:pt modelId="{0963CCF9-8CE2-3149-960B-20CC4AE92114}">
      <dgm:prSet/>
      <dgm:spPr/>
      <dgm:t>
        <a:bodyPr/>
        <a:lstStyle/>
        <a:p>
          <a:r>
            <a:rPr lang="fr-FR" noProof="0" dirty="0"/>
            <a:t>Filtrage des données</a:t>
          </a:r>
        </a:p>
      </dgm:t>
    </dgm:pt>
    <dgm:pt modelId="{7D8A9796-B1B0-C14E-A0E1-2577B027F3DC}" type="parTrans" cxnId="{5939427C-E072-8C4F-B4A2-8B6C2385BB1D}">
      <dgm:prSet/>
      <dgm:spPr/>
      <dgm:t>
        <a:bodyPr/>
        <a:lstStyle/>
        <a:p>
          <a:endParaRPr lang="fr-FR" noProof="0" dirty="0"/>
        </a:p>
      </dgm:t>
    </dgm:pt>
    <dgm:pt modelId="{59C86FE4-2BDF-114F-BF50-6F0B27B7284E}" type="sibTrans" cxnId="{5939427C-E072-8C4F-B4A2-8B6C2385BB1D}">
      <dgm:prSet/>
      <dgm:spPr/>
      <dgm:t>
        <a:bodyPr/>
        <a:lstStyle/>
        <a:p>
          <a:endParaRPr lang="fr-FR" noProof="0" dirty="0"/>
        </a:p>
      </dgm:t>
    </dgm:pt>
    <dgm:pt modelId="{280134F0-7F9B-D64E-9EC3-184EF850A3E0}" type="pres">
      <dgm:prSet presAssocID="{77BB6C4F-AA02-B846-8359-C68CD8838ACA}" presName="Name0" presStyleCnt="0">
        <dgm:presLayoutVars>
          <dgm:chMax val="7"/>
          <dgm:dir/>
          <dgm:animOne val="branch"/>
        </dgm:presLayoutVars>
      </dgm:prSet>
      <dgm:spPr/>
      <dgm:t>
        <a:bodyPr/>
        <a:lstStyle/>
        <a:p>
          <a:endParaRPr lang="fr-FR"/>
        </a:p>
      </dgm:t>
    </dgm:pt>
    <dgm:pt modelId="{9918B2A6-0ED5-CE45-9F8F-6081EB2EC23B}" type="pres">
      <dgm:prSet presAssocID="{C32BBEBF-7105-FF45-B300-B6D26F6114E1}" presName="parTx1" presStyleLbl="node1" presStyleIdx="0" presStyleCnt="4"/>
      <dgm:spPr/>
      <dgm:t>
        <a:bodyPr/>
        <a:lstStyle/>
        <a:p>
          <a:endParaRPr lang="fr-FR"/>
        </a:p>
      </dgm:t>
    </dgm:pt>
    <dgm:pt modelId="{31BDAD9B-5DE4-0447-9AA5-870D315BCFDB}" type="pres">
      <dgm:prSet presAssocID="{0963CCF9-8CE2-3149-960B-20CC4AE92114}" presName="parTx2" presStyleLbl="node1" presStyleIdx="1" presStyleCnt="4"/>
      <dgm:spPr/>
      <dgm:t>
        <a:bodyPr/>
        <a:lstStyle/>
        <a:p>
          <a:endParaRPr lang="fr-FR"/>
        </a:p>
      </dgm:t>
    </dgm:pt>
    <dgm:pt modelId="{43519C74-67B1-844F-B005-9EF067C86B5F}" type="pres">
      <dgm:prSet presAssocID="{A7B9B2FB-3064-6348-973B-E0ECE0C5CC9F}" presName="parTx3" presStyleLbl="node1" presStyleIdx="2" presStyleCnt="4"/>
      <dgm:spPr/>
      <dgm:t>
        <a:bodyPr/>
        <a:lstStyle/>
        <a:p>
          <a:endParaRPr lang="fr-FR"/>
        </a:p>
      </dgm:t>
    </dgm:pt>
    <dgm:pt modelId="{A542E075-2751-D440-B505-31FA7AF0EBEE}" type="pres">
      <dgm:prSet presAssocID="{E0A37A8A-4515-7443-B697-B508F3FC3827}" presName="parTx4" presStyleLbl="node1" presStyleIdx="3" presStyleCnt="4"/>
      <dgm:spPr/>
      <dgm:t>
        <a:bodyPr/>
        <a:lstStyle/>
        <a:p>
          <a:endParaRPr lang="fr-FR"/>
        </a:p>
      </dgm:t>
    </dgm:pt>
  </dgm:ptLst>
  <dgm:cxnLst>
    <dgm:cxn modelId="{F174C34B-A209-AA4B-8D70-3230AD2733FF}" type="presOf" srcId="{C32BBEBF-7105-FF45-B300-B6D26F6114E1}" destId="{9918B2A6-0ED5-CE45-9F8F-6081EB2EC23B}" srcOrd="0" destOrd="0" presId="urn:microsoft.com/office/officeart/2009/3/layout/SubStepProcess"/>
    <dgm:cxn modelId="{08DB13F5-DE73-1D40-AD5B-BF87F3C6B150}" srcId="{77BB6C4F-AA02-B846-8359-C68CD8838ACA}" destId="{E0A37A8A-4515-7443-B697-B508F3FC3827}" srcOrd="3" destOrd="0" parTransId="{6687CACB-71A4-B54C-9C04-B84844E4758D}" sibTransId="{E11153F5-5C45-A74E-AD2A-F67CC415A33E}"/>
    <dgm:cxn modelId="{CA02630B-38A0-E246-92F5-ACD44FCDA531}" srcId="{77BB6C4F-AA02-B846-8359-C68CD8838ACA}" destId="{C32BBEBF-7105-FF45-B300-B6D26F6114E1}" srcOrd="0" destOrd="0" parTransId="{6B782AFA-9ABE-7F4C-994B-6E00E81C2BFB}" sibTransId="{D4F4AB4B-DC3E-7D4D-8708-1E3DC8CDEAF8}"/>
    <dgm:cxn modelId="{2E5A6085-888B-8143-B0C5-67CACCCE6CAE}" srcId="{77BB6C4F-AA02-B846-8359-C68CD8838ACA}" destId="{A7B9B2FB-3064-6348-973B-E0ECE0C5CC9F}" srcOrd="2" destOrd="0" parTransId="{B35A671C-A0B4-2C4A-BA2E-EDDB4C7D93CE}" sibTransId="{92095791-F0C5-0848-9E20-7DEC8A96B8B1}"/>
    <dgm:cxn modelId="{A0E87CCC-02F1-F04B-80E8-5AB8F4F1BBCC}" type="presOf" srcId="{77BB6C4F-AA02-B846-8359-C68CD8838ACA}" destId="{280134F0-7F9B-D64E-9EC3-184EF850A3E0}" srcOrd="0" destOrd="0" presId="urn:microsoft.com/office/officeart/2009/3/layout/SubStepProcess"/>
    <dgm:cxn modelId="{41569089-62A7-1548-9D4C-948639CCB97A}" type="presOf" srcId="{0963CCF9-8CE2-3149-960B-20CC4AE92114}" destId="{31BDAD9B-5DE4-0447-9AA5-870D315BCFDB}" srcOrd="0" destOrd="0" presId="urn:microsoft.com/office/officeart/2009/3/layout/SubStepProcess"/>
    <dgm:cxn modelId="{2389309D-D730-5846-A89D-B933252D56B6}" type="presOf" srcId="{A7B9B2FB-3064-6348-973B-E0ECE0C5CC9F}" destId="{43519C74-67B1-844F-B005-9EF067C86B5F}" srcOrd="0" destOrd="0" presId="urn:microsoft.com/office/officeart/2009/3/layout/SubStepProcess"/>
    <dgm:cxn modelId="{5939427C-E072-8C4F-B4A2-8B6C2385BB1D}" srcId="{77BB6C4F-AA02-B846-8359-C68CD8838ACA}" destId="{0963CCF9-8CE2-3149-960B-20CC4AE92114}" srcOrd="1" destOrd="0" parTransId="{7D8A9796-B1B0-C14E-A0E1-2577B027F3DC}" sibTransId="{59C86FE4-2BDF-114F-BF50-6F0B27B7284E}"/>
    <dgm:cxn modelId="{1DC687B2-E644-9746-9E21-B5C3940E5B41}" type="presOf" srcId="{E0A37A8A-4515-7443-B697-B508F3FC3827}" destId="{A542E075-2751-D440-B505-31FA7AF0EBEE}" srcOrd="0" destOrd="0" presId="urn:microsoft.com/office/officeart/2009/3/layout/SubStepProcess"/>
    <dgm:cxn modelId="{18D11D7F-DF3C-6B46-B491-1470DA6BC7F4}" type="presParOf" srcId="{280134F0-7F9B-D64E-9EC3-184EF850A3E0}" destId="{9918B2A6-0ED5-CE45-9F8F-6081EB2EC23B}" srcOrd="0" destOrd="0" presId="urn:microsoft.com/office/officeart/2009/3/layout/SubStepProcess"/>
    <dgm:cxn modelId="{C0A78540-4688-5942-8D3F-9D41F1606B62}" type="presParOf" srcId="{280134F0-7F9B-D64E-9EC3-184EF850A3E0}" destId="{31BDAD9B-5DE4-0447-9AA5-870D315BCFDB}" srcOrd="1" destOrd="0" presId="urn:microsoft.com/office/officeart/2009/3/layout/SubStepProcess"/>
    <dgm:cxn modelId="{3FA649FC-9451-5947-A901-E5880C1234C3}" type="presParOf" srcId="{280134F0-7F9B-D64E-9EC3-184EF850A3E0}" destId="{43519C74-67B1-844F-B005-9EF067C86B5F}" srcOrd="2" destOrd="0" presId="urn:microsoft.com/office/officeart/2009/3/layout/SubStepProcess"/>
    <dgm:cxn modelId="{E6E9B17A-141B-F541-8C07-44796C9DA260}" type="presParOf" srcId="{280134F0-7F9B-D64E-9EC3-184EF850A3E0}" destId="{A542E075-2751-D440-B505-31FA7AF0EBEE}" srcOrd="3" destOrd="0" presId="urn:microsoft.com/office/officeart/2009/3/layout/SubStepProcess"/>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BB6C4F-AA02-B846-8359-C68CD8838ACA}" type="doc">
      <dgm:prSet loTypeId="urn:microsoft.com/office/officeart/2009/3/layout/SubStepProcess" loCatId="" qsTypeId="urn:microsoft.com/office/officeart/2005/8/quickstyle/simple1" qsCatId="simple" csTypeId="urn:microsoft.com/office/officeart/2005/8/colors/colorful1#84" csCatId="colorful" phldr="1"/>
      <dgm:spPr/>
      <dgm:t>
        <a:bodyPr/>
        <a:lstStyle/>
        <a:p>
          <a:endParaRPr lang="en-US"/>
        </a:p>
      </dgm:t>
    </dgm:pt>
    <dgm:pt modelId="{C32BBEBF-7105-FF45-B300-B6D26F6114E1}">
      <dgm:prSet phldrT="[Text]"/>
      <dgm:spPr/>
      <dgm:t>
        <a:bodyPr/>
        <a:lstStyle/>
        <a:p>
          <a:pPr rtl="0"/>
          <a:r>
            <a:rPr lang="fr-FR" noProof="0" dirty="0" err="1"/>
            <a:t>Reporting</a:t>
          </a:r>
          <a:endParaRPr lang="fr-FR" noProof="0" dirty="0"/>
        </a:p>
      </dgm:t>
    </dgm:pt>
    <dgm:pt modelId="{6B782AFA-9ABE-7F4C-994B-6E00E81C2BFB}" type="parTrans" cxnId="{CA02630B-38A0-E246-92F5-ACD44FCDA531}">
      <dgm:prSet/>
      <dgm:spPr/>
      <dgm:t>
        <a:bodyPr/>
        <a:lstStyle/>
        <a:p>
          <a:endParaRPr lang="fr-FR" noProof="0" dirty="0"/>
        </a:p>
      </dgm:t>
    </dgm:pt>
    <dgm:pt modelId="{D4F4AB4B-DC3E-7D4D-8708-1E3DC8CDEAF8}" type="sibTrans" cxnId="{CA02630B-38A0-E246-92F5-ACD44FCDA531}">
      <dgm:prSet/>
      <dgm:spPr/>
      <dgm:t>
        <a:bodyPr/>
        <a:lstStyle/>
        <a:p>
          <a:pPr rtl="0"/>
          <a:endParaRPr lang="fr-FR" noProof="0" dirty="0"/>
        </a:p>
      </dgm:t>
    </dgm:pt>
    <dgm:pt modelId="{A7B9B2FB-3064-6348-973B-E0ECE0C5CC9F}">
      <dgm:prSet phldrT="[Text]"/>
      <dgm:spPr/>
      <dgm:t>
        <a:bodyPr/>
        <a:lstStyle/>
        <a:p>
          <a:pPr rtl="0"/>
          <a:r>
            <a:rPr lang="fr-FR" noProof="0" dirty="0"/>
            <a:t>Data</a:t>
          </a:r>
        </a:p>
        <a:p>
          <a:pPr rtl="0"/>
          <a:r>
            <a:rPr lang="fr-FR" noProof="0" dirty="0"/>
            <a:t>Mining</a:t>
          </a:r>
        </a:p>
      </dgm:t>
    </dgm:pt>
    <dgm:pt modelId="{B35A671C-A0B4-2C4A-BA2E-EDDB4C7D93CE}" type="parTrans" cxnId="{2E5A6085-888B-8143-B0C5-67CACCCE6CAE}">
      <dgm:prSet/>
      <dgm:spPr/>
      <dgm:t>
        <a:bodyPr/>
        <a:lstStyle/>
        <a:p>
          <a:endParaRPr lang="fr-FR" noProof="0" dirty="0"/>
        </a:p>
      </dgm:t>
    </dgm:pt>
    <dgm:pt modelId="{92095791-F0C5-0848-9E20-7DEC8A96B8B1}" type="sibTrans" cxnId="{2E5A6085-888B-8143-B0C5-67CACCCE6CAE}">
      <dgm:prSet/>
      <dgm:spPr/>
      <dgm:t>
        <a:bodyPr/>
        <a:lstStyle/>
        <a:p>
          <a:pPr rtl="0"/>
          <a:endParaRPr lang="fr-FR" noProof="0" dirty="0"/>
        </a:p>
      </dgm:t>
    </dgm:pt>
    <dgm:pt modelId="{0963CCF9-8CE2-3149-960B-20CC4AE92114}">
      <dgm:prSet/>
      <dgm:spPr/>
      <dgm:t>
        <a:bodyPr/>
        <a:lstStyle/>
        <a:p>
          <a:r>
            <a:rPr lang="fr-FR" noProof="0" dirty="0"/>
            <a:t>Cube OLAP</a:t>
          </a:r>
        </a:p>
      </dgm:t>
    </dgm:pt>
    <dgm:pt modelId="{7D8A9796-B1B0-C14E-A0E1-2577B027F3DC}" type="parTrans" cxnId="{5939427C-E072-8C4F-B4A2-8B6C2385BB1D}">
      <dgm:prSet/>
      <dgm:spPr/>
      <dgm:t>
        <a:bodyPr/>
        <a:lstStyle/>
        <a:p>
          <a:endParaRPr lang="fr-FR" noProof="0" dirty="0"/>
        </a:p>
      </dgm:t>
    </dgm:pt>
    <dgm:pt modelId="{59C86FE4-2BDF-114F-BF50-6F0B27B7284E}" type="sibTrans" cxnId="{5939427C-E072-8C4F-B4A2-8B6C2385BB1D}">
      <dgm:prSet/>
      <dgm:spPr/>
      <dgm:t>
        <a:bodyPr/>
        <a:lstStyle/>
        <a:p>
          <a:endParaRPr lang="fr-FR" noProof="0" dirty="0"/>
        </a:p>
      </dgm:t>
    </dgm:pt>
    <dgm:pt modelId="{280134F0-7F9B-D64E-9EC3-184EF850A3E0}" type="pres">
      <dgm:prSet presAssocID="{77BB6C4F-AA02-B846-8359-C68CD8838ACA}" presName="Name0" presStyleCnt="0">
        <dgm:presLayoutVars>
          <dgm:chMax val="7"/>
          <dgm:dir/>
          <dgm:animOne val="branch"/>
        </dgm:presLayoutVars>
      </dgm:prSet>
      <dgm:spPr/>
      <dgm:t>
        <a:bodyPr/>
        <a:lstStyle/>
        <a:p>
          <a:endParaRPr lang="fr-FR"/>
        </a:p>
      </dgm:t>
    </dgm:pt>
    <dgm:pt modelId="{9918B2A6-0ED5-CE45-9F8F-6081EB2EC23B}" type="pres">
      <dgm:prSet presAssocID="{C32BBEBF-7105-FF45-B300-B6D26F6114E1}" presName="parTx1" presStyleLbl="node1" presStyleIdx="0" presStyleCnt="3"/>
      <dgm:spPr/>
      <dgm:t>
        <a:bodyPr/>
        <a:lstStyle/>
        <a:p>
          <a:endParaRPr lang="fr-FR"/>
        </a:p>
      </dgm:t>
    </dgm:pt>
    <dgm:pt modelId="{31BDAD9B-5DE4-0447-9AA5-870D315BCFDB}" type="pres">
      <dgm:prSet presAssocID="{0963CCF9-8CE2-3149-960B-20CC4AE92114}" presName="parTx2" presStyleLbl="node1" presStyleIdx="1" presStyleCnt="3"/>
      <dgm:spPr/>
      <dgm:t>
        <a:bodyPr/>
        <a:lstStyle/>
        <a:p>
          <a:endParaRPr lang="fr-FR"/>
        </a:p>
      </dgm:t>
    </dgm:pt>
    <dgm:pt modelId="{43519C74-67B1-844F-B005-9EF067C86B5F}" type="pres">
      <dgm:prSet presAssocID="{A7B9B2FB-3064-6348-973B-E0ECE0C5CC9F}" presName="parTx3" presStyleLbl="node1" presStyleIdx="2" presStyleCnt="3"/>
      <dgm:spPr/>
      <dgm:t>
        <a:bodyPr/>
        <a:lstStyle/>
        <a:p>
          <a:endParaRPr lang="fr-FR"/>
        </a:p>
      </dgm:t>
    </dgm:pt>
  </dgm:ptLst>
  <dgm:cxnLst>
    <dgm:cxn modelId="{2389309D-D730-5846-A89D-B933252D56B6}" type="presOf" srcId="{A7B9B2FB-3064-6348-973B-E0ECE0C5CC9F}" destId="{43519C74-67B1-844F-B005-9EF067C86B5F}" srcOrd="0" destOrd="0" presId="urn:microsoft.com/office/officeart/2009/3/layout/SubStepProcess"/>
    <dgm:cxn modelId="{2E5A6085-888B-8143-B0C5-67CACCCE6CAE}" srcId="{77BB6C4F-AA02-B846-8359-C68CD8838ACA}" destId="{A7B9B2FB-3064-6348-973B-E0ECE0C5CC9F}" srcOrd="2" destOrd="0" parTransId="{B35A671C-A0B4-2C4A-BA2E-EDDB4C7D93CE}" sibTransId="{92095791-F0C5-0848-9E20-7DEC8A96B8B1}"/>
    <dgm:cxn modelId="{A0E87CCC-02F1-F04B-80E8-5AB8F4F1BBCC}" type="presOf" srcId="{77BB6C4F-AA02-B846-8359-C68CD8838ACA}" destId="{280134F0-7F9B-D64E-9EC3-184EF850A3E0}" srcOrd="0" destOrd="0" presId="urn:microsoft.com/office/officeart/2009/3/layout/SubStepProcess"/>
    <dgm:cxn modelId="{5939427C-E072-8C4F-B4A2-8B6C2385BB1D}" srcId="{77BB6C4F-AA02-B846-8359-C68CD8838ACA}" destId="{0963CCF9-8CE2-3149-960B-20CC4AE92114}" srcOrd="1" destOrd="0" parTransId="{7D8A9796-B1B0-C14E-A0E1-2577B027F3DC}" sibTransId="{59C86FE4-2BDF-114F-BF50-6F0B27B7284E}"/>
    <dgm:cxn modelId="{CA02630B-38A0-E246-92F5-ACD44FCDA531}" srcId="{77BB6C4F-AA02-B846-8359-C68CD8838ACA}" destId="{C32BBEBF-7105-FF45-B300-B6D26F6114E1}" srcOrd="0" destOrd="0" parTransId="{6B782AFA-9ABE-7F4C-994B-6E00E81C2BFB}" sibTransId="{D4F4AB4B-DC3E-7D4D-8708-1E3DC8CDEAF8}"/>
    <dgm:cxn modelId="{F174C34B-A209-AA4B-8D70-3230AD2733FF}" type="presOf" srcId="{C32BBEBF-7105-FF45-B300-B6D26F6114E1}" destId="{9918B2A6-0ED5-CE45-9F8F-6081EB2EC23B}" srcOrd="0" destOrd="0" presId="urn:microsoft.com/office/officeart/2009/3/layout/SubStepProcess"/>
    <dgm:cxn modelId="{41569089-62A7-1548-9D4C-948639CCB97A}" type="presOf" srcId="{0963CCF9-8CE2-3149-960B-20CC4AE92114}" destId="{31BDAD9B-5DE4-0447-9AA5-870D315BCFDB}" srcOrd="0" destOrd="0" presId="urn:microsoft.com/office/officeart/2009/3/layout/SubStepProcess"/>
    <dgm:cxn modelId="{18D11D7F-DF3C-6B46-B491-1470DA6BC7F4}" type="presParOf" srcId="{280134F0-7F9B-D64E-9EC3-184EF850A3E0}" destId="{9918B2A6-0ED5-CE45-9F8F-6081EB2EC23B}" srcOrd="0" destOrd="0" presId="urn:microsoft.com/office/officeart/2009/3/layout/SubStepProcess"/>
    <dgm:cxn modelId="{C0A78540-4688-5942-8D3F-9D41F1606B62}" type="presParOf" srcId="{280134F0-7F9B-D64E-9EC3-184EF850A3E0}" destId="{31BDAD9B-5DE4-0447-9AA5-870D315BCFDB}" srcOrd="1" destOrd="0" presId="urn:microsoft.com/office/officeart/2009/3/layout/SubStepProcess"/>
    <dgm:cxn modelId="{3FA649FC-9451-5947-A901-E5880C1234C3}" type="presParOf" srcId="{280134F0-7F9B-D64E-9EC3-184EF850A3E0}" destId="{43519C74-67B1-844F-B005-9EF067C86B5F}" srcOrd="2" destOrd="0" presId="urn:microsoft.com/office/officeart/2009/3/layout/SubStepProcess"/>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E52176-FCC6-DE4C-B215-4D82E4CA95A6}" type="doc">
      <dgm:prSet loTypeId="urn:microsoft.com/office/officeart/2005/8/layout/matrix1" loCatId="" qsTypeId="urn:microsoft.com/office/officeart/2005/8/quickstyle/simple1" qsCatId="simple" csTypeId="urn:microsoft.com/office/officeart/2005/8/colors/accent2_1" csCatId="accent2" phldr="1"/>
      <dgm:spPr/>
      <dgm:t>
        <a:bodyPr/>
        <a:lstStyle/>
        <a:p>
          <a:endParaRPr lang="en-US"/>
        </a:p>
      </dgm:t>
    </dgm:pt>
    <dgm:pt modelId="{5090A349-6A16-2944-A73E-BE78046905A3}">
      <dgm:prSet phldrT="[Text]"/>
      <dgm:spPr/>
      <dgm:t>
        <a:bodyPr/>
        <a:lstStyle/>
        <a:p>
          <a:pPr rtl="0"/>
          <a:r>
            <a:rPr lang="en-US" dirty="0"/>
            <a:t>SI</a:t>
          </a:r>
        </a:p>
      </dgm:t>
    </dgm:pt>
    <dgm:pt modelId="{A8B27AC5-33E8-3545-93F9-D0D1CD7ABFE3}" type="parTrans" cxnId="{4EB6C0A5-3CF4-4B4D-AFB9-573B263E226D}">
      <dgm:prSet/>
      <dgm:spPr/>
      <dgm:t>
        <a:bodyPr/>
        <a:lstStyle/>
        <a:p>
          <a:endParaRPr lang="en-US"/>
        </a:p>
      </dgm:t>
    </dgm:pt>
    <dgm:pt modelId="{5289B75A-A59F-974A-BB90-6785389E5FDB}" type="sibTrans" cxnId="{4EB6C0A5-3CF4-4B4D-AFB9-573B263E226D}">
      <dgm:prSet/>
      <dgm:spPr/>
      <dgm:t>
        <a:bodyPr/>
        <a:lstStyle/>
        <a:p>
          <a:endParaRPr lang="en-US"/>
        </a:p>
      </dgm:t>
    </dgm:pt>
    <dgm:pt modelId="{B90EFFA1-2982-DB48-93EF-2513B7A3B47C}">
      <dgm:prSet phldrT="[Text]"/>
      <dgm:spPr/>
      <dgm:t>
        <a:bodyPr/>
        <a:lstStyle/>
        <a:p>
          <a:r>
            <a:rPr lang="x-none" b="1" dirty="0"/>
            <a:t>Améliorer l'efficacité opérationnelle </a:t>
          </a:r>
          <a:endParaRPr lang="en-US" dirty="0"/>
        </a:p>
      </dgm:t>
    </dgm:pt>
    <dgm:pt modelId="{5F94C919-FF9D-5B42-8CF5-4A90212E670B}" type="parTrans" cxnId="{060CC545-330F-CA45-8CBB-CD4D757EF939}">
      <dgm:prSet/>
      <dgm:spPr/>
      <dgm:t>
        <a:bodyPr/>
        <a:lstStyle/>
        <a:p>
          <a:endParaRPr lang="en-US"/>
        </a:p>
      </dgm:t>
    </dgm:pt>
    <dgm:pt modelId="{E9763368-5FE8-0E43-8FEC-714D4CDAFBB1}" type="sibTrans" cxnId="{060CC545-330F-CA45-8CBB-CD4D757EF939}">
      <dgm:prSet/>
      <dgm:spPr/>
      <dgm:t>
        <a:bodyPr/>
        <a:lstStyle/>
        <a:p>
          <a:endParaRPr lang="en-US"/>
        </a:p>
      </dgm:t>
    </dgm:pt>
    <dgm:pt modelId="{AE794FD6-A568-0343-A4EB-5F9E0F8D4F5B}">
      <dgm:prSet phldrT="[Text]"/>
      <dgm:spPr/>
      <dgm:t>
        <a:bodyPr/>
        <a:lstStyle/>
        <a:p>
          <a:r>
            <a:rPr lang="x-none" b="1" dirty="0"/>
            <a:t>Faciliter la prise de décision </a:t>
          </a:r>
          <a:endParaRPr lang="en-US" dirty="0"/>
        </a:p>
      </dgm:t>
    </dgm:pt>
    <dgm:pt modelId="{9DEB097B-4F5E-C544-AADB-04F1E6A2C9FF}" type="parTrans" cxnId="{49FB3056-263A-644B-9158-D2A3A59D0E1A}">
      <dgm:prSet/>
      <dgm:spPr/>
      <dgm:t>
        <a:bodyPr/>
        <a:lstStyle/>
        <a:p>
          <a:endParaRPr lang="en-US"/>
        </a:p>
      </dgm:t>
    </dgm:pt>
    <dgm:pt modelId="{7CC5D932-C7CA-C345-90FD-9463ABE301A0}" type="sibTrans" cxnId="{49FB3056-263A-644B-9158-D2A3A59D0E1A}">
      <dgm:prSet/>
      <dgm:spPr/>
      <dgm:t>
        <a:bodyPr/>
        <a:lstStyle/>
        <a:p>
          <a:endParaRPr lang="en-US"/>
        </a:p>
      </dgm:t>
    </dgm:pt>
    <dgm:pt modelId="{CA9317C8-5ADC-4645-8702-BD8532EC21F4}">
      <dgm:prSet phldrT="[Text]"/>
      <dgm:spPr/>
      <dgm:t>
        <a:bodyPr/>
        <a:lstStyle/>
        <a:p>
          <a:r>
            <a:rPr lang="x-none" b="1" dirty="0"/>
            <a:t>Améliorer la communication </a:t>
          </a:r>
          <a:endParaRPr lang="en-US" dirty="0"/>
        </a:p>
      </dgm:t>
    </dgm:pt>
    <dgm:pt modelId="{ACBDFC30-19A0-544C-8998-4E477C2E8DB1}" type="parTrans" cxnId="{D83B9CEB-2C9E-194D-9C5B-C8CB8FD1F2DF}">
      <dgm:prSet/>
      <dgm:spPr/>
      <dgm:t>
        <a:bodyPr/>
        <a:lstStyle/>
        <a:p>
          <a:endParaRPr lang="en-US"/>
        </a:p>
      </dgm:t>
    </dgm:pt>
    <dgm:pt modelId="{69A68615-85CC-F547-B5B7-28A913CDE9FC}" type="sibTrans" cxnId="{D83B9CEB-2C9E-194D-9C5B-C8CB8FD1F2DF}">
      <dgm:prSet/>
      <dgm:spPr/>
      <dgm:t>
        <a:bodyPr/>
        <a:lstStyle/>
        <a:p>
          <a:endParaRPr lang="en-US"/>
        </a:p>
      </dgm:t>
    </dgm:pt>
    <dgm:pt modelId="{811F6B65-748A-424B-BB17-41A5583D4DEC}">
      <dgm:prSet phldrT="[Text]"/>
      <dgm:spPr/>
      <dgm:t>
        <a:bodyPr/>
        <a:lstStyle/>
        <a:p>
          <a:r>
            <a:rPr lang="x-none" b="1" dirty="0"/>
            <a:t>Gérer les connaissances </a:t>
          </a:r>
          <a:endParaRPr lang="en-US" dirty="0"/>
        </a:p>
      </dgm:t>
    </dgm:pt>
    <dgm:pt modelId="{104755B1-4811-7C4B-9140-922C2D73DE2F}" type="parTrans" cxnId="{5055A6E5-4FD8-754F-9A30-A9BAE0EB9B4B}">
      <dgm:prSet/>
      <dgm:spPr/>
      <dgm:t>
        <a:bodyPr/>
        <a:lstStyle/>
        <a:p>
          <a:endParaRPr lang="en-US"/>
        </a:p>
      </dgm:t>
    </dgm:pt>
    <dgm:pt modelId="{2C9D5615-E1FD-5545-8174-05F03A059F93}" type="sibTrans" cxnId="{5055A6E5-4FD8-754F-9A30-A9BAE0EB9B4B}">
      <dgm:prSet/>
      <dgm:spPr/>
      <dgm:t>
        <a:bodyPr/>
        <a:lstStyle/>
        <a:p>
          <a:endParaRPr lang="en-US"/>
        </a:p>
      </dgm:t>
    </dgm:pt>
    <dgm:pt modelId="{1826785C-9F41-344B-8669-5F94753847EC}" type="pres">
      <dgm:prSet presAssocID="{D3E52176-FCC6-DE4C-B215-4D82E4CA95A6}" presName="diagram" presStyleCnt="0">
        <dgm:presLayoutVars>
          <dgm:chMax val="1"/>
          <dgm:dir/>
          <dgm:animLvl val="ctr"/>
          <dgm:resizeHandles val="exact"/>
        </dgm:presLayoutVars>
      </dgm:prSet>
      <dgm:spPr/>
      <dgm:t>
        <a:bodyPr/>
        <a:lstStyle/>
        <a:p>
          <a:endParaRPr lang="fr-FR"/>
        </a:p>
      </dgm:t>
    </dgm:pt>
    <dgm:pt modelId="{83940F95-2779-CF45-B3F6-28DABDFADDAC}" type="pres">
      <dgm:prSet presAssocID="{D3E52176-FCC6-DE4C-B215-4D82E4CA95A6}" presName="matrix" presStyleCnt="0"/>
      <dgm:spPr/>
    </dgm:pt>
    <dgm:pt modelId="{ED1A6A0A-C242-B84B-9D31-8BF2843192B5}" type="pres">
      <dgm:prSet presAssocID="{D3E52176-FCC6-DE4C-B215-4D82E4CA95A6}" presName="tile1" presStyleLbl="node1" presStyleIdx="0" presStyleCnt="4"/>
      <dgm:spPr/>
      <dgm:t>
        <a:bodyPr/>
        <a:lstStyle/>
        <a:p>
          <a:endParaRPr lang="fr-FR"/>
        </a:p>
      </dgm:t>
    </dgm:pt>
    <dgm:pt modelId="{AE5981AD-950A-1040-B590-549AB6B76FC7}" type="pres">
      <dgm:prSet presAssocID="{D3E52176-FCC6-DE4C-B215-4D82E4CA95A6}" presName="tile1text" presStyleLbl="node1" presStyleIdx="0" presStyleCnt="4">
        <dgm:presLayoutVars>
          <dgm:chMax val="0"/>
          <dgm:chPref val="0"/>
          <dgm:bulletEnabled val="1"/>
        </dgm:presLayoutVars>
      </dgm:prSet>
      <dgm:spPr/>
      <dgm:t>
        <a:bodyPr/>
        <a:lstStyle/>
        <a:p>
          <a:endParaRPr lang="fr-FR"/>
        </a:p>
      </dgm:t>
    </dgm:pt>
    <dgm:pt modelId="{A621E9DC-ACF9-0545-B573-1540058B551C}" type="pres">
      <dgm:prSet presAssocID="{D3E52176-FCC6-DE4C-B215-4D82E4CA95A6}" presName="tile2" presStyleLbl="node1" presStyleIdx="1" presStyleCnt="4"/>
      <dgm:spPr/>
      <dgm:t>
        <a:bodyPr/>
        <a:lstStyle/>
        <a:p>
          <a:endParaRPr lang="fr-FR"/>
        </a:p>
      </dgm:t>
    </dgm:pt>
    <dgm:pt modelId="{2955E13B-C6BB-914C-802E-BFB91895A629}" type="pres">
      <dgm:prSet presAssocID="{D3E52176-FCC6-DE4C-B215-4D82E4CA95A6}" presName="tile2text" presStyleLbl="node1" presStyleIdx="1" presStyleCnt="4">
        <dgm:presLayoutVars>
          <dgm:chMax val="0"/>
          <dgm:chPref val="0"/>
          <dgm:bulletEnabled val="1"/>
        </dgm:presLayoutVars>
      </dgm:prSet>
      <dgm:spPr/>
      <dgm:t>
        <a:bodyPr/>
        <a:lstStyle/>
        <a:p>
          <a:endParaRPr lang="fr-FR"/>
        </a:p>
      </dgm:t>
    </dgm:pt>
    <dgm:pt modelId="{873A3489-A658-464D-895A-40EEC4A1BEDF}" type="pres">
      <dgm:prSet presAssocID="{D3E52176-FCC6-DE4C-B215-4D82E4CA95A6}" presName="tile3" presStyleLbl="node1" presStyleIdx="2" presStyleCnt="4"/>
      <dgm:spPr/>
      <dgm:t>
        <a:bodyPr/>
        <a:lstStyle/>
        <a:p>
          <a:endParaRPr lang="fr-FR"/>
        </a:p>
      </dgm:t>
    </dgm:pt>
    <dgm:pt modelId="{6B951E92-DB8D-0440-AE7D-06F1B548F074}" type="pres">
      <dgm:prSet presAssocID="{D3E52176-FCC6-DE4C-B215-4D82E4CA95A6}" presName="tile3text" presStyleLbl="node1" presStyleIdx="2" presStyleCnt="4">
        <dgm:presLayoutVars>
          <dgm:chMax val="0"/>
          <dgm:chPref val="0"/>
          <dgm:bulletEnabled val="1"/>
        </dgm:presLayoutVars>
      </dgm:prSet>
      <dgm:spPr/>
      <dgm:t>
        <a:bodyPr/>
        <a:lstStyle/>
        <a:p>
          <a:endParaRPr lang="fr-FR"/>
        </a:p>
      </dgm:t>
    </dgm:pt>
    <dgm:pt modelId="{EAE30683-A5BC-4B4D-AA43-E78D1A3F4F77}" type="pres">
      <dgm:prSet presAssocID="{D3E52176-FCC6-DE4C-B215-4D82E4CA95A6}" presName="tile4" presStyleLbl="node1" presStyleIdx="3" presStyleCnt="4"/>
      <dgm:spPr/>
      <dgm:t>
        <a:bodyPr/>
        <a:lstStyle/>
        <a:p>
          <a:endParaRPr lang="fr-FR"/>
        </a:p>
      </dgm:t>
    </dgm:pt>
    <dgm:pt modelId="{AB19DE2F-35D0-F443-B77E-275FE9458389}" type="pres">
      <dgm:prSet presAssocID="{D3E52176-FCC6-DE4C-B215-4D82E4CA95A6}" presName="tile4text" presStyleLbl="node1" presStyleIdx="3" presStyleCnt="4">
        <dgm:presLayoutVars>
          <dgm:chMax val="0"/>
          <dgm:chPref val="0"/>
          <dgm:bulletEnabled val="1"/>
        </dgm:presLayoutVars>
      </dgm:prSet>
      <dgm:spPr/>
      <dgm:t>
        <a:bodyPr/>
        <a:lstStyle/>
        <a:p>
          <a:endParaRPr lang="fr-FR"/>
        </a:p>
      </dgm:t>
    </dgm:pt>
    <dgm:pt modelId="{C3C36659-4A29-6E43-A27E-420BF8A04F04}" type="pres">
      <dgm:prSet presAssocID="{D3E52176-FCC6-DE4C-B215-4D82E4CA95A6}" presName="centerTile" presStyleLbl="fgShp" presStyleIdx="0" presStyleCnt="1">
        <dgm:presLayoutVars>
          <dgm:chMax val="0"/>
          <dgm:chPref val="0"/>
        </dgm:presLayoutVars>
      </dgm:prSet>
      <dgm:spPr/>
      <dgm:t>
        <a:bodyPr/>
        <a:lstStyle/>
        <a:p>
          <a:endParaRPr lang="fr-FR"/>
        </a:p>
      </dgm:t>
    </dgm:pt>
  </dgm:ptLst>
  <dgm:cxnLst>
    <dgm:cxn modelId="{189594FD-2322-5C46-93A8-8E8CBC836D3B}" type="presOf" srcId="{811F6B65-748A-424B-BB17-41A5583D4DEC}" destId="{AB19DE2F-35D0-F443-B77E-275FE9458389}" srcOrd="1" destOrd="0" presId="urn:microsoft.com/office/officeart/2005/8/layout/matrix1"/>
    <dgm:cxn modelId="{2E6223BB-5D5B-B448-9C35-B3E8B79C937F}" type="presOf" srcId="{5090A349-6A16-2944-A73E-BE78046905A3}" destId="{C3C36659-4A29-6E43-A27E-420BF8A04F04}" srcOrd="0" destOrd="0" presId="urn:microsoft.com/office/officeart/2005/8/layout/matrix1"/>
    <dgm:cxn modelId="{4EB6C0A5-3CF4-4B4D-AFB9-573B263E226D}" srcId="{D3E52176-FCC6-DE4C-B215-4D82E4CA95A6}" destId="{5090A349-6A16-2944-A73E-BE78046905A3}" srcOrd="0" destOrd="0" parTransId="{A8B27AC5-33E8-3545-93F9-D0D1CD7ABFE3}" sibTransId="{5289B75A-A59F-974A-BB90-6785389E5FDB}"/>
    <dgm:cxn modelId="{C89CA6D4-715D-CA49-93F3-D8A6EB100E33}" type="presOf" srcId="{CA9317C8-5ADC-4645-8702-BD8532EC21F4}" destId="{6B951E92-DB8D-0440-AE7D-06F1B548F074}" srcOrd="1" destOrd="0" presId="urn:microsoft.com/office/officeart/2005/8/layout/matrix1"/>
    <dgm:cxn modelId="{5B979DAD-6EE5-194B-A887-AC962FDF021B}" type="presOf" srcId="{D3E52176-FCC6-DE4C-B215-4D82E4CA95A6}" destId="{1826785C-9F41-344B-8669-5F94753847EC}" srcOrd="0" destOrd="0" presId="urn:microsoft.com/office/officeart/2005/8/layout/matrix1"/>
    <dgm:cxn modelId="{060CC545-330F-CA45-8CBB-CD4D757EF939}" srcId="{5090A349-6A16-2944-A73E-BE78046905A3}" destId="{B90EFFA1-2982-DB48-93EF-2513B7A3B47C}" srcOrd="0" destOrd="0" parTransId="{5F94C919-FF9D-5B42-8CF5-4A90212E670B}" sibTransId="{E9763368-5FE8-0E43-8FEC-714D4CDAFBB1}"/>
    <dgm:cxn modelId="{8F9704B2-CF60-2948-82F0-3249B4CEEAC2}" type="presOf" srcId="{B90EFFA1-2982-DB48-93EF-2513B7A3B47C}" destId="{AE5981AD-950A-1040-B590-549AB6B76FC7}" srcOrd="1" destOrd="0" presId="urn:microsoft.com/office/officeart/2005/8/layout/matrix1"/>
    <dgm:cxn modelId="{49FB3056-263A-644B-9158-D2A3A59D0E1A}" srcId="{5090A349-6A16-2944-A73E-BE78046905A3}" destId="{AE794FD6-A568-0343-A4EB-5F9E0F8D4F5B}" srcOrd="1" destOrd="0" parTransId="{9DEB097B-4F5E-C544-AADB-04F1E6A2C9FF}" sibTransId="{7CC5D932-C7CA-C345-90FD-9463ABE301A0}"/>
    <dgm:cxn modelId="{5055A6E5-4FD8-754F-9A30-A9BAE0EB9B4B}" srcId="{5090A349-6A16-2944-A73E-BE78046905A3}" destId="{811F6B65-748A-424B-BB17-41A5583D4DEC}" srcOrd="3" destOrd="0" parTransId="{104755B1-4811-7C4B-9140-922C2D73DE2F}" sibTransId="{2C9D5615-E1FD-5545-8174-05F03A059F93}"/>
    <dgm:cxn modelId="{94D097ED-DAEA-C944-8DD4-1D194DCBBBA3}" type="presOf" srcId="{811F6B65-748A-424B-BB17-41A5583D4DEC}" destId="{EAE30683-A5BC-4B4D-AA43-E78D1A3F4F77}" srcOrd="0" destOrd="0" presId="urn:microsoft.com/office/officeart/2005/8/layout/matrix1"/>
    <dgm:cxn modelId="{AD3ADC7F-3C1A-764D-871C-ED81F8057542}" type="presOf" srcId="{AE794FD6-A568-0343-A4EB-5F9E0F8D4F5B}" destId="{A621E9DC-ACF9-0545-B573-1540058B551C}" srcOrd="0" destOrd="0" presId="urn:microsoft.com/office/officeart/2005/8/layout/matrix1"/>
    <dgm:cxn modelId="{6113AAA8-9CC4-EA40-B965-5D9384151F50}" type="presOf" srcId="{AE794FD6-A568-0343-A4EB-5F9E0F8D4F5B}" destId="{2955E13B-C6BB-914C-802E-BFB91895A629}" srcOrd="1" destOrd="0" presId="urn:microsoft.com/office/officeart/2005/8/layout/matrix1"/>
    <dgm:cxn modelId="{F757C811-E883-9948-A07D-ED86B674A13B}" type="presOf" srcId="{B90EFFA1-2982-DB48-93EF-2513B7A3B47C}" destId="{ED1A6A0A-C242-B84B-9D31-8BF2843192B5}" srcOrd="0" destOrd="0" presId="urn:microsoft.com/office/officeart/2005/8/layout/matrix1"/>
    <dgm:cxn modelId="{5DC4FE45-489D-6144-B096-47B0E81EE5E4}" type="presOf" srcId="{CA9317C8-5ADC-4645-8702-BD8532EC21F4}" destId="{873A3489-A658-464D-895A-40EEC4A1BEDF}" srcOrd="0" destOrd="0" presId="urn:microsoft.com/office/officeart/2005/8/layout/matrix1"/>
    <dgm:cxn modelId="{D83B9CEB-2C9E-194D-9C5B-C8CB8FD1F2DF}" srcId="{5090A349-6A16-2944-A73E-BE78046905A3}" destId="{CA9317C8-5ADC-4645-8702-BD8532EC21F4}" srcOrd="2" destOrd="0" parTransId="{ACBDFC30-19A0-544C-8998-4E477C2E8DB1}" sibTransId="{69A68615-85CC-F547-B5B7-28A913CDE9FC}"/>
    <dgm:cxn modelId="{16B9FA5A-CCC9-7F4E-BAC4-6DC951A52C1F}" type="presParOf" srcId="{1826785C-9F41-344B-8669-5F94753847EC}" destId="{83940F95-2779-CF45-B3F6-28DABDFADDAC}" srcOrd="0" destOrd="0" presId="urn:microsoft.com/office/officeart/2005/8/layout/matrix1"/>
    <dgm:cxn modelId="{F4CEEEC5-8CBA-3545-841E-B70A64E6B7F4}" type="presParOf" srcId="{83940F95-2779-CF45-B3F6-28DABDFADDAC}" destId="{ED1A6A0A-C242-B84B-9D31-8BF2843192B5}" srcOrd="0" destOrd="0" presId="urn:microsoft.com/office/officeart/2005/8/layout/matrix1"/>
    <dgm:cxn modelId="{5998A69A-2828-2549-AA34-9CA52FC3F83F}" type="presParOf" srcId="{83940F95-2779-CF45-B3F6-28DABDFADDAC}" destId="{AE5981AD-950A-1040-B590-549AB6B76FC7}" srcOrd="1" destOrd="0" presId="urn:microsoft.com/office/officeart/2005/8/layout/matrix1"/>
    <dgm:cxn modelId="{E669BFD0-BD92-5248-819A-6604691F2036}" type="presParOf" srcId="{83940F95-2779-CF45-B3F6-28DABDFADDAC}" destId="{A621E9DC-ACF9-0545-B573-1540058B551C}" srcOrd="2" destOrd="0" presId="urn:microsoft.com/office/officeart/2005/8/layout/matrix1"/>
    <dgm:cxn modelId="{19C5FEF1-014A-FF43-ACB4-8992A617A0BA}" type="presParOf" srcId="{83940F95-2779-CF45-B3F6-28DABDFADDAC}" destId="{2955E13B-C6BB-914C-802E-BFB91895A629}" srcOrd="3" destOrd="0" presId="urn:microsoft.com/office/officeart/2005/8/layout/matrix1"/>
    <dgm:cxn modelId="{4401004F-27A1-5D45-9022-E95F36249FEB}" type="presParOf" srcId="{83940F95-2779-CF45-B3F6-28DABDFADDAC}" destId="{873A3489-A658-464D-895A-40EEC4A1BEDF}" srcOrd="4" destOrd="0" presId="urn:microsoft.com/office/officeart/2005/8/layout/matrix1"/>
    <dgm:cxn modelId="{82BFBFE5-DB3A-1C45-B235-90E4BBA436A3}" type="presParOf" srcId="{83940F95-2779-CF45-B3F6-28DABDFADDAC}" destId="{6B951E92-DB8D-0440-AE7D-06F1B548F074}" srcOrd="5" destOrd="0" presId="urn:microsoft.com/office/officeart/2005/8/layout/matrix1"/>
    <dgm:cxn modelId="{023F439F-D6A2-4B4F-9B0F-F74101C34B2C}" type="presParOf" srcId="{83940F95-2779-CF45-B3F6-28DABDFADDAC}" destId="{EAE30683-A5BC-4B4D-AA43-E78D1A3F4F77}" srcOrd="6" destOrd="0" presId="urn:microsoft.com/office/officeart/2005/8/layout/matrix1"/>
    <dgm:cxn modelId="{8991E7A7-DF92-4D46-AC7A-1841AE751DD2}" type="presParOf" srcId="{83940F95-2779-CF45-B3F6-28DABDFADDAC}" destId="{AB19DE2F-35D0-F443-B77E-275FE9458389}" srcOrd="7" destOrd="0" presId="urn:microsoft.com/office/officeart/2005/8/layout/matrix1"/>
    <dgm:cxn modelId="{21FC7E35-5425-F54C-AC31-85EF7ACA2597}" type="presParOf" srcId="{1826785C-9F41-344B-8669-5F94753847EC}" destId="{C3C36659-4A29-6E43-A27E-420BF8A04F04}" srcOrd="1" destOrd="0" presId="urn:microsoft.com/office/officeart/2005/8/layout/matrix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C167C6-BC14-6140-B8D8-D44493C1DD11}" type="doc">
      <dgm:prSet loTypeId="urn:microsoft.com/office/officeart/2005/8/layout/cycle6" loCatId="" qsTypeId="urn:microsoft.com/office/officeart/2005/8/quickstyle/simple1" qsCatId="simple" csTypeId="urn:microsoft.com/office/officeart/2005/8/colors/colorful2" csCatId="colorful" phldr="1"/>
      <dgm:spPr/>
      <dgm:t>
        <a:bodyPr/>
        <a:lstStyle/>
        <a:p>
          <a:endParaRPr lang="en-US"/>
        </a:p>
      </dgm:t>
    </dgm:pt>
    <dgm:pt modelId="{8454F2DF-B357-A946-8D9E-176CDE5D39B5}">
      <dgm:prSet phldrT="[Text]"/>
      <dgm:spPr/>
      <dgm:t>
        <a:bodyPr/>
        <a:lstStyle/>
        <a:p>
          <a:pPr rtl="0"/>
          <a:r>
            <a:rPr lang="fr-FR" noProof="0" dirty="0"/>
            <a:t>Transactionnelles</a:t>
          </a:r>
        </a:p>
      </dgm:t>
    </dgm:pt>
    <dgm:pt modelId="{6804B658-FB71-7A48-BF95-02267698B91A}" type="parTrans" cxnId="{9EED2C8F-0D37-8544-9E1E-133AE787085D}">
      <dgm:prSet/>
      <dgm:spPr/>
      <dgm:t>
        <a:bodyPr/>
        <a:lstStyle/>
        <a:p>
          <a:endParaRPr lang="fr-FR" noProof="0" dirty="0"/>
        </a:p>
      </dgm:t>
    </dgm:pt>
    <dgm:pt modelId="{6543D613-E1CB-F44C-A9BE-EA8D9FC67B92}" type="sibTrans" cxnId="{9EED2C8F-0D37-8544-9E1E-133AE787085D}">
      <dgm:prSet/>
      <dgm:spPr/>
      <dgm:t>
        <a:bodyPr/>
        <a:lstStyle/>
        <a:p>
          <a:endParaRPr lang="fr-FR" noProof="0" dirty="0"/>
        </a:p>
      </dgm:t>
    </dgm:pt>
    <dgm:pt modelId="{CCB18D54-78BC-B94D-96A7-6F0061D4761C}">
      <dgm:prSet phldrT="[Text]"/>
      <dgm:spPr/>
      <dgm:t>
        <a:bodyPr/>
        <a:lstStyle/>
        <a:p>
          <a:pPr rtl="0"/>
          <a:r>
            <a:rPr lang="fr-FR" noProof="0" dirty="0"/>
            <a:t>Opérationnels</a:t>
          </a:r>
        </a:p>
      </dgm:t>
    </dgm:pt>
    <dgm:pt modelId="{8C1EDBAA-39C3-5449-82B5-640537AC0429}" type="parTrans" cxnId="{6D39CD19-8043-4D45-90A0-AA2070D4217A}">
      <dgm:prSet/>
      <dgm:spPr/>
      <dgm:t>
        <a:bodyPr/>
        <a:lstStyle/>
        <a:p>
          <a:endParaRPr lang="fr-FR" noProof="0" dirty="0"/>
        </a:p>
      </dgm:t>
    </dgm:pt>
    <dgm:pt modelId="{105F67C8-48BE-7446-B2D7-2533323CCEB4}" type="sibTrans" cxnId="{6D39CD19-8043-4D45-90A0-AA2070D4217A}">
      <dgm:prSet/>
      <dgm:spPr/>
      <dgm:t>
        <a:bodyPr/>
        <a:lstStyle/>
        <a:p>
          <a:endParaRPr lang="fr-FR" noProof="0" dirty="0"/>
        </a:p>
      </dgm:t>
    </dgm:pt>
    <dgm:pt modelId="{62EDAD75-A622-AB49-8ED5-767798A6DA83}">
      <dgm:prSet phldrT="[Text]"/>
      <dgm:spPr/>
      <dgm:t>
        <a:bodyPr/>
        <a:lstStyle/>
        <a:p>
          <a:pPr rtl="0"/>
          <a:r>
            <a:rPr lang="fr-FR" noProof="0" dirty="0"/>
            <a:t>Standardisés</a:t>
          </a:r>
        </a:p>
      </dgm:t>
    </dgm:pt>
    <dgm:pt modelId="{9C81EF09-6B1E-F94E-9C8C-692CAA161056}" type="parTrans" cxnId="{C9C30A01-D73E-9D4F-9108-A4232EB24AE1}">
      <dgm:prSet/>
      <dgm:spPr/>
      <dgm:t>
        <a:bodyPr/>
        <a:lstStyle/>
        <a:p>
          <a:endParaRPr lang="fr-FR" noProof="0" dirty="0"/>
        </a:p>
      </dgm:t>
    </dgm:pt>
    <dgm:pt modelId="{2846B094-D9F3-A347-9EAF-DD0CD6D3F33D}" type="sibTrans" cxnId="{C9C30A01-D73E-9D4F-9108-A4232EB24AE1}">
      <dgm:prSet/>
      <dgm:spPr/>
      <dgm:t>
        <a:bodyPr/>
        <a:lstStyle/>
        <a:p>
          <a:endParaRPr lang="fr-FR" noProof="0" dirty="0"/>
        </a:p>
      </dgm:t>
    </dgm:pt>
    <dgm:pt modelId="{45F32E9A-CD67-C24B-A83C-42FD90AE7A8C}">
      <dgm:prSet phldrT="[Text]"/>
      <dgm:spPr/>
      <dgm:t>
        <a:bodyPr/>
        <a:lstStyle/>
        <a:p>
          <a:pPr rtl="0"/>
          <a:r>
            <a:rPr lang="fr-FR" noProof="0" dirty="0"/>
            <a:t>Utilisateurs Multiples</a:t>
          </a:r>
        </a:p>
      </dgm:t>
    </dgm:pt>
    <dgm:pt modelId="{82236608-5DFC-A549-8D0C-3987F4798F7A}" type="parTrans" cxnId="{54AA379A-B58B-3F4B-8A23-5FEB045B642C}">
      <dgm:prSet/>
      <dgm:spPr/>
      <dgm:t>
        <a:bodyPr/>
        <a:lstStyle/>
        <a:p>
          <a:endParaRPr lang="fr-FR" noProof="0" dirty="0"/>
        </a:p>
      </dgm:t>
    </dgm:pt>
    <dgm:pt modelId="{57E76454-C914-1D41-8DE2-B15CCCC2202F}" type="sibTrans" cxnId="{54AA379A-B58B-3F4B-8A23-5FEB045B642C}">
      <dgm:prSet/>
      <dgm:spPr/>
      <dgm:t>
        <a:bodyPr/>
        <a:lstStyle/>
        <a:p>
          <a:endParaRPr lang="fr-FR" noProof="0" dirty="0"/>
        </a:p>
      </dgm:t>
    </dgm:pt>
    <dgm:pt modelId="{2FACCF0D-5A8E-F948-B202-A3E3B9A9191A}">
      <dgm:prSet phldrT="[Text]"/>
      <dgm:spPr/>
      <dgm:t>
        <a:bodyPr/>
        <a:lstStyle/>
        <a:p>
          <a:pPr rtl="0"/>
          <a:r>
            <a:rPr lang="fr-FR" noProof="0" dirty="0"/>
            <a:t>Temps réel</a:t>
          </a:r>
        </a:p>
      </dgm:t>
    </dgm:pt>
    <dgm:pt modelId="{ACE20452-D896-1143-8F07-64A9BE63D98D}" type="parTrans" cxnId="{60B15A7C-6206-284B-973A-DCC8EE3898E9}">
      <dgm:prSet/>
      <dgm:spPr/>
      <dgm:t>
        <a:bodyPr/>
        <a:lstStyle/>
        <a:p>
          <a:endParaRPr lang="fr-FR" noProof="0" dirty="0"/>
        </a:p>
      </dgm:t>
    </dgm:pt>
    <dgm:pt modelId="{E3689C9E-4F2E-5F43-B767-6031B8123B7F}" type="sibTrans" cxnId="{60B15A7C-6206-284B-973A-DCC8EE3898E9}">
      <dgm:prSet/>
      <dgm:spPr/>
      <dgm:t>
        <a:bodyPr/>
        <a:lstStyle/>
        <a:p>
          <a:endParaRPr lang="fr-FR" noProof="0" dirty="0"/>
        </a:p>
      </dgm:t>
    </dgm:pt>
    <dgm:pt modelId="{A4D393B8-E0A6-3B40-9D6A-ABF2E3D852AD}" type="pres">
      <dgm:prSet presAssocID="{A6C167C6-BC14-6140-B8D8-D44493C1DD11}" presName="cycle" presStyleCnt="0">
        <dgm:presLayoutVars>
          <dgm:dir/>
          <dgm:resizeHandles val="exact"/>
        </dgm:presLayoutVars>
      </dgm:prSet>
      <dgm:spPr/>
      <dgm:t>
        <a:bodyPr/>
        <a:lstStyle/>
        <a:p>
          <a:endParaRPr lang="fr-FR"/>
        </a:p>
      </dgm:t>
    </dgm:pt>
    <dgm:pt modelId="{CA929596-2F41-E048-A189-8CA454131676}" type="pres">
      <dgm:prSet presAssocID="{8454F2DF-B357-A946-8D9E-176CDE5D39B5}" presName="node" presStyleLbl="node1" presStyleIdx="0" presStyleCnt="5">
        <dgm:presLayoutVars>
          <dgm:bulletEnabled val="1"/>
        </dgm:presLayoutVars>
      </dgm:prSet>
      <dgm:spPr/>
      <dgm:t>
        <a:bodyPr/>
        <a:lstStyle/>
        <a:p>
          <a:endParaRPr lang="fr-FR"/>
        </a:p>
      </dgm:t>
    </dgm:pt>
    <dgm:pt modelId="{451EC270-5F1F-9E48-BED3-DC50AE855046}" type="pres">
      <dgm:prSet presAssocID="{8454F2DF-B357-A946-8D9E-176CDE5D39B5}" presName="spNode" presStyleCnt="0"/>
      <dgm:spPr/>
    </dgm:pt>
    <dgm:pt modelId="{D0E7B97F-D760-B446-BD0B-85D771E2A599}" type="pres">
      <dgm:prSet presAssocID="{6543D613-E1CB-F44C-A9BE-EA8D9FC67B92}" presName="sibTrans" presStyleLbl="sibTrans1D1" presStyleIdx="0" presStyleCnt="5"/>
      <dgm:spPr/>
      <dgm:t>
        <a:bodyPr/>
        <a:lstStyle/>
        <a:p>
          <a:endParaRPr lang="fr-FR"/>
        </a:p>
      </dgm:t>
    </dgm:pt>
    <dgm:pt modelId="{39697117-DDC3-E643-829B-FF18A6B0BB46}" type="pres">
      <dgm:prSet presAssocID="{CCB18D54-78BC-B94D-96A7-6F0061D4761C}" presName="node" presStyleLbl="node1" presStyleIdx="1" presStyleCnt="5">
        <dgm:presLayoutVars>
          <dgm:bulletEnabled val="1"/>
        </dgm:presLayoutVars>
      </dgm:prSet>
      <dgm:spPr/>
      <dgm:t>
        <a:bodyPr/>
        <a:lstStyle/>
        <a:p>
          <a:endParaRPr lang="fr-FR"/>
        </a:p>
      </dgm:t>
    </dgm:pt>
    <dgm:pt modelId="{F78125FB-B140-7C43-A3B0-B3E7A946C0D6}" type="pres">
      <dgm:prSet presAssocID="{CCB18D54-78BC-B94D-96A7-6F0061D4761C}" presName="spNode" presStyleCnt="0"/>
      <dgm:spPr/>
    </dgm:pt>
    <dgm:pt modelId="{3A3B66C9-4262-4B44-A2A0-DEC48DAB4418}" type="pres">
      <dgm:prSet presAssocID="{105F67C8-48BE-7446-B2D7-2533323CCEB4}" presName="sibTrans" presStyleLbl="sibTrans1D1" presStyleIdx="1" presStyleCnt="5"/>
      <dgm:spPr/>
      <dgm:t>
        <a:bodyPr/>
        <a:lstStyle/>
        <a:p>
          <a:endParaRPr lang="fr-FR"/>
        </a:p>
      </dgm:t>
    </dgm:pt>
    <dgm:pt modelId="{5B5850B2-219F-DB4F-9BE6-23E76F848F0E}" type="pres">
      <dgm:prSet presAssocID="{62EDAD75-A622-AB49-8ED5-767798A6DA83}" presName="node" presStyleLbl="node1" presStyleIdx="2" presStyleCnt="5">
        <dgm:presLayoutVars>
          <dgm:bulletEnabled val="1"/>
        </dgm:presLayoutVars>
      </dgm:prSet>
      <dgm:spPr/>
      <dgm:t>
        <a:bodyPr/>
        <a:lstStyle/>
        <a:p>
          <a:endParaRPr lang="fr-FR"/>
        </a:p>
      </dgm:t>
    </dgm:pt>
    <dgm:pt modelId="{FC7FE5BE-C388-6048-AED4-D3D7D8676B27}" type="pres">
      <dgm:prSet presAssocID="{62EDAD75-A622-AB49-8ED5-767798A6DA83}" presName="spNode" presStyleCnt="0"/>
      <dgm:spPr/>
    </dgm:pt>
    <dgm:pt modelId="{EE8792F2-1496-1246-A878-5B83B63A9EA2}" type="pres">
      <dgm:prSet presAssocID="{2846B094-D9F3-A347-9EAF-DD0CD6D3F33D}" presName="sibTrans" presStyleLbl="sibTrans1D1" presStyleIdx="2" presStyleCnt="5"/>
      <dgm:spPr/>
      <dgm:t>
        <a:bodyPr/>
        <a:lstStyle/>
        <a:p>
          <a:endParaRPr lang="fr-FR"/>
        </a:p>
      </dgm:t>
    </dgm:pt>
    <dgm:pt modelId="{1D38CE8F-54DD-8A46-824D-B2E500309F1C}" type="pres">
      <dgm:prSet presAssocID="{45F32E9A-CD67-C24B-A83C-42FD90AE7A8C}" presName="node" presStyleLbl="node1" presStyleIdx="3" presStyleCnt="5">
        <dgm:presLayoutVars>
          <dgm:bulletEnabled val="1"/>
        </dgm:presLayoutVars>
      </dgm:prSet>
      <dgm:spPr/>
      <dgm:t>
        <a:bodyPr/>
        <a:lstStyle/>
        <a:p>
          <a:endParaRPr lang="fr-FR"/>
        </a:p>
      </dgm:t>
    </dgm:pt>
    <dgm:pt modelId="{10011E65-826B-404A-BD3A-70D455309A9E}" type="pres">
      <dgm:prSet presAssocID="{45F32E9A-CD67-C24B-A83C-42FD90AE7A8C}" presName="spNode" presStyleCnt="0"/>
      <dgm:spPr/>
    </dgm:pt>
    <dgm:pt modelId="{67DB0CEC-A34C-5142-A430-22711B1CEDC6}" type="pres">
      <dgm:prSet presAssocID="{57E76454-C914-1D41-8DE2-B15CCCC2202F}" presName="sibTrans" presStyleLbl="sibTrans1D1" presStyleIdx="3" presStyleCnt="5"/>
      <dgm:spPr/>
      <dgm:t>
        <a:bodyPr/>
        <a:lstStyle/>
        <a:p>
          <a:endParaRPr lang="fr-FR"/>
        </a:p>
      </dgm:t>
    </dgm:pt>
    <dgm:pt modelId="{8FB06626-EFB6-D740-B910-E584B61E857A}" type="pres">
      <dgm:prSet presAssocID="{2FACCF0D-5A8E-F948-B202-A3E3B9A9191A}" presName="node" presStyleLbl="node1" presStyleIdx="4" presStyleCnt="5">
        <dgm:presLayoutVars>
          <dgm:bulletEnabled val="1"/>
        </dgm:presLayoutVars>
      </dgm:prSet>
      <dgm:spPr/>
      <dgm:t>
        <a:bodyPr/>
        <a:lstStyle/>
        <a:p>
          <a:endParaRPr lang="fr-FR"/>
        </a:p>
      </dgm:t>
    </dgm:pt>
    <dgm:pt modelId="{8A9B3EEE-64E7-FC4B-AADC-E486D5EFA8AA}" type="pres">
      <dgm:prSet presAssocID="{2FACCF0D-5A8E-F948-B202-A3E3B9A9191A}" presName="spNode" presStyleCnt="0"/>
      <dgm:spPr/>
    </dgm:pt>
    <dgm:pt modelId="{B49A654F-45DC-274A-A559-C1FE3DE15743}" type="pres">
      <dgm:prSet presAssocID="{E3689C9E-4F2E-5F43-B767-6031B8123B7F}" presName="sibTrans" presStyleLbl="sibTrans1D1" presStyleIdx="4" presStyleCnt="5"/>
      <dgm:spPr/>
      <dgm:t>
        <a:bodyPr/>
        <a:lstStyle/>
        <a:p>
          <a:endParaRPr lang="fr-FR"/>
        </a:p>
      </dgm:t>
    </dgm:pt>
  </dgm:ptLst>
  <dgm:cxnLst>
    <dgm:cxn modelId="{5AEE46DC-3CEA-9E47-99EB-7D378C5C6A4F}" type="presOf" srcId="{57E76454-C914-1D41-8DE2-B15CCCC2202F}" destId="{67DB0CEC-A34C-5142-A430-22711B1CEDC6}" srcOrd="0" destOrd="0" presId="urn:microsoft.com/office/officeart/2005/8/layout/cycle6"/>
    <dgm:cxn modelId="{60B15A7C-6206-284B-973A-DCC8EE3898E9}" srcId="{A6C167C6-BC14-6140-B8D8-D44493C1DD11}" destId="{2FACCF0D-5A8E-F948-B202-A3E3B9A9191A}" srcOrd="4" destOrd="0" parTransId="{ACE20452-D896-1143-8F07-64A9BE63D98D}" sibTransId="{E3689C9E-4F2E-5F43-B767-6031B8123B7F}"/>
    <dgm:cxn modelId="{6D39CD19-8043-4D45-90A0-AA2070D4217A}" srcId="{A6C167C6-BC14-6140-B8D8-D44493C1DD11}" destId="{CCB18D54-78BC-B94D-96A7-6F0061D4761C}" srcOrd="1" destOrd="0" parTransId="{8C1EDBAA-39C3-5449-82B5-640537AC0429}" sibTransId="{105F67C8-48BE-7446-B2D7-2533323CCEB4}"/>
    <dgm:cxn modelId="{CEDF2122-DE19-9743-995F-E6CE8812AD95}" type="presOf" srcId="{105F67C8-48BE-7446-B2D7-2533323CCEB4}" destId="{3A3B66C9-4262-4B44-A2A0-DEC48DAB4418}" srcOrd="0" destOrd="0" presId="urn:microsoft.com/office/officeart/2005/8/layout/cycle6"/>
    <dgm:cxn modelId="{0FC2A3C2-37FC-8447-8785-8DF181607FD8}" type="presOf" srcId="{6543D613-E1CB-F44C-A9BE-EA8D9FC67B92}" destId="{D0E7B97F-D760-B446-BD0B-85D771E2A599}" srcOrd="0" destOrd="0" presId="urn:microsoft.com/office/officeart/2005/8/layout/cycle6"/>
    <dgm:cxn modelId="{92634065-3D41-DC46-8F60-9E22B895640C}" type="presOf" srcId="{CCB18D54-78BC-B94D-96A7-6F0061D4761C}" destId="{39697117-DDC3-E643-829B-FF18A6B0BB46}" srcOrd="0" destOrd="0" presId="urn:microsoft.com/office/officeart/2005/8/layout/cycle6"/>
    <dgm:cxn modelId="{C9C30A01-D73E-9D4F-9108-A4232EB24AE1}" srcId="{A6C167C6-BC14-6140-B8D8-D44493C1DD11}" destId="{62EDAD75-A622-AB49-8ED5-767798A6DA83}" srcOrd="2" destOrd="0" parTransId="{9C81EF09-6B1E-F94E-9C8C-692CAA161056}" sibTransId="{2846B094-D9F3-A347-9EAF-DD0CD6D3F33D}"/>
    <dgm:cxn modelId="{54AA379A-B58B-3F4B-8A23-5FEB045B642C}" srcId="{A6C167C6-BC14-6140-B8D8-D44493C1DD11}" destId="{45F32E9A-CD67-C24B-A83C-42FD90AE7A8C}" srcOrd="3" destOrd="0" parTransId="{82236608-5DFC-A549-8D0C-3987F4798F7A}" sibTransId="{57E76454-C914-1D41-8DE2-B15CCCC2202F}"/>
    <dgm:cxn modelId="{18F77EF9-C59A-4A49-A1FE-F73A81E6688B}" type="presOf" srcId="{E3689C9E-4F2E-5F43-B767-6031B8123B7F}" destId="{B49A654F-45DC-274A-A559-C1FE3DE15743}" srcOrd="0" destOrd="0" presId="urn:microsoft.com/office/officeart/2005/8/layout/cycle6"/>
    <dgm:cxn modelId="{50F8BDB5-F46A-EF42-98F2-A26F924E9C28}" type="presOf" srcId="{2846B094-D9F3-A347-9EAF-DD0CD6D3F33D}" destId="{EE8792F2-1496-1246-A878-5B83B63A9EA2}" srcOrd="0" destOrd="0" presId="urn:microsoft.com/office/officeart/2005/8/layout/cycle6"/>
    <dgm:cxn modelId="{DAC310CE-CFF5-3B46-B563-9EC497A09DE7}" type="presOf" srcId="{62EDAD75-A622-AB49-8ED5-767798A6DA83}" destId="{5B5850B2-219F-DB4F-9BE6-23E76F848F0E}" srcOrd="0" destOrd="0" presId="urn:microsoft.com/office/officeart/2005/8/layout/cycle6"/>
    <dgm:cxn modelId="{1A466202-C1E6-BB45-BB9B-D9F9D29D4C3F}" type="presOf" srcId="{A6C167C6-BC14-6140-B8D8-D44493C1DD11}" destId="{A4D393B8-E0A6-3B40-9D6A-ABF2E3D852AD}" srcOrd="0" destOrd="0" presId="urn:microsoft.com/office/officeart/2005/8/layout/cycle6"/>
    <dgm:cxn modelId="{805785D8-DE50-F748-A744-8EA81E8758EB}" type="presOf" srcId="{2FACCF0D-5A8E-F948-B202-A3E3B9A9191A}" destId="{8FB06626-EFB6-D740-B910-E584B61E857A}" srcOrd="0" destOrd="0" presId="urn:microsoft.com/office/officeart/2005/8/layout/cycle6"/>
    <dgm:cxn modelId="{3ADC1EDA-DB4E-414D-B6AA-8AB810AD8517}" type="presOf" srcId="{45F32E9A-CD67-C24B-A83C-42FD90AE7A8C}" destId="{1D38CE8F-54DD-8A46-824D-B2E500309F1C}" srcOrd="0" destOrd="0" presId="urn:microsoft.com/office/officeart/2005/8/layout/cycle6"/>
    <dgm:cxn modelId="{3AB0F0DF-09CF-FA4D-90F5-9429698BCD4D}" type="presOf" srcId="{8454F2DF-B357-A946-8D9E-176CDE5D39B5}" destId="{CA929596-2F41-E048-A189-8CA454131676}" srcOrd="0" destOrd="0" presId="urn:microsoft.com/office/officeart/2005/8/layout/cycle6"/>
    <dgm:cxn modelId="{9EED2C8F-0D37-8544-9E1E-133AE787085D}" srcId="{A6C167C6-BC14-6140-B8D8-D44493C1DD11}" destId="{8454F2DF-B357-A946-8D9E-176CDE5D39B5}" srcOrd="0" destOrd="0" parTransId="{6804B658-FB71-7A48-BF95-02267698B91A}" sibTransId="{6543D613-E1CB-F44C-A9BE-EA8D9FC67B92}"/>
    <dgm:cxn modelId="{3048239A-7404-094A-8585-A6164499A589}" type="presParOf" srcId="{A4D393B8-E0A6-3B40-9D6A-ABF2E3D852AD}" destId="{CA929596-2F41-E048-A189-8CA454131676}" srcOrd="0" destOrd="0" presId="urn:microsoft.com/office/officeart/2005/8/layout/cycle6"/>
    <dgm:cxn modelId="{550288B8-4029-BD45-A14A-1B8D845F3D08}" type="presParOf" srcId="{A4D393B8-E0A6-3B40-9D6A-ABF2E3D852AD}" destId="{451EC270-5F1F-9E48-BED3-DC50AE855046}" srcOrd="1" destOrd="0" presId="urn:microsoft.com/office/officeart/2005/8/layout/cycle6"/>
    <dgm:cxn modelId="{677DCA15-4F93-E243-89F5-FA473EDF3A51}" type="presParOf" srcId="{A4D393B8-E0A6-3B40-9D6A-ABF2E3D852AD}" destId="{D0E7B97F-D760-B446-BD0B-85D771E2A599}" srcOrd="2" destOrd="0" presId="urn:microsoft.com/office/officeart/2005/8/layout/cycle6"/>
    <dgm:cxn modelId="{15EC5228-612C-7545-B2E7-92CFED247315}" type="presParOf" srcId="{A4D393B8-E0A6-3B40-9D6A-ABF2E3D852AD}" destId="{39697117-DDC3-E643-829B-FF18A6B0BB46}" srcOrd="3" destOrd="0" presId="urn:microsoft.com/office/officeart/2005/8/layout/cycle6"/>
    <dgm:cxn modelId="{D5E74BE3-441D-0E40-B1F6-6AA35B8CCFC4}" type="presParOf" srcId="{A4D393B8-E0A6-3B40-9D6A-ABF2E3D852AD}" destId="{F78125FB-B140-7C43-A3B0-B3E7A946C0D6}" srcOrd="4" destOrd="0" presId="urn:microsoft.com/office/officeart/2005/8/layout/cycle6"/>
    <dgm:cxn modelId="{C861203C-9076-D044-89C6-992699BC3087}" type="presParOf" srcId="{A4D393B8-E0A6-3B40-9D6A-ABF2E3D852AD}" destId="{3A3B66C9-4262-4B44-A2A0-DEC48DAB4418}" srcOrd="5" destOrd="0" presId="urn:microsoft.com/office/officeart/2005/8/layout/cycle6"/>
    <dgm:cxn modelId="{A9CC3180-1791-8E4F-A76B-7AD6E0F8911A}" type="presParOf" srcId="{A4D393B8-E0A6-3B40-9D6A-ABF2E3D852AD}" destId="{5B5850B2-219F-DB4F-9BE6-23E76F848F0E}" srcOrd="6" destOrd="0" presId="urn:microsoft.com/office/officeart/2005/8/layout/cycle6"/>
    <dgm:cxn modelId="{408D8A8E-12F9-AE4D-AC1D-ECBF848FE1F7}" type="presParOf" srcId="{A4D393B8-E0A6-3B40-9D6A-ABF2E3D852AD}" destId="{FC7FE5BE-C388-6048-AED4-D3D7D8676B27}" srcOrd="7" destOrd="0" presId="urn:microsoft.com/office/officeart/2005/8/layout/cycle6"/>
    <dgm:cxn modelId="{1B77232A-94B9-9640-82CD-906446B5549A}" type="presParOf" srcId="{A4D393B8-E0A6-3B40-9D6A-ABF2E3D852AD}" destId="{EE8792F2-1496-1246-A878-5B83B63A9EA2}" srcOrd="8" destOrd="0" presId="urn:microsoft.com/office/officeart/2005/8/layout/cycle6"/>
    <dgm:cxn modelId="{8483829B-10C0-4B4F-8DDD-EF2223744499}" type="presParOf" srcId="{A4D393B8-E0A6-3B40-9D6A-ABF2E3D852AD}" destId="{1D38CE8F-54DD-8A46-824D-B2E500309F1C}" srcOrd="9" destOrd="0" presId="urn:microsoft.com/office/officeart/2005/8/layout/cycle6"/>
    <dgm:cxn modelId="{CBFC6D40-254C-D84D-AEB7-D6CBC263EF2F}" type="presParOf" srcId="{A4D393B8-E0A6-3B40-9D6A-ABF2E3D852AD}" destId="{10011E65-826B-404A-BD3A-70D455309A9E}" srcOrd="10" destOrd="0" presId="urn:microsoft.com/office/officeart/2005/8/layout/cycle6"/>
    <dgm:cxn modelId="{CCF4E69E-60CD-E146-B2F7-7F86B215EBE5}" type="presParOf" srcId="{A4D393B8-E0A6-3B40-9D6A-ABF2E3D852AD}" destId="{67DB0CEC-A34C-5142-A430-22711B1CEDC6}" srcOrd="11" destOrd="0" presId="urn:microsoft.com/office/officeart/2005/8/layout/cycle6"/>
    <dgm:cxn modelId="{07A97BD5-D9ED-A84D-AB86-99EF8A1BD069}" type="presParOf" srcId="{A4D393B8-E0A6-3B40-9D6A-ABF2E3D852AD}" destId="{8FB06626-EFB6-D740-B910-E584B61E857A}" srcOrd="12" destOrd="0" presId="urn:microsoft.com/office/officeart/2005/8/layout/cycle6"/>
    <dgm:cxn modelId="{16D0CD40-AAAA-6A40-BF93-E267B68B758E}" type="presParOf" srcId="{A4D393B8-E0A6-3B40-9D6A-ABF2E3D852AD}" destId="{8A9B3EEE-64E7-FC4B-AADC-E486D5EFA8AA}" srcOrd="13" destOrd="0" presId="urn:microsoft.com/office/officeart/2005/8/layout/cycle6"/>
    <dgm:cxn modelId="{91BA0414-274F-8943-8690-EDD03038B6E3}" type="presParOf" srcId="{A4D393B8-E0A6-3B40-9D6A-ABF2E3D852AD}" destId="{B49A654F-45DC-274A-A559-C1FE3DE15743}" srcOrd="14" destOrd="0" presId="urn:microsoft.com/office/officeart/2005/8/layout/cycle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67" loCatId="" qsTypeId="urn:microsoft.com/office/officeart/2005/8/quickstyle/simple1" qsCatId="simple" csTypeId="urn:microsoft.com/office/officeart/2005/8/colors/colorful2" csCatId="colorful" phldr="1"/>
      <dgm:spPr/>
      <dgm:t>
        <a:bodyPr/>
        <a:lstStyle/>
        <a:p>
          <a:endParaRPr lang="en-US"/>
        </a:p>
      </dgm:t>
    </dgm:pt>
    <dgm:pt modelId="{F465A8CC-25CF-AE43-96F9-B7C1FB476376}">
      <dgm:prSet phldrT="[Text]"/>
      <dgm:spPr/>
      <dgm:t>
        <a:bodyPr/>
        <a:lstStyle/>
        <a:p>
          <a:r>
            <a:rPr lang="x-none" b="1" dirty="0"/>
            <a:t>Efficacité Opérationnelle </a:t>
          </a:r>
          <a:endParaRPr lang="en-US" dirty="0"/>
        </a:p>
      </dgm:t>
    </dgm:pt>
    <dgm:pt modelId="{7FF2CE25-8A6D-A842-AB12-DBA06EB374E9}" type="parTrans" cxnId="{587FD161-5541-8643-8CC8-5FBE3C984117}">
      <dgm:prSet/>
      <dgm:spPr/>
      <dgm:t>
        <a:bodyPr/>
        <a:lstStyle/>
        <a:p>
          <a:endParaRPr lang="en-US"/>
        </a:p>
      </dgm:t>
    </dgm:pt>
    <dgm:pt modelId="{ED657EB5-8C8F-2F44-A2D7-0B127E357180}" type="sibTrans" cxnId="{587FD161-5541-8643-8CC8-5FBE3C984117}">
      <dgm:prSet/>
      <dgm:spPr/>
      <dgm:t>
        <a:bodyPr/>
        <a:lstStyle/>
        <a:p>
          <a:endParaRPr lang="en-US"/>
        </a:p>
      </dgm:t>
    </dgm:pt>
    <dgm:pt modelId="{9C1B3AB0-5A96-3441-8F17-25D13C1CF486}">
      <dgm:prSet phldrT="[Text]"/>
      <dgm:spPr/>
      <dgm:t>
        <a:bodyPr/>
        <a:lstStyle/>
        <a:p>
          <a:r>
            <a:rPr lang="x-none" b="1" dirty="0"/>
            <a:t>Précision des Données</a:t>
          </a:r>
          <a:endParaRPr lang="en-US" dirty="0"/>
        </a:p>
      </dgm:t>
    </dgm:pt>
    <dgm:pt modelId="{4C5C0214-86CC-7540-B769-98B4A71BFB62}" type="parTrans" cxnId="{6FCE2917-6623-4346-8F70-9C8FF3AC9B1E}">
      <dgm:prSet/>
      <dgm:spPr/>
      <dgm:t>
        <a:bodyPr/>
        <a:lstStyle/>
        <a:p>
          <a:endParaRPr lang="en-US"/>
        </a:p>
      </dgm:t>
    </dgm:pt>
    <dgm:pt modelId="{D57ACB5C-D850-9D41-BFC5-F84B14B6392C}" type="sibTrans" cxnId="{6FCE2917-6623-4346-8F70-9C8FF3AC9B1E}">
      <dgm:prSet/>
      <dgm:spPr/>
      <dgm:t>
        <a:bodyPr/>
        <a:lstStyle/>
        <a:p>
          <a:endParaRPr lang="en-US"/>
        </a:p>
      </dgm:t>
    </dgm:pt>
    <dgm:pt modelId="{1F06A386-EA08-8C4E-8D2D-89AE9E77A78C}">
      <dgm:prSet phldrT="[Text]"/>
      <dgm:spPr/>
      <dgm:t>
        <a:bodyPr/>
        <a:lstStyle/>
        <a:p>
          <a:r>
            <a:rPr lang="x-none" b="1" dirty="0"/>
            <a:t>Amélioration du Service Client </a:t>
          </a:r>
          <a:endParaRPr lang="en-US" dirty="0"/>
        </a:p>
      </dgm:t>
    </dgm:pt>
    <dgm:pt modelId="{0CE8416A-635F-EC4F-9B27-5E2066B2FA2D}" type="parTrans" cxnId="{F4DDF4C3-7AD0-1F40-A321-EE7CC8E71258}">
      <dgm:prSet/>
      <dgm:spPr/>
      <dgm:t>
        <a:bodyPr/>
        <a:lstStyle/>
        <a:p>
          <a:endParaRPr lang="en-US"/>
        </a:p>
      </dgm:t>
    </dgm:pt>
    <dgm:pt modelId="{5B531814-763D-4444-9886-5155E3DF40E3}" type="sibTrans" cxnId="{F4DDF4C3-7AD0-1F40-A321-EE7CC8E71258}">
      <dgm:prSet/>
      <dgm:spPr/>
      <dgm:t>
        <a:bodyPr/>
        <a:lstStyle/>
        <a:p>
          <a:endParaRPr lang="en-US"/>
        </a:p>
      </dgm:t>
    </dgm:pt>
    <dgm:pt modelId="{A8BCA4CD-1071-4141-A013-9A464D3E8EF3}">
      <dgm:prSet phldrT="[Text]"/>
      <dgm:spPr/>
      <dgm:t>
        <a:bodyPr/>
        <a:lstStyle/>
        <a:p>
          <a:r>
            <a:rPr lang="x-none" b="1" dirty="0"/>
            <a:t>Meilleure Communication </a:t>
          </a:r>
          <a:endParaRPr lang="en-US" dirty="0"/>
        </a:p>
      </dgm:t>
    </dgm:pt>
    <dgm:pt modelId="{F0A0A9CD-694F-A546-977A-480475EC9187}" type="parTrans" cxnId="{4222D997-BDBC-1744-AE61-5CCC8AECCF4E}">
      <dgm:prSet/>
      <dgm:spPr/>
      <dgm:t>
        <a:bodyPr/>
        <a:lstStyle/>
        <a:p>
          <a:endParaRPr lang="en-US"/>
        </a:p>
      </dgm:t>
    </dgm:pt>
    <dgm:pt modelId="{8D09269D-89D0-BF48-85CE-40562EC17F96}" type="sibTrans" cxnId="{4222D997-BDBC-1744-AE61-5CCC8AECCF4E}">
      <dgm:prSet/>
      <dgm:spPr/>
      <dgm:t>
        <a:bodyPr/>
        <a:lstStyle/>
        <a:p>
          <a:endParaRPr lang="en-US"/>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4">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4">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4">
        <dgm:presLayoutVars>
          <dgm:bulletEnabled val="1"/>
        </dgm:presLayoutVars>
      </dgm:prSet>
      <dgm:spPr/>
      <dgm:t>
        <a:bodyPr/>
        <a:lstStyle/>
        <a:p>
          <a:endParaRPr lang="fr-FR"/>
        </a:p>
      </dgm:t>
    </dgm:pt>
    <dgm:pt modelId="{11D20368-F408-B741-A646-D30B0DEE37E9}" type="pres">
      <dgm:prSet presAssocID="{5B531814-763D-4444-9886-5155E3DF40E3}" presName="sibTrans" presStyleCnt="0"/>
      <dgm:spPr/>
    </dgm:pt>
    <dgm:pt modelId="{0CC5B25D-30A5-E14A-AFFE-B7F7A407DE7F}" type="pres">
      <dgm:prSet presAssocID="{A8BCA4CD-1071-4141-A013-9A464D3E8EF3}" presName="node" presStyleLbl="node1" presStyleIdx="3" presStyleCnt="4">
        <dgm:presLayoutVars>
          <dgm:bulletEnabled val="1"/>
        </dgm:presLayoutVars>
      </dgm:prSet>
      <dgm:spPr/>
      <dgm:t>
        <a:bodyPr/>
        <a:lstStyle/>
        <a:p>
          <a:endParaRPr lang="fr-FR"/>
        </a:p>
      </dgm:t>
    </dgm:pt>
  </dgm:ptLst>
  <dgm:cxnLst>
    <dgm:cxn modelId="{A89E1113-8197-5A4F-AF82-A6485A7B913A}" type="presOf" srcId="{F465A8CC-25CF-AE43-96F9-B7C1FB476376}" destId="{1D2D1586-76F2-AE45-8789-C0B869A366B0}" srcOrd="0" destOrd="0" presId="urn:microsoft.com/office/officeart/2005/8/layout/default#167"/>
    <dgm:cxn modelId="{93A6DE0F-F8E7-714F-89C0-0C0CCD32A05F}" type="presOf" srcId="{9C1B3AB0-5A96-3441-8F17-25D13C1CF486}" destId="{4168E2E4-C500-B248-8253-C3C9A745000A}" srcOrd="0" destOrd="0" presId="urn:microsoft.com/office/officeart/2005/8/layout/default#167"/>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587FD161-5541-8643-8CC8-5FBE3C984117}" srcId="{0695DBAD-3C39-194B-A14E-CD6759BA6827}" destId="{F465A8CC-25CF-AE43-96F9-B7C1FB476376}" srcOrd="0" destOrd="0" parTransId="{7FF2CE25-8A6D-A842-AB12-DBA06EB374E9}" sibTransId="{ED657EB5-8C8F-2F44-A2D7-0B127E357180}"/>
    <dgm:cxn modelId="{0D71C6ED-ABEA-3A48-8D92-595FD9A7495A}" type="presOf" srcId="{A8BCA4CD-1071-4141-A013-9A464D3E8EF3}" destId="{0CC5B25D-30A5-E14A-AFFE-B7F7A407DE7F}" srcOrd="0" destOrd="0" presId="urn:microsoft.com/office/officeart/2005/8/layout/default#167"/>
    <dgm:cxn modelId="{4222D997-BDBC-1744-AE61-5CCC8AECCF4E}" srcId="{0695DBAD-3C39-194B-A14E-CD6759BA6827}" destId="{A8BCA4CD-1071-4141-A013-9A464D3E8EF3}" srcOrd="3" destOrd="0" parTransId="{F0A0A9CD-694F-A546-977A-480475EC9187}" sibTransId="{8D09269D-89D0-BF48-85CE-40562EC17F96}"/>
    <dgm:cxn modelId="{17F157A3-9897-3B47-A862-8D0632799025}" type="presOf" srcId="{1F06A386-EA08-8C4E-8D2D-89AE9E77A78C}" destId="{2EA168E3-B536-6840-8C2E-053FF39A10FC}" srcOrd="0" destOrd="0" presId="urn:microsoft.com/office/officeart/2005/8/layout/default#167"/>
    <dgm:cxn modelId="{AF959D98-F075-A945-8B61-4DBD5EA17B6D}" type="presOf" srcId="{0695DBAD-3C39-194B-A14E-CD6759BA6827}" destId="{B79A319B-2ABC-2644-ADEC-766166A354CD}" srcOrd="0" destOrd="0" presId="urn:microsoft.com/office/officeart/2005/8/layout/default#167"/>
    <dgm:cxn modelId="{B23129A3-EBAF-AD49-992E-9FB9F29FAF56}" type="presParOf" srcId="{B79A319B-2ABC-2644-ADEC-766166A354CD}" destId="{1D2D1586-76F2-AE45-8789-C0B869A366B0}" srcOrd="0" destOrd="0" presId="urn:microsoft.com/office/officeart/2005/8/layout/default#167"/>
    <dgm:cxn modelId="{8314A30E-D735-8949-8A4E-13868E40069B}" type="presParOf" srcId="{B79A319B-2ABC-2644-ADEC-766166A354CD}" destId="{7709A9AB-2EF2-7E43-8A03-0711DCADFCA0}" srcOrd="1" destOrd="0" presId="urn:microsoft.com/office/officeart/2005/8/layout/default#167"/>
    <dgm:cxn modelId="{8CBBAC03-8026-9043-8D53-70AE33057FEF}" type="presParOf" srcId="{B79A319B-2ABC-2644-ADEC-766166A354CD}" destId="{4168E2E4-C500-B248-8253-C3C9A745000A}" srcOrd="2" destOrd="0" presId="urn:microsoft.com/office/officeart/2005/8/layout/default#167"/>
    <dgm:cxn modelId="{25F09B23-0E99-284F-822B-0CF7A76E60AE}" type="presParOf" srcId="{B79A319B-2ABC-2644-ADEC-766166A354CD}" destId="{CE0465FF-2ED5-3345-BD9F-CB1EE5DDD4A1}" srcOrd="3" destOrd="0" presId="urn:microsoft.com/office/officeart/2005/8/layout/default#167"/>
    <dgm:cxn modelId="{3478080F-4079-4349-8717-1B8B49CC2A67}" type="presParOf" srcId="{B79A319B-2ABC-2644-ADEC-766166A354CD}" destId="{2EA168E3-B536-6840-8C2E-053FF39A10FC}" srcOrd="4" destOrd="0" presId="urn:microsoft.com/office/officeart/2005/8/layout/default#167"/>
    <dgm:cxn modelId="{CC5D6F66-1997-D643-8EB8-18D3CAF2E0ED}" type="presParOf" srcId="{B79A319B-2ABC-2644-ADEC-766166A354CD}" destId="{11D20368-F408-B741-A646-D30B0DEE37E9}" srcOrd="5" destOrd="0" presId="urn:microsoft.com/office/officeart/2005/8/layout/default#167"/>
    <dgm:cxn modelId="{9CD9591A-DC8C-AE42-9A74-8787C3DEECCA}" type="presParOf" srcId="{B79A319B-2ABC-2644-ADEC-766166A354CD}" destId="{0CC5B25D-30A5-E14A-AFFE-B7F7A407DE7F}" srcOrd="6" destOrd="0" presId="urn:microsoft.com/office/officeart/2005/8/layout/default#167"/>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68" loCatId="" qsTypeId="urn:microsoft.com/office/officeart/2005/8/quickstyle/simple1" qsCatId="simple" csTypeId="urn:microsoft.com/office/officeart/2005/8/colors/colorful4" csCatId="colorful" phldr="1"/>
      <dgm:spPr/>
      <dgm:t>
        <a:bodyPr/>
        <a:lstStyle/>
        <a:p>
          <a:endParaRPr lang="en-US"/>
        </a:p>
      </dgm:t>
    </dgm:pt>
    <dgm:pt modelId="{F465A8CC-25CF-AE43-96F9-B7C1FB476376}">
      <dgm:prSet phldrT="[Text]" custT="1"/>
      <dgm:spPr/>
      <dgm:t>
        <a:bodyPr/>
        <a:lstStyle/>
        <a:p>
          <a:r>
            <a:rPr lang="x-none" sz="3400" b="1" dirty="0"/>
            <a:t>Flexibilité Limitée </a:t>
          </a:r>
          <a:endParaRPr lang="en-US" sz="3400" dirty="0"/>
        </a:p>
      </dgm:t>
    </dgm:pt>
    <dgm:pt modelId="{7FF2CE25-8A6D-A842-AB12-DBA06EB374E9}" type="parTrans" cxnId="{587FD161-5541-8643-8CC8-5FBE3C984117}">
      <dgm:prSet/>
      <dgm:spPr/>
      <dgm:t>
        <a:bodyPr/>
        <a:lstStyle/>
        <a:p>
          <a:endParaRPr lang="en-US" sz="3400"/>
        </a:p>
      </dgm:t>
    </dgm:pt>
    <dgm:pt modelId="{ED657EB5-8C8F-2F44-A2D7-0B127E357180}" type="sibTrans" cxnId="{587FD161-5541-8643-8CC8-5FBE3C984117}">
      <dgm:prSet/>
      <dgm:spPr/>
      <dgm:t>
        <a:bodyPr/>
        <a:lstStyle/>
        <a:p>
          <a:endParaRPr lang="en-US" sz="3400"/>
        </a:p>
      </dgm:t>
    </dgm:pt>
    <dgm:pt modelId="{9C1B3AB0-5A96-3441-8F17-25D13C1CF486}">
      <dgm:prSet phldrT="[Text]" custT="1"/>
      <dgm:spPr/>
      <dgm:t>
        <a:bodyPr/>
        <a:lstStyle/>
        <a:p>
          <a:r>
            <a:rPr lang="x-none" sz="3400" b="1" dirty="0"/>
            <a:t>Dépendance aux Technologies </a:t>
          </a:r>
          <a:endParaRPr lang="en-US" sz="3400" dirty="0"/>
        </a:p>
      </dgm:t>
    </dgm:pt>
    <dgm:pt modelId="{4C5C0214-86CC-7540-B769-98B4A71BFB62}" type="parTrans" cxnId="{6FCE2917-6623-4346-8F70-9C8FF3AC9B1E}">
      <dgm:prSet/>
      <dgm:spPr/>
      <dgm:t>
        <a:bodyPr/>
        <a:lstStyle/>
        <a:p>
          <a:endParaRPr lang="en-US" sz="3400"/>
        </a:p>
      </dgm:t>
    </dgm:pt>
    <dgm:pt modelId="{D57ACB5C-D850-9D41-BFC5-F84B14B6392C}" type="sibTrans" cxnId="{6FCE2917-6623-4346-8F70-9C8FF3AC9B1E}">
      <dgm:prSet/>
      <dgm:spPr/>
      <dgm:t>
        <a:bodyPr/>
        <a:lstStyle/>
        <a:p>
          <a:endParaRPr lang="en-US" sz="3400"/>
        </a:p>
      </dgm:t>
    </dgm:pt>
    <dgm:pt modelId="{1F06A386-EA08-8C4E-8D2D-89AE9E77A78C}">
      <dgm:prSet phldrT="[Text]" custT="1"/>
      <dgm:spPr/>
      <dgm:t>
        <a:bodyPr/>
        <a:lstStyle/>
        <a:p>
          <a:r>
            <a:rPr lang="x-none" sz="3400" b="1" dirty="0"/>
            <a:t>Coûts Initiaux Élevés </a:t>
          </a:r>
          <a:endParaRPr lang="en-US" sz="3400" dirty="0"/>
        </a:p>
      </dgm:t>
    </dgm:pt>
    <dgm:pt modelId="{0CE8416A-635F-EC4F-9B27-5E2066B2FA2D}" type="parTrans" cxnId="{F4DDF4C3-7AD0-1F40-A321-EE7CC8E71258}">
      <dgm:prSet/>
      <dgm:spPr/>
      <dgm:t>
        <a:bodyPr/>
        <a:lstStyle/>
        <a:p>
          <a:endParaRPr lang="en-US" sz="3400"/>
        </a:p>
      </dgm:t>
    </dgm:pt>
    <dgm:pt modelId="{5B531814-763D-4444-9886-5155E3DF40E3}" type="sibTrans" cxnId="{F4DDF4C3-7AD0-1F40-A321-EE7CC8E71258}">
      <dgm:prSet/>
      <dgm:spPr/>
      <dgm:t>
        <a:bodyPr/>
        <a:lstStyle/>
        <a:p>
          <a:endParaRPr lang="en-US" sz="3400"/>
        </a:p>
      </dgm:t>
    </dgm:pt>
    <dgm:pt modelId="{A8BCA4CD-1071-4141-A013-9A464D3E8EF3}">
      <dgm:prSet phldrT="[Text]" custT="1"/>
      <dgm:spPr/>
      <dgm:t>
        <a:bodyPr/>
        <a:lstStyle/>
        <a:p>
          <a:r>
            <a:rPr lang="x-none" sz="3400" b="1" dirty="0"/>
            <a:t>Sécurité et Confidentialité </a:t>
          </a:r>
          <a:endParaRPr lang="en-US" sz="3400" dirty="0"/>
        </a:p>
      </dgm:t>
    </dgm:pt>
    <dgm:pt modelId="{F0A0A9CD-694F-A546-977A-480475EC9187}" type="parTrans" cxnId="{4222D997-BDBC-1744-AE61-5CCC8AECCF4E}">
      <dgm:prSet/>
      <dgm:spPr/>
      <dgm:t>
        <a:bodyPr/>
        <a:lstStyle/>
        <a:p>
          <a:endParaRPr lang="en-US" sz="3400"/>
        </a:p>
      </dgm:t>
    </dgm:pt>
    <dgm:pt modelId="{8D09269D-89D0-BF48-85CE-40562EC17F96}" type="sibTrans" cxnId="{4222D997-BDBC-1744-AE61-5CCC8AECCF4E}">
      <dgm:prSet/>
      <dgm:spPr/>
      <dgm:t>
        <a:bodyPr/>
        <a:lstStyle/>
        <a:p>
          <a:endParaRPr lang="en-US" sz="3400"/>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4">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4">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4">
        <dgm:presLayoutVars>
          <dgm:bulletEnabled val="1"/>
        </dgm:presLayoutVars>
      </dgm:prSet>
      <dgm:spPr/>
      <dgm:t>
        <a:bodyPr/>
        <a:lstStyle/>
        <a:p>
          <a:endParaRPr lang="fr-FR"/>
        </a:p>
      </dgm:t>
    </dgm:pt>
    <dgm:pt modelId="{11D20368-F408-B741-A646-D30B0DEE37E9}" type="pres">
      <dgm:prSet presAssocID="{5B531814-763D-4444-9886-5155E3DF40E3}" presName="sibTrans" presStyleCnt="0"/>
      <dgm:spPr/>
    </dgm:pt>
    <dgm:pt modelId="{0CC5B25D-30A5-E14A-AFFE-B7F7A407DE7F}" type="pres">
      <dgm:prSet presAssocID="{A8BCA4CD-1071-4141-A013-9A464D3E8EF3}" presName="node" presStyleLbl="node1" presStyleIdx="3" presStyleCnt="4">
        <dgm:presLayoutVars>
          <dgm:bulletEnabled val="1"/>
        </dgm:presLayoutVars>
      </dgm:prSet>
      <dgm:spPr/>
      <dgm:t>
        <a:bodyPr/>
        <a:lstStyle/>
        <a:p>
          <a:endParaRPr lang="fr-FR"/>
        </a:p>
      </dgm:t>
    </dgm:pt>
  </dgm:ptLst>
  <dgm:cxnLst>
    <dgm:cxn modelId="{A89E1113-8197-5A4F-AF82-A6485A7B913A}" type="presOf" srcId="{F465A8CC-25CF-AE43-96F9-B7C1FB476376}" destId="{1D2D1586-76F2-AE45-8789-C0B869A366B0}" srcOrd="0" destOrd="0" presId="urn:microsoft.com/office/officeart/2005/8/layout/default#168"/>
    <dgm:cxn modelId="{93A6DE0F-F8E7-714F-89C0-0C0CCD32A05F}" type="presOf" srcId="{9C1B3AB0-5A96-3441-8F17-25D13C1CF486}" destId="{4168E2E4-C500-B248-8253-C3C9A745000A}" srcOrd="0" destOrd="0" presId="urn:microsoft.com/office/officeart/2005/8/layout/default#168"/>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587FD161-5541-8643-8CC8-5FBE3C984117}" srcId="{0695DBAD-3C39-194B-A14E-CD6759BA6827}" destId="{F465A8CC-25CF-AE43-96F9-B7C1FB476376}" srcOrd="0" destOrd="0" parTransId="{7FF2CE25-8A6D-A842-AB12-DBA06EB374E9}" sibTransId="{ED657EB5-8C8F-2F44-A2D7-0B127E357180}"/>
    <dgm:cxn modelId="{0D71C6ED-ABEA-3A48-8D92-595FD9A7495A}" type="presOf" srcId="{A8BCA4CD-1071-4141-A013-9A464D3E8EF3}" destId="{0CC5B25D-30A5-E14A-AFFE-B7F7A407DE7F}" srcOrd="0" destOrd="0" presId="urn:microsoft.com/office/officeart/2005/8/layout/default#168"/>
    <dgm:cxn modelId="{4222D997-BDBC-1744-AE61-5CCC8AECCF4E}" srcId="{0695DBAD-3C39-194B-A14E-CD6759BA6827}" destId="{A8BCA4CD-1071-4141-A013-9A464D3E8EF3}" srcOrd="3" destOrd="0" parTransId="{F0A0A9CD-694F-A546-977A-480475EC9187}" sibTransId="{8D09269D-89D0-BF48-85CE-40562EC17F96}"/>
    <dgm:cxn modelId="{17F157A3-9897-3B47-A862-8D0632799025}" type="presOf" srcId="{1F06A386-EA08-8C4E-8D2D-89AE9E77A78C}" destId="{2EA168E3-B536-6840-8C2E-053FF39A10FC}" srcOrd="0" destOrd="0" presId="urn:microsoft.com/office/officeart/2005/8/layout/default#168"/>
    <dgm:cxn modelId="{AF959D98-F075-A945-8B61-4DBD5EA17B6D}" type="presOf" srcId="{0695DBAD-3C39-194B-A14E-CD6759BA6827}" destId="{B79A319B-2ABC-2644-ADEC-766166A354CD}" srcOrd="0" destOrd="0" presId="urn:microsoft.com/office/officeart/2005/8/layout/default#168"/>
    <dgm:cxn modelId="{B23129A3-EBAF-AD49-992E-9FB9F29FAF56}" type="presParOf" srcId="{B79A319B-2ABC-2644-ADEC-766166A354CD}" destId="{1D2D1586-76F2-AE45-8789-C0B869A366B0}" srcOrd="0" destOrd="0" presId="urn:microsoft.com/office/officeart/2005/8/layout/default#168"/>
    <dgm:cxn modelId="{8314A30E-D735-8949-8A4E-13868E40069B}" type="presParOf" srcId="{B79A319B-2ABC-2644-ADEC-766166A354CD}" destId="{7709A9AB-2EF2-7E43-8A03-0711DCADFCA0}" srcOrd="1" destOrd="0" presId="urn:microsoft.com/office/officeart/2005/8/layout/default#168"/>
    <dgm:cxn modelId="{8CBBAC03-8026-9043-8D53-70AE33057FEF}" type="presParOf" srcId="{B79A319B-2ABC-2644-ADEC-766166A354CD}" destId="{4168E2E4-C500-B248-8253-C3C9A745000A}" srcOrd="2" destOrd="0" presId="urn:microsoft.com/office/officeart/2005/8/layout/default#168"/>
    <dgm:cxn modelId="{25F09B23-0E99-284F-822B-0CF7A76E60AE}" type="presParOf" srcId="{B79A319B-2ABC-2644-ADEC-766166A354CD}" destId="{CE0465FF-2ED5-3345-BD9F-CB1EE5DDD4A1}" srcOrd="3" destOrd="0" presId="urn:microsoft.com/office/officeart/2005/8/layout/default#168"/>
    <dgm:cxn modelId="{3478080F-4079-4349-8717-1B8B49CC2A67}" type="presParOf" srcId="{B79A319B-2ABC-2644-ADEC-766166A354CD}" destId="{2EA168E3-B536-6840-8C2E-053FF39A10FC}" srcOrd="4" destOrd="0" presId="urn:microsoft.com/office/officeart/2005/8/layout/default#168"/>
    <dgm:cxn modelId="{CC5D6F66-1997-D643-8EB8-18D3CAF2E0ED}" type="presParOf" srcId="{B79A319B-2ABC-2644-ADEC-766166A354CD}" destId="{11D20368-F408-B741-A646-D30B0DEE37E9}" srcOrd="5" destOrd="0" presId="urn:microsoft.com/office/officeart/2005/8/layout/default#168"/>
    <dgm:cxn modelId="{9CD9591A-DC8C-AE42-9A74-8787C3DEECCA}" type="presParOf" srcId="{B79A319B-2ABC-2644-ADEC-766166A354CD}" destId="{0CC5B25D-30A5-E14A-AFFE-B7F7A407DE7F}" srcOrd="6" destOrd="0" presId="urn:microsoft.com/office/officeart/2005/8/layout/default#168"/>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C167C6-BC14-6140-B8D8-D44493C1DD11}" type="doc">
      <dgm:prSet loTypeId="urn:microsoft.com/office/officeart/2005/8/layout/cycle6" loCatId="" qsTypeId="urn:microsoft.com/office/officeart/2005/8/quickstyle/simple1" qsCatId="simple" csTypeId="urn:microsoft.com/office/officeart/2005/8/colors/colorful2" csCatId="colorful" phldr="1"/>
      <dgm:spPr/>
      <dgm:t>
        <a:bodyPr/>
        <a:lstStyle/>
        <a:p>
          <a:endParaRPr lang="en-US"/>
        </a:p>
      </dgm:t>
    </dgm:pt>
    <dgm:pt modelId="{8454F2DF-B357-A946-8D9E-176CDE5D39B5}">
      <dgm:prSet phldrT="[Text]"/>
      <dgm:spPr/>
      <dgm:t>
        <a:bodyPr/>
        <a:lstStyle/>
        <a:p>
          <a:pPr rtl="0"/>
          <a:r>
            <a:rPr lang="fr-FR" noProof="0" dirty="0"/>
            <a:t>Analyse en temps réel</a:t>
          </a:r>
        </a:p>
      </dgm:t>
    </dgm:pt>
    <dgm:pt modelId="{6804B658-FB71-7A48-BF95-02267698B91A}" type="parTrans" cxnId="{9EED2C8F-0D37-8544-9E1E-133AE787085D}">
      <dgm:prSet/>
      <dgm:spPr/>
      <dgm:t>
        <a:bodyPr/>
        <a:lstStyle/>
        <a:p>
          <a:endParaRPr lang="fr-FR" noProof="0" dirty="0"/>
        </a:p>
      </dgm:t>
    </dgm:pt>
    <dgm:pt modelId="{6543D613-E1CB-F44C-A9BE-EA8D9FC67B92}" type="sibTrans" cxnId="{9EED2C8F-0D37-8544-9E1E-133AE787085D}">
      <dgm:prSet/>
      <dgm:spPr/>
      <dgm:t>
        <a:bodyPr/>
        <a:lstStyle/>
        <a:p>
          <a:endParaRPr lang="fr-FR" noProof="0" dirty="0"/>
        </a:p>
      </dgm:t>
    </dgm:pt>
    <dgm:pt modelId="{CCB18D54-78BC-B94D-96A7-6F0061D4761C}">
      <dgm:prSet phldrT="[Text]"/>
      <dgm:spPr/>
      <dgm:t>
        <a:bodyPr/>
        <a:lstStyle/>
        <a:p>
          <a:pPr rtl="0"/>
          <a:r>
            <a:rPr lang="fr-FR" noProof="0" dirty="0"/>
            <a:t>Accès aux données</a:t>
          </a:r>
        </a:p>
      </dgm:t>
    </dgm:pt>
    <dgm:pt modelId="{8C1EDBAA-39C3-5449-82B5-640537AC0429}" type="parTrans" cxnId="{6D39CD19-8043-4D45-90A0-AA2070D4217A}">
      <dgm:prSet/>
      <dgm:spPr/>
      <dgm:t>
        <a:bodyPr/>
        <a:lstStyle/>
        <a:p>
          <a:endParaRPr lang="fr-FR" noProof="0" dirty="0"/>
        </a:p>
      </dgm:t>
    </dgm:pt>
    <dgm:pt modelId="{105F67C8-48BE-7446-B2D7-2533323CCEB4}" type="sibTrans" cxnId="{6D39CD19-8043-4D45-90A0-AA2070D4217A}">
      <dgm:prSet/>
      <dgm:spPr/>
      <dgm:t>
        <a:bodyPr/>
        <a:lstStyle/>
        <a:p>
          <a:endParaRPr lang="fr-FR" noProof="0" dirty="0"/>
        </a:p>
      </dgm:t>
    </dgm:pt>
    <dgm:pt modelId="{62EDAD75-A622-AB49-8ED5-767798A6DA83}">
      <dgm:prSet phldrT="[Text]"/>
      <dgm:spPr/>
      <dgm:t>
        <a:bodyPr/>
        <a:lstStyle/>
        <a:p>
          <a:pPr rtl="0"/>
          <a:r>
            <a:rPr lang="x-none" b="1" dirty="0"/>
            <a:t>insights basés sur des données </a:t>
          </a:r>
          <a:endParaRPr lang="fr-FR" noProof="0" dirty="0"/>
        </a:p>
      </dgm:t>
    </dgm:pt>
    <dgm:pt modelId="{9C81EF09-6B1E-F94E-9C8C-692CAA161056}" type="parTrans" cxnId="{C9C30A01-D73E-9D4F-9108-A4232EB24AE1}">
      <dgm:prSet/>
      <dgm:spPr/>
      <dgm:t>
        <a:bodyPr/>
        <a:lstStyle/>
        <a:p>
          <a:endParaRPr lang="fr-FR" noProof="0" dirty="0"/>
        </a:p>
      </dgm:t>
    </dgm:pt>
    <dgm:pt modelId="{2846B094-D9F3-A347-9EAF-DD0CD6D3F33D}" type="sibTrans" cxnId="{C9C30A01-D73E-9D4F-9108-A4232EB24AE1}">
      <dgm:prSet/>
      <dgm:spPr/>
      <dgm:t>
        <a:bodyPr/>
        <a:lstStyle/>
        <a:p>
          <a:endParaRPr lang="fr-FR" noProof="0" dirty="0"/>
        </a:p>
      </dgm:t>
    </dgm:pt>
    <dgm:pt modelId="{45F32E9A-CD67-C24B-A83C-42FD90AE7A8C}">
      <dgm:prSet phldrT="[Text]"/>
      <dgm:spPr/>
      <dgm:t>
        <a:bodyPr/>
        <a:lstStyle/>
        <a:p>
          <a:pPr rtl="0"/>
          <a:r>
            <a:rPr lang="x-none" b="1" dirty="0"/>
            <a:t>Visualisant les données </a:t>
          </a:r>
          <a:endParaRPr lang="fr-FR" noProof="0" dirty="0"/>
        </a:p>
      </dgm:t>
    </dgm:pt>
    <dgm:pt modelId="{82236608-5DFC-A549-8D0C-3987F4798F7A}" type="parTrans" cxnId="{54AA379A-B58B-3F4B-8A23-5FEB045B642C}">
      <dgm:prSet/>
      <dgm:spPr/>
      <dgm:t>
        <a:bodyPr/>
        <a:lstStyle/>
        <a:p>
          <a:endParaRPr lang="fr-FR" noProof="0" dirty="0"/>
        </a:p>
      </dgm:t>
    </dgm:pt>
    <dgm:pt modelId="{57E76454-C914-1D41-8DE2-B15CCCC2202F}" type="sibTrans" cxnId="{54AA379A-B58B-3F4B-8A23-5FEB045B642C}">
      <dgm:prSet/>
      <dgm:spPr/>
      <dgm:t>
        <a:bodyPr/>
        <a:lstStyle/>
        <a:p>
          <a:endParaRPr lang="fr-FR" noProof="0" dirty="0"/>
        </a:p>
      </dgm:t>
    </dgm:pt>
    <dgm:pt modelId="{A4D393B8-E0A6-3B40-9D6A-ABF2E3D852AD}" type="pres">
      <dgm:prSet presAssocID="{A6C167C6-BC14-6140-B8D8-D44493C1DD11}" presName="cycle" presStyleCnt="0">
        <dgm:presLayoutVars>
          <dgm:dir/>
          <dgm:resizeHandles val="exact"/>
        </dgm:presLayoutVars>
      </dgm:prSet>
      <dgm:spPr/>
      <dgm:t>
        <a:bodyPr/>
        <a:lstStyle/>
        <a:p>
          <a:endParaRPr lang="fr-FR"/>
        </a:p>
      </dgm:t>
    </dgm:pt>
    <dgm:pt modelId="{CA929596-2F41-E048-A189-8CA454131676}" type="pres">
      <dgm:prSet presAssocID="{8454F2DF-B357-A946-8D9E-176CDE5D39B5}" presName="node" presStyleLbl="node1" presStyleIdx="0" presStyleCnt="4">
        <dgm:presLayoutVars>
          <dgm:bulletEnabled val="1"/>
        </dgm:presLayoutVars>
      </dgm:prSet>
      <dgm:spPr/>
      <dgm:t>
        <a:bodyPr/>
        <a:lstStyle/>
        <a:p>
          <a:endParaRPr lang="fr-FR"/>
        </a:p>
      </dgm:t>
    </dgm:pt>
    <dgm:pt modelId="{451EC270-5F1F-9E48-BED3-DC50AE855046}" type="pres">
      <dgm:prSet presAssocID="{8454F2DF-B357-A946-8D9E-176CDE5D39B5}" presName="spNode" presStyleCnt="0"/>
      <dgm:spPr/>
    </dgm:pt>
    <dgm:pt modelId="{D0E7B97F-D760-B446-BD0B-85D771E2A599}" type="pres">
      <dgm:prSet presAssocID="{6543D613-E1CB-F44C-A9BE-EA8D9FC67B92}" presName="sibTrans" presStyleLbl="sibTrans1D1" presStyleIdx="0" presStyleCnt="4"/>
      <dgm:spPr/>
      <dgm:t>
        <a:bodyPr/>
        <a:lstStyle/>
        <a:p>
          <a:endParaRPr lang="fr-FR"/>
        </a:p>
      </dgm:t>
    </dgm:pt>
    <dgm:pt modelId="{39697117-DDC3-E643-829B-FF18A6B0BB46}" type="pres">
      <dgm:prSet presAssocID="{CCB18D54-78BC-B94D-96A7-6F0061D4761C}" presName="node" presStyleLbl="node1" presStyleIdx="1" presStyleCnt="4">
        <dgm:presLayoutVars>
          <dgm:bulletEnabled val="1"/>
        </dgm:presLayoutVars>
      </dgm:prSet>
      <dgm:spPr/>
      <dgm:t>
        <a:bodyPr/>
        <a:lstStyle/>
        <a:p>
          <a:endParaRPr lang="fr-FR"/>
        </a:p>
      </dgm:t>
    </dgm:pt>
    <dgm:pt modelId="{F78125FB-B140-7C43-A3B0-B3E7A946C0D6}" type="pres">
      <dgm:prSet presAssocID="{CCB18D54-78BC-B94D-96A7-6F0061D4761C}" presName="spNode" presStyleCnt="0"/>
      <dgm:spPr/>
    </dgm:pt>
    <dgm:pt modelId="{3A3B66C9-4262-4B44-A2A0-DEC48DAB4418}" type="pres">
      <dgm:prSet presAssocID="{105F67C8-48BE-7446-B2D7-2533323CCEB4}" presName="sibTrans" presStyleLbl="sibTrans1D1" presStyleIdx="1" presStyleCnt="4"/>
      <dgm:spPr/>
      <dgm:t>
        <a:bodyPr/>
        <a:lstStyle/>
        <a:p>
          <a:endParaRPr lang="fr-FR"/>
        </a:p>
      </dgm:t>
    </dgm:pt>
    <dgm:pt modelId="{5B5850B2-219F-DB4F-9BE6-23E76F848F0E}" type="pres">
      <dgm:prSet presAssocID="{62EDAD75-A622-AB49-8ED5-767798A6DA83}" presName="node" presStyleLbl="node1" presStyleIdx="2" presStyleCnt="4">
        <dgm:presLayoutVars>
          <dgm:bulletEnabled val="1"/>
        </dgm:presLayoutVars>
      </dgm:prSet>
      <dgm:spPr/>
      <dgm:t>
        <a:bodyPr/>
        <a:lstStyle/>
        <a:p>
          <a:endParaRPr lang="fr-FR"/>
        </a:p>
      </dgm:t>
    </dgm:pt>
    <dgm:pt modelId="{FC7FE5BE-C388-6048-AED4-D3D7D8676B27}" type="pres">
      <dgm:prSet presAssocID="{62EDAD75-A622-AB49-8ED5-767798A6DA83}" presName="spNode" presStyleCnt="0"/>
      <dgm:spPr/>
    </dgm:pt>
    <dgm:pt modelId="{EE8792F2-1496-1246-A878-5B83B63A9EA2}" type="pres">
      <dgm:prSet presAssocID="{2846B094-D9F3-A347-9EAF-DD0CD6D3F33D}" presName="sibTrans" presStyleLbl="sibTrans1D1" presStyleIdx="2" presStyleCnt="4"/>
      <dgm:spPr/>
      <dgm:t>
        <a:bodyPr/>
        <a:lstStyle/>
        <a:p>
          <a:endParaRPr lang="fr-FR"/>
        </a:p>
      </dgm:t>
    </dgm:pt>
    <dgm:pt modelId="{1D38CE8F-54DD-8A46-824D-B2E500309F1C}" type="pres">
      <dgm:prSet presAssocID="{45F32E9A-CD67-C24B-A83C-42FD90AE7A8C}" presName="node" presStyleLbl="node1" presStyleIdx="3" presStyleCnt="4">
        <dgm:presLayoutVars>
          <dgm:bulletEnabled val="1"/>
        </dgm:presLayoutVars>
      </dgm:prSet>
      <dgm:spPr/>
      <dgm:t>
        <a:bodyPr/>
        <a:lstStyle/>
        <a:p>
          <a:endParaRPr lang="fr-FR"/>
        </a:p>
      </dgm:t>
    </dgm:pt>
    <dgm:pt modelId="{10011E65-826B-404A-BD3A-70D455309A9E}" type="pres">
      <dgm:prSet presAssocID="{45F32E9A-CD67-C24B-A83C-42FD90AE7A8C}" presName="spNode" presStyleCnt="0"/>
      <dgm:spPr/>
    </dgm:pt>
    <dgm:pt modelId="{67DB0CEC-A34C-5142-A430-22711B1CEDC6}" type="pres">
      <dgm:prSet presAssocID="{57E76454-C914-1D41-8DE2-B15CCCC2202F}" presName="sibTrans" presStyleLbl="sibTrans1D1" presStyleIdx="3" presStyleCnt="4"/>
      <dgm:spPr/>
      <dgm:t>
        <a:bodyPr/>
        <a:lstStyle/>
        <a:p>
          <a:endParaRPr lang="fr-FR"/>
        </a:p>
      </dgm:t>
    </dgm:pt>
  </dgm:ptLst>
  <dgm:cxnLst>
    <dgm:cxn modelId="{54AA379A-B58B-3F4B-8A23-5FEB045B642C}" srcId="{A6C167C6-BC14-6140-B8D8-D44493C1DD11}" destId="{45F32E9A-CD67-C24B-A83C-42FD90AE7A8C}" srcOrd="3" destOrd="0" parTransId="{82236608-5DFC-A549-8D0C-3987F4798F7A}" sibTransId="{57E76454-C914-1D41-8DE2-B15CCCC2202F}"/>
    <dgm:cxn modelId="{6D39CD19-8043-4D45-90A0-AA2070D4217A}" srcId="{A6C167C6-BC14-6140-B8D8-D44493C1DD11}" destId="{CCB18D54-78BC-B94D-96A7-6F0061D4761C}" srcOrd="1" destOrd="0" parTransId="{8C1EDBAA-39C3-5449-82B5-640537AC0429}" sibTransId="{105F67C8-48BE-7446-B2D7-2533323CCEB4}"/>
    <dgm:cxn modelId="{9EED2C8F-0D37-8544-9E1E-133AE787085D}" srcId="{A6C167C6-BC14-6140-B8D8-D44493C1DD11}" destId="{8454F2DF-B357-A946-8D9E-176CDE5D39B5}" srcOrd="0" destOrd="0" parTransId="{6804B658-FB71-7A48-BF95-02267698B91A}" sibTransId="{6543D613-E1CB-F44C-A9BE-EA8D9FC67B92}"/>
    <dgm:cxn modelId="{0FC2A3C2-37FC-8447-8785-8DF181607FD8}" type="presOf" srcId="{6543D613-E1CB-F44C-A9BE-EA8D9FC67B92}" destId="{D0E7B97F-D760-B446-BD0B-85D771E2A599}" srcOrd="0" destOrd="0" presId="urn:microsoft.com/office/officeart/2005/8/layout/cycle6"/>
    <dgm:cxn modelId="{DAC310CE-CFF5-3B46-B563-9EC497A09DE7}" type="presOf" srcId="{62EDAD75-A622-AB49-8ED5-767798A6DA83}" destId="{5B5850B2-219F-DB4F-9BE6-23E76F848F0E}" srcOrd="0" destOrd="0" presId="urn:microsoft.com/office/officeart/2005/8/layout/cycle6"/>
    <dgm:cxn modelId="{50F8BDB5-F46A-EF42-98F2-A26F924E9C28}" type="presOf" srcId="{2846B094-D9F3-A347-9EAF-DD0CD6D3F33D}" destId="{EE8792F2-1496-1246-A878-5B83B63A9EA2}" srcOrd="0" destOrd="0" presId="urn:microsoft.com/office/officeart/2005/8/layout/cycle6"/>
    <dgm:cxn modelId="{5AEE46DC-3CEA-9E47-99EB-7D378C5C6A4F}" type="presOf" srcId="{57E76454-C914-1D41-8DE2-B15CCCC2202F}" destId="{67DB0CEC-A34C-5142-A430-22711B1CEDC6}" srcOrd="0" destOrd="0" presId="urn:microsoft.com/office/officeart/2005/8/layout/cycle6"/>
    <dgm:cxn modelId="{3ADC1EDA-DB4E-414D-B6AA-8AB810AD8517}" type="presOf" srcId="{45F32E9A-CD67-C24B-A83C-42FD90AE7A8C}" destId="{1D38CE8F-54DD-8A46-824D-B2E500309F1C}" srcOrd="0" destOrd="0" presId="urn:microsoft.com/office/officeart/2005/8/layout/cycle6"/>
    <dgm:cxn modelId="{C9C30A01-D73E-9D4F-9108-A4232EB24AE1}" srcId="{A6C167C6-BC14-6140-B8D8-D44493C1DD11}" destId="{62EDAD75-A622-AB49-8ED5-767798A6DA83}" srcOrd="2" destOrd="0" parTransId="{9C81EF09-6B1E-F94E-9C8C-692CAA161056}" sibTransId="{2846B094-D9F3-A347-9EAF-DD0CD6D3F33D}"/>
    <dgm:cxn modelId="{1A466202-C1E6-BB45-BB9B-D9F9D29D4C3F}" type="presOf" srcId="{A6C167C6-BC14-6140-B8D8-D44493C1DD11}" destId="{A4D393B8-E0A6-3B40-9D6A-ABF2E3D852AD}" srcOrd="0" destOrd="0" presId="urn:microsoft.com/office/officeart/2005/8/layout/cycle6"/>
    <dgm:cxn modelId="{92634065-3D41-DC46-8F60-9E22B895640C}" type="presOf" srcId="{CCB18D54-78BC-B94D-96A7-6F0061D4761C}" destId="{39697117-DDC3-E643-829B-FF18A6B0BB46}" srcOrd="0" destOrd="0" presId="urn:microsoft.com/office/officeart/2005/8/layout/cycle6"/>
    <dgm:cxn modelId="{CEDF2122-DE19-9743-995F-E6CE8812AD95}" type="presOf" srcId="{105F67C8-48BE-7446-B2D7-2533323CCEB4}" destId="{3A3B66C9-4262-4B44-A2A0-DEC48DAB4418}" srcOrd="0" destOrd="0" presId="urn:microsoft.com/office/officeart/2005/8/layout/cycle6"/>
    <dgm:cxn modelId="{3AB0F0DF-09CF-FA4D-90F5-9429698BCD4D}" type="presOf" srcId="{8454F2DF-B357-A946-8D9E-176CDE5D39B5}" destId="{CA929596-2F41-E048-A189-8CA454131676}" srcOrd="0" destOrd="0" presId="urn:microsoft.com/office/officeart/2005/8/layout/cycle6"/>
    <dgm:cxn modelId="{3048239A-7404-094A-8585-A6164499A589}" type="presParOf" srcId="{A4D393B8-E0A6-3B40-9D6A-ABF2E3D852AD}" destId="{CA929596-2F41-E048-A189-8CA454131676}" srcOrd="0" destOrd="0" presId="urn:microsoft.com/office/officeart/2005/8/layout/cycle6"/>
    <dgm:cxn modelId="{550288B8-4029-BD45-A14A-1B8D845F3D08}" type="presParOf" srcId="{A4D393B8-E0A6-3B40-9D6A-ABF2E3D852AD}" destId="{451EC270-5F1F-9E48-BED3-DC50AE855046}" srcOrd="1" destOrd="0" presId="urn:microsoft.com/office/officeart/2005/8/layout/cycle6"/>
    <dgm:cxn modelId="{677DCA15-4F93-E243-89F5-FA473EDF3A51}" type="presParOf" srcId="{A4D393B8-E0A6-3B40-9D6A-ABF2E3D852AD}" destId="{D0E7B97F-D760-B446-BD0B-85D771E2A599}" srcOrd="2" destOrd="0" presId="urn:microsoft.com/office/officeart/2005/8/layout/cycle6"/>
    <dgm:cxn modelId="{15EC5228-612C-7545-B2E7-92CFED247315}" type="presParOf" srcId="{A4D393B8-E0A6-3B40-9D6A-ABF2E3D852AD}" destId="{39697117-DDC3-E643-829B-FF18A6B0BB46}" srcOrd="3" destOrd="0" presId="urn:microsoft.com/office/officeart/2005/8/layout/cycle6"/>
    <dgm:cxn modelId="{D5E74BE3-441D-0E40-B1F6-6AA35B8CCFC4}" type="presParOf" srcId="{A4D393B8-E0A6-3B40-9D6A-ABF2E3D852AD}" destId="{F78125FB-B140-7C43-A3B0-B3E7A946C0D6}" srcOrd="4" destOrd="0" presId="urn:microsoft.com/office/officeart/2005/8/layout/cycle6"/>
    <dgm:cxn modelId="{C861203C-9076-D044-89C6-992699BC3087}" type="presParOf" srcId="{A4D393B8-E0A6-3B40-9D6A-ABF2E3D852AD}" destId="{3A3B66C9-4262-4B44-A2A0-DEC48DAB4418}" srcOrd="5" destOrd="0" presId="urn:microsoft.com/office/officeart/2005/8/layout/cycle6"/>
    <dgm:cxn modelId="{A9CC3180-1791-8E4F-A76B-7AD6E0F8911A}" type="presParOf" srcId="{A4D393B8-E0A6-3B40-9D6A-ABF2E3D852AD}" destId="{5B5850B2-219F-DB4F-9BE6-23E76F848F0E}" srcOrd="6" destOrd="0" presId="urn:microsoft.com/office/officeart/2005/8/layout/cycle6"/>
    <dgm:cxn modelId="{408D8A8E-12F9-AE4D-AC1D-ECBF848FE1F7}" type="presParOf" srcId="{A4D393B8-E0A6-3B40-9D6A-ABF2E3D852AD}" destId="{FC7FE5BE-C388-6048-AED4-D3D7D8676B27}" srcOrd="7" destOrd="0" presId="urn:microsoft.com/office/officeart/2005/8/layout/cycle6"/>
    <dgm:cxn modelId="{1B77232A-94B9-9640-82CD-906446B5549A}" type="presParOf" srcId="{A4D393B8-E0A6-3B40-9D6A-ABF2E3D852AD}" destId="{EE8792F2-1496-1246-A878-5B83B63A9EA2}" srcOrd="8" destOrd="0" presId="urn:microsoft.com/office/officeart/2005/8/layout/cycle6"/>
    <dgm:cxn modelId="{8483829B-10C0-4B4F-8DDD-EF2223744499}" type="presParOf" srcId="{A4D393B8-E0A6-3B40-9D6A-ABF2E3D852AD}" destId="{1D38CE8F-54DD-8A46-824D-B2E500309F1C}" srcOrd="9" destOrd="0" presId="urn:microsoft.com/office/officeart/2005/8/layout/cycle6"/>
    <dgm:cxn modelId="{CBFC6D40-254C-D84D-AEB7-D6CBC263EF2F}" type="presParOf" srcId="{A4D393B8-E0A6-3B40-9D6A-ABF2E3D852AD}" destId="{10011E65-826B-404A-BD3A-70D455309A9E}" srcOrd="10" destOrd="0" presId="urn:microsoft.com/office/officeart/2005/8/layout/cycle6"/>
    <dgm:cxn modelId="{CCF4E69E-60CD-E146-B2F7-7F86B215EBE5}" type="presParOf" srcId="{A4D393B8-E0A6-3B40-9D6A-ABF2E3D852AD}" destId="{67DB0CEC-A34C-5142-A430-22711B1CEDC6}" srcOrd="11" destOrd="0" presId="urn:microsoft.com/office/officeart/2005/8/layout/cycle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69" loCatId="" qsTypeId="urn:microsoft.com/office/officeart/2005/8/quickstyle/simple1" qsCatId="simple" csTypeId="urn:microsoft.com/office/officeart/2005/8/colors/colorful2" csCatId="colorful" phldr="1"/>
      <dgm:spPr/>
      <dgm:t>
        <a:bodyPr/>
        <a:lstStyle/>
        <a:p>
          <a:endParaRPr lang="en-US"/>
        </a:p>
      </dgm:t>
    </dgm:pt>
    <dgm:pt modelId="{F465A8CC-25CF-AE43-96F9-B7C1FB476376}">
      <dgm:prSet phldrT="[Text]" custT="1"/>
      <dgm:spPr/>
      <dgm:t>
        <a:bodyPr/>
        <a:lstStyle/>
        <a:p>
          <a:r>
            <a:rPr lang="x-none" sz="2400" dirty="0"/>
            <a:t>Besoin d'aide à la décision basée sur des données</a:t>
          </a:r>
          <a:endParaRPr lang="en-US" sz="2400" dirty="0"/>
        </a:p>
      </dgm:t>
    </dgm:pt>
    <dgm:pt modelId="{7FF2CE25-8A6D-A842-AB12-DBA06EB374E9}" type="parTrans" cxnId="{587FD161-5541-8643-8CC8-5FBE3C984117}">
      <dgm:prSet/>
      <dgm:spPr/>
      <dgm:t>
        <a:bodyPr/>
        <a:lstStyle/>
        <a:p>
          <a:endParaRPr lang="en-US" sz="2400"/>
        </a:p>
      </dgm:t>
    </dgm:pt>
    <dgm:pt modelId="{ED657EB5-8C8F-2F44-A2D7-0B127E357180}" type="sibTrans" cxnId="{587FD161-5541-8643-8CC8-5FBE3C984117}">
      <dgm:prSet/>
      <dgm:spPr/>
      <dgm:t>
        <a:bodyPr/>
        <a:lstStyle/>
        <a:p>
          <a:endParaRPr lang="en-US" sz="2400"/>
        </a:p>
      </dgm:t>
    </dgm:pt>
    <dgm:pt modelId="{9C1B3AB0-5A96-3441-8F17-25D13C1CF486}">
      <dgm:prSet phldrT="[Text]" custT="1"/>
      <dgm:spPr/>
      <dgm:t>
        <a:bodyPr/>
        <a:lstStyle/>
        <a:p>
          <a:r>
            <a:rPr lang="x-none" sz="2400" dirty="0"/>
            <a:t>Limites des SIO pour l'analyse décisionnelle</a:t>
          </a:r>
          <a:endParaRPr lang="en-US" sz="2400" dirty="0"/>
        </a:p>
      </dgm:t>
    </dgm:pt>
    <dgm:pt modelId="{4C5C0214-86CC-7540-B769-98B4A71BFB62}" type="parTrans" cxnId="{6FCE2917-6623-4346-8F70-9C8FF3AC9B1E}">
      <dgm:prSet/>
      <dgm:spPr/>
      <dgm:t>
        <a:bodyPr/>
        <a:lstStyle/>
        <a:p>
          <a:endParaRPr lang="en-US" sz="2400"/>
        </a:p>
      </dgm:t>
    </dgm:pt>
    <dgm:pt modelId="{D57ACB5C-D850-9D41-BFC5-F84B14B6392C}" type="sibTrans" cxnId="{6FCE2917-6623-4346-8F70-9C8FF3AC9B1E}">
      <dgm:prSet/>
      <dgm:spPr/>
      <dgm:t>
        <a:bodyPr/>
        <a:lstStyle/>
        <a:p>
          <a:endParaRPr lang="en-US" sz="2400"/>
        </a:p>
      </dgm:t>
    </dgm:pt>
    <dgm:pt modelId="{1F06A386-EA08-8C4E-8D2D-89AE9E77A78C}">
      <dgm:prSet phldrT="[Text]" custT="1"/>
      <dgm:spPr/>
      <dgm:t>
        <a:bodyPr/>
        <a:lstStyle/>
        <a:p>
          <a:r>
            <a:rPr lang="x-none" sz="2400" dirty="0"/>
            <a:t>L'évolution de la gestion des données et de l'analytique</a:t>
          </a:r>
          <a:endParaRPr lang="en-US" sz="2400" dirty="0"/>
        </a:p>
      </dgm:t>
    </dgm:pt>
    <dgm:pt modelId="{0CE8416A-635F-EC4F-9B27-5E2066B2FA2D}" type="parTrans" cxnId="{F4DDF4C3-7AD0-1F40-A321-EE7CC8E71258}">
      <dgm:prSet/>
      <dgm:spPr/>
      <dgm:t>
        <a:bodyPr/>
        <a:lstStyle/>
        <a:p>
          <a:endParaRPr lang="en-US" sz="2400"/>
        </a:p>
      </dgm:t>
    </dgm:pt>
    <dgm:pt modelId="{5B531814-763D-4444-9886-5155E3DF40E3}" type="sibTrans" cxnId="{F4DDF4C3-7AD0-1F40-A321-EE7CC8E71258}">
      <dgm:prSet/>
      <dgm:spPr/>
      <dgm:t>
        <a:bodyPr/>
        <a:lstStyle/>
        <a:p>
          <a:endParaRPr lang="en-US" sz="2400"/>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3">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3">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3">
        <dgm:presLayoutVars>
          <dgm:bulletEnabled val="1"/>
        </dgm:presLayoutVars>
      </dgm:prSet>
      <dgm:spPr/>
      <dgm:t>
        <a:bodyPr/>
        <a:lstStyle/>
        <a:p>
          <a:endParaRPr lang="fr-FR"/>
        </a:p>
      </dgm:t>
    </dgm:pt>
  </dgm:ptLst>
  <dgm:cxnLst>
    <dgm:cxn modelId="{A89E1113-8197-5A4F-AF82-A6485A7B913A}" type="presOf" srcId="{F465A8CC-25CF-AE43-96F9-B7C1FB476376}" destId="{1D2D1586-76F2-AE45-8789-C0B869A366B0}" srcOrd="0" destOrd="0" presId="urn:microsoft.com/office/officeart/2005/8/layout/default#169"/>
    <dgm:cxn modelId="{93A6DE0F-F8E7-714F-89C0-0C0CCD32A05F}" type="presOf" srcId="{9C1B3AB0-5A96-3441-8F17-25D13C1CF486}" destId="{4168E2E4-C500-B248-8253-C3C9A745000A}" srcOrd="0" destOrd="0" presId="urn:microsoft.com/office/officeart/2005/8/layout/default#169"/>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587FD161-5541-8643-8CC8-5FBE3C984117}" srcId="{0695DBAD-3C39-194B-A14E-CD6759BA6827}" destId="{F465A8CC-25CF-AE43-96F9-B7C1FB476376}" srcOrd="0" destOrd="0" parTransId="{7FF2CE25-8A6D-A842-AB12-DBA06EB374E9}" sibTransId="{ED657EB5-8C8F-2F44-A2D7-0B127E357180}"/>
    <dgm:cxn modelId="{17F157A3-9897-3B47-A862-8D0632799025}" type="presOf" srcId="{1F06A386-EA08-8C4E-8D2D-89AE9E77A78C}" destId="{2EA168E3-B536-6840-8C2E-053FF39A10FC}" srcOrd="0" destOrd="0" presId="urn:microsoft.com/office/officeart/2005/8/layout/default#169"/>
    <dgm:cxn modelId="{AF959D98-F075-A945-8B61-4DBD5EA17B6D}" type="presOf" srcId="{0695DBAD-3C39-194B-A14E-CD6759BA6827}" destId="{B79A319B-2ABC-2644-ADEC-766166A354CD}" srcOrd="0" destOrd="0" presId="urn:microsoft.com/office/officeart/2005/8/layout/default#169"/>
    <dgm:cxn modelId="{B23129A3-EBAF-AD49-992E-9FB9F29FAF56}" type="presParOf" srcId="{B79A319B-2ABC-2644-ADEC-766166A354CD}" destId="{1D2D1586-76F2-AE45-8789-C0B869A366B0}" srcOrd="0" destOrd="0" presId="urn:microsoft.com/office/officeart/2005/8/layout/default#169"/>
    <dgm:cxn modelId="{8314A30E-D735-8949-8A4E-13868E40069B}" type="presParOf" srcId="{B79A319B-2ABC-2644-ADEC-766166A354CD}" destId="{7709A9AB-2EF2-7E43-8A03-0711DCADFCA0}" srcOrd="1" destOrd="0" presId="urn:microsoft.com/office/officeart/2005/8/layout/default#169"/>
    <dgm:cxn modelId="{8CBBAC03-8026-9043-8D53-70AE33057FEF}" type="presParOf" srcId="{B79A319B-2ABC-2644-ADEC-766166A354CD}" destId="{4168E2E4-C500-B248-8253-C3C9A745000A}" srcOrd="2" destOrd="0" presId="urn:microsoft.com/office/officeart/2005/8/layout/default#169"/>
    <dgm:cxn modelId="{25F09B23-0E99-284F-822B-0CF7A76E60AE}" type="presParOf" srcId="{B79A319B-2ABC-2644-ADEC-766166A354CD}" destId="{CE0465FF-2ED5-3345-BD9F-CB1EE5DDD4A1}" srcOrd="3" destOrd="0" presId="urn:microsoft.com/office/officeart/2005/8/layout/default#169"/>
    <dgm:cxn modelId="{3478080F-4079-4349-8717-1B8B49CC2A67}" type="presParOf" srcId="{B79A319B-2ABC-2644-ADEC-766166A354CD}" destId="{2EA168E3-B536-6840-8C2E-053FF39A10FC}" srcOrd="4" destOrd="0" presId="urn:microsoft.com/office/officeart/2005/8/layout/default#169"/>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70" loCatId="" qsTypeId="urn:microsoft.com/office/officeart/2005/8/quickstyle/simple1" qsCatId="simple" csTypeId="urn:microsoft.com/office/officeart/2005/8/colors/colorful2" csCatId="colorful" phldr="1"/>
      <dgm:spPr/>
      <dgm:t>
        <a:bodyPr/>
        <a:lstStyle/>
        <a:p>
          <a:endParaRPr lang="en-US"/>
        </a:p>
      </dgm:t>
    </dgm:pt>
    <dgm:pt modelId="{F465A8CC-25CF-AE43-96F9-B7C1FB476376}">
      <dgm:prSet phldrT="[Text]" custT="1"/>
      <dgm:spPr/>
      <dgm:t>
        <a:bodyPr/>
        <a:lstStyle/>
        <a:p>
          <a:r>
            <a:rPr lang="x-none" sz="2400" b="1" dirty="0"/>
            <a:t>Qualité des données </a:t>
          </a:r>
          <a:endParaRPr lang="en-US" sz="2400" dirty="0"/>
        </a:p>
      </dgm:t>
    </dgm:pt>
    <dgm:pt modelId="{7FF2CE25-8A6D-A842-AB12-DBA06EB374E9}" type="parTrans" cxnId="{587FD161-5541-8643-8CC8-5FBE3C984117}">
      <dgm:prSet/>
      <dgm:spPr/>
      <dgm:t>
        <a:bodyPr/>
        <a:lstStyle/>
        <a:p>
          <a:endParaRPr lang="en-US" sz="2400"/>
        </a:p>
      </dgm:t>
    </dgm:pt>
    <dgm:pt modelId="{ED657EB5-8C8F-2F44-A2D7-0B127E357180}" type="sibTrans" cxnId="{587FD161-5541-8643-8CC8-5FBE3C984117}">
      <dgm:prSet/>
      <dgm:spPr/>
      <dgm:t>
        <a:bodyPr/>
        <a:lstStyle/>
        <a:p>
          <a:endParaRPr lang="en-US" sz="2400"/>
        </a:p>
      </dgm:t>
    </dgm:pt>
    <dgm:pt modelId="{9C1B3AB0-5A96-3441-8F17-25D13C1CF486}">
      <dgm:prSet phldrT="[Text]" custT="1"/>
      <dgm:spPr/>
      <dgm:t>
        <a:bodyPr/>
        <a:lstStyle/>
        <a:p>
          <a:r>
            <a:rPr lang="x-none" sz="2400" b="1" dirty="0"/>
            <a:t>Intégration des systèmes</a:t>
          </a:r>
          <a:endParaRPr lang="en-US" sz="2400" dirty="0"/>
        </a:p>
      </dgm:t>
    </dgm:pt>
    <dgm:pt modelId="{4C5C0214-86CC-7540-B769-98B4A71BFB62}" type="parTrans" cxnId="{6FCE2917-6623-4346-8F70-9C8FF3AC9B1E}">
      <dgm:prSet/>
      <dgm:spPr/>
      <dgm:t>
        <a:bodyPr/>
        <a:lstStyle/>
        <a:p>
          <a:endParaRPr lang="en-US" sz="2400"/>
        </a:p>
      </dgm:t>
    </dgm:pt>
    <dgm:pt modelId="{D57ACB5C-D850-9D41-BFC5-F84B14B6392C}" type="sibTrans" cxnId="{6FCE2917-6623-4346-8F70-9C8FF3AC9B1E}">
      <dgm:prSet/>
      <dgm:spPr/>
      <dgm:t>
        <a:bodyPr/>
        <a:lstStyle/>
        <a:p>
          <a:endParaRPr lang="en-US" sz="2400"/>
        </a:p>
      </dgm:t>
    </dgm:pt>
    <dgm:pt modelId="{1F06A386-EA08-8C4E-8D2D-89AE9E77A78C}">
      <dgm:prSet phldrT="[Text]" custT="1"/>
      <dgm:spPr/>
      <dgm:t>
        <a:bodyPr/>
        <a:lstStyle/>
        <a:p>
          <a:r>
            <a:rPr lang="x-none" sz="2400" b="1" dirty="0"/>
            <a:t>Résistance au changement</a:t>
          </a:r>
          <a:endParaRPr lang="en-US" sz="2400" dirty="0"/>
        </a:p>
      </dgm:t>
    </dgm:pt>
    <dgm:pt modelId="{0CE8416A-635F-EC4F-9B27-5E2066B2FA2D}" type="parTrans" cxnId="{F4DDF4C3-7AD0-1F40-A321-EE7CC8E71258}">
      <dgm:prSet/>
      <dgm:spPr/>
      <dgm:t>
        <a:bodyPr/>
        <a:lstStyle/>
        <a:p>
          <a:endParaRPr lang="en-US" sz="2400"/>
        </a:p>
      </dgm:t>
    </dgm:pt>
    <dgm:pt modelId="{5B531814-763D-4444-9886-5155E3DF40E3}" type="sibTrans" cxnId="{F4DDF4C3-7AD0-1F40-A321-EE7CC8E71258}">
      <dgm:prSet/>
      <dgm:spPr/>
      <dgm:t>
        <a:bodyPr/>
        <a:lstStyle/>
        <a:p>
          <a:endParaRPr lang="en-US" sz="2400"/>
        </a:p>
      </dgm:t>
    </dgm:pt>
    <dgm:pt modelId="{4699C0E5-3403-3240-B5B8-F11A06629B3C}">
      <dgm:prSet custT="1"/>
      <dgm:spPr/>
      <dgm:t>
        <a:bodyPr/>
        <a:lstStyle/>
        <a:p>
          <a:r>
            <a:rPr lang="x-none" sz="2400" b="1" dirty="0"/>
            <a:t>Compétences et formation </a:t>
          </a:r>
          <a:endParaRPr lang="en-US" sz="2400" dirty="0"/>
        </a:p>
      </dgm:t>
    </dgm:pt>
    <dgm:pt modelId="{FD78BA0B-EABD-124A-AFBC-4118747A9C68}" type="parTrans" cxnId="{D2BE1712-DA33-AC4E-8C75-B32D6E6C88CD}">
      <dgm:prSet/>
      <dgm:spPr/>
      <dgm:t>
        <a:bodyPr/>
        <a:lstStyle/>
        <a:p>
          <a:endParaRPr lang="en-US" sz="2400"/>
        </a:p>
      </dgm:t>
    </dgm:pt>
    <dgm:pt modelId="{FE9AF5C2-E251-3F43-9E92-612F4B10C335}" type="sibTrans" cxnId="{D2BE1712-DA33-AC4E-8C75-B32D6E6C88CD}">
      <dgm:prSet/>
      <dgm:spPr/>
      <dgm:t>
        <a:bodyPr/>
        <a:lstStyle/>
        <a:p>
          <a:endParaRPr lang="en-US" sz="2400"/>
        </a:p>
      </dgm:t>
    </dgm:pt>
    <dgm:pt modelId="{3063BAA1-53C7-514C-B01F-593FBEBC4E61}">
      <dgm:prSet custT="1"/>
      <dgm:spPr/>
      <dgm:t>
        <a:bodyPr/>
        <a:lstStyle/>
        <a:p>
          <a:r>
            <a:rPr lang="x-none" sz="2400" b="1" dirty="0"/>
            <a:t>Coûts et ressources</a:t>
          </a:r>
          <a:endParaRPr lang="en-US" sz="2400" dirty="0"/>
        </a:p>
      </dgm:t>
    </dgm:pt>
    <dgm:pt modelId="{A66DBBFF-FCF2-9B4F-B2EF-65327398FBDD}" type="parTrans" cxnId="{4173C58D-C6A2-7240-A929-08FE9E8A3181}">
      <dgm:prSet/>
      <dgm:spPr/>
      <dgm:t>
        <a:bodyPr/>
        <a:lstStyle/>
        <a:p>
          <a:endParaRPr lang="en-US" sz="2400"/>
        </a:p>
      </dgm:t>
    </dgm:pt>
    <dgm:pt modelId="{A8653B3B-2D9F-D740-A373-97AC3E6C1804}" type="sibTrans" cxnId="{4173C58D-C6A2-7240-A929-08FE9E8A3181}">
      <dgm:prSet/>
      <dgm:spPr/>
      <dgm:t>
        <a:bodyPr/>
        <a:lstStyle/>
        <a:p>
          <a:endParaRPr lang="en-US" sz="2400"/>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5">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5">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5">
        <dgm:presLayoutVars>
          <dgm:bulletEnabled val="1"/>
        </dgm:presLayoutVars>
      </dgm:prSet>
      <dgm:spPr/>
      <dgm:t>
        <a:bodyPr/>
        <a:lstStyle/>
        <a:p>
          <a:endParaRPr lang="fr-FR"/>
        </a:p>
      </dgm:t>
    </dgm:pt>
    <dgm:pt modelId="{0EB5CC20-3378-5E4C-813B-E7FC1EC3C4F0}" type="pres">
      <dgm:prSet presAssocID="{5B531814-763D-4444-9886-5155E3DF40E3}" presName="sibTrans" presStyleCnt="0"/>
      <dgm:spPr/>
    </dgm:pt>
    <dgm:pt modelId="{A3B57F57-0744-204B-86F5-C420B3F7C4C8}" type="pres">
      <dgm:prSet presAssocID="{4699C0E5-3403-3240-B5B8-F11A06629B3C}" presName="node" presStyleLbl="node1" presStyleIdx="3" presStyleCnt="5">
        <dgm:presLayoutVars>
          <dgm:bulletEnabled val="1"/>
        </dgm:presLayoutVars>
      </dgm:prSet>
      <dgm:spPr/>
      <dgm:t>
        <a:bodyPr/>
        <a:lstStyle/>
        <a:p>
          <a:endParaRPr lang="fr-FR"/>
        </a:p>
      </dgm:t>
    </dgm:pt>
    <dgm:pt modelId="{21B5561C-7109-0649-9B42-FAF9CD487AB4}" type="pres">
      <dgm:prSet presAssocID="{FE9AF5C2-E251-3F43-9E92-612F4B10C335}" presName="sibTrans" presStyleCnt="0"/>
      <dgm:spPr/>
    </dgm:pt>
    <dgm:pt modelId="{B25B2D85-0501-AE4C-807D-4096F22C5373}" type="pres">
      <dgm:prSet presAssocID="{3063BAA1-53C7-514C-B01F-593FBEBC4E61}" presName="node" presStyleLbl="node1" presStyleIdx="4" presStyleCnt="5">
        <dgm:presLayoutVars>
          <dgm:bulletEnabled val="1"/>
        </dgm:presLayoutVars>
      </dgm:prSet>
      <dgm:spPr/>
      <dgm:t>
        <a:bodyPr/>
        <a:lstStyle/>
        <a:p>
          <a:endParaRPr lang="fr-FR"/>
        </a:p>
      </dgm:t>
    </dgm:pt>
  </dgm:ptLst>
  <dgm:cxnLst>
    <dgm:cxn modelId="{A89E1113-8197-5A4F-AF82-A6485A7B913A}" type="presOf" srcId="{F465A8CC-25CF-AE43-96F9-B7C1FB476376}" destId="{1D2D1586-76F2-AE45-8789-C0B869A366B0}" srcOrd="0" destOrd="0" presId="urn:microsoft.com/office/officeart/2005/8/layout/default#170"/>
    <dgm:cxn modelId="{93A6DE0F-F8E7-714F-89C0-0C0CCD32A05F}" type="presOf" srcId="{9C1B3AB0-5A96-3441-8F17-25D13C1CF486}" destId="{4168E2E4-C500-B248-8253-C3C9A745000A}" srcOrd="0" destOrd="0" presId="urn:microsoft.com/office/officeart/2005/8/layout/default#170"/>
    <dgm:cxn modelId="{4173C58D-C6A2-7240-A929-08FE9E8A3181}" srcId="{0695DBAD-3C39-194B-A14E-CD6759BA6827}" destId="{3063BAA1-53C7-514C-B01F-593FBEBC4E61}" srcOrd="4" destOrd="0" parTransId="{A66DBBFF-FCF2-9B4F-B2EF-65327398FBDD}" sibTransId="{A8653B3B-2D9F-D740-A373-97AC3E6C1804}"/>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2ABD6E12-E37E-E644-97BC-B70776C33CBF}" type="presOf" srcId="{3063BAA1-53C7-514C-B01F-593FBEBC4E61}" destId="{B25B2D85-0501-AE4C-807D-4096F22C5373}" srcOrd="0" destOrd="0" presId="urn:microsoft.com/office/officeart/2005/8/layout/default#170"/>
    <dgm:cxn modelId="{587FD161-5541-8643-8CC8-5FBE3C984117}" srcId="{0695DBAD-3C39-194B-A14E-CD6759BA6827}" destId="{F465A8CC-25CF-AE43-96F9-B7C1FB476376}" srcOrd="0" destOrd="0" parTransId="{7FF2CE25-8A6D-A842-AB12-DBA06EB374E9}" sibTransId="{ED657EB5-8C8F-2F44-A2D7-0B127E357180}"/>
    <dgm:cxn modelId="{D2BE1712-DA33-AC4E-8C75-B32D6E6C88CD}" srcId="{0695DBAD-3C39-194B-A14E-CD6759BA6827}" destId="{4699C0E5-3403-3240-B5B8-F11A06629B3C}" srcOrd="3" destOrd="0" parTransId="{FD78BA0B-EABD-124A-AFBC-4118747A9C68}" sibTransId="{FE9AF5C2-E251-3F43-9E92-612F4B10C335}"/>
    <dgm:cxn modelId="{17F157A3-9897-3B47-A862-8D0632799025}" type="presOf" srcId="{1F06A386-EA08-8C4E-8D2D-89AE9E77A78C}" destId="{2EA168E3-B536-6840-8C2E-053FF39A10FC}" srcOrd="0" destOrd="0" presId="urn:microsoft.com/office/officeart/2005/8/layout/default#170"/>
    <dgm:cxn modelId="{D64E51F0-17D5-5C4B-9AF1-9FACDAFF2356}" type="presOf" srcId="{4699C0E5-3403-3240-B5B8-F11A06629B3C}" destId="{A3B57F57-0744-204B-86F5-C420B3F7C4C8}" srcOrd="0" destOrd="0" presId="urn:microsoft.com/office/officeart/2005/8/layout/default#170"/>
    <dgm:cxn modelId="{AF959D98-F075-A945-8B61-4DBD5EA17B6D}" type="presOf" srcId="{0695DBAD-3C39-194B-A14E-CD6759BA6827}" destId="{B79A319B-2ABC-2644-ADEC-766166A354CD}" srcOrd="0" destOrd="0" presId="urn:microsoft.com/office/officeart/2005/8/layout/default#170"/>
    <dgm:cxn modelId="{B23129A3-EBAF-AD49-992E-9FB9F29FAF56}" type="presParOf" srcId="{B79A319B-2ABC-2644-ADEC-766166A354CD}" destId="{1D2D1586-76F2-AE45-8789-C0B869A366B0}" srcOrd="0" destOrd="0" presId="urn:microsoft.com/office/officeart/2005/8/layout/default#170"/>
    <dgm:cxn modelId="{8314A30E-D735-8949-8A4E-13868E40069B}" type="presParOf" srcId="{B79A319B-2ABC-2644-ADEC-766166A354CD}" destId="{7709A9AB-2EF2-7E43-8A03-0711DCADFCA0}" srcOrd="1" destOrd="0" presId="urn:microsoft.com/office/officeart/2005/8/layout/default#170"/>
    <dgm:cxn modelId="{8CBBAC03-8026-9043-8D53-70AE33057FEF}" type="presParOf" srcId="{B79A319B-2ABC-2644-ADEC-766166A354CD}" destId="{4168E2E4-C500-B248-8253-C3C9A745000A}" srcOrd="2" destOrd="0" presId="urn:microsoft.com/office/officeart/2005/8/layout/default#170"/>
    <dgm:cxn modelId="{25F09B23-0E99-284F-822B-0CF7A76E60AE}" type="presParOf" srcId="{B79A319B-2ABC-2644-ADEC-766166A354CD}" destId="{CE0465FF-2ED5-3345-BD9F-CB1EE5DDD4A1}" srcOrd="3" destOrd="0" presId="urn:microsoft.com/office/officeart/2005/8/layout/default#170"/>
    <dgm:cxn modelId="{3478080F-4079-4349-8717-1B8B49CC2A67}" type="presParOf" srcId="{B79A319B-2ABC-2644-ADEC-766166A354CD}" destId="{2EA168E3-B536-6840-8C2E-053FF39A10FC}" srcOrd="4" destOrd="0" presId="urn:microsoft.com/office/officeart/2005/8/layout/default#170"/>
    <dgm:cxn modelId="{10403A02-F72E-ED41-84FB-547841E7EA89}" type="presParOf" srcId="{B79A319B-2ABC-2644-ADEC-766166A354CD}" destId="{0EB5CC20-3378-5E4C-813B-E7FC1EC3C4F0}" srcOrd="5" destOrd="0" presId="urn:microsoft.com/office/officeart/2005/8/layout/default#170"/>
    <dgm:cxn modelId="{6D2D04F2-B9A9-3645-BF22-49729FFE9EF4}" type="presParOf" srcId="{B79A319B-2ABC-2644-ADEC-766166A354CD}" destId="{A3B57F57-0744-204B-86F5-C420B3F7C4C8}" srcOrd="6" destOrd="0" presId="urn:microsoft.com/office/officeart/2005/8/layout/default#170"/>
    <dgm:cxn modelId="{CEEC4C59-B187-0F4C-B4AF-FF04EB812B45}" type="presParOf" srcId="{B79A319B-2ABC-2644-ADEC-766166A354CD}" destId="{21B5561C-7109-0649-9B42-FAF9CD487AB4}" srcOrd="7" destOrd="0" presId="urn:microsoft.com/office/officeart/2005/8/layout/default#170"/>
    <dgm:cxn modelId="{093E10AF-6FDB-5540-AA04-FCD2578055A0}" type="presParOf" srcId="{B79A319B-2ABC-2644-ADEC-766166A354CD}" destId="{B25B2D85-0501-AE4C-807D-4096F22C5373}" srcOrd="8" destOrd="0" presId="urn:microsoft.com/office/officeart/2005/8/layout/default#170"/>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71" loCatId="" qsTypeId="urn:microsoft.com/office/officeart/2005/8/quickstyle/simple1" qsCatId="simple" csTypeId="urn:microsoft.com/office/officeart/2005/8/colors/colorful2" csCatId="colorful" phldr="1"/>
      <dgm:spPr/>
      <dgm:t>
        <a:bodyPr/>
        <a:lstStyle/>
        <a:p>
          <a:endParaRPr lang="en-US"/>
        </a:p>
      </dgm:t>
    </dgm:pt>
    <dgm:pt modelId="{F465A8CC-25CF-AE43-96F9-B7C1FB476376}">
      <dgm:prSet phldrT="[Text]" custT="1"/>
      <dgm:spPr/>
      <dgm:t>
        <a:bodyPr/>
        <a:lstStyle/>
        <a:p>
          <a:r>
            <a:rPr lang="x-none" sz="2400" b="1" dirty="0"/>
            <a:t>Assurer la qualité des données </a:t>
          </a:r>
          <a:endParaRPr lang="en-US" sz="2400" dirty="0"/>
        </a:p>
      </dgm:t>
    </dgm:pt>
    <dgm:pt modelId="{7FF2CE25-8A6D-A842-AB12-DBA06EB374E9}" type="parTrans" cxnId="{587FD161-5541-8643-8CC8-5FBE3C984117}">
      <dgm:prSet/>
      <dgm:spPr/>
      <dgm:t>
        <a:bodyPr/>
        <a:lstStyle/>
        <a:p>
          <a:endParaRPr lang="en-US" sz="2400"/>
        </a:p>
      </dgm:t>
    </dgm:pt>
    <dgm:pt modelId="{ED657EB5-8C8F-2F44-A2D7-0B127E357180}" type="sibTrans" cxnId="{587FD161-5541-8643-8CC8-5FBE3C984117}">
      <dgm:prSet/>
      <dgm:spPr/>
      <dgm:t>
        <a:bodyPr/>
        <a:lstStyle/>
        <a:p>
          <a:endParaRPr lang="en-US" sz="2400"/>
        </a:p>
      </dgm:t>
    </dgm:pt>
    <dgm:pt modelId="{9C1B3AB0-5A96-3441-8F17-25D13C1CF486}">
      <dgm:prSet phldrT="[Text]" custT="1"/>
      <dgm:spPr/>
      <dgm:t>
        <a:bodyPr/>
        <a:lstStyle/>
        <a:p>
          <a:r>
            <a:rPr lang="x-none" sz="2400" b="1" dirty="0"/>
            <a:t>Faciliter l'intégration des systèmes </a:t>
          </a:r>
          <a:endParaRPr lang="en-US" sz="2400" dirty="0"/>
        </a:p>
      </dgm:t>
    </dgm:pt>
    <dgm:pt modelId="{4C5C0214-86CC-7540-B769-98B4A71BFB62}" type="parTrans" cxnId="{6FCE2917-6623-4346-8F70-9C8FF3AC9B1E}">
      <dgm:prSet/>
      <dgm:spPr/>
      <dgm:t>
        <a:bodyPr/>
        <a:lstStyle/>
        <a:p>
          <a:endParaRPr lang="en-US" sz="2400"/>
        </a:p>
      </dgm:t>
    </dgm:pt>
    <dgm:pt modelId="{D57ACB5C-D850-9D41-BFC5-F84B14B6392C}" type="sibTrans" cxnId="{6FCE2917-6623-4346-8F70-9C8FF3AC9B1E}">
      <dgm:prSet/>
      <dgm:spPr/>
      <dgm:t>
        <a:bodyPr/>
        <a:lstStyle/>
        <a:p>
          <a:endParaRPr lang="en-US" sz="2400"/>
        </a:p>
      </dgm:t>
    </dgm:pt>
    <dgm:pt modelId="{1F06A386-EA08-8C4E-8D2D-89AE9E77A78C}">
      <dgm:prSet phldrT="[Text]" custT="1"/>
      <dgm:spPr/>
      <dgm:t>
        <a:bodyPr/>
        <a:lstStyle/>
        <a:p>
          <a:r>
            <a:rPr lang="x-none" sz="2400" b="1" dirty="0"/>
            <a:t>Gérer le changement efficacement </a:t>
          </a:r>
          <a:endParaRPr lang="en-US" sz="2400" dirty="0"/>
        </a:p>
      </dgm:t>
    </dgm:pt>
    <dgm:pt modelId="{0CE8416A-635F-EC4F-9B27-5E2066B2FA2D}" type="parTrans" cxnId="{F4DDF4C3-7AD0-1F40-A321-EE7CC8E71258}">
      <dgm:prSet/>
      <dgm:spPr/>
      <dgm:t>
        <a:bodyPr/>
        <a:lstStyle/>
        <a:p>
          <a:endParaRPr lang="en-US" sz="2400"/>
        </a:p>
      </dgm:t>
    </dgm:pt>
    <dgm:pt modelId="{5B531814-763D-4444-9886-5155E3DF40E3}" type="sibTrans" cxnId="{F4DDF4C3-7AD0-1F40-A321-EE7CC8E71258}">
      <dgm:prSet/>
      <dgm:spPr/>
      <dgm:t>
        <a:bodyPr/>
        <a:lstStyle/>
        <a:p>
          <a:endParaRPr lang="en-US" sz="2400"/>
        </a:p>
      </dgm:t>
    </dgm:pt>
    <dgm:pt modelId="{4699C0E5-3403-3240-B5B8-F11A06629B3C}">
      <dgm:prSet custT="1"/>
      <dgm:spPr/>
      <dgm:t>
        <a:bodyPr/>
        <a:lstStyle/>
        <a:p>
          <a:r>
            <a:rPr lang="x-none" sz="2400" b="1" dirty="0"/>
            <a:t>Développer les compétences </a:t>
          </a:r>
          <a:endParaRPr lang="en-US" sz="2400" dirty="0"/>
        </a:p>
      </dgm:t>
    </dgm:pt>
    <dgm:pt modelId="{FD78BA0B-EABD-124A-AFBC-4118747A9C68}" type="parTrans" cxnId="{D2BE1712-DA33-AC4E-8C75-B32D6E6C88CD}">
      <dgm:prSet/>
      <dgm:spPr/>
      <dgm:t>
        <a:bodyPr/>
        <a:lstStyle/>
        <a:p>
          <a:endParaRPr lang="en-US" sz="2400"/>
        </a:p>
      </dgm:t>
    </dgm:pt>
    <dgm:pt modelId="{FE9AF5C2-E251-3F43-9E92-612F4B10C335}" type="sibTrans" cxnId="{D2BE1712-DA33-AC4E-8C75-B32D6E6C88CD}">
      <dgm:prSet/>
      <dgm:spPr/>
      <dgm:t>
        <a:bodyPr/>
        <a:lstStyle/>
        <a:p>
          <a:endParaRPr lang="en-US" sz="2400"/>
        </a:p>
      </dgm:t>
    </dgm:pt>
    <dgm:pt modelId="{3063BAA1-53C7-514C-B01F-593FBEBC4E61}">
      <dgm:prSet custT="1"/>
      <dgm:spPr/>
      <dgm:t>
        <a:bodyPr/>
        <a:lstStyle/>
        <a:p>
          <a:r>
            <a:rPr lang="x-none" sz="2400" b="1" dirty="0"/>
            <a:t>Planification budgétaire et allocation des ressources </a:t>
          </a:r>
          <a:endParaRPr lang="en-US" sz="2400" dirty="0"/>
        </a:p>
      </dgm:t>
    </dgm:pt>
    <dgm:pt modelId="{A66DBBFF-FCF2-9B4F-B2EF-65327398FBDD}" type="parTrans" cxnId="{4173C58D-C6A2-7240-A929-08FE9E8A3181}">
      <dgm:prSet/>
      <dgm:spPr/>
      <dgm:t>
        <a:bodyPr/>
        <a:lstStyle/>
        <a:p>
          <a:endParaRPr lang="en-US" sz="2400"/>
        </a:p>
      </dgm:t>
    </dgm:pt>
    <dgm:pt modelId="{A8653B3B-2D9F-D740-A373-97AC3E6C1804}" type="sibTrans" cxnId="{4173C58D-C6A2-7240-A929-08FE9E8A3181}">
      <dgm:prSet/>
      <dgm:spPr/>
      <dgm:t>
        <a:bodyPr/>
        <a:lstStyle/>
        <a:p>
          <a:endParaRPr lang="en-US" sz="2400"/>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5">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5">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5">
        <dgm:presLayoutVars>
          <dgm:bulletEnabled val="1"/>
        </dgm:presLayoutVars>
      </dgm:prSet>
      <dgm:spPr/>
      <dgm:t>
        <a:bodyPr/>
        <a:lstStyle/>
        <a:p>
          <a:endParaRPr lang="fr-FR"/>
        </a:p>
      </dgm:t>
    </dgm:pt>
    <dgm:pt modelId="{0EB5CC20-3378-5E4C-813B-E7FC1EC3C4F0}" type="pres">
      <dgm:prSet presAssocID="{5B531814-763D-4444-9886-5155E3DF40E3}" presName="sibTrans" presStyleCnt="0"/>
      <dgm:spPr/>
    </dgm:pt>
    <dgm:pt modelId="{A3B57F57-0744-204B-86F5-C420B3F7C4C8}" type="pres">
      <dgm:prSet presAssocID="{4699C0E5-3403-3240-B5B8-F11A06629B3C}" presName="node" presStyleLbl="node1" presStyleIdx="3" presStyleCnt="5">
        <dgm:presLayoutVars>
          <dgm:bulletEnabled val="1"/>
        </dgm:presLayoutVars>
      </dgm:prSet>
      <dgm:spPr/>
      <dgm:t>
        <a:bodyPr/>
        <a:lstStyle/>
        <a:p>
          <a:endParaRPr lang="fr-FR"/>
        </a:p>
      </dgm:t>
    </dgm:pt>
    <dgm:pt modelId="{21B5561C-7109-0649-9B42-FAF9CD487AB4}" type="pres">
      <dgm:prSet presAssocID="{FE9AF5C2-E251-3F43-9E92-612F4B10C335}" presName="sibTrans" presStyleCnt="0"/>
      <dgm:spPr/>
    </dgm:pt>
    <dgm:pt modelId="{B25B2D85-0501-AE4C-807D-4096F22C5373}" type="pres">
      <dgm:prSet presAssocID="{3063BAA1-53C7-514C-B01F-593FBEBC4E61}" presName="node" presStyleLbl="node1" presStyleIdx="4" presStyleCnt="5">
        <dgm:presLayoutVars>
          <dgm:bulletEnabled val="1"/>
        </dgm:presLayoutVars>
      </dgm:prSet>
      <dgm:spPr/>
      <dgm:t>
        <a:bodyPr/>
        <a:lstStyle/>
        <a:p>
          <a:endParaRPr lang="fr-FR"/>
        </a:p>
      </dgm:t>
    </dgm:pt>
  </dgm:ptLst>
  <dgm:cxnLst>
    <dgm:cxn modelId="{A89E1113-8197-5A4F-AF82-A6485A7B913A}" type="presOf" srcId="{F465A8CC-25CF-AE43-96F9-B7C1FB476376}" destId="{1D2D1586-76F2-AE45-8789-C0B869A366B0}" srcOrd="0" destOrd="0" presId="urn:microsoft.com/office/officeart/2005/8/layout/default#171"/>
    <dgm:cxn modelId="{93A6DE0F-F8E7-714F-89C0-0C0CCD32A05F}" type="presOf" srcId="{9C1B3AB0-5A96-3441-8F17-25D13C1CF486}" destId="{4168E2E4-C500-B248-8253-C3C9A745000A}" srcOrd="0" destOrd="0" presId="urn:microsoft.com/office/officeart/2005/8/layout/default#171"/>
    <dgm:cxn modelId="{4173C58D-C6A2-7240-A929-08FE9E8A3181}" srcId="{0695DBAD-3C39-194B-A14E-CD6759BA6827}" destId="{3063BAA1-53C7-514C-B01F-593FBEBC4E61}" srcOrd="4" destOrd="0" parTransId="{A66DBBFF-FCF2-9B4F-B2EF-65327398FBDD}" sibTransId="{A8653B3B-2D9F-D740-A373-97AC3E6C1804}"/>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2ABD6E12-E37E-E644-97BC-B70776C33CBF}" type="presOf" srcId="{3063BAA1-53C7-514C-B01F-593FBEBC4E61}" destId="{B25B2D85-0501-AE4C-807D-4096F22C5373}" srcOrd="0" destOrd="0" presId="urn:microsoft.com/office/officeart/2005/8/layout/default#171"/>
    <dgm:cxn modelId="{587FD161-5541-8643-8CC8-5FBE3C984117}" srcId="{0695DBAD-3C39-194B-A14E-CD6759BA6827}" destId="{F465A8CC-25CF-AE43-96F9-B7C1FB476376}" srcOrd="0" destOrd="0" parTransId="{7FF2CE25-8A6D-A842-AB12-DBA06EB374E9}" sibTransId="{ED657EB5-8C8F-2F44-A2D7-0B127E357180}"/>
    <dgm:cxn modelId="{D2BE1712-DA33-AC4E-8C75-B32D6E6C88CD}" srcId="{0695DBAD-3C39-194B-A14E-CD6759BA6827}" destId="{4699C0E5-3403-3240-B5B8-F11A06629B3C}" srcOrd="3" destOrd="0" parTransId="{FD78BA0B-EABD-124A-AFBC-4118747A9C68}" sibTransId="{FE9AF5C2-E251-3F43-9E92-612F4B10C335}"/>
    <dgm:cxn modelId="{17F157A3-9897-3B47-A862-8D0632799025}" type="presOf" srcId="{1F06A386-EA08-8C4E-8D2D-89AE9E77A78C}" destId="{2EA168E3-B536-6840-8C2E-053FF39A10FC}" srcOrd="0" destOrd="0" presId="urn:microsoft.com/office/officeart/2005/8/layout/default#171"/>
    <dgm:cxn modelId="{D64E51F0-17D5-5C4B-9AF1-9FACDAFF2356}" type="presOf" srcId="{4699C0E5-3403-3240-B5B8-F11A06629B3C}" destId="{A3B57F57-0744-204B-86F5-C420B3F7C4C8}" srcOrd="0" destOrd="0" presId="urn:microsoft.com/office/officeart/2005/8/layout/default#171"/>
    <dgm:cxn modelId="{AF959D98-F075-A945-8B61-4DBD5EA17B6D}" type="presOf" srcId="{0695DBAD-3C39-194B-A14E-CD6759BA6827}" destId="{B79A319B-2ABC-2644-ADEC-766166A354CD}" srcOrd="0" destOrd="0" presId="urn:microsoft.com/office/officeart/2005/8/layout/default#171"/>
    <dgm:cxn modelId="{B23129A3-EBAF-AD49-992E-9FB9F29FAF56}" type="presParOf" srcId="{B79A319B-2ABC-2644-ADEC-766166A354CD}" destId="{1D2D1586-76F2-AE45-8789-C0B869A366B0}" srcOrd="0" destOrd="0" presId="urn:microsoft.com/office/officeart/2005/8/layout/default#171"/>
    <dgm:cxn modelId="{8314A30E-D735-8949-8A4E-13868E40069B}" type="presParOf" srcId="{B79A319B-2ABC-2644-ADEC-766166A354CD}" destId="{7709A9AB-2EF2-7E43-8A03-0711DCADFCA0}" srcOrd="1" destOrd="0" presId="urn:microsoft.com/office/officeart/2005/8/layout/default#171"/>
    <dgm:cxn modelId="{8CBBAC03-8026-9043-8D53-70AE33057FEF}" type="presParOf" srcId="{B79A319B-2ABC-2644-ADEC-766166A354CD}" destId="{4168E2E4-C500-B248-8253-C3C9A745000A}" srcOrd="2" destOrd="0" presId="urn:microsoft.com/office/officeart/2005/8/layout/default#171"/>
    <dgm:cxn modelId="{25F09B23-0E99-284F-822B-0CF7A76E60AE}" type="presParOf" srcId="{B79A319B-2ABC-2644-ADEC-766166A354CD}" destId="{CE0465FF-2ED5-3345-BD9F-CB1EE5DDD4A1}" srcOrd="3" destOrd="0" presId="urn:microsoft.com/office/officeart/2005/8/layout/default#171"/>
    <dgm:cxn modelId="{3478080F-4079-4349-8717-1B8B49CC2A67}" type="presParOf" srcId="{B79A319B-2ABC-2644-ADEC-766166A354CD}" destId="{2EA168E3-B536-6840-8C2E-053FF39A10FC}" srcOrd="4" destOrd="0" presId="urn:microsoft.com/office/officeart/2005/8/layout/default#171"/>
    <dgm:cxn modelId="{10403A02-F72E-ED41-84FB-547841E7EA89}" type="presParOf" srcId="{B79A319B-2ABC-2644-ADEC-766166A354CD}" destId="{0EB5CC20-3378-5E4C-813B-E7FC1EC3C4F0}" srcOrd="5" destOrd="0" presId="urn:microsoft.com/office/officeart/2005/8/layout/default#171"/>
    <dgm:cxn modelId="{6D2D04F2-B9A9-3645-BF22-49729FFE9EF4}" type="presParOf" srcId="{B79A319B-2ABC-2644-ADEC-766166A354CD}" destId="{A3B57F57-0744-204B-86F5-C420B3F7C4C8}" srcOrd="6" destOrd="0" presId="urn:microsoft.com/office/officeart/2005/8/layout/default#171"/>
    <dgm:cxn modelId="{CEEC4C59-B187-0F4C-B4AF-FF04EB812B45}" type="presParOf" srcId="{B79A319B-2ABC-2644-ADEC-766166A354CD}" destId="{21B5561C-7109-0649-9B42-FAF9CD487AB4}" srcOrd="7" destOrd="0" presId="urn:microsoft.com/office/officeart/2005/8/layout/default#171"/>
    <dgm:cxn modelId="{093E10AF-6FDB-5540-AA04-FCD2578055A0}" type="presParOf" srcId="{B79A319B-2ABC-2644-ADEC-766166A354CD}" destId="{B25B2D85-0501-AE4C-807D-4096F22C5373}" srcOrd="8" destOrd="0" presId="urn:microsoft.com/office/officeart/2005/8/layout/default#17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695DBAD-3C39-194B-A14E-CD6759BA6827}" type="doc">
      <dgm:prSet loTypeId="urn:microsoft.com/office/officeart/2005/8/layout/default#173" loCatId="" qsTypeId="urn:microsoft.com/office/officeart/2005/8/quickstyle/simple1" qsCatId="simple" csTypeId="urn:microsoft.com/office/officeart/2005/8/colors/colorful2" csCatId="colorful" phldr="1"/>
      <dgm:spPr/>
      <dgm:t>
        <a:bodyPr/>
        <a:lstStyle/>
        <a:p>
          <a:endParaRPr lang="en-US"/>
        </a:p>
      </dgm:t>
    </dgm:pt>
    <dgm:pt modelId="{F465A8CC-25CF-AE43-96F9-B7C1FB476376}">
      <dgm:prSet phldrT="[Text]" custT="1"/>
      <dgm:spPr/>
      <dgm:t>
        <a:bodyPr/>
        <a:lstStyle/>
        <a:p>
          <a:r>
            <a:rPr lang="x-none" sz="2400" b="1" dirty="0"/>
            <a:t>Consolider les données</a:t>
          </a:r>
          <a:endParaRPr lang="en-US" sz="2400" dirty="0"/>
        </a:p>
      </dgm:t>
    </dgm:pt>
    <dgm:pt modelId="{7FF2CE25-8A6D-A842-AB12-DBA06EB374E9}" type="parTrans" cxnId="{587FD161-5541-8643-8CC8-5FBE3C984117}">
      <dgm:prSet/>
      <dgm:spPr/>
      <dgm:t>
        <a:bodyPr/>
        <a:lstStyle/>
        <a:p>
          <a:endParaRPr lang="en-US" sz="2400"/>
        </a:p>
      </dgm:t>
    </dgm:pt>
    <dgm:pt modelId="{ED657EB5-8C8F-2F44-A2D7-0B127E357180}" type="sibTrans" cxnId="{587FD161-5541-8643-8CC8-5FBE3C984117}">
      <dgm:prSet/>
      <dgm:spPr/>
      <dgm:t>
        <a:bodyPr/>
        <a:lstStyle/>
        <a:p>
          <a:endParaRPr lang="en-US" sz="2400"/>
        </a:p>
      </dgm:t>
    </dgm:pt>
    <dgm:pt modelId="{9C1B3AB0-5A96-3441-8F17-25D13C1CF486}">
      <dgm:prSet phldrT="[Text]" custT="1"/>
      <dgm:spPr/>
      <dgm:t>
        <a:bodyPr/>
        <a:lstStyle/>
        <a:p>
          <a:r>
            <a:rPr lang="x-none" sz="2400" b="1" dirty="0"/>
            <a:t>Améliorer la prise de décision</a:t>
          </a:r>
          <a:endParaRPr lang="en-US" sz="2400" dirty="0"/>
        </a:p>
      </dgm:t>
    </dgm:pt>
    <dgm:pt modelId="{4C5C0214-86CC-7540-B769-98B4A71BFB62}" type="parTrans" cxnId="{6FCE2917-6623-4346-8F70-9C8FF3AC9B1E}">
      <dgm:prSet/>
      <dgm:spPr/>
      <dgm:t>
        <a:bodyPr/>
        <a:lstStyle/>
        <a:p>
          <a:endParaRPr lang="en-US" sz="2400"/>
        </a:p>
      </dgm:t>
    </dgm:pt>
    <dgm:pt modelId="{D57ACB5C-D850-9D41-BFC5-F84B14B6392C}" type="sibTrans" cxnId="{6FCE2917-6623-4346-8F70-9C8FF3AC9B1E}">
      <dgm:prSet/>
      <dgm:spPr/>
      <dgm:t>
        <a:bodyPr/>
        <a:lstStyle/>
        <a:p>
          <a:endParaRPr lang="en-US" sz="2400"/>
        </a:p>
      </dgm:t>
    </dgm:pt>
    <dgm:pt modelId="{1F06A386-EA08-8C4E-8D2D-89AE9E77A78C}">
      <dgm:prSet phldrT="[Text]" custT="1"/>
      <dgm:spPr/>
      <dgm:t>
        <a:bodyPr/>
        <a:lstStyle/>
        <a:p>
          <a:r>
            <a:rPr lang="x-none" sz="2400" b="1" dirty="0"/>
            <a:t>Soutenir l'analyse d'affaires</a:t>
          </a:r>
          <a:endParaRPr lang="en-US" sz="2400" dirty="0"/>
        </a:p>
      </dgm:t>
    </dgm:pt>
    <dgm:pt modelId="{0CE8416A-635F-EC4F-9B27-5E2066B2FA2D}" type="parTrans" cxnId="{F4DDF4C3-7AD0-1F40-A321-EE7CC8E71258}">
      <dgm:prSet/>
      <dgm:spPr/>
      <dgm:t>
        <a:bodyPr/>
        <a:lstStyle/>
        <a:p>
          <a:endParaRPr lang="en-US" sz="2400"/>
        </a:p>
      </dgm:t>
    </dgm:pt>
    <dgm:pt modelId="{5B531814-763D-4444-9886-5155E3DF40E3}" type="sibTrans" cxnId="{F4DDF4C3-7AD0-1F40-A321-EE7CC8E71258}">
      <dgm:prSet/>
      <dgm:spPr/>
      <dgm:t>
        <a:bodyPr/>
        <a:lstStyle/>
        <a:p>
          <a:endParaRPr lang="en-US" sz="2400"/>
        </a:p>
      </dgm:t>
    </dgm:pt>
    <dgm:pt modelId="{4699C0E5-3403-3240-B5B8-F11A06629B3C}">
      <dgm:prSet custT="1"/>
      <dgm:spPr/>
      <dgm:t>
        <a:bodyPr/>
        <a:lstStyle/>
        <a:p>
          <a:r>
            <a:rPr lang="x-none" sz="2400" b="1" dirty="0"/>
            <a:t>Améliorer la qualité et la cohérence des données</a:t>
          </a:r>
          <a:endParaRPr lang="en-US" sz="2400" dirty="0"/>
        </a:p>
      </dgm:t>
    </dgm:pt>
    <dgm:pt modelId="{FD78BA0B-EABD-124A-AFBC-4118747A9C68}" type="parTrans" cxnId="{D2BE1712-DA33-AC4E-8C75-B32D6E6C88CD}">
      <dgm:prSet/>
      <dgm:spPr/>
      <dgm:t>
        <a:bodyPr/>
        <a:lstStyle/>
        <a:p>
          <a:endParaRPr lang="en-US" sz="2400"/>
        </a:p>
      </dgm:t>
    </dgm:pt>
    <dgm:pt modelId="{FE9AF5C2-E251-3F43-9E92-612F4B10C335}" type="sibTrans" cxnId="{D2BE1712-DA33-AC4E-8C75-B32D6E6C88CD}">
      <dgm:prSet/>
      <dgm:spPr/>
      <dgm:t>
        <a:bodyPr/>
        <a:lstStyle/>
        <a:p>
          <a:endParaRPr lang="en-US" sz="2400"/>
        </a:p>
      </dgm:t>
    </dgm:pt>
    <dgm:pt modelId="{3063BAA1-53C7-514C-B01F-593FBEBC4E61}">
      <dgm:prSet custT="1"/>
      <dgm:spPr/>
      <dgm:t>
        <a:bodyPr/>
        <a:lstStyle/>
        <a:p>
          <a:r>
            <a:rPr lang="x-none" sz="2400" b="1" dirty="0"/>
            <a:t>Sécuriser les données</a:t>
          </a:r>
          <a:endParaRPr lang="en-US" sz="2400" dirty="0"/>
        </a:p>
      </dgm:t>
    </dgm:pt>
    <dgm:pt modelId="{A66DBBFF-FCF2-9B4F-B2EF-65327398FBDD}" type="parTrans" cxnId="{4173C58D-C6A2-7240-A929-08FE9E8A3181}">
      <dgm:prSet/>
      <dgm:spPr/>
      <dgm:t>
        <a:bodyPr/>
        <a:lstStyle/>
        <a:p>
          <a:endParaRPr lang="en-US" sz="2400"/>
        </a:p>
      </dgm:t>
    </dgm:pt>
    <dgm:pt modelId="{A8653B3B-2D9F-D740-A373-97AC3E6C1804}" type="sibTrans" cxnId="{4173C58D-C6A2-7240-A929-08FE9E8A3181}">
      <dgm:prSet/>
      <dgm:spPr/>
      <dgm:t>
        <a:bodyPr/>
        <a:lstStyle/>
        <a:p>
          <a:endParaRPr lang="en-US" sz="2400"/>
        </a:p>
      </dgm:t>
    </dgm:pt>
    <dgm:pt modelId="{B79A319B-2ABC-2644-ADEC-766166A354CD}" type="pres">
      <dgm:prSet presAssocID="{0695DBAD-3C39-194B-A14E-CD6759BA6827}" presName="diagram" presStyleCnt="0">
        <dgm:presLayoutVars>
          <dgm:dir/>
          <dgm:resizeHandles val="exact"/>
        </dgm:presLayoutVars>
      </dgm:prSet>
      <dgm:spPr/>
      <dgm:t>
        <a:bodyPr/>
        <a:lstStyle/>
        <a:p>
          <a:endParaRPr lang="fr-FR"/>
        </a:p>
      </dgm:t>
    </dgm:pt>
    <dgm:pt modelId="{1D2D1586-76F2-AE45-8789-C0B869A366B0}" type="pres">
      <dgm:prSet presAssocID="{F465A8CC-25CF-AE43-96F9-B7C1FB476376}" presName="node" presStyleLbl="node1" presStyleIdx="0" presStyleCnt="5">
        <dgm:presLayoutVars>
          <dgm:bulletEnabled val="1"/>
        </dgm:presLayoutVars>
      </dgm:prSet>
      <dgm:spPr/>
      <dgm:t>
        <a:bodyPr/>
        <a:lstStyle/>
        <a:p>
          <a:endParaRPr lang="fr-FR"/>
        </a:p>
      </dgm:t>
    </dgm:pt>
    <dgm:pt modelId="{7709A9AB-2EF2-7E43-8A03-0711DCADFCA0}" type="pres">
      <dgm:prSet presAssocID="{ED657EB5-8C8F-2F44-A2D7-0B127E357180}" presName="sibTrans" presStyleCnt="0"/>
      <dgm:spPr/>
    </dgm:pt>
    <dgm:pt modelId="{4168E2E4-C500-B248-8253-C3C9A745000A}" type="pres">
      <dgm:prSet presAssocID="{9C1B3AB0-5A96-3441-8F17-25D13C1CF486}" presName="node" presStyleLbl="node1" presStyleIdx="1" presStyleCnt="5">
        <dgm:presLayoutVars>
          <dgm:bulletEnabled val="1"/>
        </dgm:presLayoutVars>
      </dgm:prSet>
      <dgm:spPr/>
      <dgm:t>
        <a:bodyPr/>
        <a:lstStyle/>
        <a:p>
          <a:endParaRPr lang="fr-FR"/>
        </a:p>
      </dgm:t>
    </dgm:pt>
    <dgm:pt modelId="{CE0465FF-2ED5-3345-BD9F-CB1EE5DDD4A1}" type="pres">
      <dgm:prSet presAssocID="{D57ACB5C-D850-9D41-BFC5-F84B14B6392C}" presName="sibTrans" presStyleCnt="0"/>
      <dgm:spPr/>
    </dgm:pt>
    <dgm:pt modelId="{2EA168E3-B536-6840-8C2E-053FF39A10FC}" type="pres">
      <dgm:prSet presAssocID="{1F06A386-EA08-8C4E-8D2D-89AE9E77A78C}" presName="node" presStyleLbl="node1" presStyleIdx="2" presStyleCnt="5">
        <dgm:presLayoutVars>
          <dgm:bulletEnabled val="1"/>
        </dgm:presLayoutVars>
      </dgm:prSet>
      <dgm:spPr/>
      <dgm:t>
        <a:bodyPr/>
        <a:lstStyle/>
        <a:p>
          <a:endParaRPr lang="fr-FR"/>
        </a:p>
      </dgm:t>
    </dgm:pt>
    <dgm:pt modelId="{0EB5CC20-3378-5E4C-813B-E7FC1EC3C4F0}" type="pres">
      <dgm:prSet presAssocID="{5B531814-763D-4444-9886-5155E3DF40E3}" presName="sibTrans" presStyleCnt="0"/>
      <dgm:spPr/>
    </dgm:pt>
    <dgm:pt modelId="{A3B57F57-0744-204B-86F5-C420B3F7C4C8}" type="pres">
      <dgm:prSet presAssocID="{4699C0E5-3403-3240-B5B8-F11A06629B3C}" presName="node" presStyleLbl="node1" presStyleIdx="3" presStyleCnt="5">
        <dgm:presLayoutVars>
          <dgm:bulletEnabled val="1"/>
        </dgm:presLayoutVars>
      </dgm:prSet>
      <dgm:spPr/>
      <dgm:t>
        <a:bodyPr/>
        <a:lstStyle/>
        <a:p>
          <a:endParaRPr lang="fr-FR"/>
        </a:p>
      </dgm:t>
    </dgm:pt>
    <dgm:pt modelId="{21B5561C-7109-0649-9B42-FAF9CD487AB4}" type="pres">
      <dgm:prSet presAssocID="{FE9AF5C2-E251-3F43-9E92-612F4B10C335}" presName="sibTrans" presStyleCnt="0"/>
      <dgm:spPr/>
    </dgm:pt>
    <dgm:pt modelId="{B25B2D85-0501-AE4C-807D-4096F22C5373}" type="pres">
      <dgm:prSet presAssocID="{3063BAA1-53C7-514C-B01F-593FBEBC4E61}" presName="node" presStyleLbl="node1" presStyleIdx="4" presStyleCnt="5">
        <dgm:presLayoutVars>
          <dgm:bulletEnabled val="1"/>
        </dgm:presLayoutVars>
      </dgm:prSet>
      <dgm:spPr/>
      <dgm:t>
        <a:bodyPr/>
        <a:lstStyle/>
        <a:p>
          <a:endParaRPr lang="fr-FR"/>
        </a:p>
      </dgm:t>
    </dgm:pt>
  </dgm:ptLst>
  <dgm:cxnLst>
    <dgm:cxn modelId="{46D1AF61-2338-4EBB-8393-560EC996BF3A}" type="presOf" srcId="{4699C0E5-3403-3240-B5B8-F11A06629B3C}" destId="{A3B57F57-0744-204B-86F5-C420B3F7C4C8}" srcOrd="0" destOrd="0" presId="urn:microsoft.com/office/officeart/2005/8/layout/default#173"/>
    <dgm:cxn modelId="{4173C58D-C6A2-7240-A929-08FE9E8A3181}" srcId="{0695DBAD-3C39-194B-A14E-CD6759BA6827}" destId="{3063BAA1-53C7-514C-B01F-593FBEBC4E61}" srcOrd="4" destOrd="0" parTransId="{A66DBBFF-FCF2-9B4F-B2EF-65327398FBDD}" sibTransId="{A8653B3B-2D9F-D740-A373-97AC3E6C1804}"/>
    <dgm:cxn modelId="{F4DDF4C3-7AD0-1F40-A321-EE7CC8E71258}" srcId="{0695DBAD-3C39-194B-A14E-CD6759BA6827}" destId="{1F06A386-EA08-8C4E-8D2D-89AE9E77A78C}" srcOrd="2" destOrd="0" parTransId="{0CE8416A-635F-EC4F-9B27-5E2066B2FA2D}" sibTransId="{5B531814-763D-4444-9886-5155E3DF40E3}"/>
    <dgm:cxn modelId="{6FCE2917-6623-4346-8F70-9C8FF3AC9B1E}" srcId="{0695DBAD-3C39-194B-A14E-CD6759BA6827}" destId="{9C1B3AB0-5A96-3441-8F17-25D13C1CF486}" srcOrd="1" destOrd="0" parTransId="{4C5C0214-86CC-7540-B769-98B4A71BFB62}" sibTransId="{D57ACB5C-D850-9D41-BFC5-F84B14B6392C}"/>
    <dgm:cxn modelId="{587FD161-5541-8643-8CC8-5FBE3C984117}" srcId="{0695DBAD-3C39-194B-A14E-CD6759BA6827}" destId="{F465A8CC-25CF-AE43-96F9-B7C1FB476376}" srcOrd="0" destOrd="0" parTransId="{7FF2CE25-8A6D-A842-AB12-DBA06EB374E9}" sibTransId="{ED657EB5-8C8F-2F44-A2D7-0B127E357180}"/>
    <dgm:cxn modelId="{FECCBBBC-8D0C-4A46-BFDA-2290C1C194EA}" type="presOf" srcId="{9C1B3AB0-5A96-3441-8F17-25D13C1CF486}" destId="{4168E2E4-C500-B248-8253-C3C9A745000A}" srcOrd="0" destOrd="0" presId="urn:microsoft.com/office/officeart/2005/8/layout/default#173"/>
    <dgm:cxn modelId="{D2BE1712-DA33-AC4E-8C75-B32D6E6C88CD}" srcId="{0695DBAD-3C39-194B-A14E-CD6759BA6827}" destId="{4699C0E5-3403-3240-B5B8-F11A06629B3C}" srcOrd="3" destOrd="0" parTransId="{FD78BA0B-EABD-124A-AFBC-4118747A9C68}" sibTransId="{FE9AF5C2-E251-3F43-9E92-612F4B10C335}"/>
    <dgm:cxn modelId="{1E889260-89F8-4C97-B6DF-FEDF9B13C485}" type="presOf" srcId="{0695DBAD-3C39-194B-A14E-CD6759BA6827}" destId="{B79A319B-2ABC-2644-ADEC-766166A354CD}" srcOrd="0" destOrd="0" presId="urn:microsoft.com/office/officeart/2005/8/layout/default#173"/>
    <dgm:cxn modelId="{F6331A69-5DE8-41AE-B966-D52888513B49}" type="presOf" srcId="{F465A8CC-25CF-AE43-96F9-B7C1FB476376}" destId="{1D2D1586-76F2-AE45-8789-C0B869A366B0}" srcOrd="0" destOrd="0" presId="urn:microsoft.com/office/officeart/2005/8/layout/default#173"/>
    <dgm:cxn modelId="{7FC8C991-7D7A-45CF-9AE6-FA233AE11E03}" type="presOf" srcId="{3063BAA1-53C7-514C-B01F-593FBEBC4E61}" destId="{B25B2D85-0501-AE4C-807D-4096F22C5373}" srcOrd="0" destOrd="0" presId="urn:microsoft.com/office/officeart/2005/8/layout/default#173"/>
    <dgm:cxn modelId="{27143E33-AE07-4CE3-B24A-CCA3CF4E5270}" type="presOf" srcId="{1F06A386-EA08-8C4E-8D2D-89AE9E77A78C}" destId="{2EA168E3-B536-6840-8C2E-053FF39A10FC}" srcOrd="0" destOrd="0" presId="urn:microsoft.com/office/officeart/2005/8/layout/default#173"/>
    <dgm:cxn modelId="{3DEFADF0-2E70-4620-B5A3-6D52B00BD5B9}" type="presParOf" srcId="{B79A319B-2ABC-2644-ADEC-766166A354CD}" destId="{1D2D1586-76F2-AE45-8789-C0B869A366B0}" srcOrd="0" destOrd="0" presId="urn:microsoft.com/office/officeart/2005/8/layout/default#173"/>
    <dgm:cxn modelId="{608F57F7-36B8-441F-980D-4BB9D054C0DC}" type="presParOf" srcId="{B79A319B-2ABC-2644-ADEC-766166A354CD}" destId="{7709A9AB-2EF2-7E43-8A03-0711DCADFCA0}" srcOrd="1" destOrd="0" presId="urn:microsoft.com/office/officeart/2005/8/layout/default#173"/>
    <dgm:cxn modelId="{B06029D7-1301-44DD-B320-36CBA3B8D754}" type="presParOf" srcId="{B79A319B-2ABC-2644-ADEC-766166A354CD}" destId="{4168E2E4-C500-B248-8253-C3C9A745000A}" srcOrd="2" destOrd="0" presId="urn:microsoft.com/office/officeart/2005/8/layout/default#173"/>
    <dgm:cxn modelId="{683BAA4A-E60A-4844-83A8-8ECDE924B37B}" type="presParOf" srcId="{B79A319B-2ABC-2644-ADEC-766166A354CD}" destId="{CE0465FF-2ED5-3345-BD9F-CB1EE5DDD4A1}" srcOrd="3" destOrd="0" presId="urn:microsoft.com/office/officeart/2005/8/layout/default#173"/>
    <dgm:cxn modelId="{78A31B7D-66B5-470A-A30D-D220C9523D35}" type="presParOf" srcId="{B79A319B-2ABC-2644-ADEC-766166A354CD}" destId="{2EA168E3-B536-6840-8C2E-053FF39A10FC}" srcOrd="4" destOrd="0" presId="urn:microsoft.com/office/officeart/2005/8/layout/default#173"/>
    <dgm:cxn modelId="{61DCEBE2-82EC-4D15-8455-30085FEFFF57}" type="presParOf" srcId="{B79A319B-2ABC-2644-ADEC-766166A354CD}" destId="{0EB5CC20-3378-5E4C-813B-E7FC1EC3C4F0}" srcOrd="5" destOrd="0" presId="urn:microsoft.com/office/officeart/2005/8/layout/default#173"/>
    <dgm:cxn modelId="{D24FAC26-BC8B-4133-B77F-BC5E2CF0EF7E}" type="presParOf" srcId="{B79A319B-2ABC-2644-ADEC-766166A354CD}" destId="{A3B57F57-0744-204B-86F5-C420B3F7C4C8}" srcOrd="6" destOrd="0" presId="urn:microsoft.com/office/officeart/2005/8/layout/default#173"/>
    <dgm:cxn modelId="{10FB4FDE-7B44-472A-90B8-82AE117609E4}" type="presParOf" srcId="{B79A319B-2ABC-2644-ADEC-766166A354CD}" destId="{21B5561C-7109-0649-9B42-FAF9CD487AB4}" srcOrd="7" destOrd="0" presId="urn:microsoft.com/office/officeart/2005/8/layout/default#173"/>
    <dgm:cxn modelId="{0C2C6219-2D66-4BEE-8EB8-A2EF8235CD93}" type="presParOf" srcId="{B79A319B-2ABC-2644-ADEC-766166A354CD}" destId="{B25B2D85-0501-AE4C-807D-4096F22C5373}" srcOrd="8" destOrd="0" presId="urn:microsoft.com/office/officeart/2005/8/layout/default#17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29D09A1-8240-B044-BCB1-ABFD621B4E64}" type="doc">
      <dgm:prSet loTypeId="urn:microsoft.com/office/officeart/2008/layout/RadialCluster" loCatId="" qsTypeId="urn:microsoft.com/office/officeart/2005/8/quickstyle/simple1" qsCatId="simple" csTypeId="urn:microsoft.com/office/officeart/2005/8/colors/accent5_3" csCatId="accent5" phldr="1"/>
      <dgm:spPr/>
      <dgm:t>
        <a:bodyPr/>
        <a:lstStyle/>
        <a:p>
          <a:endParaRPr lang="en-US"/>
        </a:p>
      </dgm:t>
    </dgm:pt>
    <dgm:pt modelId="{53EE3653-E370-6E43-9204-7D40E21D30D2}">
      <dgm:prSet phldrT="[Text]"/>
      <dgm:spPr>
        <a:solidFill>
          <a:schemeClr val="accent2">
            <a:lumMod val="75000"/>
          </a:schemeClr>
        </a:solidFill>
      </dgm:spPr>
      <dgm:t>
        <a:bodyPr/>
        <a:lstStyle/>
        <a:p>
          <a:r>
            <a:rPr lang="en-US" dirty="0"/>
            <a:t>Fait</a:t>
          </a:r>
        </a:p>
      </dgm:t>
    </dgm:pt>
    <dgm:pt modelId="{CA4B0B7C-6A27-7A4D-9CB2-E66781E77DEB}" type="parTrans" cxnId="{4D6F71C6-0CE9-5F47-B251-DEFF5CCA9990}">
      <dgm:prSet/>
      <dgm:spPr/>
      <dgm:t>
        <a:bodyPr/>
        <a:lstStyle/>
        <a:p>
          <a:endParaRPr lang="en-US"/>
        </a:p>
      </dgm:t>
    </dgm:pt>
    <dgm:pt modelId="{5D34C1F3-EA95-6B48-92CF-4F507500865A}" type="sibTrans" cxnId="{4D6F71C6-0CE9-5F47-B251-DEFF5CCA9990}">
      <dgm:prSet/>
      <dgm:spPr/>
      <dgm:t>
        <a:bodyPr/>
        <a:lstStyle/>
        <a:p>
          <a:endParaRPr lang="en-US"/>
        </a:p>
      </dgm:t>
    </dgm:pt>
    <dgm:pt modelId="{2D132D09-5028-8345-9D13-B3593E04CB4D}">
      <dgm:prSet phldrT="[Text]"/>
      <dgm:spPr>
        <a:solidFill>
          <a:schemeClr val="accent5">
            <a:lumMod val="75000"/>
          </a:schemeClr>
        </a:solidFill>
      </dgm:spPr>
      <dgm:t>
        <a:bodyPr/>
        <a:lstStyle/>
        <a:p>
          <a:pPr rtl="0"/>
          <a:r>
            <a:rPr lang="en-US" dirty="0"/>
            <a:t>Dimension</a:t>
          </a:r>
        </a:p>
      </dgm:t>
    </dgm:pt>
    <dgm:pt modelId="{6002C8CF-92D0-E548-A5F9-F72DBE6361B7}" type="parTrans" cxnId="{9E49DFF9-110A-0D4E-ABF3-B03CBAD7F626}">
      <dgm:prSet/>
      <dgm:spPr/>
      <dgm:t>
        <a:bodyPr/>
        <a:lstStyle/>
        <a:p>
          <a:endParaRPr lang="en-US"/>
        </a:p>
      </dgm:t>
    </dgm:pt>
    <dgm:pt modelId="{A1F04D57-5381-E44A-B418-E2C49974F967}" type="sibTrans" cxnId="{9E49DFF9-110A-0D4E-ABF3-B03CBAD7F626}">
      <dgm:prSet/>
      <dgm:spPr/>
      <dgm:t>
        <a:bodyPr/>
        <a:lstStyle/>
        <a:p>
          <a:endParaRPr lang="en-US"/>
        </a:p>
      </dgm:t>
    </dgm:pt>
    <dgm:pt modelId="{EF77D684-FD3A-5B4A-BB78-03D4339B71B7}">
      <dgm:prSet phldrT="[Text]"/>
      <dgm:spPr>
        <a:solidFill>
          <a:schemeClr val="accent5">
            <a:lumMod val="75000"/>
          </a:schemeClr>
        </a:solidFill>
      </dgm:spPr>
      <dgm:t>
        <a:bodyPr/>
        <a:lstStyle/>
        <a:p>
          <a:r>
            <a:rPr lang="en-US" dirty="0"/>
            <a:t>Dimension</a:t>
          </a:r>
        </a:p>
      </dgm:t>
    </dgm:pt>
    <dgm:pt modelId="{6CD783ED-0164-0348-9C02-EB1BCE3D1B3D}" type="parTrans" cxnId="{C7A8CD0E-0075-2E49-BED5-778EC5E25464}">
      <dgm:prSet/>
      <dgm:spPr/>
      <dgm:t>
        <a:bodyPr/>
        <a:lstStyle/>
        <a:p>
          <a:endParaRPr lang="en-US"/>
        </a:p>
      </dgm:t>
    </dgm:pt>
    <dgm:pt modelId="{47B666CA-2080-7C40-A042-F21EFEE26D74}" type="sibTrans" cxnId="{C7A8CD0E-0075-2E49-BED5-778EC5E25464}">
      <dgm:prSet/>
      <dgm:spPr/>
      <dgm:t>
        <a:bodyPr/>
        <a:lstStyle/>
        <a:p>
          <a:endParaRPr lang="en-US"/>
        </a:p>
      </dgm:t>
    </dgm:pt>
    <dgm:pt modelId="{70034786-A619-8C44-B4FB-57941EE3C315}">
      <dgm:prSet phldrT="[Text]"/>
      <dgm:spPr>
        <a:solidFill>
          <a:schemeClr val="accent5">
            <a:lumMod val="75000"/>
          </a:schemeClr>
        </a:solidFill>
      </dgm:spPr>
      <dgm:t>
        <a:bodyPr/>
        <a:lstStyle/>
        <a:p>
          <a:r>
            <a:rPr lang="en-US" dirty="0"/>
            <a:t>Dimension</a:t>
          </a:r>
        </a:p>
      </dgm:t>
    </dgm:pt>
    <dgm:pt modelId="{1DD3F3AE-F366-1947-BB75-ED94B756A19F}" type="parTrans" cxnId="{D50D52E3-5B08-1145-B039-F463D3218A1E}">
      <dgm:prSet/>
      <dgm:spPr/>
      <dgm:t>
        <a:bodyPr/>
        <a:lstStyle/>
        <a:p>
          <a:endParaRPr lang="en-US"/>
        </a:p>
      </dgm:t>
    </dgm:pt>
    <dgm:pt modelId="{5831FF05-B41B-3C48-B719-E7FE54D68416}" type="sibTrans" cxnId="{D50D52E3-5B08-1145-B039-F463D3218A1E}">
      <dgm:prSet/>
      <dgm:spPr/>
      <dgm:t>
        <a:bodyPr/>
        <a:lstStyle/>
        <a:p>
          <a:endParaRPr lang="en-US"/>
        </a:p>
      </dgm:t>
    </dgm:pt>
    <dgm:pt modelId="{D29EB9F6-402B-464F-99B2-CE0D6CD8C3A6}" type="pres">
      <dgm:prSet presAssocID="{429D09A1-8240-B044-BCB1-ABFD621B4E64}" presName="Name0" presStyleCnt="0">
        <dgm:presLayoutVars>
          <dgm:chMax val="1"/>
          <dgm:chPref val="1"/>
          <dgm:dir/>
          <dgm:animOne val="branch"/>
          <dgm:animLvl val="lvl"/>
        </dgm:presLayoutVars>
      </dgm:prSet>
      <dgm:spPr/>
      <dgm:t>
        <a:bodyPr/>
        <a:lstStyle/>
        <a:p>
          <a:endParaRPr lang="fr-FR"/>
        </a:p>
      </dgm:t>
    </dgm:pt>
    <dgm:pt modelId="{8CA3ADDA-86F2-DC4F-8C97-C56DB9AB6C1F}" type="pres">
      <dgm:prSet presAssocID="{53EE3653-E370-6E43-9204-7D40E21D30D2}" presName="singleCycle" presStyleCnt="0"/>
      <dgm:spPr/>
    </dgm:pt>
    <dgm:pt modelId="{46F07AC7-9182-3147-82D6-5F441FB648A7}" type="pres">
      <dgm:prSet presAssocID="{53EE3653-E370-6E43-9204-7D40E21D30D2}" presName="singleCenter" presStyleLbl="node1" presStyleIdx="0" presStyleCnt="4">
        <dgm:presLayoutVars>
          <dgm:chMax val="7"/>
          <dgm:chPref val="7"/>
        </dgm:presLayoutVars>
      </dgm:prSet>
      <dgm:spPr/>
      <dgm:t>
        <a:bodyPr/>
        <a:lstStyle/>
        <a:p>
          <a:endParaRPr lang="fr-FR"/>
        </a:p>
      </dgm:t>
    </dgm:pt>
    <dgm:pt modelId="{911E6691-BB2B-C04D-8769-F4D089FD8904}" type="pres">
      <dgm:prSet presAssocID="{6002C8CF-92D0-E548-A5F9-F72DBE6361B7}" presName="Name56" presStyleLbl="parChTrans1D2" presStyleIdx="0" presStyleCnt="3"/>
      <dgm:spPr/>
      <dgm:t>
        <a:bodyPr/>
        <a:lstStyle/>
        <a:p>
          <a:endParaRPr lang="fr-FR"/>
        </a:p>
      </dgm:t>
    </dgm:pt>
    <dgm:pt modelId="{0924D526-463E-354D-8263-DEDA3243AC76}" type="pres">
      <dgm:prSet presAssocID="{2D132D09-5028-8345-9D13-B3593E04CB4D}" presName="text0" presStyleLbl="node1" presStyleIdx="1" presStyleCnt="4">
        <dgm:presLayoutVars>
          <dgm:bulletEnabled val="1"/>
        </dgm:presLayoutVars>
      </dgm:prSet>
      <dgm:spPr/>
      <dgm:t>
        <a:bodyPr/>
        <a:lstStyle/>
        <a:p>
          <a:endParaRPr lang="fr-FR"/>
        </a:p>
      </dgm:t>
    </dgm:pt>
    <dgm:pt modelId="{225B656E-F133-6549-8C99-966056DA32B8}" type="pres">
      <dgm:prSet presAssocID="{6CD783ED-0164-0348-9C02-EB1BCE3D1B3D}" presName="Name56" presStyleLbl="parChTrans1D2" presStyleIdx="1" presStyleCnt="3"/>
      <dgm:spPr/>
      <dgm:t>
        <a:bodyPr/>
        <a:lstStyle/>
        <a:p>
          <a:endParaRPr lang="fr-FR"/>
        </a:p>
      </dgm:t>
    </dgm:pt>
    <dgm:pt modelId="{38AD1312-FEF2-F044-A3FB-8BC01FBAC62C}" type="pres">
      <dgm:prSet presAssocID="{EF77D684-FD3A-5B4A-BB78-03D4339B71B7}" presName="text0" presStyleLbl="node1" presStyleIdx="2" presStyleCnt="4">
        <dgm:presLayoutVars>
          <dgm:bulletEnabled val="1"/>
        </dgm:presLayoutVars>
      </dgm:prSet>
      <dgm:spPr/>
      <dgm:t>
        <a:bodyPr/>
        <a:lstStyle/>
        <a:p>
          <a:endParaRPr lang="fr-FR"/>
        </a:p>
      </dgm:t>
    </dgm:pt>
    <dgm:pt modelId="{AC22B39C-4DEB-574F-B6DA-B8959E22CD94}" type="pres">
      <dgm:prSet presAssocID="{1DD3F3AE-F366-1947-BB75-ED94B756A19F}" presName="Name56" presStyleLbl="parChTrans1D2" presStyleIdx="2" presStyleCnt="3"/>
      <dgm:spPr/>
      <dgm:t>
        <a:bodyPr/>
        <a:lstStyle/>
        <a:p>
          <a:endParaRPr lang="fr-FR"/>
        </a:p>
      </dgm:t>
    </dgm:pt>
    <dgm:pt modelId="{9467487E-7470-3842-88F1-064F9380B8B1}" type="pres">
      <dgm:prSet presAssocID="{70034786-A619-8C44-B4FB-57941EE3C315}" presName="text0" presStyleLbl="node1" presStyleIdx="3" presStyleCnt="4">
        <dgm:presLayoutVars>
          <dgm:bulletEnabled val="1"/>
        </dgm:presLayoutVars>
      </dgm:prSet>
      <dgm:spPr/>
      <dgm:t>
        <a:bodyPr/>
        <a:lstStyle/>
        <a:p>
          <a:endParaRPr lang="fr-FR"/>
        </a:p>
      </dgm:t>
    </dgm:pt>
  </dgm:ptLst>
  <dgm:cxnLst>
    <dgm:cxn modelId="{9164E050-DB46-401A-8404-67FE0440AD99}" type="presOf" srcId="{6002C8CF-92D0-E548-A5F9-F72DBE6361B7}" destId="{911E6691-BB2B-C04D-8769-F4D089FD8904}" srcOrd="0" destOrd="0" presId="urn:microsoft.com/office/officeart/2008/layout/RadialCluster"/>
    <dgm:cxn modelId="{4D6F71C6-0CE9-5F47-B251-DEFF5CCA9990}" srcId="{429D09A1-8240-B044-BCB1-ABFD621B4E64}" destId="{53EE3653-E370-6E43-9204-7D40E21D30D2}" srcOrd="0" destOrd="0" parTransId="{CA4B0B7C-6A27-7A4D-9CB2-E66781E77DEB}" sibTransId="{5D34C1F3-EA95-6B48-92CF-4F507500865A}"/>
    <dgm:cxn modelId="{AAE1117C-00C0-474E-85A6-5F0B18019CE2}" type="presOf" srcId="{2D132D09-5028-8345-9D13-B3593E04CB4D}" destId="{0924D526-463E-354D-8263-DEDA3243AC76}" srcOrd="0" destOrd="0" presId="urn:microsoft.com/office/officeart/2008/layout/RadialCluster"/>
    <dgm:cxn modelId="{475D1626-5FE5-47C0-94B8-71212B967AE9}" type="presOf" srcId="{70034786-A619-8C44-B4FB-57941EE3C315}" destId="{9467487E-7470-3842-88F1-064F9380B8B1}" srcOrd="0" destOrd="0" presId="urn:microsoft.com/office/officeart/2008/layout/RadialCluster"/>
    <dgm:cxn modelId="{93096A3B-9AC1-4972-98CB-1A798793BF37}" type="presOf" srcId="{429D09A1-8240-B044-BCB1-ABFD621B4E64}" destId="{D29EB9F6-402B-464F-99B2-CE0D6CD8C3A6}" srcOrd="0" destOrd="0" presId="urn:microsoft.com/office/officeart/2008/layout/RadialCluster"/>
    <dgm:cxn modelId="{D50D52E3-5B08-1145-B039-F463D3218A1E}" srcId="{53EE3653-E370-6E43-9204-7D40E21D30D2}" destId="{70034786-A619-8C44-B4FB-57941EE3C315}" srcOrd="2" destOrd="0" parTransId="{1DD3F3AE-F366-1947-BB75-ED94B756A19F}" sibTransId="{5831FF05-B41B-3C48-B719-E7FE54D68416}"/>
    <dgm:cxn modelId="{E468AEDE-B931-46B7-8C71-6326D7B25170}" type="presOf" srcId="{1DD3F3AE-F366-1947-BB75-ED94B756A19F}" destId="{AC22B39C-4DEB-574F-B6DA-B8959E22CD94}" srcOrd="0" destOrd="0" presId="urn:microsoft.com/office/officeart/2008/layout/RadialCluster"/>
    <dgm:cxn modelId="{C7A8CD0E-0075-2E49-BED5-778EC5E25464}" srcId="{53EE3653-E370-6E43-9204-7D40E21D30D2}" destId="{EF77D684-FD3A-5B4A-BB78-03D4339B71B7}" srcOrd="1" destOrd="0" parTransId="{6CD783ED-0164-0348-9C02-EB1BCE3D1B3D}" sibTransId="{47B666CA-2080-7C40-A042-F21EFEE26D74}"/>
    <dgm:cxn modelId="{D0031C41-456B-4EB0-862E-1656D0AB105C}" type="presOf" srcId="{EF77D684-FD3A-5B4A-BB78-03D4339B71B7}" destId="{38AD1312-FEF2-F044-A3FB-8BC01FBAC62C}" srcOrd="0" destOrd="0" presId="urn:microsoft.com/office/officeart/2008/layout/RadialCluster"/>
    <dgm:cxn modelId="{9E55EBDA-1D0A-4BA1-9C20-003BA276861F}" type="presOf" srcId="{6CD783ED-0164-0348-9C02-EB1BCE3D1B3D}" destId="{225B656E-F133-6549-8C99-966056DA32B8}" srcOrd="0" destOrd="0" presId="urn:microsoft.com/office/officeart/2008/layout/RadialCluster"/>
    <dgm:cxn modelId="{1AE87DA9-495C-41E3-A0C8-38279036652C}" type="presOf" srcId="{53EE3653-E370-6E43-9204-7D40E21D30D2}" destId="{46F07AC7-9182-3147-82D6-5F441FB648A7}" srcOrd="0" destOrd="0" presId="urn:microsoft.com/office/officeart/2008/layout/RadialCluster"/>
    <dgm:cxn modelId="{9E49DFF9-110A-0D4E-ABF3-B03CBAD7F626}" srcId="{53EE3653-E370-6E43-9204-7D40E21D30D2}" destId="{2D132D09-5028-8345-9D13-B3593E04CB4D}" srcOrd="0" destOrd="0" parTransId="{6002C8CF-92D0-E548-A5F9-F72DBE6361B7}" sibTransId="{A1F04D57-5381-E44A-B418-E2C49974F967}"/>
    <dgm:cxn modelId="{91B0A485-DDDE-4F13-9905-B13C1F9AE30D}" type="presParOf" srcId="{D29EB9F6-402B-464F-99B2-CE0D6CD8C3A6}" destId="{8CA3ADDA-86F2-DC4F-8C97-C56DB9AB6C1F}" srcOrd="0" destOrd="0" presId="urn:microsoft.com/office/officeart/2008/layout/RadialCluster"/>
    <dgm:cxn modelId="{E75767D6-A073-4983-B1F3-230A30EC1114}" type="presParOf" srcId="{8CA3ADDA-86F2-DC4F-8C97-C56DB9AB6C1F}" destId="{46F07AC7-9182-3147-82D6-5F441FB648A7}" srcOrd="0" destOrd="0" presId="urn:microsoft.com/office/officeart/2008/layout/RadialCluster"/>
    <dgm:cxn modelId="{4A138158-A8A0-4BFA-B74F-1DE616A088A4}" type="presParOf" srcId="{8CA3ADDA-86F2-DC4F-8C97-C56DB9AB6C1F}" destId="{911E6691-BB2B-C04D-8769-F4D089FD8904}" srcOrd="1" destOrd="0" presId="urn:microsoft.com/office/officeart/2008/layout/RadialCluster"/>
    <dgm:cxn modelId="{6324EAFD-DCFF-40C9-B797-7DCA0C49C63A}" type="presParOf" srcId="{8CA3ADDA-86F2-DC4F-8C97-C56DB9AB6C1F}" destId="{0924D526-463E-354D-8263-DEDA3243AC76}" srcOrd="2" destOrd="0" presId="urn:microsoft.com/office/officeart/2008/layout/RadialCluster"/>
    <dgm:cxn modelId="{6848DB15-2B1D-428C-9DED-1A30FC8735C0}" type="presParOf" srcId="{8CA3ADDA-86F2-DC4F-8C97-C56DB9AB6C1F}" destId="{225B656E-F133-6549-8C99-966056DA32B8}" srcOrd="3" destOrd="0" presId="urn:microsoft.com/office/officeart/2008/layout/RadialCluster"/>
    <dgm:cxn modelId="{84118A70-BB23-4D9A-994D-2B1C4BA6B2FD}" type="presParOf" srcId="{8CA3ADDA-86F2-DC4F-8C97-C56DB9AB6C1F}" destId="{38AD1312-FEF2-F044-A3FB-8BC01FBAC62C}" srcOrd="4" destOrd="0" presId="urn:microsoft.com/office/officeart/2008/layout/RadialCluster"/>
    <dgm:cxn modelId="{39D97B3C-9581-44E9-900B-ACD3CA4569DD}" type="presParOf" srcId="{8CA3ADDA-86F2-DC4F-8C97-C56DB9AB6C1F}" destId="{AC22B39C-4DEB-574F-B6DA-B8959E22CD94}" srcOrd="5" destOrd="0" presId="urn:microsoft.com/office/officeart/2008/layout/RadialCluster"/>
    <dgm:cxn modelId="{B3A53429-786A-42A6-A58D-1567242599D4}" type="presParOf" srcId="{8CA3ADDA-86F2-DC4F-8C97-C56DB9AB6C1F}" destId="{9467487E-7470-3842-88F1-064F9380B8B1}" srcOrd="6" destOrd="0" presId="urn:microsoft.com/office/officeart/2008/layout/RadialCluster"/>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8F737CE-5EE5-8740-B811-AED65898BA4A}"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US"/>
        </a:p>
      </dgm:t>
    </dgm:pt>
    <dgm:pt modelId="{19E02CD7-4847-AF4F-BC84-24E095C40B49}">
      <dgm:prSet phldrT="[Text]" custT="1"/>
      <dgm:spPr/>
      <dgm:t>
        <a:bodyPr/>
        <a:lstStyle/>
        <a:p>
          <a:pPr>
            <a:buNone/>
          </a:pPr>
          <a:r>
            <a:rPr lang="fr-FR" altLang="fr-FR" sz="2800" b="1" dirty="0">
              <a:latin typeface="Times New Roman" pitchFamily="18" charset="0"/>
              <a:cs typeface="Times New Roman" pitchFamily="18" charset="0"/>
            </a:rPr>
            <a:t>Pourquoi la transformation?</a:t>
          </a:r>
          <a:endParaRPr lang="en-US" sz="2800" dirty="0">
            <a:latin typeface="Times New Roman" panose="02020603050405020304" pitchFamily="18" charset="0"/>
            <a:cs typeface="Times New Roman" panose="02020603050405020304" pitchFamily="18" charset="0"/>
          </a:endParaRPr>
        </a:p>
      </dgm:t>
    </dgm:pt>
    <dgm:pt modelId="{BF8C4D35-9632-354C-A9EF-ECC993F9363A}" type="parTrans" cxnId="{8876CAE4-C449-3F4B-B455-19998519EA3D}">
      <dgm:prSet/>
      <dgm:spPr/>
      <dgm:t>
        <a:bodyPr/>
        <a:lstStyle/>
        <a:p>
          <a:endParaRPr lang="en-US" sz="2800">
            <a:latin typeface="Times New Roman" panose="02020603050405020304" pitchFamily="18" charset="0"/>
            <a:cs typeface="Times New Roman" panose="02020603050405020304" pitchFamily="18" charset="0"/>
          </a:endParaRPr>
        </a:p>
      </dgm:t>
    </dgm:pt>
    <dgm:pt modelId="{E7C19E7F-B6D7-9B4F-85A8-30BA5B557AA1}" type="sibTrans" cxnId="{8876CAE4-C449-3F4B-B455-19998519EA3D}">
      <dgm:prSet/>
      <dgm:spPr/>
      <dgm:t>
        <a:bodyPr/>
        <a:lstStyle/>
        <a:p>
          <a:endParaRPr lang="en-US" sz="2800">
            <a:latin typeface="Times New Roman" panose="02020603050405020304" pitchFamily="18" charset="0"/>
            <a:cs typeface="Times New Roman" panose="02020603050405020304" pitchFamily="18" charset="0"/>
          </a:endParaRPr>
        </a:p>
      </dgm:t>
    </dgm:pt>
    <dgm:pt modelId="{8F183AD0-45B8-3848-9A21-E9E69C57B81D}">
      <dgm:prSet phldrT="[Text]" custT="1"/>
      <dgm:spPr/>
      <dgm:t>
        <a:bodyPr/>
        <a:lstStyle/>
        <a:p>
          <a:pPr rtl="0"/>
          <a:r>
            <a:rPr lang="en-US" sz="2800" dirty="0" err="1">
              <a:latin typeface="Times New Roman" panose="02020603050405020304" pitchFamily="18" charset="0"/>
              <a:cs typeface="Times New Roman" panose="02020603050405020304" pitchFamily="18" charset="0"/>
            </a:rPr>
            <a:t>Consolider</a:t>
          </a:r>
          <a:endParaRPr lang="en-US" sz="2800" dirty="0">
            <a:latin typeface="Times New Roman" panose="02020603050405020304" pitchFamily="18" charset="0"/>
            <a:cs typeface="Times New Roman" panose="02020603050405020304" pitchFamily="18" charset="0"/>
          </a:endParaRPr>
        </a:p>
      </dgm:t>
    </dgm:pt>
    <dgm:pt modelId="{772841B1-D0B5-234C-9A30-3D700802A39B}" type="parTrans" cxnId="{C84E1BAC-D363-4D47-8D3F-6B9196F70461}">
      <dgm:prSet/>
      <dgm:spPr/>
      <dgm:t>
        <a:bodyPr/>
        <a:lstStyle/>
        <a:p>
          <a:endParaRPr lang="en-US" sz="2800">
            <a:latin typeface="Times New Roman" panose="02020603050405020304" pitchFamily="18" charset="0"/>
            <a:cs typeface="Times New Roman" panose="02020603050405020304" pitchFamily="18" charset="0"/>
          </a:endParaRPr>
        </a:p>
      </dgm:t>
    </dgm:pt>
    <dgm:pt modelId="{27B6EA1E-836F-8A49-B55D-0FADF75754B9}" type="sibTrans" cxnId="{C84E1BAC-D363-4D47-8D3F-6B9196F70461}">
      <dgm:prSet/>
      <dgm:spPr/>
      <dgm:t>
        <a:bodyPr/>
        <a:lstStyle/>
        <a:p>
          <a:endParaRPr lang="en-US" sz="2800">
            <a:latin typeface="Times New Roman" panose="02020603050405020304" pitchFamily="18" charset="0"/>
            <a:cs typeface="Times New Roman" panose="02020603050405020304" pitchFamily="18" charset="0"/>
          </a:endParaRPr>
        </a:p>
      </dgm:t>
    </dgm:pt>
    <dgm:pt modelId="{BE13DD23-9892-B540-921A-1753839A0F3A}">
      <dgm:prSet phldrT="[Text]" custT="1"/>
      <dgm:spPr/>
      <dgm:t>
        <a:bodyPr/>
        <a:lstStyle/>
        <a:p>
          <a:r>
            <a:rPr lang="en-US" sz="2800" dirty="0" err="1">
              <a:latin typeface="Times New Roman" panose="02020603050405020304" pitchFamily="18" charset="0"/>
              <a:cs typeface="Times New Roman" panose="02020603050405020304" pitchFamily="18" charset="0"/>
            </a:rPr>
            <a:t>Réforme</a:t>
          </a:r>
          <a:endParaRPr lang="en-US" sz="2800" dirty="0">
            <a:latin typeface="Times New Roman" panose="02020603050405020304" pitchFamily="18" charset="0"/>
            <a:cs typeface="Times New Roman" panose="02020603050405020304" pitchFamily="18" charset="0"/>
          </a:endParaRPr>
        </a:p>
      </dgm:t>
    </dgm:pt>
    <dgm:pt modelId="{5904F960-2940-4A47-89DB-5769CF6A6544}" type="parTrans" cxnId="{EE83C133-7358-2C4E-B1A8-8917CD5D3061}">
      <dgm:prSet/>
      <dgm:spPr/>
      <dgm:t>
        <a:bodyPr/>
        <a:lstStyle/>
        <a:p>
          <a:endParaRPr lang="en-US" sz="2800">
            <a:latin typeface="Times New Roman" panose="02020603050405020304" pitchFamily="18" charset="0"/>
            <a:cs typeface="Times New Roman" panose="02020603050405020304" pitchFamily="18" charset="0"/>
          </a:endParaRPr>
        </a:p>
      </dgm:t>
    </dgm:pt>
    <dgm:pt modelId="{21D0FA1A-39A1-4442-B56B-20B2FC264FCB}" type="sibTrans" cxnId="{EE83C133-7358-2C4E-B1A8-8917CD5D3061}">
      <dgm:prSet/>
      <dgm:spPr/>
      <dgm:t>
        <a:bodyPr/>
        <a:lstStyle/>
        <a:p>
          <a:endParaRPr lang="en-US" sz="2800">
            <a:latin typeface="Times New Roman" panose="02020603050405020304" pitchFamily="18" charset="0"/>
            <a:cs typeface="Times New Roman" panose="02020603050405020304" pitchFamily="18" charset="0"/>
          </a:endParaRPr>
        </a:p>
      </dgm:t>
    </dgm:pt>
    <dgm:pt modelId="{B3F13462-82C6-6B41-8E8B-56C10D2CF363}" type="pres">
      <dgm:prSet presAssocID="{E8F737CE-5EE5-8740-B811-AED65898BA4A}" presName="hierChild1" presStyleCnt="0">
        <dgm:presLayoutVars>
          <dgm:orgChart val="1"/>
          <dgm:chPref val="1"/>
          <dgm:dir/>
          <dgm:animOne val="branch"/>
          <dgm:animLvl val="lvl"/>
          <dgm:resizeHandles/>
        </dgm:presLayoutVars>
      </dgm:prSet>
      <dgm:spPr/>
      <dgm:t>
        <a:bodyPr/>
        <a:lstStyle/>
        <a:p>
          <a:endParaRPr lang="fr-FR"/>
        </a:p>
      </dgm:t>
    </dgm:pt>
    <dgm:pt modelId="{A49AD75D-27AA-654E-98D1-85EFA65065CB}" type="pres">
      <dgm:prSet presAssocID="{19E02CD7-4847-AF4F-BC84-24E095C40B49}" presName="hierRoot1" presStyleCnt="0">
        <dgm:presLayoutVars>
          <dgm:hierBranch val="init"/>
        </dgm:presLayoutVars>
      </dgm:prSet>
      <dgm:spPr/>
    </dgm:pt>
    <dgm:pt modelId="{FC11014B-A99F-2944-B220-A28FA31EC84B}" type="pres">
      <dgm:prSet presAssocID="{19E02CD7-4847-AF4F-BC84-24E095C40B49}" presName="rootComposite1" presStyleCnt="0"/>
      <dgm:spPr/>
    </dgm:pt>
    <dgm:pt modelId="{584B3F03-6FA8-5F4F-A456-FE36B76018EA}" type="pres">
      <dgm:prSet presAssocID="{19E02CD7-4847-AF4F-BC84-24E095C40B49}" presName="rootText1" presStyleLbl="node0" presStyleIdx="0" presStyleCnt="1" custScaleX="178181">
        <dgm:presLayoutVars>
          <dgm:chPref val="3"/>
        </dgm:presLayoutVars>
      </dgm:prSet>
      <dgm:spPr/>
      <dgm:t>
        <a:bodyPr/>
        <a:lstStyle/>
        <a:p>
          <a:endParaRPr lang="fr-FR"/>
        </a:p>
      </dgm:t>
    </dgm:pt>
    <dgm:pt modelId="{430DB3A8-3A95-044B-8D5D-74838F97B07A}" type="pres">
      <dgm:prSet presAssocID="{19E02CD7-4847-AF4F-BC84-24E095C40B49}" presName="rootConnector1" presStyleLbl="node1" presStyleIdx="0" presStyleCnt="0"/>
      <dgm:spPr/>
      <dgm:t>
        <a:bodyPr/>
        <a:lstStyle/>
        <a:p>
          <a:endParaRPr lang="fr-FR"/>
        </a:p>
      </dgm:t>
    </dgm:pt>
    <dgm:pt modelId="{B4B76E05-C467-4849-8B06-7AA37B0B22D7}" type="pres">
      <dgm:prSet presAssocID="{19E02CD7-4847-AF4F-BC84-24E095C40B49}" presName="hierChild2" presStyleCnt="0"/>
      <dgm:spPr/>
    </dgm:pt>
    <dgm:pt modelId="{62956A38-E1C9-744F-87FD-79DFF8C3B8AD}" type="pres">
      <dgm:prSet presAssocID="{772841B1-D0B5-234C-9A30-3D700802A39B}" presName="Name37" presStyleLbl="parChTrans1D2" presStyleIdx="0" presStyleCnt="2"/>
      <dgm:spPr/>
      <dgm:t>
        <a:bodyPr/>
        <a:lstStyle/>
        <a:p>
          <a:endParaRPr lang="fr-FR"/>
        </a:p>
      </dgm:t>
    </dgm:pt>
    <dgm:pt modelId="{DD5D6720-864A-CB49-BBAC-6C4B0B7A5BFF}" type="pres">
      <dgm:prSet presAssocID="{8F183AD0-45B8-3848-9A21-E9E69C57B81D}" presName="hierRoot2" presStyleCnt="0">
        <dgm:presLayoutVars>
          <dgm:hierBranch val="init"/>
        </dgm:presLayoutVars>
      </dgm:prSet>
      <dgm:spPr/>
    </dgm:pt>
    <dgm:pt modelId="{C0D4D46F-900C-1144-9566-B1A4AC5E80DE}" type="pres">
      <dgm:prSet presAssocID="{8F183AD0-45B8-3848-9A21-E9E69C57B81D}" presName="rootComposite" presStyleCnt="0"/>
      <dgm:spPr/>
    </dgm:pt>
    <dgm:pt modelId="{C58B083C-C30A-6547-B365-3A2394ADD903}" type="pres">
      <dgm:prSet presAssocID="{8F183AD0-45B8-3848-9A21-E9E69C57B81D}" presName="rootText" presStyleLbl="node2" presStyleIdx="0" presStyleCnt="2">
        <dgm:presLayoutVars>
          <dgm:chPref val="3"/>
        </dgm:presLayoutVars>
      </dgm:prSet>
      <dgm:spPr/>
      <dgm:t>
        <a:bodyPr/>
        <a:lstStyle/>
        <a:p>
          <a:endParaRPr lang="fr-FR"/>
        </a:p>
      </dgm:t>
    </dgm:pt>
    <dgm:pt modelId="{D7838691-9163-E245-9E93-EA516EF29990}" type="pres">
      <dgm:prSet presAssocID="{8F183AD0-45B8-3848-9A21-E9E69C57B81D}" presName="rootConnector" presStyleLbl="node2" presStyleIdx="0" presStyleCnt="2"/>
      <dgm:spPr/>
      <dgm:t>
        <a:bodyPr/>
        <a:lstStyle/>
        <a:p>
          <a:endParaRPr lang="fr-FR"/>
        </a:p>
      </dgm:t>
    </dgm:pt>
    <dgm:pt modelId="{0487733D-C92C-7347-846A-1A585E2D5D1D}" type="pres">
      <dgm:prSet presAssocID="{8F183AD0-45B8-3848-9A21-E9E69C57B81D}" presName="hierChild4" presStyleCnt="0"/>
      <dgm:spPr/>
    </dgm:pt>
    <dgm:pt modelId="{5C0D13E7-CFA0-B74F-A862-C77F3E28AF65}" type="pres">
      <dgm:prSet presAssocID="{8F183AD0-45B8-3848-9A21-E9E69C57B81D}" presName="hierChild5" presStyleCnt="0"/>
      <dgm:spPr/>
    </dgm:pt>
    <dgm:pt modelId="{D5230F24-F966-9343-8BC8-5A3DABF7D9C2}" type="pres">
      <dgm:prSet presAssocID="{5904F960-2940-4A47-89DB-5769CF6A6544}" presName="Name37" presStyleLbl="parChTrans1D2" presStyleIdx="1" presStyleCnt="2"/>
      <dgm:spPr/>
      <dgm:t>
        <a:bodyPr/>
        <a:lstStyle/>
        <a:p>
          <a:endParaRPr lang="fr-FR"/>
        </a:p>
      </dgm:t>
    </dgm:pt>
    <dgm:pt modelId="{8477A36B-8B74-E241-88FD-3A657E212FD2}" type="pres">
      <dgm:prSet presAssocID="{BE13DD23-9892-B540-921A-1753839A0F3A}" presName="hierRoot2" presStyleCnt="0">
        <dgm:presLayoutVars>
          <dgm:hierBranch val="init"/>
        </dgm:presLayoutVars>
      </dgm:prSet>
      <dgm:spPr/>
    </dgm:pt>
    <dgm:pt modelId="{1763B45A-AD57-AE4B-98BF-9F08AE9C6435}" type="pres">
      <dgm:prSet presAssocID="{BE13DD23-9892-B540-921A-1753839A0F3A}" presName="rootComposite" presStyleCnt="0"/>
      <dgm:spPr/>
    </dgm:pt>
    <dgm:pt modelId="{43EA3744-62A5-CB42-9E82-450FB7545FD3}" type="pres">
      <dgm:prSet presAssocID="{BE13DD23-9892-B540-921A-1753839A0F3A}" presName="rootText" presStyleLbl="node2" presStyleIdx="1" presStyleCnt="2">
        <dgm:presLayoutVars>
          <dgm:chPref val="3"/>
        </dgm:presLayoutVars>
      </dgm:prSet>
      <dgm:spPr/>
      <dgm:t>
        <a:bodyPr/>
        <a:lstStyle/>
        <a:p>
          <a:endParaRPr lang="fr-FR"/>
        </a:p>
      </dgm:t>
    </dgm:pt>
    <dgm:pt modelId="{8BB82CEF-0431-9C4E-9F34-516069CD2564}" type="pres">
      <dgm:prSet presAssocID="{BE13DD23-9892-B540-921A-1753839A0F3A}" presName="rootConnector" presStyleLbl="node2" presStyleIdx="1" presStyleCnt="2"/>
      <dgm:spPr/>
      <dgm:t>
        <a:bodyPr/>
        <a:lstStyle/>
        <a:p>
          <a:endParaRPr lang="fr-FR"/>
        </a:p>
      </dgm:t>
    </dgm:pt>
    <dgm:pt modelId="{2B40351F-EDB3-5A43-949A-FCDBAD95F739}" type="pres">
      <dgm:prSet presAssocID="{BE13DD23-9892-B540-921A-1753839A0F3A}" presName="hierChild4" presStyleCnt="0"/>
      <dgm:spPr/>
    </dgm:pt>
    <dgm:pt modelId="{65E4BAF1-807B-0F46-96C2-7513D352875E}" type="pres">
      <dgm:prSet presAssocID="{BE13DD23-9892-B540-921A-1753839A0F3A}" presName="hierChild5" presStyleCnt="0"/>
      <dgm:spPr/>
    </dgm:pt>
    <dgm:pt modelId="{F41A7DBF-89EA-DB48-B72F-3625B654CAA1}" type="pres">
      <dgm:prSet presAssocID="{19E02CD7-4847-AF4F-BC84-24E095C40B49}" presName="hierChild3" presStyleCnt="0"/>
      <dgm:spPr/>
    </dgm:pt>
  </dgm:ptLst>
  <dgm:cxnLst>
    <dgm:cxn modelId="{C84E1BAC-D363-4D47-8D3F-6B9196F70461}" srcId="{19E02CD7-4847-AF4F-BC84-24E095C40B49}" destId="{8F183AD0-45B8-3848-9A21-E9E69C57B81D}" srcOrd="0" destOrd="0" parTransId="{772841B1-D0B5-234C-9A30-3D700802A39B}" sibTransId="{27B6EA1E-836F-8A49-B55D-0FADF75754B9}"/>
    <dgm:cxn modelId="{81B0C93C-80B9-4C50-B297-096229D1680D}" type="presOf" srcId="{19E02CD7-4847-AF4F-BC84-24E095C40B49}" destId="{584B3F03-6FA8-5F4F-A456-FE36B76018EA}" srcOrd="0" destOrd="0" presId="urn:microsoft.com/office/officeart/2005/8/layout/orgChart1"/>
    <dgm:cxn modelId="{DEF84403-F419-4E7F-A880-76E4FF2AB0DB}" type="presOf" srcId="{8F183AD0-45B8-3848-9A21-E9E69C57B81D}" destId="{D7838691-9163-E245-9E93-EA516EF29990}" srcOrd="1" destOrd="0" presId="urn:microsoft.com/office/officeart/2005/8/layout/orgChart1"/>
    <dgm:cxn modelId="{F3C8E3B1-32E8-47AA-B8CD-A23CBF9DDB69}" type="presOf" srcId="{5904F960-2940-4A47-89DB-5769CF6A6544}" destId="{D5230F24-F966-9343-8BC8-5A3DABF7D9C2}" srcOrd="0" destOrd="0" presId="urn:microsoft.com/office/officeart/2005/8/layout/orgChart1"/>
    <dgm:cxn modelId="{30C9F89E-1B0F-4599-9C28-5507FF593D70}" type="presOf" srcId="{BE13DD23-9892-B540-921A-1753839A0F3A}" destId="{43EA3744-62A5-CB42-9E82-450FB7545FD3}" srcOrd="0" destOrd="0" presId="urn:microsoft.com/office/officeart/2005/8/layout/orgChart1"/>
    <dgm:cxn modelId="{644CE908-69EF-4967-8FC1-CD09DEE2BE27}" type="presOf" srcId="{8F183AD0-45B8-3848-9A21-E9E69C57B81D}" destId="{C58B083C-C30A-6547-B365-3A2394ADD903}" srcOrd="0" destOrd="0" presId="urn:microsoft.com/office/officeart/2005/8/layout/orgChart1"/>
    <dgm:cxn modelId="{24C64D70-958D-492C-913B-0E336B819ABE}" type="presOf" srcId="{19E02CD7-4847-AF4F-BC84-24E095C40B49}" destId="{430DB3A8-3A95-044B-8D5D-74838F97B07A}" srcOrd="1" destOrd="0" presId="urn:microsoft.com/office/officeart/2005/8/layout/orgChart1"/>
    <dgm:cxn modelId="{EE83C133-7358-2C4E-B1A8-8917CD5D3061}" srcId="{19E02CD7-4847-AF4F-BC84-24E095C40B49}" destId="{BE13DD23-9892-B540-921A-1753839A0F3A}" srcOrd="1" destOrd="0" parTransId="{5904F960-2940-4A47-89DB-5769CF6A6544}" sibTransId="{21D0FA1A-39A1-4442-B56B-20B2FC264FCB}"/>
    <dgm:cxn modelId="{8876CAE4-C449-3F4B-B455-19998519EA3D}" srcId="{E8F737CE-5EE5-8740-B811-AED65898BA4A}" destId="{19E02CD7-4847-AF4F-BC84-24E095C40B49}" srcOrd="0" destOrd="0" parTransId="{BF8C4D35-9632-354C-A9EF-ECC993F9363A}" sibTransId="{E7C19E7F-B6D7-9B4F-85A8-30BA5B557AA1}"/>
    <dgm:cxn modelId="{10E94FF4-CD4A-4B12-827E-2C6475168F1B}" type="presOf" srcId="{BE13DD23-9892-B540-921A-1753839A0F3A}" destId="{8BB82CEF-0431-9C4E-9F34-516069CD2564}" srcOrd="1" destOrd="0" presId="urn:microsoft.com/office/officeart/2005/8/layout/orgChart1"/>
    <dgm:cxn modelId="{80D276EF-6B20-446D-B724-DBCE5C7ED7D1}" type="presOf" srcId="{E8F737CE-5EE5-8740-B811-AED65898BA4A}" destId="{B3F13462-82C6-6B41-8E8B-56C10D2CF363}" srcOrd="0" destOrd="0" presId="urn:microsoft.com/office/officeart/2005/8/layout/orgChart1"/>
    <dgm:cxn modelId="{92E89970-CA4C-44A5-A86F-C853DB36ECAE}" type="presOf" srcId="{772841B1-D0B5-234C-9A30-3D700802A39B}" destId="{62956A38-E1C9-744F-87FD-79DFF8C3B8AD}" srcOrd="0" destOrd="0" presId="urn:microsoft.com/office/officeart/2005/8/layout/orgChart1"/>
    <dgm:cxn modelId="{3FD31D21-77CF-4D70-AE42-FD58B516519C}" type="presParOf" srcId="{B3F13462-82C6-6B41-8E8B-56C10D2CF363}" destId="{A49AD75D-27AA-654E-98D1-85EFA65065CB}" srcOrd="0" destOrd="0" presId="urn:microsoft.com/office/officeart/2005/8/layout/orgChart1"/>
    <dgm:cxn modelId="{96A07234-87CF-4B4E-B4D3-7D510CB674E8}" type="presParOf" srcId="{A49AD75D-27AA-654E-98D1-85EFA65065CB}" destId="{FC11014B-A99F-2944-B220-A28FA31EC84B}" srcOrd="0" destOrd="0" presId="urn:microsoft.com/office/officeart/2005/8/layout/orgChart1"/>
    <dgm:cxn modelId="{EEA8A9FD-B250-41F6-9B0F-D4D2BA3D465D}" type="presParOf" srcId="{FC11014B-A99F-2944-B220-A28FA31EC84B}" destId="{584B3F03-6FA8-5F4F-A456-FE36B76018EA}" srcOrd="0" destOrd="0" presId="urn:microsoft.com/office/officeart/2005/8/layout/orgChart1"/>
    <dgm:cxn modelId="{21EDC33F-92A8-4F14-BDF4-01BF71C0419D}" type="presParOf" srcId="{FC11014B-A99F-2944-B220-A28FA31EC84B}" destId="{430DB3A8-3A95-044B-8D5D-74838F97B07A}" srcOrd="1" destOrd="0" presId="urn:microsoft.com/office/officeart/2005/8/layout/orgChart1"/>
    <dgm:cxn modelId="{ACEABF4F-F8DC-4F65-BDA9-C2EC6EAC2745}" type="presParOf" srcId="{A49AD75D-27AA-654E-98D1-85EFA65065CB}" destId="{B4B76E05-C467-4849-8B06-7AA37B0B22D7}" srcOrd="1" destOrd="0" presId="urn:microsoft.com/office/officeart/2005/8/layout/orgChart1"/>
    <dgm:cxn modelId="{47FFFA86-D7EC-4703-AE98-58D0C9FEA5BB}" type="presParOf" srcId="{B4B76E05-C467-4849-8B06-7AA37B0B22D7}" destId="{62956A38-E1C9-744F-87FD-79DFF8C3B8AD}" srcOrd="0" destOrd="0" presId="urn:microsoft.com/office/officeart/2005/8/layout/orgChart1"/>
    <dgm:cxn modelId="{8BA8EBAE-B970-4BB4-9856-595FC7B13E23}" type="presParOf" srcId="{B4B76E05-C467-4849-8B06-7AA37B0B22D7}" destId="{DD5D6720-864A-CB49-BBAC-6C4B0B7A5BFF}" srcOrd="1" destOrd="0" presId="urn:microsoft.com/office/officeart/2005/8/layout/orgChart1"/>
    <dgm:cxn modelId="{3535AC3A-FC9A-4D1B-9A8B-46EF9D115C91}" type="presParOf" srcId="{DD5D6720-864A-CB49-BBAC-6C4B0B7A5BFF}" destId="{C0D4D46F-900C-1144-9566-B1A4AC5E80DE}" srcOrd="0" destOrd="0" presId="urn:microsoft.com/office/officeart/2005/8/layout/orgChart1"/>
    <dgm:cxn modelId="{2394A6F0-4F04-4AB9-9380-BE4F6956BCCB}" type="presParOf" srcId="{C0D4D46F-900C-1144-9566-B1A4AC5E80DE}" destId="{C58B083C-C30A-6547-B365-3A2394ADD903}" srcOrd="0" destOrd="0" presId="urn:microsoft.com/office/officeart/2005/8/layout/orgChart1"/>
    <dgm:cxn modelId="{4B0D30A6-F69D-4A14-93A9-298AF1B4674B}" type="presParOf" srcId="{C0D4D46F-900C-1144-9566-B1A4AC5E80DE}" destId="{D7838691-9163-E245-9E93-EA516EF29990}" srcOrd="1" destOrd="0" presId="urn:microsoft.com/office/officeart/2005/8/layout/orgChart1"/>
    <dgm:cxn modelId="{6C12E539-645B-4833-9A22-9A9FC0F1DC03}" type="presParOf" srcId="{DD5D6720-864A-CB49-BBAC-6C4B0B7A5BFF}" destId="{0487733D-C92C-7347-846A-1A585E2D5D1D}" srcOrd="1" destOrd="0" presId="urn:microsoft.com/office/officeart/2005/8/layout/orgChart1"/>
    <dgm:cxn modelId="{C3AB216A-CF5F-40BE-ABC1-3F2E16017366}" type="presParOf" srcId="{DD5D6720-864A-CB49-BBAC-6C4B0B7A5BFF}" destId="{5C0D13E7-CFA0-B74F-A862-C77F3E28AF65}" srcOrd="2" destOrd="0" presId="urn:microsoft.com/office/officeart/2005/8/layout/orgChart1"/>
    <dgm:cxn modelId="{FF11A235-E61A-47BF-B0BA-61677D35F84F}" type="presParOf" srcId="{B4B76E05-C467-4849-8B06-7AA37B0B22D7}" destId="{D5230F24-F966-9343-8BC8-5A3DABF7D9C2}" srcOrd="2" destOrd="0" presId="urn:microsoft.com/office/officeart/2005/8/layout/orgChart1"/>
    <dgm:cxn modelId="{FF84A8EC-E477-49ED-B5CD-ED0037402AB5}" type="presParOf" srcId="{B4B76E05-C467-4849-8B06-7AA37B0B22D7}" destId="{8477A36B-8B74-E241-88FD-3A657E212FD2}" srcOrd="3" destOrd="0" presId="urn:microsoft.com/office/officeart/2005/8/layout/orgChart1"/>
    <dgm:cxn modelId="{FA766673-56FD-4525-A846-2238365C3469}" type="presParOf" srcId="{8477A36B-8B74-E241-88FD-3A657E212FD2}" destId="{1763B45A-AD57-AE4B-98BF-9F08AE9C6435}" srcOrd="0" destOrd="0" presId="urn:microsoft.com/office/officeart/2005/8/layout/orgChart1"/>
    <dgm:cxn modelId="{BE207937-19DA-4670-9F2D-E23E13FAAFE2}" type="presParOf" srcId="{1763B45A-AD57-AE4B-98BF-9F08AE9C6435}" destId="{43EA3744-62A5-CB42-9E82-450FB7545FD3}" srcOrd="0" destOrd="0" presId="urn:microsoft.com/office/officeart/2005/8/layout/orgChart1"/>
    <dgm:cxn modelId="{4B33EDB2-0CAD-474F-B5C3-A6AED1A49BE3}" type="presParOf" srcId="{1763B45A-AD57-AE4B-98BF-9F08AE9C6435}" destId="{8BB82CEF-0431-9C4E-9F34-516069CD2564}" srcOrd="1" destOrd="0" presId="urn:microsoft.com/office/officeart/2005/8/layout/orgChart1"/>
    <dgm:cxn modelId="{047A8458-782E-4440-B515-E31F71696564}" type="presParOf" srcId="{8477A36B-8B74-E241-88FD-3A657E212FD2}" destId="{2B40351F-EDB3-5A43-949A-FCDBAD95F739}" srcOrd="1" destOrd="0" presId="urn:microsoft.com/office/officeart/2005/8/layout/orgChart1"/>
    <dgm:cxn modelId="{30A0CFDF-E67B-44CA-BA65-43F1ADC94729}" type="presParOf" srcId="{8477A36B-8B74-E241-88FD-3A657E212FD2}" destId="{65E4BAF1-807B-0F46-96C2-7513D352875E}" srcOrd="2" destOrd="0" presId="urn:microsoft.com/office/officeart/2005/8/layout/orgChart1"/>
    <dgm:cxn modelId="{25BE1246-5968-4710-ACEE-B24503EDFDC6}" type="presParOf" srcId="{A49AD75D-27AA-654E-98D1-85EFA65065CB}" destId="{F41A7DBF-89EA-DB48-B72F-3625B654CAA1}"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F5E6377-DC70-4241-89D7-10F3A1656EB6}" type="doc">
      <dgm:prSet loTypeId="urn:microsoft.com/office/officeart/2005/8/layout/default#176" loCatId="" qsTypeId="urn:microsoft.com/office/officeart/2005/8/quickstyle/simple1" qsCatId="simple" csTypeId="urn:microsoft.com/office/officeart/2005/8/colors/colorful4" csCatId="colorful" phldr="1"/>
      <dgm:spPr/>
      <dgm:t>
        <a:bodyPr/>
        <a:lstStyle/>
        <a:p>
          <a:endParaRPr lang="en-US"/>
        </a:p>
      </dgm:t>
    </dgm:pt>
    <dgm:pt modelId="{5DF9B4EF-BF41-6247-BCD2-041ECDFAA93D}">
      <dgm:prSet phldrT="[Text]"/>
      <dgm:spPr/>
      <dgm:t>
        <a:bodyPr/>
        <a:lstStyle/>
        <a:p>
          <a:r>
            <a:rPr lang="fr-FR" noProof="0" dirty="0" err="1"/>
            <a:t>Deduplication</a:t>
          </a:r>
          <a:endParaRPr lang="fr-FR" noProof="0" dirty="0"/>
        </a:p>
      </dgm:t>
    </dgm:pt>
    <dgm:pt modelId="{4CF4C42A-D49E-1147-9862-9896AC16C1F7}" type="parTrans" cxnId="{A0F6B023-B3AE-FF42-B67D-D14C62B4BAF3}">
      <dgm:prSet/>
      <dgm:spPr/>
      <dgm:t>
        <a:bodyPr/>
        <a:lstStyle/>
        <a:p>
          <a:endParaRPr lang="fr-FR" noProof="0" dirty="0"/>
        </a:p>
      </dgm:t>
    </dgm:pt>
    <dgm:pt modelId="{3A63A39C-F37F-814E-8237-E1FC34A30C85}" type="sibTrans" cxnId="{A0F6B023-B3AE-FF42-B67D-D14C62B4BAF3}">
      <dgm:prSet/>
      <dgm:spPr/>
      <dgm:t>
        <a:bodyPr/>
        <a:lstStyle/>
        <a:p>
          <a:endParaRPr lang="fr-FR" noProof="0" dirty="0"/>
        </a:p>
      </dgm:t>
    </dgm:pt>
    <dgm:pt modelId="{0D46520A-F876-D54F-95C5-E746768ADEFC}">
      <dgm:prSet phldrT="[Text]"/>
      <dgm:spPr/>
      <dgm:t>
        <a:bodyPr/>
        <a:lstStyle/>
        <a:p>
          <a:r>
            <a:rPr lang="fr-FR" noProof="0" dirty="0"/>
            <a:t>Filtrage de lignes</a:t>
          </a:r>
        </a:p>
      </dgm:t>
    </dgm:pt>
    <dgm:pt modelId="{D383C27B-F24E-EA44-B1D3-87C4FBE17902}" type="parTrans" cxnId="{0E7318B7-D420-9641-B444-92F5B4CA5D4A}">
      <dgm:prSet/>
      <dgm:spPr/>
      <dgm:t>
        <a:bodyPr/>
        <a:lstStyle/>
        <a:p>
          <a:endParaRPr lang="fr-FR" noProof="0" dirty="0"/>
        </a:p>
      </dgm:t>
    </dgm:pt>
    <dgm:pt modelId="{DD008A93-38B1-2140-ABF8-79B73FDDCB36}" type="sibTrans" cxnId="{0E7318B7-D420-9641-B444-92F5B4CA5D4A}">
      <dgm:prSet/>
      <dgm:spPr/>
      <dgm:t>
        <a:bodyPr/>
        <a:lstStyle/>
        <a:p>
          <a:endParaRPr lang="fr-FR" noProof="0" dirty="0"/>
        </a:p>
      </dgm:t>
    </dgm:pt>
    <dgm:pt modelId="{C6B5D842-564E-FB4B-9FE0-E7E325C820D4}">
      <dgm:prSet phldrT="[Text]"/>
      <dgm:spPr/>
      <dgm:t>
        <a:bodyPr/>
        <a:lstStyle/>
        <a:p>
          <a:r>
            <a:rPr lang="fr-FR" noProof="0" dirty="0" err="1"/>
            <a:t>Cleaning</a:t>
          </a:r>
          <a:r>
            <a:rPr lang="fr-FR" noProof="0" dirty="0"/>
            <a:t> &amp; </a:t>
          </a:r>
          <a:r>
            <a:rPr lang="fr-FR" noProof="0" dirty="0" err="1"/>
            <a:t>Mapping</a:t>
          </a:r>
          <a:endParaRPr lang="fr-FR" noProof="0" dirty="0"/>
        </a:p>
      </dgm:t>
    </dgm:pt>
    <dgm:pt modelId="{EAF5C1DD-78B2-7D4B-9CBB-F4B5A6F4C699}" type="parTrans" cxnId="{A3F92F5C-3284-FB44-BA60-1C0B3A254F4C}">
      <dgm:prSet/>
      <dgm:spPr/>
      <dgm:t>
        <a:bodyPr/>
        <a:lstStyle/>
        <a:p>
          <a:endParaRPr lang="fr-FR" noProof="0" dirty="0"/>
        </a:p>
      </dgm:t>
    </dgm:pt>
    <dgm:pt modelId="{95A40E67-968C-274F-827A-82F356EA8A3E}" type="sibTrans" cxnId="{A3F92F5C-3284-FB44-BA60-1C0B3A254F4C}">
      <dgm:prSet/>
      <dgm:spPr/>
      <dgm:t>
        <a:bodyPr/>
        <a:lstStyle/>
        <a:p>
          <a:endParaRPr lang="fr-FR" noProof="0" dirty="0"/>
        </a:p>
      </dgm:t>
    </dgm:pt>
    <dgm:pt modelId="{9A1728FC-2D60-3941-A379-82853AB9E3A2}">
      <dgm:prSet phldrT="[Text]"/>
      <dgm:spPr/>
      <dgm:t>
        <a:bodyPr/>
        <a:lstStyle/>
        <a:p>
          <a:r>
            <a:rPr lang="fr-FR" noProof="0" dirty="0"/>
            <a:t>Standardisation</a:t>
          </a:r>
        </a:p>
      </dgm:t>
    </dgm:pt>
    <dgm:pt modelId="{659D4785-7E50-FE4B-91E7-DFF9F80A4168}" type="parTrans" cxnId="{7C659148-69C1-F747-AD98-809DAA8D291B}">
      <dgm:prSet/>
      <dgm:spPr/>
      <dgm:t>
        <a:bodyPr/>
        <a:lstStyle/>
        <a:p>
          <a:endParaRPr lang="fr-FR" noProof="0" dirty="0"/>
        </a:p>
      </dgm:t>
    </dgm:pt>
    <dgm:pt modelId="{6B8BA3CE-9F0A-614B-A0CD-2237E706F8EB}" type="sibTrans" cxnId="{7C659148-69C1-F747-AD98-809DAA8D291B}">
      <dgm:prSet/>
      <dgm:spPr/>
      <dgm:t>
        <a:bodyPr/>
        <a:lstStyle/>
        <a:p>
          <a:endParaRPr lang="fr-FR" noProof="0" dirty="0"/>
        </a:p>
      </dgm:t>
    </dgm:pt>
    <dgm:pt modelId="{1ED977A8-341E-0C4A-99A1-E037C879CA8D}">
      <dgm:prSet phldrT="[Text]"/>
      <dgm:spPr/>
      <dgm:t>
        <a:bodyPr/>
        <a:lstStyle/>
        <a:p>
          <a:r>
            <a:rPr lang="fr-FR" noProof="0" dirty="0"/>
            <a:t>Génération de clé</a:t>
          </a:r>
        </a:p>
      </dgm:t>
    </dgm:pt>
    <dgm:pt modelId="{31696F0C-6404-AA40-926E-332CEF85030F}" type="parTrans" cxnId="{5D9C3A03-2EEA-FD42-BC69-06BADDBCEFB8}">
      <dgm:prSet/>
      <dgm:spPr/>
      <dgm:t>
        <a:bodyPr/>
        <a:lstStyle/>
        <a:p>
          <a:endParaRPr lang="fr-FR" noProof="0" dirty="0"/>
        </a:p>
      </dgm:t>
    </dgm:pt>
    <dgm:pt modelId="{625A7998-1522-7841-8952-1F505BDF1E3C}" type="sibTrans" cxnId="{5D9C3A03-2EEA-FD42-BC69-06BADDBCEFB8}">
      <dgm:prSet/>
      <dgm:spPr/>
      <dgm:t>
        <a:bodyPr/>
        <a:lstStyle/>
        <a:p>
          <a:endParaRPr lang="fr-FR" noProof="0" dirty="0"/>
        </a:p>
      </dgm:t>
    </dgm:pt>
    <dgm:pt modelId="{9D2507BD-0853-F240-92B8-6BF6A184C900}" type="pres">
      <dgm:prSet presAssocID="{9F5E6377-DC70-4241-89D7-10F3A1656EB6}" presName="diagram" presStyleCnt="0">
        <dgm:presLayoutVars>
          <dgm:dir/>
          <dgm:resizeHandles val="exact"/>
        </dgm:presLayoutVars>
      </dgm:prSet>
      <dgm:spPr/>
      <dgm:t>
        <a:bodyPr/>
        <a:lstStyle/>
        <a:p>
          <a:endParaRPr lang="fr-FR"/>
        </a:p>
      </dgm:t>
    </dgm:pt>
    <dgm:pt modelId="{BAF16EE7-AE26-794F-A4D2-898286302135}" type="pres">
      <dgm:prSet presAssocID="{5DF9B4EF-BF41-6247-BCD2-041ECDFAA93D}" presName="node" presStyleLbl="node1" presStyleIdx="0" presStyleCnt="5">
        <dgm:presLayoutVars>
          <dgm:bulletEnabled val="1"/>
        </dgm:presLayoutVars>
      </dgm:prSet>
      <dgm:spPr/>
      <dgm:t>
        <a:bodyPr/>
        <a:lstStyle/>
        <a:p>
          <a:endParaRPr lang="fr-FR"/>
        </a:p>
      </dgm:t>
    </dgm:pt>
    <dgm:pt modelId="{4F474E64-0376-F549-9E9F-634BA3E984D3}" type="pres">
      <dgm:prSet presAssocID="{3A63A39C-F37F-814E-8237-E1FC34A30C85}" presName="sibTrans" presStyleCnt="0"/>
      <dgm:spPr/>
    </dgm:pt>
    <dgm:pt modelId="{07F202B9-CFA6-D84F-8D50-83B670E4CA8A}" type="pres">
      <dgm:prSet presAssocID="{0D46520A-F876-D54F-95C5-E746768ADEFC}" presName="node" presStyleLbl="node1" presStyleIdx="1" presStyleCnt="5">
        <dgm:presLayoutVars>
          <dgm:bulletEnabled val="1"/>
        </dgm:presLayoutVars>
      </dgm:prSet>
      <dgm:spPr/>
      <dgm:t>
        <a:bodyPr/>
        <a:lstStyle/>
        <a:p>
          <a:endParaRPr lang="fr-FR"/>
        </a:p>
      </dgm:t>
    </dgm:pt>
    <dgm:pt modelId="{F6F7E164-22A8-FC40-8CB2-66061B05C7AF}" type="pres">
      <dgm:prSet presAssocID="{DD008A93-38B1-2140-ABF8-79B73FDDCB36}" presName="sibTrans" presStyleCnt="0"/>
      <dgm:spPr/>
    </dgm:pt>
    <dgm:pt modelId="{5A68A6CD-1028-8B45-A2A0-09F38023699E}" type="pres">
      <dgm:prSet presAssocID="{C6B5D842-564E-FB4B-9FE0-E7E325C820D4}" presName="node" presStyleLbl="node1" presStyleIdx="2" presStyleCnt="5">
        <dgm:presLayoutVars>
          <dgm:bulletEnabled val="1"/>
        </dgm:presLayoutVars>
      </dgm:prSet>
      <dgm:spPr/>
      <dgm:t>
        <a:bodyPr/>
        <a:lstStyle/>
        <a:p>
          <a:endParaRPr lang="fr-FR"/>
        </a:p>
      </dgm:t>
    </dgm:pt>
    <dgm:pt modelId="{A86A0756-EF23-E74F-9BE3-A8238DE7C6BC}" type="pres">
      <dgm:prSet presAssocID="{95A40E67-968C-274F-827A-82F356EA8A3E}" presName="sibTrans" presStyleCnt="0"/>
      <dgm:spPr/>
    </dgm:pt>
    <dgm:pt modelId="{24BB29A1-52CE-CC42-A02C-17560EE086A6}" type="pres">
      <dgm:prSet presAssocID="{9A1728FC-2D60-3941-A379-82853AB9E3A2}" presName="node" presStyleLbl="node1" presStyleIdx="3" presStyleCnt="5">
        <dgm:presLayoutVars>
          <dgm:bulletEnabled val="1"/>
        </dgm:presLayoutVars>
      </dgm:prSet>
      <dgm:spPr/>
      <dgm:t>
        <a:bodyPr/>
        <a:lstStyle/>
        <a:p>
          <a:endParaRPr lang="fr-FR"/>
        </a:p>
      </dgm:t>
    </dgm:pt>
    <dgm:pt modelId="{CEFE1C44-A1E9-1349-924F-6F2582F3D503}" type="pres">
      <dgm:prSet presAssocID="{6B8BA3CE-9F0A-614B-A0CD-2237E706F8EB}" presName="sibTrans" presStyleCnt="0"/>
      <dgm:spPr/>
    </dgm:pt>
    <dgm:pt modelId="{1650C8EC-7548-F344-BCE9-59227A9A754B}" type="pres">
      <dgm:prSet presAssocID="{1ED977A8-341E-0C4A-99A1-E037C879CA8D}" presName="node" presStyleLbl="node1" presStyleIdx="4" presStyleCnt="5">
        <dgm:presLayoutVars>
          <dgm:bulletEnabled val="1"/>
        </dgm:presLayoutVars>
      </dgm:prSet>
      <dgm:spPr/>
      <dgm:t>
        <a:bodyPr/>
        <a:lstStyle/>
        <a:p>
          <a:endParaRPr lang="fr-FR"/>
        </a:p>
      </dgm:t>
    </dgm:pt>
  </dgm:ptLst>
  <dgm:cxnLst>
    <dgm:cxn modelId="{7C659148-69C1-F747-AD98-809DAA8D291B}" srcId="{9F5E6377-DC70-4241-89D7-10F3A1656EB6}" destId="{9A1728FC-2D60-3941-A379-82853AB9E3A2}" srcOrd="3" destOrd="0" parTransId="{659D4785-7E50-FE4B-91E7-DFF9F80A4168}" sibTransId="{6B8BA3CE-9F0A-614B-A0CD-2237E706F8EB}"/>
    <dgm:cxn modelId="{92B27EB5-9A45-46B2-836F-5C8EA7C5F1A4}" type="presOf" srcId="{1ED977A8-341E-0C4A-99A1-E037C879CA8D}" destId="{1650C8EC-7548-F344-BCE9-59227A9A754B}" srcOrd="0" destOrd="0" presId="urn:microsoft.com/office/officeart/2005/8/layout/default#176"/>
    <dgm:cxn modelId="{0E7318B7-D420-9641-B444-92F5B4CA5D4A}" srcId="{9F5E6377-DC70-4241-89D7-10F3A1656EB6}" destId="{0D46520A-F876-D54F-95C5-E746768ADEFC}" srcOrd="1" destOrd="0" parTransId="{D383C27B-F24E-EA44-B1D3-87C4FBE17902}" sibTransId="{DD008A93-38B1-2140-ABF8-79B73FDDCB36}"/>
    <dgm:cxn modelId="{A0F6B023-B3AE-FF42-B67D-D14C62B4BAF3}" srcId="{9F5E6377-DC70-4241-89D7-10F3A1656EB6}" destId="{5DF9B4EF-BF41-6247-BCD2-041ECDFAA93D}" srcOrd="0" destOrd="0" parTransId="{4CF4C42A-D49E-1147-9862-9896AC16C1F7}" sibTransId="{3A63A39C-F37F-814E-8237-E1FC34A30C85}"/>
    <dgm:cxn modelId="{D9DA0BA4-45DB-4BD8-8CE0-26C49F0DE138}" type="presOf" srcId="{5DF9B4EF-BF41-6247-BCD2-041ECDFAA93D}" destId="{BAF16EE7-AE26-794F-A4D2-898286302135}" srcOrd="0" destOrd="0" presId="urn:microsoft.com/office/officeart/2005/8/layout/default#176"/>
    <dgm:cxn modelId="{3FFEF9FC-A627-4C06-BB39-98ADC80857DB}" type="presOf" srcId="{C6B5D842-564E-FB4B-9FE0-E7E325C820D4}" destId="{5A68A6CD-1028-8B45-A2A0-09F38023699E}" srcOrd="0" destOrd="0" presId="urn:microsoft.com/office/officeart/2005/8/layout/default#176"/>
    <dgm:cxn modelId="{B348AF9B-22DA-43E1-8B17-1501CDA25FF6}" type="presOf" srcId="{0D46520A-F876-D54F-95C5-E746768ADEFC}" destId="{07F202B9-CFA6-D84F-8D50-83B670E4CA8A}" srcOrd="0" destOrd="0" presId="urn:microsoft.com/office/officeart/2005/8/layout/default#176"/>
    <dgm:cxn modelId="{C1483E18-994E-4DED-8B8E-967BFCC6622E}" type="presOf" srcId="{9F5E6377-DC70-4241-89D7-10F3A1656EB6}" destId="{9D2507BD-0853-F240-92B8-6BF6A184C900}" srcOrd="0" destOrd="0" presId="urn:microsoft.com/office/officeart/2005/8/layout/default#176"/>
    <dgm:cxn modelId="{5D9C3A03-2EEA-FD42-BC69-06BADDBCEFB8}" srcId="{9F5E6377-DC70-4241-89D7-10F3A1656EB6}" destId="{1ED977A8-341E-0C4A-99A1-E037C879CA8D}" srcOrd="4" destOrd="0" parTransId="{31696F0C-6404-AA40-926E-332CEF85030F}" sibTransId="{625A7998-1522-7841-8952-1F505BDF1E3C}"/>
    <dgm:cxn modelId="{A3F92F5C-3284-FB44-BA60-1C0B3A254F4C}" srcId="{9F5E6377-DC70-4241-89D7-10F3A1656EB6}" destId="{C6B5D842-564E-FB4B-9FE0-E7E325C820D4}" srcOrd="2" destOrd="0" parTransId="{EAF5C1DD-78B2-7D4B-9CBB-F4B5A6F4C699}" sibTransId="{95A40E67-968C-274F-827A-82F356EA8A3E}"/>
    <dgm:cxn modelId="{AA1BDE59-DB1E-4431-A943-3E0E281DEDA3}" type="presOf" srcId="{9A1728FC-2D60-3941-A379-82853AB9E3A2}" destId="{24BB29A1-52CE-CC42-A02C-17560EE086A6}" srcOrd="0" destOrd="0" presId="urn:microsoft.com/office/officeart/2005/8/layout/default#176"/>
    <dgm:cxn modelId="{BEEE14A8-4429-4E66-9DAD-691AF79174F7}" type="presParOf" srcId="{9D2507BD-0853-F240-92B8-6BF6A184C900}" destId="{BAF16EE7-AE26-794F-A4D2-898286302135}" srcOrd="0" destOrd="0" presId="urn:microsoft.com/office/officeart/2005/8/layout/default#176"/>
    <dgm:cxn modelId="{1B9A1656-454F-408C-88E3-DD5E8CBB8302}" type="presParOf" srcId="{9D2507BD-0853-F240-92B8-6BF6A184C900}" destId="{4F474E64-0376-F549-9E9F-634BA3E984D3}" srcOrd="1" destOrd="0" presId="urn:microsoft.com/office/officeart/2005/8/layout/default#176"/>
    <dgm:cxn modelId="{BA4EF9AC-CABE-4A95-B858-7072096D1125}" type="presParOf" srcId="{9D2507BD-0853-F240-92B8-6BF6A184C900}" destId="{07F202B9-CFA6-D84F-8D50-83B670E4CA8A}" srcOrd="2" destOrd="0" presId="urn:microsoft.com/office/officeart/2005/8/layout/default#176"/>
    <dgm:cxn modelId="{38BAAF29-9381-4235-AE2C-33381FEDBB63}" type="presParOf" srcId="{9D2507BD-0853-F240-92B8-6BF6A184C900}" destId="{F6F7E164-22A8-FC40-8CB2-66061B05C7AF}" srcOrd="3" destOrd="0" presId="urn:microsoft.com/office/officeart/2005/8/layout/default#176"/>
    <dgm:cxn modelId="{93A19C97-9173-4220-8DC9-0BF88CB59BAD}" type="presParOf" srcId="{9D2507BD-0853-F240-92B8-6BF6A184C900}" destId="{5A68A6CD-1028-8B45-A2A0-09F38023699E}" srcOrd="4" destOrd="0" presId="urn:microsoft.com/office/officeart/2005/8/layout/default#176"/>
    <dgm:cxn modelId="{E51E55D7-F525-4507-96D3-E245ACD43DAB}" type="presParOf" srcId="{9D2507BD-0853-F240-92B8-6BF6A184C900}" destId="{A86A0756-EF23-E74F-9BE3-A8238DE7C6BC}" srcOrd="5" destOrd="0" presId="urn:microsoft.com/office/officeart/2005/8/layout/default#176"/>
    <dgm:cxn modelId="{B856BA2D-3168-45A2-83B2-362ECFF48582}" type="presParOf" srcId="{9D2507BD-0853-F240-92B8-6BF6A184C900}" destId="{24BB29A1-52CE-CC42-A02C-17560EE086A6}" srcOrd="6" destOrd="0" presId="urn:microsoft.com/office/officeart/2005/8/layout/default#176"/>
    <dgm:cxn modelId="{6B820414-535E-4A48-8117-64685DBEF9EA}" type="presParOf" srcId="{9D2507BD-0853-F240-92B8-6BF6A184C900}" destId="{CEFE1C44-A1E9-1349-924F-6F2582F3D503}" srcOrd="7" destOrd="0" presId="urn:microsoft.com/office/officeart/2005/8/layout/default#176"/>
    <dgm:cxn modelId="{88109184-F218-4559-8838-3711192EE30A}" type="presParOf" srcId="{9D2507BD-0853-F240-92B8-6BF6A184C900}" destId="{1650C8EC-7548-F344-BCE9-59227A9A754B}" srcOrd="8" destOrd="0" presId="urn:microsoft.com/office/officeart/2005/8/layout/default#17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F5E6377-DC70-4241-89D7-10F3A1656EB6}" type="doc">
      <dgm:prSet loTypeId="urn:microsoft.com/office/officeart/2005/8/layout/default#177" loCatId="" qsTypeId="urn:microsoft.com/office/officeart/2005/8/quickstyle/simple1" qsCatId="simple" csTypeId="urn:microsoft.com/office/officeart/2005/8/colors/colorful4" csCatId="colorful" phldr="1"/>
      <dgm:spPr/>
      <dgm:t>
        <a:bodyPr/>
        <a:lstStyle/>
        <a:p>
          <a:endParaRPr lang="en-US"/>
        </a:p>
      </dgm:t>
    </dgm:pt>
    <dgm:pt modelId="{5DF9B4EF-BF41-6247-BCD2-041ECDFAA93D}">
      <dgm:prSet phldrT="[Text]"/>
      <dgm:spPr/>
      <dgm:t>
        <a:bodyPr/>
        <a:lstStyle/>
        <a:p>
          <a:r>
            <a:rPr lang="fr-FR" noProof="0" dirty="0"/>
            <a:t>Jointure de table</a:t>
          </a:r>
        </a:p>
      </dgm:t>
    </dgm:pt>
    <dgm:pt modelId="{4CF4C42A-D49E-1147-9862-9896AC16C1F7}" type="parTrans" cxnId="{A0F6B023-B3AE-FF42-B67D-D14C62B4BAF3}">
      <dgm:prSet/>
      <dgm:spPr/>
      <dgm:t>
        <a:bodyPr/>
        <a:lstStyle/>
        <a:p>
          <a:endParaRPr lang="fr-FR" noProof="0" dirty="0"/>
        </a:p>
      </dgm:t>
    </dgm:pt>
    <dgm:pt modelId="{3A63A39C-F37F-814E-8237-E1FC34A30C85}" type="sibTrans" cxnId="{A0F6B023-B3AE-FF42-B67D-D14C62B4BAF3}">
      <dgm:prSet/>
      <dgm:spPr/>
      <dgm:t>
        <a:bodyPr/>
        <a:lstStyle/>
        <a:p>
          <a:endParaRPr lang="fr-FR" noProof="0" dirty="0"/>
        </a:p>
      </dgm:t>
    </dgm:pt>
    <dgm:pt modelId="{0D46520A-F876-D54F-95C5-E746768ADEFC}">
      <dgm:prSet phldrT="[Text]"/>
      <dgm:spPr/>
      <dgm:t>
        <a:bodyPr/>
        <a:lstStyle/>
        <a:p>
          <a:r>
            <a:rPr lang="fr-FR" noProof="0" dirty="0" err="1"/>
            <a:t>Splitting</a:t>
          </a:r>
          <a:endParaRPr lang="fr-FR" noProof="0" dirty="0"/>
        </a:p>
      </dgm:t>
    </dgm:pt>
    <dgm:pt modelId="{D383C27B-F24E-EA44-B1D3-87C4FBE17902}" type="parTrans" cxnId="{0E7318B7-D420-9641-B444-92F5B4CA5D4A}">
      <dgm:prSet/>
      <dgm:spPr/>
      <dgm:t>
        <a:bodyPr/>
        <a:lstStyle/>
        <a:p>
          <a:endParaRPr lang="fr-FR" noProof="0" dirty="0"/>
        </a:p>
      </dgm:t>
    </dgm:pt>
    <dgm:pt modelId="{DD008A93-38B1-2140-ABF8-79B73FDDCB36}" type="sibTrans" cxnId="{0E7318B7-D420-9641-B444-92F5B4CA5D4A}">
      <dgm:prSet/>
      <dgm:spPr/>
      <dgm:t>
        <a:bodyPr/>
        <a:lstStyle/>
        <a:p>
          <a:endParaRPr lang="fr-FR" noProof="0" dirty="0"/>
        </a:p>
      </dgm:t>
    </dgm:pt>
    <dgm:pt modelId="{C6B5D842-564E-FB4B-9FE0-E7E325C820D4}">
      <dgm:prSet phldrT="[Text]"/>
      <dgm:spPr/>
      <dgm:t>
        <a:bodyPr/>
        <a:lstStyle/>
        <a:p>
          <a:r>
            <a:rPr lang="fr-FR" noProof="0" dirty="0" err="1"/>
            <a:t>Aggregation</a:t>
          </a:r>
          <a:endParaRPr lang="fr-FR" noProof="0" dirty="0"/>
        </a:p>
      </dgm:t>
    </dgm:pt>
    <dgm:pt modelId="{EAF5C1DD-78B2-7D4B-9CBB-F4B5A6F4C699}" type="parTrans" cxnId="{A3F92F5C-3284-FB44-BA60-1C0B3A254F4C}">
      <dgm:prSet/>
      <dgm:spPr/>
      <dgm:t>
        <a:bodyPr/>
        <a:lstStyle/>
        <a:p>
          <a:endParaRPr lang="fr-FR" noProof="0" dirty="0"/>
        </a:p>
      </dgm:t>
    </dgm:pt>
    <dgm:pt modelId="{95A40E67-968C-274F-827A-82F356EA8A3E}" type="sibTrans" cxnId="{A3F92F5C-3284-FB44-BA60-1C0B3A254F4C}">
      <dgm:prSet/>
      <dgm:spPr/>
      <dgm:t>
        <a:bodyPr/>
        <a:lstStyle/>
        <a:p>
          <a:endParaRPr lang="fr-FR" noProof="0" dirty="0"/>
        </a:p>
      </dgm:t>
    </dgm:pt>
    <dgm:pt modelId="{9A1728FC-2D60-3941-A379-82853AB9E3A2}">
      <dgm:prSet phldrT="[Text]"/>
      <dgm:spPr/>
      <dgm:t>
        <a:bodyPr/>
        <a:lstStyle/>
        <a:p>
          <a:r>
            <a:rPr lang="fr-FR" noProof="0" dirty="0"/>
            <a:t>Valeurs dérivées</a:t>
          </a:r>
        </a:p>
      </dgm:t>
    </dgm:pt>
    <dgm:pt modelId="{659D4785-7E50-FE4B-91E7-DFF9F80A4168}" type="parTrans" cxnId="{7C659148-69C1-F747-AD98-809DAA8D291B}">
      <dgm:prSet/>
      <dgm:spPr/>
      <dgm:t>
        <a:bodyPr/>
        <a:lstStyle/>
        <a:p>
          <a:endParaRPr lang="fr-FR" noProof="0" dirty="0"/>
        </a:p>
      </dgm:t>
    </dgm:pt>
    <dgm:pt modelId="{6B8BA3CE-9F0A-614B-A0CD-2237E706F8EB}" type="sibTrans" cxnId="{7C659148-69C1-F747-AD98-809DAA8D291B}">
      <dgm:prSet/>
      <dgm:spPr/>
      <dgm:t>
        <a:bodyPr/>
        <a:lstStyle/>
        <a:p>
          <a:endParaRPr lang="fr-FR" noProof="0" dirty="0"/>
        </a:p>
      </dgm:t>
    </dgm:pt>
    <dgm:pt modelId="{9D2507BD-0853-F240-92B8-6BF6A184C900}" type="pres">
      <dgm:prSet presAssocID="{9F5E6377-DC70-4241-89D7-10F3A1656EB6}" presName="diagram" presStyleCnt="0">
        <dgm:presLayoutVars>
          <dgm:dir/>
          <dgm:resizeHandles val="exact"/>
        </dgm:presLayoutVars>
      </dgm:prSet>
      <dgm:spPr/>
      <dgm:t>
        <a:bodyPr/>
        <a:lstStyle/>
        <a:p>
          <a:endParaRPr lang="fr-FR"/>
        </a:p>
      </dgm:t>
    </dgm:pt>
    <dgm:pt modelId="{BAF16EE7-AE26-794F-A4D2-898286302135}" type="pres">
      <dgm:prSet presAssocID="{5DF9B4EF-BF41-6247-BCD2-041ECDFAA93D}" presName="node" presStyleLbl="node1" presStyleIdx="0" presStyleCnt="4">
        <dgm:presLayoutVars>
          <dgm:bulletEnabled val="1"/>
        </dgm:presLayoutVars>
      </dgm:prSet>
      <dgm:spPr/>
      <dgm:t>
        <a:bodyPr/>
        <a:lstStyle/>
        <a:p>
          <a:endParaRPr lang="fr-FR"/>
        </a:p>
      </dgm:t>
    </dgm:pt>
    <dgm:pt modelId="{4F474E64-0376-F549-9E9F-634BA3E984D3}" type="pres">
      <dgm:prSet presAssocID="{3A63A39C-F37F-814E-8237-E1FC34A30C85}" presName="sibTrans" presStyleCnt="0"/>
      <dgm:spPr/>
    </dgm:pt>
    <dgm:pt modelId="{07F202B9-CFA6-D84F-8D50-83B670E4CA8A}" type="pres">
      <dgm:prSet presAssocID="{0D46520A-F876-D54F-95C5-E746768ADEFC}" presName="node" presStyleLbl="node1" presStyleIdx="1" presStyleCnt="4">
        <dgm:presLayoutVars>
          <dgm:bulletEnabled val="1"/>
        </dgm:presLayoutVars>
      </dgm:prSet>
      <dgm:spPr/>
      <dgm:t>
        <a:bodyPr/>
        <a:lstStyle/>
        <a:p>
          <a:endParaRPr lang="fr-FR"/>
        </a:p>
      </dgm:t>
    </dgm:pt>
    <dgm:pt modelId="{F6F7E164-22A8-FC40-8CB2-66061B05C7AF}" type="pres">
      <dgm:prSet presAssocID="{DD008A93-38B1-2140-ABF8-79B73FDDCB36}" presName="sibTrans" presStyleCnt="0"/>
      <dgm:spPr/>
    </dgm:pt>
    <dgm:pt modelId="{5A68A6CD-1028-8B45-A2A0-09F38023699E}" type="pres">
      <dgm:prSet presAssocID="{C6B5D842-564E-FB4B-9FE0-E7E325C820D4}" presName="node" presStyleLbl="node1" presStyleIdx="2" presStyleCnt="4">
        <dgm:presLayoutVars>
          <dgm:bulletEnabled val="1"/>
        </dgm:presLayoutVars>
      </dgm:prSet>
      <dgm:spPr/>
      <dgm:t>
        <a:bodyPr/>
        <a:lstStyle/>
        <a:p>
          <a:endParaRPr lang="fr-FR"/>
        </a:p>
      </dgm:t>
    </dgm:pt>
    <dgm:pt modelId="{A86A0756-EF23-E74F-9BE3-A8238DE7C6BC}" type="pres">
      <dgm:prSet presAssocID="{95A40E67-968C-274F-827A-82F356EA8A3E}" presName="sibTrans" presStyleCnt="0"/>
      <dgm:spPr/>
    </dgm:pt>
    <dgm:pt modelId="{24BB29A1-52CE-CC42-A02C-17560EE086A6}" type="pres">
      <dgm:prSet presAssocID="{9A1728FC-2D60-3941-A379-82853AB9E3A2}" presName="node" presStyleLbl="node1" presStyleIdx="3" presStyleCnt="4">
        <dgm:presLayoutVars>
          <dgm:bulletEnabled val="1"/>
        </dgm:presLayoutVars>
      </dgm:prSet>
      <dgm:spPr/>
      <dgm:t>
        <a:bodyPr/>
        <a:lstStyle/>
        <a:p>
          <a:endParaRPr lang="fr-FR"/>
        </a:p>
      </dgm:t>
    </dgm:pt>
  </dgm:ptLst>
  <dgm:cxnLst>
    <dgm:cxn modelId="{7C659148-69C1-F747-AD98-809DAA8D291B}" srcId="{9F5E6377-DC70-4241-89D7-10F3A1656EB6}" destId="{9A1728FC-2D60-3941-A379-82853AB9E3A2}" srcOrd="3" destOrd="0" parTransId="{659D4785-7E50-FE4B-91E7-DFF9F80A4168}" sibTransId="{6B8BA3CE-9F0A-614B-A0CD-2237E706F8EB}"/>
    <dgm:cxn modelId="{3AD67D36-617C-4408-85EC-219BA1308D8C}" type="presOf" srcId="{9A1728FC-2D60-3941-A379-82853AB9E3A2}" destId="{24BB29A1-52CE-CC42-A02C-17560EE086A6}" srcOrd="0" destOrd="0" presId="urn:microsoft.com/office/officeart/2005/8/layout/default#177"/>
    <dgm:cxn modelId="{0E7318B7-D420-9641-B444-92F5B4CA5D4A}" srcId="{9F5E6377-DC70-4241-89D7-10F3A1656EB6}" destId="{0D46520A-F876-D54F-95C5-E746768ADEFC}" srcOrd="1" destOrd="0" parTransId="{D383C27B-F24E-EA44-B1D3-87C4FBE17902}" sibTransId="{DD008A93-38B1-2140-ABF8-79B73FDDCB36}"/>
    <dgm:cxn modelId="{9D36C800-9B3B-47F7-9E5C-5FFAC284442C}" type="presOf" srcId="{9F5E6377-DC70-4241-89D7-10F3A1656EB6}" destId="{9D2507BD-0853-F240-92B8-6BF6A184C900}" srcOrd="0" destOrd="0" presId="urn:microsoft.com/office/officeart/2005/8/layout/default#177"/>
    <dgm:cxn modelId="{A0F6B023-B3AE-FF42-B67D-D14C62B4BAF3}" srcId="{9F5E6377-DC70-4241-89D7-10F3A1656EB6}" destId="{5DF9B4EF-BF41-6247-BCD2-041ECDFAA93D}" srcOrd="0" destOrd="0" parTransId="{4CF4C42A-D49E-1147-9862-9896AC16C1F7}" sibTransId="{3A63A39C-F37F-814E-8237-E1FC34A30C85}"/>
    <dgm:cxn modelId="{123E1BDF-3FD0-42E7-96CD-066E50696160}" type="presOf" srcId="{C6B5D842-564E-FB4B-9FE0-E7E325C820D4}" destId="{5A68A6CD-1028-8B45-A2A0-09F38023699E}" srcOrd="0" destOrd="0" presId="urn:microsoft.com/office/officeart/2005/8/layout/default#177"/>
    <dgm:cxn modelId="{E5A7934E-3964-4DEF-900D-0951554316FE}" type="presOf" srcId="{0D46520A-F876-D54F-95C5-E746768ADEFC}" destId="{07F202B9-CFA6-D84F-8D50-83B670E4CA8A}" srcOrd="0" destOrd="0" presId="urn:microsoft.com/office/officeart/2005/8/layout/default#177"/>
    <dgm:cxn modelId="{30382EF1-E618-4FE7-AF09-07F211BBDB37}" type="presOf" srcId="{5DF9B4EF-BF41-6247-BCD2-041ECDFAA93D}" destId="{BAF16EE7-AE26-794F-A4D2-898286302135}" srcOrd="0" destOrd="0" presId="urn:microsoft.com/office/officeart/2005/8/layout/default#177"/>
    <dgm:cxn modelId="{A3F92F5C-3284-FB44-BA60-1C0B3A254F4C}" srcId="{9F5E6377-DC70-4241-89D7-10F3A1656EB6}" destId="{C6B5D842-564E-FB4B-9FE0-E7E325C820D4}" srcOrd="2" destOrd="0" parTransId="{EAF5C1DD-78B2-7D4B-9CBB-F4B5A6F4C699}" sibTransId="{95A40E67-968C-274F-827A-82F356EA8A3E}"/>
    <dgm:cxn modelId="{91959A03-C7C1-4CEA-964C-1A1A2900A5C8}" type="presParOf" srcId="{9D2507BD-0853-F240-92B8-6BF6A184C900}" destId="{BAF16EE7-AE26-794F-A4D2-898286302135}" srcOrd="0" destOrd="0" presId="urn:microsoft.com/office/officeart/2005/8/layout/default#177"/>
    <dgm:cxn modelId="{53FC2EFE-3B58-4845-BB94-6A574C2C1312}" type="presParOf" srcId="{9D2507BD-0853-F240-92B8-6BF6A184C900}" destId="{4F474E64-0376-F549-9E9F-634BA3E984D3}" srcOrd="1" destOrd="0" presId="urn:microsoft.com/office/officeart/2005/8/layout/default#177"/>
    <dgm:cxn modelId="{EF5E3433-D610-425E-ADB0-352AFCE9FC3C}" type="presParOf" srcId="{9D2507BD-0853-F240-92B8-6BF6A184C900}" destId="{07F202B9-CFA6-D84F-8D50-83B670E4CA8A}" srcOrd="2" destOrd="0" presId="urn:microsoft.com/office/officeart/2005/8/layout/default#177"/>
    <dgm:cxn modelId="{4ED86F6F-D15C-4A0F-B51D-89BE0EF7B1F1}" type="presParOf" srcId="{9D2507BD-0853-F240-92B8-6BF6A184C900}" destId="{F6F7E164-22A8-FC40-8CB2-66061B05C7AF}" srcOrd="3" destOrd="0" presId="urn:microsoft.com/office/officeart/2005/8/layout/default#177"/>
    <dgm:cxn modelId="{5BD9B75E-AAB3-4CF9-A6A6-14823748A756}" type="presParOf" srcId="{9D2507BD-0853-F240-92B8-6BF6A184C900}" destId="{5A68A6CD-1028-8B45-A2A0-09F38023699E}" srcOrd="4" destOrd="0" presId="urn:microsoft.com/office/officeart/2005/8/layout/default#177"/>
    <dgm:cxn modelId="{ABFA5DA9-40BB-45AF-8C92-EE057CF81100}" type="presParOf" srcId="{9D2507BD-0853-F240-92B8-6BF6A184C900}" destId="{A86A0756-EF23-E74F-9BE3-A8238DE7C6BC}" srcOrd="5" destOrd="0" presId="urn:microsoft.com/office/officeart/2005/8/layout/default#177"/>
    <dgm:cxn modelId="{E311AC63-3AAC-417A-AB01-407EF761639E}" type="presParOf" srcId="{9D2507BD-0853-F240-92B8-6BF6A184C900}" destId="{24BB29A1-52CE-CC42-A02C-17560EE086A6}" srcOrd="6" destOrd="0" presId="urn:microsoft.com/office/officeart/2005/8/layout/default#177"/>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2C2ECED-D05B-4243-B5CD-9BC95761824E}">
      <dsp:nvSpPr>
        <dsp:cNvPr id="0" name=""/>
        <dsp:cNvSpPr/>
      </dsp:nvSpPr>
      <dsp:spPr>
        <a:xfrm>
          <a:off x="0" y="0"/>
          <a:ext cx="10760911" cy="0"/>
        </a:xfrm>
        <a:prstGeom prst="line">
          <a:avLst/>
        </a:prstGeom>
        <a:solidFill>
          <a:schemeClr val="accent5">
            <a:hueOff val="0"/>
            <a:satOff val="0"/>
            <a:lumOff val="0"/>
            <a:alphaOff val="0"/>
          </a:schemeClr>
        </a:solidFill>
        <a:ln w="34925" cap="flat" cmpd="sng" algn="in">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7FD782-53CE-BC4A-ADFB-AA7F326FA8B4}">
      <dsp:nvSpPr>
        <dsp:cNvPr id="0" name=""/>
        <dsp:cNvSpPr/>
      </dsp:nvSpPr>
      <dsp:spPr>
        <a:xfrm>
          <a:off x="0" y="0"/>
          <a:ext cx="21521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fr-FR" sz="2100" kern="1200" noProof="0" dirty="0"/>
            <a:t>Prise de décision</a:t>
          </a:r>
        </a:p>
      </dsp:txBody>
      <dsp:txXfrm>
        <a:off x="0" y="0"/>
        <a:ext cx="2152182" cy="1200150"/>
      </dsp:txXfrm>
    </dsp:sp>
    <dsp:sp modelId="{A28B4FC7-284F-9D4F-B914-A25BD1C995F8}">
      <dsp:nvSpPr>
        <dsp:cNvPr id="0" name=""/>
        <dsp:cNvSpPr/>
      </dsp:nvSpPr>
      <dsp:spPr>
        <a:xfrm>
          <a:off x="2313595" y="54499"/>
          <a:ext cx="8447315" cy="1089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x-none" sz="1600" kern="1200" dirty="0"/>
            <a:t>La Business Intelligence permet d'améliorer la prise de décision en fournissant des informations précises et en temps réel. Les décideurs ont accès à des tableaux de bord et des rapports qui leur permettent de visualiser et d'analyser les données de l'entreprise pour prendre des décisions éclairées.</a:t>
          </a:r>
          <a:endParaRPr lang="en-US" sz="1600" kern="1200" dirty="0"/>
        </a:p>
      </dsp:txBody>
      <dsp:txXfrm>
        <a:off x="2313595" y="54499"/>
        <a:ext cx="8447315" cy="1089980"/>
      </dsp:txXfrm>
    </dsp:sp>
    <dsp:sp modelId="{E6775CC3-4ED3-D847-8F28-73CFC402CFF8}">
      <dsp:nvSpPr>
        <dsp:cNvPr id="0" name=""/>
        <dsp:cNvSpPr/>
      </dsp:nvSpPr>
      <dsp:spPr>
        <a:xfrm>
          <a:off x="2152182" y="1144479"/>
          <a:ext cx="8608728" cy="0"/>
        </a:xfrm>
        <a:prstGeom prst="line">
          <a:avLst/>
        </a:prstGeom>
        <a:solidFill>
          <a:schemeClr val="accent5">
            <a:hueOff val="0"/>
            <a:satOff val="0"/>
            <a:lumOff val="0"/>
            <a:alphaOff val="0"/>
          </a:schemeClr>
        </a:solidFill>
        <a:ln w="34925" cap="flat" cmpd="sng" algn="in">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BEDE5B-FB66-D145-8E82-17F1E2BAA4AC}">
      <dsp:nvSpPr>
        <dsp:cNvPr id="0" name=""/>
        <dsp:cNvSpPr/>
      </dsp:nvSpPr>
      <dsp:spPr>
        <a:xfrm>
          <a:off x="0" y="1200150"/>
          <a:ext cx="10760911" cy="0"/>
        </a:xfrm>
        <a:prstGeom prst="line">
          <a:avLst/>
        </a:prstGeom>
        <a:solidFill>
          <a:schemeClr val="accent5">
            <a:hueOff val="2944100"/>
            <a:satOff val="9586"/>
            <a:lumOff val="3333"/>
            <a:alphaOff val="0"/>
          </a:schemeClr>
        </a:solidFill>
        <a:ln w="34925" cap="flat" cmpd="sng" algn="in">
          <a:solidFill>
            <a:schemeClr val="accent5">
              <a:hueOff val="2944100"/>
              <a:satOff val="9586"/>
              <a:lumOff val="333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B2E4D5-6976-1541-850C-A6DD4A7C5D5C}">
      <dsp:nvSpPr>
        <dsp:cNvPr id="0" name=""/>
        <dsp:cNvSpPr/>
      </dsp:nvSpPr>
      <dsp:spPr>
        <a:xfrm>
          <a:off x="0" y="1200150"/>
          <a:ext cx="21521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x-none" sz="2100" kern="1200" dirty="0"/>
            <a:t>Optimisation des processus commerciaux</a:t>
          </a:r>
          <a:endParaRPr lang="en-US" sz="2100" kern="1200" dirty="0"/>
        </a:p>
      </dsp:txBody>
      <dsp:txXfrm>
        <a:off x="0" y="1200150"/>
        <a:ext cx="2152182" cy="1200150"/>
      </dsp:txXfrm>
    </dsp:sp>
    <dsp:sp modelId="{58F19539-959A-0844-9D87-45F0347545C2}">
      <dsp:nvSpPr>
        <dsp:cNvPr id="0" name=""/>
        <dsp:cNvSpPr/>
      </dsp:nvSpPr>
      <dsp:spPr>
        <a:xfrm>
          <a:off x="2313595" y="1254649"/>
          <a:ext cx="8447315" cy="1089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x-none" sz="1600" kern="1200" dirty="0"/>
            <a:t>La BI permet d'optimiser les processus commerciaux en identifiant les inefficacités et les goulots d'étranglement. Les entreprises peuvent utiliser les données pour analyser et améliorer leurs opérations, réduire les coûts, augmenter l'efficacité et améliorer la satisfaction client.</a:t>
          </a:r>
          <a:endParaRPr lang="en-US" sz="1600" kern="1200" dirty="0"/>
        </a:p>
      </dsp:txBody>
      <dsp:txXfrm>
        <a:off x="2313595" y="1254649"/>
        <a:ext cx="8447315" cy="1089980"/>
      </dsp:txXfrm>
    </dsp:sp>
    <dsp:sp modelId="{5B4B0D3D-5C52-EE49-BCA0-6A0596AF7421}">
      <dsp:nvSpPr>
        <dsp:cNvPr id="0" name=""/>
        <dsp:cNvSpPr/>
      </dsp:nvSpPr>
      <dsp:spPr>
        <a:xfrm>
          <a:off x="2152182" y="2344629"/>
          <a:ext cx="8608728" cy="0"/>
        </a:xfrm>
        <a:prstGeom prst="line">
          <a:avLst/>
        </a:prstGeom>
        <a:solidFill>
          <a:schemeClr val="accent5">
            <a:hueOff val="0"/>
            <a:satOff val="0"/>
            <a:lumOff val="0"/>
            <a:alphaOff val="0"/>
          </a:schemeClr>
        </a:solidFill>
        <a:ln w="34925" cap="flat" cmpd="sng" algn="in">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2EB377-ABD9-A14F-BC94-EA3E5C193FD8}">
      <dsp:nvSpPr>
        <dsp:cNvPr id="0" name=""/>
        <dsp:cNvSpPr/>
      </dsp:nvSpPr>
      <dsp:spPr>
        <a:xfrm>
          <a:off x="0" y="2400300"/>
          <a:ext cx="10760911" cy="0"/>
        </a:xfrm>
        <a:prstGeom prst="line">
          <a:avLst/>
        </a:prstGeom>
        <a:solidFill>
          <a:schemeClr val="accent5">
            <a:hueOff val="5888199"/>
            <a:satOff val="19172"/>
            <a:lumOff val="6667"/>
            <a:alphaOff val="0"/>
          </a:schemeClr>
        </a:solidFill>
        <a:ln w="34925" cap="flat" cmpd="sng" algn="in">
          <a:solidFill>
            <a:schemeClr val="accent5">
              <a:hueOff val="5888199"/>
              <a:satOff val="19172"/>
              <a:lumOff val="66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EA834D-CD97-7748-8B0B-CBD4291258B8}">
      <dsp:nvSpPr>
        <dsp:cNvPr id="0" name=""/>
        <dsp:cNvSpPr/>
      </dsp:nvSpPr>
      <dsp:spPr>
        <a:xfrm>
          <a:off x="0" y="2400300"/>
          <a:ext cx="21521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x-none" sz="2100" kern="1200" dirty="0"/>
            <a:t>Détection des tendances et des opportunités</a:t>
          </a:r>
          <a:endParaRPr lang="en-US" sz="2100" kern="1200" dirty="0"/>
        </a:p>
      </dsp:txBody>
      <dsp:txXfrm>
        <a:off x="0" y="2400300"/>
        <a:ext cx="2152182" cy="1200150"/>
      </dsp:txXfrm>
    </dsp:sp>
    <dsp:sp modelId="{547A60B3-A5E1-7942-AB8F-04BF2713B637}">
      <dsp:nvSpPr>
        <dsp:cNvPr id="0" name=""/>
        <dsp:cNvSpPr/>
      </dsp:nvSpPr>
      <dsp:spPr>
        <a:xfrm>
          <a:off x="2313595" y="2454799"/>
          <a:ext cx="8447315" cy="1089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x-none" sz="1600" kern="1200" dirty="0"/>
            <a:t>La Business Intelligence permet de détecter les tendances et les opportunités en analysant les données historiques et en identifiant les modèles et les corrélations. Cela permet aux entreprises d'anticiper les changements du marché, de prendre des mesures proactives et de rester compétitives.</a:t>
          </a:r>
          <a:endParaRPr lang="en-US" sz="1600" kern="1200" dirty="0"/>
        </a:p>
      </dsp:txBody>
      <dsp:txXfrm>
        <a:off x="2313595" y="2454799"/>
        <a:ext cx="8447315" cy="1089980"/>
      </dsp:txXfrm>
    </dsp:sp>
    <dsp:sp modelId="{F7A9F04E-9F40-3F4F-84E7-FF9BF91862A3}">
      <dsp:nvSpPr>
        <dsp:cNvPr id="0" name=""/>
        <dsp:cNvSpPr/>
      </dsp:nvSpPr>
      <dsp:spPr>
        <a:xfrm>
          <a:off x="2152182" y="3544779"/>
          <a:ext cx="8608728" cy="0"/>
        </a:xfrm>
        <a:prstGeom prst="line">
          <a:avLst/>
        </a:prstGeom>
        <a:solidFill>
          <a:schemeClr val="accent5">
            <a:hueOff val="0"/>
            <a:satOff val="0"/>
            <a:lumOff val="0"/>
            <a:alphaOff val="0"/>
          </a:schemeClr>
        </a:solidFill>
        <a:ln w="34925" cap="flat" cmpd="sng" algn="in">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4F540C-C9E8-4C47-BCE3-70A7E6250205}">
      <dsp:nvSpPr>
        <dsp:cNvPr id="0" name=""/>
        <dsp:cNvSpPr/>
      </dsp:nvSpPr>
      <dsp:spPr>
        <a:xfrm>
          <a:off x="0" y="3600450"/>
          <a:ext cx="10760911" cy="0"/>
        </a:xfrm>
        <a:prstGeom prst="line">
          <a:avLst/>
        </a:prstGeom>
        <a:solidFill>
          <a:schemeClr val="accent5">
            <a:hueOff val="8832298"/>
            <a:satOff val="28758"/>
            <a:lumOff val="10000"/>
            <a:alphaOff val="0"/>
          </a:schemeClr>
        </a:solidFill>
        <a:ln w="34925" cap="flat" cmpd="sng" algn="in">
          <a:solidFill>
            <a:schemeClr val="accent5">
              <a:hueOff val="8832298"/>
              <a:satOff val="28758"/>
              <a:lumOff val="1000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355AD3-D80F-5C47-8649-63F14BF35373}">
      <dsp:nvSpPr>
        <dsp:cNvPr id="0" name=""/>
        <dsp:cNvSpPr/>
      </dsp:nvSpPr>
      <dsp:spPr>
        <a:xfrm>
          <a:off x="0" y="3600450"/>
          <a:ext cx="2152182" cy="1200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lvl="0" algn="l" defTabSz="933450">
            <a:lnSpc>
              <a:spcPct val="90000"/>
            </a:lnSpc>
            <a:spcBef>
              <a:spcPct val="0"/>
            </a:spcBef>
            <a:spcAft>
              <a:spcPct val="35000"/>
            </a:spcAft>
          </a:pPr>
          <a:r>
            <a:rPr lang="x-none" sz="2100" kern="1200" dirty="0"/>
            <a:t>Amélioration de la rentabilité globale</a:t>
          </a:r>
          <a:endParaRPr lang="en-US" sz="2100" kern="1200" dirty="0"/>
        </a:p>
      </dsp:txBody>
      <dsp:txXfrm>
        <a:off x="0" y="3600450"/>
        <a:ext cx="2152182" cy="1200150"/>
      </dsp:txXfrm>
    </dsp:sp>
    <dsp:sp modelId="{F8953F5F-B061-B54B-BD35-7D78FE61950B}">
      <dsp:nvSpPr>
        <dsp:cNvPr id="0" name=""/>
        <dsp:cNvSpPr/>
      </dsp:nvSpPr>
      <dsp:spPr>
        <a:xfrm>
          <a:off x="2313595" y="3654949"/>
          <a:ext cx="8447315" cy="1089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lvl="0" algn="l" defTabSz="711200">
            <a:lnSpc>
              <a:spcPct val="90000"/>
            </a:lnSpc>
            <a:spcBef>
              <a:spcPct val="0"/>
            </a:spcBef>
            <a:spcAft>
              <a:spcPct val="35000"/>
            </a:spcAft>
          </a:pPr>
          <a:r>
            <a:rPr lang="x-none" sz="1600" kern="1200" dirty="0"/>
            <a:t>La BI permet d'améliorer la rentabilité globale de l'entreprise en identifiant les domaines d'amélioration et en prenant des mesures pour les optimiser. Les entreprises peuvent utiliser les données pour analyser leurs revenus, leurs coûts et leur rentabilité, et prendre des décisions stratégiques pour augmenter leurs marges bénéficiaires.</a:t>
          </a:r>
          <a:endParaRPr lang="en-US" sz="1600" kern="1200" dirty="0"/>
        </a:p>
      </dsp:txBody>
      <dsp:txXfrm>
        <a:off x="2313595" y="3654949"/>
        <a:ext cx="8447315" cy="1089980"/>
      </dsp:txXfrm>
    </dsp:sp>
    <dsp:sp modelId="{D6CB89D2-100B-E64A-A14E-3BBA53A355F0}">
      <dsp:nvSpPr>
        <dsp:cNvPr id="0" name=""/>
        <dsp:cNvSpPr/>
      </dsp:nvSpPr>
      <dsp:spPr>
        <a:xfrm>
          <a:off x="2152182" y="4744929"/>
          <a:ext cx="8608728" cy="0"/>
        </a:xfrm>
        <a:prstGeom prst="line">
          <a:avLst/>
        </a:prstGeom>
        <a:solidFill>
          <a:schemeClr val="accent5">
            <a:hueOff val="0"/>
            <a:satOff val="0"/>
            <a:lumOff val="0"/>
            <a:alphaOff val="0"/>
          </a:schemeClr>
        </a:solidFill>
        <a:ln w="34925" cap="flat" cmpd="sng" algn="in">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918B2A6-0ED5-CE45-9F8F-6081EB2EC23B}">
      <dsp:nvSpPr>
        <dsp:cNvPr id="0" name=""/>
        <dsp:cNvSpPr/>
      </dsp:nvSpPr>
      <dsp:spPr>
        <a:xfrm>
          <a:off x="0" y="574191"/>
          <a:ext cx="2090339" cy="2090339"/>
        </a:xfrm>
        <a:prstGeom prst="ellipse">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rtl="0">
            <a:lnSpc>
              <a:spcPct val="90000"/>
            </a:lnSpc>
            <a:spcBef>
              <a:spcPct val="0"/>
            </a:spcBef>
            <a:spcAft>
              <a:spcPct val="35000"/>
            </a:spcAft>
          </a:pPr>
          <a:r>
            <a:rPr lang="fr-FR" sz="2100" kern="1200" noProof="0" dirty="0"/>
            <a:t>Elimination des doublons</a:t>
          </a:r>
        </a:p>
      </dsp:txBody>
      <dsp:txXfrm>
        <a:off x="0" y="574191"/>
        <a:ext cx="2090339" cy="2090339"/>
      </dsp:txXfrm>
    </dsp:sp>
    <dsp:sp modelId="{31BDAD9B-5DE4-0447-9AA5-870D315BCFDB}">
      <dsp:nvSpPr>
        <dsp:cNvPr id="0" name=""/>
        <dsp:cNvSpPr/>
      </dsp:nvSpPr>
      <dsp:spPr>
        <a:xfrm>
          <a:off x="2090338" y="574191"/>
          <a:ext cx="2090339" cy="2090339"/>
        </a:xfrm>
        <a:prstGeom prst="ellipse">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a:lnSpc>
              <a:spcPct val="90000"/>
            </a:lnSpc>
            <a:spcBef>
              <a:spcPct val="0"/>
            </a:spcBef>
            <a:spcAft>
              <a:spcPct val="35000"/>
            </a:spcAft>
          </a:pPr>
          <a:r>
            <a:rPr lang="fr-FR" sz="2100" kern="1200" noProof="0" dirty="0"/>
            <a:t>Filtrage des données</a:t>
          </a:r>
        </a:p>
      </dsp:txBody>
      <dsp:txXfrm>
        <a:off x="2090338" y="574191"/>
        <a:ext cx="2090339" cy="2090339"/>
      </dsp:txXfrm>
    </dsp:sp>
    <dsp:sp modelId="{43519C74-67B1-844F-B005-9EF067C86B5F}">
      <dsp:nvSpPr>
        <dsp:cNvPr id="0" name=""/>
        <dsp:cNvSpPr/>
      </dsp:nvSpPr>
      <dsp:spPr>
        <a:xfrm>
          <a:off x="4180677" y="574191"/>
          <a:ext cx="2090339" cy="2090339"/>
        </a:xfrm>
        <a:prstGeom prst="ellipse">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rtl="0">
            <a:lnSpc>
              <a:spcPct val="90000"/>
            </a:lnSpc>
            <a:spcBef>
              <a:spcPct val="0"/>
            </a:spcBef>
            <a:spcAft>
              <a:spcPct val="35000"/>
            </a:spcAft>
          </a:pPr>
          <a:r>
            <a:rPr lang="fr-FR" sz="2100" kern="1200" noProof="0" dirty="0"/>
            <a:t>Formatage des données</a:t>
          </a:r>
        </a:p>
      </dsp:txBody>
      <dsp:txXfrm>
        <a:off x="4180677" y="574191"/>
        <a:ext cx="2090339" cy="2090339"/>
      </dsp:txXfrm>
    </dsp:sp>
    <dsp:sp modelId="{A542E075-2751-D440-B505-31FA7AF0EBEE}">
      <dsp:nvSpPr>
        <dsp:cNvPr id="0" name=""/>
        <dsp:cNvSpPr/>
      </dsp:nvSpPr>
      <dsp:spPr>
        <a:xfrm>
          <a:off x="6271017" y="574191"/>
          <a:ext cx="2090339" cy="2090339"/>
        </a:xfrm>
        <a:prstGeom prst="ellipse">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933450" rtl="0">
            <a:lnSpc>
              <a:spcPct val="90000"/>
            </a:lnSpc>
            <a:spcBef>
              <a:spcPct val="0"/>
            </a:spcBef>
            <a:spcAft>
              <a:spcPct val="35000"/>
            </a:spcAft>
          </a:pPr>
          <a:r>
            <a:rPr lang="fr-FR" sz="2100" kern="1200" noProof="0" dirty="0"/>
            <a:t>Identification des données aberrante</a:t>
          </a:r>
        </a:p>
      </dsp:txBody>
      <dsp:txXfrm>
        <a:off x="6271017" y="574191"/>
        <a:ext cx="2090339" cy="2090339"/>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918B2A6-0ED5-CE45-9F8F-6081EB2EC23B}">
      <dsp:nvSpPr>
        <dsp:cNvPr id="0" name=""/>
        <dsp:cNvSpPr/>
      </dsp:nvSpPr>
      <dsp:spPr>
        <a:xfrm>
          <a:off x="2767" y="675804"/>
          <a:ext cx="1887113" cy="1887113"/>
        </a:xfrm>
        <a:prstGeom prst="ellipse">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rtl="0">
            <a:lnSpc>
              <a:spcPct val="90000"/>
            </a:lnSpc>
            <a:spcBef>
              <a:spcPct val="0"/>
            </a:spcBef>
            <a:spcAft>
              <a:spcPct val="35000"/>
            </a:spcAft>
          </a:pPr>
          <a:r>
            <a:rPr lang="fr-FR" sz="2500" kern="1200" noProof="0" dirty="0" err="1"/>
            <a:t>Reporting</a:t>
          </a:r>
          <a:endParaRPr lang="fr-FR" sz="2500" kern="1200" noProof="0" dirty="0"/>
        </a:p>
      </dsp:txBody>
      <dsp:txXfrm>
        <a:off x="2767" y="675804"/>
        <a:ext cx="1887113" cy="1887113"/>
      </dsp:txXfrm>
    </dsp:sp>
    <dsp:sp modelId="{31BDAD9B-5DE4-0447-9AA5-870D315BCFDB}">
      <dsp:nvSpPr>
        <dsp:cNvPr id="0" name=""/>
        <dsp:cNvSpPr/>
      </dsp:nvSpPr>
      <dsp:spPr>
        <a:xfrm>
          <a:off x="1889880" y="675804"/>
          <a:ext cx="1887113" cy="1887113"/>
        </a:xfrm>
        <a:prstGeom prst="ellipse">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a:lnSpc>
              <a:spcPct val="90000"/>
            </a:lnSpc>
            <a:spcBef>
              <a:spcPct val="0"/>
            </a:spcBef>
            <a:spcAft>
              <a:spcPct val="35000"/>
            </a:spcAft>
          </a:pPr>
          <a:r>
            <a:rPr lang="fr-FR" sz="2500" kern="1200" noProof="0" dirty="0"/>
            <a:t>Cube OLAP</a:t>
          </a:r>
        </a:p>
      </dsp:txBody>
      <dsp:txXfrm>
        <a:off x="1889880" y="675804"/>
        <a:ext cx="1887113" cy="1887113"/>
      </dsp:txXfrm>
    </dsp:sp>
    <dsp:sp modelId="{43519C74-67B1-844F-B005-9EF067C86B5F}">
      <dsp:nvSpPr>
        <dsp:cNvPr id="0" name=""/>
        <dsp:cNvSpPr/>
      </dsp:nvSpPr>
      <dsp:spPr>
        <a:xfrm>
          <a:off x="3776993" y="675804"/>
          <a:ext cx="1887113" cy="1887113"/>
        </a:xfrm>
        <a:prstGeom prst="ellipse">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111250" rtl="0">
            <a:lnSpc>
              <a:spcPct val="90000"/>
            </a:lnSpc>
            <a:spcBef>
              <a:spcPct val="0"/>
            </a:spcBef>
            <a:spcAft>
              <a:spcPct val="35000"/>
            </a:spcAft>
          </a:pPr>
          <a:r>
            <a:rPr lang="fr-FR" sz="2500" kern="1200" noProof="0" dirty="0"/>
            <a:t>Data</a:t>
          </a:r>
        </a:p>
        <a:p>
          <a:pPr lvl="0" algn="ctr" defTabSz="1111250" rtl="0">
            <a:lnSpc>
              <a:spcPct val="90000"/>
            </a:lnSpc>
            <a:spcBef>
              <a:spcPct val="0"/>
            </a:spcBef>
            <a:spcAft>
              <a:spcPct val="35000"/>
            </a:spcAft>
          </a:pPr>
          <a:r>
            <a:rPr lang="fr-FR" sz="2500" kern="1200" noProof="0" dirty="0"/>
            <a:t>Mining</a:t>
          </a:r>
        </a:p>
      </dsp:txBody>
      <dsp:txXfrm>
        <a:off x="3776993" y="675804"/>
        <a:ext cx="1887113" cy="1887113"/>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D1A6A0A-C242-B84B-9D31-8BF2843192B5}">
      <dsp:nvSpPr>
        <dsp:cNvPr id="0" name=""/>
        <dsp:cNvSpPr/>
      </dsp:nvSpPr>
      <dsp:spPr>
        <a:xfrm rot="16200000">
          <a:off x="824776" y="-824776"/>
          <a:ext cx="1908119" cy="3557671"/>
        </a:xfrm>
        <a:prstGeom prst="round1Rect">
          <a:avLst/>
        </a:prstGeom>
        <a:solidFill>
          <a:schemeClr val="lt1">
            <a:hueOff val="0"/>
            <a:satOff val="0"/>
            <a:lumOff val="0"/>
            <a:alphaOff val="0"/>
          </a:schemeClr>
        </a:solidFill>
        <a:ln w="34925" cap="flat" cmpd="sng" algn="in">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x-none" sz="2800" b="1" kern="1200" dirty="0"/>
            <a:t>Améliorer l'efficacité opérationnelle </a:t>
          </a:r>
          <a:endParaRPr lang="en-US" sz="2800" kern="1200" dirty="0"/>
        </a:p>
      </dsp:txBody>
      <dsp:txXfrm rot="16200000">
        <a:off x="1063290" y="-1063290"/>
        <a:ext cx="1431089" cy="3557671"/>
      </dsp:txXfrm>
    </dsp:sp>
    <dsp:sp modelId="{A621E9DC-ACF9-0545-B573-1540058B551C}">
      <dsp:nvSpPr>
        <dsp:cNvPr id="0" name=""/>
        <dsp:cNvSpPr/>
      </dsp:nvSpPr>
      <dsp:spPr>
        <a:xfrm>
          <a:off x="3557671" y="0"/>
          <a:ext cx="3557671" cy="1908119"/>
        </a:xfrm>
        <a:prstGeom prst="round1Rect">
          <a:avLst/>
        </a:prstGeom>
        <a:solidFill>
          <a:schemeClr val="lt1">
            <a:hueOff val="0"/>
            <a:satOff val="0"/>
            <a:lumOff val="0"/>
            <a:alphaOff val="0"/>
          </a:schemeClr>
        </a:solidFill>
        <a:ln w="34925" cap="flat" cmpd="sng" algn="in">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x-none" sz="2800" b="1" kern="1200" dirty="0"/>
            <a:t>Faciliter la prise de décision </a:t>
          </a:r>
          <a:endParaRPr lang="en-US" sz="2800" kern="1200" dirty="0"/>
        </a:p>
      </dsp:txBody>
      <dsp:txXfrm>
        <a:off x="3557671" y="0"/>
        <a:ext cx="3557671" cy="1431089"/>
      </dsp:txXfrm>
    </dsp:sp>
    <dsp:sp modelId="{873A3489-A658-464D-895A-40EEC4A1BEDF}">
      <dsp:nvSpPr>
        <dsp:cNvPr id="0" name=""/>
        <dsp:cNvSpPr/>
      </dsp:nvSpPr>
      <dsp:spPr>
        <a:xfrm rot="10800000">
          <a:off x="0" y="1908119"/>
          <a:ext cx="3557671" cy="1908119"/>
        </a:xfrm>
        <a:prstGeom prst="round1Rect">
          <a:avLst/>
        </a:prstGeom>
        <a:solidFill>
          <a:schemeClr val="lt1">
            <a:hueOff val="0"/>
            <a:satOff val="0"/>
            <a:lumOff val="0"/>
            <a:alphaOff val="0"/>
          </a:schemeClr>
        </a:solidFill>
        <a:ln w="34925" cap="flat" cmpd="sng" algn="in">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x-none" sz="2800" b="1" kern="1200" dirty="0"/>
            <a:t>Améliorer la communication </a:t>
          </a:r>
          <a:endParaRPr lang="en-US" sz="2800" kern="1200" dirty="0"/>
        </a:p>
      </dsp:txBody>
      <dsp:txXfrm rot="10800000">
        <a:off x="0" y="2385148"/>
        <a:ext cx="3557671" cy="1431089"/>
      </dsp:txXfrm>
    </dsp:sp>
    <dsp:sp modelId="{EAE30683-A5BC-4B4D-AA43-E78D1A3F4F77}">
      <dsp:nvSpPr>
        <dsp:cNvPr id="0" name=""/>
        <dsp:cNvSpPr/>
      </dsp:nvSpPr>
      <dsp:spPr>
        <a:xfrm rot="5400000">
          <a:off x="4382447" y="1083343"/>
          <a:ext cx="1908119" cy="3557671"/>
        </a:xfrm>
        <a:prstGeom prst="round1Rect">
          <a:avLst/>
        </a:prstGeom>
        <a:solidFill>
          <a:schemeClr val="lt1">
            <a:hueOff val="0"/>
            <a:satOff val="0"/>
            <a:lumOff val="0"/>
            <a:alphaOff val="0"/>
          </a:schemeClr>
        </a:solidFill>
        <a:ln w="34925" cap="flat" cmpd="sng" algn="in">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x-none" sz="2800" b="1" kern="1200" dirty="0"/>
            <a:t>Gérer les connaissances </a:t>
          </a:r>
          <a:endParaRPr lang="en-US" sz="2800" kern="1200" dirty="0"/>
        </a:p>
      </dsp:txBody>
      <dsp:txXfrm rot="5400000">
        <a:off x="4620961" y="1321857"/>
        <a:ext cx="1431089" cy="3557671"/>
      </dsp:txXfrm>
    </dsp:sp>
    <dsp:sp modelId="{C3C36659-4A29-6E43-A27E-420BF8A04F04}">
      <dsp:nvSpPr>
        <dsp:cNvPr id="0" name=""/>
        <dsp:cNvSpPr/>
      </dsp:nvSpPr>
      <dsp:spPr>
        <a:xfrm>
          <a:off x="2490369" y="1431089"/>
          <a:ext cx="2134602" cy="954059"/>
        </a:xfrm>
        <a:prstGeom prst="roundRect">
          <a:avLst/>
        </a:prstGeom>
        <a:solidFill>
          <a:schemeClr val="accent2">
            <a:tint val="60000"/>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kern="1200" dirty="0"/>
            <a:t>SI</a:t>
          </a:r>
        </a:p>
      </dsp:txBody>
      <dsp:txXfrm>
        <a:off x="2490369" y="1431089"/>
        <a:ext cx="2134602" cy="954059"/>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A929596-2F41-E048-A189-8CA454131676}">
      <dsp:nvSpPr>
        <dsp:cNvPr id="0" name=""/>
        <dsp:cNvSpPr/>
      </dsp:nvSpPr>
      <dsp:spPr>
        <a:xfrm>
          <a:off x="3677633" y="388"/>
          <a:ext cx="1632553" cy="1061159"/>
        </a:xfrm>
        <a:prstGeom prst="round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fr-FR" sz="1500" kern="1200" noProof="0" dirty="0"/>
            <a:t>Transactionnelles</a:t>
          </a:r>
        </a:p>
      </dsp:txBody>
      <dsp:txXfrm>
        <a:off x="3677633" y="388"/>
        <a:ext cx="1632553" cy="1061159"/>
      </dsp:txXfrm>
    </dsp:sp>
    <dsp:sp modelId="{D0E7B97F-D760-B446-BD0B-85D771E2A599}">
      <dsp:nvSpPr>
        <dsp:cNvPr id="0" name=""/>
        <dsp:cNvSpPr/>
      </dsp:nvSpPr>
      <dsp:spPr>
        <a:xfrm>
          <a:off x="2375184" y="530968"/>
          <a:ext cx="4237452" cy="4237452"/>
        </a:xfrm>
        <a:custGeom>
          <a:avLst/>
          <a:gdLst/>
          <a:ahLst/>
          <a:cxnLst/>
          <a:rect l="0" t="0" r="0" b="0"/>
          <a:pathLst>
            <a:path>
              <a:moveTo>
                <a:pt x="2946200" y="168268"/>
              </a:moveTo>
              <a:arcTo wR="2118726" hR="2118726" stAng="17579335" swAng="1959924"/>
            </a:path>
          </a:pathLst>
        </a:custGeom>
        <a:noFill/>
        <a:ln w="6350" cap="flat" cmpd="sng" algn="in">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9697117-DDC3-E643-829B-FF18A6B0BB46}">
      <dsp:nvSpPr>
        <dsp:cNvPr id="0" name=""/>
        <dsp:cNvSpPr/>
      </dsp:nvSpPr>
      <dsp:spPr>
        <a:xfrm>
          <a:off x="5692662" y="1464392"/>
          <a:ext cx="1632553" cy="1061159"/>
        </a:xfrm>
        <a:prstGeom prst="roundRect">
          <a:avLst/>
        </a:prstGeom>
        <a:solidFill>
          <a:schemeClr val="accent2">
            <a:hueOff val="-41413"/>
            <a:satOff val="-13584"/>
            <a:lumOff val="-4951"/>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fr-FR" sz="1500" kern="1200" noProof="0" dirty="0"/>
            <a:t>Opérationnels</a:t>
          </a:r>
        </a:p>
      </dsp:txBody>
      <dsp:txXfrm>
        <a:off x="5692662" y="1464392"/>
        <a:ext cx="1632553" cy="1061159"/>
      </dsp:txXfrm>
    </dsp:sp>
    <dsp:sp modelId="{3A3B66C9-4262-4B44-A2A0-DEC48DAB4418}">
      <dsp:nvSpPr>
        <dsp:cNvPr id="0" name=""/>
        <dsp:cNvSpPr/>
      </dsp:nvSpPr>
      <dsp:spPr>
        <a:xfrm>
          <a:off x="2375184" y="530968"/>
          <a:ext cx="4237452" cy="4237452"/>
        </a:xfrm>
        <a:custGeom>
          <a:avLst/>
          <a:gdLst/>
          <a:ahLst/>
          <a:cxnLst/>
          <a:rect l="0" t="0" r="0" b="0"/>
          <a:pathLst>
            <a:path>
              <a:moveTo>
                <a:pt x="4234563" y="2008119"/>
              </a:moveTo>
              <a:arcTo wR="2118726" hR="2118726" stAng="21420454" swAng="2195062"/>
            </a:path>
          </a:pathLst>
        </a:custGeom>
        <a:noFill/>
        <a:ln w="6350" cap="flat" cmpd="sng" algn="in">
          <a:solidFill>
            <a:schemeClr val="accent2">
              <a:hueOff val="-41413"/>
              <a:satOff val="-13584"/>
              <a:lumOff val="-4951"/>
              <a:alphaOff val="0"/>
            </a:schemeClr>
          </a:solidFill>
          <a:prstDash val="solid"/>
        </a:ln>
        <a:effectLst/>
      </dsp:spPr>
      <dsp:style>
        <a:lnRef idx="1">
          <a:scrgbClr r="0" g="0" b="0"/>
        </a:lnRef>
        <a:fillRef idx="0">
          <a:scrgbClr r="0" g="0" b="0"/>
        </a:fillRef>
        <a:effectRef idx="0">
          <a:scrgbClr r="0" g="0" b="0"/>
        </a:effectRef>
        <a:fontRef idx="minor"/>
      </dsp:style>
    </dsp:sp>
    <dsp:sp modelId="{5B5850B2-219F-DB4F-9BE6-23E76F848F0E}">
      <dsp:nvSpPr>
        <dsp:cNvPr id="0" name=""/>
        <dsp:cNvSpPr/>
      </dsp:nvSpPr>
      <dsp:spPr>
        <a:xfrm>
          <a:off x="4922989" y="3833200"/>
          <a:ext cx="1632553" cy="1061159"/>
        </a:xfrm>
        <a:prstGeom prst="roundRect">
          <a:avLst/>
        </a:prstGeom>
        <a:solidFill>
          <a:schemeClr val="accent2">
            <a:hueOff val="-82826"/>
            <a:satOff val="-27168"/>
            <a:lumOff val="-9901"/>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fr-FR" sz="1500" kern="1200" noProof="0" dirty="0"/>
            <a:t>Standardisés</a:t>
          </a:r>
        </a:p>
      </dsp:txBody>
      <dsp:txXfrm>
        <a:off x="4922989" y="3833200"/>
        <a:ext cx="1632553" cy="1061159"/>
      </dsp:txXfrm>
    </dsp:sp>
    <dsp:sp modelId="{EE8792F2-1496-1246-A878-5B83B63A9EA2}">
      <dsp:nvSpPr>
        <dsp:cNvPr id="0" name=""/>
        <dsp:cNvSpPr/>
      </dsp:nvSpPr>
      <dsp:spPr>
        <a:xfrm>
          <a:off x="2375184" y="530968"/>
          <a:ext cx="4237452" cy="4237452"/>
        </a:xfrm>
        <a:custGeom>
          <a:avLst/>
          <a:gdLst/>
          <a:ahLst/>
          <a:cxnLst/>
          <a:rect l="0" t="0" r="0" b="0"/>
          <a:pathLst>
            <a:path>
              <a:moveTo>
                <a:pt x="2539398" y="4195270"/>
              </a:moveTo>
              <a:arcTo wR="2118726" hR="2118726" stAng="4712871" swAng="1374258"/>
            </a:path>
          </a:pathLst>
        </a:custGeom>
        <a:noFill/>
        <a:ln w="6350" cap="flat" cmpd="sng" algn="in">
          <a:solidFill>
            <a:schemeClr val="accent2">
              <a:hueOff val="-82826"/>
              <a:satOff val="-27168"/>
              <a:lumOff val="-9901"/>
              <a:alphaOff val="0"/>
            </a:schemeClr>
          </a:solidFill>
          <a:prstDash val="solid"/>
        </a:ln>
        <a:effectLst/>
      </dsp:spPr>
      <dsp:style>
        <a:lnRef idx="1">
          <a:scrgbClr r="0" g="0" b="0"/>
        </a:lnRef>
        <a:fillRef idx="0">
          <a:scrgbClr r="0" g="0" b="0"/>
        </a:fillRef>
        <a:effectRef idx="0">
          <a:scrgbClr r="0" g="0" b="0"/>
        </a:effectRef>
        <a:fontRef idx="minor"/>
      </dsp:style>
    </dsp:sp>
    <dsp:sp modelId="{1D38CE8F-54DD-8A46-824D-B2E500309F1C}">
      <dsp:nvSpPr>
        <dsp:cNvPr id="0" name=""/>
        <dsp:cNvSpPr/>
      </dsp:nvSpPr>
      <dsp:spPr>
        <a:xfrm>
          <a:off x="2432277" y="3833200"/>
          <a:ext cx="1632553" cy="1061159"/>
        </a:xfrm>
        <a:prstGeom prst="roundRect">
          <a:avLst/>
        </a:prstGeom>
        <a:solidFill>
          <a:schemeClr val="accent2">
            <a:hueOff val="-124240"/>
            <a:satOff val="-40751"/>
            <a:lumOff val="-14852"/>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fr-FR" sz="1500" kern="1200" noProof="0" dirty="0"/>
            <a:t>Utilisateurs Multiples</a:t>
          </a:r>
        </a:p>
      </dsp:txBody>
      <dsp:txXfrm>
        <a:off x="2432277" y="3833200"/>
        <a:ext cx="1632553" cy="1061159"/>
      </dsp:txXfrm>
    </dsp:sp>
    <dsp:sp modelId="{67DB0CEC-A34C-5142-A430-22711B1CEDC6}">
      <dsp:nvSpPr>
        <dsp:cNvPr id="0" name=""/>
        <dsp:cNvSpPr/>
      </dsp:nvSpPr>
      <dsp:spPr>
        <a:xfrm>
          <a:off x="2375184" y="530968"/>
          <a:ext cx="4237452" cy="4237452"/>
        </a:xfrm>
        <a:custGeom>
          <a:avLst/>
          <a:gdLst/>
          <a:ahLst/>
          <a:cxnLst/>
          <a:rect l="0" t="0" r="0" b="0"/>
          <a:pathLst>
            <a:path>
              <a:moveTo>
                <a:pt x="353829" y="3290962"/>
              </a:moveTo>
              <a:arcTo wR="2118726" hR="2118726" stAng="8784484" swAng="2195062"/>
            </a:path>
          </a:pathLst>
        </a:custGeom>
        <a:noFill/>
        <a:ln w="6350" cap="flat" cmpd="sng" algn="in">
          <a:solidFill>
            <a:schemeClr val="accent2">
              <a:hueOff val="-124240"/>
              <a:satOff val="-40751"/>
              <a:lumOff val="-14852"/>
              <a:alphaOff val="0"/>
            </a:schemeClr>
          </a:solidFill>
          <a:prstDash val="solid"/>
        </a:ln>
        <a:effectLst/>
      </dsp:spPr>
      <dsp:style>
        <a:lnRef idx="1">
          <a:scrgbClr r="0" g="0" b="0"/>
        </a:lnRef>
        <a:fillRef idx="0">
          <a:scrgbClr r="0" g="0" b="0"/>
        </a:fillRef>
        <a:effectRef idx="0">
          <a:scrgbClr r="0" g="0" b="0"/>
        </a:effectRef>
        <a:fontRef idx="minor"/>
      </dsp:style>
    </dsp:sp>
    <dsp:sp modelId="{8FB06626-EFB6-D740-B910-E584B61E857A}">
      <dsp:nvSpPr>
        <dsp:cNvPr id="0" name=""/>
        <dsp:cNvSpPr/>
      </dsp:nvSpPr>
      <dsp:spPr>
        <a:xfrm>
          <a:off x="1662605" y="1464392"/>
          <a:ext cx="1632553" cy="1061159"/>
        </a:xfrm>
        <a:prstGeom prst="roundRect">
          <a:avLst/>
        </a:prstGeom>
        <a:solidFill>
          <a:schemeClr val="accent2">
            <a:hueOff val="-165653"/>
            <a:satOff val="-54335"/>
            <a:lumOff val="-1980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fr-FR" sz="1500" kern="1200" noProof="0" dirty="0"/>
            <a:t>Temps réel</a:t>
          </a:r>
        </a:p>
      </dsp:txBody>
      <dsp:txXfrm>
        <a:off x="1662605" y="1464392"/>
        <a:ext cx="1632553" cy="1061159"/>
      </dsp:txXfrm>
    </dsp:sp>
    <dsp:sp modelId="{B49A654F-45DC-274A-A559-C1FE3DE15743}">
      <dsp:nvSpPr>
        <dsp:cNvPr id="0" name=""/>
        <dsp:cNvSpPr/>
      </dsp:nvSpPr>
      <dsp:spPr>
        <a:xfrm>
          <a:off x="2375184" y="530968"/>
          <a:ext cx="4237452" cy="4237452"/>
        </a:xfrm>
        <a:custGeom>
          <a:avLst/>
          <a:gdLst/>
          <a:ahLst/>
          <a:cxnLst/>
          <a:rect l="0" t="0" r="0" b="0"/>
          <a:pathLst>
            <a:path>
              <a:moveTo>
                <a:pt x="369402" y="923373"/>
              </a:moveTo>
              <a:arcTo wR="2118726" hR="2118726" stAng="12860742" swAng="1959924"/>
            </a:path>
          </a:pathLst>
        </a:custGeom>
        <a:noFill/>
        <a:ln w="6350" cap="flat" cmpd="sng" algn="in">
          <a:solidFill>
            <a:schemeClr val="accent2">
              <a:hueOff val="-165653"/>
              <a:satOff val="-54335"/>
              <a:lumOff val="-19803"/>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D2D1586-76F2-AE45-8789-C0B869A366B0}">
      <dsp:nvSpPr>
        <dsp:cNvPr id="0" name=""/>
        <dsp:cNvSpPr/>
      </dsp:nvSpPr>
      <dsp:spPr>
        <a:xfrm>
          <a:off x="1709787" y="2183"/>
          <a:ext cx="3209726" cy="1925835"/>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x-none" sz="3400" b="1" kern="1200" dirty="0"/>
            <a:t>Efficacité Opérationnelle </a:t>
          </a:r>
          <a:endParaRPr lang="en-US" sz="3400" kern="1200" dirty="0"/>
        </a:p>
      </dsp:txBody>
      <dsp:txXfrm>
        <a:off x="1709787" y="2183"/>
        <a:ext cx="3209726" cy="1925835"/>
      </dsp:txXfrm>
    </dsp:sp>
    <dsp:sp modelId="{4168E2E4-C500-B248-8253-C3C9A745000A}">
      <dsp:nvSpPr>
        <dsp:cNvPr id="0" name=""/>
        <dsp:cNvSpPr/>
      </dsp:nvSpPr>
      <dsp:spPr>
        <a:xfrm>
          <a:off x="5240486" y="2183"/>
          <a:ext cx="3209726" cy="1925835"/>
        </a:xfrm>
        <a:prstGeom prst="rect">
          <a:avLst/>
        </a:prstGeom>
        <a:solidFill>
          <a:schemeClr val="accent2">
            <a:hueOff val="-55218"/>
            <a:satOff val="-18112"/>
            <a:lumOff val="-6601"/>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x-none" sz="3400" b="1" kern="1200" dirty="0"/>
            <a:t>Précision des Données</a:t>
          </a:r>
          <a:endParaRPr lang="en-US" sz="3400" kern="1200" dirty="0"/>
        </a:p>
      </dsp:txBody>
      <dsp:txXfrm>
        <a:off x="5240486" y="2183"/>
        <a:ext cx="3209726" cy="1925835"/>
      </dsp:txXfrm>
    </dsp:sp>
    <dsp:sp modelId="{2EA168E3-B536-6840-8C2E-053FF39A10FC}">
      <dsp:nvSpPr>
        <dsp:cNvPr id="0" name=""/>
        <dsp:cNvSpPr/>
      </dsp:nvSpPr>
      <dsp:spPr>
        <a:xfrm>
          <a:off x="1709787" y="2248991"/>
          <a:ext cx="3209726" cy="1925835"/>
        </a:xfrm>
        <a:prstGeom prst="rect">
          <a:avLst/>
        </a:prstGeom>
        <a:solidFill>
          <a:schemeClr val="accent2">
            <a:hueOff val="-110435"/>
            <a:satOff val="-36223"/>
            <a:lumOff val="-13202"/>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x-none" sz="3400" b="1" kern="1200" dirty="0"/>
            <a:t>Amélioration du Service Client </a:t>
          </a:r>
          <a:endParaRPr lang="en-US" sz="3400" kern="1200" dirty="0"/>
        </a:p>
      </dsp:txBody>
      <dsp:txXfrm>
        <a:off x="1709787" y="2248991"/>
        <a:ext cx="3209726" cy="1925835"/>
      </dsp:txXfrm>
    </dsp:sp>
    <dsp:sp modelId="{0CC5B25D-30A5-E14A-AFFE-B7F7A407DE7F}">
      <dsp:nvSpPr>
        <dsp:cNvPr id="0" name=""/>
        <dsp:cNvSpPr/>
      </dsp:nvSpPr>
      <dsp:spPr>
        <a:xfrm>
          <a:off x="5240486" y="2248991"/>
          <a:ext cx="3209726" cy="1925835"/>
        </a:xfrm>
        <a:prstGeom prst="rect">
          <a:avLst/>
        </a:prstGeom>
        <a:solidFill>
          <a:schemeClr val="accent2">
            <a:hueOff val="-165653"/>
            <a:satOff val="-54335"/>
            <a:lumOff val="-1980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x-none" sz="3400" b="1" kern="1200" dirty="0"/>
            <a:t>Meilleure Communication </a:t>
          </a:r>
          <a:endParaRPr lang="en-US" sz="3400" kern="1200" dirty="0"/>
        </a:p>
      </dsp:txBody>
      <dsp:txXfrm>
        <a:off x="5240486" y="2248991"/>
        <a:ext cx="3209726" cy="1925835"/>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D2D1586-76F2-AE45-8789-C0B869A366B0}">
      <dsp:nvSpPr>
        <dsp:cNvPr id="0" name=""/>
        <dsp:cNvSpPr/>
      </dsp:nvSpPr>
      <dsp:spPr>
        <a:xfrm>
          <a:off x="756989" y="1047"/>
          <a:ext cx="2330544" cy="1398326"/>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dirty="0"/>
            <a:t>Consolider les données</a:t>
          </a:r>
          <a:endParaRPr lang="en-US" sz="2400" kern="1200" dirty="0"/>
        </a:p>
      </dsp:txBody>
      <dsp:txXfrm>
        <a:off x="756989" y="1047"/>
        <a:ext cx="2330544" cy="1398326"/>
      </dsp:txXfrm>
    </dsp:sp>
    <dsp:sp modelId="{4168E2E4-C500-B248-8253-C3C9A745000A}">
      <dsp:nvSpPr>
        <dsp:cNvPr id="0" name=""/>
        <dsp:cNvSpPr/>
      </dsp:nvSpPr>
      <dsp:spPr>
        <a:xfrm>
          <a:off x="3320588" y="1047"/>
          <a:ext cx="2330544" cy="1398326"/>
        </a:xfrm>
        <a:prstGeom prst="rect">
          <a:avLst/>
        </a:prstGeom>
        <a:solidFill>
          <a:schemeClr val="accent2">
            <a:hueOff val="-41413"/>
            <a:satOff val="-13584"/>
            <a:lumOff val="-4951"/>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dirty="0"/>
            <a:t>Améliorer la prise de décision</a:t>
          </a:r>
          <a:endParaRPr lang="en-US" sz="2400" kern="1200" dirty="0"/>
        </a:p>
      </dsp:txBody>
      <dsp:txXfrm>
        <a:off x="3320588" y="1047"/>
        <a:ext cx="2330544" cy="1398326"/>
      </dsp:txXfrm>
    </dsp:sp>
    <dsp:sp modelId="{2EA168E3-B536-6840-8C2E-053FF39A10FC}">
      <dsp:nvSpPr>
        <dsp:cNvPr id="0" name=""/>
        <dsp:cNvSpPr/>
      </dsp:nvSpPr>
      <dsp:spPr>
        <a:xfrm>
          <a:off x="5884187" y="1047"/>
          <a:ext cx="2330544" cy="1398326"/>
        </a:xfrm>
        <a:prstGeom prst="rect">
          <a:avLst/>
        </a:prstGeom>
        <a:solidFill>
          <a:schemeClr val="accent2">
            <a:hueOff val="-82826"/>
            <a:satOff val="-27168"/>
            <a:lumOff val="-9901"/>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dirty="0"/>
            <a:t>Soutenir l'analyse d'affaires</a:t>
          </a:r>
          <a:endParaRPr lang="en-US" sz="2400" kern="1200" dirty="0"/>
        </a:p>
      </dsp:txBody>
      <dsp:txXfrm>
        <a:off x="5884187" y="1047"/>
        <a:ext cx="2330544" cy="1398326"/>
      </dsp:txXfrm>
    </dsp:sp>
    <dsp:sp modelId="{A3B57F57-0744-204B-86F5-C420B3F7C4C8}">
      <dsp:nvSpPr>
        <dsp:cNvPr id="0" name=""/>
        <dsp:cNvSpPr/>
      </dsp:nvSpPr>
      <dsp:spPr>
        <a:xfrm>
          <a:off x="2038788" y="1632428"/>
          <a:ext cx="2330544" cy="1398326"/>
        </a:xfrm>
        <a:prstGeom prst="rect">
          <a:avLst/>
        </a:prstGeom>
        <a:solidFill>
          <a:schemeClr val="accent2">
            <a:hueOff val="-124240"/>
            <a:satOff val="-40751"/>
            <a:lumOff val="-14852"/>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dirty="0"/>
            <a:t>Améliorer la qualité et la cohérence des données</a:t>
          </a:r>
          <a:endParaRPr lang="en-US" sz="2400" kern="1200" dirty="0"/>
        </a:p>
      </dsp:txBody>
      <dsp:txXfrm>
        <a:off x="2038788" y="1632428"/>
        <a:ext cx="2330544" cy="1398326"/>
      </dsp:txXfrm>
    </dsp:sp>
    <dsp:sp modelId="{B25B2D85-0501-AE4C-807D-4096F22C5373}">
      <dsp:nvSpPr>
        <dsp:cNvPr id="0" name=""/>
        <dsp:cNvSpPr/>
      </dsp:nvSpPr>
      <dsp:spPr>
        <a:xfrm>
          <a:off x="4602388" y="1632428"/>
          <a:ext cx="2330544" cy="1398326"/>
        </a:xfrm>
        <a:prstGeom prst="rect">
          <a:avLst/>
        </a:prstGeom>
        <a:solidFill>
          <a:schemeClr val="accent2">
            <a:hueOff val="-165653"/>
            <a:satOff val="-54335"/>
            <a:lumOff val="-1980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dirty="0"/>
            <a:t>Sécuriser les données</a:t>
          </a:r>
          <a:endParaRPr lang="en-US" sz="2400" kern="1200" dirty="0"/>
        </a:p>
      </dsp:txBody>
      <dsp:txXfrm>
        <a:off x="4602388" y="1632428"/>
        <a:ext cx="2330544" cy="1398326"/>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6F07AC7-9182-3147-82D6-5F441FB648A7}">
      <dsp:nvSpPr>
        <dsp:cNvPr id="0" name=""/>
        <dsp:cNvSpPr/>
      </dsp:nvSpPr>
      <dsp:spPr>
        <a:xfrm>
          <a:off x="2800143" y="1801169"/>
          <a:ext cx="1161459" cy="1161459"/>
        </a:xfrm>
        <a:prstGeom prst="roundRect">
          <a:avLst/>
        </a:prstGeom>
        <a:solidFill>
          <a:schemeClr val="accent2">
            <a:lumMod val="75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600200">
            <a:lnSpc>
              <a:spcPct val="90000"/>
            </a:lnSpc>
            <a:spcBef>
              <a:spcPct val="0"/>
            </a:spcBef>
            <a:spcAft>
              <a:spcPct val="35000"/>
            </a:spcAft>
          </a:pPr>
          <a:r>
            <a:rPr lang="en-US" sz="3600" kern="1200" dirty="0"/>
            <a:t>Fait</a:t>
          </a:r>
        </a:p>
      </dsp:txBody>
      <dsp:txXfrm>
        <a:off x="2800143" y="1801169"/>
        <a:ext cx="1161459" cy="1161459"/>
      </dsp:txXfrm>
    </dsp:sp>
    <dsp:sp modelId="{911E6691-BB2B-C04D-8769-F4D089FD8904}">
      <dsp:nvSpPr>
        <dsp:cNvPr id="0" name=""/>
        <dsp:cNvSpPr/>
      </dsp:nvSpPr>
      <dsp:spPr>
        <a:xfrm rot="16200000">
          <a:off x="2973515" y="1393812"/>
          <a:ext cx="814715" cy="0"/>
        </a:xfrm>
        <a:custGeom>
          <a:avLst/>
          <a:gdLst/>
          <a:ahLst/>
          <a:cxnLst/>
          <a:rect l="0" t="0" r="0" b="0"/>
          <a:pathLst>
            <a:path>
              <a:moveTo>
                <a:pt x="0" y="0"/>
              </a:moveTo>
              <a:lnTo>
                <a:pt x="814715" y="0"/>
              </a:lnTo>
            </a:path>
          </a:pathLst>
        </a:custGeom>
        <a:noFill/>
        <a:ln w="34925" cap="flat" cmpd="sng" algn="in">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24D526-463E-354D-8263-DEDA3243AC76}">
      <dsp:nvSpPr>
        <dsp:cNvPr id="0" name=""/>
        <dsp:cNvSpPr/>
      </dsp:nvSpPr>
      <dsp:spPr>
        <a:xfrm>
          <a:off x="2991784" y="208276"/>
          <a:ext cx="778177" cy="778177"/>
        </a:xfrm>
        <a:prstGeom prst="roundRect">
          <a:avLst/>
        </a:prstGeom>
        <a:solidFill>
          <a:schemeClr val="accent5">
            <a:lumMod val="75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488950" rtl="0">
            <a:lnSpc>
              <a:spcPct val="90000"/>
            </a:lnSpc>
            <a:spcBef>
              <a:spcPct val="0"/>
            </a:spcBef>
            <a:spcAft>
              <a:spcPct val="35000"/>
            </a:spcAft>
          </a:pPr>
          <a:r>
            <a:rPr lang="en-US" sz="1100" kern="1200" dirty="0"/>
            <a:t>Dimension</a:t>
          </a:r>
        </a:p>
      </dsp:txBody>
      <dsp:txXfrm>
        <a:off x="2991784" y="208276"/>
        <a:ext cx="778177" cy="778177"/>
      </dsp:txXfrm>
    </dsp:sp>
    <dsp:sp modelId="{225B656E-F133-6549-8C99-966056DA32B8}">
      <dsp:nvSpPr>
        <dsp:cNvPr id="0" name=""/>
        <dsp:cNvSpPr/>
      </dsp:nvSpPr>
      <dsp:spPr>
        <a:xfrm rot="1800000">
          <a:off x="3917077" y="2883355"/>
          <a:ext cx="664684" cy="0"/>
        </a:xfrm>
        <a:custGeom>
          <a:avLst/>
          <a:gdLst/>
          <a:ahLst/>
          <a:cxnLst/>
          <a:rect l="0" t="0" r="0" b="0"/>
          <a:pathLst>
            <a:path>
              <a:moveTo>
                <a:pt x="0" y="0"/>
              </a:moveTo>
              <a:lnTo>
                <a:pt x="664684" y="0"/>
              </a:lnTo>
            </a:path>
          </a:pathLst>
        </a:custGeom>
        <a:noFill/>
        <a:ln w="34925" cap="flat" cmpd="sng" algn="in">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AD1312-FEF2-F044-A3FB-8BC01FBAC62C}">
      <dsp:nvSpPr>
        <dsp:cNvPr id="0" name=""/>
        <dsp:cNvSpPr/>
      </dsp:nvSpPr>
      <dsp:spPr>
        <a:xfrm>
          <a:off x="4537236" y="2885077"/>
          <a:ext cx="778177" cy="778177"/>
        </a:xfrm>
        <a:prstGeom prst="roundRect">
          <a:avLst/>
        </a:prstGeom>
        <a:solidFill>
          <a:schemeClr val="accent5">
            <a:lumMod val="75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488950">
            <a:lnSpc>
              <a:spcPct val="90000"/>
            </a:lnSpc>
            <a:spcBef>
              <a:spcPct val="0"/>
            </a:spcBef>
            <a:spcAft>
              <a:spcPct val="35000"/>
            </a:spcAft>
          </a:pPr>
          <a:r>
            <a:rPr lang="en-US" sz="1100" kern="1200" dirty="0"/>
            <a:t>Dimension</a:t>
          </a:r>
        </a:p>
      </dsp:txBody>
      <dsp:txXfrm>
        <a:off x="4537236" y="2885077"/>
        <a:ext cx="778177" cy="778177"/>
      </dsp:txXfrm>
    </dsp:sp>
    <dsp:sp modelId="{AC22B39C-4DEB-574F-B6DA-B8959E22CD94}">
      <dsp:nvSpPr>
        <dsp:cNvPr id="0" name=""/>
        <dsp:cNvSpPr/>
      </dsp:nvSpPr>
      <dsp:spPr>
        <a:xfrm rot="9000000">
          <a:off x="2179984" y="2883355"/>
          <a:ext cx="664684" cy="0"/>
        </a:xfrm>
        <a:custGeom>
          <a:avLst/>
          <a:gdLst/>
          <a:ahLst/>
          <a:cxnLst/>
          <a:rect l="0" t="0" r="0" b="0"/>
          <a:pathLst>
            <a:path>
              <a:moveTo>
                <a:pt x="0" y="0"/>
              </a:moveTo>
              <a:lnTo>
                <a:pt x="664684" y="0"/>
              </a:lnTo>
            </a:path>
          </a:pathLst>
        </a:custGeom>
        <a:noFill/>
        <a:ln w="34925" cap="flat" cmpd="sng" algn="in">
          <a:solidFill>
            <a:schemeClr val="accent5">
              <a:tint val="99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67487E-7470-3842-88F1-064F9380B8B1}">
      <dsp:nvSpPr>
        <dsp:cNvPr id="0" name=""/>
        <dsp:cNvSpPr/>
      </dsp:nvSpPr>
      <dsp:spPr>
        <a:xfrm>
          <a:off x="1446332" y="2885077"/>
          <a:ext cx="778177" cy="778177"/>
        </a:xfrm>
        <a:prstGeom prst="roundRect">
          <a:avLst/>
        </a:prstGeom>
        <a:solidFill>
          <a:schemeClr val="accent5">
            <a:lumMod val="7500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lvl="0" algn="ctr" defTabSz="488950">
            <a:lnSpc>
              <a:spcPct val="90000"/>
            </a:lnSpc>
            <a:spcBef>
              <a:spcPct val="0"/>
            </a:spcBef>
            <a:spcAft>
              <a:spcPct val="35000"/>
            </a:spcAft>
          </a:pPr>
          <a:r>
            <a:rPr lang="en-US" sz="1100" kern="1200" dirty="0"/>
            <a:t>Dimension</a:t>
          </a:r>
        </a:p>
      </dsp:txBody>
      <dsp:txXfrm>
        <a:off x="1446332" y="2885077"/>
        <a:ext cx="778177" cy="778177"/>
      </dsp:txXfrm>
    </dsp:sp>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5230F24-F966-9343-8BC8-5A3DABF7D9C2}">
      <dsp:nvSpPr>
        <dsp:cNvPr id="0" name=""/>
        <dsp:cNvSpPr/>
      </dsp:nvSpPr>
      <dsp:spPr>
        <a:xfrm>
          <a:off x="4120231" y="1447339"/>
          <a:ext cx="1749665" cy="607321"/>
        </a:xfrm>
        <a:custGeom>
          <a:avLst/>
          <a:gdLst/>
          <a:ahLst/>
          <a:cxnLst/>
          <a:rect l="0" t="0" r="0" b="0"/>
          <a:pathLst>
            <a:path>
              <a:moveTo>
                <a:pt x="0" y="0"/>
              </a:moveTo>
              <a:lnTo>
                <a:pt x="0" y="303660"/>
              </a:lnTo>
              <a:lnTo>
                <a:pt x="1749665" y="303660"/>
              </a:lnTo>
              <a:lnTo>
                <a:pt x="1749665" y="607321"/>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956A38-E1C9-744F-87FD-79DFF8C3B8AD}">
      <dsp:nvSpPr>
        <dsp:cNvPr id="0" name=""/>
        <dsp:cNvSpPr/>
      </dsp:nvSpPr>
      <dsp:spPr>
        <a:xfrm>
          <a:off x="2370566" y="1447339"/>
          <a:ext cx="1749665" cy="607321"/>
        </a:xfrm>
        <a:custGeom>
          <a:avLst/>
          <a:gdLst/>
          <a:ahLst/>
          <a:cxnLst/>
          <a:rect l="0" t="0" r="0" b="0"/>
          <a:pathLst>
            <a:path>
              <a:moveTo>
                <a:pt x="1749665" y="0"/>
              </a:moveTo>
              <a:lnTo>
                <a:pt x="1749665" y="303660"/>
              </a:lnTo>
              <a:lnTo>
                <a:pt x="0" y="303660"/>
              </a:lnTo>
              <a:lnTo>
                <a:pt x="0" y="607321"/>
              </a:lnTo>
            </a:path>
          </a:pathLst>
        </a:custGeom>
        <a:noFill/>
        <a:ln w="34925" cap="flat" cmpd="sng" algn="in">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4B3F03-6FA8-5F4F-A456-FE36B76018EA}">
      <dsp:nvSpPr>
        <dsp:cNvPr id="0" name=""/>
        <dsp:cNvSpPr/>
      </dsp:nvSpPr>
      <dsp:spPr>
        <a:xfrm>
          <a:off x="1543727" y="1335"/>
          <a:ext cx="5153009" cy="1446004"/>
        </a:xfrm>
        <a:prstGeom prst="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buNone/>
          </a:pPr>
          <a:r>
            <a:rPr lang="fr-FR" altLang="fr-FR" sz="2800" b="1" kern="1200" dirty="0">
              <a:latin typeface="Times New Roman" pitchFamily="18" charset="0"/>
              <a:cs typeface="Times New Roman" pitchFamily="18" charset="0"/>
            </a:rPr>
            <a:t>Pourquoi la transformation?</a:t>
          </a:r>
          <a:endParaRPr lang="en-US" sz="2800" kern="1200" dirty="0">
            <a:latin typeface="Times New Roman" panose="02020603050405020304" pitchFamily="18" charset="0"/>
            <a:cs typeface="Times New Roman" panose="02020603050405020304" pitchFamily="18" charset="0"/>
          </a:endParaRPr>
        </a:p>
      </dsp:txBody>
      <dsp:txXfrm>
        <a:off x="1543727" y="1335"/>
        <a:ext cx="5153009" cy="1446004"/>
      </dsp:txXfrm>
    </dsp:sp>
    <dsp:sp modelId="{C58B083C-C30A-6547-B365-3A2394ADD903}">
      <dsp:nvSpPr>
        <dsp:cNvPr id="0" name=""/>
        <dsp:cNvSpPr/>
      </dsp:nvSpPr>
      <dsp:spPr>
        <a:xfrm>
          <a:off x="924562" y="2054661"/>
          <a:ext cx="2892008" cy="1446004"/>
        </a:xfrm>
        <a:prstGeom prst="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rtl="0">
            <a:lnSpc>
              <a:spcPct val="90000"/>
            </a:lnSpc>
            <a:spcBef>
              <a:spcPct val="0"/>
            </a:spcBef>
            <a:spcAft>
              <a:spcPct val="35000"/>
            </a:spcAft>
          </a:pPr>
          <a:r>
            <a:rPr lang="en-US" sz="2800" kern="1200" dirty="0" err="1">
              <a:latin typeface="Times New Roman" panose="02020603050405020304" pitchFamily="18" charset="0"/>
              <a:cs typeface="Times New Roman" panose="02020603050405020304" pitchFamily="18" charset="0"/>
            </a:rPr>
            <a:t>Consolider</a:t>
          </a:r>
          <a:endParaRPr lang="en-US" sz="2800" kern="1200" dirty="0">
            <a:latin typeface="Times New Roman" panose="02020603050405020304" pitchFamily="18" charset="0"/>
            <a:cs typeface="Times New Roman" panose="02020603050405020304" pitchFamily="18" charset="0"/>
          </a:endParaRPr>
        </a:p>
      </dsp:txBody>
      <dsp:txXfrm>
        <a:off x="924562" y="2054661"/>
        <a:ext cx="2892008" cy="1446004"/>
      </dsp:txXfrm>
    </dsp:sp>
    <dsp:sp modelId="{43EA3744-62A5-CB42-9E82-450FB7545FD3}">
      <dsp:nvSpPr>
        <dsp:cNvPr id="0" name=""/>
        <dsp:cNvSpPr/>
      </dsp:nvSpPr>
      <dsp:spPr>
        <a:xfrm>
          <a:off x="4423892" y="2054661"/>
          <a:ext cx="2892008" cy="1446004"/>
        </a:xfrm>
        <a:prstGeom prst="rect">
          <a:avLst/>
        </a:prstGeom>
        <a:solidFill>
          <a:schemeClr val="accent1">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err="1">
              <a:latin typeface="Times New Roman" panose="02020603050405020304" pitchFamily="18" charset="0"/>
              <a:cs typeface="Times New Roman" panose="02020603050405020304" pitchFamily="18" charset="0"/>
            </a:rPr>
            <a:t>Réforme</a:t>
          </a:r>
          <a:endParaRPr lang="en-US" sz="2800" kern="1200" dirty="0">
            <a:latin typeface="Times New Roman" panose="02020603050405020304" pitchFamily="18" charset="0"/>
            <a:cs typeface="Times New Roman" panose="02020603050405020304" pitchFamily="18" charset="0"/>
          </a:endParaRPr>
        </a:p>
      </dsp:txBody>
      <dsp:txXfrm>
        <a:off x="4423892" y="2054661"/>
        <a:ext cx="2892008" cy="1446004"/>
      </dsp:txXfrm>
    </dsp:sp>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AF16EE7-AE26-794F-A4D2-898286302135}">
      <dsp:nvSpPr>
        <dsp:cNvPr id="0" name=""/>
        <dsp:cNvSpPr/>
      </dsp:nvSpPr>
      <dsp:spPr>
        <a:xfrm>
          <a:off x="313155" y="1563"/>
          <a:ext cx="2469432" cy="1481659"/>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noProof="0" dirty="0" err="1"/>
            <a:t>Deduplication</a:t>
          </a:r>
          <a:endParaRPr lang="fr-FR" sz="2600" kern="1200" noProof="0" dirty="0"/>
        </a:p>
      </dsp:txBody>
      <dsp:txXfrm>
        <a:off x="313155" y="1563"/>
        <a:ext cx="2469432" cy="1481659"/>
      </dsp:txXfrm>
    </dsp:sp>
    <dsp:sp modelId="{07F202B9-CFA6-D84F-8D50-83B670E4CA8A}">
      <dsp:nvSpPr>
        <dsp:cNvPr id="0" name=""/>
        <dsp:cNvSpPr/>
      </dsp:nvSpPr>
      <dsp:spPr>
        <a:xfrm>
          <a:off x="3029531" y="1563"/>
          <a:ext cx="2469432" cy="1481659"/>
        </a:xfrm>
        <a:prstGeom prst="rect">
          <a:avLst/>
        </a:prstGeom>
        <a:solidFill>
          <a:schemeClr val="accent4">
            <a:hueOff val="1200891"/>
            <a:satOff val="4546"/>
            <a:lumOff val="-294"/>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noProof="0" dirty="0"/>
            <a:t>Filtrage de lignes</a:t>
          </a:r>
        </a:p>
      </dsp:txBody>
      <dsp:txXfrm>
        <a:off x="3029531" y="1563"/>
        <a:ext cx="2469432" cy="1481659"/>
      </dsp:txXfrm>
    </dsp:sp>
    <dsp:sp modelId="{5A68A6CD-1028-8B45-A2A0-09F38023699E}">
      <dsp:nvSpPr>
        <dsp:cNvPr id="0" name=""/>
        <dsp:cNvSpPr/>
      </dsp:nvSpPr>
      <dsp:spPr>
        <a:xfrm>
          <a:off x="5745907" y="1563"/>
          <a:ext cx="2469432" cy="1481659"/>
        </a:xfrm>
        <a:prstGeom prst="rect">
          <a:avLst/>
        </a:prstGeom>
        <a:solidFill>
          <a:schemeClr val="accent4">
            <a:hueOff val="2401783"/>
            <a:satOff val="9091"/>
            <a:lumOff val="-588"/>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noProof="0" dirty="0" err="1"/>
            <a:t>Cleaning</a:t>
          </a:r>
          <a:r>
            <a:rPr lang="fr-FR" sz="2600" kern="1200" noProof="0" dirty="0"/>
            <a:t> &amp; </a:t>
          </a:r>
          <a:r>
            <a:rPr lang="fr-FR" sz="2600" kern="1200" noProof="0" dirty="0" err="1"/>
            <a:t>Mapping</a:t>
          </a:r>
          <a:endParaRPr lang="fr-FR" sz="2600" kern="1200" noProof="0" dirty="0"/>
        </a:p>
      </dsp:txBody>
      <dsp:txXfrm>
        <a:off x="5745907" y="1563"/>
        <a:ext cx="2469432" cy="1481659"/>
      </dsp:txXfrm>
    </dsp:sp>
    <dsp:sp modelId="{24BB29A1-52CE-CC42-A02C-17560EE086A6}">
      <dsp:nvSpPr>
        <dsp:cNvPr id="0" name=""/>
        <dsp:cNvSpPr/>
      </dsp:nvSpPr>
      <dsp:spPr>
        <a:xfrm>
          <a:off x="1671343" y="1730166"/>
          <a:ext cx="2469432" cy="1481659"/>
        </a:xfrm>
        <a:prstGeom prst="rect">
          <a:avLst/>
        </a:prstGeom>
        <a:solidFill>
          <a:schemeClr val="accent4">
            <a:hueOff val="3602674"/>
            <a:satOff val="13636"/>
            <a:lumOff val="-883"/>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noProof="0" dirty="0"/>
            <a:t>Standardisation</a:t>
          </a:r>
        </a:p>
      </dsp:txBody>
      <dsp:txXfrm>
        <a:off x="1671343" y="1730166"/>
        <a:ext cx="2469432" cy="1481659"/>
      </dsp:txXfrm>
    </dsp:sp>
    <dsp:sp modelId="{1650C8EC-7548-F344-BCE9-59227A9A754B}">
      <dsp:nvSpPr>
        <dsp:cNvPr id="0" name=""/>
        <dsp:cNvSpPr/>
      </dsp:nvSpPr>
      <dsp:spPr>
        <a:xfrm>
          <a:off x="4387719" y="1730166"/>
          <a:ext cx="2469432" cy="1481659"/>
        </a:xfrm>
        <a:prstGeom prst="rect">
          <a:avLst/>
        </a:prstGeom>
        <a:solidFill>
          <a:schemeClr val="accent4">
            <a:hueOff val="4803566"/>
            <a:satOff val="18182"/>
            <a:lumOff val="-1177"/>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fr-FR" sz="2600" kern="1200" noProof="0" dirty="0"/>
            <a:t>Génération de clé</a:t>
          </a:r>
        </a:p>
      </dsp:txBody>
      <dsp:txXfrm>
        <a:off x="4387719" y="1730166"/>
        <a:ext cx="2469432" cy="1481659"/>
      </dsp:txXfrm>
    </dsp:sp>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AF16EE7-AE26-794F-A4D2-898286302135}">
      <dsp:nvSpPr>
        <dsp:cNvPr id="0" name=""/>
        <dsp:cNvSpPr/>
      </dsp:nvSpPr>
      <dsp:spPr>
        <a:xfrm>
          <a:off x="3113" y="865684"/>
          <a:ext cx="2470034" cy="1482020"/>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fr-FR" sz="3400" kern="1200" noProof="0" dirty="0"/>
            <a:t>Jointure de table</a:t>
          </a:r>
        </a:p>
      </dsp:txBody>
      <dsp:txXfrm>
        <a:off x="3113" y="865684"/>
        <a:ext cx="2470034" cy="1482020"/>
      </dsp:txXfrm>
    </dsp:sp>
    <dsp:sp modelId="{07F202B9-CFA6-D84F-8D50-83B670E4CA8A}">
      <dsp:nvSpPr>
        <dsp:cNvPr id="0" name=""/>
        <dsp:cNvSpPr/>
      </dsp:nvSpPr>
      <dsp:spPr>
        <a:xfrm>
          <a:off x="2720151" y="865684"/>
          <a:ext cx="2470034" cy="1482020"/>
        </a:xfrm>
        <a:prstGeom prst="rect">
          <a:avLst/>
        </a:prstGeom>
        <a:solidFill>
          <a:schemeClr val="accent4">
            <a:hueOff val="1601189"/>
            <a:satOff val="6061"/>
            <a:lumOff val="-392"/>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fr-FR" sz="3400" kern="1200" noProof="0" dirty="0" err="1"/>
            <a:t>Splitting</a:t>
          </a:r>
          <a:endParaRPr lang="fr-FR" sz="3400" kern="1200" noProof="0" dirty="0"/>
        </a:p>
      </dsp:txBody>
      <dsp:txXfrm>
        <a:off x="2720151" y="865684"/>
        <a:ext cx="2470034" cy="1482020"/>
      </dsp:txXfrm>
    </dsp:sp>
    <dsp:sp modelId="{5A68A6CD-1028-8B45-A2A0-09F38023699E}">
      <dsp:nvSpPr>
        <dsp:cNvPr id="0" name=""/>
        <dsp:cNvSpPr/>
      </dsp:nvSpPr>
      <dsp:spPr>
        <a:xfrm>
          <a:off x="5437189" y="865684"/>
          <a:ext cx="2470034" cy="1482020"/>
        </a:xfrm>
        <a:prstGeom prst="rect">
          <a:avLst/>
        </a:prstGeom>
        <a:solidFill>
          <a:schemeClr val="accent4">
            <a:hueOff val="3202377"/>
            <a:satOff val="12121"/>
            <a:lumOff val="-785"/>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fr-FR" sz="3400" kern="1200" noProof="0" dirty="0" err="1"/>
            <a:t>Aggregation</a:t>
          </a:r>
          <a:endParaRPr lang="fr-FR" sz="3400" kern="1200" noProof="0" dirty="0"/>
        </a:p>
      </dsp:txBody>
      <dsp:txXfrm>
        <a:off x="5437189" y="865684"/>
        <a:ext cx="2470034" cy="1482020"/>
      </dsp:txXfrm>
    </dsp:sp>
    <dsp:sp modelId="{24BB29A1-52CE-CC42-A02C-17560EE086A6}">
      <dsp:nvSpPr>
        <dsp:cNvPr id="0" name=""/>
        <dsp:cNvSpPr/>
      </dsp:nvSpPr>
      <dsp:spPr>
        <a:xfrm>
          <a:off x="8154227" y="865684"/>
          <a:ext cx="2470034" cy="1482020"/>
        </a:xfrm>
        <a:prstGeom prst="rect">
          <a:avLst/>
        </a:prstGeom>
        <a:solidFill>
          <a:schemeClr val="accent4">
            <a:hueOff val="4803566"/>
            <a:satOff val="18182"/>
            <a:lumOff val="-1177"/>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fr-FR" sz="3400" kern="1200" noProof="0" dirty="0"/>
            <a:t>Valeurs dérivées</a:t>
          </a:r>
        </a:p>
      </dsp:txBody>
      <dsp:txXfrm>
        <a:off x="8154227" y="865684"/>
        <a:ext cx="2470034" cy="148202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5.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67">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168">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169">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170">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17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173">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176">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177">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B427F-1C90-FD4E-AD08-B94453FE661B}" type="datetimeFigureOut">
              <a:rPr lang="fr-FR" smtClean="0"/>
              <a:pPr/>
              <a:t>30/11/2024</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229725-6CA6-7A42-9A59-754719649D27}" type="slidenum">
              <a:rPr lang="fr-FR" smtClean="0"/>
              <a:pPr/>
              <a:t>‹N°›</a:t>
            </a:fld>
            <a:endParaRPr lang="fr-FR"/>
          </a:p>
        </p:txBody>
      </p:sp>
    </p:spTree>
    <p:extLst>
      <p:ext uri="{BB962C8B-B14F-4D97-AF65-F5344CB8AC3E}">
        <p14:creationId xmlns:p14="http://schemas.microsoft.com/office/powerpoint/2010/main" xmlns="" val="3336152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noProof="0" dirty="0">
                <a:effectLst/>
                <a:latin typeface="Helvetica" pitchFamily="2" charset="0"/>
              </a:rPr>
              <a:t>Ce cours a pour objectif d'apprendre à concevoir un </a:t>
            </a:r>
            <a:r>
              <a:rPr lang="fr-FR" noProof="0" dirty="0" err="1">
                <a:effectLst/>
                <a:latin typeface="Helvetica" pitchFamily="2" charset="0"/>
              </a:rPr>
              <a:t>modele</a:t>
            </a:r>
            <a:r>
              <a:rPr lang="fr-FR" noProof="0" dirty="0">
                <a:effectLst/>
                <a:latin typeface="Helvetica" pitchFamily="2" charset="0"/>
              </a:rPr>
              <a:t> de </a:t>
            </a:r>
            <a:r>
              <a:rPr lang="fr-FR" noProof="0" dirty="0" err="1">
                <a:effectLst/>
                <a:latin typeface="Helvetica" pitchFamily="2" charset="0"/>
              </a:rPr>
              <a:t>donnee</a:t>
            </a:r>
            <a:r>
              <a:rPr lang="fr-FR" noProof="0" dirty="0">
                <a:effectLst/>
                <a:latin typeface="Helvetica" pitchFamily="2" charset="0"/>
              </a:rPr>
              <a:t> multidimensionnel en </a:t>
            </a:r>
            <a:r>
              <a:rPr lang="fr-FR" noProof="0" dirty="0" err="1">
                <a:effectLst/>
                <a:latin typeface="Helvetica" pitchFamily="2" charset="0"/>
              </a:rPr>
              <a:t>presentant</a:t>
            </a:r>
            <a:r>
              <a:rPr lang="fr-FR" noProof="0" dirty="0">
                <a:effectLst/>
                <a:latin typeface="Helvetica" pitchFamily="2" charset="0"/>
              </a:rPr>
              <a:t> les enjeux d'un te</a:t>
            </a:r>
          </a:p>
          <a:p>
            <a:r>
              <a:rPr lang="fr-FR" noProof="0" dirty="0" err="1">
                <a:effectLst/>
                <a:latin typeface="Helvetica" pitchFamily="2" charset="0"/>
              </a:rPr>
              <a:t>proset</a:t>
            </a:r>
            <a:r>
              <a:rPr lang="fr-FR" noProof="0" dirty="0">
                <a:effectLst/>
                <a:latin typeface="Helvetica" pitchFamily="2" charset="0"/>
              </a:rPr>
              <a:t> dans l'</a:t>
            </a:r>
            <a:r>
              <a:rPr lang="fr-FR" noProof="0" dirty="0" err="1">
                <a:effectLst/>
                <a:latin typeface="Helvetica" pitchFamily="2" charset="0"/>
              </a:rPr>
              <a:t>analvse</a:t>
            </a:r>
            <a:r>
              <a:rPr lang="fr-FR" noProof="0" dirty="0">
                <a:effectLst/>
                <a:latin typeface="Helvetica" pitchFamily="2" charset="0"/>
              </a:rPr>
              <a:t> </a:t>
            </a:r>
            <a:r>
              <a:rPr lang="fr-FR" noProof="0" dirty="0" err="1">
                <a:effectLst/>
                <a:latin typeface="Helvetica" pitchFamily="2" charset="0"/>
              </a:rPr>
              <a:t>decasionnelle</a:t>
            </a:r>
            <a:r>
              <a:rPr lang="fr-FR" noProof="0" dirty="0">
                <a:effectLst/>
                <a:latin typeface="Helvetica" pitchFamily="2" charset="0"/>
              </a:rPr>
              <a:t>. notamment apprendre a </a:t>
            </a:r>
            <a:r>
              <a:rPr lang="fr-FR" noProof="0" dirty="0" err="1">
                <a:effectLst/>
                <a:latin typeface="Helvetica" pitchFamily="2" charset="0"/>
              </a:rPr>
              <a:t>utiliserla</a:t>
            </a:r>
            <a:r>
              <a:rPr lang="fr-FR" noProof="0" dirty="0">
                <a:effectLst/>
                <a:latin typeface="Helvetica" pitchFamily="2" charset="0"/>
              </a:rPr>
              <a:t> </a:t>
            </a:r>
            <a:r>
              <a:rPr lang="fr-FR" noProof="0" dirty="0" err="1">
                <a:effectLst/>
                <a:latin typeface="Helvetica" pitchFamily="2" charset="0"/>
              </a:rPr>
              <a:t>modelsation</a:t>
            </a:r>
            <a:r>
              <a:rPr lang="fr-FR" noProof="0" dirty="0">
                <a:effectLst/>
                <a:latin typeface="Helvetica" pitchFamily="2" charset="0"/>
              </a:rPr>
              <a:t> </a:t>
            </a:r>
            <a:r>
              <a:rPr lang="fr-FR" noProof="0" dirty="0" err="1">
                <a:effectLst/>
                <a:latin typeface="Helvetica" pitchFamily="2" charset="0"/>
              </a:rPr>
              <a:t>decisionnelle</a:t>
            </a:r>
            <a:r>
              <a:rPr lang="fr-FR" noProof="0" dirty="0">
                <a:effectLst/>
                <a:latin typeface="Helvetica" pitchFamily="2" charset="0"/>
              </a:rPr>
              <a:t> afin d'</a:t>
            </a:r>
            <a:r>
              <a:rPr lang="fr-FR" noProof="0" dirty="0" err="1">
                <a:effectLst/>
                <a:latin typeface="Helvetica" pitchFamily="2" charset="0"/>
              </a:rPr>
              <a:t>ameliorer</a:t>
            </a:r>
            <a:r>
              <a:rPr lang="fr-FR" noProof="0" dirty="0">
                <a:effectLst/>
                <a:latin typeface="Helvetica" pitchFamily="2" charset="0"/>
              </a:rPr>
              <a:t> la prise de décision, mais aussi à extraire. transformer et charger des données répondant aux besoins d'une organisation. Les </a:t>
            </a:r>
            <a:r>
              <a:rPr lang="fr-FR" noProof="0" dirty="0" err="1">
                <a:effectLst/>
                <a:latin typeface="Helvetica" pitchFamily="2" charset="0"/>
              </a:rPr>
              <a:t>etudiants</a:t>
            </a:r>
            <a:r>
              <a:rPr lang="fr-FR" noProof="0" dirty="0">
                <a:effectLst/>
                <a:latin typeface="Helvetica" pitchFamily="2" charset="0"/>
              </a:rPr>
              <a:t> auront recours a utiliser des outils d'informatique décisionnelle (BI) pour </a:t>
            </a:r>
            <a:r>
              <a:rPr lang="fr-FR" noProof="0" dirty="0" err="1">
                <a:effectLst/>
                <a:latin typeface="Helvetica" pitchFamily="2" charset="0"/>
              </a:rPr>
              <a:t>decomposer</a:t>
            </a:r>
            <a:r>
              <a:rPr lang="fr-FR" noProof="0" dirty="0">
                <a:effectLst/>
                <a:latin typeface="Helvetica" pitchFamily="2" charset="0"/>
              </a:rPr>
              <a:t> des </a:t>
            </a:r>
            <a:r>
              <a:rPr lang="fr-FR" noProof="0" dirty="0" err="1">
                <a:effectLst/>
                <a:latin typeface="Helvetica" pitchFamily="2" charset="0"/>
              </a:rPr>
              <a:t>donnees</a:t>
            </a:r>
            <a:r>
              <a:rPr lang="fr-FR" noProof="0" dirty="0">
                <a:effectLst/>
                <a:latin typeface="Helvetica" pitchFamily="2" charset="0"/>
              </a:rPr>
              <a:t> (slice and </a:t>
            </a:r>
            <a:r>
              <a:rPr lang="fr-FR" noProof="0" dirty="0" err="1">
                <a:effectLst/>
                <a:latin typeface="Helvetica" pitchFamily="2" charset="0"/>
              </a:rPr>
              <a:t>dice</a:t>
            </a:r>
            <a:r>
              <a:rPr lang="fr-FR" noProof="0" dirty="0">
                <a:effectLst/>
                <a:latin typeface="Helvetica" pitchFamily="2" charset="0"/>
              </a:rPr>
              <a:t>)</a:t>
            </a:r>
          </a:p>
          <a:p>
            <a:endParaRPr lang="fr-FR" noProof="0" dirty="0"/>
          </a:p>
        </p:txBody>
      </p:sp>
      <p:sp>
        <p:nvSpPr>
          <p:cNvPr id="4" name="Slide Number Placeholder 3"/>
          <p:cNvSpPr>
            <a:spLocks noGrp="1"/>
          </p:cNvSpPr>
          <p:nvPr>
            <p:ph type="sldNum" sz="quarter" idx="5"/>
          </p:nvPr>
        </p:nvSpPr>
        <p:spPr/>
        <p:txBody>
          <a:bodyPr/>
          <a:lstStyle/>
          <a:p>
            <a:fld id="{5C229725-6CA6-7A42-9A59-754719649D27}" type="slidenum">
              <a:rPr lang="fr-FR" smtClean="0"/>
              <a:pPr/>
              <a:t>2</a:t>
            </a:fld>
            <a:endParaRPr lang="fr-FR"/>
          </a:p>
        </p:txBody>
      </p:sp>
    </p:spTree>
    <p:extLst>
      <p:ext uri="{BB962C8B-B14F-4D97-AF65-F5344CB8AC3E}">
        <p14:creationId xmlns:p14="http://schemas.microsoft.com/office/powerpoint/2010/main" xmlns="" val="365722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x-none" sz="1200" dirty="0">
                <a:effectLst/>
                <a:latin typeface="Times New Roman" panose="02020603050405020304" pitchFamily="18" charset="0"/>
                <a:ea typeface="Times New Roman" panose="02020603050405020304" pitchFamily="18" charset="0"/>
              </a:rPr>
              <a:t>Les Systèmes d'Information Opérationnels (SIO) sont des ensembles de composants logiciels, matériels et humains conçus pour traiter les transactions quotidiennes et faciliter les opérations de routine au sein des organisations. Leur objectif principal est de soutenir les fonctions opérationnelles essentielles et de garantir l'efficacité et l'efficience des processus d'affaires.</a:t>
            </a:r>
          </a:p>
          <a:p>
            <a:pPr algn="just"/>
            <a:r>
              <a:rPr lang="x-none" sz="1200" dirty="0">
                <a:effectLst/>
                <a:latin typeface="Times New Roman" panose="02020603050405020304" pitchFamily="18" charset="0"/>
                <a:ea typeface="Times New Roman" panose="02020603050405020304" pitchFamily="18" charset="0"/>
              </a:rPr>
              <a:t>Le système opérationnel représente le tâches quotidiennes, répétitives et atomiques (Insertion, modification, suppression) qui sont effectuées par les employés de l'entreprise pour permettre à cette dernière d'avoir une activité et donc de survivre.</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44</a:t>
            </a:fld>
            <a:endParaRPr lang="fr-FR"/>
          </a:p>
        </p:txBody>
      </p:sp>
    </p:spTree>
    <p:extLst>
      <p:ext uri="{BB962C8B-B14F-4D97-AF65-F5344CB8AC3E}">
        <p14:creationId xmlns:p14="http://schemas.microsoft.com/office/powerpoint/2010/main" xmlns="" val="1894184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rtl="0">
              <a:buSzPts val="1000"/>
              <a:buFont typeface="Symbol" pitchFamily="2" charset="2"/>
              <a:buChar char=""/>
              <a:tabLst>
                <a:tab pos="457200" algn="l"/>
              </a:tabLst>
            </a:pPr>
            <a:r>
              <a:rPr lang="x-none" sz="1200" b="1" dirty="0">
                <a:effectLst/>
                <a:latin typeface="Times New Roman" panose="02020603050405020304" pitchFamily="18" charset="0"/>
                <a:ea typeface="Times New Roman" panose="02020603050405020304" pitchFamily="18" charset="0"/>
              </a:rPr>
              <a:t>Transactionnelles :</a:t>
            </a:r>
            <a:r>
              <a:rPr lang="x-none" sz="1200" dirty="0">
                <a:effectLst/>
                <a:latin typeface="Times New Roman" panose="02020603050405020304" pitchFamily="18" charset="0"/>
                <a:ea typeface="Times New Roman" panose="02020603050405020304" pitchFamily="18" charset="0"/>
              </a:rPr>
              <a:t> Les SIO sont conçus pour gérer et traiter de grandes volumes de transactions de données de manière efficace et fiable.</a:t>
            </a:r>
          </a:p>
          <a:p>
            <a:pPr marL="342900" lvl="0" indent="-342900" algn="just">
              <a:buSzPts val="1000"/>
              <a:buFont typeface="Symbol" pitchFamily="2" charset="2"/>
              <a:buChar char=""/>
              <a:tabLst>
                <a:tab pos="457200" algn="l"/>
              </a:tabLst>
            </a:pPr>
            <a:r>
              <a:rPr lang="x-none" sz="1200" b="1" dirty="0">
                <a:effectLst/>
                <a:latin typeface="Times New Roman" panose="02020603050405020304" pitchFamily="18" charset="0"/>
                <a:ea typeface="Times New Roman" panose="02020603050405020304" pitchFamily="18" charset="0"/>
              </a:rPr>
              <a:t>Opérationnels :</a:t>
            </a:r>
            <a:r>
              <a:rPr lang="x-none" sz="1200" dirty="0">
                <a:effectLst/>
                <a:latin typeface="Times New Roman" panose="02020603050405020304" pitchFamily="18" charset="0"/>
                <a:ea typeface="Times New Roman" panose="02020603050405020304" pitchFamily="18" charset="0"/>
              </a:rPr>
              <a:t> Ils supportent les activités opérationnelles quotidiennes de l'entreprise.</a:t>
            </a:r>
          </a:p>
          <a:p>
            <a:pPr marL="342900" lvl="0" indent="-342900" algn="just">
              <a:buSzPts val="1000"/>
              <a:buFont typeface="Symbol" pitchFamily="2" charset="2"/>
              <a:buChar char=""/>
              <a:tabLst>
                <a:tab pos="457200" algn="l"/>
              </a:tabLst>
            </a:pPr>
            <a:r>
              <a:rPr lang="x-none" sz="1200" b="1" dirty="0">
                <a:effectLst/>
                <a:latin typeface="Times New Roman" panose="02020603050405020304" pitchFamily="18" charset="0"/>
                <a:ea typeface="Times New Roman" panose="02020603050405020304" pitchFamily="18" charset="0"/>
              </a:rPr>
              <a:t>Standardisés :</a:t>
            </a:r>
            <a:r>
              <a:rPr lang="x-none" sz="1200" dirty="0">
                <a:effectLst/>
                <a:latin typeface="Times New Roman" panose="02020603050405020304" pitchFamily="18" charset="0"/>
                <a:ea typeface="Times New Roman" panose="02020603050405020304" pitchFamily="18" charset="0"/>
              </a:rPr>
              <a:t> Les processus gérés par les SIO sont généralement standardisés et répétitifs.</a:t>
            </a:r>
          </a:p>
          <a:p>
            <a:pPr marL="342900" lvl="0" indent="-342900" algn="just">
              <a:buSzPts val="1000"/>
              <a:buFont typeface="Symbol" pitchFamily="2" charset="2"/>
              <a:buChar char=""/>
              <a:tabLst>
                <a:tab pos="457200" algn="l"/>
              </a:tabLst>
            </a:pPr>
            <a:r>
              <a:rPr lang="x-none" sz="1200" b="1" dirty="0">
                <a:effectLst/>
                <a:latin typeface="Times New Roman" panose="02020603050405020304" pitchFamily="18" charset="0"/>
                <a:ea typeface="Times New Roman" panose="02020603050405020304" pitchFamily="18" charset="0"/>
              </a:rPr>
              <a:t>Temps réel ou quasi temps réel :</a:t>
            </a:r>
            <a:r>
              <a:rPr lang="x-none" sz="1200" dirty="0">
                <a:effectLst/>
                <a:latin typeface="Times New Roman" panose="02020603050405020304" pitchFamily="18" charset="0"/>
                <a:ea typeface="Times New Roman" panose="02020603050405020304" pitchFamily="18" charset="0"/>
              </a:rPr>
              <a:t> Beaucoup de SIO fonctionnent en temps réel ou proche du temps réel, fournissant des informations à jour nécessaires à la gestion quotidienne des opérations.</a:t>
            </a:r>
          </a:p>
          <a:p>
            <a:pPr marL="342900" lvl="0" indent="-342900" algn="just">
              <a:buSzPts val="1000"/>
              <a:buFont typeface="Symbol" pitchFamily="2" charset="2"/>
              <a:buChar char=""/>
              <a:tabLst>
                <a:tab pos="457200" algn="l"/>
              </a:tabLst>
            </a:pPr>
            <a:r>
              <a:rPr lang="x-none" sz="1200" b="1" dirty="0">
                <a:effectLst/>
                <a:latin typeface="Times New Roman" panose="02020603050405020304" pitchFamily="18" charset="0"/>
                <a:ea typeface="Times New Roman" panose="02020603050405020304" pitchFamily="18" charset="0"/>
              </a:rPr>
              <a:t>Utilisateurs multiples :</a:t>
            </a:r>
            <a:r>
              <a:rPr lang="x-none" sz="1200" dirty="0">
                <a:effectLst/>
                <a:latin typeface="Times New Roman" panose="02020603050405020304" pitchFamily="18" charset="0"/>
                <a:ea typeface="Times New Roman" panose="02020603050405020304" pitchFamily="18" charset="0"/>
              </a:rPr>
              <a:t> Conçus pour être utilisés par un large éventail d'utilisateurs au sein de l'organisation, des opérateurs de saisie de données aux managers de niveau intermédiaire.</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45</a:t>
            </a:fld>
            <a:endParaRPr lang="fr-FR"/>
          </a:p>
        </p:txBody>
      </p:sp>
    </p:spTree>
    <p:extLst>
      <p:ext uri="{BB962C8B-B14F-4D97-AF65-F5344CB8AC3E}">
        <p14:creationId xmlns:p14="http://schemas.microsoft.com/office/powerpoint/2010/main" xmlns="" val="3082588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46</a:t>
            </a:fld>
            <a:endParaRPr lang="fr-FR"/>
          </a:p>
        </p:txBody>
      </p:sp>
    </p:spTree>
    <p:extLst>
      <p:ext uri="{BB962C8B-B14F-4D97-AF65-F5344CB8AC3E}">
        <p14:creationId xmlns:p14="http://schemas.microsoft.com/office/powerpoint/2010/main" xmlns="" val="1181063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47</a:t>
            </a:fld>
            <a:endParaRPr lang="fr-FR"/>
          </a:p>
        </p:txBody>
      </p:sp>
    </p:spTree>
    <p:extLst>
      <p:ext uri="{BB962C8B-B14F-4D97-AF65-F5344CB8AC3E}">
        <p14:creationId xmlns:p14="http://schemas.microsoft.com/office/powerpoint/2010/main" xmlns="" val="2909407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48</a:t>
            </a:fld>
            <a:endParaRPr lang="fr-FR"/>
          </a:p>
        </p:txBody>
      </p:sp>
    </p:spTree>
    <p:extLst>
      <p:ext uri="{BB962C8B-B14F-4D97-AF65-F5344CB8AC3E}">
        <p14:creationId xmlns:p14="http://schemas.microsoft.com/office/powerpoint/2010/main" xmlns="" val="35229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Ils transforment les données brutes collectées par les SIO et d'autres sources en informations et connaissances utiles grâce à des outils d'analyse, de </a:t>
            </a:r>
            <a:r>
              <a:rPr lang="fr-FR" dirty="0" err="1"/>
              <a:t>reporting</a:t>
            </a:r>
            <a:r>
              <a:rPr lang="fr-FR" dirty="0"/>
              <a:t>, et de data </a:t>
            </a:r>
            <a:r>
              <a:rPr lang="fr-FR" dirty="0" err="1"/>
              <a:t>mining</a:t>
            </a:r>
            <a:r>
              <a:rPr lang="fr-FR" dirty="0"/>
              <a:t>. Les SID se concentrent sur l'analyse des tendances, la performance opérationnelle, et la prévision</a:t>
            </a:r>
          </a:p>
        </p:txBody>
      </p:sp>
      <p:sp>
        <p:nvSpPr>
          <p:cNvPr id="4" name="Slide Number Placeholder 3"/>
          <p:cNvSpPr>
            <a:spLocks noGrp="1"/>
          </p:cNvSpPr>
          <p:nvPr>
            <p:ph type="sldNum" sz="quarter" idx="5"/>
          </p:nvPr>
        </p:nvSpPr>
        <p:spPr/>
        <p:txBody>
          <a:bodyPr/>
          <a:lstStyle/>
          <a:p>
            <a:fld id="{C84FE9CA-E368-054B-A0A7-46AA333B0615}" type="slidenum">
              <a:rPr lang="fr-FR" smtClean="0"/>
              <a:pPr/>
              <a:t>49</a:t>
            </a:fld>
            <a:endParaRPr lang="fr-FR"/>
          </a:p>
        </p:txBody>
      </p:sp>
    </p:spTree>
    <p:extLst>
      <p:ext uri="{BB962C8B-B14F-4D97-AF65-F5344CB8AC3E}">
        <p14:creationId xmlns:p14="http://schemas.microsoft.com/office/powerpoint/2010/main" xmlns="" val="2007869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Ils transforment les données brutes collectées par les SIO et d'autres sources en informations et connaissances utiles grâce à des outils d'analyse, de </a:t>
            </a:r>
            <a:r>
              <a:rPr lang="fr-FR" dirty="0" err="1"/>
              <a:t>reporting</a:t>
            </a:r>
            <a:r>
              <a:rPr lang="fr-FR" dirty="0"/>
              <a:t>, et de data </a:t>
            </a:r>
            <a:r>
              <a:rPr lang="fr-FR" dirty="0" err="1"/>
              <a:t>mining</a:t>
            </a:r>
            <a:r>
              <a:rPr lang="fr-FR" dirty="0"/>
              <a:t>. Les SID se concentrent sur l'analyse des tendances, la performance opérationnelle, et la prévision</a:t>
            </a:r>
          </a:p>
        </p:txBody>
      </p:sp>
      <p:sp>
        <p:nvSpPr>
          <p:cNvPr id="4" name="Slide Number Placeholder 3"/>
          <p:cNvSpPr>
            <a:spLocks noGrp="1"/>
          </p:cNvSpPr>
          <p:nvPr>
            <p:ph type="sldNum" sz="quarter" idx="5"/>
          </p:nvPr>
        </p:nvSpPr>
        <p:spPr/>
        <p:txBody>
          <a:bodyPr/>
          <a:lstStyle/>
          <a:p>
            <a:fld id="{C84FE9CA-E368-054B-A0A7-46AA333B0615}" type="slidenum">
              <a:rPr lang="fr-FR" smtClean="0"/>
              <a:pPr/>
              <a:t>50</a:t>
            </a:fld>
            <a:endParaRPr lang="fr-FR"/>
          </a:p>
        </p:txBody>
      </p:sp>
    </p:spTree>
    <p:extLst>
      <p:ext uri="{BB962C8B-B14F-4D97-AF65-F5344CB8AC3E}">
        <p14:creationId xmlns:p14="http://schemas.microsoft.com/office/powerpoint/2010/main" xmlns="" val="1167226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51</a:t>
            </a:fld>
            <a:endParaRPr lang="fr-FR"/>
          </a:p>
        </p:txBody>
      </p:sp>
    </p:spTree>
    <p:extLst>
      <p:ext uri="{BB962C8B-B14F-4D97-AF65-F5344CB8AC3E}">
        <p14:creationId xmlns:p14="http://schemas.microsoft.com/office/powerpoint/2010/main" xmlns="" val="238949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52</a:t>
            </a:fld>
            <a:endParaRPr lang="fr-FR"/>
          </a:p>
        </p:txBody>
      </p:sp>
    </p:spTree>
    <p:extLst>
      <p:ext uri="{BB962C8B-B14F-4D97-AF65-F5344CB8AC3E}">
        <p14:creationId xmlns:p14="http://schemas.microsoft.com/office/powerpoint/2010/main" xmlns="" val="40734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rtl="0">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Objectif :</a:t>
            </a:r>
            <a:r>
              <a:rPr lang="x-none" sz="1800" dirty="0">
                <a:effectLst/>
                <a:latin typeface="Times New Roman" panose="02020603050405020304" pitchFamily="18" charset="0"/>
                <a:ea typeface="Times New Roman" panose="02020603050405020304" pitchFamily="18" charset="0"/>
              </a:rPr>
              <a:t> Les SIO sont conçus pour gérer les opérations quotidiennes et les transactions, tandis que les SID visent à supporter la prise de décision en fournissant des insights basés sur des données.</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Type de données :</a:t>
            </a:r>
            <a:r>
              <a:rPr lang="x-none" sz="1800" dirty="0">
                <a:effectLst/>
                <a:latin typeface="Times New Roman" panose="02020603050405020304" pitchFamily="18" charset="0"/>
                <a:ea typeface="Times New Roman" panose="02020603050405020304" pitchFamily="18" charset="0"/>
              </a:rPr>
              <a:t> Les SIO traitent des données transactionnelles en temps réel ou quasi temps réel, alors que les SID utilisent ces données transactionnelles, ainsi que d'autres sources de données, pour générer des analyses et des rapports.</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Utilisateurs :</a:t>
            </a:r>
            <a:r>
              <a:rPr lang="x-none" sz="1800" dirty="0">
                <a:effectLst/>
                <a:latin typeface="Times New Roman" panose="02020603050405020304" pitchFamily="18" charset="0"/>
                <a:ea typeface="Times New Roman" panose="02020603050405020304" pitchFamily="18" charset="0"/>
              </a:rPr>
              <a:t> Les utilisateurs des SIO sont souvent des opérateurs ou des gestionnaires impliqués dans les processus opérationnels, tandis que les SID sont utilisés par des gestionnaires, des analystes et des décideurs à la recherche d'informations pour guider leurs décisions stratégiques.</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Traitement des données :</a:t>
            </a:r>
            <a:r>
              <a:rPr lang="x-none" sz="1800" dirty="0">
                <a:effectLst/>
                <a:latin typeface="Times New Roman" panose="02020603050405020304" pitchFamily="18" charset="0"/>
                <a:ea typeface="Times New Roman" panose="02020603050405020304" pitchFamily="18" charset="0"/>
              </a:rPr>
              <a:t> Les SIO se concentrent sur le traitement efficace et précis des transactions, tandis que les SID se concentrent sur l'analyse et la visualisation des données pour révéler des tendances et des patterns.</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53</a:t>
            </a:fld>
            <a:endParaRPr lang="fr-FR"/>
          </a:p>
        </p:txBody>
      </p:sp>
    </p:spTree>
    <p:extLst>
      <p:ext uri="{BB962C8B-B14F-4D97-AF65-F5344CB8AC3E}">
        <p14:creationId xmlns:p14="http://schemas.microsoft.com/office/powerpoint/2010/main" xmlns="" val="363346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x-none" sz="1800" b="1" dirty="0">
                <a:effectLst/>
                <a:latin typeface="Times New Roman" panose="02020603050405020304" pitchFamily="18" charset="0"/>
                <a:ea typeface="Times New Roman" panose="02020603050405020304" pitchFamily="18" charset="0"/>
              </a:rPr>
              <a:t>Étapes :</a:t>
            </a:r>
            <a:endParaRPr lang="x-none" sz="1800" dirty="0">
              <a:effectLst/>
              <a:latin typeface="Times New Roman" panose="02020603050405020304" pitchFamily="18" charset="0"/>
              <a:ea typeface="Times New Roman" panose="02020603050405020304" pitchFamily="18" charset="0"/>
            </a:endParaRP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Identification des sources de données :</a:t>
            </a:r>
            <a:r>
              <a:rPr lang="x-none" sz="1800" dirty="0">
                <a:effectLst/>
                <a:latin typeface="Times New Roman" panose="02020603050405020304" pitchFamily="18" charset="0"/>
                <a:ea typeface="Times New Roman" panose="02020603050405020304" pitchFamily="18" charset="0"/>
              </a:rPr>
              <a:t> Cela inclut les données internes provenant des SIO (ventes, finance, RH, etc.) et les données externes (données de marché, données démographiques, etc.).</a:t>
            </a: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Évaluation de la qualité des données :</a:t>
            </a:r>
            <a:r>
              <a:rPr lang="x-none" sz="1800" dirty="0">
                <a:effectLst/>
                <a:latin typeface="Times New Roman" panose="02020603050405020304" pitchFamily="18" charset="0"/>
                <a:ea typeface="Times New Roman" panose="02020603050405020304" pitchFamily="18" charset="0"/>
              </a:rPr>
              <a:t> Assurer que les données sont précises, complètes et pertinentes. Cela peut nécessiter la correction d'erreurs, le nettoyage de données et la résolution de problèmes de données en double ou incohérentes.</a:t>
            </a: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Intégration des données :</a:t>
            </a:r>
            <a:r>
              <a:rPr lang="x-none" sz="1800" dirty="0">
                <a:effectLst/>
                <a:latin typeface="Times New Roman" panose="02020603050405020304" pitchFamily="18" charset="0"/>
                <a:ea typeface="Times New Roman" panose="02020603050405020304" pitchFamily="18" charset="0"/>
              </a:rPr>
              <a:t> Utiliser des outils et des technologies d'intégration de données (ETL - Extraction, Transformation et Chargement) pour consolider, mapper et transformer les données de multiples sources en un format cohérent et utilisable.</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57</a:t>
            </a:fld>
            <a:endParaRPr lang="fr-FR"/>
          </a:p>
        </p:txBody>
      </p:sp>
    </p:spTree>
    <p:extLst>
      <p:ext uri="{BB962C8B-B14F-4D97-AF65-F5344CB8AC3E}">
        <p14:creationId xmlns:p14="http://schemas.microsoft.com/office/powerpoint/2010/main" xmlns="" val="1668945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x-none" sz="1800" b="1" dirty="0">
                <a:effectLst/>
                <a:latin typeface="Times New Roman" panose="02020603050405020304" pitchFamily="18" charset="0"/>
                <a:ea typeface="Times New Roman" panose="02020603050405020304" pitchFamily="18" charset="0"/>
              </a:rPr>
              <a:t> Étapes :</a:t>
            </a:r>
            <a:endParaRPr lang="x-none" sz="1800" dirty="0">
              <a:effectLst/>
              <a:latin typeface="Times New Roman" panose="02020603050405020304" pitchFamily="18" charset="0"/>
              <a:ea typeface="Times New Roman" panose="02020603050405020304" pitchFamily="18" charset="0"/>
            </a:endParaRP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Conception de l'entrepôt :</a:t>
            </a:r>
            <a:r>
              <a:rPr lang="x-none" sz="1800" dirty="0">
                <a:effectLst/>
                <a:latin typeface="Times New Roman" panose="02020603050405020304" pitchFamily="18" charset="0"/>
                <a:ea typeface="Times New Roman" panose="02020603050405020304" pitchFamily="18" charset="0"/>
              </a:rPr>
              <a:t> Définir l'architecture de l'entrepôt de données, incluant le modèle de données, le schéma (étoile, flocon, etc.), et les mécanismes de stockage et de récupération.</a:t>
            </a: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Construction de l'entrepôt :</a:t>
            </a:r>
            <a:r>
              <a:rPr lang="x-none" sz="1800" dirty="0">
                <a:effectLst/>
                <a:latin typeface="Times New Roman" panose="02020603050405020304" pitchFamily="18" charset="0"/>
                <a:ea typeface="Times New Roman" panose="02020603050405020304" pitchFamily="18" charset="0"/>
              </a:rPr>
              <a:t> Implémenter l'architecture conçue en utilisant des bases de données appropriées et des technologies de stockage. Cela inclut également la mise en place de routines d'ETL pour le chargement régulier des données.</a:t>
            </a:r>
          </a:p>
          <a:p>
            <a:r>
              <a:rPr lang="x-none" sz="1800" b="1" dirty="0">
                <a:effectLst/>
                <a:ea typeface="Times New Roman" panose="02020603050405020304" pitchFamily="18" charset="0"/>
              </a:rPr>
              <a:t>Test et validation :</a:t>
            </a:r>
            <a:r>
              <a:rPr lang="x-none" sz="1800" dirty="0">
                <a:effectLst/>
                <a:latin typeface="Times New Roman" panose="02020603050405020304" pitchFamily="18" charset="0"/>
                <a:ea typeface="Times New Roman" panose="02020603050405020304" pitchFamily="18" charset="0"/>
              </a:rPr>
              <a:t> S'assurer que l'entrepôt fonctionne </a:t>
            </a:r>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59</a:t>
            </a:fld>
            <a:endParaRPr lang="fr-FR"/>
          </a:p>
        </p:txBody>
      </p:sp>
    </p:spTree>
    <p:extLst>
      <p:ext uri="{BB962C8B-B14F-4D97-AF65-F5344CB8AC3E}">
        <p14:creationId xmlns:p14="http://schemas.microsoft.com/office/powerpoint/2010/main" xmlns="" val="3142063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rtl="0">
              <a:tabLst>
                <a:tab pos="457200" algn="l"/>
              </a:tabLst>
            </a:pPr>
            <a:r>
              <a:rPr lang="x-none" sz="1800" b="1" dirty="0">
                <a:effectLst/>
                <a:latin typeface="Times New Roman" panose="02020603050405020304" pitchFamily="18" charset="0"/>
                <a:ea typeface="Times New Roman" panose="02020603050405020304" pitchFamily="18" charset="0"/>
              </a:rPr>
              <a:t>Sélection des outils :</a:t>
            </a:r>
            <a:r>
              <a:rPr lang="x-none" sz="1800" dirty="0">
                <a:effectLst/>
                <a:latin typeface="Times New Roman" panose="02020603050405020304" pitchFamily="18" charset="0"/>
                <a:ea typeface="Times New Roman" panose="02020603050405020304" pitchFamily="18" charset="0"/>
              </a:rPr>
              <a:t> Choisir parmi une gamme d'outils de Business Intelligence (BI) et d'analyse de données, en tenant compte des besoins spécifiques des utilisateurs et de l'organisation.</a:t>
            </a: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Développement de rapports et de tableaux de bord :</a:t>
            </a:r>
            <a:r>
              <a:rPr lang="x-none" sz="1800" dirty="0">
                <a:effectLst/>
                <a:latin typeface="Times New Roman" panose="02020603050405020304" pitchFamily="18" charset="0"/>
                <a:ea typeface="Times New Roman" panose="02020603050405020304" pitchFamily="18" charset="0"/>
              </a:rPr>
              <a:t> Créer des rapports standardisés, des tableaux de bord interactifs et des visualisations de données qui répondent aux questions d'affaires courantes et fournissent des insights en temps réel.</a:t>
            </a:r>
          </a:p>
          <a:p>
            <a:pPr marL="342900" lvl="0" indent="-342900" algn="just">
              <a:tabLst>
                <a:tab pos="457200" algn="l"/>
              </a:tabLst>
            </a:pPr>
            <a:r>
              <a:rPr lang="x-none" sz="1800" b="1" dirty="0">
                <a:effectLst/>
                <a:latin typeface="Times New Roman" panose="02020603050405020304" pitchFamily="18" charset="0"/>
                <a:ea typeface="Times New Roman" panose="02020603050405020304" pitchFamily="18" charset="0"/>
              </a:rPr>
              <a:t>Formation et déploiement :</a:t>
            </a:r>
            <a:r>
              <a:rPr lang="x-none" sz="1800" dirty="0">
                <a:effectLst/>
                <a:latin typeface="Times New Roman" panose="02020603050405020304" pitchFamily="18" charset="0"/>
                <a:ea typeface="Times New Roman" panose="02020603050405020304" pitchFamily="18" charset="0"/>
              </a:rPr>
              <a:t> Former les utilisateurs finaux à l'utilisation efficace des outils de reporting et d'analyse, et déployer ces outils au sein de l'organisation pour une adoption généralisée.</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61</a:t>
            </a:fld>
            <a:endParaRPr lang="fr-FR"/>
          </a:p>
        </p:txBody>
      </p:sp>
    </p:spTree>
    <p:extLst>
      <p:ext uri="{BB962C8B-B14F-4D97-AF65-F5344CB8AC3E}">
        <p14:creationId xmlns:p14="http://schemas.microsoft.com/office/powerpoint/2010/main" xmlns="" val="2557186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sz="1800" dirty="0">
                <a:effectLst/>
                <a:latin typeface="Times New Roman" panose="02020603050405020304" pitchFamily="18" charset="0"/>
                <a:ea typeface="Times New Roman" panose="02020603050405020304" pitchFamily="18" charset="0"/>
              </a:rPr>
              <a:t>Cette transition, de la collecte et de l'intégration des données à la mise en place d'un entrepôt de données, suivi du développement d'outils de reporting et d'analyse, permet aux organisations de transformer leurs données brutes en informations précieuses, facilitant ainsi la prise de décision éclairée à tous les niveaux de l'organisation.</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62</a:t>
            </a:fld>
            <a:endParaRPr lang="fr-FR"/>
          </a:p>
        </p:txBody>
      </p:sp>
    </p:spTree>
    <p:extLst>
      <p:ext uri="{BB962C8B-B14F-4D97-AF65-F5344CB8AC3E}">
        <p14:creationId xmlns:p14="http://schemas.microsoft.com/office/powerpoint/2010/main" xmlns="" val="1431695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rtl="0">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Bases de données :</a:t>
            </a:r>
            <a:r>
              <a:rPr lang="x-none" sz="1800" dirty="0">
                <a:effectLst/>
                <a:latin typeface="Times New Roman" panose="02020603050405020304" pitchFamily="18" charset="0"/>
                <a:ea typeface="Times New Roman" panose="02020603050405020304" pitchFamily="18" charset="0"/>
              </a:rPr>
              <a:t> Les systèmes de gestion de bases de données (SGBD) sont au cœur des SID, permettant le stockage structuré et l'accès aux données. Les bases de données relationnelles sont couramment utilisées, mais les bases de données non relationnelles gagnent en popularité pour certains types de données et d'analyses.</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ETL (Extraction, Transformation, Chargement) :</a:t>
            </a:r>
            <a:r>
              <a:rPr lang="x-none" sz="1800" dirty="0">
                <a:effectLst/>
                <a:latin typeface="Times New Roman" panose="02020603050405020304" pitchFamily="18" charset="0"/>
                <a:ea typeface="Times New Roman" panose="02020603050405020304" pitchFamily="18" charset="0"/>
              </a:rPr>
              <a:t> Les outils ETL sont essentiels pour intégrer des données de sources multiples, les nettoyer, les transformer en un format cohérent, et les charger dans un entrepôt de données ou un data mart.</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Entrepôts de données/Data Marts :</a:t>
            </a:r>
            <a:r>
              <a:rPr lang="x-none" sz="1800" dirty="0">
                <a:effectLst/>
                <a:latin typeface="Times New Roman" panose="02020603050405020304" pitchFamily="18" charset="0"/>
                <a:ea typeface="Times New Roman" panose="02020603050405020304" pitchFamily="18" charset="0"/>
              </a:rPr>
              <a:t> Ils fournissent une source centralisée et consolidée de données historiques structurées pour l'analyse et le reporting.</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Outils de Business Intelligence (BI) :</a:t>
            </a:r>
            <a:r>
              <a:rPr lang="x-none" sz="1800" dirty="0">
                <a:effectLst/>
                <a:latin typeface="Times New Roman" panose="02020603050405020304" pitchFamily="18" charset="0"/>
                <a:ea typeface="Times New Roman" panose="02020603050405020304" pitchFamily="18" charset="0"/>
              </a:rPr>
              <a:t> Ces outils permettent la création de rapports, de tableaux de bord et de visualisations pour interpréter les données, soutenant ainsi la prise de décision.</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Analytique avancée et Data Mining :</a:t>
            </a:r>
            <a:r>
              <a:rPr lang="x-none" sz="1800" dirty="0">
                <a:effectLst/>
                <a:latin typeface="Times New Roman" panose="02020603050405020304" pitchFamily="18" charset="0"/>
                <a:ea typeface="Times New Roman" panose="02020603050405020304" pitchFamily="18" charset="0"/>
              </a:rPr>
              <a:t> Outils utilisés pour découvrir des modèles, des tendances et des relations dans de grands ensembles de données, souvent à l'aide de statistiques, de modélisation prédictive, et de machine learning.</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Outils de visualisation de données :</a:t>
            </a:r>
            <a:r>
              <a:rPr lang="x-none" sz="1800" dirty="0">
                <a:effectLst/>
                <a:latin typeface="Times New Roman" panose="02020603050405020304" pitchFamily="18" charset="0"/>
                <a:ea typeface="Times New Roman" panose="02020603050405020304" pitchFamily="18" charset="0"/>
              </a:rPr>
              <a:t> Logiciels spécialisés dans la représentation graphique des données, facilitant l'interprétation et la communication des insights.</a:t>
            </a:r>
          </a:p>
          <a:p>
            <a:endParaRPr lang="fr-FR" dirty="0"/>
          </a:p>
        </p:txBody>
      </p:sp>
      <p:sp>
        <p:nvSpPr>
          <p:cNvPr id="4" name="Slide Number Placeholder 3"/>
          <p:cNvSpPr>
            <a:spLocks noGrp="1"/>
          </p:cNvSpPr>
          <p:nvPr>
            <p:ph type="sldNum" sz="quarter" idx="5"/>
          </p:nvPr>
        </p:nvSpPr>
        <p:spPr/>
        <p:txBody>
          <a:bodyPr/>
          <a:lstStyle/>
          <a:p>
            <a:fld id="{C84FE9CA-E368-054B-A0A7-46AA333B0615}" type="slidenum">
              <a:rPr lang="fr-FR" smtClean="0"/>
              <a:pPr/>
              <a:t>64</a:t>
            </a:fld>
            <a:endParaRPr lang="fr-FR"/>
          </a:p>
        </p:txBody>
      </p:sp>
    </p:spTree>
    <p:extLst>
      <p:ext uri="{BB962C8B-B14F-4D97-AF65-F5344CB8AC3E}">
        <p14:creationId xmlns:p14="http://schemas.microsoft.com/office/powerpoint/2010/main" xmlns="" val="128068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 </a:t>
            </a:r>
            <a:r>
              <a:rPr lang="en-US" dirty="0" err="1"/>
              <a:t>processus</a:t>
            </a:r>
            <a:r>
              <a:rPr lang="en-US" dirty="0"/>
              <a:t> ETL </a:t>
            </a:r>
            <a:r>
              <a:rPr lang="en-US" dirty="0" err="1"/>
              <a:t>est</a:t>
            </a:r>
            <a:r>
              <a:rPr lang="en-US" dirty="0"/>
              <a:t> vital pour "</a:t>
            </a:r>
            <a:r>
              <a:rPr lang="en-US" dirty="0" err="1"/>
              <a:t>CineMax</a:t>
            </a:r>
            <a:r>
              <a:rPr lang="en-US" dirty="0"/>
              <a:t>" car il assure que </a:t>
            </a:r>
            <a:r>
              <a:rPr lang="en-US" dirty="0" err="1"/>
              <a:t>l'entrepôt</a:t>
            </a:r>
            <a:r>
              <a:rPr lang="en-US" dirty="0"/>
              <a:t> de </a:t>
            </a:r>
            <a:r>
              <a:rPr lang="en-US" dirty="0" err="1"/>
              <a:t>données</a:t>
            </a:r>
            <a:r>
              <a:rPr lang="en-US" dirty="0"/>
              <a:t> </a:t>
            </a:r>
            <a:r>
              <a:rPr lang="en-US" dirty="0" err="1"/>
              <a:t>contient</a:t>
            </a:r>
            <a:r>
              <a:rPr lang="en-US" dirty="0"/>
              <a:t> des </a:t>
            </a:r>
            <a:r>
              <a:rPr lang="en-US" dirty="0" err="1"/>
              <a:t>informations</a:t>
            </a:r>
            <a:r>
              <a:rPr lang="en-US" dirty="0"/>
              <a:t> </a:t>
            </a:r>
            <a:r>
              <a:rPr lang="en-US" dirty="0" err="1"/>
              <a:t>complètes</a:t>
            </a:r>
            <a:r>
              <a:rPr lang="en-US" dirty="0"/>
              <a:t>, </a:t>
            </a:r>
            <a:r>
              <a:rPr lang="en-US" dirty="0" err="1"/>
              <a:t>actuelles</a:t>
            </a:r>
            <a:r>
              <a:rPr lang="en-US" dirty="0"/>
              <a:t> et </a:t>
            </a:r>
            <a:r>
              <a:rPr lang="en-US" dirty="0" err="1"/>
              <a:t>prêtes</a:t>
            </a:r>
            <a:r>
              <a:rPr lang="en-US" dirty="0"/>
              <a:t> </a:t>
            </a:r>
            <a:r>
              <a:rPr lang="en-US" dirty="0" err="1"/>
              <a:t>à</a:t>
            </a:r>
            <a:r>
              <a:rPr lang="en-US" dirty="0"/>
              <a:t> </a:t>
            </a:r>
            <a:r>
              <a:rPr lang="en-US" dirty="0" err="1"/>
              <a:t>l'emploi</a:t>
            </a:r>
            <a:r>
              <a:rPr lang="en-US" dirty="0"/>
              <a:t>. </a:t>
            </a:r>
            <a:r>
              <a:rPr lang="en-US" dirty="0" err="1"/>
              <a:t>Cela</a:t>
            </a:r>
            <a:r>
              <a:rPr lang="en-US" dirty="0"/>
              <a:t> </a:t>
            </a:r>
            <a:r>
              <a:rPr lang="en-US" dirty="0" err="1"/>
              <a:t>permet</a:t>
            </a:r>
            <a:r>
              <a:rPr lang="en-US" dirty="0"/>
              <a:t> </a:t>
            </a:r>
            <a:r>
              <a:rPr lang="en-US" dirty="0" err="1"/>
              <a:t>à</a:t>
            </a:r>
            <a:r>
              <a:rPr lang="en-US" dirty="0"/>
              <a:t> "</a:t>
            </a:r>
            <a:r>
              <a:rPr lang="en-US" dirty="0" err="1"/>
              <a:t>CineMax</a:t>
            </a:r>
            <a:r>
              <a:rPr lang="en-US" dirty="0"/>
              <a:t>" de </a:t>
            </a:r>
            <a:r>
              <a:rPr lang="en-US" dirty="0" err="1"/>
              <a:t>réaliser</a:t>
            </a:r>
            <a:r>
              <a:rPr lang="en-US" dirty="0"/>
              <a:t> des analyses </a:t>
            </a:r>
            <a:r>
              <a:rPr lang="en-US" dirty="0" err="1"/>
              <a:t>fiables</a:t>
            </a:r>
            <a:r>
              <a:rPr lang="en-US" dirty="0"/>
              <a:t> et précises sur les performances des films, les </a:t>
            </a:r>
            <a:r>
              <a:rPr lang="en-US" dirty="0" err="1"/>
              <a:t>préférences</a:t>
            </a:r>
            <a:r>
              <a:rPr lang="en-US" dirty="0"/>
              <a:t> des clients, les tendances de </a:t>
            </a:r>
            <a:r>
              <a:rPr lang="en-US" dirty="0" err="1"/>
              <a:t>fréquentation</a:t>
            </a:r>
            <a:r>
              <a:rPr lang="en-US" dirty="0"/>
              <a:t> et les ventes de concessions. </a:t>
            </a:r>
            <a:r>
              <a:rPr lang="en-US" dirty="0" err="1"/>
              <a:t>En</a:t>
            </a:r>
            <a:r>
              <a:rPr lang="en-US" dirty="0"/>
              <a:t> fin de </a:t>
            </a:r>
            <a:r>
              <a:rPr lang="en-US" dirty="0" err="1"/>
              <a:t>compte</a:t>
            </a:r>
            <a:r>
              <a:rPr lang="en-US" dirty="0"/>
              <a:t>, </a:t>
            </a:r>
            <a:r>
              <a:rPr lang="en-US" dirty="0" err="1"/>
              <a:t>cela</a:t>
            </a:r>
            <a:r>
              <a:rPr lang="en-US" dirty="0"/>
              <a:t> aide "</a:t>
            </a:r>
            <a:r>
              <a:rPr lang="en-US" dirty="0" err="1"/>
              <a:t>CineMax</a:t>
            </a:r>
            <a:r>
              <a:rPr lang="en-US" dirty="0"/>
              <a:t>" </a:t>
            </a:r>
            <a:r>
              <a:rPr lang="en-US" dirty="0" err="1"/>
              <a:t>à</a:t>
            </a:r>
            <a:r>
              <a:rPr lang="en-US" dirty="0"/>
              <a:t> prendre des </a:t>
            </a:r>
            <a:r>
              <a:rPr lang="en-US" dirty="0" err="1"/>
              <a:t>décisions</a:t>
            </a:r>
            <a:r>
              <a:rPr lang="en-US" dirty="0"/>
              <a:t> </a:t>
            </a:r>
            <a:r>
              <a:rPr lang="en-US" dirty="0" err="1"/>
              <a:t>éclairées</a:t>
            </a:r>
            <a:r>
              <a:rPr lang="en-US" dirty="0"/>
              <a:t> pour </a:t>
            </a:r>
            <a:r>
              <a:rPr lang="en-US" dirty="0" err="1"/>
              <a:t>améliorer</a:t>
            </a:r>
            <a:r>
              <a:rPr lang="en-US" dirty="0"/>
              <a:t> </a:t>
            </a:r>
            <a:r>
              <a:rPr lang="en-US" dirty="0" err="1"/>
              <a:t>l'expérience</a:t>
            </a:r>
            <a:r>
              <a:rPr lang="en-US" dirty="0"/>
              <a:t> client, </a:t>
            </a:r>
            <a:r>
              <a:rPr lang="en-US" dirty="0" err="1"/>
              <a:t>optimiser</a:t>
            </a:r>
            <a:r>
              <a:rPr lang="en-US" dirty="0"/>
              <a:t> les </a:t>
            </a:r>
            <a:r>
              <a:rPr lang="en-US" dirty="0" err="1"/>
              <a:t>opérations</a:t>
            </a:r>
            <a:r>
              <a:rPr lang="en-US" dirty="0"/>
              <a:t> et augmenter la </a:t>
            </a:r>
            <a:r>
              <a:rPr lang="en-US" dirty="0" err="1"/>
              <a:t>rentabilité</a:t>
            </a:r>
            <a:r>
              <a:rPr lang="en-US" dirty="0"/>
              <a:t>.</a:t>
            </a:r>
          </a:p>
        </p:txBody>
      </p:sp>
      <p:sp>
        <p:nvSpPr>
          <p:cNvPr id="4" name="Slide Number Placeholder 3"/>
          <p:cNvSpPr>
            <a:spLocks noGrp="1"/>
          </p:cNvSpPr>
          <p:nvPr>
            <p:ph type="sldNum" sz="quarter" idx="5"/>
          </p:nvPr>
        </p:nvSpPr>
        <p:spPr/>
        <p:txBody>
          <a:bodyPr/>
          <a:lstStyle/>
          <a:p>
            <a:fld id="{5C229725-6CA6-7A42-9A59-754719649D27}" type="slidenum">
              <a:rPr lang="fr-FR" smtClean="0"/>
              <a:pPr/>
              <a:t>73</a:t>
            </a:fld>
            <a:endParaRPr lang="fr-FR"/>
          </a:p>
        </p:txBody>
      </p:sp>
    </p:spTree>
    <p:extLst>
      <p:ext uri="{BB962C8B-B14F-4D97-AF65-F5344CB8AC3E}">
        <p14:creationId xmlns:p14="http://schemas.microsoft.com/office/powerpoint/2010/main" xmlns="" val="2094147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xmlns="" id="{69FA53E2-9EF8-7D4E-AA3E-48C8B7FF2E2B}"/>
              </a:ext>
            </a:extLst>
          </p:cNvPr>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1225">
              <a:spcBef>
                <a:spcPct val="30000"/>
              </a:spcBef>
              <a:defRPr sz="1200">
                <a:solidFill>
                  <a:schemeClr val="tx1"/>
                </a:solidFill>
                <a:latin typeface="Times New Roman" panose="02020603050405020304" pitchFamily="18" charset="0"/>
              </a:defRPr>
            </a:lvl1pPr>
            <a:lvl2pPr marL="742950" indent="-285750" defTabSz="911225">
              <a:spcBef>
                <a:spcPct val="30000"/>
              </a:spcBef>
              <a:defRPr sz="1200">
                <a:solidFill>
                  <a:schemeClr val="tx1"/>
                </a:solidFill>
                <a:latin typeface="Times New Roman" panose="02020603050405020304" pitchFamily="18" charset="0"/>
              </a:defRPr>
            </a:lvl2pPr>
            <a:lvl3pPr marL="1143000" indent="-228600" defTabSz="911225">
              <a:spcBef>
                <a:spcPct val="30000"/>
              </a:spcBef>
              <a:defRPr sz="1200">
                <a:solidFill>
                  <a:schemeClr val="tx1"/>
                </a:solidFill>
                <a:latin typeface="Times New Roman" panose="02020603050405020304" pitchFamily="18" charset="0"/>
              </a:defRPr>
            </a:lvl3pPr>
            <a:lvl4pPr marL="1600200" indent="-228600" defTabSz="911225">
              <a:spcBef>
                <a:spcPct val="30000"/>
              </a:spcBef>
              <a:defRPr sz="1200">
                <a:solidFill>
                  <a:schemeClr val="tx1"/>
                </a:solidFill>
                <a:latin typeface="Times New Roman" panose="02020603050405020304" pitchFamily="18" charset="0"/>
              </a:defRPr>
            </a:lvl4pPr>
            <a:lvl5pPr marL="2057400" indent="-228600" defTabSz="911225">
              <a:spcBef>
                <a:spcPct val="30000"/>
              </a:spcBef>
              <a:defRPr sz="1200">
                <a:solidFill>
                  <a:schemeClr val="tx1"/>
                </a:solidFill>
                <a:latin typeface="Times New Roman" panose="02020603050405020304" pitchFamily="18" charset="0"/>
              </a:defRPr>
            </a:lvl5pPr>
            <a:lvl6pPr marL="2514600" indent="-228600" defTabSz="91122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1122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1122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1122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694AAE-BDF6-A746-B652-05DF985DE69C}" type="slidenum">
              <a:rPr lang="en-US" altLang="fr-FR"/>
              <a:pPr>
                <a:spcBef>
                  <a:spcPct val="0"/>
                </a:spcBef>
              </a:pPr>
              <a:t>87</a:t>
            </a:fld>
            <a:endParaRPr lang="en-US" altLang="fr-FR"/>
          </a:p>
        </p:txBody>
      </p:sp>
      <p:sp>
        <p:nvSpPr>
          <p:cNvPr id="11267" name="Rectangle 2">
            <a:extLst>
              <a:ext uri="{FF2B5EF4-FFF2-40B4-BE49-F238E27FC236}">
                <a16:creationId xmlns:a16="http://schemas.microsoft.com/office/drawing/2014/main" xmlns="" id="{DA4D0121-12C3-134C-B082-AF1AAAF613EF}"/>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xmlns="" id="{F9183814-EB24-A945-AB4E-B9A260982963}"/>
              </a:ext>
            </a:extLst>
          </p:cNvPr>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En</a:t>
            </a:r>
            <a:r>
              <a:rPr lang="en-US" dirty="0"/>
              <a:t> résumé, </a:t>
            </a:r>
            <a:r>
              <a:rPr lang="en-US" dirty="0" err="1"/>
              <a:t>l'approche</a:t>
            </a:r>
            <a:r>
              <a:rPr lang="en-US" dirty="0"/>
              <a:t> bottom-up de "</a:t>
            </a:r>
            <a:r>
              <a:rPr lang="en-US" dirty="0" err="1"/>
              <a:t>SuperMart</a:t>
            </a:r>
            <a:r>
              <a:rPr lang="en-US" dirty="0"/>
              <a:t>" </a:t>
            </a:r>
            <a:r>
              <a:rPr lang="en-US" dirty="0" err="1"/>
              <a:t>répond</a:t>
            </a:r>
            <a:r>
              <a:rPr lang="en-US" dirty="0"/>
              <a:t> aux </a:t>
            </a:r>
            <a:r>
              <a:rPr lang="en-US" dirty="0" err="1"/>
              <a:t>besoins</a:t>
            </a:r>
            <a:r>
              <a:rPr lang="en-US" dirty="0"/>
              <a:t> </a:t>
            </a:r>
            <a:r>
              <a:rPr lang="en-US" dirty="0" err="1"/>
              <a:t>spécifiques</a:t>
            </a:r>
            <a:r>
              <a:rPr lang="en-US" dirty="0"/>
              <a:t> des </a:t>
            </a:r>
            <a:r>
              <a:rPr lang="en-US" dirty="0" err="1"/>
              <a:t>départements</a:t>
            </a:r>
            <a:r>
              <a:rPr lang="en-US" dirty="0"/>
              <a:t> </a:t>
            </a:r>
            <a:r>
              <a:rPr lang="en-US" dirty="0" err="1"/>
              <a:t>individuels</a:t>
            </a:r>
            <a:r>
              <a:rPr lang="en-US" dirty="0"/>
              <a:t> avec des Data Marts </a:t>
            </a:r>
            <a:r>
              <a:rPr lang="en-US" dirty="0" err="1"/>
              <a:t>spécialisés</a:t>
            </a:r>
            <a:r>
              <a:rPr lang="en-US" dirty="0"/>
              <a:t>, </a:t>
            </a:r>
            <a:r>
              <a:rPr lang="en-US" dirty="0" err="1"/>
              <a:t>tandis</a:t>
            </a:r>
            <a:r>
              <a:rPr lang="en-US" dirty="0"/>
              <a:t> que </a:t>
            </a:r>
            <a:r>
              <a:rPr lang="en-US" dirty="0" err="1"/>
              <a:t>l'approche</a:t>
            </a:r>
            <a:r>
              <a:rPr lang="en-US" dirty="0"/>
              <a:t> top-down vise </a:t>
            </a:r>
            <a:r>
              <a:rPr lang="en-US" dirty="0" err="1"/>
              <a:t>à</a:t>
            </a:r>
            <a:r>
              <a:rPr lang="en-US" dirty="0"/>
              <a:t> </a:t>
            </a:r>
            <a:r>
              <a:rPr lang="en-US" dirty="0" err="1"/>
              <a:t>répondre</a:t>
            </a:r>
            <a:r>
              <a:rPr lang="en-US" dirty="0"/>
              <a:t> aux </a:t>
            </a:r>
            <a:r>
              <a:rPr lang="en-US" dirty="0" err="1"/>
              <a:t>besoins</a:t>
            </a:r>
            <a:r>
              <a:rPr lang="en-US" dirty="0"/>
              <a:t> </a:t>
            </a:r>
            <a:r>
              <a:rPr lang="en-US" dirty="0" err="1"/>
              <a:t>globaux</a:t>
            </a:r>
            <a:r>
              <a:rPr lang="en-US" dirty="0"/>
              <a:t> de </a:t>
            </a:r>
            <a:r>
              <a:rPr lang="en-US" dirty="0" err="1"/>
              <a:t>l'entreprise</a:t>
            </a:r>
            <a:r>
              <a:rPr lang="en-US" dirty="0"/>
              <a:t> avec un entrepôt de </a:t>
            </a:r>
            <a:r>
              <a:rPr lang="en-US" dirty="0" err="1"/>
              <a:t>données</a:t>
            </a:r>
            <a:r>
              <a:rPr lang="en-US" dirty="0"/>
              <a:t> </a:t>
            </a:r>
            <a:r>
              <a:rPr lang="en-US" dirty="0" err="1"/>
              <a:t>centralisé</a:t>
            </a:r>
            <a:r>
              <a:rPr lang="en-US" dirty="0"/>
              <a:t>. </a:t>
            </a:r>
            <a:r>
              <a:rPr lang="en-US" dirty="0" err="1"/>
              <a:t>Chaque</a:t>
            </a:r>
            <a:r>
              <a:rPr lang="en-US" dirty="0"/>
              <a:t> </a:t>
            </a:r>
            <a:r>
              <a:rPr lang="en-US" dirty="0" err="1"/>
              <a:t>approche</a:t>
            </a:r>
            <a:r>
              <a:rPr lang="en-US" dirty="0"/>
              <a:t> a </a:t>
            </a:r>
            <a:r>
              <a:rPr lang="en-US" dirty="0" err="1"/>
              <a:t>ses</a:t>
            </a:r>
            <a:r>
              <a:rPr lang="en-US" dirty="0"/>
              <a:t> </a:t>
            </a:r>
            <a:r>
              <a:rPr lang="en-US" dirty="0" err="1"/>
              <a:t>propres</a:t>
            </a:r>
            <a:r>
              <a:rPr lang="en-US" dirty="0"/>
              <a:t> </a:t>
            </a:r>
            <a:r>
              <a:rPr lang="en-US" dirty="0" err="1"/>
              <a:t>avantages</a:t>
            </a:r>
            <a:r>
              <a:rPr lang="en-US" dirty="0"/>
              <a:t> et </a:t>
            </a:r>
            <a:r>
              <a:rPr lang="en-US" dirty="0" err="1"/>
              <a:t>inconvénients</a:t>
            </a:r>
            <a:r>
              <a:rPr lang="en-US" dirty="0"/>
              <a:t>, et le </a:t>
            </a:r>
            <a:r>
              <a:rPr lang="en-US" dirty="0" err="1"/>
              <a:t>choix</a:t>
            </a:r>
            <a:r>
              <a:rPr lang="en-US" dirty="0"/>
              <a:t> </a:t>
            </a:r>
            <a:r>
              <a:rPr lang="en-US" dirty="0" err="1"/>
              <a:t>dépend</a:t>
            </a:r>
            <a:r>
              <a:rPr lang="en-US" dirty="0"/>
              <a:t> </a:t>
            </a:r>
            <a:r>
              <a:rPr lang="en-US" dirty="0" err="1"/>
              <a:t>souvent</a:t>
            </a:r>
            <a:r>
              <a:rPr lang="en-US" dirty="0"/>
              <a:t> de la structure et des </a:t>
            </a:r>
            <a:r>
              <a:rPr lang="en-US" dirty="0" err="1"/>
              <a:t>objectifs</a:t>
            </a:r>
            <a:r>
              <a:rPr lang="en-US" dirty="0"/>
              <a:t> de </a:t>
            </a:r>
            <a:r>
              <a:rPr lang="en-US" dirty="0" err="1"/>
              <a:t>l'entreprise</a:t>
            </a:r>
            <a:r>
              <a:rPr lang="en-US" dirty="0"/>
              <a:t>.</a:t>
            </a:r>
          </a:p>
        </p:txBody>
      </p:sp>
      <p:sp>
        <p:nvSpPr>
          <p:cNvPr id="4" name="Slide Number Placeholder 3"/>
          <p:cNvSpPr>
            <a:spLocks noGrp="1"/>
          </p:cNvSpPr>
          <p:nvPr>
            <p:ph type="sldNum" sz="quarter" idx="5"/>
          </p:nvPr>
        </p:nvSpPr>
        <p:spPr/>
        <p:txBody>
          <a:bodyPr/>
          <a:lstStyle/>
          <a:p>
            <a:fld id="{923AC666-8F54-A044-8BC0-635E0E078E50}" type="slidenum">
              <a:rPr lang="fr-FR" smtClean="0"/>
              <a:pPr/>
              <a:t>101</a:t>
            </a:fld>
            <a:endParaRPr lang="fr-FR"/>
          </a:p>
        </p:txBody>
      </p:sp>
    </p:spTree>
    <p:extLst>
      <p:ext uri="{BB962C8B-B14F-4D97-AF65-F5344CB8AC3E}">
        <p14:creationId xmlns:p14="http://schemas.microsoft.com/office/powerpoint/2010/main" xmlns="" val="4235298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 </a:t>
            </a:r>
            <a:r>
              <a:rPr lang="en-US" dirty="0" err="1"/>
              <a:t>modélisation</a:t>
            </a:r>
            <a:r>
              <a:rPr lang="en-US" dirty="0"/>
              <a:t> des </a:t>
            </a:r>
            <a:r>
              <a:rPr lang="en-US" dirty="0" err="1"/>
              <a:t>données</a:t>
            </a:r>
            <a:r>
              <a:rPr lang="en-US" dirty="0"/>
              <a:t> </a:t>
            </a:r>
            <a:r>
              <a:rPr lang="en-US" dirty="0" err="1"/>
              <a:t>est</a:t>
            </a:r>
            <a:r>
              <a:rPr lang="en-US" dirty="0"/>
              <a:t> </a:t>
            </a:r>
            <a:r>
              <a:rPr lang="en-US" dirty="0" err="1"/>
              <a:t>essentielle</a:t>
            </a:r>
            <a:r>
              <a:rPr lang="en-US" dirty="0"/>
              <a:t> car </a:t>
            </a:r>
            <a:r>
              <a:rPr lang="en-US" dirty="0" err="1"/>
              <a:t>elle</a:t>
            </a:r>
            <a:r>
              <a:rPr lang="en-US" dirty="0"/>
              <a:t> </a:t>
            </a:r>
            <a:r>
              <a:rPr lang="en-US" dirty="0" err="1"/>
              <a:t>définit</a:t>
            </a:r>
            <a:r>
              <a:rPr lang="en-US" dirty="0"/>
              <a:t> la structure et les relations entre les </a:t>
            </a:r>
            <a:r>
              <a:rPr lang="en-US" dirty="0" err="1"/>
              <a:t>différentes</a:t>
            </a:r>
            <a:r>
              <a:rPr lang="en-US" dirty="0"/>
              <a:t> </a:t>
            </a:r>
            <a:r>
              <a:rPr lang="en-US" dirty="0" err="1"/>
              <a:t>entités</a:t>
            </a:r>
            <a:r>
              <a:rPr lang="en-US" dirty="0"/>
              <a:t> de </a:t>
            </a:r>
            <a:r>
              <a:rPr lang="en-US" dirty="0" err="1"/>
              <a:t>données</a:t>
            </a:r>
            <a:r>
              <a:rPr lang="en-US" dirty="0"/>
              <a:t>, </a:t>
            </a:r>
            <a:r>
              <a:rPr lang="en-US" dirty="0" err="1"/>
              <a:t>ce</a:t>
            </a:r>
            <a:r>
              <a:rPr lang="en-US" dirty="0"/>
              <a:t> qui </a:t>
            </a:r>
            <a:r>
              <a:rPr lang="en-US" dirty="0" err="1"/>
              <a:t>facilite</a:t>
            </a:r>
            <a:r>
              <a:rPr lang="en-US" dirty="0"/>
              <a:t> </a:t>
            </a:r>
            <a:r>
              <a:rPr lang="en-US" dirty="0" err="1"/>
              <a:t>l'analyse</a:t>
            </a:r>
            <a:r>
              <a:rPr lang="en-US" dirty="0"/>
              <a:t> </a:t>
            </a:r>
            <a:r>
              <a:rPr lang="en-US" dirty="0" err="1"/>
              <a:t>ultérieure</a:t>
            </a:r>
            <a:r>
              <a:rPr lang="en-US" dirty="0"/>
              <a:t>. L'ETL </a:t>
            </a:r>
            <a:r>
              <a:rPr lang="en-US" dirty="0" err="1"/>
              <a:t>est</a:t>
            </a:r>
            <a:r>
              <a:rPr lang="en-US" dirty="0"/>
              <a:t> </a:t>
            </a:r>
            <a:r>
              <a:rPr lang="en-US" dirty="0" err="1"/>
              <a:t>alors</a:t>
            </a:r>
            <a:r>
              <a:rPr lang="en-US" dirty="0"/>
              <a:t> </a:t>
            </a:r>
            <a:r>
              <a:rPr lang="en-US" dirty="0" err="1"/>
              <a:t>utilisé</a:t>
            </a:r>
            <a:r>
              <a:rPr lang="en-US" dirty="0"/>
              <a:t> pour </a:t>
            </a:r>
            <a:r>
              <a:rPr lang="en-US" dirty="0" err="1"/>
              <a:t>garantir</a:t>
            </a:r>
            <a:r>
              <a:rPr lang="en-US" dirty="0"/>
              <a:t> que les </a:t>
            </a:r>
            <a:r>
              <a:rPr lang="en-US" dirty="0" err="1"/>
              <a:t>données</a:t>
            </a:r>
            <a:r>
              <a:rPr lang="en-US" dirty="0"/>
              <a:t> </a:t>
            </a:r>
            <a:r>
              <a:rPr lang="en-US" dirty="0" err="1"/>
              <a:t>extraites</a:t>
            </a:r>
            <a:r>
              <a:rPr lang="en-US" dirty="0"/>
              <a:t> </a:t>
            </a:r>
            <a:r>
              <a:rPr lang="en-US" dirty="0" err="1"/>
              <a:t>sont</a:t>
            </a:r>
            <a:r>
              <a:rPr lang="en-US" dirty="0"/>
              <a:t> </a:t>
            </a:r>
            <a:r>
              <a:rPr lang="en-US" dirty="0" err="1"/>
              <a:t>conformes</a:t>
            </a:r>
            <a:r>
              <a:rPr lang="en-US" dirty="0"/>
              <a:t> </a:t>
            </a:r>
            <a:r>
              <a:rPr lang="en-US" dirty="0" err="1"/>
              <a:t>à</a:t>
            </a:r>
            <a:r>
              <a:rPr lang="en-US" dirty="0"/>
              <a:t> </a:t>
            </a:r>
            <a:r>
              <a:rPr lang="en-US" dirty="0" err="1"/>
              <a:t>ce</a:t>
            </a:r>
            <a:r>
              <a:rPr lang="en-US" dirty="0"/>
              <a:t> </a:t>
            </a:r>
            <a:r>
              <a:rPr lang="en-US" dirty="0" err="1"/>
              <a:t>modèle</a:t>
            </a:r>
            <a:r>
              <a:rPr lang="en-US" dirty="0"/>
              <a:t> et </a:t>
            </a:r>
            <a:r>
              <a:rPr lang="en-US" dirty="0" err="1"/>
              <a:t>peuvent</a:t>
            </a:r>
            <a:r>
              <a:rPr lang="en-US" dirty="0"/>
              <a:t> </a:t>
            </a:r>
            <a:r>
              <a:rPr lang="en-US" dirty="0" err="1"/>
              <a:t>être</a:t>
            </a:r>
            <a:r>
              <a:rPr lang="en-US" dirty="0"/>
              <a:t> </a:t>
            </a:r>
            <a:r>
              <a:rPr lang="en-US" dirty="0" err="1"/>
              <a:t>utilisées</a:t>
            </a:r>
            <a:r>
              <a:rPr lang="en-US" dirty="0"/>
              <a:t> </a:t>
            </a:r>
            <a:r>
              <a:rPr lang="en-US" dirty="0" err="1"/>
              <a:t>efficacement</a:t>
            </a:r>
            <a:r>
              <a:rPr lang="en-US" dirty="0"/>
              <a:t> dans le </a:t>
            </a:r>
            <a:r>
              <a:rPr lang="en-US" dirty="0" err="1"/>
              <a:t>processus</a:t>
            </a:r>
            <a:r>
              <a:rPr lang="en-US" dirty="0"/>
              <a:t> </a:t>
            </a:r>
            <a:r>
              <a:rPr lang="en-US" dirty="0" err="1"/>
              <a:t>d'analyse</a:t>
            </a:r>
            <a:r>
              <a:rPr lang="en-US" dirty="0"/>
              <a:t> et de reporting. </a:t>
            </a:r>
            <a:r>
              <a:rPr lang="en-US" dirty="0" err="1"/>
              <a:t>En</a:t>
            </a:r>
            <a:r>
              <a:rPr lang="en-US" dirty="0"/>
              <a:t> résumé, la </a:t>
            </a:r>
            <a:r>
              <a:rPr lang="en-US" dirty="0" err="1"/>
              <a:t>modélisation</a:t>
            </a:r>
            <a:r>
              <a:rPr lang="en-US" dirty="0"/>
              <a:t> des </a:t>
            </a:r>
            <a:r>
              <a:rPr lang="en-US" dirty="0" err="1"/>
              <a:t>données</a:t>
            </a:r>
            <a:r>
              <a:rPr lang="en-US" dirty="0"/>
              <a:t> </a:t>
            </a:r>
            <a:r>
              <a:rPr lang="en-US" dirty="0" err="1"/>
              <a:t>est</a:t>
            </a:r>
            <a:r>
              <a:rPr lang="en-US" dirty="0"/>
              <a:t> </a:t>
            </a:r>
            <a:r>
              <a:rPr lang="en-US" dirty="0" err="1"/>
              <a:t>une</a:t>
            </a:r>
            <a:r>
              <a:rPr lang="en-US" dirty="0"/>
              <a:t> étape </a:t>
            </a:r>
            <a:r>
              <a:rPr lang="en-US" dirty="0" err="1"/>
              <a:t>préliminaire</a:t>
            </a:r>
            <a:r>
              <a:rPr lang="en-US" dirty="0"/>
              <a:t> </a:t>
            </a:r>
            <a:r>
              <a:rPr lang="en-US" dirty="0" err="1"/>
              <a:t>cruciale</a:t>
            </a:r>
            <a:r>
              <a:rPr lang="en-US" dirty="0"/>
              <a:t> dans le </a:t>
            </a:r>
            <a:r>
              <a:rPr lang="en-US" dirty="0" err="1"/>
              <a:t>processus</a:t>
            </a:r>
            <a:r>
              <a:rPr lang="en-US" dirty="0"/>
              <a:t> BI, </a:t>
            </a:r>
            <a:r>
              <a:rPr lang="en-US" dirty="0" err="1"/>
              <a:t>suivie</a:t>
            </a:r>
            <a:r>
              <a:rPr lang="en-US" dirty="0"/>
              <a:t> de </a:t>
            </a:r>
            <a:r>
              <a:rPr lang="en-US" dirty="0" err="1"/>
              <a:t>l'ETL</a:t>
            </a:r>
            <a:r>
              <a:rPr lang="en-US" dirty="0"/>
              <a:t> pour </a:t>
            </a:r>
            <a:r>
              <a:rPr lang="en-US" dirty="0" err="1"/>
              <a:t>rendre</a:t>
            </a:r>
            <a:r>
              <a:rPr lang="en-US" dirty="0"/>
              <a:t> les </a:t>
            </a:r>
            <a:r>
              <a:rPr lang="en-US" dirty="0" err="1"/>
              <a:t>données</a:t>
            </a:r>
            <a:r>
              <a:rPr lang="en-US" dirty="0"/>
              <a:t> </a:t>
            </a:r>
            <a:r>
              <a:rPr lang="en-US" dirty="0" err="1"/>
              <a:t>disponibles</a:t>
            </a:r>
            <a:r>
              <a:rPr lang="en-US" dirty="0"/>
              <a:t> dans le format </a:t>
            </a:r>
            <a:r>
              <a:rPr lang="en-US" dirty="0" err="1"/>
              <a:t>requis</a:t>
            </a:r>
            <a:r>
              <a:rPr lang="en-US" dirty="0"/>
              <a:t> par le </a:t>
            </a:r>
            <a:r>
              <a:rPr lang="en-US" dirty="0" err="1"/>
              <a:t>modèle</a:t>
            </a:r>
            <a:r>
              <a:rPr lang="en-US" dirty="0"/>
              <a:t>.</a:t>
            </a:r>
          </a:p>
        </p:txBody>
      </p:sp>
      <p:sp>
        <p:nvSpPr>
          <p:cNvPr id="4" name="Slide Number Placeholder 3"/>
          <p:cNvSpPr>
            <a:spLocks noGrp="1"/>
          </p:cNvSpPr>
          <p:nvPr>
            <p:ph type="sldNum" sz="quarter" idx="5"/>
          </p:nvPr>
        </p:nvSpPr>
        <p:spPr/>
        <p:txBody>
          <a:bodyPr/>
          <a:lstStyle/>
          <a:p>
            <a:fld id="{923AC666-8F54-A044-8BC0-635E0E078E50}" type="slidenum">
              <a:rPr lang="fr-FR" smtClean="0"/>
              <a:pPr/>
              <a:t>103</a:t>
            </a:fld>
            <a:endParaRPr lang="fr-FR"/>
          </a:p>
        </p:txBody>
      </p:sp>
    </p:spTree>
    <p:extLst>
      <p:ext uri="{BB962C8B-B14F-4D97-AF65-F5344CB8AC3E}">
        <p14:creationId xmlns:p14="http://schemas.microsoft.com/office/powerpoint/2010/main" xmlns="" val="3110715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104</a:t>
            </a:fld>
            <a:endParaRPr lang="fr-FR"/>
          </a:p>
        </p:txBody>
      </p:sp>
    </p:spTree>
    <p:extLst>
      <p:ext uri="{BB962C8B-B14F-4D97-AF65-F5344CB8AC3E}">
        <p14:creationId xmlns:p14="http://schemas.microsoft.com/office/powerpoint/2010/main" xmlns="" val="2636707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105</a:t>
            </a:fld>
            <a:endParaRPr lang="fr-FR"/>
          </a:p>
        </p:txBody>
      </p:sp>
    </p:spTree>
    <p:extLst>
      <p:ext uri="{BB962C8B-B14F-4D97-AF65-F5344CB8AC3E}">
        <p14:creationId xmlns:p14="http://schemas.microsoft.com/office/powerpoint/2010/main" xmlns="" val="37995290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table de faits contient les clé étrangères qui font références à des tables de dimensions</a:t>
            </a:r>
          </a:p>
        </p:txBody>
      </p:sp>
      <p:sp>
        <p:nvSpPr>
          <p:cNvPr id="4" name="Slide Number Placeholder 3"/>
          <p:cNvSpPr>
            <a:spLocks noGrp="1"/>
          </p:cNvSpPr>
          <p:nvPr>
            <p:ph type="sldNum" sz="quarter" idx="5"/>
          </p:nvPr>
        </p:nvSpPr>
        <p:spPr/>
        <p:txBody>
          <a:bodyPr/>
          <a:lstStyle/>
          <a:p>
            <a:fld id="{923AC666-8F54-A044-8BC0-635E0E078E50}" type="slidenum">
              <a:rPr lang="fr-FR" smtClean="0"/>
              <a:pPr/>
              <a:t>107</a:t>
            </a:fld>
            <a:endParaRPr lang="fr-FR"/>
          </a:p>
        </p:txBody>
      </p:sp>
    </p:spTree>
    <p:extLst>
      <p:ext uri="{BB962C8B-B14F-4D97-AF65-F5344CB8AC3E}">
        <p14:creationId xmlns:p14="http://schemas.microsoft.com/office/powerpoint/2010/main" xmlns="" val="2183502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En utilisant le mot clé (by/par) on spécifie les dimensions.</a:t>
            </a:r>
          </a:p>
          <a:p>
            <a:r>
              <a:rPr lang="fr-FR" dirty="0"/>
              <a:t>Généralement le fait est entouré par plusieurs dimensions</a:t>
            </a:r>
          </a:p>
        </p:txBody>
      </p:sp>
      <p:sp>
        <p:nvSpPr>
          <p:cNvPr id="4" name="Slide Number Placeholder 3"/>
          <p:cNvSpPr>
            <a:spLocks noGrp="1"/>
          </p:cNvSpPr>
          <p:nvPr>
            <p:ph type="sldNum" sz="quarter" idx="5"/>
          </p:nvPr>
        </p:nvSpPr>
        <p:spPr/>
        <p:txBody>
          <a:bodyPr/>
          <a:lstStyle/>
          <a:p>
            <a:fld id="{923AC666-8F54-A044-8BC0-635E0E078E50}" type="slidenum">
              <a:rPr lang="fr-FR" smtClean="0"/>
              <a:pPr/>
              <a:t>110</a:t>
            </a:fld>
            <a:endParaRPr lang="fr-FR"/>
          </a:p>
        </p:txBody>
      </p:sp>
    </p:spTree>
    <p:extLst>
      <p:ext uri="{BB962C8B-B14F-4D97-AF65-F5344CB8AC3E}">
        <p14:creationId xmlns:p14="http://schemas.microsoft.com/office/powerpoint/2010/main" xmlns="" val="4181533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50000"/>
              </a:lnSpc>
            </a:pPr>
            <a:r>
              <a:rPr lang="fr-FR" dirty="0"/>
              <a:t>Grâce aux dimensions, nous pouvons donner du contexte aux mesures (faits)</a:t>
            </a:r>
          </a:p>
          <a:p>
            <a:pPr algn="l">
              <a:lnSpc>
                <a:spcPct val="150000"/>
              </a:lnSpc>
            </a:pPr>
            <a:r>
              <a:rPr lang="fr-FR" dirty="0"/>
              <a:t>À partir de l’utilisation des dimension, on peut transformer ces faits à un résultat important</a:t>
            </a:r>
          </a:p>
        </p:txBody>
      </p:sp>
      <p:sp>
        <p:nvSpPr>
          <p:cNvPr id="4" name="Slide Number Placeholder 3"/>
          <p:cNvSpPr>
            <a:spLocks noGrp="1"/>
          </p:cNvSpPr>
          <p:nvPr>
            <p:ph type="sldNum" sz="quarter" idx="5"/>
          </p:nvPr>
        </p:nvSpPr>
        <p:spPr/>
        <p:txBody>
          <a:bodyPr/>
          <a:lstStyle/>
          <a:p>
            <a:fld id="{923AC666-8F54-A044-8BC0-635E0E078E50}" type="slidenum">
              <a:rPr lang="fr-FR" smtClean="0"/>
              <a:pPr/>
              <a:t>111</a:t>
            </a:fld>
            <a:endParaRPr lang="fr-FR"/>
          </a:p>
        </p:txBody>
      </p:sp>
    </p:spTree>
    <p:extLst>
      <p:ext uri="{BB962C8B-B14F-4D97-AF65-F5344CB8AC3E}">
        <p14:creationId xmlns:p14="http://schemas.microsoft.com/office/powerpoint/2010/main" xmlns="" val="3528623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Table des Faits :</a:t>
            </a:r>
            <a:r>
              <a:rPr lang="x-none" sz="1800" dirty="0">
                <a:effectLst/>
                <a:latin typeface="Times New Roman" panose="02020603050405020304" pitchFamily="18" charset="0"/>
                <a:ea typeface="Times New Roman" panose="02020603050405020304" pitchFamily="18" charset="0"/>
              </a:rPr>
              <a:t> Au centre du schéma, la table des faits contient les indicateurs de performance clés (KPIs) et les métriques quantitatives d'analyse, comme les ventes, les coûts et les profits. Chaque enregistrement dans la table des faits représente une transaction ou un événement d'affaires.</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Tables de Dimension :</a:t>
            </a:r>
            <a:r>
              <a:rPr lang="x-none" sz="1800" dirty="0">
                <a:effectLst/>
                <a:latin typeface="Times New Roman" panose="02020603050405020304" pitchFamily="18" charset="0"/>
                <a:ea typeface="Times New Roman" panose="02020603050405020304" pitchFamily="18" charset="0"/>
              </a:rPr>
              <a:t> Autour de la table des faits, les tables de dimension fournissent le contexte descriptif pour les mesures contenues dans la table des faits. Elles contiennent des attributs comme le temps (jour, mois, année), le produit (nom, catégorie), le client (nom, région) et le magasin (emplacement, région). Chaque table de dimension est liée à la table des faits par une clé primaire.</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116</a:t>
            </a:fld>
            <a:endParaRPr lang="fr-FR"/>
          </a:p>
        </p:txBody>
      </p:sp>
    </p:spTree>
    <p:extLst>
      <p:ext uri="{BB962C8B-B14F-4D97-AF65-F5344CB8AC3E}">
        <p14:creationId xmlns:p14="http://schemas.microsoft.com/office/powerpoint/2010/main" xmlns="" val="2683638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117</a:t>
            </a:fld>
            <a:endParaRPr lang="fr-FR"/>
          </a:p>
        </p:txBody>
      </p:sp>
    </p:spTree>
    <p:extLst>
      <p:ext uri="{BB962C8B-B14F-4D97-AF65-F5344CB8AC3E}">
        <p14:creationId xmlns:p14="http://schemas.microsoft.com/office/powerpoint/2010/main" xmlns="" val="40640895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sz="1800" dirty="0">
                <a:effectLst/>
                <a:latin typeface="Times New Roman" panose="02020603050405020304" pitchFamily="18" charset="0"/>
                <a:ea typeface="Times New Roman" panose="02020603050405020304" pitchFamily="18" charset="0"/>
              </a:rPr>
              <a:t>Les utilisateurs peuvent facilement effectuer des analyses, telles que calculer les ventes totales par Produit, par Magasin, ou par segment de client, en joignant la table des faits avec les tables de dimension appropriées.</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118</a:t>
            </a:fld>
            <a:endParaRPr lang="fr-FR"/>
          </a:p>
        </p:txBody>
      </p:sp>
    </p:spTree>
    <p:extLst>
      <p:ext uri="{BB962C8B-B14F-4D97-AF65-F5344CB8AC3E}">
        <p14:creationId xmlns:p14="http://schemas.microsoft.com/office/powerpoint/2010/main" xmlns="" val="3414539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sz="1800" dirty="0">
                <a:effectLst/>
                <a:latin typeface="Times New Roman" panose="02020603050405020304" pitchFamily="18" charset="0"/>
                <a:ea typeface="Times New Roman" panose="02020603050405020304" pitchFamily="18" charset="0"/>
              </a:rPr>
              <a:t>Les utilisateurs peuvent facilement effectuer des analyses, telles que calculer les ventes totales par Produit, par Magasin, ou par segment de client, en joignant la table des faits avec les tables de dimension appropriées.</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119</a:t>
            </a:fld>
            <a:endParaRPr lang="fr-FR"/>
          </a:p>
        </p:txBody>
      </p:sp>
    </p:spTree>
    <p:extLst>
      <p:ext uri="{BB962C8B-B14F-4D97-AF65-F5344CB8AC3E}">
        <p14:creationId xmlns:p14="http://schemas.microsoft.com/office/powerpoint/2010/main" xmlns="" val="1317394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sz="1800" dirty="0">
                <a:effectLst/>
                <a:latin typeface="Times New Roman" panose="02020603050405020304" pitchFamily="18" charset="0"/>
                <a:ea typeface="Times New Roman" panose="02020603050405020304" pitchFamily="18" charset="0"/>
              </a:rPr>
              <a:t>Le schéma en flocon est particulièrement utile pour les entreprises ayant des exigences complexes de reporting et d'analyse, qui nécessitent une modélisation détaillée des relations entre les données. Toutefois, son utilisation doit être soigneusement évaluée en fonction des besoins spécifiques en termes de performances des requêtes et de facilité de maintenance.</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120</a:t>
            </a:fld>
            <a:endParaRPr lang="fr-FR"/>
          </a:p>
        </p:txBody>
      </p:sp>
    </p:spTree>
    <p:extLst>
      <p:ext uri="{BB962C8B-B14F-4D97-AF65-F5344CB8AC3E}">
        <p14:creationId xmlns:p14="http://schemas.microsoft.com/office/powerpoint/2010/main" xmlns="" val="24083789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Table des Faits :</a:t>
            </a:r>
            <a:r>
              <a:rPr lang="x-none" sz="1800" dirty="0">
                <a:effectLst/>
                <a:latin typeface="Times New Roman" panose="02020603050405020304" pitchFamily="18" charset="0"/>
                <a:ea typeface="Times New Roman" panose="02020603050405020304" pitchFamily="18" charset="0"/>
              </a:rPr>
              <a:t> Comme dans le schéma en étoile, la table des faits est au centre et contient les mesures quantitatives et les clés étrangères vers les tables de dimension.</a:t>
            </a:r>
          </a:p>
          <a:p>
            <a:pPr marL="342900" lvl="0" indent="-342900" algn="just">
              <a:buSzPts val="1000"/>
              <a:buFont typeface="Symbol" pitchFamily="2" charset="2"/>
              <a:buChar char=""/>
              <a:tabLst>
                <a:tab pos="457200" algn="l"/>
              </a:tabLst>
            </a:pPr>
            <a:r>
              <a:rPr lang="x-none" sz="1800" b="1" dirty="0">
                <a:effectLst/>
                <a:latin typeface="Times New Roman" panose="02020603050405020304" pitchFamily="18" charset="0"/>
                <a:ea typeface="Times New Roman" panose="02020603050405020304" pitchFamily="18" charset="0"/>
              </a:rPr>
              <a:t>Tables de Dimension :</a:t>
            </a:r>
            <a:r>
              <a:rPr lang="x-none" sz="1800" dirty="0">
                <a:effectLst/>
                <a:latin typeface="Times New Roman" panose="02020603050405020304" pitchFamily="18" charset="0"/>
                <a:ea typeface="Times New Roman" panose="02020603050405020304" pitchFamily="18" charset="0"/>
              </a:rPr>
              <a:t> Les tables de dimension sont normalisées, ce qui signifie que les informations sont divisées en tables liées pour réduire la duplication des données. Par exemple, une table de dimension "Temps" pourrait être divisée en tables séparées pour "Jour", "Mois" et "Année".</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121</a:t>
            </a:fld>
            <a:endParaRPr lang="fr-FR"/>
          </a:p>
        </p:txBody>
      </p:sp>
    </p:spTree>
    <p:extLst>
      <p:ext uri="{BB962C8B-B14F-4D97-AF65-F5344CB8AC3E}">
        <p14:creationId xmlns:p14="http://schemas.microsoft.com/office/powerpoint/2010/main" xmlns="" val="2182718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Tables des Faits :</a:t>
            </a:r>
            <a:r>
              <a:rPr lang="en-US" dirty="0"/>
              <a:t> Le </a:t>
            </a:r>
            <a:r>
              <a:rPr lang="en-US" dirty="0" err="1"/>
              <a:t>schéma</a:t>
            </a:r>
            <a:r>
              <a:rPr lang="en-US" dirty="0"/>
              <a:t> </a:t>
            </a:r>
            <a:r>
              <a:rPr lang="en-US" dirty="0" err="1"/>
              <a:t>en</a:t>
            </a:r>
            <a:r>
              <a:rPr lang="en-US" dirty="0"/>
              <a:t> constellation </a:t>
            </a:r>
            <a:r>
              <a:rPr lang="en-US" dirty="0" err="1"/>
              <a:t>contient</a:t>
            </a:r>
            <a:r>
              <a:rPr lang="en-US" dirty="0"/>
              <a:t> </a:t>
            </a:r>
            <a:r>
              <a:rPr lang="en-US" dirty="0" err="1"/>
              <a:t>plusieurs</a:t>
            </a:r>
            <a:r>
              <a:rPr lang="en-US" dirty="0"/>
              <a:t> tables des faits, </a:t>
            </a:r>
            <a:r>
              <a:rPr lang="en-US" dirty="0" err="1"/>
              <a:t>chacune</a:t>
            </a:r>
            <a:r>
              <a:rPr lang="en-US" dirty="0"/>
              <a:t> </a:t>
            </a:r>
            <a:r>
              <a:rPr lang="en-US" dirty="0" err="1"/>
              <a:t>représentant</a:t>
            </a:r>
            <a:r>
              <a:rPr lang="en-US" dirty="0"/>
              <a:t> un </a:t>
            </a:r>
            <a:r>
              <a:rPr lang="en-US" dirty="0" err="1"/>
              <a:t>processus</a:t>
            </a:r>
            <a:r>
              <a:rPr lang="en-US" dirty="0"/>
              <a:t> </a:t>
            </a:r>
            <a:r>
              <a:rPr lang="en-US" dirty="0" err="1"/>
              <a:t>d'affaires</a:t>
            </a:r>
            <a:r>
              <a:rPr lang="en-US" dirty="0"/>
              <a:t> distinct </a:t>
            </a:r>
            <a:r>
              <a:rPr lang="en-US" dirty="0" err="1"/>
              <a:t>ou</a:t>
            </a:r>
            <a:r>
              <a:rPr lang="en-US" dirty="0"/>
              <a:t> un </a:t>
            </a:r>
            <a:r>
              <a:rPr lang="en-US" dirty="0" err="1"/>
              <a:t>sujet</a:t>
            </a:r>
            <a:r>
              <a:rPr lang="en-US" dirty="0"/>
              <a:t> </a:t>
            </a:r>
            <a:r>
              <a:rPr lang="en-US" dirty="0" err="1"/>
              <a:t>d'analyse</a:t>
            </a:r>
            <a:r>
              <a:rPr lang="en-US" dirty="0"/>
              <a:t> </a:t>
            </a:r>
            <a:r>
              <a:rPr lang="en-US" dirty="0" err="1"/>
              <a:t>spécifique</a:t>
            </a:r>
            <a:r>
              <a:rPr lang="en-US" dirty="0"/>
              <a:t>. </a:t>
            </a:r>
            <a:r>
              <a:rPr lang="en-US" dirty="0" err="1"/>
              <a:t>Chaque</a:t>
            </a:r>
            <a:r>
              <a:rPr lang="en-US" dirty="0"/>
              <a:t> table des faits </a:t>
            </a:r>
            <a:r>
              <a:rPr lang="en-US" dirty="0" err="1"/>
              <a:t>contient</a:t>
            </a:r>
            <a:r>
              <a:rPr lang="en-US" dirty="0"/>
              <a:t> des </a:t>
            </a:r>
            <a:r>
              <a:rPr lang="en-US" dirty="0" err="1"/>
              <a:t>mesures</a:t>
            </a:r>
            <a:r>
              <a:rPr lang="en-US" dirty="0"/>
              <a:t> </a:t>
            </a:r>
            <a:r>
              <a:rPr lang="en-US" dirty="0" err="1"/>
              <a:t>quantitatives</a:t>
            </a:r>
            <a:r>
              <a:rPr lang="en-US" dirty="0"/>
              <a:t> </a:t>
            </a:r>
            <a:r>
              <a:rPr lang="en-US" dirty="0" err="1"/>
              <a:t>liées</a:t>
            </a:r>
            <a:r>
              <a:rPr lang="en-US" dirty="0"/>
              <a:t> </a:t>
            </a:r>
            <a:r>
              <a:rPr lang="en-US" dirty="0" err="1"/>
              <a:t>à</a:t>
            </a:r>
            <a:r>
              <a:rPr lang="en-US" dirty="0"/>
              <a:t> son </a:t>
            </a:r>
            <a:r>
              <a:rPr lang="en-US" dirty="0" err="1"/>
              <a:t>domaine</a:t>
            </a:r>
            <a:r>
              <a:rPr lang="en-US" dirty="0"/>
              <a:t> </a:t>
            </a:r>
            <a:r>
              <a:rPr lang="en-US" dirty="0" err="1"/>
              <a:t>spécifique</a:t>
            </a:r>
            <a:r>
              <a:rPr lang="en-US" dirty="0"/>
              <a:t> et des </a:t>
            </a:r>
            <a:r>
              <a:rPr lang="en-US" dirty="0" err="1"/>
              <a:t>clés</a:t>
            </a:r>
            <a:r>
              <a:rPr lang="en-US" dirty="0"/>
              <a:t> </a:t>
            </a:r>
            <a:r>
              <a:rPr lang="en-US" dirty="0" err="1"/>
              <a:t>étrangères</a:t>
            </a:r>
            <a:r>
              <a:rPr lang="en-US" dirty="0"/>
              <a:t> qui </a:t>
            </a:r>
            <a:r>
              <a:rPr lang="en-US" dirty="0" err="1"/>
              <a:t>pointent</a:t>
            </a:r>
            <a:r>
              <a:rPr lang="en-US" dirty="0"/>
              <a:t> </a:t>
            </a:r>
            <a:r>
              <a:rPr lang="en-US" dirty="0" err="1"/>
              <a:t>vers</a:t>
            </a:r>
            <a:r>
              <a:rPr lang="en-US" dirty="0"/>
              <a:t> des tables de dimension </a:t>
            </a:r>
            <a:r>
              <a:rPr lang="en-US" dirty="0" err="1"/>
              <a:t>partagées</a:t>
            </a:r>
            <a:r>
              <a:rPr lang="en-US" dirty="0"/>
              <a:t> </a:t>
            </a:r>
            <a:r>
              <a:rPr lang="en-US" dirty="0" err="1"/>
              <a:t>ou</a:t>
            </a:r>
            <a:r>
              <a:rPr lang="en-US" dirty="0"/>
              <a:t> </a:t>
            </a:r>
            <a:r>
              <a:rPr lang="en-US" dirty="0" err="1"/>
              <a:t>spécifiques</a:t>
            </a:r>
            <a:r>
              <a:rPr lang="en-US" dirty="0"/>
              <a:t>.</a:t>
            </a:r>
          </a:p>
          <a:p>
            <a:pPr>
              <a:buFont typeface="Arial" panose="020B0604020202020204" pitchFamily="34" charset="0"/>
              <a:buChar char="•"/>
            </a:pPr>
            <a:r>
              <a:rPr lang="en-US" b="1" dirty="0"/>
              <a:t>Tables de Dimension </a:t>
            </a:r>
            <a:r>
              <a:rPr lang="en-US" b="1" dirty="0" err="1"/>
              <a:t>Partagées</a:t>
            </a:r>
            <a:r>
              <a:rPr lang="en-US" b="1" dirty="0"/>
              <a:t> :</a:t>
            </a:r>
            <a:r>
              <a:rPr lang="en-US" dirty="0"/>
              <a:t> </a:t>
            </a:r>
            <a:r>
              <a:rPr lang="en-US" dirty="0" err="1"/>
              <a:t>Contrairement</a:t>
            </a:r>
            <a:r>
              <a:rPr lang="en-US" dirty="0"/>
              <a:t> au </a:t>
            </a:r>
            <a:r>
              <a:rPr lang="en-US" dirty="0" err="1"/>
              <a:t>schéma</a:t>
            </a:r>
            <a:r>
              <a:rPr lang="en-US" dirty="0"/>
              <a:t> </a:t>
            </a:r>
            <a:r>
              <a:rPr lang="en-US" dirty="0" err="1"/>
              <a:t>en</a:t>
            </a:r>
            <a:r>
              <a:rPr lang="en-US" dirty="0"/>
              <a:t> étoile </a:t>
            </a:r>
            <a:r>
              <a:rPr lang="en-US" dirty="0" err="1"/>
              <a:t>où</a:t>
            </a:r>
            <a:r>
              <a:rPr lang="en-US" dirty="0"/>
              <a:t> </a:t>
            </a:r>
            <a:r>
              <a:rPr lang="en-US" dirty="0" err="1"/>
              <a:t>chaque</a:t>
            </a:r>
            <a:r>
              <a:rPr lang="en-US" dirty="0"/>
              <a:t> table des faits </a:t>
            </a:r>
            <a:r>
              <a:rPr lang="en-US" dirty="0" err="1"/>
              <a:t>est</a:t>
            </a:r>
            <a:r>
              <a:rPr lang="en-US" dirty="0"/>
              <a:t> </a:t>
            </a:r>
            <a:r>
              <a:rPr lang="en-US" dirty="0" err="1"/>
              <a:t>liée</a:t>
            </a:r>
            <a:r>
              <a:rPr lang="en-US" dirty="0"/>
              <a:t> </a:t>
            </a:r>
            <a:r>
              <a:rPr lang="en-US" dirty="0" err="1"/>
              <a:t>à</a:t>
            </a:r>
            <a:r>
              <a:rPr lang="en-US" dirty="0"/>
              <a:t> </a:t>
            </a:r>
            <a:r>
              <a:rPr lang="en-US" dirty="0" err="1"/>
              <a:t>ses</a:t>
            </a:r>
            <a:r>
              <a:rPr lang="en-US" dirty="0"/>
              <a:t> </a:t>
            </a:r>
            <a:r>
              <a:rPr lang="en-US" dirty="0" err="1"/>
              <a:t>propres</a:t>
            </a:r>
            <a:r>
              <a:rPr lang="en-US" dirty="0"/>
              <a:t> dimensions, le </a:t>
            </a:r>
            <a:r>
              <a:rPr lang="en-US" dirty="0" err="1"/>
              <a:t>schéma</a:t>
            </a:r>
            <a:r>
              <a:rPr lang="en-US" dirty="0"/>
              <a:t> </a:t>
            </a:r>
            <a:r>
              <a:rPr lang="en-US" dirty="0" err="1"/>
              <a:t>en</a:t>
            </a:r>
            <a:r>
              <a:rPr lang="en-US" dirty="0"/>
              <a:t> constellation </a:t>
            </a:r>
            <a:r>
              <a:rPr lang="en-US" dirty="0" err="1"/>
              <a:t>permet</a:t>
            </a:r>
            <a:r>
              <a:rPr lang="en-US" dirty="0"/>
              <a:t> </a:t>
            </a:r>
            <a:r>
              <a:rPr lang="en-US" dirty="0" err="1"/>
              <a:t>à</a:t>
            </a:r>
            <a:r>
              <a:rPr lang="en-US" dirty="0"/>
              <a:t> </a:t>
            </a:r>
            <a:r>
              <a:rPr lang="en-US" dirty="0" err="1"/>
              <a:t>plusieurs</a:t>
            </a:r>
            <a:r>
              <a:rPr lang="en-US" dirty="0"/>
              <a:t> tables des faits de </a:t>
            </a:r>
            <a:r>
              <a:rPr lang="en-US" dirty="0" err="1"/>
              <a:t>partager</a:t>
            </a:r>
            <a:r>
              <a:rPr lang="en-US" dirty="0"/>
              <a:t> des tables de dimension communes. Par </a:t>
            </a:r>
            <a:r>
              <a:rPr lang="en-US" dirty="0" err="1"/>
              <a:t>exemple</a:t>
            </a:r>
            <a:r>
              <a:rPr lang="en-US" dirty="0"/>
              <a:t>, les dimensions "Temps", "</a:t>
            </a:r>
            <a:r>
              <a:rPr lang="en-US" dirty="0" err="1"/>
              <a:t>Produit</a:t>
            </a:r>
            <a:r>
              <a:rPr lang="en-US" dirty="0"/>
              <a:t>" </a:t>
            </a:r>
            <a:r>
              <a:rPr lang="en-US" dirty="0" err="1"/>
              <a:t>ou</a:t>
            </a:r>
            <a:r>
              <a:rPr lang="en-US" dirty="0"/>
              <a:t> "Client" </a:t>
            </a:r>
            <a:r>
              <a:rPr lang="en-US" dirty="0" err="1"/>
              <a:t>peuvent</a:t>
            </a:r>
            <a:r>
              <a:rPr lang="en-US" dirty="0"/>
              <a:t> </a:t>
            </a:r>
            <a:r>
              <a:rPr lang="en-US" dirty="0" err="1"/>
              <a:t>être</a:t>
            </a:r>
            <a:r>
              <a:rPr lang="en-US" dirty="0"/>
              <a:t> </a:t>
            </a:r>
            <a:r>
              <a:rPr lang="en-US" dirty="0" err="1"/>
              <a:t>utilisées</a:t>
            </a:r>
            <a:r>
              <a:rPr lang="en-US" dirty="0"/>
              <a:t> par </a:t>
            </a:r>
            <a:r>
              <a:rPr lang="en-US" dirty="0" err="1"/>
              <a:t>plusieurs</a:t>
            </a:r>
            <a:r>
              <a:rPr lang="en-US" dirty="0"/>
              <a:t> </a:t>
            </a:r>
            <a:r>
              <a:rPr lang="en-US" dirty="0" err="1"/>
              <a:t>processus</a:t>
            </a:r>
            <a:r>
              <a:rPr lang="en-US" dirty="0"/>
              <a:t> </a:t>
            </a:r>
            <a:r>
              <a:rPr lang="en-US" dirty="0" err="1"/>
              <a:t>d'affaires</a:t>
            </a:r>
            <a:r>
              <a:rPr lang="en-US" dirty="0"/>
              <a:t> </a:t>
            </a:r>
            <a:r>
              <a:rPr lang="en-US" dirty="0" err="1"/>
              <a:t>différents</a:t>
            </a:r>
            <a:r>
              <a:rPr lang="en-US" dirty="0"/>
              <a:t>.</a:t>
            </a:r>
          </a:p>
          <a:p>
            <a:pPr>
              <a:buFont typeface="Arial" panose="020B0604020202020204" pitchFamily="34" charset="0"/>
              <a:buChar char="•"/>
            </a:pPr>
            <a:r>
              <a:rPr lang="en-US" b="1" dirty="0"/>
              <a:t>Tables de Dimension </a:t>
            </a:r>
            <a:r>
              <a:rPr lang="en-US" b="1" dirty="0" err="1"/>
              <a:t>Spécifiques</a:t>
            </a:r>
            <a:r>
              <a:rPr lang="en-US" b="1" dirty="0"/>
              <a:t> :</a:t>
            </a:r>
            <a:r>
              <a:rPr lang="en-US" dirty="0"/>
              <a:t> </a:t>
            </a:r>
            <a:r>
              <a:rPr lang="en-US" dirty="0" err="1"/>
              <a:t>En</a:t>
            </a:r>
            <a:r>
              <a:rPr lang="en-US" dirty="0"/>
              <a:t> plus des dimensions </a:t>
            </a:r>
            <a:r>
              <a:rPr lang="en-US" dirty="0" err="1"/>
              <a:t>partagées</a:t>
            </a:r>
            <a:r>
              <a:rPr lang="en-US" dirty="0"/>
              <a:t>, des tables de dimension </a:t>
            </a:r>
            <a:r>
              <a:rPr lang="en-US" dirty="0" err="1"/>
              <a:t>spécifiques</a:t>
            </a:r>
            <a:r>
              <a:rPr lang="en-US" dirty="0"/>
              <a:t> </a:t>
            </a:r>
            <a:r>
              <a:rPr lang="en-US" dirty="0" err="1"/>
              <a:t>à</a:t>
            </a:r>
            <a:r>
              <a:rPr lang="en-US" dirty="0"/>
              <a:t> un </a:t>
            </a:r>
            <a:r>
              <a:rPr lang="en-US" dirty="0" err="1"/>
              <a:t>sujet</a:t>
            </a:r>
            <a:r>
              <a:rPr lang="en-US" dirty="0"/>
              <a:t> </a:t>
            </a:r>
            <a:r>
              <a:rPr lang="en-US" dirty="0" err="1"/>
              <a:t>d'analyse</a:t>
            </a:r>
            <a:r>
              <a:rPr lang="en-US" dirty="0"/>
              <a:t> </a:t>
            </a:r>
            <a:r>
              <a:rPr lang="en-US" dirty="0" err="1"/>
              <a:t>peuvent</a:t>
            </a:r>
            <a:r>
              <a:rPr lang="en-US" dirty="0"/>
              <a:t> </a:t>
            </a:r>
            <a:r>
              <a:rPr lang="en-US" dirty="0" err="1"/>
              <a:t>également</a:t>
            </a:r>
            <a:r>
              <a:rPr lang="en-US" dirty="0"/>
              <a:t> </a:t>
            </a:r>
            <a:r>
              <a:rPr lang="en-US" dirty="0" err="1"/>
              <a:t>exister</a:t>
            </a:r>
            <a:r>
              <a:rPr lang="en-US" dirty="0"/>
              <a:t>, </a:t>
            </a:r>
            <a:r>
              <a:rPr lang="en-US" dirty="0" err="1"/>
              <a:t>permettant</a:t>
            </a:r>
            <a:r>
              <a:rPr lang="en-US" dirty="0"/>
              <a:t> </a:t>
            </a:r>
            <a:r>
              <a:rPr lang="en-US" dirty="0" err="1"/>
              <a:t>ainsi</a:t>
            </a:r>
            <a:r>
              <a:rPr lang="en-US" dirty="0"/>
              <a:t> </a:t>
            </a:r>
            <a:r>
              <a:rPr lang="en-US" dirty="0" err="1"/>
              <a:t>une</a:t>
            </a:r>
            <a:r>
              <a:rPr lang="en-US" dirty="0"/>
              <a:t> </a:t>
            </a:r>
            <a:r>
              <a:rPr lang="en-US" dirty="0" err="1"/>
              <a:t>analyse</a:t>
            </a:r>
            <a:r>
              <a:rPr lang="en-US" dirty="0"/>
              <a:t> plus </a:t>
            </a:r>
            <a:r>
              <a:rPr lang="en-US" dirty="0" err="1"/>
              <a:t>détaillée</a:t>
            </a:r>
            <a:r>
              <a:rPr lang="en-US" dirty="0"/>
              <a:t> et </a:t>
            </a:r>
            <a:r>
              <a:rPr lang="en-US" dirty="0" err="1"/>
              <a:t>spécifique</a:t>
            </a:r>
            <a:r>
              <a:rPr lang="en-US" dirty="0"/>
              <a:t> </a:t>
            </a:r>
            <a:r>
              <a:rPr lang="en-US" dirty="0" err="1"/>
              <a:t>à</a:t>
            </a:r>
            <a:r>
              <a:rPr lang="en-US" dirty="0"/>
              <a:t> un </a:t>
            </a:r>
            <a:r>
              <a:rPr lang="en-US" dirty="0" err="1"/>
              <a:t>domaine</a:t>
            </a:r>
            <a:r>
              <a:rPr lang="en-US" dirty="0"/>
              <a:t>.</a:t>
            </a:r>
          </a:p>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123</a:t>
            </a:fld>
            <a:endParaRPr lang="fr-FR"/>
          </a:p>
        </p:txBody>
      </p:sp>
    </p:spTree>
    <p:extLst>
      <p:ext uri="{BB962C8B-B14F-4D97-AF65-F5344CB8AC3E}">
        <p14:creationId xmlns:p14="http://schemas.microsoft.com/office/powerpoint/2010/main" xmlns="" val="15390761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129</a:t>
            </a:fld>
            <a:endParaRPr lang="fr-FR"/>
          </a:p>
        </p:txBody>
      </p:sp>
    </p:spTree>
    <p:extLst>
      <p:ext uri="{BB962C8B-B14F-4D97-AF65-F5344CB8AC3E}">
        <p14:creationId xmlns:p14="http://schemas.microsoft.com/office/powerpoint/2010/main" xmlns="" val="3620857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23AC666-8F54-A044-8BC0-635E0E078E50}" type="slidenum">
              <a:rPr lang="fr-FR" smtClean="0"/>
              <a:pPr/>
              <a:t>130</a:t>
            </a:fld>
            <a:endParaRPr lang="fr-FR"/>
          </a:p>
        </p:txBody>
      </p:sp>
    </p:spTree>
    <p:extLst>
      <p:ext uri="{BB962C8B-B14F-4D97-AF65-F5344CB8AC3E}">
        <p14:creationId xmlns:p14="http://schemas.microsoft.com/office/powerpoint/2010/main" xmlns="" val="1247266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altLang="fr-FR" dirty="0"/>
              <a:t>Qu’est ce qu’un ETL?</a:t>
            </a:r>
            <a:endParaRPr lang="fr-FR" dirty="0"/>
          </a:p>
        </p:txBody>
      </p:sp>
      <p:sp>
        <p:nvSpPr>
          <p:cNvPr id="4" name="Espace réservé du numéro de diapositive 3"/>
          <p:cNvSpPr>
            <a:spLocks noGrp="1"/>
          </p:cNvSpPr>
          <p:nvPr>
            <p:ph type="sldNum" sz="quarter" idx="10"/>
          </p:nvPr>
        </p:nvSpPr>
        <p:spPr/>
        <p:txBody>
          <a:bodyPr/>
          <a:lstStyle/>
          <a:p>
            <a:fld id="{AC7E39FA-8BA8-410F-86FB-AB1DEFFFA5C0}" type="slidenum">
              <a:rPr lang="fr-FR" smtClean="0"/>
              <a:pPr/>
              <a:t>133</a:t>
            </a:fld>
            <a:endParaRPr lang="fr-FR"/>
          </a:p>
        </p:txBody>
      </p:sp>
    </p:spTree>
    <p:extLst>
      <p:ext uri="{BB962C8B-B14F-4D97-AF65-F5344CB8AC3E}">
        <p14:creationId xmlns:p14="http://schemas.microsoft.com/office/powerpoint/2010/main" xmlns="" val="25496193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altLang="fr-FR" dirty="0"/>
              <a:t>De nombreux systèmes de gestion de bases de données sont supportés nativement en lecture/écriture (Oracle, MS SQL Server, DB2, </a:t>
            </a:r>
            <a:r>
              <a:rPr lang="fr-FR" altLang="fr-FR" dirty="0" err="1"/>
              <a:t>Postgresql</a:t>
            </a:r>
            <a:r>
              <a:rPr lang="fr-FR" altLang="fr-FR" dirty="0"/>
              <a:t>, MySQL,...).</a:t>
            </a:r>
          </a:p>
          <a:p>
            <a:pPr>
              <a:buFont typeface="Wingdings 3" pitchFamily="18" charset="2"/>
              <a:buNone/>
            </a:pPr>
            <a:endParaRPr lang="fr-FR" altLang="fr-FR" dirty="0"/>
          </a:p>
          <a:p>
            <a:r>
              <a:rPr lang="fr-FR" altLang="fr-FR" dirty="0"/>
              <a:t>De nombreux types de fichiers peuvent également être lus ou écrits: Csv, Excel, Txt, XML, ...</a:t>
            </a:r>
          </a:p>
          <a:p>
            <a:pPr>
              <a:buFont typeface="Wingdings 3" pitchFamily="18" charset="2"/>
              <a:buNone/>
            </a:pPr>
            <a:endParaRPr lang="fr-FR" altLang="fr-FR" dirty="0"/>
          </a:p>
          <a:p>
            <a:r>
              <a:rPr lang="fr-FR" altLang="fr-FR" dirty="0"/>
              <a:t>Le travail des développeurs est grandement facilité, tant au niveau de la conception que de la maintenance des traitements de données et cela grâce à l’interface graphique dont dispose la plupart des ETL et qui permet l'élaboration des différents scénarios d'intégration.</a:t>
            </a:r>
          </a:p>
          <a:p>
            <a:endParaRPr lang="fr-FR" dirty="0"/>
          </a:p>
        </p:txBody>
      </p:sp>
      <p:sp>
        <p:nvSpPr>
          <p:cNvPr id="4" name="Espace réservé du numéro de diapositive 3"/>
          <p:cNvSpPr>
            <a:spLocks noGrp="1"/>
          </p:cNvSpPr>
          <p:nvPr>
            <p:ph type="sldNum" sz="quarter" idx="10"/>
          </p:nvPr>
        </p:nvSpPr>
        <p:spPr/>
        <p:txBody>
          <a:bodyPr/>
          <a:lstStyle/>
          <a:p>
            <a:fld id="{AC7E39FA-8BA8-410F-86FB-AB1DEFFFA5C0}" type="slidenum">
              <a:rPr lang="fr-FR" smtClean="0"/>
              <a:pPr/>
              <a:t>134</a:t>
            </a:fld>
            <a:endParaRPr lang="fr-FR"/>
          </a:p>
        </p:txBody>
      </p:sp>
    </p:spTree>
    <p:extLst>
      <p:ext uri="{BB962C8B-B14F-4D97-AF65-F5344CB8AC3E}">
        <p14:creationId xmlns:p14="http://schemas.microsoft.com/office/powerpoint/2010/main" xmlns="" val="13635806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5776DA0-849E-B645-986E-F9110DA8806C}" type="slidenum">
              <a:rPr lang="fr-FR" smtClean="0"/>
              <a:pPr/>
              <a:t>192</a:t>
            </a:fld>
            <a:endParaRPr lang="fr-FR"/>
          </a:p>
        </p:txBody>
      </p:sp>
    </p:spTree>
    <p:extLst>
      <p:ext uri="{BB962C8B-B14F-4D97-AF65-F5344CB8AC3E}">
        <p14:creationId xmlns:p14="http://schemas.microsoft.com/office/powerpoint/2010/main" xmlns="" val="16649889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pPr/>
              <a:t>201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pPr/>
              <a:t>204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pPr/>
              <a:t>208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pPr/>
              <a:t>212</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489A08A-770C-2449-9B6A-9EC57161030C}" type="datetimeFigureOut">
              <a:rPr lang="fr-FR" smtClean="0"/>
              <a:pPr/>
              <a:t>30/11/2024</a:t>
            </a:fld>
            <a:endParaRPr lang="fr-F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08231F1-11DD-3642-9E84-7F5987ABA168}" type="slidenum">
              <a:rPr lang="fr-FR" smtClean="0"/>
              <a:pPr/>
              <a:t>‹N°›</a:t>
            </a:fld>
            <a:endParaRPr lang="fr-F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4278724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530310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489A08A-770C-2449-9B6A-9EC57161030C}" type="datetimeFigureOut">
              <a:rPr lang="fr-FR" smtClean="0"/>
              <a:pPr/>
              <a:t>30/11/2024</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08231F1-11DD-3642-9E84-7F5987ABA168}" type="slidenum">
              <a:rPr lang="fr-FR" smtClean="0"/>
              <a:pPr/>
              <a:t>‹N°›</a:t>
            </a:fld>
            <a:endParaRPr lang="fr-FR"/>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748037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28194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3904124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1931584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315763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489A08A-770C-2449-9B6A-9EC57161030C}" type="datetimeFigureOut">
              <a:rPr lang="fr-FR" smtClean="0"/>
              <a:pPr/>
              <a:t>30/11/2024</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08231F1-11DD-3642-9E84-7F5987ABA168}" type="slidenum">
              <a:rPr lang="fr-FR" smtClean="0"/>
              <a:pPr/>
              <a:t>‹N°›</a:t>
            </a:fld>
            <a:endParaRPr lang="fr-FR"/>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919147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489A08A-770C-2449-9B6A-9EC57161030C}" type="datetimeFigureOut">
              <a:rPr lang="fr-FR" smtClean="0"/>
              <a:pPr/>
              <a:t>30/11/2024</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08231F1-11DD-3642-9E84-7F5987ABA168}" type="slidenum">
              <a:rPr lang="fr-FR" smtClean="0"/>
              <a:pPr/>
              <a:t>‹N°›</a:t>
            </a:fld>
            <a:endParaRPr lang="fr-FR"/>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1085460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14329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89A08A-770C-2449-9B6A-9EC57161030C}" type="datetimeFigureOut">
              <a:rPr lang="fr-FR" smtClean="0"/>
              <a:pPr/>
              <a:t>30/11/2024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D08231F1-11DD-3642-9E84-7F5987ABA168}" type="slidenum">
              <a:rPr lang="fr-FR" smtClean="0"/>
              <a:pPr/>
              <a:t>‹N°›</a:t>
            </a:fld>
            <a:endParaRPr lang="fr-FR"/>
          </a:p>
        </p:txBody>
      </p:sp>
    </p:spTree>
    <p:extLst>
      <p:ext uri="{BB962C8B-B14F-4D97-AF65-F5344CB8AC3E}">
        <p14:creationId xmlns:p14="http://schemas.microsoft.com/office/powerpoint/2010/main" xmlns="" val="2970499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489A08A-770C-2449-9B6A-9EC57161030C}" type="datetimeFigureOut">
              <a:rPr lang="fr-FR" smtClean="0"/>
              <a:pPr/>
              <a:t>30/11/2024</a:t>
            </a:fld>
            <a:endParaRPr lang="fr-F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fr-F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08231F1-11DD-3642-9E84-7F5987ABA168}" type="slidenum">
              <a:rPr lang="fr-FR" smtClean="0"/>
              <a:pPr/>
              <a:t>‹N°›</a:t>
            </a:fld>
            <a:endParaRPr lang="fr-FR"/>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19006039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www.lebigdata.fr/data-warehouse-entrepot-donnees-definition"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45.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7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1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png"/></Relationships>
</file>

<file path=ppt/slides/_rels/slide2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png"/></Relationships>
</file>

<file path=ppt/slides/_rels/slide2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3D212A-1EDB-D34D-9B2E-9689AF49F7EB}"/>
              </a:ext>
            </a:extLst>
          </p:cNvPr>
          <p:cNvSpPr>
            <a:spLocks noGrp="1"/>
          </p:cNvSpPr>
          <p:nvPr>
            <p:ph type="ctrTitle"/>
          </p:nvPr>
        </p:nvSpPr>
        <p:spPr>
          <a:xfrm>
            <a:off x="1049482" y="1091048"/>
            <a:ext cx="9618517" cy="2387600"/>
          </a:xfrm>
        </p:spPr>
        <p:txBody>
          <a:bodyPr anchor="ctr">
            <a:normAutofit/>
          </a:bodyPr>
          <a:lstStyle/>
          <a:p>
            <a:r>
              <a:rPr lang="fr-FR" sz="6000" b="1" dirty="0" smtClean="0"/>
              <a:t>Business Intelligence</a:t>
            </a:r>
            <a:br>
              <a:rPr lang="fr-FR" sz="6000" b="1" dirty="0" smtClean="0"/>
            </a:br>
            <a:r>
              <a:rPr lang="fr-FR" sz="2800" b="1" i="1" dirty="0" smtClean="0">
                <a:solidFill>
                  <a:srgbClr val="0070C0"/>
                </a:solidFill>
              </a:rPr>
              <a:t>Principe Technique et outils</a:t>
            </a:r>
            <a:endParaRPr lang="fr-FR" sz="6000" b="1" i="1" dirty="0">
              <a:solidFill>
                <a:srgbClr val="0070C0"/>
              </a:solidFill>
            </a:endParaRPr>
          </a:p>
        </p:txBody>
      </p:sp>
      <p:sp>
        <p:nvSpPr>
          <p:cNvPr id="5" name="Subtitle 4">
            <a:extLst>
              <a:ext uri="{FF2B5EF4-FFF2-40B4-BE49-F238E27FC236}">
                <a16:creationId xmlns:a16="http://schemas.microsoft.com/office/drawing/2014/main" xmlns="" id="{41C6110F-ED3E-4088-D927-EF243B607147}"/>
              </a:ext>
            </a:extLst>
          </p:cNvPr>
          <p:cNvSpPr>
            <a:spLocks noGrp="1"/>
          </p:cNvSpPr>
          <p:nvPr>
            <p:ph type="subTitle" idx="1"/>
          </p:nvPr>
        </p:nvSpPr>
        <p:spPr>
          <a:xfrm>
            <a:off x="2199408" y="3828663"/>
            <a:ext cx="6831673" cy="1086237"/>
          </a:xfrm>
        </p:spPr>
        <p:txBody>
          <a:bodyPr>
            <a:normAutofit/>
          </a:bodyPr>
          <a:lstStyle/>
          <a:p>
            <a:r>
              <a:rPr lang="fr-FR" sz="3600" b="1" dirty="0" smtClean="0">
                <a:solidFill>
                  <a:schemeClr val="accent1">
                    <a:lumMod val="50000"/>
                  </a:schemeClr>
                </a:solidFill>
              </a:rPr>
              <a:t>Prof. Mostafa EZZIYYANI</a:t>
            </a:r>
            <a:endParaRPr lang="fr-FR" sz="3600" b="1" dirty="0">
              <a:solidFill>
                <a:schemeClr val="accent1">
                  <a:lumMod val="50000"/>
                </a:schemeClr>
              </a:solidFill>
            </a:endParaRPr>
          </a:p>
        </p:txBody>
      </p:sp>
    </p:spTree>
    <p:extLst>
      <p:ext uri="{BB962C8B-B14F-4D97-AF65-F5344CB8AC3E}">
        <p14:creationId xmlns:p14="http://schemas.microsoft.com/office/powerpoint/2010/main" xmlns="" val="1090303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50F25FC-E803-4640-AD7E-F4EAC97B8766}"/>
              </a:ext>
            </a:extLst>
          </p:cNvPr>
          <p:cNvSpPr txBox="1"/>
          <p:nvPr/>
        </p:nvSpPr>
        <p:spPr>
          <a:xfrm>
            <a:off x="2105526" y="2307461"/>
            <a:ext cx="9214382" cy="1894301"/>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fr-FR" sz="2000" dirty="0">
                <a:effectLst/>
                <a:latin typeface="Helvetica" pitchFamily="2" charset="0"/>
              </a:rPr>
              <a:t>Appréhender les concepts de base des systèmes d'information décisionnels.</a:t>
            </a:r>
          </a:p>
          <a:p>
            <a:pPr marL="342900" indent="-342900">
              <a:lnSpc>
                <a:spcPct val="150000"/>
              </a:lnSpc>
              <a:buFont typeface="Arial" panose="020B0604020202020204" pitchFamily="34" charset="0"/>
              <a:buChar char="•"/>
            </a:pPr>
            <a:r>
              <a:rPr lang="fr-FR" sz="2000" dirty="0">
                <a:effectLst/>
                <a:latin typeface="Helvetica" pitchFamily="2" charset="0"/>
              </a:rPr>
              <a:t>Savoir modéliser un Data </a:t>
            </a:r>
            <a:r>
              <a:rPr lang="fr-FR" sz="2000" dirty="0" err="1">
                <a:effectLst/>
                <a:latin typeface="Helvetica" pitchFamily="2" charset="0"/>
              </a:rPr>
              <a:t>Warehouse</a:t>
            </a:r>
            <a:endParaRPr lang="fr-FR" sz="2000" dirty="0">
              <a:effectLst/>
              <a:latin typeface="Helvetica" pitchFamily="2" charset="0"/>
            </a:endParaRPr>
          </a:p>
          <a:p>
            <a:pPr marL="342900" indent="-342900">
              <a:lnSpc>
                <a:spcPct val="150000"/>
              </a:lnSpc>
              <a:buFont typeface="Arial" panose="020B0604020202020204" pitchFamily="34" charset="0"/>
              <a:buChar char="•"/>
            </a:pPr>
            <a:r>
              <a:rPr lang="fr-FR" sz="2000" dirty="0">
                <a:effectLst/>
                <a:latin typeface="Helvetica" pitchFamily="2" charset="0"/>
              </a:rPr>
              <a:t>Tester la modélisation, l’implémentation et la planification des opérations ETL</a:t>
            </a:r>
          </a:p>
          <a:p>
            <a:pPr marL="342900" indent="-342900">
              <a:lnSpc>
                <a:spcPct val="150000"/>
              </a:lnSpc>
              <a:buFont typeface="Arial" panose="020B0604020202020204" pitchFamily="34" charset="0"/>
              <a:buChar char="•"/>
            </a:pPr>
            <a:r>
              <a:rPr lang="fr-FR" sz="2000" dirty="0">
                <a:effectLst/>
                <a:latin typeface="Helvetica" pitchFamily="2" charset="0"/>
              </a:rPr>
              <a:t>Mettre en </a:t>
            </a:r>
            <a:r>
              <a:rPr lang="fr-FR" sz="2000" dirty="0">
                <a:latin typeface="Helvetica" pitchFamily="2" charset="0"/>
              </a:rPr>
              <a:t>œuvre</a:t>
            </a:r>
            <a:r>
              <a:rPr lang="fr-FR" sz="2000" dirty="0">
                <a:effectLst/>
                <a:latin typeface="Helvetica" pitchFamily="2" charset="0"/>
              </a:rPr>
              <a:t> un système décisionnel  : ETL, OLAP, </a:t>
            </a:r>
            <a:r>
              <a:rPr lang="fr-FR" sz="2000" dirty="0" err="1">
                <a:effectLst/>
                <a:latin typeface="Helvetica" pitchFamily="2" charset="0"/>
              </a:rPr>
              <a:t>Reporting</a:t>
            </a:r>
            <a:endParaRPr lang="fr-FR" sz="2000" dirty="0">
              <a:effectLst/>
              <a:latin typeface="Helvetica" pitchFamily="2" charset="0"/>
            </a:endParaRPr>
          </a:p>
        </p:txBody>
      </p:sp>
      <p:sp>
        <p:nvSpPr>
          <p:cNvPr id="3" name="TextBox 2">
            <a:extLst>
              <a:ext uri="{FF2B5EF4-FFF2-40B4-BE49-F238E27FC236}">
                <a16:creationId xmlns:a16="http://schemas.microsoft.com/office/drawing/2014/main" xmlns="" id="{E8FC435F-8937-254B-9F8F-10CEE98BC726}"/>
              </a:ext>
            </a:extLst>
          </p:cNvPr>
          <p:cNvSpPr txBox="1"/>
          <p:nvPr/>
        </p:nvSpPr>
        <p:spPr>
          <a:xfrm>
            <a:off x="2105526" y="1094874"/>
            <a:ext cx="4839786" cy="584775"/>
          </a:xfrm>
          <a:prstGeom prst="rect">
            <a:avLst/>
          </a:prstGeom>
          <a:noFill/>
        </p:spPr>
        <p:txBody>
          <a:bodyPr wrap="none" rtlCol="0">
            <a:spAutoFit/>
          </a:bodyPr>
          <a:lstStyle/>
          <a:p>
            <a:r>
              <a:rPr lang="fr-FR" sz="3200" b="1" dirty="0"/>
              <a:t>ACQUIS D’APPRENTISSAGE</a:t>
            </a:r>
          </a:p>
        </p:txBody>
      </p:sp>
    </p:spTree>
    <p:extLst>
      <p:ext uri="{BB962C8B-B14F-4D97-AF65-F5344CB8AC3E}">
        <p14:creationId xmlns:p14="http://schemas.microsoft.com/office/powerpoint/2010/main" xmlns="" val="359885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50F25FC-E803-4640-AD7E-F4EAC97B8766}"/>
              </a:ext>
            </a:extLst>
          </p:cNvPr>
          <p:cNvSpPr txBox="1"/>
          <p:nvPr/>
        </p:nvSpPr>
        <p:spPr>
          <a:xfrm>
            <a:off x="2105526" y="2199176"/>
            <a:ext cx="4782078" cy="1844095"/>
          </a:xfrm>
          <a:prstGeom prst="rect">
            <a:avLst/>
          </a:prstGeom>
          <a:noFill/>
        </p:spPr>
        <p:txBody>
          <a:bodyPr wrap="none" rtlCol="0">
            <a:spAutoFit/>
          </a:bodyPr>
          <a:lstStyle/>
          <a:p>
            <a:pPr marL="342900" indent="-342900">
              <a:lnSpc>
                <a:spcPct val="200000"/>
              </a:lnSpc>
              <a:buAutoNum type="arabicPeriod"/>
            </a:pPr>
            <a:r>
              <a:rPr lang="fr-FR" sz="2000" dirty="0"/>
              <a:t>Introduction à la Business Intelligence</a:t>
            </a:r>
          </a:p>
          <a:p>
            <a:pPr marL="342900" indent="-342900">
              <a:lnSpc>
                <a:spcPct val="200000"/>
              </a:lnSpc>
              <a:buAutoNum type="arabicPeriod"/>
            </a:pPr>
            <a:r>
              <a:rPr lang="fr-FR" sz="2000" dirty="0"/>
              <a:t>Présentation de la chaîne décisionnelle</a:t>
            </a:r>
          </a:p>
          <a:p>
            <a:pPr marL="342900" indent="-342900">
              <a:lnSpc>
                <a:spcPct val="200000"/>
              </a:lnSpc>
              <a:buAutoNum type="arabicPeriod"/>
            </a:pPr>
            <a:r>
              <a:rPr lang="fr-FR" sz="2000" dirty="0"/>
              <a:t>Exemple du Projet BI</a:t>
            </a:r>
          </a:p>
        </p:txBody>
      </p:sp>
      <p:sp>
        <p:nvSpPr>
          <p:cNvPr id="3" name="TextBox 2">
            <a:extLst>
              <a:ext uri="{FF2B5EF4-FFF2-40B4-BE49-F238E27FC236}">
                <a16:creationId xmlns:a16="http://schemas.microsoft.com/office/drawing/2014/main" xmlns="" id="{E8FC435F-8937-254B-9F8F-10CEE98BC726}"/>
              </a:ext>
            </a:extLst>
          </p:cNvPr>
          <p:cNvSpPr txBox="1"/>
          <p:nvPr/>
        </p:nvSpPr>
        <p:spPr>
          <a:xfrm>
            <a:off x="2105526" y="1094874"/>
            <a:ext cx="1104790" cy="584775"/>
          </a:xfrm>
          <a:prstGeom prst="rect">
            <a:avLst/>
          </a:prstGeom>
          <a:noFill/>
        </p:spPr>
        <p:txBody>
          <a:bodyPr wrap="none" rtlCol="0">
            <a:spAutoFit/>
          </a:bodyPr>
          <a:lstStyle/>
          <a:p>
            <a:r>
              <a:rPr lang="fr-FR" sz="3200" b="1" dirty="0"/>
              <a:t>PLAN</a:t>
            </a:r>
          </a:p>
        </p:txBody>
      </p:sp>
    </p:spTree>
    <p:extLst>
      <p:ext uri="{BB962C8B-B14F-4D97-AF65-F5344CB8AC3E}">
        <p14:creationId xmlns:p14="http://schemas.microsoft.com/office/powerpoint/2010/main" xmlns="" val="2110976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369479"/>
            <a:ext cx="6184231" cy="2119042"/>
          </a:xfrm>
          <a:prstGeom prst="rect">
            <a:avLst/>
          </a:prstGeom>
          <a:noFill/>
        </p:spPr>
        <p:txBody>
          <a:bodyPr wrap="square" rtlCol="0" anchor="ctr">
            <a:spAutoFit/>
          </a:bodyPr>
          <a:lstStyle/>
          <a:p>
            <a:pPr algn="ctr">
              <a:lnSpc>
                <a:spcPct val="150000"/>
              </a:lnSpc>
            </a:pPr>
            <a:r>
              <a:rPr lang="fr-FR" dirty="0"/>
              <a:t>La Business Intelligence (BI) a connu une évolution significative au fil des années, avec l'avancement des technologies et l'émergence de nouvelles tendances. Cette évolution a permis aux entreprises de mieux comprendre leurs données et de prendre des décisions plus éclairées.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1950534" cy="584775"/>
          </a:xfrm>
          <a:prstGeom prst="rect">
            <a:avLst/>
          </a:prstGeom>
          <a:noFill/>
        </p:spPr>
        <p:txBody>
          <a:bodyPr wrap="none" rtlCol="0">
            <a:spAutoFit/>
          </a:bodyPr>
          <a:lstStyle/>
          <a:p>
            <a:r>
              <a:rPr lang="fr-FR" sz="3200" b="1" dirty="0"/>
              <a:t>Historique</a:t>
            </a:r>
          </a:p>
        </p:txBody>
      </p:sp>
    </p:spTree>
    <p:extLst>
      <p:ext uri="{BB962C8B-B14F-4D97-AF65-F5344CB8AC3E}">
        <p14:creationId xmlns:p14="http://schemas.microsoft.com/office/powerpoint/2010/main" xmlns="" val="514559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1950534" cy="584775"/>
          </a:xfrm>
          <a:prstGeom prst="rect">
            <a:avLst/>
          </a:prstGeom>
          <a:noFill/>
        </p:spPr>
        <p:txBody>
          <a:bodyPr wrap="none" rtlCol="0">
            <a:spAutoFit/>
          </a:bodyPr>
          <a:lstStyle/>
          <a:p>
            <a:r>
              <a:rPr lang="fr-FR" sz="3200" b="1" dirty="0"/>
              <a:t>Historique</a:t>
            </a:r>
          </a:p>
        </p:txBody>
      </p:sp>
      <p:pic>
        <p:nvPicPr>
          <p:cNvPr id="3" name="Picture 2">
            <a:extLst>
              <a:ext uri="{FF2B5EF4-FFF2-40B4-BE49-F238E27FC236}">
                <a16:creationId xmlns:a16="http://schemas.microsoft.com/office/drawing/2014/main" xmlns="" id="{138BD080-F32B-4A4B-9CB2-C0E7E4F905A0}"/>
              </a:ext>
            </a:extLst>
          </p:cNvPr>
          <p:cNvPicPr>
            <a:picLocks noChangeAspect="1"/>
          </p:cNvPicPr>
          <p:nvPr/>
        </p:nvPicPr>
        <p:blipFill>
          <a:blip r:embed="rId2"/>
          <a:stretch>
            <a:fillRect/>
          </a:stretch>
        </p:blipFill>
        <p:spPr>
          <a:xfrm>
            <a:off x="1187115" y="1905408"/>
            <a:ext cx="10514529" cy="4579613"/>
          </a:xfrm>
          <a:prstGeom prst="rect">
            <a:avLst/>
          </a:prstGeom>
        </p:spPr>
      </p:pic>
    </p:spTree>
    <p:extLst>
      <p:ext uri="{BB962C8B-B14F-4D97-AF65-F5344CB8AC3E}">
        <p14:creationId xmlns:p14="http://schemas.microsoft.com/office/powerpoint/2010/main" xmlns="" val="3900532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577228"/>
            <a:ext cx="6184231" cy="1703543"/>
          </a:xfrm>
          <a:prstGeom prst="rect">
            <a:avLst/>
          </a:prstGeom>
          <a:noFill/>
        </p:spPr>
        <p:txBody>
          <a:bodyPr wrap="square" rtlCol="0" anchor="ctr">
            <a:spAutoFit/>
          </a:bodyPr>
          <a:lstStyle/>
          <a:p>
            <a:pPr algn="ctr">
              <a:lnSpc>
                <a:spcPct val="150000"/>
              </a:lnSpc>
            </a:pPr>
            <a:r>
              <a:rPr lang="fr-FR"/>
              <a:t>La Business Intelligence (BI) est un ensemble de méthodologies, de technologies et d'outils qui permettent de collecter, d'analyser et de présenter des données pour aider les entreprises à prendre des décisions éclairées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1859035" cy="584775"/>
          </a:xfrm>
          <a:prstGeom prst="rect">
            <a:avLst/>
          </a:prstGeom>
          <a:noFill/>
        </p:spPr>
        <p:txBody>
          <a:bodyPr wrap="none" rtlCol="0">
            <a:spAutoFit/>
          </a:bodyPr>
          <a:lstStyle/>
          <a:p>
            <a:r>
              <a:rPr lang="fr-FR" sz="3200" b="1" dirty="0"/>
              <a:t>Définition</a:t>
            </a:r>
          </a:p>
        </p:txBody>
      </p:sp>
    </p:spTree>
    <p:extLst>
      <p:ext uri="{BB962C8B-B14F-4D97-AF65-F5344CB8AC3E}">
        <p14:creationId xmlns:p14="http://schemas.microsoft.com/office/powerpoint/2010/main" xmlns="" val="2021457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1907005" y="2369479"/>
            <a:ext cx="8377990" cy="2119042"/>
          </a:xfrm>
          <a:prstGeom prst="rect">
            <a:avLst/>
          </a:prstGeom>
          <a:noFill/>
        </p:spPr>
        <p:txBody>
          <a:bodyPr wrap="square" rtlCol="0" anchor="ctr">
            <a:spAutoFit/>
          </a:bodyPr>
          <a:lstStyle/>
          <a:p>
            <a:pPr algn="ctr">
              <a:lnSpc>
                <a:spcPct val="150000"/>
              </a:lnSpc>
            </a:pPr>
            <a:r>
              <a:rPr lang="fr-FR" dirty="0"/>
              <a:t>La Business Intelligence est essentielle pour les entreprises car elle leur permet de comprendre et d'exploiter les données pour améliorer leur prise de décision, leur performance opérationnelle et leur avantage concurrentiel. Elle fournit des informations précieuses sur les tendances, les modèles et les opportunités, ce qui permet aux entreprises de prendre des décisions plus éclairées et stratégiques.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2172839" cy="584775"/>
          </a:xfrm>
          <a:prstGeom prst="rect">
            <a:avLst/>
          </a:prstGeom>
          <a:noFill/>
        </p:spPr>
        <p:txBody>
          <a:bodyPr wrap="none" rtlCol="0">
            <a:spAutoFit/>
          </a:bodyPr>
          <a:lstStyle/>
          <a:p>
            <a:r>
              <a:rPr lang="fr-FR" sz="3200" b="1" dirty="0"/>
              <a:t>Importance</a:t>
            </a:r>
          </a:p>
        </p:txBody>
      </p:sp>
    </p:spTree>
    <p:extLst>
      <p:ext uri="{BB962C8B-B14F-4D97-AF65-F5344CB8AC3E}">
        <p14:creationId xmlns:p14="http://schemas.microsoft.com/office/powerpoint/2010/main" xmlns="" val="1927464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675995" cy="584775"/>
          </a:xfrm>
          <a:prstGeom prst="rect">
            <a:avLst/>
          </a:prstGeom>
          <a:noFill/>
        </p:spPr>
        <p:txBody>
          <a:bodyPr wrap="none" rtlCol="0">
            <a:spAutoFit/>
          </a:bodyPr>
          <a:lstStyle/>
          <a:p>
            <a:r>
              <a:rPr lang="fr-FR" sz="3200" dirty="0"/>
              <a:t>Avantages de la Business Intelligence</a:t>
            </a:r>
            <a:endParaRPr lang="fr-FR" sz="3200" b="1" dirty="0"/>
          </a:p>
        </p:txBody>
      </p:sp>
      <p:graphicFrame>
        <p:nvGraphicFramePr>
          <p:cNvPr id="3" name="Diagram 2">
            <a:extLst>
              <a:ext uri="{FF2B5EF4-FFF2-40B4-BE49-F238E27FC236}">
                <a16:creationId xmlns:a16="http://schemas.microsoft.com/office/drawing/2014/main" xmlns="" id="{DC1E8C97-E1BC-ED4B-B267-1397DBEBD7A2}"/>
              </a:ext>
            </a:extLst>
          </p:cNvPr>
          <p:cNvGraphicFramePr/>
          <p:nvPr>
            <p:extLst>
              <p:ext uri="{D42A27DB-BD31-4B8C-83A1-F6EECF244321}">
                <p14:modId xmlns:p14="http://schemas.microsoft.com/office/powerpoint/2010/main" xmlns="" val="2620456279"/>
              </p:ext>
            </p:extLst>
          </p:nvPr>
        </p:nvGraphicFramePr>
        <p:xfrm>
          <a:off x="1090194" y="1888957"/>
          <a:ext cx="10760911" cy="4800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091209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6675995" cy="584775"/>
          </a:xfrm>
          <a:prstGeom prst="rect">
            <a:avLst/>
          </a:prstGeom>
          <a:noFill/>
        </p:spPr>
        <p:txBody>
          <a:bodyPr wrap="none" rtlCol="0">
            <a:spAutoFit/>
          </a:bodyPr>
          <a:lstStyle/>
          <a:p>
            <a:r>
              <a:rPr lang="fr-FR" sz="3200" dirty="0"/>
              <a:t>Processus de la Business Intelligence</a:t>
            </a:r>
            <a:endParaRPr lang="fr-FR" sz="3200" b="1" dirty="0"/>
          </a:p>
        </p:txBody>
      </p:sp>
      <p:sp>
        <p:nvSpPr>
          <p:cNvPr id="5" name="TextBox 4">
            <a:extLst>
              <a:ext uri="{FF2B5EF4-FFF2-40B4-BE49-F238E27FC236}">
                <a16:creationId xmlns:a16="http://schemas.microsoft.com/office/drawing/2014/main" xmlns="" id="{B0263040-D12B-364A-A816-836F6D40C94B}"/>
              </a:ext>
            </a:extLst>
          </p:cNvPr>
          <p:cNvSpPr txBox="1"/>
          <p:nvPr/>
        </p:nvSpPr>
        <p:spPr>
          <a:xfrm>
            <a:off x="1157037" y="2183375"/>
            <a:ext cx="9877926" cy="646331"/>
          </a:xfrm>
          <a:prstGeom prst="rect">
            <a:avLst/>
          </a:prstGeom>
          <a:noFill/>
        </p:spPr>
        <p:txBody>
          <a:bodyPr wrap="square">
            <a:spAutoFit/>
          </a:bodyPr>
          <a:lstStyle/>
          <a:p>
            <a:pPr algn="just"/>
            <a:r>
              <a:rPr lang="fr-FR" dirty="0">
                <a:effectLst/>
              </a:rPr>
              <a:t>Le processus de la BI comprend plusieurs étapes essentielles pour obtenir des informations précieuses et prendre des décisions éclairées.</a:t>
            </a:r>
          </a:p>
        </p:txBody>
      </p:sp>
      <p:sp>
        <p:nvSpPr>
          <p:cNvPr id="4" name="object 2">
            <a:extLst>
              <a:ext uri="{FF2B5EF4-FFF2-40B4-BE49-F238E27FC236}">
                <a16:creationId xmlns:a16="http://schemas.microsoft.com/office/drawing/2014/main" xmlns="" id="{1FA9E16E-17C3-AB40-9DB2-07E72879A763}"/>
              </a:ext>
            </a:extLst>
          </p:cNvPr>
          <p:cNvSpPr/>
          <p:nvPr/>
        </p:nvSpPr>
        <p:spPr>
          <a:xfrm>
            <a:off x="1219200" y="3082369"/>
            <a:ext cx="9753600" cy="3094502"/>
          </a:xfrm>
          <a:prstGeom prst="rect">
            <a:avLst/>
          </a:prstGeom>
          <a:blipFill>
            <a:blip r:embed="rId2" cstate="print"/>
            <a:stretch>
              <a:fillRect t="-49300" b="-27996"/>
            </a:stretch>
          </a:blipFill>
        </p:spPr>
        <p:txBody>
          <a:bodyPr wrap="square" lIns="0" tIns="0" rIns="0" bIns="0" rtlCol="0"/>
          <a:lstStyle/>
          <a:p>
            <a:endParaRPr/>
          </a:p>
        </p:txBody>
      </p:sp>
    </p:spTree>
    <p:extLst>
      <p:ext uri="{BB962C8B-B14F-4D97-AF65-F5344CB8AC3E}">
        <p14:creationId xmlns:p14="http://schemas.microsoft.com/office/powerpoint/2010/main" xmlns="" val="226018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6675995" cy="584775"/>
          </a:xfrm>
          <a:prstGeom prst="rect">
            <a:avLst/>
          </a:prstGeom>
          <a:noFill/>
        </p:spPr>
        <p:txBody>
          <a:bodyPr wrap="none" rtlCol="0">
            <a:spAutoFit/>
          </a:bodyPr>
          <a:lstStyle/>
          <a:p>
            <a:r>
              <a:rPr lang="fr-FR" sz="3200" dirty="0"/>
              <a:t>Processus de la Business Intelligence</a:t>
            </a:r>
            <a:endParaRPr lang="fr-FR" sz="3200" b="1" dirty="0"/>
          </a:p>
        </p:txBody>
      </p:sp>
      <p:sp>
        <p:nvSpPr>
          <p:cNvPr id="5" name="TextBox 4">
            <a:extLst>
              <a:ext uri="{FF2B5EF4-FFF2-40B4-BE49-F238E27FC236}">
                <a16:creationId xmlns:a16="http://schemas.microsoft.com/office/drawing/2014/main" xmlns="" id="{B0263040-D12B-364A-A816-836F6D40C94B}"/>
              </a:ext>
            </a:extLst>
          </p:cNvPr>
          <p:cNvSpPr txBox="1"/>
          <p:nvPr/>
        </p:nvSpPr>
        <p:spPr>
          <a:xfrm>
            <a:off x="1157037" y="2183375"/>
            <a:ext cx="9877926" cy="3693319"/>
          </a:xfrm>
          <a:prstGeom prst="rect">
            <a:avLst/>
          </a:prstGeom>
          <a:noFill/>
        </p:spPr>
        <p:txBody>
          <a:bodyPr wrap="square">
            <a:spAutoFit/>
          </a:bodyPr>
          <a:lstStyle/>
          <a:p>
            <a:pPr algn="just"/>
            <a:r>
              <a:rPr lang="fr-FR" dirty="0">
                <a:effectLst/>
              </a:rPr>
              <a:t>Le processus de la BI comprend plusieurs étapes essentielles pour obtenir des informations précieuses et prendre des décisions éclairées.</a:t>
            </a:r>
          </a:p>
          <a:p>
            <a:pPr algn="just"/>
            <a:endParaRPr lang="fr-FR" dirty="0"/>
          </a:p>
          <a:p>
            <a:pPr algn="just"/>
            <a:endParaRPr lang="fr-FR" dirty="0"/>
          </a:p>
          <a:p>
            <a:pPr marL="342900" indent="-342900" algn="just">
              <a:buFont typeface="+mj-lt"/>
              <a:buAutoNum type="arabicPeriod"/>
            </a:pPr>
            <a:r>
              <a:rPr lang="fr-FR" dirty="0">
                <a:effectLst/>
              </a:rPr>
              <a:t>Collecte de données: Cette étape consiste à rassembler des données provenant de différentes sources, telles que des bases de données, des fichiers, des API, etc.</a:t>
            </a:r>
          </a:p>
          <a:p>
            <a:pPr marL="342900" indent="-342900" algn="just">
              <a:buFont typeface="+mj-lt"/>
              <a:buAutoNum type="arabicPeriod"/>
            </a:pPr>
            <a:r>
              <a:rPr lang="fr-FR" dirty="0">
                <a:effectLst/>
              </a:rPr>
              <a:t>Analyse des données: Une fois les données collectées, elles sont analysées pour extraire des informations pertinentes et identifier des tendances ou des modèles.</a:t>
            </a:r>
          </a:p>
          <a:p>
            <a:pPr marL="342900" indent="-342900" algn="just">
              <a:buFont typeface="+mj-lt"/>
              <a:buAutoNum type="arabicPeriod"/>
            </a:pPr>
            <a:r>
              <a:rPr lang="fr-FR" dirty="0">
                <a:effectLst/>
              </a:rPr>
              <a:t>Création de rapports et de tableaux de bord: Les résultats de l'analyse sont présentés sous forme de rapports et de tableaux de bord visuels pour faciliter la compréhension et la visualisation des données.</a:t>
            </a:r>
          </a:p>
          <a:p>
            <a:pPr marL="342900" indent="-342900" algn="just">
              <a:buFont typeface="+mj-lt"/>
              <a:buAutoNum type="arabicPeriod"/>
            </a:pPr>
            <a:r>
              <a:rPr lang="fr-FR" dirty="0">
                <a:effectLst/>
              </a:rPr>
              <a:t>Prise de décision: Enfin, les décideurs utilisent les informations obtenues pour prendre des décisions stratégiques basées sur des données concrètes.</a:t>
            </a:r>
          </a:p>
        </p:txBody>
      </p:sp>
    </p:spTree>
    <p:extLst>
      <p:ext uri="{BB962C8B-B14F-4D97-AF65-F5344CB8AC3E}">
        <p14:creationId xmlns:p14="http://schemas.microsoft.com/office/powerpoint/2010/main" xmlns="" val="150536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6675995" cy="584775"/>
          </a:xfrm>
          <a:prstGeom prst="rect">
            <a:avLst/>
          </a:prstGeom>
          <a:noFill/>
        </p:spPr>
        <p:txBody>
          <a:bodyPr wrap="none" rtlCol="0">
            <a:spAutoFit/>
          </a:bodyPr>
          <a:lstStyle/>
          <a:p>
            <a:r>
              <a:rPr lang="fr-FR" sz="3200" dirty="0"/>
              <a:t>Processus de la Business Intelligence</a:t>
            </a:r>
            <a:endParaRPr lang="fr-FR" sz="3200" b="1" dirty="0"/>
          </a:p>
        </p:txBody>
      </p:sp>
      <p:pic>
        <p:nvPicPr>
          <p:cNvPr id="7" name="Picture 6">
            <a:extLst>
              <a:ext uri="{FF2B5EF4-FFF2-40B4-BE49-F238E27FC236}">
                <a16:creationId xmlns:a16="http://schemas.microsoft.com/office/drawing/2014/main" xmlns="" id="{FABAF27F-4AD1-3D43-8BC1-CB72F45C1EBF}"/>
              </a:ext>
            </a:extLst>
          </p:cNvPr>
          <p:cNvPicPr>
            <a:picLocks noChangeAspect="1"/>
          </p:cNvPicPr>
          <p:nvPr/>
        </p:nvPicPr>
        <p:blipFill rotWithShape="1">
          <a:blip r:embed="rId2"/>
          <a:srcRect t="10541" b="10598"/>
          <a:stretch/>
        </p:blipFill>
        <p:spPr>
          <a:xfrm>
            <a:off x="1391653" y="1941857"/>
            <a:ext cx="9983079" cy="4331367"/>
          </a:xfrm>
          <a:prstGeom prst="rect">
            <a:avLst/>
          </a:prstGeom>
        </p:spPr>
      </p:pic>
    </p:spTree>
    <p:extLst>
      <p:ext uri="{BB962C8B-B14F-4D97-AF65-F5344CB8AC3E}">
        <p14:creationId xmlns:p14="http://schemas.microsoft.com/office/powerpoint/2010/main" xmlns="" val="126046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8672182" cy="584775"/>
          </a:xfrm>
          <a:prstGeom prst="rect">
            <a:avLst/>
          </a:prstGeom>
          <a:noFill/>
        </p:spPr>
        <p:txBody>
          <a:bodyPr wrap="none" rtlCol="0">
            <a:spAutoFit/>
          </a:bodyPr>
          <a:lstStyle/>
          <a:p>
            <a:r>
              <a:rPr lang="fr-FR" sz="3200" dirty="0"/>
              <a:t>Outils</a:t>
            </a:r>
            <a:r>
              <a:rPr lang="en-US" sz="3200" dirty="0"/>
              <a:t> et Technologies de la Business Intelligence</a:t>
            </a:r>
            <a:endParaRPr lang="fr-FR" sz="3200" b="1" dirty="0"/>
          </a:p>
        </p:txBody>
      </p:sp>
      <p:sp>
        <p:nvSpPr>
          <p:cNvPr id="5" name="TextBox 4">
            <a:extLst>
              <a:ext uri="{FF2B5EF4-FFF2-40B4-BE49-F238E27FC236}">
                <a16:creationId xmlns:a16="http://schemas.microsoft.com/office/drawing/2014/main" xmlns="" id="{C039BBCF-C480-8345-96E2-05677A566687}"/>
              </a:ext>
            </a:extLst>
          </p:cNvPr>
          <p:cNvSpPr txBox="1"/>
          <p:nvPr/>
        </p:nvSpPr>
        <p:spPr>
          <a:xfrm>
            <a:off x="3043812" y="2936410"/>
            <a:ext cx="6104375" cy="1200329"/>
          </a:xfrm>
          <a:prstGeom prst="rect">
            <a:avLst/>
          </a:prstGeom>
          <a:noFill/>
        </p:spPr>
        <p:txBody>
          <a:bodyPr wrap="square">
            <a:spAutoFit/>
          </a:bodyPr>
          <a:lstStyle/>
          <a:p>
            <a:pPr algn="just"/>
            <a:r>
              <a:rPr lang="fr-FR" dirty="0"/>
              <a:t>Les outils et technologies de la Business Intelligence (BI) jouent un rôle essentiel dans la collecte, l'analyse et la visualisation des données pour prendre des décisions éclairées.</a:t>
            </a:r>
            <a:endParaRPr lang="fr-FR" dirty="0">
              <a:effectLst/>
            </a:endParaRPr>
          </a:p>
        </p:txBody>
      </p:sp>
    </p:spTree>
    <p:extLst>
      <p:ext uri="{BB962C8B-B14F-4D97-AF65-F5344CB8AC3E}">
        <p14:creationId xmlns:p14="http://schemas.microsoft.com/office/powerpoint/2010/main" xmlns="" val="413754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7"/>
          </p:nvPr>
        </p:nvSpPr>
        <p:spPr>
          <a:xfrm>
            <a:off x="8669867" y="5176563"/>
            <a:ext cx="778934" cy="219456"/>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6F15528-21DE-4FAA-801E-634DDDAF4B2B}" type="slidenum">
              <a:rPr lang="x-none" smtClean="0"/>
              <a:pPr/>
              <a:t>13</a:t>
            </a:fld>
            <a:endParaRPr lang="fr-FR"/>
          </a:p>
        </p:txBody>
      </p:sp>
      <p:pic>
        <p:nvPicPr>
          <p:cNvPr id="41986" name="Picture 2"/>
          <p:cNvPicPr>
            <a:picLocks noChangeAspect="1" noChangeArrowheads="1"/>
          </p:cNvPicPr>
          <p:nvPr/>
        </p:nvPicPr>
        <p:blipFill>
          <a:blip r:embed="rId2" cstate="print"/>
          <a:srcRect/>
          <a:stretch>
            <a:fillRect/>
          </a:stretch>
        </p:blipFill>
        <p:spPr bwMode="auto">
          <a:xfrm>
            <a:off x="0" y="762001"/>
            <a:ext cx="12192000" cy="6096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3772186" cy="584775"/>
          </a:xfrm>
          <a:prstGeom prst="rect">
            <a:avLst/>
          </a:prstGeom>
          <a:noFill/>
        </p:spPr>
        <p:txBody>
          <a:bodyPr wrap="none" rtlCol="0">
            <a:spAutoFit/>
          </a:bodyPr>
          <a:lstStyle/>
          <a:p>
            <a:r>
              <a:rPr lang="fr-FR" sz="3200" dirty="0"/>
              <a:t>Chaîne décisionnelle</a:t>
            </a:r>
            <a:endParaRPr lang="fr-FR" sz="3200" b="1" dirty="0"/>
          </a:p>
        </p:txBody>
      </p:sp>
      <p:pic>
        <p:nvPicPr>
          <p:cNvPr id="4" name="Picture 3">
            <a:extLst>
              <a:ext uri="{FF2B5EF4-FFF2-40B4-BE49-F238E27FC236}">
                <a16:creationId xmlns:a16="http://schemas.microsoft.com/office/drawing/2014/main" xmlns="" id="{BD38591C-5310-D04C-985A-A223E0F52108}"/>
              </a:ext>
            </a:extLst>
          </p:cNvPr>
          <p:cNvPicPr>
            <a:picLocks noChangeAspect="1"/>
          </p:cNvPicPr>
          <p:nvPr/>
        </p:nvPicPr>
        <p:blipFill>
          <a:blip r:embed="rId2"/>
          <a:stretch>
            <a:fillRect/>
          </a:stretch>
        </p:blipFill>
        <p:spPr>
          <a:xfrm>
            <a:off x="890337" y="2462201"/>
            <a:ext cx="11129938" cy="3132482"/>
          </a:xfrm>
          <a:prstGeom prst="rect">
            <a:avLst/>
          </a:prstGeom>
        </p:spPr>
      </p:pic>
    </p:spTree>
    <p:extLst>
      <p:ext uri="{BB962C8B-B14F-4D97-AF65-F5344CB8AC3E}">
        <p14:creationId xmlns:p14="http://schemas.microsoft.com/office/powerpoint/2010/main" xmlns="" val="393293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8449557" cy="584775"/>
          </a:xfrm>
          <a:prstGeom prst="rect">
            <a:avLst/>
          </a:prstGeom>
          <a:noFill/>
        </p:spPr>
        <p:txBody>
          <a:bodyPr wrap="none" rtlCol="0">
            <a:spAutoFit/>
          </a:bodyPr>
          <a:lstStyle/>
          <a:p>
            <a:r>
              <a:rPr lang="fr-FR" sz="3200" dirty="0"/>
              <a:t>Phase d’alimentation = 1. Collecte des données</a:t>
            </a:r>
            <a:endParaRPr lang="fr-FR" sz="3200" b="1" dirty="0"/>
          </a:p>
        </p:txBody>
      </p:sp>
      <p:pic>
        <p:nvPicPr>
          <p:cNvPr id="5" name="Picture 4">
            <a:extLst>
              <a:ext uri="{FF2B5EF4-FFF2-40B4-BE49-F238E27FC236}">
                <a16:creationId xmlns:a16="http://schemas.microsoft.com/office/drawing/2014/main" xmlns="" id="{892CD7D6-A9D3-584E-8859-79EA34338829}"/>
              </a:ext>
            </a:extLst>
          </p:cNvPr>
          <p:cNvPicPr>
            <a:picLocks noChangeAspect="1"/>
          </p:cNvPicPr>
          <p:nvPr/>
        </p:nvPicPr>
        <p:blipFill rotWithShape="1">
          <a:blip r:embed="rId2"/>
          <a:srcRect r="72650"/>
          <a:stretch/>
        </p:blipFill>
        <p:spPr>
          <a:xfrm>
            <a:off x="1046748" y="2305790"/>
            <a:ext cx="3043989" cy="3132482"/>
          </a:xfrm>
          <a:prstGeom prst="rect">
            <a:avLst/>
          </a:prstGeom>
        </p:spPr>
      </p:pic>
      <p:pic>
        <p:nvPicPr>
          <p:cNvPr id="6" name="Picture 5">
            <a:extLst>
              <a:ext uri="{FF2B5EF4-FFF2-40B4-BE49-F238E27FC236}">
                <a16:creationId xmlns:a16="http://schemas.microsoft.com/office/drawing/2014/main" xmlns="" id="{E4FDB039-46DD-F649-9E62-D4F9F9F34BA5}"/>
              </a:ext>
            </a:extLst>
          </p:cNvPr>
          <p:cNvPicPr>
            <a:picLocks noChangeAspect="1"/>
          </p:cNvPicPr>
          <p:nvPr/>
        </p:nvPicPr>
        <p:blipFill>
          <a:blip r:embed="rId3"/>
          <a:stretch>
            <a:fillRect/>
          </a:stretch>
        </p:blipFill>
        <p:spPr>
          <a:xfrm>
            <a:off x="4454692" y="2951281"/>
            <a:ext cx="6819900" cy="1841500"/>
          </a:xfrm>
          <a:prstGeom prst="rect">
            <a:avLst/>
          </a:prstGeom>
        </p:spPr>
      </p:pic>
    </p:spTree>
    <p:extLst>
      <p:ext uri="{BB962C8B-B14F-4D97-AF65-F5344CB8AC3E}">
        <p14:creationId xmlns:p14="http://schemas.microsoft.com/office/powerpoint/2010/main" xmlns="" val="4254393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8948668" cy="584775"/>
          </a:xfrm>
          <a:prstGeom prst="rect">
            <a:avLst/>
          </a:prstGeom>
          <a:noFill/>
        </p:spPr>
        <p:txBody>
          <a:bodyPr wrap="none" rtlCol="0">
            <a:spAutoFit/>
          </a:bodyPr>
          <a:lstStyle/>
          <a:p>
            <a:r>
              <a:rPr lang="fr-FR" sz="3200" dirty="0"/>
              <a:t>Phase d’alimentation = 2. Intégration des données</a:t>
            </a:r>
            <a:endParaRPr lang="fr-FR" sz="3200" b="1" dirty="0"/>
          </a:p>
        </p:txBody>
      </p:sp>
      <p:graphicFrame>
        <p:nvGraphicFramePr>
          <p:cNvPr id="8" name="Diagram 7">
            <a:extLst>
              <a:ext uri="{FF2B5EF4-FFF2-40B4-BE49-F238E27FC236}">
                <a16:creationId xmlns:a16="http://schemas.microsoft.com/office/drawing/2014/main" xmlns="" id="{B70BB6C3-8448-184B-80F4-02C8AC47BB13}"/>
              </a:ext>
            </a:extLst>
          </p:cNvPr>
          <p:cNvGraphicFramePr/>
          <p:nvPr>
            <p:extLst>
              <p:ext uri="{D42A27DB-BD31-4B8C-83A1-F6EECF244321}">
                <p14:modId xmlns:p14="http://schemas.microsoft.com/office/powerpoint/2010/main" xmlns="" val="2484156140"/>
              </p:ext>
            </p:extLst>
          </p:nvPr>
        </p:nvGraphicFramePr>
        <p:xfrm>
          <a:off x="2105526" y="2216575"/>
          <a:ext cx="8361356" cy="32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218076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8244565" cy="584775"/>
          </a:xfrm>
          <a:prstGeom prst="rect">
            <a:avLst/>
          </a:prstGeom>
          <a:noFill/>
        </p:spPr>
        <p:txBody>
          <a:bodyPr wrap="none" rtlCol="0">
            <a:spAutoFit/>
          </a:bodyPr>
          <a:lstStyle/>
          <a:p>
            <a:r>
              <a:rPr lang="fr-FR" sz="3200" dirty="0"/>
              <a:t>Phase de Modélisation : Entrepôt des données</a:t>
            </a:r>
            <a:endParaRPr lang="fr-FR" sz="3200" b="1" dirty="0"/>
          </a:p>
        </p:txBody>
      </p:sp>
      <p:pic>
        <p:nvPicPr>
          <p:cNvPr id="4" name="Picture 3">
            <a:extLst>
              <a:ext uri="{FF2B5EF4-FFF2-40B4-BE49-F238E27FC236}">
                <a16:creationId xmlns:a16="http://schemas.microsoft.com/office/drawing/2014/main" xmlns="" id="{FCAF5609-12A1-0549-8C43-8A7937E23A3E}"/>
              </a:ext>
            </a:extLst>
          </p:cNvPr>
          <p:cNvPicPr>
            <a:picLocks noChangeAspect="1"/>
          </p:cNvPicPr>
          <p:nvPr/>
        </p:nvPicPr>
        <p:blipFill rotWithShape="1">
          <a:blip r:embed="rId2"/>
          <a:srcRect l="27890" r="45084"/>
          <a:stretch/>
        </p:blipFill>
        <p:spPr>
          <a:xfrm>
            <a:off x="1130968" y="2474232"/>
            <a:ext cx="3007896" cy="3132482"/>
          </a:xfrm>
          <a:prstGeom prst="rect">
            <a:avLst/>
          </a:prstGeom>
        </p:spPr>
      </p:pic>
      <p:pic>
        <p:nvPicPr>
          <p:cNvPr id="5" name="Picture 4">
            <a:extLst>
              <a:ext uri="{FF2B5EF4-FFF2-40B4-BE49-F238E27FC236}">
                <a16:creationId xmlns:a16="http://schemas.microsoft.com/office/drawing/2014/main" xmlns="" id="{20B8177A-8F2A-5042-8E3A-B2467C145B55}"/>
              </a:ext>
            </a:extLst>
          </p:cNvPr>
          <p:cNvPicPr>
            <a:picLocks noChangeAspect="1"/>
          </p:cNvPicPr>
          <p:nvPr/>
        </p:nvPicPr>
        <p:blipFill>
          <a:blip r:embed="rId3"/>
          <a:stretch>
            <a:fillRect/>
          </a:stretch>
        </p:blipFill>
        <p:spPr>
          <a:xfrm>
            <a:off x="6227808" y="1679649"/>
            <a:ext cx="3900174" cy="4379143"/>
          </a:xfrm>
          <a:prstGeom prst="rect">
            <a:avLst/>
          </a:prstGeom>
        </p:spPr>
      </p:pic>
    </p:spTree>
    <p:extLst>
      <p:ext uri="{BB962C8B-B14F-4D97-AF65-F5344CB8AC3E}">
        <p14:creationId xmlns:p14="http://schemas.microsoft.com/office/powerpoint/2010/main" xmlns="" val="2671156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3664786" cy="584775"/>
          </a:xfrm>
          <a:prstGeom prst="rect">
            <a:avLst/>
          </a:prstGeom>
          <a:noFill/>
        </p:spPr>
        <p:txBody>
          <a:bodyPr wrap="none" rtlCol="0">
            <a:spAutoFit/>
          </a:bodyPr>
          <a:lstStyle/>
          <a:p>
            <a:r>
              <a:rPr lang="fr-FR" sz="3200" dirty="0"/>
              <a:t>Phase de restitution</a:t>
            </a:r>
          </a:p>
        </p:txBody>
      </p:sp>
      <p:pic>
        <p:nvPicPr>
          <p:cNvPr id="4" name="Picture 3">
            <a:extLst>
              <a:ext uri="{FF2B5EF4-FFF2-40B4-BE49-F238E27FC236}">
                <a16:creationId xmlns:a16="http://schemas.microsoft.com/office/drawing/2014/main" xmlns="" id="{1FC65EE1-43E9-4345-BE7B-3970C0B0BC97}"/>
              </a:ext>
            </a:extLst>
          </p:cNvPr>
          <p:cNvPicPr>
            <a:picLocks noChangeAspect="1"/>
          </p:cNvPicPr>
          <p:nvPr/>
        </p:nvPicPr>
        <p:blipFill rotWithShape="1">
          <a:blip r:embed="rId2"/>
          <a:srcRect l="55348" r="22059"/>
          <a:stretch/>
        </p:blipFill>
        <p:spPr>
          <a:xfrm>
            <a:off x="1167063" y="2450169"/>
            <a:ext cx="2514600" cy="3132482"/>
          </a:xfrm>
          <a:prstGeom prst="rect">
            <a:avLst/>
          </a:prstGeom>
        </p:spPr>
      </p:pic>
      <p:graphicFrame>
        <p:nvGraphicFramePr>
          <p:cNvPr id="5" name="Diagram 4">
            <a:extLst>
              <a:ext uri="{FF2B5EF4-FFF2-40B4-BE49-F238E27FC236}">
                <a16:creationId xmlns:a16="http://schemas.microsoft.com/office/drawing/2014/main" xmlns="" id="{54B42DA0-651F-9240-BB31-45A0BE903328}"/>
              </a:ext>
            </a:extLst>
          </p:cNvPr>
          <p:cNvGraphicFramePr/>
          <p:nvPr>
            <p:extLst>
              <p:ext uri="{D42A27DB-BD31-4B8C-83A1-F6EECF244321}">
                <p14:modId xmlns:p14="http://schemas.microsoft.com/office/powerpoint/2010/main" xmlns="" val="3250030045"/>
              </p:ext>
            </p:extLst>
          </p:nvPr>
        </p:nvGraphicFramePr>
        <p:xfrm>
          <a:off x="5017169" y="2397049"/>
          <a:ext cx="5666874" cy="32387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2718830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3012363" cy="584775"/>
          </a:xfrm>
          <a:prstGeom prst="rect">
            <a:avLst/>
          </a:prstGeom>
          <a:noFill/>
        </p:spPr>
        <p:txBody>
          <a:bodyPr wrap="none" rtlCol="0">
            <a:spAutoFit/>
          </a:bodyPr>
          <a:lstStyle/>
          <a:p>
            <a:r>
              <a:rPr lang="fr-FR" sz="3200" dirty="0"/>
              <a:t>Phase d’Analyse</a:t>
            </a:r>
          </a:p>
        </p:txBody>
      </p:sp>
      <p:pic>
        <p:nvPicPr>
          <p:cNvPr id="4" name="Picture 3">
            <a:extLst>
              <a:ext uri="{FF2B5EF4-FFF2-40B4-BE49-F238E27FC236}">
                <a16:creationId xmlns:a16="http://schemas.microsoft.com/office/drawing/2014/main" xmlns="" id="{7F718462-69D3-6E41-A98B-5D9CADC515DC}"/>
              </a:ext>
            </a:extLst>
          </p:cNvPr>
          <p:cNvPicPr>
            <a:picLocks noChangeAspect="1"/>
          </p:cNvPicPr>
          <p:nvPr/>
        </p:nvPicPr>
        <p:blipFill rotWithShape="1">
          <a:blip r:embed="rId2"/>
          <a:srcRect l="77941"/>
          <a:stretch/>
        </p:blipFill>
        <p:spPr>
          <a:xfrm>
            <a:off x="4868415" y="2462201"/>
            <a:ext cx="2455169" cy="3132482"/>
          </a:xfrm>
          <a:prstGeom prst="rect">
            <a:avLst/>
          </a:prstGeom>
        </p:spPr>
      </p:pic>
    </p:spTree>
    <p:extLst>
      <p:ext uri="{BB962C8B-B14F-4D97-AF65-F5344CB8AC3E}">
        <p14:creationId xmlns:p14="http://schemas.microsoft.com/office/powerpoint/2010/main" xmlns="" val="384286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28750" y="2667001"/>
            <a:ext cx="6667500" cy="2485296"/>
          </a:xfrm>
          <a:prstGeom prst="rect">
            <a:avLst/>
          </a:prstGeom>
          <a:noFill/>
        </p:spPr>
        <p:txBody>
          <a:bodyPr wrap="square" rtlCol="0">
            <a:spAutoFit/>
          </a:bodyPr>
          <a:lstStyle/>
          <a:p>
            <a:r>
              <a:rPr lang="fr-FR" sz="2500" b="1" u="sng" dirty="0"/>
              <a:t>ETL : </a:t>
            </a:r>
          </a:p>
          <a:p>
            <a:endParaRPr lang="fr-FR" sz="2250" dirty="0"/>
          </a:p>
          <a:p>
            <a:pPr algn="just"/>
            <a:r>
              <a:rPr lang="fr-FR" dirty="0"/>
              <a:t>Un logiciel ETL (</a:t>
            </a:r>
            <a:r>
              <a:rPr lang="fr-FR" dirty="0" err="1"/>
              <a:t>Extract</a:t>
            </a:r>
            <a:r>
              <a:rPr lang="fr-FR" dirty="0"/>
              <a:t> </a:t>
            </a:r>
            <a:r>
              <a:rPr lang="fr-FR" dirty="0" err="1"/>
              <a:t>Transform</a:t>
            </a:r>
            <a:r>
              <a:rPr lang="fr-FR" dirty="0"/>
              <a:t> </a:t>
            </a:r>
            <a:r>
              <a:rPr lang="fr-FR" dirty="0" err="1"/>
              <a:t>Load</a:t>
            </a:r>
            <a:r>
              <a:rPr lang="fr-FR" dirty="0"/>
              <a:t>) permet d’extraire des données brutes depuis une base de données, pour ensuite les restructurer, et enfin les charger </a:t>
            </a:r>
            <a:r>
              <a:rPr lang="fr-FR" dirty="0">
                <a:hlinkClick r:id="rId2">
                  <a:extLst>
                    <a:ext uri="{A12FA001-AC4F-418D-AE19-62706E023703}">
                      <ahyp:hlinkClr xmlns:ahyp="http://schemas.microsoft.com/office/drawing/2018/hyperlinkcolor" xmlns="" val="tx"/>
                    </a:ext>
                  </a:extLst>
                </a:hlinkClick>
              </a:rPr>
              <a:t>dans une Data Warehouse</a:t>
            </a:r>
            <a:r>
              <a:rPr lang="fr-FR" dirty="0"/>
              <a:t>.</a:t>
            </a:r>
          </a:p>
          <a:p>
            <a:pPr algn="just"/>
            <a:r>
              <a:rPr lang="fr-FR" dirty="0"/>
              <a:t> </a:t>
            </a:r>
          </a:p>
          <a:p>
            <a:pPr algn="just"/>
            <a:r>
              <a:rPr lang="fr-FR" dirty="0"/>
              <a:t>Ces logiciels existent depuis bien longtemps, mais ont beaucoup évolué pour répondre aux nouveaux besoins. </a:t>
            </a:r>
          </a:p>
        </p:txBody>
      </p:sp>
      <p:sp>
        <p:nvSpPr>
          <p:cNvPr id="7" name="TextBox 6">
            <a:extLst>
              <a:ext uri="{FF2B5EF4-FFF2-40B4-BE49-F238E27FC236}">
                <a16:creationId xmlns:a16="http://schemas.microsoft.com/office/drawing/2014/main" xmlns="" id="{7A1951E1-6A00-1C4A-909A-38031BD014D8}"/>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1428750" y="2667000"/>
            <a:ext cx="6667500" cy="2762295"/>
          </a:xfrm>
          <a:prstGeom prst="rect">
            <a:avLst/>
          </a:prstGeom>
          <a:noFill/>
        </p:spPr>
        <p:txBody>
          <a:bodyPr wrap="square" rtlCol="0">
            <a:spAutoFit/>
          </a:bodyPr>
          <a:lstStyle/>
          <a:p>
            <a:r>
              <a:rPr lang="fr-FR" sz="2500" b="1" u="sng" dirty="0"/>
              <a:t>Data </a:t>
            </a:r>
            <a:r>
              <a:rPr lang="fr-FR" sz="2500" b="1" u="sng" dirty="0" err="1"/>
              <a:t>Warehouse</a:t>
            </a:r>
            <a:r>
              <a:rPr lang="fr-FR" sz="2500" b="1" u="sng" dirty="0"/>
              <a:t> : </a:t>
            </a:r>
          </a:p>
          <a:p>
            <a:endParaRPr lang="fr-FR" sz="2250" dirty="0"/>
          </a:p>
          <a:p>
            <a:pPr algn="just"/>
            <a:r>
              <a:rPr lang="fr-FR" dirty="0"/>
              <a:t>Le Data </a:t>
            </a:r>
            <a:r>
              <a:rPr lang="fr-FR" dirty="0" err="1"/>
              <a:t>Warehouse</a:t>
            </a:r>
            <a:r>
              <a:rPr lang="fr-FR" dirty="0"/>
              <a:t>, ou entrepôt de données, est une base de données dédiée au stockage de l'ensemble des données utilisées dans le cadre de la prise de décision et de l'analyse décisionnelle. Le Data </a:t>
            </a:r>
            <a:r>
              <a:rPr lang="fr-FR" dirty="0" err="1"/>
              <a:t>Warehouse</a:t>
            </a:r>
            <a:r>
              <a:rPr lang="fr-FR" dirty="0"/>
              <a:t> est exclusivement réservé à cet usage. </a:t>
            </a:r>
          </a:p>
          <a:p>
            <a:pPr algn="just"/>
            <a:endParaRPr lang="fr-FR" dirty="0"/>
          </a:p>
          <a:p>
            <a:pPr algn="just"/>
            <a:r>
              <a:rPr lang="fr-FR" dirty="0"/>
              <a:t>Il est alimenté en données depuis les bases de production grâce notamment aux outils d'ETL </a:t>
            </a:r>
            <a:r>
              <a:rPr lang="fr-FR" dirty="0" err="1"/>
              <a:t>Extract</a:t>
            </a:r>
            <a:r>
              <a:rPr lang="fr-FR" dirty="0"/>
              <a:t> </a:t>
            </a:r>
            <a:r>
              <a:rPr lang="fr-FR" dirty="0" err="1"/>
              <a:t>Transform</a:t>
            </a:r>
            <a:r>
              <a:rPr lang="fr-FR" dirty="0"/>
              <a:t> </a:t>
            </a:r>
            <a:r>
              <a:rPr lang="fr-FR" dirty="0" err="1"/>
              <a:t>Load</a:t>
            </a:r>
            <a:r>
              <a:rPr lang="fr-FR" dirty="0"/>
              <a:t>.</a:t>
            </a:r>
          </a:p>
        </p:txBody>
      </p:sp>
      <p:sp>
        <p:nvSpPr>
          <p:cNvPr id="9" name="TextBox 8">
            <a:extLst>
              <a:ext uri="{FF2B5EF4-FFF2-40B4-BE49-F238E27FC236}">
                <a16:creationId xmlns:a16="http://schemas.microsoft.com/office/drawing/2014/main" xmlns="" id="{262350F1-5356-B846-A20F-2D5005D76EAA}"/>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28750" y="2667001"/>
            <a:ext cx="6667500" cy="2762295"/>
          </a:xfrm>
          <a:prstGeom prst="rect">
            <a:avLst/>
          </a:prstGeom>
          <a:noFill/>
        </p:spPr>
        <p:txBody>
          <a:bodyPr wrap="square" rtlCol="0">
            <a:spAutoFit/>
          </a:bodyPr>
          <a:lstStyle/>
          <a:p>
            <a:r>
              <a:rPr lang="fr-FR" sz="2500" b="1" u="sng" dirty="0" err="1"/>
              <a:t>Datamarts</a:t>
            </a:r>
            <a:r>
              <a:rPr lang="fr-FR" sz="2500" b="1" u="sng" dirty="0"/>
              <a:t> : </a:t>
            </a:r>
          </a:p>
          <a:p>
            <a:endParaRPr lang="fr-FR" sz="2250" dirty="0"/>
          </a:p>
          <a:p>
            <a:pPr algn="just"/>
            <a:r>
              <a:rPr lang="fr-FR" dirty="0"/>
              <a:t>Un </a:t>
            </a:r>
            <a:r>
              <a:rPr lang="fr-FR" dirty="0" err="1"/>
              <a:t>Datamart</a:t>
            </a:r>
            <a:r>
              <a:rPr lang="fr-FR" dirty="0"/>
              <a:t> est un donc un sous élément du data </a:t>
            </a:r>
            <a:r>
              <a:rPr lang="fr-FR" dirty="0" err="1"/>
              <a:t>Warehouse</a:t>
            </a:r>
            <a:r>
              <a:rPr lang="fr-FR" dirty="0"/>
              <a:t> que l’on peut traduire en français par magasin de données ou comptoir de données</a:t>
            </a:r>
          </a:p>
          <a:p>
            <a:pPr algn="just"/>
            <a:endParaRPr lang="fr-FR" dirty="0"/>
          </a:p>
          <a:p>
            <a:pPr algn="just"/>
            <a:r>
              <a:rPr lang="fr-FR" dirty="0"/>
              <a:t>Ici le but n’est pas de rassembler des données avant de les trier (la définition du Data </a:t>
            </a:r>
            <a:r>
              <a:rPr lang="fr-FR" dirty="0" err="1"/>
              <a:t>Warehouse</a:t>
            </a:r>
            <a:r>
              <a:rPr lang="fr-FR" dirty="0"/>
              <a:t>), mais de les organiser selon des usages métiers ou des domaines ciblés.</a:t>
            </a:r>
          </a:p>
        </p:txBody>
      </p:sp>
      <p:sp>
        <p:nvSpPr>
          <p:cNvPr id="9" name="TextBox 8">
            <a:extLst>
              <a:ext uri="{FF2B5EF4-FFF2-40B4-BE49-F238E27FC236}">
                <a16:creationId xmlns:a16="http://schemas.microsoft.com/office/drawing/2014/main" xmlns="" id="{C49356E5-EE34-D342-9899-5E335DE733F3}"/>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28750" y="2667001"/>
            <a:ext cx="6667500" cy="1692771"/>
          </a:xfrm>
          <a:prstGeom prst="rect">
            <a:avLst/>
          </a:prstGeom>
          <a:noFill/>
        </p:spPr>
        <p:txBody>
          <a:bodyPr wrap="square" rtlCol="0">
            <a:spAutoFit/>
          </a:bodyPr>
          <a:lstStyle/>
          <a:p>
            <a:r>
              <a:rPr lang="fr-FR" sz="2500" b="1" u="sng" dirty="0"/>
              <a:t>Datamining  : </a:t>
            </a:r>
          </a:p>
          <a:p>
            <a:endParaRPr lang="fr-FR" sz="2500" b="1" u="sng" dirty="0"/>
          </a:p>
          <a:p>
            <a:pPr algn="just"/>
            <a:r>
              <a:rPr lang="fr-FR" dirty="0"/>
              <a:t>Les outils des Dataminings permettent d’extraire des hypothèses à partir de grandes quantités de données, par procédés typiquement statistiques. </a:t>
            </a:r>
          </a:p>
        </p:txBody>
      </p:sp>
      <p:sp>
        <p:nvSpPr>
          <p:cNvPr id="9" name="TextBox 8">
            <a:extLst>
              <a:ext uri="{FF2B5EF4-FFF2-40B4-BE49-F238E27FC236}">
                <a16:creationId xmlns:a16="http://schemas.microsoft.com/office/drawing/2014/main" xmlns="" id="{1DB5DF16-0F5B-CE49-8ACC-3B15E9AA87C6}"/>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28750" y="2667000"/>
            <a:ext cx="6667500" cy="1969770"/>
          </a:xfrm>
          <a:prstGeom prst="rect">
            <a:avLst/>
          </a:prstGeom>
          <a:noFill/>
        </p:spPr>
        <p:txBody>
          <a:bodyPr wrap="square" rtlCol="0">
            <a:spAutoFit/>
          </a:bodyPr>
          <a:lstStyle/>
          <a:p>
            <a:r>
              <a:rPr lang="fr-FR" sz="2500" b="1" u="sng" dirty="0"/>
              <a:t>OLAP : </a:t>
            </a:r>
          </a:p>
          <a:p>
            <a:endParaRPr lang="fr-FR" sz="2500" b="1" u="sng" dirty="0"/>
          </a:p>
          <a:p>
            <a:pPr algn="just"/>
            <a:r>
              <a:rPr lang="fr-FR" dirty="0"/>
              <a:t>Acronyme de Online </a:t>
            </a:r>
            <a:r>
              <a:rPr lang="fr-FR" dirty="0" err="1"/>
              <a:t>Analytical</a:t>
            </a:r>
            <a:r>
              <a:rPr lang="fr-FR" dirty="0"/>
              <a:t> </a:t>
            </a:r>
            <a:r>
              <a:rPr lang="fr-FR" dirty="0" err="1"/>
              <a:t>Processing</a:t>
            </a:r>
            <a:r>
              <a:rPr lang="fr-FR" dirty="0"/>
              <a:t>, est une technologie permettant d’effectuer des analyses de données multidimensionnelles au sein de bases de données créées à cet effet.</a:t>
            </a:r>
          </a:p>
        </p:txBody>
      </p:sp>
      <p:sp>
        <p:nvSpPr>
          <p:cNvPr id="9" name="TextBox 8">
            <a:extLst>
              <a:ext uri="{FF2B5EF4-FFF2-40B4-BE49-F238E27FC236}">
                <a16:creationId xmlns:a16="http://schemas.microsoft.com/office/drawing/2014/main" xmlns="" id="{DAA7C599-416F-E148-A96F-33D46E543319}"/>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28750" y="2667000"/>
            <a:ext cx="6667500" cy="1415772"/>
          </a:xfrm>
          <a:prstGeom prst="rect">
            <a:avLst/>
          </a:prstGeom>
          <a:noFill/>
        </p:spPr>
        <p:txBody>
          <a:bodyPr wrap="square" rtlCol="0">
            <a:spAutoFit/>
          </a:bodyPr>
          <a:lstStyle/>
          <a:p>
            <a:r>
              <a:rPr lang="fr-FR" sz="2500" b="1" u="sng" dirty="0" err="1"/>
              <a:t>Reporting</a:t>
            </a:r>
            <a:r>
              <a:rPr lang="fr-FR" sz="2500" b="1" u="sng" dirty="0"/>
              <a:t>: </a:t>
            </a:r>
          </a:p>
          <a:p>
            <a:endParaRPr lang="fr-FR" sz="2500" b="1" u="sng" dirty="0"/>
          </a:p>
          <a:p>
            <a:pPr algn="just"/>
            <a:r>
              <a:rPr lang="fr-FR" dirty="0"/>
              <a:t>Il consiste en la présentation de rapports sur les activités et les résultats d'une entreprise ou de toute autre organisation. </a:t>
            </a:r>
          </a:p>
        </p:txBody>
      </p:sp>
      <p:sp>
        <p:nvSpPr>
          <p:cNvPr id="9" name="TextBox 8">
            <a:extLst>
              <a:ext uri="{FF2B5EF4-FFF2-40B4-BE49-F238E27FC236}">
                <a16:creationId xmlns:a16="http://schemas.microsoft.com/office/drawing/2014/main" xmlns="" id="{73017585-884D-0F41-9007-3D3269C0065D}"/>
              </a:ext>
            </a:extLst>
          </p:cNvPr>
          <p:cNvSpPr txBox="1"/>
          <p:nvPr/>
        </p:nvSpPr>
        <p:spPr>
          <a:xfrm>
            <a:off x="2105526" y="1094874"/>
            <a:ext cx="5069208" cy="584775"/>
          </a:xfrm>
          <a:prstGeom prst="rect">
            <a:avLst/>
          </a:prstGeom>
          <a:noFill/>
        </p:spPr>
        <p:txBody>
          <a:bodyPr wrap="none" rtlCol="0">
            <a:spAutoFit/>
          </a:bodyPr>
          <a:lstStyle/>
          <a:p>
            <a:r>
              <a:rPr lang="fr-FR" sz="3200" b="1" dirty="0"/>
              <a:t>Terminologie et Notion du BI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157037" y="2869175"/>
            <a:ext cx="9877926" cy="369332"/>
          </a:xfrm>
          <a:prstGeom prst="rect">
            <a:avLst/>
          </a:prstGeom>
          <a:noFill/>
        </p:spPr>
        <p:txBody>
          <a:bodyPr wrap="square">
            <a:spAutoFit/>
          </a:bodyPr>
          <a:lstStyle/>
          <a:p>
            <a:pPr algn="just"/>
            <a:r>
              <a:rPr lang="fr-FR" dirty="0"/>
              <a:t>Entreprise XYZ: Utilisation de la BI pour analyser les données de vente et les tendances du marché.</a:t>
            </a:r>
            <a:endParaRPr lang="fr-FR" dirty="0">
              <a:effectLst/>
            </a:endParaRP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Amélioration de la Prise de Décision</a:t>
            </a:r>
          </a:p>
        </p:txBody>
      </p:sp>
    </p:spTree>
    <p:extLst>
      <p:ext uri="{BB962C8B-B14F-4D97-AF65-F5344CB8AC3E}">
        <p14:creationId xmlns:p14="http://schemas.microsoft.com/office/powerpoint/2010/main" xmlns="" val="2479290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63315969-5457-654A-B8F9-5CC88FF58486}"/>
              </a:ext>
            </a:extLst>
          </p:cNvPr>
          <p:cNvPicPr>
            <a:picLocks noChangeAspect="1"/>
          </p:cNvPicPr>
          <p:nvPr/>
        </p:nvPicPr>
        <p:blipFill>
          <a:blip r:embed="rId2"/>
          <a:stretch>
            <a:fillRect/>
          </a:stretch>
        </p:blipFill>
        <p:spPr>
          <a:xfrm>
            <a:off x="900953" y="963380"/>
            <a:ext cx="10797988" cy="4931240"/>
          </a:xfrm>
          <a:prstGeom prst="rect">
            <a:avLst/>
          </a:prstGeom>
        </p:spPr>
      </p:pic>
    </p:spTree>
    <p:extLst>
      <p:ext uri="{BB962C8B-B14F-4D97-AF65-F5344CB8AC3E}">
        <p14:creationId xmlns:p14="http://schemas.microsoft.com/office/powerpoint/2010/main" xmlns="" val="4116520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157037" y="2869175"/>
            <a:ext cx="9877926" cy="369332"/>
          </a:xfrm>
          <a:prstGeom prst="rect">
            <a:avLst/>
          </a:prstGeom>
          <a:noFill/>
        </p:spPr>
        <p:txBody>
          <a:bodyPr wrap="square">
            <a:spAutoFit/>
          </a:bodyPr>
          <a:lstStyle/>
          <a:p>
            <a:pPr algn="just"/>
            <a:r>
              <a:rPr lang="fr-FR" dirty="0"/>
              <a:t>Entreprise XYZ: Utilisation de la BI pour analyser les données de vente et les tendances du marché.</a:t>
            </a:r>
            <a:endParaRPr lang="fr-FR" dirty="0">
              <a:effectLst/>
            </a:endParaRP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Amélioration de la Prise de Décision</a:t>
            </a:r>
          </a:p>
        </p:txBody>
      </p:sp>
      <p:sp>
        <p:nvSpPr>
          <p:cNvPr id="4" name="TextBox 3">
            <a:extLst>
              <a:ext uri="{FF2B5EF4-FFF2-40B4-BE49-F238E27FC236}">
                <a16:creationId xmlns:a16="http://schemas.microsoft.com/office/drawing/2014/main" xmlns="" id="{8CDD53F2-D69A-8049-82A7-1DF6E5A7E5C6}"/>
              </a:ext>
            </a:extLst>
          </p:cNvPr>
          <p:cNvSpPr txBox="1"/>
          <p:nvPr/>
        </p:nvSpPr>
        <p:spPr>
          <a:xfrm>
            <a:off x="1157037" y="5626757"/>
            <a:ext cx="10477500" cy="646331"/>
          </a:xfrm>
          <a:prstGeom prst="rect">
            <a:avLst/>
          </a:prstGeom>
          <a:noFill/>
        </p:spPr>
        <p:txBody>
          <a:bodyPr wrap="square" rtlCol="0">
            <a:spAutoFit/>
          </a:bodyPr>
          <a:lstStyle/>
          <a:p>
            <a:pPr algn="just"/>
            <a:r>
              <a:rPr lang="fr-FR" dirty="0"/>
              <a:t>Résultat : Cela a permis à l'entreprise de prendre des décisions éclairées sur les stratégies de tarification et de marketing, ce qui a entraîné une augmentation des ventes et des marges bénéficiaires.</a:t>
            </a:r>
          </a:p>
        </p:txBody>
      </p:sp>
    </p:spTree>
    <p:extLst>
      <p:ext uri="{BB962C8B-B14F-4D97-AF65-F5344CB8AC3E}">
        <p14:creationId xmlns:p14="http://schemas.microsoft.com/office/powerpoint/2010/main" xmlns="" val="1672301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157037" y="3332203"/>
            <a:ext cx="9877926" cy="2031325"/>
          </a:xfrm>
          <a:prstGeom prst="rect">
            <a:avLst/>
          </a:prstGeom>
          <a:noFill/>
        </p:spPr>
        <p:txBody>
          <a:bodyPr wrap="square">
            <a:spAutoFit/>
          </a:bodyPr>
          <a:lstStyle/>
          <a:p>
            <a:pPr algn="just"/>
            <a:r>
              <a:rPr lang="fr-FR" dirty="0"/>
              <a:t>Imaginons une entreprise de vente au détail, "</a:t>
            </a:r>
            <a:r>
              <a:rPr lang="fr-FR" dirty="0" err="1"/>
              <a:t>RetailCorp</a:t>
            </a:r>
            <a:r>
              <a:rPr lang="fr-FR" dirty="0"/>
              <a:t>", qui possède plusieurs magasins à travers le pays et vend une gamme variée de produits. </a:t>
            </a:r>
          </a:p>
          <a:p>
            <a:pPr algn="just"/>
            <a:endParaRPr lang="fr-FR" dirty="0"/>
          </a:p>
          <a:p>
            <a:pPr algn="just"/>
            <a:endParaRPr lang="fr-FR" dirty="0"/>
          </a:p>
          <a:p>
            <a:pPr algn="just"/>
            <a:endParaRPr lang="fr-FR" dirty="0"/>
          </a:p>
          <a:p>
            <a:pPr algn="just"/>
            <a:r>
              <a:rPr lang="fr-FR" dirty="0"/>
              <a:t>"</a:t>
            </a:r>
            <a:r>
              <a:rPr lang="fr-FR" dirty="0" err="1"/>
              <a:t>RetailCorp</a:t>
            </a:r>
            <a:r>
              <a:rPr lang="fr-FR" dirty="0"/>
              <a:t>" souhaite améliorer sa prise de décision stratégique et opérationnelle en exploitant mieux les données générées par ses opérations quotidiennes. </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RetailCorp</a:t>
            </a:r>
            <a:r>
              <a:rPr lang="fr-FR" sz="2000" b="1" dirty="0"/>
              <a:t> : amélioration de la prise de décision</a:t>
            </a:r>
          </a:p>
        </p:txBody>
      </p:sp>
    </p:spTree>
    <p:extLst>
      <p:ext uri="{BB962C8B-B14F-4D97-AF65-F5344CB8AC3E}">
        <p14:creationId xmlns:p14="http://schemas.microsoft.com/office/powerpoint/2010/main" xmlns="" val="3600743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dirty="0"/>
              <a:t>1. Définition des Objectifs et des Besoins</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fr-FR"/>
              <a:t>"RetailCorp" souhaite analyser ses ventes pour identifier les produits les plus populaires, les performances des magasins dans différentes régions, et les tendances d'achat des clients au fil du temps.</a:t>
            </a:r>
          </a:p>
        </p:txBody>
      </p:sp>
    </p:spTree>
    <p:extLst>
      <p:ext uri="{BB962C8B-B14F-4D97-AF65-F5344CB8AC3E}">
        <p14:creationId xmlns:p14="http://schemas.microsoft.com/office/powerpoint/2010/main" xmlns="" val="1217350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2. Conception du </a:t>
            </a:r>
            <a:r>
              <a:rPr lang="en-US" b="1" dirty="0" err="1"/>
              <a:t>Modèle</a:t>
            </a:r>
            <a:r>
              <a:rPr lang="en-US" b="1" dirty="0"/>
              <a:t>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RetailCorp</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en-US" dirty="0" err="1"/>
              <a:t>L'équipe</a:t>
            </a:r>
            <a:r>
              <a:rPr lang="en-US" dirty="0"/>
              <a:t> BI </a:t>
            </a:r>
            <a:r>
              <a:rPr lang="en-US" dirty="0" err="1"/>
              <a:t>conçoit</a:t>
            </a:r>
            <a:r>
              <a:rPr lang="en-US" dirty="0"/>
              <a:t> un </a:t>
            </a:r>
            <a:r>
              <a:rPr lang="en-US" dirty="0" err="1"/>
              <a:t>modèle</a:t>
            </a:r>
            <a:r>
              <a:rPr lang="en-US" dirty="0"/>
              <a:t> de </a:t>
            </a:r>
            <a:r>
              <a:rPr lang="en-US" dirty="0" err="1"/>
              <a:t>données</a:t>
            </a:r>
            <a:r>
              <a:rPr lang="en-US" dirty="0"/>
              <a:t> avec des tables de dimensions pour "Temps", "</a:t>
            </a:r>
            <a:r>
              <a:rPr lang="en-US" dirty="0" err="1"/>
              <a:t>Produit</a:t>
            </a:r>
            <a:r>
              <a:rPr lang="en-US" dirty="0"/>
              <a:t>", "</a:t>
            </a:r>
            <a:r>
              <a:rPr lang="en-US" dirty="0" err="1"/>
              <a:t>Magasin</a:t>
            </a:r>
            <a:r>
              <a:rPr lang="en-US" dirty="0"/>
              <a:t>" et "Client", </a:t>
            </a:r>
            <a:r>
              <a:rPr lang="en-US" dirty="0" err="1"/>
              <a:t>ainsi</a:t>
            </a:r>
            <a:r>
              <a:rPr lang="en-US" dirty="0"/>
              <a:t> </a:t>
            </a:r>
            <a:r>
              <a:rPr lang="en-US" dirty="0" err="1"/>
              <a:t>qu'une</a:t>
            </a:r>
            <a:r>
              <a:rPr lang="en-US" dirty="0"/>
              <a:t> table de faits pour </a:t>
            </a:r>
            <a:r>
              <a:rPr lang="en-US" dirty="0" err="1"/>
              <a:t>enregistrer</a:t>
            </a:r>
            <a:r>
              <a:rPr lang="en-US" dirty="0"/>
              <a:t> les transactions de vente.</a:t>
            </a:r>
          </a:p>
        </p:txBody>
      </p:sp>
    </p:spTree>
    <p:extLst>
      <p:ext uri="{BB962C8B-B14F-4D97-AF65-F5344CB8AC3E}">
        <p14:creationId xmlns:p14="http://schemas.microsoft.com/office/powerpoint/2010/main" xmlns="" val="242721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3. </a:t>
            </a:r>
            <a:r>
              <a:rPr lang="en-US" b="1" dirty="0" err="1"/>
              <a:t>Sélection</a:t>
            </a:r>
            <a:r>
              <a:rPr lang="en-US" b="1" dirty="0"/>
              <a:t> des Sources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RetailCorp</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en-US" dirty="0"/>
              <a:t>Les sources de </a:t>
            </a:r>
            <a:r>
              <a:rPr lang="en-US" dirty="0" err="1"/>
              <a:t>données</a:t>
            </a:r>
            <a:r>
              <a:rPr lang="en-US" dirty="0"/>
              <a:t> </a:t>
            </a:r>
            <a:r>
              <a:rPr lang="en-US" dirty="0" err="1"/>
              <a:t>incluent</a:t>
            </a:r>
            <a:r>
              <a:rPr lang="en-US" dirty="0"/>
              <a:t> le </a:t>
            </a:r>
            <a:r>
              <a:rPr lang="en-US" dirty="0" err="1"/>
              <a:t>système</a:t>
            </a:r>
            <a:r>
              <a:rPr lang="en-US" dirty="0"/>
              <a:t> de point de vente (POS) pour les transactions, le </a:t>
            </a:r>
            <a:r>
              <a:rPr lang="en-US" dirty="0" err="1"/>
              <a:t>système</a:t>
            </a:r>
            <a:r>
              <a:rPr lang="en-US" dirty="0"/>
              <a:t> de gestion des relations clients (CRM) pour les </a:t>
            </a:r>
            <a:r>
              <a:rPr lang="en-US" dirty="0" err="1"/>
              <a:t>données</a:t>
            </a:r>
            <a:r>
              <a:rPr lang="en-US" dirty="0"/>
              <a:t> clients, et le </a:t>
            </a:r>
            <a:r>
              <a:rPr lang="en-US" dirty="0" err="1"/>
              <a:t>système</a:t>
            </a:r>
            <a:r>
              <a:rPr lang="en-US" dirty="0"/>
              <a:t> de gestion des stocks pour les </a:t>
            </a:r>
            <a:r>
              <a:rPr lang="en-US" dirty="0" err="1"/>
              <a:t>informations</a:t>
            </a:r>
            <a:r>
              <a:rPr lang="en-US" dirty="0"/>
              <a:t> sur les </a:t>
            </a:r>
            <a:r>
              <a:rPr lang="en-US" dirty="0" err="1"/>
              <a:t>produits</a:t>
            </a:r>
            <a:r>
              <a:rPr lang="en-US" dirty="0"/>
              <a:t>.</a:t>
            </a:r>
          </a:p>
        </p:txBody>
      </p:sp>
    </p:spTree>
    <p:extLst>
      <p:ext uri="{BB962C8B-B14F-4D97-AF65-F5344CB8AC3E}">
        <p14:creationId xmlns:p14="http://schemas.microsoft.com/office/powerpoint/2010/main" xmlns="" val="564975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a:t>4. Extraction, Transformation et Chargement (ETL)</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fr-FR"/>
              <a:t>Les données sont extraites des systèmes sources, nettoyées et transformées (par exemple, uniformisation des formats de date, agrégation des ventes par jour) puis chargées dans l'entrepôt de données.</a:t>
            </a:r>
          </a:p>
        </p:txBody>
      </p:sp>
    </p:spTree>
    <p:extLst>
      <p:ext uri="{BB962C8B-B14F-4D97-AF65-F5344CB8AC3E}">
        <p14:creationId xmlns:p14="http://schemas.microsoft.com/office/powerpoint/2010/main" xmlns="" val="334432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5. Mise </a:t>
            </a:r>
            <a:r>
              <a:rPr lang="en-US" b="1" dirty="0" err="1"/>
              <a:t>en</a:t>
            </a:r>
            <a:r>
              <a:rPr lang="en-US" b="1" dirty="0"/>
              <a:t> Place de </a:t>
            </a:r>
            <a:r>
              <a:rPr lang="en-US" b="1" dirty="0" err="1"/>
              <a:t>l'Infrastructure</a:t>
            </a:r>
            <a:r>
              <a:rPr lang="en-US" b="1" dirty="0"/>
              <a:t> Technique</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L'entrepôt de données est hébergé sur un serveur de base de données avec suffisamment de capacité de stockage et de puissance de calcul pour gérer les requêtes analytiques.</a:t>
            </a:r>
          </a:p>
        </p:txBody>
      </p:sp>
    </p:spTree>
    <p:extLst>
      <p:ext uri="{BB962C8B-B14F-4D97-AF65-F5344CB8AC3E}">
        <p14:creationId xmlns:p14="http://schemas.microsoft.com/office/powerpoint/2010/main" xmlns="" val="2343877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6. </a:t>
            </a:r>
            <a:r>
              <a:rPr lang="en-US" b="1" dirty="0" err="1"/>
              <a:t>Implémentation</a:t>
            </a:r>
            <a:r>
              <a:rPr lang="en-US" b="1" dirty="0"/>
              <a:t> du </a:t>
            </a:r>
            <a:r>
              <a:rPr lang="en-US" b="1" dirty="0" err="1"/>
              <a:t>Modèle</a:t>
            </a:r>
            <a:r>
              <a:rPr lang="en-US" b="1" dirty="0"/>
              <a:t>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Les tables de dimensions et de faits sont créées dans l'entrepôt de données, et les données historiques sont chargées.</a:t>
            </a:r>
          </a:p>
        </p:txBody>
      </p:sp>
    </p:spTree>
    <p:extLst>
      <p:ext uri="{BB962C8B-B14F-4D97-AF65-F5344CB8AC3E}">
        <p14:creationId xmlns:p14="http://schemas.microsoft.com/office/powerpoint/2010/main" xmlns="" val="3228240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7. Test et Validation</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Des tests sont effectués pour s'assurer de l'intégrité des données, et les utilisateurs finaux (par exemple, les managers de magasin) valident que l'entrepôt répond à leurs besoins d'analyse.</a:t>
            </a:r>
          </a:p>
        </p:txBody>
      </p:sp>
    </p:spTree>
    <p:extLst>
      <p:ext uri="{BB962C8B-B14F-4D97-AF65-F5344CB8AC3E}">
        <p14:creationId xmlns:p14="http://schemas.microsoft.com/office/powerpoint/2010/main" xmlns="" val="2711086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8. </a:t>
            </a:r>
            <a:r>
              <a:rPr lang="en-US" b="1" dirty="0" err="1"/>
              <a:t>Déploiement</a:t>
            </a:r>
            <a:r>
              <a:rPr lang="en-US" b="1" dirty="0"/>
              <a:t> et Mise </a:t>
            </a:r>
            <a:r>
              <a:rPr lang="en-US" b="1" dirty="0" err="1"/>
              <a:t>en</a:t>
            </a:r>
            <a:r>
              <a:rPr lang="en-US" b="1" dirty="0"/>
              <a:t> Production</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fr-FR" dirty="0"/>
              <a:t>Des outils de BI, tels que des logiciels de tableau de bord et de </a:t>
            </a:r>
            <a:r>
              <a:rPr lang="fr-FR" dirty="0" err="1"/>
              <a:t>reporting</a:t>
            </a:r>
            <a:r>
              <a:rPr lang="fr-FR" dirty="0"/>
              <a:t>, sont connectés à l'entrepôt de données. Des formations sont dispensées aux utilisateurs finaux sur la manière d'utiliser ces outils.</a:t>
            </a:r>
          </a:p>
        </p:txBody>
      </p:sp>
    </p:spTree>
    <p:extLst>
      <p:ext uri="{BB962C8B-B14F-4D97-AF65-F5344CB8AC3E}">
        <p14:creationId xmlns:p14="http://schemas.microsoft.com/office/powerpoint/2010/main" xmlns="" val="2086754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9. Maintenance et </a:t>
            </a:r>
            <a:r>
              <a:rPr lang="en-US" b="1" dirty="0" err="1"/>
              <a:t>Évolution</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a:t>RetailCorp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L'équipe BI surveille et maintient l'infrastructure, en ajoutant de nouvelles sources de données ou en ajustant le modèle de données pour répondre à de nouveaux besoins d'analyse.</a:t>
            </a:r>
          </a:p>
        </p:txBody>
      </p:sp>
    </p:spTree>
    <p:extLst>
      <p:ext uri="{BB962C8B-B14F-4D97-AF65-F5344CB8AC3E}">
        <p14:creationId xmlns:p14="http://schemas.microsoft.com/office/powerpoint/2010/main" xmlns="" val="39517080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3D212A-1EDB-D34D-9B2E-9689AF49F7EB}"/>
              </a:ext>
            </a:extLst>
          </p:cNvPr>
          <p:cNvSpPr>
            <a:spLocks noGrp="1"/>
          </p:cNvSpPr>
          <p:nvPr>
            <p:ph type="ctrTitle"/>
          </p:nvPr>
        </p:nvSpPr>
        <p:spPr>
          <a:xfrm>
            <a:off x="1523999" y="2235200"/>
            <a:ext cx="9144000" cy="2387600"/>
          </a:xfrm>
        </p:spPr>
        <p:txBody>
          <a:bodyPr anchor="ctr">
            <a:normAutofit fontScale="90000"/>
          </a:bodyPr>
          <a:lstStyle/>
          <a:p>
            <a:r>
              <a:rPr lang="fr-FR" sz="6600" dirty="0"/>
              <a:t>SYSTÈME D’INFORMATION DÉCISIONNEL</a:t>
            </a:r>
          </a:p>
        </p:txBody>
      </p:sp>
      <p:sp>
        <p:nvSpPr>
          <p:cNvPr id="3" name="Subtitle 2">
            <a:extLst>
              <a:ext uri="{FF2B5EF4-FFF2-40B4-BE49-F238E27FC236}">
                <a16:creationId xmlns:a16="http://schemas.microsoft.com/office/drawing/2014/main" xmlns="" id="{F737FCC6-B3EB-7D45-99E9-0B748AED7592}"/>
              </a:ext>
            </a:extLst>
          </p:cNvPr>
          <p:cNvSpPr>
            <a:spLocks noGrp="1"/>
          </p:cNvSpPr>
          <p:nvPr>
            <p:ph type="subTitle" idx="1"/>
          </p:nvPr>
        </p:nvSpPr>
        <p:spPr>
          <a:xfrm>
            <a:off x="5077326" y="4745038"/>
            <a:ext cx="2037347" cy="356351"/>
          </a:xfrm>
        </p:spPr>
        <p:txBody>
          <a:bodyPr>
            <a:normAutofit fontScale="77500" lnSpcReduction="20000"/>
          </a:bodyPr>
          <a:lstStyle/>
          <a:p>
            <a:r>
              <a:rPr lang="fr-FR" dirty="0"/>
              <a:t>CHRIT Salma</a:t>
            </a:r>
          </a:p>
        </p:txBody>
      </p:sp>
    </p:spTree>
    <p:extLst>
      <p:ext uri="{BB962C8B-B14F-4D97-AF65-F5344CB8AC3E}">
        <p14:creationId xmlns:p14="http://schemas.microsoft.com/office/powerpoint/2010/main" xmlns="" val="2128680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50F25FC-E803-4640-AD7E-F4EAC97B8766}"/>
              </a:ext>
            </a:extLst>
          </p:cNvPr>
          <p:cNvSpPr txBox="1"/>
          <p:nvPr/>
        </p:nvSpPr>
        <p:spPr>
          <a:xfrm>
            <a:off x="2105526" y="2199176"/>
            <a:ext cx="4989571" cy="2459648"/>
          </a:xfrm>
          <a:prstGeom prst="rect">
            <a:avLst/>
          </a:prstGeom>
          <a:noFill/>
        </p:spPr>
        <p:txBody>
          <a:bodyPr wrap="none" rtlCol="0">
            <a:spAutoFit/>
          </a:bodyPr>
          <a:lstStyle/>
          <a:p>
            <a:pPr marL="342900" indent="-342900">
              <a:lnSpc>
                <a:spcPct val="200000"/>
              </a:lnSpc>
              <a:buAutoNum type="arabicPeriod"/>
            </a:pPr>
            <a:r>
              <a:rPr lang="fr-FR" sz="2000" dirty="0"/>
              <a:t>Introduction aux systèmes d’informations</a:t>
            </a:r>
          </a:p>
          <a:p>
            <a:pPr marL="342900" indent="-342900">
              <a:lnSpc>
                <a:spcPct val="200000"/>
              </a:lnSpc>
              <a:buAutoNum type="arabicPeriod"/>
            </a:pPr>
            <a:r>
              <a:rPr lang="fr-FR" sz="2000" dirty="0"/>
              <a:t>SIO vs SID</a:t>
            </a:r>
          </a:p>
          <a:p>
            <a:pPr marL="342900" indent="-342900">
              <a:lnSpc>
                <a:spcPct val="200000"/>
              </a:lnSpc>
              <a:buAutoNum type="arabicPeriod"/>
            </a:pPr>
            <a:r>
              <a:rPr lang="fr-FR" sz="2000" dirty="0"/>
              <a:t>Technologies et outils</a:t>
            </a:r>
          </a:p>
          <a:p>
            <a:pPr marL="342900" indent="-342900">
              <a:lnSpc>
                <a:spcPct val="200000"/>
              </a:lnSpc>
              <a:buAutoNum type="arabicPeriod"/>
            </a:pPr>
            <a:r>
              <a:rPr lang="fr-FR" sz="2000" dirty="0"/>
              <a:t>Défis et solutions</a:t>
            </a:r>
          </a:p>
        </p:txBody>
      </p:sp>
      <p:sp>
        <p:nvSpPr>
          <p:cNvPr id="3" name="TextBox 2">
            <a:extLst>
              <a:ext uri="{FF2B5EF4-FFF2-40B4-BE49-F238E27FC236}">
                <a16:creationId xmlns:a16="http://schemas.microsoft.com/office/drawing/2014/main" xmlns="" id="{E8FC435F-8937-254B-9F8F-10CEE98BC726}"/>
              </a:ext>
            </a:extLst>
          </p:cNvPr>
          <p:cNvSpPr txBox="1"/>
          <p:nvPr/>
        </p:nvSpPr>
        <p:spPr>
          <a:xfrm>
            <a:off x="2105526" y="1094874"/>
            <a:ext cx="1104790" cy="584775"/>
          </a:xfrm>
          <a:prstGeom prst="rect">
            <a:avLst/>
          </a:prstGeom>
          <a:noFill/>
        </p:spPr>
        <p:txBody>
          <a:bodyPr wrap="none" rtlCol="0">
            <a:spAutoFit/>
          </a:bodyPr>
          <a:lstStyle/>
          <a:p>
            <a:r>
              <a:rPr lang="fr-FR" sz="3200" b="1" dirty="0"/>
              <a:t>PLAN</a:t>
            </a:r>
          </a:p>
        </p:txBody>
      </p:sp>
    </p:spTree>
    <p:extLst>
      <p:ext uri="{BB962C8B-B14F-4D97-AF65-F5344CB8AC3E}">
        <p14:creationId xmlns:p14="http://schemas.microsoft.com/office/powerpoint/2010/main" xmlns="" val="2189914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3428118" cy="584775"/>
          </a:xfrm>
          <a:prstGeom prst="rect">
            <a:avLst/>
          </a:prstGeom>
          <a:noFill/>
        </p:spPr>
        <p:txBody>
          <a:bodyPr wrap="none" rtlCol="0">
            <a:spAutoFit/>
          </a:bodyPr>
          <a:lstStyle/>
          <a:p>
            <a:r>
              <a:rPr lang="fr-FR" sz="3200" b="1" dirty="0"/>
              <a:t>Introduction aux SI</a:t>
            </a:r>
          </a:p>
        </p:txBody>
      </p:sp>
      <p:sp>
        <p:nvSpPr>
          <p:cNvPr id="5" name="TextBox 4">
            <a:extLst>
              <a:ext uri="{FF2B5EF4-FFF2-40B4-BE49-F238E27FC236}">
                <a16:creationId xmlns:a16="http://schemas.microsoft.com/office/drawing/2014/main" xmlns="" id="{FE188504-E477-BD46-BE8B-27C591B61F1E}"/>
              </a:ext>
            </a:extLst>
          </p:cNvPr>
          <p:cNvSpPr txBox="1"/>
          <p:nvPr/>
        </p:nvSpPr>
        <p:spPr>
          <a:xfrm>
            <a:off x="1215189" y="1877796"/>
            <a:ext cx="5715000" cy="4196533"/>
          </a:xfrm>
          <a:prstGeom prst="rect">
            <a:avLst/>
          </a:prstGeom>
          <a:noFill/>
        </p:spPr>
        <p:txBody>
          <a:bodyPr wrap="square">
            <a:spAutoFit/>
          </a:bodyPr>
          <a:lstStyle/>
          <a:p>
            <a:pPr algn="just">
              <a:lnSpc>
                <a:spcPct val="150000"/>
              </a:lnSpc>
            </a:pPr>
            <a:r>
              <a:rPr lang="x-none" dirty="0"/>
              <a:t>Un Système d'Information (SI) est un ensemble organisé de ressources (matérielles, logicielles, humaines, financières, etc.) permettant de collecter, stocker, traiter, et distribuer des informations. </a:t>
            </a:r>
          </a:p>
          <a:p>
            <a:pPr algn="just">
              <a:lnSpc>
                <a:spcPct val="150000"/>
              </a:lnSpc>
            </a:pPr>
            <a:endParaRPr lang="x-none" dirty="0"/>
          </a:p>
          <a:p>
            <a:pPr algn="just">
              <a:lnSpc>
                <a:spcPct val="150000"/>
              </a:lnSpc>
            </a:pPr>
            <a:r>
              <a:rPr lang="x-none" dirty="0"/>
              <a:t>L'objectif principal d'un SI est de supporter les opérations, la gestion, et la prise de décision au sein d'une organisation. Les SI facilitent la communication interne et externe, l'analyse de données, et la planification stratégique.</a:t>
            </a:r>
          </a:p>
        </p:txBody>
      </p:sp>
      <p:pic>
        <p:nvPicPr>
          <p:cNvPr id="6" name="Picture 5">
            <a:extLst>
              <a:ext uri="{FF2B5EF4-FFF2-40B4-BE49-F238E27FC236}">
                <a16:creationId xmlns:a16="http://schemas.microsoft.com/office/drawing/2014/main" xmlns="" id="{79BDBCCA-9A11-AA4D-BEFF-244C48B3F4DA}"/>
              </a:ext>
            </a:extLst>
          </p:cNvPr>
          <p:cNvPicPr>
            <a:picLocks noChangeAspect="1"/>
          </p:cNvPicPr>
          <p:nvPr/>
        </p:nvPicPr>
        <p:blipFill rotWithShape="1">
          <a:blip r:embed="rId2">
            <a:extLst>
              <a:ext uri="{BEBA8EAE-BF5A-486C-A8C5-ECC9F3942E4B}">
                <a14:imgProps xmlns:a14="http://schemas.microsoft.com/office/drawing/2010/main" xmlns="">
                  <a14:imgLayer r:embed="rId3">
                    <a14:imgEffect>
                      <a14:backgroundRemoval t="10000" b="90000" l="10000" r="90000">
                        <a14:foregroundMark x1="30625" y1="48222" x2="28750" y2="53778"/>
                        <a14:foregroundMark x1="39625" y1="20000" x2="36375" y2="29333"/>
                        <a14:foregroundMark x1="57125" y1="18000" x2="62875" y2="27111"/>
                        <a14:foregroundMark x1="72625" y1="48667" x2="68125" y2="59111"/>
                        <a14:foregroundMark x1="63125" y1="79333" x2="57125" y2="79778"/>
                        <a14:foregroundMark x1="40125" y1="83111" x2="34625" y2="83556"/>
                      </a14:backgroundRemoval>
                    </a14:imgEffect>
                  </a14:imgLayer>
                </a14:imgProps>
              </a:ext>
            </a:extLst>
          </a:blip>
          <a:srcRect l="20000" r="19842"/>
          <a:stretch/>
        </p:blipFill>
        <p:spPr>
          <a:xfrm>
            <a:off x="7411452" y="1679649"/>
            <a:ext cx="4604086" cy="4305001"/>
          </a:xfrm>
          <a:prstGeom prst="rect">
            <a:avLst/>
          </a:prstGeom>
        </p:spPr>
      </p:pic>
    </p:spTree>
    <p:extLst>
      <p:ext uri="{BB962C8B-B14F-4D97-AF65-F5344CB8AC3E}">
        <p14:creationId xmlns:p14="http://schemas.microsoft.com/office/powerpoint/2010/main" xmlns="" val="2012715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148128" cy="584775"/>
          </a:xfrm>
          <a:prstGeom prst="rect">
            <a:avLst/>
          </a:prstGeom>
          <a:noFill/>
        </p:spPr>
        <p:txBody>
          <a:bodyPr wrap="none" rtlCol="0">
            <a:spAutoFit/>
          </a:bodyPr>
          <a:lstStyle/>
          <a:p>
            <a:r>
              <a:rPr lang="fr-FR" sz="3200" b="1" dirty="0"/>
              <a:t>Pourquoi utiliser les systèmes d’informations?</a:t>
            </a:r>
          </a:p>
        </p:txBody>
      </p:sp>
      <p:graphicFrame>
        <p:nvGraphicFramePr>
          <p:cNvPr id="2" name="Diagram 1">
            <a:extLst>
              <a:ext uri="{FF2B5EF4-FFF2-40B4-BE49-F238E27FC236}">
                <a16:creationId xmlns:a16="http://schemas.microsoft.com/office/drawing/2014/main" xmlns="" id="{2FEA24DF-73FF-7C49-B2CC-BD421132EB1F}"/>
              </a:ext>
            </a:extLst>
          </p:cNvPr>
          <p:cNvGraphicFramePr/>
          <p:nvPr/>
        </p:nvGraphicFramePr>
        <p:xfrm>
          <a:off x="2621919" y="2189748"/>
          <a:ext cx="7115342" cy="3816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501287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148128" cy="584775"/>
          </a:xfrm>
          <a:prstGeom prst="rect">
            <a:avLst/>
          </a:prstGeom>
          <a:noFill/>
        </p:spPr>
        <p:txBody>
          <a:bodyPr wrap="none" rtlCol="0">
            <a:spAutoFit/>
          </a:bodyPr>
          <a:lstStyle/>
          <a:p>
            <a:r>
              <a:rPr lang="fr-FR" sz="3200" b="1" dirty="0"/>
              <a:t>Pourquoi utiliser les systèmes d’informations?</a:t>
            </a:r>
          </a:p>
        </p:txBody>
      </p:sp>
      <p:pic>
        <p:nvPicPr>
          <p:cNvPr id="4" name="Picture 3">
            <a:extLst>
              <a:ext uri="{FF2B5EF4-FFF2-40B4-BE49-F238E27FC236}">
                <a16:creationId xmlns:a16="http://schemas.microsoft.com/office/drawing/2014/main" xmlns="" id="{720B095B-FECA-2145-B31A-95F086DE5BD9}"/>
              </a:ext>
            </a:extLst>
          </p:cNvPr>
          <p:cNvPicPr>
            <a:picLocks noChangeAspect="1"/>
          </p:cNvPicPr>
          <p:nvPr/>
        </p:nvPicPr>
        <p:blipFill rotWithShape="1">
          <a:blip r:embed="rId2"/>
          <a:srcRect t="9498" b="8314"/>
          <a:stretch/>
        </p:blipFill>
        <p:spPr>
          <a:xfrm>
            <a:off x="2980057" y="1816101"/>
            <a:ext cx="6231885" cy="4773598"/>
          </a:xfrm>
          <a:prstGeom prst="rect">
            <a:avLst/>
          </a:prstGeom>
        </p:spPr>
      </p:pic>
    </p:spTree>
    <p:extLst>
      <p:ext uri="{BB962C8B-B14F-4D97-AF65-F5344CB8AC3E}">
        <p14:creationId xmlns:p14="http://schemas.microsoft.com/office/powerpoint/2010/main" xmlns="" val="30630315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2" y="2629059"/>
            <a:ext cx="6184231" cy="1288045"/>
          </a:xfrm>
          <a:prstGeom prst="rect">
            <a:avLst/>
          </a:prstGeom>
          <a:noFill/>
        </p:spPr>
        <p:txBody>
          <a:bodyPr wrap="square" rtlCol="0" anchor="ctr">
            <a:spAutoFit/>
          </a:bodyPr>
          <a:lstStyle/>
          <a:p>
            <a:pPr algn="ctr">
              <a:lnSpc>
                <a:spcPct val="150000"/>
              </a:lnSpc>
            </a:pPr>
            <a:r>
              <a:rPr lang="fr-FR" dirty="0"/>
              <a:t>Les SIO sont utilisés pour gérer les aspects quotidiens des opérations d'une entreprise. Ils se concentrent sur la transaction et le traitement des opérations commerciales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7617983" cy="584775"/>
          </a:xfrm>
          <a:prstGeom prst="rect">
            <a:avLst/>
          </a:prstGeom>
          <a:noFill/>
        </p:spPr>
        <p:txBody>
          <a:bodyPr wrap="none" rtlCol="0">
            <a:spAutoFit/>
          </a:bodyPr>
          <a:lstStyle/>
          <a:p>
            <a:r>
              <a:rPr lang="fr-FR" sz="3200" b="1" dirty="0"/>
              <a:t>SIO : systèmes d’information opérationnels</a:t>
            </a:r>
          </a:p>
        </p:txBody>
      </p:sp>
      <p:sp>
        <p:nvSpPr>
          <p:cNvPr id="4" name="TextBox 3">
            <a:extLst>
              <a:ext uri="{FF2B5EF4-FFF2-40B4-BE49-F238E27FC236}">
                <a16:creationId xmlns:a16="http://schemas.microsoft.com/office/drawing/2014/main" xmlns="" id="{E8836189-78AE-0847-9488-1183C26D7C45}"/>
              </a:ext>
            </a:extLst>
          </p:cNvPr>
          <p:cNvSpPr txBox="1"/>
          <p:nvPr/>
        </p:nvSpPr>
        <p:spPr>
          <a:xfrm>
            <a:off x="1832809" y="4890579"/>
            <a:ext cx="8526379" cy="872547"/>
          </a:xfrm>
          <a:prstGeom prst="rect">
            <a:avLst/>
          </a:prstGeom>
          <a:solidFill>
            <a:schemeClr val="accent2">
              <a:lumMod val="75000"/>
            </a:schemeClr>
          </a:solidFill>
          <a:ln>
            <a:noFill/>
          </a:ln>
        </p:spPr>
        <p:txBody>
          <a:bodyPr wrap="square" rtlCol="0" anchor="ctr">
            <a:spAutoFit/>
          </a:bodyPr>
          <a:lstStyle/>
          <a:p>
            <a:pPr algn="ctr">
              <a:lnSpc>
                <a:spcPct val="150000"/>
              </a:lnSpc>
            </a:pPr>
            <a:r>
              <a:rPr lang="fr-FR" b="1" dirty="0">
                <a:solidFill>
                  <a:schemeClr val="bg1"/>
                </a:solidFill>
              </a:rPr>
              <a:t>Exemple : Un système de gestion des commandes enregistre chaque vente, met à jour l'inventaire en stock, et génère les factures correspondantes.</a:t>
            </a:r>
          </a:p>
        </p:txBody>
      </p:sp>
    </p:spTree>
    <p:extLst>
      <p:ext uri="{BB962C8B-B14F-4D97-AF65-F5344CB8AC3E}">
        <p14:creationId xmlns:p14="http://schemas.microsoft.com/office/powerpoint/2010/main" xmlns="" val="37573341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667979" cy="584775"/>
          </a:xfrm>
          <a:prstGeom prst="rect">
            <a:avLst/>
          </a:prstGeom>
          <a:noFill/>
        </p:spPr>
        <p:txBody>
          <a:bodyPr wrap="none" rtlCol="0">
            <a:spAutoFit/>
          </a:bodyPr>
          <a:lstStyle/>
          <a:p>
            <a:r>
              <a:rPr lang="fr-FR" sz="3200" b="1" dirty="0"/>
              <a:t>Caractéristiques principales des SIO</a:t>
            </a:r>
          </a:p>
        </p:txBody>
      </p:sp>
      <p:graphicFrame>
        <p:nvGraphicFramePr>
          <p:cNvPr id="3" name="Diagram 2">
            <a:extLst>
              <a:ext uri="{FF2B5EF4-FFF2-40B4-BE49-F238E27FC236}">
                <a16:creationId xmlns:a16="http://schemas.microsoft.com/office/drawing/2014/main" xmlns="" id="{8C83B636-E510-364E-BC8D-DC3C1B5B71B1}"/>
              </a:ext>
            </a:extLst>
          </p:cNvPr>
          <p:cNvGraphicFramePr/>
          <p:nvPr/>
        </p:nvGraphicFramePr>
        <p:xfrm>
          <a:off x="1602089" y="1679649"/>
          <a:ext cx="8987821" cy="49647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40557906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7980518" cy="584775"/>
          </a:xfrm>
          <a:prstGeom prst="rect">
            <a:avLst/>
          </a:prstGeom>
          <a:noFill/>
        </p:spPr>
        <p:txBody>
          <a:bodyPr wrap="none" rtlCol="0">
            <a:spAutoFit/>
          </a:bodyPr>
          <a:lstStyle/>
          <a:p>
            <a:r>
              <a:rPr lang="fr-FR" sz="3200" b="1" dirty="0"/>
              <a:t>Exemples d'applications et de fonctionnalités</a:t>
            </a:r>
          </a:p>
        </p:txBody>
      </p:sp>
      <p:sp>
        <p:nvSpPr>
          <p:cNvPr id="5" name="TextBox 4">
            <a:extLst>
              <a:ext uri="{FF2B5EF4-FFF2-40B4-BE49-F238E27FC236}">
                <a16:creationId xmlns:a16="http://schemas.microsoft.com/office/drawing/2014/main" xmlns="" id="{6A5F294B-D57A-5A42-AEEE-C4B8D20CFB8F}"/>
              </a:ext>
            </a:extLst>
          </p:cNvPr>
          <p:cNvSpPr txBox="1"/>
          <p:nvPr/>
        </p:nvSpPr>
        <p:spPr>
          <a:xfrm>
            <a:off x="1444487" y="2397589"/>
            <a:ext cx="10018643" cy="2222916"/>
          </a:xfrm>
          <a:prstGeom prst="rect">
            <a:avLst/>
          </a:prstGeom>
          <a:noFill/>
        </p:spPr>
        <p:txBody>
          <a:bodyPr wrap="square">
            <a:spAutoFit/>
          </a:bodyPr>
          <a:lstStyle/>
          <a:p>
            <a:pPr marL="342900" lvl="0" indent="-342900" algn="just">
              <a:lnSpc>
                <a:spcPct val="200000"/>
              </a:lnSpc>
              <a:buSzPts val="1000"/>
              <a:buFont typeface="Symbol" pitchFamily="2" charset="2"/>
              <a:buChar char=""/>
              <a:tabLst>
                <a:tab pos="457200" algn="l"/>
              </a:tabLst>
            </a:pPr>
            <a:r>
              <a:rPr lang="x-none" b="1" dirty="0"/>
              <a:t>Systèmes de Gestion de la Relation Client (CRM)</a:t>
            </a:r>
          </a:p>
          <a:p>
            <a:pPr marL="342900" lvl="0" indent="-342900" algn="just">
              <a:lnSpc>
                <a:spcPct val="200000"/>
              </a:lnSpc>
              <a:buSzPts val="1000"/>
              <a:buFont typeface="Symbol" pitchFamily="2" charset="2"/>
              <a:buChar char=""/>
              <a:tabLst>
                <a:tab pos="457200" algn="l"/>
              </a:tabLst>
            </a:pPr>
            <a:r>
              <a:rPr lang="x-none" b="1" dirty="0"/>
              <a:t>Systèmes de Planification des Ressources d'Entreprise (ERP)</a:t>
            </a:r>
            <a:endParaRPr lang="x-none" dirty="0"/>
          </a:p>
          <a:p>
            <a:pPr marL="342900" lvl="0" indent="-342900" algn="just">
              <a:lnSpc>
                <a:spcPct val="200000"/>
              </a:lnSpc>
              <a:buSzPts val="1000"/>
              <a:buFont typeface="Symbol" pitchFamily="2" charset="2"/>
              <a:buChar char=""/>
              <a:tabLst>
                <a:tab pos="457200" algn="l"/>
              </a:tabLst>
            </a:pPr>
            <a:r>
              <a:rPr lang="x-none" b="1" dirty="0"/>
              <a:t>Systèmes de Gestion de la Chaîne d'Approvisionnement (SCM)</a:t>
            </a:r>
            <a:endParaRPr lang="x-none" dirty="0"/>
          </a:p>
          <a:p>
            <a:pPr marL="342900" lvl="0" indent="-342900" algn="just">
              <a:lnSpc>
                <a:spcPct val="200000"/>
              </a:lnSpc>
              <a:buSzPts val="1000"/>
              <a:buFont typeface="Symbol" pitchFamily="2" charset="2"/>
              <a:buChar char=""/>
              <a:tabLst>
                <a:tab pos="457200" algn="l"/>
              </a:tabLst>
            </a:pPr>
            <a:r>
              <a:rPr lang="x-none" b="1" dirty="0"/>
              <a:t>Systèmes de Gestion de Base de Données (DBMS)</a:t>
            </a:r>
            <a:endParaRPr lang="x-none" dirty="0"/>
          </a:p>
        </p:txBody>
      </p:sp>
    </p:spTree>
    <p:extLst>
      <p:ext uri="{BB962C8B-B14F-4D97-AF65-F5344CB8AC3E}">
        <p14:creationId xmlns:p14="http://schemas.microsoft.com/office/powerpoint/2010/main" xmlns="" val="3205685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319772" cy="584775"/>
          </a:xfrm>
          <a:prstGeom prst="rect">
            <a:avLst/>
          </a:prstGeom>
          <a:noFill/>
        </p:spPr>
        <p:txBody>
          <a:bodyPr wrap="none" rtlCol="0">
            <a:spAutoFit/>
          </a:bodyPr>
          <a:lstStyle/>
          <a:p>
            <a:r>
              <a:rPr lang="fr-FR" sz="3200" b="1" dirty="0">
                <a:solidFill>
                  <a:schemeClr val="accent2">
                    <a:lumMod val="50000"/>
                  </a:schemeClr>
                </a:solidFill>
              </a:rPr>
              <a:t>Avantages</a:t>
            </a:r>
            <a:r>
              <a:rPr lang="fr-FR" sz="3200" b="1" dirty="0"/>
              <a:t> et limitations</a:t>
            </a:r>
          </a:p>
        </p:txBody>
      </p:sp>
      <p:graphicFrame>
        <p:nvGraphicFramePr>
          <p:cNvPr id="2" name="Diagram 1">
            <a:extLst>
              <a:ext uri="{FF2B5EF4-FFF2-40B4-BE49-F238E27FC236}">
                <a16:creationId xmlns:a16="http://schemas.microsoft.com/office/drawing/2014/main" xmlns="" id="{4382EB49-538B-C84C-9161-0E22504801F4}"/>
              </a:ext>
            </a:extLst>
          </p:cNvPr>
          <p:cNvGraphicFramePr/>
          <p:nvPr/>
        </p:nvGraphicFramePr>
        <p:xfrm>
          <a:off x="1016000" y="1987827"/>
          <a:ext cx="10160000" cy="4177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14428777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319772" cy="584775"/>
          </a:xfrm>
          <a:prstGeom prst="rect">
            <a:avLst/>
          </a:prstGeom>
          <a:noFill/>
        </p:spPr>
        <p:txBody>
          <a:bodyPr wrap="none" rtlCol="0">
            <a:spAutoFit/>
          </a:bodyPr>
          <a:lstStyle/>
          <a:p>
            <a:r>
              <a:rPr lang="fr-FR" sz="3200" b="1" dirty="0"/>
              <a:t>Avantages et </a:t>
            </a:r>
            <a:r>
              <a:rPr lang="fr-FR" sz="3200" b="1" dirty="0">
                <a:solidFill>
                  <a:schemeClr val="accent2">
                    <a:lumMod val="50000"/>
                  </a:schemeClr>
                </a:solidFill>
              </a:rPr>
              <a:t>limitations</a:t>
            </a:r>
          </a:p>
        </p:txBody>
      </p:sp>
      <p:graphicFrame>
        <p:nvGraphicFramePr>
          <p:cNvPr id="4" name="Diagram 3">
            <a:extLst>
              <a:ext uri="{FF2B5EF4-FFF2-40B4-BE49-F238E27FC236}">
                <a16:creationId xmlns:a16="http://schemas.microsoft.com/office/drawing/2014/main" xmlns="" id="{E41519F7-E8C5-244B-BD6A-1816E58FEE68}"/>
              </a:ext>
            </a:extLst>
          </p:cNvPr>
          <p:cNvGraphicFramePr/>
          <p:nvPr/>
        </p:nvGraphicFramePr>
        <p:xfrm>
          <a:off x="1016000" y="1987827"/>
          <a:ext cx="10160000" cy="4177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2777359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43E21E9-AEBD-E84D-9FAB-DA3BAC154E0C}"/>
              </a:ext>
            </a:extLst>
          </p:cNvPr>
          <p:cNvSpPr txBox="1"/>
          <p:nvPr/>
        </p:nvSpPr>
        <p:spPr>
          <a:xfrm>
            <a:off x="1501941" y="1953981"/>
            <a:ext cx="9188118" cy="2950038"/>
          </a:xfrm>
          <a:prstGeom prst="rect">
            <a:avLst/>
          </a:prstGeom>
          <a:noFill/>
        </p:spPr>
        <p:txBody>
          <a:bodyPr wrap="square" rtlCol="0" anchor="ctr">
            <a:spAutoFit/>
          </a:bodyPr>
          <a:lstStyle/>
          <a:p>
            <a:pPr algn="ctr">
              <a:lnSpc>
                <a:spcPct val="150000"/>
              </a:lnSpc>
            </a:pPr>
            <a:r>
              <a:rPr lang="fr-FR" dirty="0"/>
              <a:t>Les systèmes d’information opérationnels OLTP (</a:t>
            </a:r>
            <a:r>
              <a:rPr lang="fr-FR" dirty="0" err="1"/>
              <a:t>OnLine</a:t>
            </a:r>
            <a:r>
              <a:rPr lang="fr-FR" dirty="0"/>
              <a:t> </a:t>
            </a:r>
            <a:r>
              <a:rPr lang="fr-FR" dirty="0" err="1"/>
              <a:t>Transactional</a:t>
            </a:r>
            <a:r>
              <a:rPr lang="fr-FR" dirty="0"/>
              <a:t> </a:t>
            </a:r>
            <a:r>
              <a:rPr lang="fr-FR" dirty="0" err="1"/>
              <a:t>Processing</a:t>
            </a:r>
            <a:r>
              <a:rPr lang="fr-FR" dirty="0"/>
              <a:t>) sont des systèmes de gestion ou de production faits pour assister les opérations d'une entreprise. </a:t>
            </a:r>
          </a:p>
          <a:p>
            <a:pPr algn="ctr">
              <a:lnSpc>
                <a:spcPct val="150000"/>
              </a:lnSpc>
            </a:pPr>
            <a:endParaRPr lang="fr-FR" dirty="0"/>
          </a:p>
          <a:p>
            <a:pPr algn="ctr">
              <a:lnSpc>
                <a:spcPct val="150000"/>
              </a:lnSpc>
            </a:pPr>
            <a:r>
              <a:rPr lang="fr-FR" dirty="0"/>
              <a:t>Avec l’accroissement de volume des données, les systèmes opérationnels se trouvent limités devant les besoins des dirigeants qui veulent des informations synthétisées pour l’analyse et la prise de décisions d’où la naissance des systèmes d’information de type</a:t>
            </a:r>
          </a:p>
          <a:p>
            <a:pPr algn="ctr">
              <a:lnSpc>
                <a:spcPct val="150000"/>
              </a:lnSpc>
            </a:pPr>
            <a:r>
              <a:rPr lang="fr-FR" b="1" dirty="0">
                <a:solidFill>
                  <a:schemeClr val="accent2">
                    <a:lumMod val="50000"/>
                  </a:schemeClr>
                </a:solidFill>
              </a:rPr>
              <a:t> OLAP (On-Line </a:t>
            </a:r>
            <a:r>
              <a:rPr lang="fr-FR" b="1" dirty="0" err="1">
                <a:solidFill>
                  <a:schemeClr val="accent2">
                    <a:lumMod val="50000"/>
                  </a:schemeClr>
                </a:solidFill>
              </a:rPr>
              <a:t>Anlytical</a:t>
            </a:r>
            <a:r>
              <a:rPr lang="fr-FR" b="1" dirty="0">
                <a:solidFill>
                  <a:schemeClr val="accent2">
                    <a:lumMod val="50000"/>
                  </a:schemeClr>
                </a:solidFill>
              </a:rPr>
              <a:t> </a:t>
            </a:r>
            <a:r>
              <a:rPr lang="fr-FR" b="1" dirty="0" err="1">
                <a:solidFill>
                  <a:schemeClr val="accent2">
                    <a:lumMod val="50000"/>
                  </a:schemeClr>
                </a:solidFill>
              </a:rPr>
              <a:t>Processing</a:t>
            </a:r>
            <a:r>
              <a:rPr lang="fr-FR" b="1" dirty="0">
                <a:solidFill>
                  <a:schemeClr val="accent2">
                    <a:lumMod val="50000"/>
                  </a:schemeClr>
                </a:solidFill>
              </a:rPr>
              <a:t>).</a:t>
            </a:r>
          </a:p>
        </p:txBody>
      </p:sp>
    </p:spTree>
    <p:extLst>
      <p:ext uri="{BB962C8B-B14F-4D97-AF65-F5344CB8AC3E}">
        <p14:creationId xmlns:p14="http://schemas.microsoft.com/office/powerpoint/2010/main" xmlns="" val="87728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7401578" cy="584775"/>
          </a:xfrm>
          <a:prstGeom prst="rect">
            <a:avLst/>
          </a:prstGeom>
          <a:noFill/>
        </p:spPr>
        <p:txBody>
          <a:bodyPr wrap="none" rtlCol="0">
            <a:spAutoFit/>
          </a:bodyPr>
          <a:lstStyle/>
          <a:p>
            <a:r>
              <a:rPr lang="fr-FR" sz="3200" b="1" dirty="0"/>
              <a:t>SID : systèmes d’information décisionnels</a:t>
            </a:r>
          </a:p>
        </p:txBody>
      </p:sp>
      <p:sp>
        <p:nvSpPr>
          <p:cNvPr id="4" name="TextBox 3">
            <a:extLst>
              <a:ext uri="{FF2B5EF4-FFF2-40B4-BE49-F238E27FC236}">
                <a16:creationId xmlns:a16="http://schemas.microsoft.com/office/drawing/2014/main" xmlns="" id="{E8836189-78AE-0847-9488-1183C26D7C45}"/>
              </a:ext>
            </a:extLst>
          </p:cNvPr>
          <p:cNvSpPr txBox="1"/>
          <p:nvPr/>
        </p:nvSpPr>
        <p:spPr>
          <a:xfrm>
            <a:off x="1832809" y="4682830"/>
            <a:ext cx="8526379" cy="1288045"/>
          </a:xfrm>
          <a:prstGeom prst="rect">
            <a:avLst/>
          </a:prstGeom>
          <a:solidFill>
            <a:schemeClr val="accent2">
              <a:lumMod val="75000"/>
            </a:schemeClr>
          </a:solidFill>
          <a:ln>
            <a:noFill/>
          </a:ln>
        </p:spPr>
        <p:txBody>
          <a:bodyPr wrap="square" rtlCol="0" anchor="ctr">
            <a:spAutoFit/>
          </a:bodyPr>
          <a:lstStyle/>
          <a:p>
            <a:pPr algn="ctr">
              <a:lnSpc>
                <a:spcPct val="150000"/>
              </a:lnSpc>
            </a:pPr>
            <a:r>
              <a:rPr lang="fr-FR" b="1" dirty="0">
                <a:solidFill>
                  <a:schemeClr val="bg1"/>
                </a:solidFill>
              </a:rPr>
              <a:t>Exemple : Un tableau de bord de Business Intelligence (BI) qui consolide les données de ventes, de marketing, et de finances pour identifier les tendances de revenus, évaluer l'efficacité des campagnes publicitaires, et optimiser les budgets.</a:t>
            </a:r>
          </a:p>
        </p:txBody>
      </p:sp>
      <p:sp>
        <p:nvSpPr>
          <p:cNvPr id="5" name="TextBox 4">
            <a:extLst>
              <a:ext uri="{FF2B5EF4-FFF2-40B4-BE49-F238E27FC236}">
                <a16:creationId xmlns:a16="http://schemas.microsoft.com/office/drawing/2014/main" xmlns="" id="{343E21E9-AEBD-E84D-9FAB-DA3BAC154E0C}"/>
              </a:ext>
            </a:extLst>
          </p:cNvPr>
          <p:cNvSpPr txBox="1"/>
          <p:nvPr/>
        </p:nvSpPr>
        <p:spPr>
          <a:xfrm>
            <a:off x="3003882" y="2629059"/>
            <a:ext cx="6184231" cy="1288045"/>
          </a:xfrm>
          <a:prstGeom prst="rect">
            <a:avLst/>
          </a:prstGeom>
          <a:noFill/>
        </p:spPr>
        <p:txBody>
          <a:bodyPr wrap="square" rtlCol="0" anchor="ctr">
            <a:spAutoFit/>
          </a:bodyPr>
          <a:lstStyle/>
          <a:p>
            <a:pPr algn="ctr">
              <a:lnSpc>
                <a:spcPct val="150000"/>
              </a:lnSpc>
            </a:pPr>
            <a:r>
              <a:rPr lang="fr-FR" dirty="0"/>
              <a:t>Les SID sont conçus pour aider les gestionnaires et les dirigeants à prendre des décisions éclairées basées sur l'analyse de données.</a:t>
            </a:r>
          </a:p>
        </p:txBody>
      </p:sp>
    </p:spTree>
    <p:extLst>
      <p:ext uri="{BB962C8B-B14F-4D97-AF65-F5344CB8AC3E}">
        <p14:creationId xmlns:p14="http://schemas.microsoft.com/office/powerpoint/2010/main" xmlns="" val="6438116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667979" cy="584775"/>
          </a:xfrm>
          <a:prstGeom prst="rect">
            <a:avLst/>
          </a:prstGeom>
          <a:noFill/>
        </p:spPr>
        <p:txBody>
          <a:bodyPr wrap="none" rtlCol="0">
            <a:spAutoFit/>
          </a:bodyPr>
          <a:lstStyle/>
          <a:p>
            <a:r>
              <a:rPr lang="fr-FR" sz="3200" b="1" dirty="0"/>
              <a:t>Caractéristiques principales des SID</a:t>
            </a:r>
          </a:p>
        </p:txBody>
      </p:sp>
      <p:graphicFrame>
        <p:nvGraphicFramePr>
          <p:cNvPr id="3" name="Diagram 2">
            <a:extLst>
              <a:ext uri="{FF2B5EF4-FFF2-40B4-BE49-F238E27FC236}">
                <a16:creationId xmlns:a16="http://schemas.microsoft.com/office/drawing/2014/main" xmlns="" id="{8C83B636-E510-364E-BC8D-DC3C1B5B71B1}"/>
              </a:ext>
            </a:extLst>
          </p:cNvPr>
          <p:cNvGraphicFramePr/>
          <p:nvPr/>
        </p:nvGraphicFramePr>
        <p:xfrm>
          <a:off x="1602089" y="1679649"/>
          <a:ext cx="8987821" cy="49647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17519989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7980518" cy="584775"/>
          </a:xfrm>
          <a:prstGeom prst="rect">
            <a:avLst/>
          </a:prstGeom>
          <a:noFill/>
        </p:spPr>
        <p:txBody>
          <a:bodyPr wrap="none" rtlCol="0">
            <a:spAutoFit/>
          </a:bodyPr>
          <a:lstStyle/>
          <a:p>
            <a:r>
              <a:rPr lang="fr-FR" sz="3200" b="1" dirty="0"/>
              <a:t>Exemples d'applications et de fonctionnalités</a:t>
            </a:r>
          </a:p>
        </p:txBody>
      </p:sp>
      <p:sp>
        <p:nvSpPr>
          <p:cNvPr id="5" name="TextBox 4">
            <a:extLst>
              <a:ext uri="{FF2B5EF4-FFF2-40B4-BE49-F238E27FC236}">
                <a16:creationId xmlns:a16="http://schemas.microsoft.com/office/drawing/2014/main" xmlns="" id="{6A5F294B-D57A-5A42-AEEE-C4B8D20CFB8F}"/>
              </a:ext>
            </a:extLst>
          </p:cNvPr>
          <p:cNvSpPr txBox="1"/>
          <p:nvPr/>
        </p:nvSpPr>
        <p:spPr>
          <a:xfrm>
            <a:off x="1444487" y="2172302"/>
            <a:ext cx="10018643" cy="2119042"/>
          </a:xfrm>
          <a:prstGeom prst="rect">
            <a:avLst/>
          </a:prstGeom>
          <a:noFill/>
        </p:spPr>
        <p:txBody>
          <a:bodyPr wrap="square">
            <a:spAutoFit/>
          </a:bodyPr>
          <a:lstStyle/>
          <a:p>
            <a:pPr lvl="0" algn="just">
              <a:lnSpc>
                <a:spcPct val="150000"/>
              </a:lnSpc>
              <a:buSzPts val="1000"/>
              <a:tabLst>
                <a:tab pos="457200" algn="l"/>
              </a:tabLst>
            </a:pPr>
            <a:r>
              <a:rPr lang="en-US" b="1" dirty="0"/>
              <a:t>1. </a:t>
            </a:r>
            <a:r>
              <a:rPr lang="en-US" b="1" dirty="0" err="1"/>
              <a:t>Analyse</a:t>
            </a:r>
            <a:r>
              <a:rPr lang="en-US" b="1" dirty="0"/>
              <a:t> de la Performance Commerciale</a:t>
            </a:r>
          </a:p>
          <a:p>
            <a:pPr marL="742950" lvl="1" indent="-285750" algn="just">
              <a:lnSpc>
                <a:spcPct val="150000"/>
              </a:lnSpc>
              <a:buSzPts val="1000"/>
              <a:buFont typeface="Arial" panose="020B0604020202020204" pitchFamily="34" charset="0"/>
              <a:buChar char="•"/>
              <a:tabLst>
                <a:tab pos="457200" algn="l"/>
              </a:tabLst>
            </a:pPr>
            <a:r>
              <a:rPr lang="en-US" dirty="0" err="1"/>
              <a:t>Suivi</a:t>
            </a:r>
            <a:r>
              <a:rPr lang="en-US" dirty="0"/>
              <a:t> des Ventes : </a:t>
            </a:r>
            <a:r>
              <a:rPr lang="en-US" dirty="0" err="1"/>
              <a:t>Analyse</a:t>
            </a:r>
            <a:r>
              <a:rPr lang="en-US" dirty="0"/>
              <a:t> des tendances de ventes, performance des </a:t>
            </a:r>
            <a:r>
              <a:rPr lang="en-US" dirty="0" err="1"/>
              <a:t>produits</a:t>
            </a:r>
            <a:r>
              <a:rPr lang="en-US" dirty="0"/>
              <a:t>, et </a:t>
            </a:r>
            <a:r>
              <a:rPr lang="en-US" dirty="0" err="1"/>
              <a:t>efficacité</a:t>
            </a:r>
            <a:r>
              <a:rPr lang="en-US" dirty="0"/>
              <a:t> des </a:t>
            </a:r>
            <a:r>
              <a:rPr lang="en-US" dirty="0" err="1"/>
              <a:t>canaux</a:t>
            </a:r>
            <a:r>
              <a:rPr lang="en-US" dirty="0"/>
              <a:t> de distribution.</a:t>
            </a:r>
          </a:p>
          <a:p>
            <a:pPr marL="742950" lvl="1" indent="-285750" algn="just">
              <a:lnSpc>
                <a:spcPct val="150000"/>
              </a:lnSpc>
              <a:buSzPts val="1000"/>
              <a:buFont typeface="Arial" panose="020B0604020202020204" pitchFamily="34" charset="0"/>
              <a:buChar char="•"/>
              <a:tabLst>
                <a:tab pos="457200" algn="l"/>
              </a:tabLst>
            </a:pPr>
            <a:r>
              <a:rPr lang="en-US" dirty="0" err="1"/>
              <a:t>Analyse</a:t>
            </a:r>
            <a:r>
              <a:rPr lang="en-US" dirty="0"/>
              <a:t> de la </a:t>
            </a:r>
            <a:r>
              <a:rPr lang="en-US" dirty="0" err="1"/>
              <a:t>Rentabilité</a:t>
            </a:r>
            <a:r>
              <a:rPr lang="en-US" dirty="0"/>
              <a:t> : </a:t>
            </a:r>
            <a:r>
              <a:rPr lang="en-US" dirty="0" err="1"/>
              <a:t>Évaluation</a:t>
            </a:r>
            <a:r>
              <a:rPr lang="en-US" dirty="0"/>
              <a:t> de la </a:t>
            </a:r>
            <a:r>
              <a:rPr lang="en-US" dirty="0" err="1"/>
              <a:t>rentabilité</a:t>
            </a:r>
            <a:r>
              <a:rPr lang="en-US" dirty="0"/>
              <a:t> des </a:t>
            </a:r>
            <a:r>
              <a:rPr lang="en-US" dirty="0" err="1"/>
              <a:t>différentes</a:t>
            </a:r>
            <a:r>
              <a:rPr lang="en-US" dirty="0"/>
              <a:t> </a:t>
            </a:r>
            <a:r>
              <a:rPr lang="en-US" dirty="0" err="1"/>
              <a:t>lignes</a:t>
            </a:r>
            <a:r>
              <a:rPr lang="en-US" dirty="0"/>
              <a:t> de </a:t>
            </a:r>
            <a:r>
              <a:rPr lang="en-US" dirty="0" err="1"/>
              <a:t>produits</a:t>
            </a:r>
            <a:r>
              <a:rPr lang="en-US" dirty="0"/>
              <a:t>, segments de clients </a:t>
            </a:r>
            <a:r>
              <a:rPr lang="en-US" dirty="0" err="1"/>
              <a:t>ou</a:t>
            </a:r>
            <a:r>
              <a:rPr lang="en-US" dirty="0"/>
              <a:t> </a:t>
            </a:r>
            <a:r>
              <a:rPr lang="en-US" dirty="0" err="1"/>
              <a:t>régions</a:t>
            </a:r>
            <a:r>
              <a:rPr lang="en-US" dirty="0"/>
              <a:t> </a:t>
            </a:r>
            <a:r>
              <a:rPr lang="en-US" dirty="0" err="1"/>
              <a:t>géographiques</a:t>
            </a:r>
            <a:r>
              <a:rPr lang="en-US" dirty="0"/>
              <a:t>.</a:t>
            </a:r>
            <a:endParaRPr lang="x-none" dirty="0"/>
          </a:p>
        </p:txBody>
      </p:sp>
      <p:sp>
        <p:nvSpPr>
          <p:cNvPr id="4" name="TextBox 3">
            <a:extLst>
              <a:ext uri="{FF2B5EF4-FFF2-40B4-BE49-F238E27FC236}">
                <a16:creationId xmlns:a16="http://schemas.microsoft.com/office/drawing/2014/main" xmlns="" id="{3D1F4D01-902E-0B45-B52F-01C356E9CE4D}"/>
              </a:ext>
            </a:extLst>
          </p:cNvPr>
          <p:cNvSpPr txBox="1"/>
          <p:nvPr/>
        </p:nvSpPr>
        <p:spPr>
          <a:xfrm>
            <a:off x="1331844" y="4445050"/>
            <a:ext cx="10018643" cy="2119042"/>
          </a:xfrm>
          <a:prstGeom prst="rect">
            <a:avLst/>
          </a:prstGeom>
          <a:noFill/>
        </p:spPr>
        <p:txBody>
          <a:bodyPr wrap="square">
            <a:spAutoFit/>
          </a:bodyPr>
          <a:lstStyle/>
          <a:p>
            <a:pPr lvl="0" algn="just">
              <a:lnSpc>
                <a:spcPct val="150000"/>
              </a:lnSpc>
              <a:buSzPts val="1000"/>
              <a:tabLst>
                <a:tab pos="457200" algn="l"/>
              </a:tabLst>
            </a:pPr>
            <a:r>
              <a:rPr lang="en-US" b="1" dirty="0"/>
              <a:t>2. Gestion des </a:t>
            </a:r>
            <a:r>
              <a:rPr lang="en-US" b="1" dirty="0" err="1"/>
              <a:t>Ressources</a:t>
            </a:r>
            <a:r>
              <a:rPr lang="en-US" b="1" dirty="0"/>
              <a:t> </a:t>
            </a:r>
            <a:r>
              <a:rPr lang="en-US" b="1" dirty="0" err="1"/>
              <a:t>Humaines</a:t>
            </a:r>
            <a:endParaRPr lang="en-US" b="1" dirty="0"/>
          </a:p>
          <a:p>
            <a:pPr marL="742950" lvl="1" indent="-285750" algn="just">
              <a:lnSpc>
                <a:spcPct val="150000"/>
              </a:lnSpc>
              <a:buSzPts val="1000"/>
              <a:buFont typeface="Arial" panose="020B0604020202020204" pitchFamily="34" charset="0"/>
              <a:buChar char="•"/>
              <a:tabLst>
                <a:tab pos="457200" algn="l"/>
              </a:tabLst>
            </a:pPr>
            <a:r>
              <a:rPr lang="en-US" dirty="0" err="1"/>
              <a:t>Analyse</a:t>
            </a:r>
            <a:r>
              <a:rPr lang="en-US" dirty="0"/>
              <a:t> de la </a:t>
            </a:r>
            <a:r>
              <a:rPr lang="en-US" dirty="0" err="1"/>
              <a:t>Productivité</a:t>
            </a:r>
            <a:r>
              <a:rPr lang="en-US" dirty="0"/>
              <a:t> : </a:t>
            </a:r>
            <a:r>
              <a:rPr lang="en-US" dirty="0" err="1"/>
              <a:t>Suivi</a:t>
            </a:r>
            <a:r>
              <a:rPr lang="en-US" dirty="0"/>
              <a:t> de la performance des </a:t>
            </a:r>
            <a:r>
              <a:rPr lang="en-US" dirty="0" err="1"/>
              <a:t>employés</a:t>
            </a:r>
            <a:r>
              <a:rPr lang="en-US" dirty="0"/>
              <a:t> et identification des </a:t>
            </a:r>
            <a:r>
              <a:rPr lang="en-US" dirty="0" err="1"/>
              <a:t>besoins</a:t>
            </a:r>
            <a:r>
              <a:rPr lang="en-US" dirty="0"/>
              <a:t> de formation.</a:t>
            </a:r>
          </a:p>
          <a:p>
            <a:pPr marL="742950" lvl="1" indent="-285750" algn="just">
              <a:lnSpc>
                <a:spcPct val="150000"/>
              </a:lnSpc>
              <a:buSzPts val="1000"/>
              <a:buFont typeface="Arial" panose="020B0604020202020204" pitchFamily="34" charset="0"/>
              <a:buChar char="•"/>
              <a:tabLst>
                <a:tab pos="457200" algn="l"/>
              </a:tabLst>
            </a:pPr>
            <a:r>
              <a:rPr lang="en-US" dirty="0"/>
              <a:t>Planification des </a:t>
            </a:r>
            <a:r>
              <a:rPr lang="en-US" dirty="0" err="1"/>
              <a:t>Effectifs</a:t>
            </a:r>
            <a:r>
              <a:rPr lang="en-US" dirty="0"/>
              <a:t> : </a:t>
            </a:r>
            <a:r>
              <a:rPr lang="en-US" dirty="0" err="1"/>
              <a:t>Prévision</a:t>
            </a:r>
            <a:r>
              <a:rPr lang="en-US" dirty="0"/>
              <a:t> des </a:t>
            </a:r>
            <a:r>
              <a:rPr lang="en-US" dirty="0" err="1"/>
              <a:t>besoins</a:t>
            </a:r>
            <a:r>
              <a:rPr lang="en-US" dirty="0"/>
              <a:t> </a:t>
            </a:r>
            <a:r>
              <a:rPr lang="en-US" dirty="0" err="1"/>
              <a:t>en</a:t>
            </a:r>
            <a:r>
              <a:rPr lang="en-US" dirty="0"/>
              <a:t> </a:t>
            </a:r>
            <a:r>
              <a:rPr lang="en-US" dirty="0" err="1"/>
              <a:t>recrutement</a:t>
            </a:r>
            <a:r>
              <a:rPr lang="en-US" dirty="0"/>
              <a:t> et </a:t>
            </a:r>
            <a:r>
              <a:rPr lang="en-US" dirty="0" err="1"/>
              <a:t>en</a:t>
            </a:r>
            <a:r>
              <a:rPr lang="en-US" dirty="0"/>
              <a:t> </a:t>
            </a:r>
            <a:r>
              <a:rPr lang="en-US" dirty="0" err="1"/>
              <a:t>développement</a:t>
            </a:r>
            <a:r>
              <a:rPr lang="en-US" dirty="0"/>
              <a:t> des </a:t>
            </a:r>
            <a:r>
              <a:rPr lang="en-US" dirty="0" err="1"/>
              <a:t>compétences</a:t>
            </a:r>
            <a:r>
              <a:rPr lang="en-US" dirty="0"/>
              <a:t> </a:t>
            </a:r>
            <a:r>
              <a:rPr lang="en-US" dirty="0" err="1"/>
              <a:t>basée</a:t>
            </a:r>
            <a:r>
              <a:rPr lang="en-US" dirty="0"/>
              <a:t> sur </a:t>
            </a:r>
            <a:r>
              <a:rPr lang="en-US" dirty="0" err="1"/>
              <a:t>l'analyse</a:t>
            </a:r>
            <a:r>
              <a:rPr lang="en-US" dirty="0"/>
              <a:t> des tendances du </a:t>
            </a:r>
            <a:r>
              <a:rPr lang="en-US" dirty="0" err="1"/>
              <a:t>marché</a:t>
            </a:r>
            <a:r>
              <a:rPr lang="en-US" dirty="0"/>
              <a:t> du travail.</a:t>
            </a:r>
            <a:endParaRPr lang="x-none" dirty="0"/>
          </a:p>
        </p:txBody>
      </p:sp>
    </p:spTree>
    <p:extLst>
      <p:ext uri="{BB962C8B-B14F-4D97-AF65-F5344CB8AC3E}">
        <p14:creationId xmlns:p14="http://schemas.microsoft.com/office/powerpoint/2010/main" xmlns="" val="7073502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1963999" cy="584775"/>
          </a:xfrm>
          <a:prstGeom prst="rect">
            <a:avLst/>
          </a:prstGeom>
          <a:noFill/>
        </p:spPr>
        <p:txBody>
          <a:bodyPr wrap="none" rtlCol="0">
            <a:spAutoFit/>
          </a:bodyPr>
          <a:lstStyle/>
          <a:p>
            <a:r>
              <a:rPr lang="fr-FR" sz="3200" b="1" dirty="0"/>
              <a:t>SIO vs SID</a:t>
            </a:r>
          </a:p>
        </p:txBody>
      </p:sp>
      <p:pic>
        <p:nvPicPr>
          <p:cNvPr id="4" name="Picture 3">
            <a:extLst>
              <a:ext uri="{FF2B5EF4-FFF2-40B4-BE49-F238E27FC236}">
                <a16:creationId xmlns:a16="http://schemas.microsoft.com/office/drawing/2014/main" xmlns="" id="{0479E749-6FBA-8341-8D33-2D8938216972}"/>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666855" y="1679649"/>
            <a:ext cx="6858290" cy="4864856"/>
          </a:xfrm>
          <a:prstGeom prst="rect">
            <a:avLst/>
          </a:prstGeom>
        </p:spPr>
      </p:pic>
    </p:spTree>
    <p:extLst>
      <p:ext uri="{BB962C8B-B14F-4D97-AF65-F5344CB8AC3E}">
        <p14:creationId xmlns:p14="http://schemas.microsoft.com/office/powerpoint/2010/main" xmlns="" val="2669587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369479"/>
            <a:ext cx="6184231" cy="2119042"/>
          </a:xfrm>
          <a:prstGeom prst="rect">
            <a:avLst/>
          </a:prstGeom>
          <a:noFill/>
        </p:spPr>
        <p:txBody>
          <a:bodyPr wrap="square" rtlCol="0" anchor="ctr">
            <a:spAutoFit/>
          </a:bodyPr>
          <a:lstStyle/>
          <a:p>
            <a:pPr algn="ctr">
              <a:lnSpc>
                <a:spcPct val="150000"/>
              </a:lnSpc>
            </a:pPr>
            <a:r>
              <a:rPr lang="fr-FR" dirty="0"/>
              <a:t>La transition du Système d'Information Opérationnel (SIO) au Système d'Information Décisionnel (SID) est motivée par plusieurs facteurs clés, chacun reflétant les besoins changeants des organisations dans un environnement commercial dynamique et axé sur les données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864380" cy="584775"/>
          </a:xfrm>
          <a:prstGeom prst="rect">
            <a:avLst/>
          </a:prstGeom>
          <a:noFill/>
        </p:spPr>
        <p:txBody>
          <a:bodyPr wrap="none" rtlCol="0">
            <a:spAutoFit/>
          </a:bodyPr>
          <a:lstStyle/>
          <a:p>
            <a:r>
              <a:rPr lang="fr-FR" sz="3200" b="1" dirty="0"/>
              <a:t>Raisons de la transition du SIO au SID </a:t>
            </a:r>
          </a:p>
        </p:txBody>
      </p:sp>
    </p:spTree>
    <p:extLst>
      <p:ext uri="{BB962C8B-B14F-4D97-AF65-F5344CB8AC3E}">
        <p14:creationId xmlns:p14="http://schemas.microsoft.com/office/powerpoint/2010/main" xmlns="" val="37478688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864380" cy="584775"/>
          </a:xfrm>
          <a:prstGeom prst="rect">
            <a:avLst/>
          </a:prstGeom>
          <a:noFill/>
        </p:spPr>
        <p:txBody>
          <a:bodyPr wrap="none" rtlCol="0">
            <a:spAutoFit/>
          </a:bodyPr>
          <a:lstStyle/>
          <a:p>
            <a:r>
              <a:rPr lang="fr-FR" sz="3200" b="1" dirty="0"/>
              <a:t>Raisons de la transition du SIO au SID </a:t>
            </a:r>
          </a:p>
        </p:txBody>
      </p:sp>
      <p:graphicFrame>
        <p:nvGraphicFramePr>
          <p:cNvPr id="10" name="Diagram 9">
            <a:extLst>
              <a:ext uri="{FF2B5EF4-FFF2-40B4-BE49-F238E27FC236}">
                <a16:creationId xmlns:a16="http://schemas.microsoft.com/office/drawing/2014/main" xmlns="" id="{8BFEFDC2-AFC8-594E-A0EB-ADA879A2308E}"/>
              </a:ext>
            </a:extLst>
          </p:cNvPr>
          <p:cNvGraphicFramePr/>
          <p:nvPr/>
        </p:nvGraphicFramePr>
        <p:xfrm>
          <a:off x="1188278" y="1775792"/>
          <a:ext cx="10486888" cy="41770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9638703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577228"/>
            <a:ext cx="6184231" cy="1703543"/>
          </a:xfrm>
          <a:prstGeom prst="rect">
            <a:avLst/>
          </a:prstGeom>
          <a:noFill/>
        </p:spPr>
        <p:txBody>
          <a:bodyPr wrap="square" rtlCol="0" anchor="ctr">
            <a:spAutoFit/>
          </a:bodyPr>
          <a:lstStyle/>
          <a:p>
            <a:pPr algn="ctr">
              <a:lnSpc>
                <a:spcPct val="150000"/>
              </a:lnSpc>
            </a:pPr>
            <a:r>
              <a:rPr lang="fr-FR" dirty="0"/>
              <a:t>La transition d'un Système d'Information Opérationnel (SIO) vers un Système d'Information Décisionnel (SID) est un processus complexe qui nécessite une planification et une exécution minutieuses.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spTree>
    <p:extLst>
      <p:ext uri="{BB962C8B-B14F-4D97-AF65-F5344CB8AC3E}">
        <p14:creationId xmlns:p14="http://schemas.microsoft.com/office/powerpoint/2010/main" xmlns="" val="3737094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sp>
        <p:nvSpPr>
          <p:cNvPr id="4" name="object 2">
            <a:extLst>
              <a:ext uri="{FF2B5EF4-FFF2-40B4-BE49-F238E27FC236}">
                <a16:creationId xmlns:a16="http://schemas.microsoft.com/office/drawing/2014/main" xmlns="" id="{257FF7E2-785F-6E46-867D-65D0EF46F647}"/>
              </a:ext>
            </a:extLst>
          </p:cNvPr>
          <p:cNvSpPr/>
          <p:nvPr/>
        </p:nvSpPr>
        <p:spPr>
          <a:xfrm>
            <a:off x="1219200" y="2437791"/>
            <a:ext cx="9753600" cy="3094502"/>
          </a:xfrm>
          <a:prstGeom prst="rect">
            <a:avLst/>
          </a:prstGeom>
          <a:blipFill>
            <a:blip r:embed="rId3" cstate="print"/>
            <a:stretch>
              <a:fillRect t="-49300" b="-27996"/>
            </a:stretch>
          </a:blipFill>
        </p:spPr>
        <p:txBody>
          <a:bodyPr wrap="square" lIns="0" tIns="0" rIns="0" bIns="0" rtlCol="0"/>
          <a:lstStyle/>
          <a:p>
            <a:endParaRPr/>
          </a:p>
        </p:txBody>
      </p:sp>
      <p:sp>
        <p:nvSpPr>
          <p:cNvPr id="2" name="TextBox 1">
            <a:extLst>
              <a:ext uri="{FF2B5EF4-FFF2-40B4-BE49-F238E27FC236}">
                <a16:creationId xmlns:a16="http://schemas.microsoft.com/office/drawing/2014/main" xmlns="" id="{490F0DD4-EEED-6A44-B12A-421530971A35}"/>
              </a:ext>
            </a:extLst>
          </p:cNvPr>
          <p:cNvSpPr txBox="1"/>
          <p:nvPr/>
        </p:nvSpPr>
        <p:spPr>
          <a:xfrm>
            <a:off x="3709930" y="1802296"/>
            <a:ext cx="4772140" cy="461665"/>
          </a:xfrm>
          <a:prstGeom prst="rect">
            <a:avLst/>
          </a:prstGeom>
          <a:noFill/>
        </p:spPr>
        <p:txBody>
          <a:bodyPr wrap="none" rtlCol="0">
            <a:spAutoFit/>
          </a:bodyPr>
          <a:lstStyle/>
          <a:p>
            <a:r>
              <a:rPr lang="x-none" sz="2400" b="1" dirty="0">
                <a:solidFill>
                  <a:schemeClr val="accent2">
                    <a:lumMod val="50000"/>
                  </a:schemeClr>
                </a:solidFill>
              </a:rPr>
              <a:t>Collecte et intégration des données</a:t>
            </a:r>
          </a:p>
        </p:txBody>
      </p:sp>
      <p:sp>
        <p:nvSpPr>
          <p:cNvPr id="10" name="TextBox 9">
            <a:extLst>
              <a:ext uri="{FF2B5EF4-FFF2-40B4-BE49-F238E27FC236}">
                <a16:creationId xmlns:a16="http://schemas.microsoft.com/office/drawing/2014/main" xmlns="" id="{8D11D8FC-A35D-CA4F-8A83-13A52E226337}"/>
              </a:ext>
            </a:extLst>
          </p:cNvPr>
          <p:cNvSpPr txBox="1"/>
          <p:nvPr/>
        </p:nvSpPr>
        <p:spPr>
          <a:xfrm>
            <a:off x="1629259" y="5763126"/>
            <a:ext cx="8933481" cy="646331"/>
          </a:xfrm>
          <a:prstGeom prst="rect">
            <a:avLst/>
          </a:prstGeom>
          <a:noFill/>
        </p:spPr>
        <p:txBody>
          <a:bodyPr wrap="square">
            <a:spAutoFit/>
          </a:bodyPr>
          <a:lstStyle/>
          <a:p>
            <a:pPr algn="ctr"/>
            <a:r>
              <a:rPr lang="x-none" dirty="0"/>
              <a:t>Objectif : Rassembler les données de diverses sources pour créer une vue unifiée qui servira de base à l'analyse décisionnelle.</a:t>
            </a:r>
          </a:p>
        </p:txBody>
      </p:sp>
    </p:spTree>
    <p:extLst>
      <p:ext uri="{BB962C8B-B14F-4D97-AF65-F5344CB8AC3E}">
        <p14:creationId xmlns:p14="http://schemas.microsoft.com/office/powerpoint/2010/main" xmlns="" val="742042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pic>
        <p:nvPicPr>
          <p:cNvPr id="5" name="Picture 4">
            <a:extLst>
              <a:ext uri="{FF2B5EF4-FFF2-40B4-BE49-F238E27FC236}">
                <a16:creationId xmlns:a16="http://schemas.microsoft.com/office/drawing/2014/main" xmlns="" id="{C816FA3E-9258-2F44-A52A-C260AB254B72}"/>
              </a:ext>
            </a:extLst>
          </p:cNvPr>
          <p:cNvPicPr>
            <a:picLocks noChangeAspect="1"/>
          </p:cNvPicPr>
          <p:nvPr/>
        </p:nvPicPr>
        <p:blipFill rotWithShape="1">
          <a:blip r:embed="rId2"/>
          <a:srcRect t="10541" b="10598"/>
          <a:stretch/>
        </p:blipFill>
        <p:spPr>
          <a:xfrm>
            <a:off x="1391653" y="1941857"/>
            <a:ext cx="9983079" cy="4331367"/>
          </a:xfrm>
          <a:prstGeom prst="rect">
            <a:avLst/>
          </a:prstGeom>
        </p:spPr>
      </p:pic>
    </p:spTree>
    <p:extLst>
      <p:ext uri="{BB962C8B-B14F-4D97-AF65-F5344CB8AC3E}">
        <p14:creationId xmlns:p14="http://schemas.microsoft.com/office/powerpoint/2010/main" xmlns="" val="39578204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sp>
        <p:nvSpPr>
          <p:cNvPr id="2" name="TextBox 1">
            <a:extLst>
              <a:ext uri="{FF2B5EF4-FFF2-40B4-BE49-F238E27FC236}">
                <a16:creationId xmlns:a16="http://schemas.microsoft.com/office/drawing/2014/main" xmlns="" id="{490F0DD4-EEED-6A44-B12A-421530971A35}"/>
              </a:ext>
            </a:extLst>
          </p:cNvPr>
          <p:cNvSpPr txBox="1"/>
          <p:nvPr/>
        </p:nvSpPr>
        <p:spPr>
          <a:xfrm>
            <a:off x="2181274" y="1817795"/>
            <a:ext cx="7829451" cy="461665"/>
          </a:xfrm>
          <a:prstGeom prst="rect">
            <a:avLst/>
          </a:prstGeom>
          <a:noFill/>
        </p:spPr>
        <p:txBody>
          <a:bodyPr wrap="none" rtlCol="0">
            <a:spAutoFit/>
          </a:bodyPr>
          <a:lstStyle/>
          <a:p>
            <a:r>
              <a:rPr lang="fr-FR" sz="2400" b="1">
                <a:solidFill>
                  <a:schemeClr val="accent2">
                    <a:lumMod val="50000"/>
                  </a:schemeClr>
                </a:solidFill>
              </a:rPr>
              <a:t>Mise en place d'un entrepôt de données (Data Warehouse)</a:t>
            </a:r>
          </a:p>
        </p:txBody>
      </p:sp>
      <p:sp>
        <p:nvSpPr>
          <p:cNvPr id="6" name="TextBox 5">
            <a:extLst>
              <a:ext uri="{FF2B5EF4-FFF2-40B4-BE49-F238E27FC236}">
                <a16:creationId xmlns:a16="http://schemas.microsoft.com/office/drawing/2014/main" xmlns="" id="{91A9E044-A17B-2540-8300-75F2D5E278A2}"/>
              </a:ext>
            </a:extLst>
          </p:cNvPr>
          <p:cNvSpPr txBox="1"/>
          <p:nvPr/>
        </p:nvSpPr>
        <p:spPr>
          <a:xfrm>
            <a:off x="1629259" y="5763126"/>
            <a:ext cx="8933481" cy="646331"/>
          </a:xfrm>
          <a:prstGeom prst="rect">
            <a:avLst/>
          </a:prstGeom>
          <a:noFill/>
        </p:spPr>
        <p:txBody>
          <a:bodyPr wrap="square">
            <a:spAutoFit/>
          </a:bodyPr>
          <a:lstStyle/>
          <a:p>
            <a:pPr algn="ctr"/>
            <a:r>
              <a:rPr lang="fr-FR" dirty="0"/>
              <a:t>Objectif : Créer un entrepôt centralisé où les données intégrées sont stockées de manière sécurisée, structurée et accessible pour l'analyse.</a:t>
            </a:r>
          </a:p>
        </p:txBody>
      </p:sp>
      <p:pic>
        <p:nvPicPr>
          <p:cNvPr id="4" name="Picture 3">
            <a:extLst>
              <a:ext uri="{FF2B5EF4-FFF2-40B4-BE49-F238E27FC236}">
                <a16:creationId xmlns:a16="http://schemas.microsoft.com/office/drawing/2014/main" xmlns="" id="{5E2C4879-0672-9448-9342-A5E29FE0084C}"/>
              </a:ext>
            </a:extLst>
          </p:cNvPr>
          <p:cNvPicPr>
            <a:picLocks noChangeAspect="1"/>
          </p:cNvPicPr>
          <p:nvPr/>
        </p:nvPicPr>
        <p:blipFill>
          <a:blip r:embed="rId3"/>
          <a:stretch>
            <a:fillRect/>
          </a:stretch>
        </p:blipFill>
        <p:spPr>
          <a:xfrm>
            <a:off x="4712579" y="2417606"/>
            <a:ext cx="2766842" cy="3106630"/>
          </a:xfrm>
          <a:prstGeom prst="rect">
            <a:avLst/>
          </a:prstGeom>
        </p:spPr>
      </p:pic>
    </p:spTree>
    <p:extLst>
      <p:ext uri="{BB962C8B-B14F-4D97-AF65-F5344CB8AC3E}">
        <p14:creationId xmlns:p14="http://schemas.microsoft.com/office/powerpoint/2010/main" xmlns="" val="12305789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pic>
        <p:nvPicPr>
          <p:cNvPr id="5" name="Picture 4">
            <a:extLst>
              <a:ext uri="{FF2B5EF4-FFF2-40B4-BE49-F238E27FC236}">
                <a16:creationId xmlns:a16="http://schemas.microsoft.com/office/drawing/2014/main" xmlns="" id="{C816FA3E-9258-2F44-A52A-C260AB254B72}"/>
              </a:ext>
            </a:extLst>
          </p:cNvPr>
          <p:cNvPicPr>
            <a:picLocks noChangeAspect="1"/>
          </p:cNvPicPr>
          <p:nvPr/>
        </p:nvPicPr>
        <p:blipFill rotWithShape="1">
          <a:blip r:embed="rId2"/>
          <a:srcRect t="10541" b="10598"/>
          <a:stretch/>
        </p:blipFill>
        <p:spPr>
          <a:xfrm>
            <a:off x="1391653" y="1941857"/>
            <a:ext cx="9983079" cy="4331367"/>
          </a:xfrm>
          <a:prstGeom prst="rect">
            <a:avLst/>
          </a:prstGeom>
        </p:spPr>
      </p:pic>
    </p:spTree>
    <p:extLst>
      <p:ext uri="{BB962C8B-B14F-4D97-AF65-F5344CB8AC3E}">
        <p14:creationId xmlns:p14="http://schemas.microsoft.com/office/powerpoint/2010/main" xmlns="" val="8352439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sp>
        <p:nvSpPr>
          <p:cNvPr id="2" name="TextBox 1">
            <a:extLst>
              <a:ext uri="{FF2B5EF4-FFF2-40B4-BE49-F238E27FC236}">
                <a16:creationId xmlns:a16="http://schemas.microsoft.com/office/drawing/2014/main" xmlns="" id="{490F0DD4-EEED-6A44-B12A-421530971A35}"/>
              </a:ext>
            </a:extLst>
          </p:cNvPr>
          <p:cNvSpPr txBox="1"/>
          <p:nvPr/>
        </p:nvSpPr>
        <p:spPr>
          <a:xfrm>
            <a:off x="2834112" y="1817795"/>
            <a:ext cx="6523774" cy="461665"/>
          </a:xfrm>
          <a:prstGeom prst="rect">
            <a:avLst/>
          </a:prstGeom>
          <a:noFill/>
        </p:spPr>
        <p:txBody>
          <a:bodyPr wrap="none" rtlCol="0">
            <a:spAutoFit/>
          </a:bodyPr>
          <a:lstStyle/>
          <a:p>
            <a:r>
              <a:rPr lang="fr-FR" sz="2400" b="1" dirty="0">
                <a:solidFill>
                  <a:schemeClr val="accent2">
                    <a:lumMod val="50000"/>
                  </a:schemeClr>
                </a:solidFill>
              </a:rPr>
              <a:t>Développement d'outils de </a:t>
            </a:r>
            <a:r>
              <a:rPr lang="fr-FR" sz="2400" b="1" dirty="0" err="1">
                <a:solidFill>
                  <a:schemeClr val="accent2">
                    <a:lumMod val="50000"/>
                  </a:schemeClr>
                </a:solidFill>
              </a:rPr>
              <a:t>reporting</a:t>
            </a:r>
            <a:r>
              <a:rPr lang="fr-FR" sz="2400" b="1" dirty="0">
                <a:solidFill>
                  <a:schemeClr val="accent2">
                    <a:lumMod val="50000"/>
                  </a:schemeClr>
                </a:solidFill>
              </a:rPr>
              <a:t> et d'analyse</a:t>
            </a:r>
          </a:p>
        </p:txBody>
      </p:sp>
      <p:sp>
        <p:nvSpPr>
          <p:cNvPr id="6" name="TextBox 5">
            <a:extLst>
              <a:ext uri="{FF2B5EF4-FFF2-40B4-BE49-F238E27FC236}">
                <a16:creationId xmlns:a16="http://schemas.microsoft.com/office/drawing/2014/main" xmlns="" id="{91A9E044-A17B-2540-8300-75F2D5E278A2}"/>
              </a:ext>
            </a:extLst>
          </p:cNvPr>
          <p:cNvSpPr txBox="1"/>
          <p:nvPr/>
        </p:nvSpPr>
        <p:spPr>
          <a:xfrm>
            <a:off x="1629259" y="5763126"/>
            <a:ext cx="8933481" cy="646331"/>
          </a:xfrm>
          <a:prstGeom prst="rect">
            <a:avLst/>
          </a:prstGeom>
          <a:noFill/>
        </p:spPr>
        <p:txBody>
          <a:bodyPr wrap="square">
            <a:spAutoFit/>
          </a:bodyPr>
          <a:lstStyle/>
          <a:p>
            <a:pPr algn="ctr"/>
            <a:r>
              <a:rPr lang="fr-FR" dirty="0"/>
              <a:t>Objectif : Fournir aux utilisateurs finaux des moyens efficaces pour interroger, analyser et visualiser les données stockées dans l'entrepôt de données.</a:t>
            </a:r>
          </a:p>
        </p:txBody>
      </p:sp>
      <p:pic>
        <p:nvPicPr>
          <p:cNvPr id="5" name="Picture 4">
            <a:extLst>
              <a:ext uri="{FF2B5EF4-FFF2-40B4-BE49-F238E27FC236}">
                <a16:creationId xmlns:a16="http://schemas.microsoft.com/office/drawing/2014/main" xmlns="" id="{DB08A6E0-F5A0-7B48-8F6D-C8AF19BB2619}"/>
              </a:ext>
            </a:extLst>
          </p:cNvPr>
          <p:cNvPicPr>
            <a:picLocks noChangeAspect="1"/>
          </p:cNvPicPr>
          <p:nvPr/>
        </p:nvPicPr>
        <p:blipFill rotWithShape="1">
          <a:blip r:embed="rId3"/>
          <a:srcRect t="60742"/>
          <a:stretch/>
        </p:blipFill>
        <p:spPr>
          <a:xfrm>
            <a:off x="691809" y="3315213"/>
            <a:ext cx="10808379" cy="1412160"/>
          </a:xfrm>
          <a:prstGeom prst="rect">
            <a:avLst/>
          </a:prstGeom>
        </p:spPr>
      </p:pic>
    </p:spTree>
    <p:extLst>
      <p:ext uri="{BB962C8B-B14F-4D97-AF65-F5344CB8AC3E}">
        <p14:creationId xmlns:p14="http://schemas.microsoft.com/office/powerpoint/2010/main" xmlns="" val="30217717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4870244" cy="584775"/>
          </a:xfrm>
          <a:prstGeom prst="rect">
            <a:avLst/>
          </a:prstGeom>
          <a:noFill/>
        </p:spPr>
        <p:txBody>
          <a:bodyPr wrap="none" rtlCol="0">
            <a:spAutoFit/>
          </a:bodyPr>
          <a:lstStyle/>
          <a:p>
            <a:r>
              <a:rPr lang="fr-FR" sz="3200" b="1" dirty="0"/>
              <a:t>Etapes clés de la transition</a:t>
            </a:r>
          </a:p>
        </p:txBody>
      </p:sp>
      <p:pic>
        <p:nvPicPr>
          <p:cNvPr id="5" name="Picture 4">
            <a:extLst>
              <a:ext uri="{FF2B5EF4-FFF2-40B4-BE49-F238E27FC236}">
                <a16:creationId xmlns:a16="http://schemas.microsoft.com/office/drawing/2014/main" xmlns="" id="{C816FA3E-9258-2F44-A52A-C260AB254B72}"/>
              </a:ext>
            </a:extLst>
          </p:cNvPr>
          <p:cNvPicPr>
            <a:picLocks noChangeAspect="1"/>
          </p:cNvPicPr>
          <p:nvPr/>
        </p:nvPicPr>
        <p:blipFill rotWithShape="1">
          <a:blip r:embed="rId3"/>
          <a:srcRect t="10541" b="10598"/>
          <a:stretch/>
        </p:blipFill>
        <p:spPr>
          <a:xfrm>
            <a:off x="1391653" y="1941857"/>
            <a:ext cx="9983079" cy="4331367"/>
          </a:xfrm>
          <a:prstGeom prst="rect">
            <a:avLst/>
          </a:prstGeom>
        </p:spPr>
      </p:pic>
    </p:spTree>
    <p:extLst>
      <p:ext uri="{BB962C8B-B14F-4D97-AF65-F5344CB8AC3E}">
        <p14:creationId xmlns:p14="http://schemas.microsoft.com/office/powerpoint/2010/main" xmlns="" val="34864840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577228"/>
            <a:ext cx="6184231" cy="1703543"/>
          </a:xfrm>
          <a:prstGeom prst="rect">
            <a:avLst/>
          </a:prstGeom>
          <a:noFill/>
        </p:spPr>
        <p:txBody>
          <a:bodyPr wrap="square" rtlCol="0" anchor="ctr">
            <a:spAutoFit/>
          </a:bodyPr>
          <a:lstStyle/>
          <a:p>
            <a:pPr algn="ctr">
              <a:lnSpc>
                <a:spcPct val="150000"/>
              </a:lnSpc>
            </a:pPr>
            <a:r>
              <a:rPr lang="fr-FR" dirty="0"/>
              <a:t>Les Systèmes d'Information Décisionnels (SID) s'appuient sur une gamme de technologies et d'outils conçus pour faciliter la collecte, le stockage, l'analyse et la présentation des données.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112764" cy="584775"/>
          </a:xfrm>
          <a:prstGeom prst="rect">
            <a:avLst/>
          </a:prstGeom>
          <a:noFill/>
        </p:spPr>
        <p:txBody>
          <a:bodyPr wrap="none" rtlCol="0">
            <a:spAutoFit/>
          </a:bodyPr>
          <a:lstStyle/>
          <a:p>
            <a:r>
              <a:rPr lang="fr-FR" sz="3200" b="1" dirty="0"/>
              <a:t>Technologies et outils pour les SID</a:t>
            </a:r>
          </a:p>
        </p:txBody>
      </p:sp>
    </p:spTree>
    <p:extLst>
      <p:ext uri="{BB962C8B-B14F-4D97-AF65-F5344CB8AC3E}">
        <p14:creationId xmlns:p14="http://schemas.microsoft.com/office/powerpoint/2010/main" xmlns="" val="3828066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112764" cy="584775"/>
          </a:xfrm>
          <a:prstGeom prst="rect">
            <a:avLst/>
          </a:prstGeom>
          <a:noFill/>
        </p:spPr>
        <p:txBody>
          <a:bodyPr wrap="none" rtlCol="0">
            <a:spAutoFit/>
          </a:bodyPr>
          <a:lstStyle/>
          <a:p>
            <a:r>
              <a:rPr lang="fr-FR" sz="3200" b="1" dirty="0"/>
              <a:t>Technologies et outils pour les SID</a:t>
            </a:r>
          </a:p>
        </p:txBody>
      </p:sp>
      <p:pic>
        <p:nvPicPr>
          <p:cNvPr id="3" name="Picture 2">
            <a:extLst>
              <a:ext uri="{FF2B5EF4-FFF2-40B4-BE49-F238E27FC236}">
                <a16:creationId xmlns:a16="http://schemas.microsoft.com/office/drawing/2014/main" xmlns="" id="{FA5436B0-0A43-604E-92C1-F9684BA6E5EA}"/>
              </a:ext>
            </a:extLst>
          </p:cNvPr>
          <p:cNvPicPr>
            <a:picLocks noChangeAspect="1"/>
          </p:cNvPicPr>
          <p:nvPr/>
        </p:nvPicPr>
        <p:blipFill>
          <a:blip r:embed="rId3"/>
          <a:stretch>
            <a:fillRect/>
          </a:stretch>
        </p:blipFill>
        <p:spPr>
          <a:xfrm>
            <a:off x="2128568" y="1863541"/>
            <a:ext cx="7934863" cy="4732489"/>
          </a:xfrm>
          <a:prstGeom prst="rect">
            <a:avLst/>
          </a:prstGeom>
        </p:spPr>
      </p:pic>
    </p:spTree>
    <p:extLst>
      <p:ext uri="{BB962C8B-B14F-4D97-AF65-F5344CB8AC3E}">
        <p14:creationId xmlns:p14="http://schemas.microsoft.com/office/powerpoint/2010/main" xmlns="" val="7867735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3003884" y="2577228"/>
            <a:ext cx="6184231" cy="1703543"/>
          </a:xfrm>
          <a:prstGeom prst="rect">
            <a:avLst/>
          </a:prstGeom>
          <a:noFill/>
        </p:spPr>
        <p:txBody>
          <a:bodyPr wrap="square" rtlCol="0" anchor="ctr">
            <a:spAutoFit/>
          </a:bodyPr>
          <a:lstStyle/>
          <a:p>
            <a:pPr algn="ctr">
              <a:lnSpc>
                <a:spcPct val="150000"/>
              </a:lnSpc>
            </a:pPr>
            <a:r>
              <a:rPr lang="fr-FR" dirty="0"/>
              <a:t>La mise en place d'un Système d'Information Décisionnel (SID) peut rencontrer plusieurs défis, mais avec des stratégies et des pratiques appropriées, ces obstacles peuvent être surmontés efficacement.</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3290131" cy="584775"/>
          </a:xfrm>
          <a:prstGeom prst="rect">
            <a:avLst/>
          </a:prstGeom>
          <a:noFill/>
        </p:spPr>
        <p:txBody>
          <a:bodyPr wrap="none" rtlCol="0">
            <a:spAutoFit/>
          </a:bodyPr>
          <a:lstStyle/>
          <a:p>
            <a:r>
              <a:rPr lang="fr-FR" sz="3200" b="1" dirty="0"/>
              <a:t>Défis et solutions</a:t>
            </a:r>
          </a:p>
        </p:txBody>
      </p:sp>
    </p:spTree>
    <p:extLst>
      <p:ext uri="{BB962C8B-B14F-4D97-AF65-F5344CB8AC3E}">
        <p14:creationId xmlns:p14="http://schemas.microsoft.com/office/powerpoint/2010/main" xmlns="" val="24201723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3290131" cy="584775"/>
          </a:xfrm>
          <a:prstGeom prst="rect">
            <a:avLst/>
          </a:prstGeom>
          <a:noFill/>
        </p:spPr>
        <p:txBody>
          <a:bodyPr wrap="none" rtlCol="0">
            <a:spAutoFit/>
          </a:bodyPr>
          <a:lstStyle/>
          <a:p>
            <a:r>
              <a:rPr lang="fr-FR" sz="3200" b="1" dirty="0"/>
              <a:t>Défis et solutions</a:t>
            </a:r>
          </a:p>
        </p:txBody>
      </p:sp>
      <p:sp>
        <p:nvSpPr>
          <p:cNvPr id="4" name="TextBox 3">
            <a:extLst>
              <a:ext uri="{FF2B5EF4-FFF2-40B4-BE49-F238E27FC236}">
                <a16:creationId xmlns:a16="http://schemas.microsoft.com/office/drawing/2014/main" xmlns="" id="{78F277CA-C298-F840-BC26-183F6459EEFE}"/>
              </a:ext>
            </a:extLst>
          </p:cNvPr>
          <p:cNvSpPr txBox="1"/>
          <p:nvPr/>
        </p:nvSpPr>
        <p:spPr>
          <a:xfrm>
            <a:off x="2121803" y="1817795"/>
            <a:ext cx="7948394" cy="461665"/>
          </a:xfrm>
          <a:prstGeom prst="rect">
            <a:avLst/>
          </a:prstGeom>
          <a:noFill/>
        </p:spPr>
        <p:txBody>
          <a:bodyPr wrap="none" rtlCol="0">
            <a:spAutoFit/>
          </a:bodyPr>
          <a:lstStyle/>
          <a:p>
            <a:r>
              <a:rPr lang="fr-FR" sz="2400" b="1" dirty="0">
                <a:solidFill>
                  <a:schemeClr val="accent2">
                    <a:lumMod val="50000"/>
                  </a:schemeClr>
                </a:solidFill>
              </a:rPr>
              <a:t>Principaux défis rencontrés lors de la mise en place des SID</a:t>
            </a:r>
          </a:p>
        </p:txBody>
      </p:sp>
      <p:graphicFrame>
        <p:nvGraphicFramePr>
          <p:cNvPr id="5" name="Diagram 4">
            <a:extLst>
              <a:ext uri="{FF2B5EF4-FFF2-40B4-BE49-F238E27FC236}">
                <a16:creationId xmlns:a16="http://schemas.microsoft.com/office/drawing/2014/main" xmlns="" id="{3DB901C9-ADB1-E44C-9CE6-A158573F71F5}"/>
              </a:ext>
            </a:extLst>
          </p:cNvPr>
          <p:cNvGraphicFramePr/>
          <p:nvPr/>
        </p:nvGraphicFramePr>
        <p:xfrm>
          <a:off x="1610139" y="2731323"/>
          <a:ext cx="8971722" cy="30318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7283251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3290131" cy="584775"/>
          </a:xfrm>
          <a:prstGeom prst="rect">
            <a:avLst/>
          </a:prstGeom>
          <a:noFill/>
        </p:spPr>
        <p:txBody>
          <a:bodyPr wrap="none" rtlCol="0">
            <a:spAutoFit/>
          </a:bodyPr>
          <a:lstStyle/>
          <a:p>
            <a:r>
              <a:rPr lang="fr-FR" sz="3200" b="1" dirty="0"/>
              <a:t>Défis et solutions</a:t>
            </a:r>
          </a:p>
        </p:txBody>
      </p:sp>
      <p:sp>
        <p:nvSpPr>
          <p:cNvPr id="4" name="TextBox 3">
            <a:extLst>
              <a:ext uri="{FF2B5EF4-FFF2-40B4-BE49-F238E27FC236}">
                <a16:creationId xmlns:a16="http://schemas.microsoft.com/office/drawing/2014/main" xmlns="" id="{78F277CA-C298-F840-BC26-183F6459EEFE}"/>
              </a:ext>
            </a:extLst>
          </p:cNvPr>
          <p:cNvSpPr txBox="1"/>
          <p:nvPr/>
        </p:nvSpPr>
        <p:spPr>
          <a:xfrm>
            <a:off x="3686654" y="1817795"/>
            <a:ext cx="4818691" cy="461665"/>
          </a:xfrm>
          <a:prstGeom prst="rect">
            <a:avLst/>
          </a:prstGeom>
          <a:noFill/>
        </p:spPr>
        <p:txBody>
          <a:bodyPr wrap="none" rtlCol="0">
            <a:spAutoFit/>
          </a:bodyPr>
          <a:lstStyle/>
          <a:p>
            <a:r>
              <a:rPr lang="fr-FR" sz="2400" b="1" dirty="0">
                <a:solidFill>
                  <a:schemeClr val="accent2">
                    <a:lumMod val="50000"/>
                  </a:schemeClr>
                </a:solidFill>
              </a:rPr>
              <a:t>Stratégies pour surmonter ces défis</a:t>
            </a:r>
          </a:p>
        </p:txBody>
      </p:sp>
      <p:graphicFrame>
        <p:nvGraphicFramePr>
          <p:cNvPr id="5" name="Diagram 4">
            <a:extLst>
              <a:ext uri="{FF2B5EF4-FFF2-40B4-BE49-F238E27FC236}">
                <a16:creationId xmlns:a16="http://schemas.microsoft.com/office/drawing/2014/main" xmlns="" id="{EC983ADD-AAA8-6942-B5A9-B42D16712F82}"/>
              </a:ext>
            </a:extLst>
          </p:cNvPr>
          <p:cNvGraphicFramePr/>
          <p:nvPr/>
        </p:nvGraphicFramePr>
        <p:xfrm>
          <a:off x="1610139" y="2731323"/>
          <a:ext cx="8971722" cy="30318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9916348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157037" y="3332203"/>
            <a:ext cx="9877926" cy="2031325"/>
          </a:xfrm>
          <a:prstGeom prst="rect">
            <a:avLst/>
          </a:prstGeom>
          <a:noFill/>
        </p:spPr>
        <p:txBody>
          <a:bodyPr wrap="square">
            <a:spAutoFit/>
          </a:bodyPr>
          <a:lstStyle/>
          <a:p>
            <a:pPr algn="just"/>
            <a:r>
              <a:rPr lang="fr-FR"/>
              <a:t>Imaginons une chaîne de cinémas, "CineMax", qui souhaite utiliser un entrepôt de données et le processus BI pour analyser ses performances et améliorer son offre.</a:t>
            </a:r>
          </a:p>
          <a:p>
            <a:pPr algn="just"/>
            <a:endParaRPr lang="fr-FR"/>
          </a:p>
          <a:p>
            <a:pPr algn="just"/>
            <a:endParaRPr lang="fr-FR"/>
          </a:p>
          <a:p>
            <a:pPr algn="just"/>
            <a:r>
              <a:rPr lang="fr-FR"/>
              <a:t>"CineMax" organise des projections de films dans plusieurs salles à travers le pays et offre une expérience variée à ses clients, incluant différentes catégories de sièges et des concessions (nourriture et boissons).</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Tree>
    <p:extLst>
      <p:ext uri="{BB962C8B-B14F-4D97-AF65-F5344CB8AC3E}">
        <p14:creationId xmlns:p14="http://schemas.microsoft.com/office/powerpoint/2010/main" xmlns="" val="20662942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dirty="0"/>
              <a:t>1. Définition des Objectifs et des Besoins</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fr-FR" dirty="0"/>
              <a:t>"</a:t>
            </a:r>
            <a:r>
              <a:rPr lang="fr-FR" dirty="0" err="1"/>
              <a:t>CineMax</a:t>
            </a:r>
            <a:r>
              <a:rPr lang="fr-FR" dirty="0"/>
              <a:t>" veut analyser les tendances de fréquentation, les préférences de sièges, les ventes de concessions et les performances des films pour optimiser la programmation, améliorer les services de concessions et augmenter la satisfaction client.</a:t>
            </a:r>
          </a:p>
        </p:txBody>
      </p:sp>
    </p:spTree>
    <p:extLst>
      <p:ext uri="{BB962C8B-B14F-4D97-AF65-F5344CB8AC3E}">
        <p14:creationId xmlns:p14="http://schemas.microsoft.com/office/powerpoint/2010/main" xmlns="" val="5513176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2. Conception du </a:t>
            </a:r>
            <a:r>
              <a:rPr lang="en-US" b="1" dirty="0" err="1"/>
              <a:t>Modèle</a:t>
            </a:r>
            <a:r>
              <a:rPr lang="en-US" b="1" dirty="0"/>
              <a:t>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560923"/>
          </a:xfrm>
          <a:prstGeom prst="rect">
            <a:avLst/>
          </a:prstGeom>
          <a:noFill/>
        </p:spPr>
        <p:txBody>
          <a:bodyPr wrap="square">
            <a:spAutoFit/>
          </a:bodyPr>
          <a:lstStyle/>
          <a:p>
            <a:pPr algn="ctr">
              <a:lnSpc>
                <a:spcPct val="200000"/>
              </a:lnSpc>
            </a:pPr>
            <a:r>
              <a:rPr lang="en-US" dirty="0" err="1"/>
              <a:t>L'équipe</a:t>
            </a:r>
            <a:r>
              <a:rPr lang="en-US" dirty="0"/>
              <a:t> BI </a:t>
            </a:r>
            <a:r>
              <a:rPr lang="en-US" dirty="0" err="1"/>
              <a:t>conçoit</a:t>
            </a:r>
            <a:r>
              <a:rPr lang="en-US" dirty="0"/>
              <a:t> un </a:t>
            </a:r>
            <a:r>
              <a:rPr lang="en-US" dirty="0" err="1"/>
              <a:t>modèle</a:t>
            </a:r>
            <a:r>
              <a:rPr lang="en-US" dirty="0"/>
              <a:t> de </a:t>
            </a:r>
            <a:r>
              <a:rPr lang="en-US" dirty="0" err="1"/>
              <a:t>données</a:t>
            </a:r>
            <a:r>
              <a:rPr lang="en-US" dirty="0"/>
              <a:t> avec des tables de dimensions et les tables des faits</a:t>
            </a:r>
          </a:p>
        </p:txBody>
      </p:sp>
    </p:spTree>
    <p:extLst>
      <p:ext uri="{BB962C8B-B14F-4D97-AF65-F5344CB8AC3E}">
        <p14:creationId xmlns:p14="http://schemas.microsoft.com/office/powerpoint/2010/main" xmlns="" val="18931046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3. </a:t>
            </a:r>
            <a:r>
              <a:rPr lang="en-US" b="1" dirty="0" err="1"/>
              <a:t>Sélection</a:t>
            </a:r>
            <a:r>
              <a:rPr lang="en-US" b="1" dirty="0"/>
              <a:t> des Sources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828854"/>
            <a:ext cx="9877926" cy="646331"/>
          </a:xfrm>
          <a:prstGeom prst="rect">
            <a:avLst/>
          </a:prstGeom>
          <a:noFill/>
        </p:spPr>
        <p:txBody>
          <a:bodyPr wrap="square">
            <a:spAutoFit/>
          </a:bodyPr>
          <a:lstStyle/>
          <a:p>
            <a:pPr algn="ctr"/>
            <a:r>
              <a:rPr lang="en-US" dirty="0"/>
              <a:t>"</a:t>
            </a:r>
            <a:r>
              <a:rPr lang="en-US" dirty="0" err="1"/>
              <a:t>CineMax</a:t>
            </a:r>
            <a:r>
              <a:rPr lang="en-US" dirty="0"/>
              <a:t>" </a:t>
            </a:r>
            <a:r>
              <a:rPr lang="en-US" dirty="0" err="1"/>
              <a:t>procède</a:t>
            </a:r>
            <a:r>
              <a:rPr lang="en-US" dirty="0"/>
              <a:t> </a:t>
            </a:r>
            <a:r>
              <a:rPr lang="en-US" dirty="0" err="1"/>
              <a:t>ensuite</a:t>
            </a:r>
            <a:r>
              <a:rPr lang="en-US" dirty="0"/>
              <a:t> </a:t>
            </a:r>
            <a:r>
              <a:rPr lang="en-US" dirty="0" err="1"/>
              <a:t>à</a:t>
            </a:r>
            <a:r>
              <a:rPr lang="en-US" dirty="0"/>
              <a:t> un </a:t>
            </a:r>
            <a:r>
              <a:rPr lang="en-US" dirty="0" err="1"/>
              <a:t>inventaire</a:t>
            </a:r>
            <a:r>
              <a:rPr lang="en-US" dirty="0"/>
              <a:t> des sources de </a:t>
            </a:r>
            <a:r>
              <a:rPr lang="en-US" dirty="0" err="1"/>
              <a:t>données</a:t>
            </a:r>
            <a:r>
              <a:rPr lang="en-US" dirty="0"/>
              <a:t> </a:t>
            </a:r>
            <a:r>
              <a:rPr lang="en-US" dirty="0" err="1"/>
              <a:t>disponibles</a:t>
            </a:r>
            <a:r>
              <a:rPr lang="en-US" dirty="0"/>
              <a:t> au sein de </a:t>
            </a:r>
            <a:r>
              <a:rPr lang="en-US" dirty="0" err="1"/>
              <a:t>l'organisation</a:t>
            </a:r>
            <a:r>
              <a:rPr lang="en-US" dirty="0"/>
              <a:t> qui </a:t>
            </a:r>
            <a:r>
              <a:rPr lang="en-US" dirty="0" err="1"/>
              <a:t>peuvent</a:t>
            </a:r>
            <a:r>
              <a:rPr lang="en-US" dirty="0"/>
              <a:t> </a:t>
            </a:r>
            <a:r>
              <a:rPr lang="en-US" dirty="0" err="1"/>
              <a:t>fournir</a:t>
            </a:r>
            <a:r>
              <a:rPr lang="en-US" dirty="0"/>
              <a:t> les </a:t>
            </a:r>
            <a:r>
              <a:rPr lang="en-US" dirty="0" err="1"/>
              <a:t>informations</a:t>
            </a:r>
            <a:r>
              <a:rPr lang="en-US" dirty="0"/>
              <a:t> </a:t>
            </a:r>
            <a:r>
              <a:rPr lang="en-US" dirty="0" err="1"/>
              <a:t>nécessaires</a:t>
            </a:r>
            <a:r>
              <a:rPr lang="en-US" dirty="0"/>
              <a:t> :</a:t>
            </a:r>
          </a:p>
        </p:txBody>
      </p:sp>
    </p:spTree>
    <p:extLst>
      <p:ext uri="{BB962C8B-B14F-4D97-AF65-F5344CB8AC3E}">
        <p14:creationId xmlns:p14="http://schemas.microsoft.com/office/powerpoint/2010/main" xmlns="" val="13064327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3. </a:t>
            </a:r>
            <a:r>
              <a:rPr lang="en-US" b="1" dirty="0" err="1"/>
              <a:t>Sélection</a:t>
            </a:r>
            <a:r>
              <a:rPr lang="en-US" b="1" dirty="0"/>
              <a:t> des Sources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99338"/>
            <a:ext cx="9877926" cy="2585323"/>
          </a:xfrm>
          <a:prstGeom prst="rect">
            <a:avLst/>
          </a:prstGeom>
          <a:noFill/>
        </p:spPr>
        <p:txBody>
          <a:bodyPr wrap="square">
            <a:spAutoFit/>
          </a:bodyPr>
          <a:lstStyle/>
          <a:p>
            <a:pPr marL="285750" indent="-285750">
              <a:buFont typeface="Arial" panose="020B0604020202020204" pitchFamily="34" charset="0"/>
              <a:buChar char="•"/>
            </a:pPr>
            <a:r>
              <a:rPr lang="en-US" b="1" dirty="0" err="1"/>
              <a:t>Système</a:t>
            </a:r>
            <a:r>
              <a:rPr lang="en-US" b="1" dirty="0"/>
              <a:t> de Point de Vente (POS) :</a:t>
            </a:r>
            <a:r>
              <a:rPr lang="en-US" dirty="0"/>
              <a:t> </a:t>
            </a:r>
            <a:r>
              <a:rPr lang="en-US" dirty="0" err="1"/>
              <a:t>Enregistre</a:t>
            </a:r>
            <a:r>
              <a:rPr lang="en-US" dirty="0"/>
              <a:t> les transactions de vente de billets et de concessions, </a:t>
            </a:r>
            <a:r>
              <a:rPr lang="en-US" dirty="0" err="1"/>
              <a:t>fournissant</a:t>
            </a:r>
            <a:r>
              <a:rPr lang="en-US" dirty="0"/>
              <a:t> des </a:t>
            </a:r>
            <a:r>
              <a:rPr lang="en-US" dirty="0" err="1"/>
              <a:t>données</a:t>
            </a:r>
            <a:r>
              <a:rPr lang="en-US" dirty="0"/>
              <a:t> sur les </a:t>
            </a:r>
            <a:r>
              <a:rPr lang="en-US" dirty="0" err="1"/>
              <a:t>quantités</a:t>
            </a:r>
            <a:r>
              <a:rPr lang="en-US" dirty="0"/>
              <a:t> vendues, les prix, et les </a:t>
            </a:r>
            <a:r>
              <a:rPr lang="en-US" dirty="0" err="1"/>
              <a:t>heures</a:t>
            </a:r>
            <a:r>
              <a:rPr lang="en-US" dirty="0"/>
              <a:t> des transactions.</a:t>
            </a:r>
          </a:p>
          <a:p>
            <a:pPr marL="285750" indent="-285750">
              <a:buFont typeface="Arial" panose="020B0604020202020204" pitchFamily="34" charset="0"/>
              <a:buChar char="•"/>
            </a:pPr>
            <a:r>
              <a:rPr lang="en-US" b="1" dirty="0" err="1"/>
              <a:t>Système</a:t>
            </a:r>
            <a:r>
              <a:rPr lang="en-US" b="1" dirty="0"/>
              <a:t> de Gestion des Clients (CRM) :</a:t>
            </a:r>
            <a:r>
              <a:rPr lang="en-US" dirty="0"/>
              <a:t> </a:t>
            </a:r>
            <a:r>
              <a:rPr lang="en-US" dirty="0" err="1"/>
              <a:t>Contient</a:t>
            </a:r>
            <a:r>
              <a:rPr lang="en-US" dirty="0"/>
              <a:t> des </a:t>
            </a:r>
            <a:r>
              <a:rPr lang="en-US" dirty="0" err="1"/>
              <a:t>informations</a:t>
            </a:r>
            <a:r>
              <a:rPr lang="en-US" dirty="0"/>
              <a:t> sur les clients, </a:t>
            </a:r>
            <a:r>
              <a:rPr lang="en-US" dirty="0" err="1"/>
              <a:t>telles</a:t>
            </a:r>
            <a:r>
              <a:rPr lang="en-US" dirty="0"/>
              <a:t> que les </a:t>
            </a:r>
            <a:r>
              <a:rPr lang="en-US" dirty="0" err="1"/>
              <a:t>données</a:t>
            </a:r>
            <a:r>
              <a:rPr lang="en-US" dirty="0"/>
              <a:t> de contact, les </a:t>
            </a:r>
            <a:r>
              <a:rPr lang="en-US" dirty="0" err="1"/>
              <a:t>préférences</a:t>
            </a:r>
            <a:r>
              <a:rPr lang="en-US" dirty="0"/>
              <a:t> de films, et </a:t>
            </a:r>
            <a:r>
              <a:rPr lang="en-US" dirty="0" err="1"/>
              <a:t>l'historique</a:t>
            </a:r>
            <a:r>
              <a:rPr lang="en-US" dirty="0"/>
              <a:t> des </a:t>
            </a:r>
            <a:r>
              <a:rPr lang="en-US" dirty="0" err="1"/>
              <a:t>achats</a:t>
            </a:r>
            <a:r>
              <a:rPr lang="en-US" dirty="0"/>
              <a:t>.</a:t>
            </a:r>
          </a:p>
          <a:p>
            <a:pPr marL="285750" indent="-285750">
              <a:buFont typeface="Arial" panose="020B0604020202020204" pitchFamily="34" charset="0"/>
              <a:buChar char="•"/>
            </a:pPr>
            <a:r>
              <a:rPr lang="en-US" b="1" dirty="0" err="1"/>
              <a:t>Système</a:t>
            </a:r>
            <a:r>
              <a:rPr lang="en-US" b="1" dirty="0"/>
              <a:t> de Gestion des Salles :</a:t>
            </a:r>
            <a:r>
              <a:rPr lang="en-US" dirty="0"/>
              <a:t> </a:t>
            </a:r>
            <a:r>
              <a:rPr lang="en-US" dirty="0" err="1"/>
              <a:t>Détient</a:t>
            </a:r>
            <a:r>
              <a:rPr lang="en-US" dirty="0"/>
              <a:t> des </a:t>
            </a:r>
            <a:r>
              <a:rPr lang="en-US" dirty="0" err="1"/>
              <a:t>informations</a:t>
            </a:r>
            <a:r>
              <a:rPr lang="en-US" dirty="0"/>
              <a:t> sur les </a:t>
            </a:r>
            <a:r>
              <a:rPr lang="en-US" dirty="0" err="1"/>
              <a:t>caractéristiques</a:t>
            </a:r>
            <a:r>
              <a:rPr lang="en-US" dirty="0"/>
              <a:t> des salles, </a:t>
            </a:r>
            <a:r>
              <a:rPr lang="en-US" dirty="0" err="1"/>
              <a:t>comme</a:t>
            </a:r>
            <a:r>
              <a:rPr lang="en-US" dirty="0"/>
              <a:t> le </a:t>
            </a:r>
            <a:r>
              <a:rPr lang="en-US" dirty="0" err="1"/>
              <a:t>nombre</a:t>
            </a:r>
            <a:r>
              <a:rPr lang="en-US" dirty="0"/>
              <a:t> et le type de </a:t>
            </a:r>
            <a:r>
              <a:rPr lang="en-US" dirty="0" err="1"/>
              <a:t>sièges</a:t>
            </a:r>
            <a:r>
              <a:rPr lang="en-US" dirty="0"/>
              <a:t>, </a:t>
            </a:r>
            <a:r>
              <a:rPr lang="en-US" dirty="0" err="1"/>
              <a:t>ainsi</a:t>
            </a:r>
            <a:r>
              <a:rPr lang="en-US" dirty="0"/>
              <a:t> que les emplacements des </a:t>
            </a:r>
            <a:r>
              <a:rPr lang="en-US" dirty="0" err="1"/>
              <a:t>cinémas</a:t>
            </a:r>
            <a:r>
              <a:rPr lang="en-US" dirty="0"/>
              <a:t>.</a:t>
            </a:r>
          </a:p>
          <a:p>
            <a:pPr marL="285750" indent="-285750">
              <a:buFont typeface="Arial" panose="020B0604020202020204" pitchFamily="34" charset="0"/>
              <a:buChar char="•"/>
            </a:pPr>
            <a:r>
              <a:rPr lang="en-US" b="1" dirty="0"/>
              <a:t>Base de </a:t>
            </a:r>
            <a:r>
              <a:rPr lang="en-US" b="1" dirty="0" err="1"/>
              <a:t>Données</a:t>
            </a:r>
            <a:r>
              <a:rPr lang="en-US" b="1" dirty="0"/>
              <a:t> des Films :</a:t>
            </a:r>
            <a:r>
              <a:rPr lang="en-US" dirty="0"/>
              <a:t> </a:t>
            </a:r>
            <a:r>
              <a:rPr lang="en-US" dirty="0" err="1"/>
              <a:t>Inclut</a:t>
            </a:r>
            <a:r>
              <a:rPr lang="en-US" dirty="0"/>
              <a:t> des </a:t>
            </a:r>
            <a:r>
              <a:rPr lang="en-US" dirty="0" err="1"/>
              <a:t>détails</a:t>
            </a:r>
            <a:r>
              <a:rPr lang="en-US" dirty="0"/>
              <a:t> sur les films </a:t>
            </a:r>
            <a:r>
              <a:rPr lang="en-US" dirty="0" err="1"/>
              <a:t>projetés</a:t>
            </a:r>
            <a:r>
              <a:rPr lang="en-US" dirty="0"/>
              <a:t>, </a:t>
            </a:r>
            <a:r>
              <a:rPr lang="en-US" dirty="0" err="1"/>
              <a:t>tels</a:t>
            </a:r>
            <a:r>
              <a:rPr lang="en-US" dirty="0"/>
              <a:t> que les </a:t>
            </a:r>
            <a:r>
              <a:rPr lang="en-US" dirty="0" err="1"/>
              <a:t>titres</a:t>
            </a:r>
            <a:r>
              <a:rPr lang="en-US" dirty="0"/>
              <a:t>, les genres, les </a:t>
            </a:r>
            <a:r>
              <a:rPr lang="en-US" dirty="0" err="1"/>
              <a:t>durées</a:t>
            </a:r>
            <a:r>
              <a:rPr lang="en-US" dirty="0"/>
              <a:t>, et les </a:t>
            </a:r>
            <a:r>
              <a:rPr lang="en-US" dirty="0" err="1"/>
              <a:t>classements</a:t>
            </a:r>
            <a:r>
              <a:rPr lang="en-US" dirty="0"/>
              <a:t> </a:t>
            </a:r>
            <a:r>
              <a:rPr lang="en-US" dirty="0" err="1"/>
              <a:t>d'âge</a:t>
            </a:r>
            <a:r>
              <a:rPr lang="en-US" dirty="0"/>
              <a:t>.</a:t>
            </a:r>
          </a:p>
        </p:txBody>
      </p:sp>
    </p:spTree>
    <p:extLst>
      <p:ext uri="{BB962C8B-B14F-4D97-AF65-F5344CB8AC3E}">
        <p14:creationId xmlns:p14="http://schemas.microsoft.com/office/powerpoint/2010/main" xmlns="" val="34222918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dirty="0"/>
              <a:t>4. Extraction, Transformation et Chargement (ETL)</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574249"/>
            <a:ext cx="9877926" cy="2950038"/>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t>Objectif :</a:t>
            </a:r>
            <a:r>
              <a:rPr lang="en-US" dirty="0"/>
              <a:t> </a:t>
            </a:r>
            <a:r>
              <a:rPr lang="en-US" dirty="0" err="1"/>
              <a:t>Collecter</a:t>
            </a:r>
            <a:r>
              <a:rPr lang="en-US" dirty="0"/>
              <a:t> les </a:t>
            </a:r>
            <a:r>
              <a:rPr lang="en-US" dirty="0" err="1"/>
              <a:t>données</a:t>
            </a:r>
            <a:r>
              <a:rPr lang="en-US" dirty="0"/>
              <a:t> </a:t>
            </a:r>
            <a:r>
              <a:rPr lang="en-US" dirty="0" err="1"/>
              <a:t>nécessaires</a:t>
            </a:r>
            <a:r>
              <a:rPr lang="en-US" dirty="0"/>
              <a:t> </a:t>
            </a:r>
            <a:r>
              <a:rPr lang="en-US" dirty="0" err="1"/>
              <a:t>à</a:t>
            </a:r>
            <a:r>
              <a:rPr lang="en-US" dirty="0"/>
              <a:t> </a:t>
            </a:r>
            <a:r>
              <a:rPr lang="en-US" dirty="0" err="1"/>
              <a:t>partir</a:t>
            </a:r>
            <a:r>
              <a:rPr lang="en-US" dirty="0"/>
              <a:t> des sources </a:t>
            </a:r>
            <a:r>
              <a:rPr lang="en-US" dirty="0" err="1"/>
              <a:t>identifiées</a:t>
            </a:r>
            <a:r>
              <a:rPr lang="en-US" dirty="0"/>
              <a:t>, </a:t>
            </a:r>
            <a:r>
              <a:rPr lang="en-US" dirty="0" err="1"/>
              <a:t>telles</a:t>
            </a:r>
            <a:r>
              <a:rPr lang="en-US" dirty="0"/>
              <a:t> que le </a:t>
            </a:r>
            <a:r>
              <a:rPr lang="en-US" dirty="0" err="1"/>
              <a:t>système</a:t>
            </a:r>
            <a:r>
              <a:rPr lang="en-US" dirty="0"/>
              <a:t> de Point de Vente (POS), le </a:t>
            </a:r>
            <a:r>
              <a:rPr lang="en-US" dirty="0" err="1"/>
              <a:t>système</a:t>
            </a:r>
            <a:r>
              <a:rPr lang="en-US" dirty="0"/>
              <a:t> de Gestion des Clients (CRM), le </a:t>
            </a:r>
            <a:r>
              <a:rPr lang="en-US" dirty="0" err="1"/>
              <a:t>système</a:t>
            </a:r>
            <a:r>
              <a:rPr lang="en-US" dirty="0"/>
              <a:t> de Gestion des Salles, et la base de </a:t>
            </a:r>
            <a:r>
              <a:rPr lang="en-US" dirty="0" err="1"/>
              <a:t>données</a:t>
            </a:r>
            <a:r>
              <a:rPr lang="en-US" dirty="0"/>
              <a:t> des Films.</a:t>
            </a:r>
          </a:p>
          <a:p>
            <a:pPr algn="just">
              <a:lnSpc>
                <a:spcPct val="150000"/>
              </a:lnSpc>
              <a:buFont typeface="Arial" panose="020B0604020202020204" pitchFamily="34" charset="0"/>
              <a:buChar char="•"/>
            </a:pPr>
            <a:endParaRPr lang="en-US" dirty="0"/>
          </a:p>
          <a:p>
            <a:pPr algn="just">
              <a:lnSpc>
                <a:spcPct val="150000"/>
              </a:lnSpc>
              <a:buFont typeface="Arial" panose="020B0604020202020204" pitchFamily="34" charset="0"/>
              <a:buChar char="•"/>
            </a:pPr>
            <a:r>
              <a:rPr lang="en-US" b="1" dirty="0"/>
              <a:t>Action :</a:t>
            </a:r>
            <a:r>
              <a:rPr lang="en-US" dirty="0"/>
              <a:t> Les </a:t>
            </a:r>
            <a:r>
              <a:rPr lang="en-US" dirty="0" err="1"/>
              <a:t>données</a:t>
            </a:r>
            <a:r>
              <a:rPr lang="en-US" dirty="0"/>
              <a:t> </a:t>
            </a:r>
            <a:r>
              <a:rPr lang="en-US" dirty="0" err="1"/>
              <a:t>sont</a:t>
            </a:r>
            <a:r>
              <a:rPr lang="en-US" dirty="0"/>
              <a:t> </a:t>
            </a:r>
            <a:r>
              <a:rPr lang="en-US" dirty="0" err="1"/>
              <a:t>extraites</a:t>
            </a:r>
            <a:r>
              <a:rPr lang="en-US" dirty="0"/>
              <a:t> de </a:t>
            </a:r>
            <a:r>
              <a:rPr lang="en-US" dirty="0" err="1"/>
              <a:t>ces</a:t>
            </a:r>
            <a:r>
              <a:rPr lang="en-US" dirty="0"/>
              <a:t> </a:t>
            </a:r>
            <a:r>
              <a:rPr lang="en-US" dirty="0" err="1"/>
              <a:t>systèmes</a:t>
            </a:r>
            <a:r>
              <a:rPr lang="en-US" dirty="0"/>
              <a:t>, </a:t>
            </a:r>
            <a:r>
              <a:rPr lang="en-US" dirty="0" err="1"/>
              <a:t>souvent</a:t>
            </a:r>
            <a:r>
              <a:rPr lang="en-US" dirty="0"/>
              <a:t> dans </a:t>
            </a:r>
            <a:r>
              <a:rPr lang="en-US" dirty="0" err="1"/>
              <a:t>leur</a:t>
            </a:r>
            <a:r>
              <a:rPr lang="en-US" dirty="0"/>
              <a:t> format brut, sans modification. </a:t>
            </a:r>
            <a:r>
              <a:rPr lang="en-US" dirty="0" err="1"/>
              <a:t>L'extraction</a:t>
            </a:r>
            <a:r>
              <a:rPr lang="en-US" dirty="0"/>
              <a:t> </a:t>
            </a:r>
            <a:r>
              <a:rPr lang="en-US" dirty="0" err="1"/>
              <a:t>peut</a:t>
            </a:r>
            <a:r>
              <a:rPr lang="en-US" dirty="0"/>
              <a:t> </a:t>
            </a:r>
            <a:r>
              <a:rPr lang="en-US" dirty="0" err="1"/>
              <a:t>être</a:t>
            </a:r>
            <a:r>
              <a:rPr lang="en-US" dirty="0"/>
              <a:t> </a:t>
            </a:r>
            <a:r>
              <a:rPr lang="en-US" dirty="0" err="1"/>
              <a:t>réalisée</a:t>
            </a:r>
            <a:r>
              <a:rPr lang="en-US" dirty="0"/>
              <a:t> </a:t>
            </a:r>
            <a:r>
              <a:rPr lang="en-US" dirty="0" err="1"/>
              <a:t>en</a:t>
            </a:r>
            <a:r>
              <a:rPr lang="en-US" dirty="0"/>
              <a:t> temps </a:t>
            </a:r>
            <a:r>
              <a:rPr lang="en-US" dirty="0" err="1"/>
              <a:t>réel</a:t>
            </a:r>
            <a:r>
              <a:rPr lang="en-US" dirty="0"/>
              <a:t>, </a:t>
            </a:r>
            <a:r>
              <a:rPr lang="en-US" dirty="0" err="1"/>
              <a:t>à</a:t>
            </a:r>
            <a:r>
              <a:rPr lang="en-US" dirty="0"/>
              <a:t> </a:t>
            </a:r>
            <a:r>
              <a:rPr lang="en-US" dirty="0" err="1"/>
              <a:t>intervalles</a:t>
            </a:r>
            <a:r>
              <a:rPr lang="en-US" dirty="0"/>
              <a:t> </a:t>
            </a:r>
            <a:r>
              <a:rPr lang="en-US" dirty="0" err="1"/>
              <a:t>réguliers</a:t>
            </a:r>
            <a:r>
              <a:rPr lang="en-US" dirty="0"/>
              <a:t>, </a:t>
            </a:r>
            <a:r>
              <a:rPr lang="en-US" dirty="0" err="1"/>
              <a:t>ou</a:t>
            </a:r>
            <a:r>
              <a:rPr lang="en-US" dirty="0"/>
              <a:t> sur </a:t>
            </a:r>
            <a:r>
              <a:rPr lang="en-US" dirty="0" err="1"/>
              <a:t>demande</a:t>
            </a:r>
            <a:r>
              <a:rPr lang="en-US" dirty="0"/>
              <a:t>, </a:t>
            </a:r>
            <a:r>
              <a:rPr lang="en-US" dirty="0" err="1"/>
              <a:t>en</a:t>
            </a:r>
            <a:r>
              <a:rPr lang="en-US" dirty="0"/>
              <a:t> </a:t>
            </a:r>
            <a:r>
              <a:rPr lang="en-US" dirty="0" err="1"/>
              <a:t>fonction</a:t>
            </a:r>
            <a:r>
              <a:rPr lang="en-US" dirty="0"/>
              <a:t> des </a:t>
            </a:r>
            <a:r>
              <a:rPr lang="en-US" dirty="0" err="1"/>
              <a:t>besoins</a:t>
            </a:r>
            <a:r>
              <a:rPr lang="en-US" dirty="0"/>
              <a:t> </a:t>
            </a:r>
            <a:r>
              <a:rPr lang="en-US" dirty="0" err="1"/>
              <a:t>d'analyse</a:t>
            </a:r>
            <a:r>
              <a:rPr lang="en-US" dirty="0"/>
              <a:t> de "</a:t>
            </a:r>
            <a:r>
              <a:rPr lang="en-US" dirty="0" err="1"/>
              <a:t>CineMax</a:t>
            </a:r>
            <a:r>
              <a:rPr lang="en-US" dirty="0"/>
              <a:t>".</a:t>
            </a:r>
          </a:p>
        </p:txBody>
      </p:sp>
    </p:spTree>
    <p:extLst>
      <p:ext uri="{BB962C8B-B14F-4D97-AF65-F5344CB8AC3E}">
        <p14:creationId xmlns:p14="http://schemas.microsoft.com/office/powerpoint/2010/main" xmlns="" val="28485882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dirty="0"/>
              <a:t>4. Extraction, Transformation et Chargement (ETL)</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6" y="3574249"/>
            <a:ext cx="10326751" cy="2950038"/>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t>Objectif :</a:t>
            </a:r>
            <a:r>
              <a:rPr lang="en-US" dirty="0"/>
              <a:t> </a:t>
            </a:r>
            <a:r>
              <a:rPr lang="en-US" dirty="0" err="1"/>
              <a:t>Collecter</a:t>
            </a:r>
            <a:r>
              <a:rPr lang="en-US" dirty="0"/>
              <a:t> les </a:t>
            </a:r>
            <a:r>
              <a:rPr lang="en-US" dirty="0" err="1"/>
              <a:t>données</a:t>
            </a:r>
            <a:r>
              <a:rPr lang="en-US" dirty="0"/>
              <a:t> </a:t>
            </a:r>
            <a:r>
              <a:rPr lang="en-US" dirty="0" err="1"/>
              <a:t>nécessaires</a:t>
            </a:r>
            <a:r>
              <a:rPr lang="en-US" dirty="0"/>
              <a:t> </a:t>
            </a:r>
            <a:r>
              <a:rPr lang="en-US" dirty="0" err="1"/>
              <a:t>à</a:t>
            </a:r>
            <a:r>
              <a:rPr lang="en-US" dirty="0"/>
              <a:t> </a:t>
            </a:r>
            <a:r>
              <a:rPr lang="en-US" dirty="0" err="1"/>
              <a:t>partir</a:t>
            </a:r>
            <a:r>
              <a:rPr lang="en-US" dirty="0"/>
              <a:t> des sources </a:t>
            </a:r>
            <a:r>
              <a:rPr lang="en-US" dirty="0" err="1"/>
              <a:t>identifiées</a:t>
            </a:r>
            <a:r>
              <a:rPr lang="en-US" dirty="0"/>
              <a:t>, </a:t>
            </a:r>
            <a:r>
              <a:rPr lang="en-US" dirty="0" err="1"/>
              <a:t>telles</a:t>
            </a:r>
            <a:r>
              <a:rPr lang="en-US" dirty="0"/>
              <a:t> que le </a:t>
            </a:r>
            <a:r>
              <a:rPr lang="en-US" dirty="0" err="1"/>
              <a:t>système</a:t>
            </a:r>
            <a:r>
              <a:rPr lang="en-US" dirty="0"/>
              <a:t> de Point de Vente (POS), le </a:t>
            </a:r>
            <a:r>
              <a:rPr lang="en-US" dirty="0" err="1"/>
              <a:t>système</a:t>
            </a:r>
            <a:r>
              <a:rPr lang="en-US" dirty="0"/>
              <a:t> de Gestion des Clients (CRM), le </a:t>
            </a:r>
            <a:r>
              <a:rPr lang="en-US" dirty="0" err="1"/>
              <a:t>système</a:t>
            </a:r>
            <a:r>
              <a:rPr lang="en-US" dirty="0"/>
              <a:t> de Gestion des Salles, et la base de </a:t>
            </a:r>
            <a:r>
              <a:rPr lang="en-US" dirty="0" err="1"/>
              <a:t>données</a:t>
            </a:r>
            <a:r>
              <a:rPr lang="en-US" dirty="0"/>
              <a:t> des Films.</a:t>
            </a:r>
          </a:p>
          <a:p>
            <a:pPr algn="just">
              <a:lnSpc>
                <a:spcPct val="150000"/>
              </a:lnSpc>
              <a:buFont typeface="Arial" panose="020B0604020202020204" pitchFamily="34" charset="0"/>
              <a:buChar char="•"/>
            </a:pPr>
            <a:endParaRPr lang="en-US" dirty="0"/>
          </a:p>
          <a:p>
            <a:pPr algn="just">
              <a:lnSpc>
                <a:spcPct val="150000"/>
              </a:lnSpc>
              <a:buFont typeface="Arial" panose="020B0604020202020204" pitchFamily="34" charset="0"/>
              <a:buChar char="•"/>
            </a:pPr>
            <a:r>
              <a:rPr lang="en-US" b="1" dirty="0"/>
              <a:t>Action :</a:t>
            </a:r>
            <a:r>
              <a:rPr lang="en-US" dirty="0"/>
              <a:t> Les </a:t>
            </a:r>
            <a:r>
              <a:rPr lang="en-US" dirty="0" err="1"/>
              <a:t>données</a:t>
            </a:r>
            <a:r>
              <a:rPr lang="en-US" dirty="0"/>
              <a:t> </a:t>
            </a:r>
            <a:r>
              <a:rPr lang="en-US" dirty="0" err="1"/>
              <a:t>sont</a:t>
            </a:r>
            <a:r>
              <a:rPr lang="en-US" dirty="0"/>
              <a:t> </a:t>
            </a:r>
            <a:r>
              <a:rPr lang="en-US" dirty="0" err="1"/>
              <a:t>extraites</a:t>
            </a:r>
            <a:r>
              <a:rPr lang="en-US" dirty="0"/>
              <a:t> de </a:t>
            </a:r>
            <a:r>
              <a:rPr lang="en-US" dirty="0" err="1"/>
              <a:t>ces</a:t>
            </a:r>
            <a:r>
              <a:rPr lang="en-US" dirty="0"/>
              <a:t> </a:t>
            </a:r>
            <a:r>
              <a:rPr lang="en-US" dirty="0" err="1"/>
              <a:t>systèmes</a:t>
            </a:r>
            <a:r>
              <a:rPr lang="en-US" dirty="0"/>
              <a:t>, </a:t>
            </a:r>
            <a:r>
              <a:rPr lang="en-US" dirty="0" err="1"/>
              <a:t>souvent</a:t>
            </a:r>
            <a:r>
              <a:rPr lang="en-US" dirty="0"/>
              <a:t> dans </a:t>
            </a:r>
            <a:r>
              <a:rPr lang="en-US" dirty="0" err="1"/>
              <a:t>leur</a:t>
            </a:r>
            <a:r>
              <a:rPr lang="en-US" dirty="0"/>
              <a:t> format brut, sans modification. </a:t>
            </a:r>
            <a:r>
              <a:rPr lang="en-US" dirty="0" err="1"/>
              <a:t>L'extraction</a:t>
            </a:r>
            <a:r>
              <a:rPr lang="en-US" dirty="0"/>
              <a:t> </a:t>
            </a:r>
            <a:r>
              <a:rPr lang="en-US" dirty="0" err="1"/>
              <a:t>peut</a:t>
            </a:r>
            <a:r>
              <a:rPr lang="en-US" dirty="0"/>
              <a:t> </a:t>
            </a:r>
            <a:r>
              <a:rPr lang="en-US" dirty="0" err="1"/>
              <a:t>être</a:t>
            </a:r>
            <a:r>
              <a:rPr lang="en-US" dirty="0"/>
              <a:t> </a:t>
            </a:r>
            <a:r>
              <a:rPr lang="en-US" dirty="0" err="1"/>
              <a:t>réalisée</a:t>
            </a:r>
            <a:r>
              <a:rPr lang="en-US" dirty="0"/>
              <a:t> </a:t>
            </a:r>
            <a:r>
              <a:rPr lang="en-US" dirty="0" err="1"/>
              <a:t>en</a:t>
            </a:r>
            <a:r>
              <a:rPr lang="en-US" dirty="0"/>
              <a:t> temps </a:t>
            </a:r>
            <a:r>
              <a:rPr lang="en-US" dirty="0" err="1"/>
              <a:t>réel</a:t>
            </a:r>
            <a:r>
              <a:rPr lang="en-US" dirty="0"/>
              <a:t>, </a:t>
            </a:r>
            <a:r>
              <a:rPr lang="en-US" dirty="0" err="1"/>
              <a:t>à</a:t>
            </a:r>
            <a:r>
              <a:rPr lang="en-US" dirty="0"/>
              <a:t> </a:t>
            </a:r>
            <a:r>
              <a:rPr lang="en-US" dirty="0" err="1"/>
              <a:t>intervalles</a:t>
            </a:r>
            <a:r>
              <a:rPr lang="en-US" dirty="0"/>
              <a:t> </a:t>
            </a:r>
            <a:r>
              <a:rPr lang="en-US" dirty="0" err="1"/>
              <a:t>réguliers</a:t>
            </a:r>
            <a:r>
              <a:rPr lang="en-US" dirty="0"/>
              <a:t>, </a:t>
            </a:r>
            <a:r>
              <a:rPr lang="en-US" dirty="0" err="1"/>
              <a:t>ou</a:t>
            </a:r>
            <a:r>
              <a:rPr lang="en-US" dirty="0"/>
              <a:t> sur </a:t>
            </a:r>
            <a:r>
              <a:rPr lang="en-US" dirty="0" err="1"/>
              <a:t>demande</a:t>
            </a:r>
            <a:r>
              <a:rPr lang="en-US" dirty="0"/>
              <a:t>, </a:t>
            </a:r>
            <a:r>
              <a:rPr lang="en-US" dirty="0" err="1"/>
              <a:t>en</a:t>
            </a:r>
            <a:r>
              <a:rPr lang="en-US" dirty="0"/>
              <a:t> </a:t>
            </a:r>
            <a:r>
              <a:rPr lang="en-US" dirty="0" err="1"/>
              <a:t>fonction</a:t>
            </a:r>
            <a:r>
              <a:rPr lang="en-US" dirty="0"/>
              <a:t> des </a:t>
            </a:r>
            <a:r>
              <a:rPr lang="en-US" dirty="0" err="1"/>
              <a:t>besoins</a:t>
            </a:r>
            <a:r>
              <a:rPr lang="en-US" dirty="0"/>
              <a:t> </a:t>
            </a:r>
            <a:r>
              <a:rPr lang="en-US" dirty="0" err="1"/>
              <a:t>d'analyse</a:t>
            </a:r>
            <a:r>
              <a:rPr lang="en-US" dirty="0"/>
              <a:t> de "</a:t>
            </a:r>
            <a:r>
              <a:rPr lang="en-US" dirty="0" err="1"/>
              <a:t>CineMax</a:t>
            </a:r>
            <a:r>
              <a:rPr lang="en-US" dirty="0"/>
              <a:t>".</a:t>
            </a:r>
          </a:p>
        </p:txBody>
      </p:sp>
    </p:spTree>
    <p:extLst>
      <p:ext uri="{BB962C8B-B14F-4D97-AF65-F5344CB8AC3E}">
        <p14:creationId xmlns:p14="http://schemas.microsoft.com/office/powerpoint/2010/main" xmlns="" val="18522516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fr-FR" b="1" dirty="0"/>
              <a:t>4. Extraction, Transformation et Chargement (ETL)</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332203"/>
            <a:ext cx="10407434" cy="3231654"/>
          </a:xfrm>
          <a:prstGeom prst="rect">
            <a:avLst/>
          </a:prstGeom>
          <a:noFill/>
        </p:spPr>
        <p:txBody>
          <a:bodyPr wrap="square">
            <a:spAutoFit/>
          </a:bodyPr>
          <a:lstStyle/>
          <a:p>
            <a:pPr algn="just">
              <a:buFont typeface="Arial" panose="020B0604020202020204" pitchFamily="34" charset="0"/>
              <a:buChar char="•"/>
            </a:pPr>
            <a:r>
              <a:rPr lang="en-US" sz="1700" b="1" dirty="0"/>
              <a:t>Objectif :</a:t>
            </a:r>
            <a:r>
              <a:rPr lang="en-US" sz="1700" dirty="0"/>
              <a:t> </a:t>
            </a:r>
            <a:r>
              <a:rPr lang="en-US" sz="1700" dirty="0" err="1"/>
              <a:t>Nettoyer</a:t>
            </a:r>
            <a:r>
              <a:rPr lang="en-US" sz="1700" dirty="0"/>
              <a:t>, </a:t>
            </a:r>
            <a:r>
              <a:rPr lang="en-US" sz="1700" dirty="0" err="1"/>
              <a:t>normaliser</a:t>
            </a:r>
            <a:r>
              <a:rPr lang="en-US" sz="1700" dirty="0"/>
              <a:t>, </a:t>
            </a:r>
            <a:r>
              <a:rPr lang="en-US" sz="1700" dirty="0" err="1"/>
              <a:t>enrichir</a:t>
            </a:r>
            <a:r>
              <a:rPr lang="en-US" sz="1700" dirty="0"/>
              <a:t> et restructurer les </a:t>
            </a:r>
            <a:r>
              <a:rPr lang="en-US" sz="1700" dirty="0" err="1"/>
              <a:t>données</a:t>
            </a:r>
            <a:r>
              <a:rPr lang="en-US" sz="1700" dirty="0"/>
              <a:t> </a:t>
            </a:r>
            <a:r>
              <a:rPr lang="en-US" sz="1700" dirty="0" err="1"/>
              <a:t>extraites</a:t>
            </a:r>
            <a:r>
              <a:rPr lang="en-US" sz="1700" dirty="0"/>
              <a:t> pour </a:t>
            </a:r>
            <a:r>
              <a:rPr lang="en-US" sz="1700" dirty="0" err="1"/>
              <a:t>qu'elles</a:t>
            </a:r>
            <a:r>
              <a:rPr lang="en-US" sz="1700" dirty="0"/>
              <a:t> </a:t>
            </a:r>
            <a:r>
              <a:rPr lang="en-US" sz="1700" dirty="0" err="1"/>
              <a:t>soient</a:t>
            </a:r>
            <a:r>
              <a:rPr lang="en-US" sz="1700" dirty="0"/>
              <a:t> </a:t>
            </a:r>
            <a:r>
              <a:rPr lang="en-US" sz="1700" dirty="0" err="1"/>
              <a:t>cohérentes</a:t>
            </a:r>
            <a:r>
              <a:rPr lang="en-US" sz="1700" dirty="0"/>
              <a:t>, précises et </a:t>
            </a:r>
            <a:r>
              <a:rPr lang="en-US" sz="1700" dirty="0" err="1"/>
              <a:t>prêtes</a:t>
            </a:r>
            <a:r>
              <a:rPr lang="en-US" sz="1700" dirty="0"/>
              <a:t> pour </a:t>
            </a:r>
            <a:r>
              <a:rPr lang="en-US" sz="1700" dirty="0" err="1"/>
              <a:t>l'analyse</a:t>
            </a:r>
            <a:r>
              <a:rPr lang="en-US" sz="1700" dirty="0"/>
              <a:t>.</a:t>
            </a:r>
          </a:p>
          <a:p>
            <a:pPr algn="just">
              <a:buFont typeface="Arial" panose="020B0604020202020204" pitchFamily="34" charset="0"/>
              <a:buChar char="•"/>
            </a:pPr>
            <a:r>
              <a:rPr lang="en-US" sz="1700" b="1" dirty="0"/>
              <a:t>Actions :</a:t>
            </a:r>
            <a:endParaRPr lang="en-US" sz="1700" dirty="0"/>
          </a:p>
          <a:p>
            <a:pPr marL="742950" lvl="1" indent="-285750" algn="just">
              <a:buFont typeface="Arial" panose="020B0604020202020204" pitchFamily="34" charset="0"/>
              <a:buChar char="•"/>
            </a:pPr>
            <a:r>
              <a:rPr lang="en-US" sz="1700" b="1" dirty="0" err="1"/>
              <a:t>Nettoyage</a:t>
            </a:r>
            <a:r>
              <a:rPr lang="en-US" sz="1700" b="1" dirty="0"/>
              <a:t> :</a:t>
            </a:r>
            <a:r>
              <a:rPr lang="en-US" sz="1700" dirty="0"/>
              <a:t> Correction des </a:t>
            </a:r>
            <a:r>
              <a:rPr lang="en-US" sz="1700" dirty="0" err="1"/>
              <a:t>erreurs</a:t>
            </a:r>
            <a:r>
              <a:rPr lang="en-US" sz="1700" dirty="0"/>
              <a:t>, suppression des </a:t>
            </a:r>
            <a:r>
              <a:rPr lang="en-US" sz="1700" dirty="0" err="1"/>
              <a:t>doublons</a:t>
            </a:r>
            <a:r>
              <a:rPr lang="en-US" sz="1700" dirty="0"/>
              <a:t>, et gestion des </a:t>
            </a:r>
            <a:r>
              <a:rPr lang="en-US" sz="1700" dirty="0" err="1"/>
              <a:t>valeurs</a:t>
            </a:r>
            <a:r>
              <a:rPr lang="en-US" sz="1700" dirty="0"/>
              <a:t> </a:t>
            </a:r>
            <a:r>
              <a:rPr lang="en-US" sz="1700" dirty="0" err="1"/>
              <a:t>manquantes</a:t>
            </a:r>
            <a:r>
              <a:rPr lang="en-US" sz="1700" dirty="0"/>
              <a:t> </a:t>
            </a:r>
            <a:r>
              <a:rPr lang="en-US" sz="1700" dirty="0" err="1"/>
              <a:t>ou</a:t>
            </a:r>
            <a:r>
              <a:rPr lang="en-US" sz="1700" dirty="0"/>
              <a:t> </a:t>
            </a:r>
            <a:r>
              <a:rPr lang="en-US" sz="1700" dirty="0" err="1"/>
              <a:t>aberrantes</a:t>
            </a:r>
            <a:r>
              <a:rPr lang="en-US" sz="1700" dirty="0"/>
              <a:t>.</a:t>
            </a:r>
          </a:p>
          <a:p>
            <a:pPr marL="742950" lvl="1" indent="-285750" algn="just">
              <a:buFont typeface="Arial" panose="020B0604020202020204" pitchFamily="34" charset="0"/>
              <a:buChar char="•"/>
            </a:pPr>
            <a:r>
              <a:rPr lang="en-US" sz="1700" b="1" dirty="0" err="1"/>
              <a:t>Normalisation</a:t>
            </a:r>
            <a:r>
              <a:rPr lang="en-US" sz="1700" b="1" dirty="0"/>
              <a:t> :</a:t>
            </a:r>
            <a:r>
              <a:rPr lang="en-US" sz="1700" dirty="0"/>
              <a:t> </a:t>
            </a:r>
            <a:r>
              <a:rPr lang="en-US" sz="1700" dirty="0" err="1"/>
              <a:t>Uniformisation</a:t>
            </a:r>
            <a:r>
              <a:rPr lang="en-US" sz="1700" dirty="0"/>
              <a:t> des formats (par </a:t>
            </a:r>
            <a:r>
              <a:rPr lang="en-US" sz="1700" dirty="0" err="1"/>
              <a:t>exemple</a:t>
            </a:r>
            <a:r>
              <a:rPr lang="en-US" sz="1700" dirty="0"/>
              <a:t>, dates et </a:t>
            </a:r>
            <a:r>
              <a:rPr lang="en-US" sz="1700" dirty="0" err="1"/>
              <a:t>monnaies</a:t>
            </a:r>
            <a:r>
              <a:rPr lang="en-US" sz="1700" dirty="0"/>
              <a:t>) et des </a:t>
            </a:r>
            <a:r>
              <a:rPr lang="en-US" sz="1700" dirty="0" err="1"/>
              <a:t>valeurs</a:t>
            </a:r>
            <a:r>
              <a:rPr lang="en-US" sz="1700" dirty="0"/>
              <a:t> (par </a:t>
            </a:r>
            <a:r>
              <a:rPr lang="en-US" sz="1700" dirty="0" err="1"/>
              <a:t>exemple</a:t>
            </a:r>
            <a:r>
              <a:rPr lang="en-US" sz="1700" dirty="0"/>
              <a:t>, </a:t>
            </a:r>
            <a:r>
              <a:rPr lang="en-US" sz="1700" dirty="0" err="1"/>
              <a:t>noms</a:t>
            </a:r>
            <a:r>
              <a:rPr lang="en-US" sz="1700" dirty="0"/>
              <a:t> de films </a:t>
            </a:r>
            <a:r>
              <a:rPr lang="en-US" sz="1700" dirty="0" err="1"/>
              <a:t>ou</a:t>
            </a:r>
            <a:r>
              <a:rPr lang="en-US" sz="1700" dirty="0"/>
              <a:t> de </a:t>
            </a:r>
            <a:r>
              <a:rPr lang="en-US" sz="1700" dirty="0" err="1"/>
              <a:t>catégories</a:t>
            </a:r>
            <a:r>
              <a:rPr lang="en-US" sz="1700" dirty="0"/>
              <a:t>) pour assurer la </a:t>
            </a:r>
            <a:r>
              <a:rPr lang="en-US" sz="1700" dirty="0" err="1"/>
              <a:t>cohérence</a:t>
            </a:r>
            <a:r>
              <a:rPr lang="en-US" sz="1700" dirty="0"/>
              <a:t> </a:t>
            </a:r>
            <a:r>
              <a:rPr lang="en-US" sz="1700" dirty="0" err="1"/>
              <a:t>à</a:t>
            </a:r>
            <a:r>
              <a:rPr lang="en-US" sz="1700" dirty="0"/>
              <a:t> travers </a:t>
            </a:r>
            <a:r>
              <a:rPr lang="en-US" sz="1700" dirty="0" err="1"/>
              <a:t>toutes</a:t>
            </a:r>
            <a:r>
              <a:rPr lang="en-US" sz="1700" dirty="0"/>
              <a:t> les </a:t>
            </a:r>
            <a:r>
              <a:rPr lang="en-US" sz="1700" dirty="0" err="1"/>
              <a:t>données</a:t>
            </a:r>
            <a:r>
              <a:rPr lang="en-US" sz="1700" dirty="0"/>
              <a:t>.</a:t>
            </a:r>
          </a:p>
          <a:p>
            <a:pPr marL="742950" lvl="1" indent="-285750" algn="just">
              <a:buFont typeface="Arial" panose="020B0604020202020204" pitchFamily="34" charset="0"/>
              <a:buChar char="•"/>
            </a:pPr>
            <a:r>
              <a:rPr lang="en-US" sz="1700" b="1" dirty="0" err="1"/>
              <a:t>Enrichissement</a:t>
            </a:r>
            <a:r>
              <a:rPr lang="en-US" sz="1700" b="1" dirty="0"/>
              <a:t> :</a:t>
            </a:r>
            <a:r>
              <a:rPr lang="en-US" sz="1700" dirty="0"/>
              <a:t> </a:t>
            </a:r>
            <a:r>
              <a:rPr lang="en-US" sz="1700" dirty="0" err="1"/>
              <a:t>Ajout</a:t>
            </a:r>
            <a:r>
              <a:rPr lang="en-US" sz="1700" dirty="0"/>
              <a:t> </a:t>
            </a:r>
            <a:r>
              <a:rPr lang="en-US" sz="1700" dirty="0" err="1"/>
              <a:t>d'informations</a:t>
            </a:r>
            <a:r>
              <a:rPr lang="en-US" sz="1700" dirty="0"/>
              <a:t> </a:t>
            </a:r>
            <a:r>
              <a:rPr lang="en-US" sz="1700" dirty="0" err="1"/>
              <a:t>supplémentaires</a:t>
            </a:r>
            <a:r>
              <a:rPr lang="en-US" sz="1700" dirty="0"/>
              <a:t>, </a:t>
            </a:r>
            <a:r>
              <a:rPr lang="en-US" sz="1700" dirty="0" err="1"/>
              <a:t>telles</a:t>
            </a:r>
            <a:r>
              <a:rPr lang="en-US" sz="1700" dirty="0"/>
              <a:t> que le </a:t>
            </a:r>
            <a:r>
              <a:rPr lang="en-US" sz="1700" dirty="0" err="1"/>
              <a:t>classement</a:t>
            </a:r>
            <a:r>
              <a:rPr lang="en-US" sz="1700" dirty="0"/>
              <a:t> des films par genre </a:t>
            </a:r>
            <a:r>
              <a:rPr lang="en-US" sz="1700" dirty="0" err="1"/>
              <a:t>ou</a:t>
            </a:r>
            <a:r>
              <a:rPr lang="en-US" sz="1700" dirty="0"/>
              <a:t> la </a:t>
            </a:r>
            <a:r>
              <a:rPr lang="en-US" sz="1700" dirty="0" err="1"/>
              <a:t>catégorisation</a:t>
            </a:r>
            <a:r>
              <a:rPr lang="en-US" sz="1700" dirty="0"/>
              <a:t> des </a:t>
            </a:r>
            <a:r>
              <a:rPr lang="en-US" sz="1700" dirty="0" err="1"/>
              <a:t>produits</a:t>
            </a:r>
            <a:r>
              <a:rPr lang="en-US" sz="1700" dirty="0"/>
              <a:t> de concessions.</a:t>
            </a:r>
          </a:p>
          <a:p>
            <a:pPr marL="742950" lvl="1" indent="-285750" algn="just">
              <a:buFont typeface="Arial" panose="020B0604020202020204" pitchFamily="34" charset="0"/>
              <a:buChar char="•"/>
            </a:pPr>
            <a:r>
              <a:rPr lang="en-US" sz="1700" b="1" dirty="0"/>
              <a:t>Restructuration :</a:t>
            </a:r>
            <a:r>
              <a:rPr lang="en-US" sz="1700" dirty="0"/>
              <a:t> Modification de la structure des </a:t>
            </a:r>
            <a:r>
              <a:rPr lang="en-US" sz="1700" dirty="0" err="1"/>
              <a:t>données</a:t>
            </a:r>
            <a:r>
              <a:rPr lang="en-US" sz="1700" dirty="0"/>
              <a:t> pour </a:t>
            </a:r>
            <a:r>
              <a:rPr lang="en-US" sz="1700" dirty="0" err="1"/>
              <a:t>qu'elles</a:t>
            </a:r>
            <a:r>
              <a:rPr lang="en-US" sz="1700" dirty="0"/>
              <a:t> </a:t>
            </a:r>
            <a:r>
              <a:rPr lang="en-US" sz="1700" dirty="0" err="1"/>
              <a:t>s'alignent</a:t>
            </a:r>
            <a:r>
              <a:rPr lang="en-US" sz="1700" dirty="0"/>
              <a:t> avec le </a:t>
            </a:r>
            <a:r>
              <a:rPr lang="en-US" sz="1700" dirty="0" err="1"/>
              <a:t>modèle</a:t>
            </a:r>
            <a:r>
              <a:rPr lang="en-US" sz="1700" dirty="0"/>
              <a:t> de </a:t>
            </a:r>
            <a:r>
              <a:rPr lang="en-US" sz="1700" dirty="0" err="1"/>
              <a:t>données</a:t>
            </a:r>
            <a:r>
              <a:rPr lang="en-US" sz="1700" dirty="0"/>
              <a:t> de </a:t>
            </a:r>
            <a:r>
              <a:rPr lang="en-US" sz="1700" dirty="0" err="1"/>
              <a:t>l'entrepôt</a:t>
            </a:r>
            <a:r>
              <a:rPr lang="en-US" sz="1700" dirty="0"/>
              <a:t>, </a:t>
            </a:r>
            <a:r>
              <a:rPr lang="en-US" sz="1700" dirty="0" err="1"/>
              <a:t>incluant</a:t>
            </a:r>
            <a:r>
              <a:rPr lang="en-US" sz="1700" dirty="0"/>
              <a:t> la </a:t>
            </a:r>
            <a:r>
              <a:rPr lang="en-US" sz="1700" dirty="0" err="1"/>
              <a:t>création</a:t>
            </a:r>
            <a:r>
              <a:rPr lang="en-US" sz="1700" dirty="0"/>
              <a:t> de </a:t>
            </a:r>
            <a:r>
              <a:rPr lang="en-US" sz="1700" dirty="0" err="1"/>
              <a:t>clés</a:t>
            </a:r>
            <a:r>
              <a:rPr lang="en-US" sz="1700" dirty="0"/>
              <a:t> </a:t>
            </a:r>
            <a:r>
              <a:rPr lang="en-US" sz="1700" dirty="0" err="1"/>
              <a:t>étrangères</a:t>
            </a:r>
            <a:r>
              <a:rPr lang="en-US" sz="1700" dirty="0"/>
              <a:t> pour </a:t>
            </a:r>
            <a:r>
              <a:rPr lang="en-US" sz="1700" dirty="0" err="1"/>
              <a:t>lier</a:t>
            </a:r>
            <a:r>
              <a:rPr lang="en-US" sz="1700" dirty="0"/>
              <a:t> les tables de faits et de dimensions.</a:t>
            </a:r>
          </a:p>
        </p:txBody>
      </p:sp>
    </p:spTree>
    <p:extLst>
      <p:ext uri="{BB962C8B-B14F-4D97-AF65-F5344CB8AC3E}">
        <p14:creationId xmlns:p14="http://schemas.microsoft.com/office/powerpoint/2010/main" xmlns="" val="36158512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5. Mise </a:t>
            </a:r>
            <a:r>
              <a:rPr lang="en-US" b="1" dirty="0" err="1"/>
              <a:t>en</a:t>
            </a:r>
            <a:r>
              <a:rPr lang="en-US" b="1" dirty="0"/>
              <a:t> Place de </a:t>
            </a:r>
            <a:r>
              <a:rPr lang="en-US" b="1" dirty="0" err="1"/>
              <a:t>l'Infrastructure</a:t>
            </a:r>
            <a:r>
              <a:rPr lang="en-US" b="1" dirty="0"/>
              <a:t> Technique</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6" y="3641485"/>
            <a:ext cx="10353645" cy="2222916"/>
          </a:xfrm>
          <a:prstGeom prst="rect">
            <a:avLst/>
          </a:prstGeom>
          <a:noFill/>
        </p:spPr>
        <p:txBody>
          <a:bodyPr wrap="square">
            <a:spAutoFit/>
          </a:bodyPr>
          <a:lstStyle/>
          <a:p>
            <a:pPr algn="just">
              <a:lnSpc>
                <a:spcPct val="200000"/>
              </a:lnSpc>
              <a:buFont typeface="Arial" panose="020B0604020202020204" pitchFamily="34" charset="0"/>
              <a:buChar char="•"/>
            </a:pPr>
            <a:r>
              <a:rPr lang="en-US" b="1" dirty="0"/>
              <a:t>Objectif :</a:t>
            </a:r>
            <a:r>
              <a:rPr lang="en-US" dirty="0"/>
              <a:t> </a:t>
            </a:r>
            <a:r>
              <a:rPr lang="en-US" dirty="0" err="1"/>
              <a:t>Transférer</a:t>
            </a:r>
            <a:r>
              <a:rPr lang="en-US" dirty="0"/>
              <a:t> les </a:t>
            </a:r>
            <a:r>
              <a:rPr lang="en-US" dirty="0" err="1"/>
              <a:t>données</a:t>
            </a:r>
            <a:r>
              <a:rPr lang="en-US" dirty="0"/>
              <a:t> </a:t>
            </a:r>
            <a:r>
              <a:rPr lang="en-US" dirty="0" err="1"/>
              <a:t>transformées</a:t>
            </a:r>
            <a:r>
              <a:rPr lang="en-US" dirty="0"/>
              <a:t> dans </a:t>
            </a:r>
            <a:r>
              <a:rPr lang="en-US" dirty="0" err="1"/>
              <a:t>l'entrepôt</a:t>
            </a:r>
            <a:r>
              <a:rPr lang="en-US" dirty="0"/>
              <a:t> de </a:t>
            </a:r>
            <a:r>
              <a:rPr lang="en-US" dirty="0" err="1"/>
              <a:t>données</a:t>
            </a:r>
            <a:r>
              <a:rPr lang="en-US" dirty="0"/>
              <a:t> de "</a:t>
            </a:r>
            <a:r>
              <a:rPr lang="en-US" dirty="0" err="1"/>
              <a:t>CineMax</a:t>
            </a:r>
            <a:r>
              <a:rPr lang="en-US" dirty="0"/>
              <a:t>", </a:t>
            </a:r>
            <a:r>
              <a:rPr lang="en-US" dirty="0" err="1"/>
              <a:t>où</a:t>
            </a:r>
            <a:r>
              <a:rPr lang="en-US" dirty="0"/>
              <a:t> </a:t>
            </a:r>
            <a:r>
              <a:rPr lang="en-US" dirty="0" err="1"/>
              <a:t>elles</a:t>
            </a:r>
            <a:r>
              <a:rPr lang="en-US" dirty="0"/>
              <a:t> </a:t>
            </a:r>
            <a:r>
              <a:rPr lang="en-US" dirty="0" err="1"/>
              <a:t>peuvent</a:t>
            </a:r>
            <a:r>
              <a:rPr lang="en-US" dirty="0"/>
              <a:t> </a:t>
            </a:r>
            <a:r>
              <a:rPr lang="en-US" dirty="0" err="1"/>
              <a:t>être</a:t>
            </a:r>
            <a:r>
              <a:rPr lang="en-US" dirty="0"/>
              <a:t> </a:t>
            </a:r>
            <a:r>
              <a:rPr lang="en-US" dirty="0" err="1"/>
              <a:t>stockées</a:t>
            </a:r>
            <a:r>
              <a:rPr lang="en-US" dirty="0"/>
              <a:t>, </a:t>
            </a:r>
            <a:r>
              <a:rPr lang="en-US" dirty="0" err="1"/>
              <a:t>gérées</a:t>
            </a:r>
            <a:r>
              <a:rPr lang="en-US" dirty="0"/>
              <a:t> et </a:t>
            </a:r>
            <a:r>
              <a:rPr lang="en-US" dirty="0" err="1"/>
              <a:t>analysées</a:t>
            </a:r>
            <a:r>
              <a:rPr lang="en-US" dirty="0"/>
              <a:t>.</a:t>
            </a:r>
          </a:p>
          <a:p>
            <a:pPr algn="just">
              <a:lnSpc>
                <a:spcPct val="200000"/>
              </a:lnSpc>
              <a:buFont typeface="Arial" panose="020B0604020202020204" pitchFamily="34" charset="0"/>
              <a:buChar char="•"/>
            </a:pPr>
            <a:r>
              <a:rPr lang="en-US" b="1" dirty="0"/>
              <a:t>Action :</a:t>
            </a:r>
            <a:endParaRPr lang="en-US" dirty="0"/>
          </a:p>
          <a:p>
            <a:pPr marL="742950" lvl="1" indent="-285750" algn="just">
              <a:lnSpc>
                <a:spcPct val="200000"/>
              </a:lnSpc>
              <a:buFont typeface="Arial" panose="020B0604020202020204" pitchFamily="34" charset="0"/>
              <a:buChar char="•"/>
            </a:pPr>
            <a:r>
              <a:rPr lang="en-US" dirty="0"/>
              <a:t>Les </a:t>
            </a:r>
            <a:r>
              <a:rPr lang="en-US" dirty="0" err="1"/>
              <a:t>données</a:t>
            </a:r>
            <a:r>
              <a:rPr lang="en-US" dirty="0"/>
              <a:t> </a:t>
            </a:r>
            <a:r>
              <a:rPr lang="en-US" dirty="0" err="1"/>
              <a:t>transformées</a:t>
            </a:r>
            <a:r>
              <a:rPr lang="en-US" dirty="0"/>
              <a:t> </a:t>
            </a:r>
            <a:r>
              <a:rPr lang="en-US" dirty="0" err="1"/>
              <a:t>sont</a:t>
            </a:r>
            <a:r>
              <a:rPr lang="en-US" dirty="0"/>
              <a:t> </a:t>
            </a:r>
            <a:r>
              <a:rPr lang="en-US" dirty="0" err="1"/>
              <a:t>chargées</a:t>
            </a:r>
            <a:r>
              <a:rPr lang="en-US" dirty="0"/>
              <a:t> dans les tables de dimensions et de faits de </a:t>
            </a:r>
            <a:r>
              <a:rPr lang="en-US" dirty="0" err="1"/>
              <a:t>l'entrepôt</a:t>
            </a:r>
            <a:r>
              <a:rPr lang="en-US" dirty="0"/>
              <a:t>. </a:t>
            </a:r>
          </a:p>
        </p:txBody>
      </p:sp>
    </p:spTree>
    <p:extLst>
      <p:ext uri="{BB962C8B-B14F-4D97-AF65-F5344CB8AC3E}">
        <p14:creationId xmlns:p14="http://schemas.microsoft.com/office/powerpoint/2010/main" xmlns="" val="19813885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6. </a:t>
            </a:r>
            <a:r>
              <a:rPr lang="en-US" b="1" dirty="0" err="1"/>
              <a:t>Implémentation</a:t>
            </a:r>
            <a:r>
              <a:rPr lang="en-US" b="1" dirty="0"/>
              <a:t> du </a:t>
            </a:r>
            <a:r>
              <a:rPr lang="en-US" b="1" dirty="0" err="1"/>
              <a:t>Modèle</a:t>
            </a:r>
            <a:r>
              <a:rPr lang="en-US" b="1" dirty="0"/>
              <a:t> de </a:t>
            </a:r>
            <a:r>
              <a:rPr lang="en-US" b="1" dirty="0" err="1"/>
              <a:t>Données</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Les tables de dimensions et de faits sont créées dans l'entrepôt de données, et les données historiques sont chargées.</a:t>
            </a:r>
          </a:p>
        </p:txBody>
      </p:sp>
    </p:spTree>
    <p:extLst>
      <p:ext uri="{BB962C8B-B14F-4D97-AF65-F5344CB8AC3E}">
        <p14:creationId xmlns:p14="http://schemas.microsoft.com/office/powerpoint/2010/main" xmlns="" val="13314351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7. Test et Validation</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Des tests sont effectués pour s'assurer de l'intégrité des données, et les utilisateurs finaux (par exemple, les managers de magasin) valident que l'entrepôt répond à leurs besoins d'analyse.</a:t>
            </a:r>
          </a:p>
        </p:txBody>
      </p:sp>
    </p:spTree>
    <p:extLst>
      <p:ext uri="{BB962C8B-B14F-4D97-AF65-F5344CB8AC3E}">
        <p14:creationId xmlns:p14="http://schemas.microsoft.com/office/powerpoint/2010/main" xmlns="" val="1811410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8. </a:t>
            </a:r>
            <a:r>
              <a:rPr lang="en-US" b="1" dirty="0" err="1"/>
              <a:t>Déploiement</a:t>
            </a:r>
            <a:r>
              <a:rPr lang="en-US" b="1" dirty="0"/>
              <a:t> et Mise </a:t>
            </a:r>
            <a:r>
              <a:rPr lang="en-US" b="1" dirty="0" err="1"/>
              <a:t>en</a:t>
            </a:r>
            <a:r>
              <a:rPr lang="en-US" b="1" dirty="0"/>
              <a:t> Production</a:t>
            </a:r>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668918"/>
          </a:xfrm>
          <a:prstGeom prst="rect">
            <a:avLst/>
          </a:prstGeom>
          <a:noFill/>
        </p:spPr>
        <p:txBody>
          <a:bodyPr wrap="square">
            <a:spAutoFit/>
          </a:bodyPr>
          <a:lstStyle/>
          <a:p>
            <a:pPr algn="ctr">
              <a:lnSpc>
                <a:spcPct val="200000"/>
              </a:lnSpc>
            </a:pPr>
            <a:r>
              <a:rPr lang="fr-FR" dirty="0"/>
              <a:t>Des outils de BI, tels que des logiciels de tableau de bord et de </a:t>
            </a:r>
            <a:r>
              <a:rPr lang="fr-FR" dirty="0" err="1"/>
              <a:t>reporting</a:t>
            </a:r>
            <a:r>
              <a:rPr lang="fr-FR" dirty="0"/>
              <a:t>, sont connectés à l'entrepôt de données. Des formations sont dispensées aux utilisateurs finaux sur la manière d'utiliser ces outils.</a:t>
            </a:r>
          </a:p>
        </p:txBody>
      </p:sp>
    </p:spTree>
    <p:extLst>
      <p:ext uri="{BB962C8B-B14F-4D97-AF65-F5344CB8AC3E}">
        <p14:creationId xmlns:p14="http://schemas.microsoft.com/office/powerpoint/2010/main" xmlns="" val="9582737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AF490B9C-736F-DC4F-971F-63F492CB9760}"/>
              </a:ext>
            </a:extLst>
          </p:cNvPr>
          <p:cNvSpPr txBox="1"/>
          <p:nvPr/>
        </p:nvSpPr>
        <p:spPr>
          <a:xfrm>
            <a:off x="2105526" y="1094874"/>
            <a:ext cx="7335085" cy="584775"/>
          </a:xfrm>
          <a:prstGeom prst="rect">
            <a:avLst/>
          </a:prstGeom>
          <a:noFill/>
        </p:spPr>
        <p:txBody>
          <a:bodyPr wrap="none" rtlCol="0">
            <a:spAutoFit/>
          </a:bodyPr>
          <a:lstStyle/>
          <a:p>
            <a:r>
              <a:rPr lang="fr-FR" sz="3200"/>
              <a:t>Études de cas de la Business Intelligence</a:t>
            </a:r>
            <a:endParaRPr lang="fr-FR" sz="3200" b="1"/>
          </a:p>
        </p:txBody>
      </p:sp>
      <p:sp>
        <p:nvSpPr>
          <p:cNvPr id="7" name="TextBox 6">
            <a:extLst>
              <a:ext uri="{FF2B5EF4-FFF2-40B4-BE49-F238E27FC236}">
                <a16:creationId xmlns:a16="http://schemas.microsoft.com/office/drawing/2014/main" xmlns="" id="{96E87864-E905-7C4A-BFCC-59C6AE3E34E4}"/>
              </a:ext>
            </a:extLst>
          </p:cNvPr>
          <p:cNvSpPr txBox="1"/>
          <p:nvPr/>
        </p:nvSpPr>
        <p:spPr>
          <a:xfrm>
            <a:off x="1443966" y="2789331"/>
            <a:ext cx="5526151" cy="369332"/>
          </a:xfrm>
          <a:prstGeom prst="rect">
            <a:avLst/>
          </a:prstGeom>
          <a:noFill/>
        </p:spPr>
        <p:txBody>
          <a:bodyPr wrap="square">
            <a:spAutoFit/>
          </a:bodyPr>
          <a:lstStyle/>
          <a:p>
            <a:r>
              <a:rPr lang="en-US" b="1" dirty="0"/>
              <a:t>9. Maintenance et </a:t>
            </a:r>
            <a:r>
              <a:rPr lang="en-US" b="1" dirty="0" err="1"/>
              <a:t>Évolution</a:t>
            </a:r>
            <a:endParaRPr lang="en-US" b="1" dirty="0"/>
          </a:p>
        </p:txBody>
      </p:sp>
      <p:sp>
        <p:nvSpPr>
          <p:cNvPr id="8" name="TextBox 7">
            <a:extLst>
              <a:ext uri="{FF2B5EF4-FFF2-40B4-BE49-F238E27FC236}">
                <a16:creationId xmlns:a16="http://schemas.microsoft.com/office/drawing/2014/main" xmlns="" id="{F27E1225-E15E-EF4E-9633-90C1CF0F6E34}"/>
              </a:ext>
            </a:extLst>
          </p:cNvPr>
          <p:cNvSpPr txBox="1"/>
          <p:nvPr/>
        </p:nvSpPr>
        <p:spPr>
          <a:xfrm>
            <a:off x="1157037" y="2305871"/>
            <a:ext cx="6100010" cy="400110"/>
          </a:xfrm>
          <a:prstGeom prst="rect">
            <a:avLst/>
          </a:prstGeom>
          <a:noFill/>
        </p:spPr>
        <p:txBody>
          <a:bodyPr wrap="square">
            <a:spAutoFit/>
          </a:bodyPr>
          <a:lstStyle/>
          <a:p>
            <a:r>
              <a:rPr lang="fr-FR" sz="2000" b="1" dirty="0" err="1"/>
              <a:t>CineMax</a:t>
            </a:r>
            <a:r>
              <a:rPr lang="fr-FR" sz="2000" b="1" dirty="0"/>
              <a:t> : amélioration de la prise de décision</a:t>
            </a:r>
          </a:p>
        </p:txBody>
      </p:sp>
      <p:sp>
        <p:nvSpPr>
          <p:cNvPr id="5" name="TextBox 4">
            <a:extLst>
              <a:ext uri="{FF2B5EF4-FFF2-40B4-BE49-F238E27FC236}">
                <a16:creationId xmlns:a16="http://schemas.microsoft.com/office/drawing/2014/main" xmlns="" id="{F18E6E77-65E6-3549-A322-9CB0C3905160}"/>
              </a:ext>
            </a:extLst>
          </p:cNvPr>
          <p:cNvSpPr txBox="1"/>
          <p:nvPr/>
        </p:nvSpPr>
        <p:spPr>
          <a:xfrm>
            <a:off x="1157037" y="3641485"/>
            <a:ext cx="9877926" cy="1114921"/>
          </a:xfrm>
          <a:prstGeom prst="rect">
            <a:avLst/>
          </a:prstGeom>
          <a:noFill/>
        </p:spPr>
        <p:txBody>
          <a:bodyPr wrap="square">
            <a:spAutoFit/>
          </a:bodyPr>
          <a:lstStyle/>
          <a:p>
            <a:pPr algn="ctr">
              <a:lnSpc>
                <a:spcPct val="200000"/>
              </a:lnSpc>
            </a:pPr>
            <a:r>
              <a:rPr lang="fr-FR" dirty="0"/>
              <a:t>L'équipe BI surveille et maintient l'infrastructure, en ajoutant de nouvelles sources de données ou en ajustant le modèle de données pour répondre à de nouveaux besoins d'analyse.</a:t>
            </a:r>
          </a:p>
        </p:txBody>
      </p:sp>
    </p:spTree>
    <p:extLst>
      <p:ext uri="{BB962C8B-B14F-4D97-AF65-F5344CB8AC3E}">
        <p14:creationId xmlns:p14="http://schemas.microsoft.com/office/powerpoint/2010/main" xmlns="" val="28529228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3D212A-1EDB-D34D-9B2E-9689AF49F7EB}"/>
              </a:ext>
            </a:extLst>
          </p:cNvPr>
          <p:cNvSpPr>
            <a:spLocks noGrp="1"/>
          </p:cNvSpPr>
          <p:nvPr>
            <p:ph type="ctrTitle"/>
          </p:nvPr>
        </p:nvSpPr>
        <p:spPr>
          <a:xfrm>
            <a:off x="1523999" y="2235200"/>
            <a:ext cx="9144000" cy="2387600"/>
          </a:xfrm>
        </p:spPr>
        <p:txBody>
          <a:bodyPr anchor="ctr">
            <a:normAutofit/>
          </a:bodyPr>
          <a:lstStyle/>
          <a:p>
            <a:r>
              <a:rPr lang="fr-FR" sz="6600" dirty="0"/>
              <a:t>Entrepôt de données</a:t>
            </a:r>
          </a:p>
        </p:txBody>
      </p:sp>
    </p:spTree>
    <p:extLst>
      <p:ext uri="{BB962C8B-B14F-4D97-AF65-F5344CB8AC3E}">
        <p14:creationId xmlns:p14="http://schemas.microsoft.com/office/powerpoint/2010/main" xmlns="" val="10903034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50F25FC-E803-4640-AD7E-F4EAC97B8766}"/>
              </a:ext>
            </a:extLst>
          </p:cNvPr>
          <p:cNvSpPr txBox="1"/>
          <p:nvPr/>
        </p:nvSpPr>
        <p:spPr>
          <a:xfrm>
            <a:off x="2105526" y="2199176"/>
            <a:ext cx="5012654" cy="3690754"/>
          </a:xfrm>
          <a:prstGeom prst="rect">
            <a:avLst/>
          </a:prstGeom>
          <a:noFill/>
        </p:spPr>
        <p:txBody>
          <a:bodyPr wrap="none" rtlCol="0">
            <a:spAutoFit/>
          </a:bodyPr>
          <a:lstStyle/>
          <a:p>
            <a:pPr marL="342900" indent="-342900">
              <a:lnSpc>
                <a:spcPct val="200000"/>
              </a:lnSpc>
              <a:buAutoNum type="arabicPeriod"/>
            </a:pPr>
            <a:r>
              <a:rPr lang="fr-FR" sz="2000" dirty="0"/>
              <a:t>Définition et caractéristiques</a:t>
            </a:r>
          </a:p>
          <a:p>
            <a:pPr marL="342900" indent="-342900">
              <a:lnSpc>
                <a:spcPct val="200000"/>
              </a:lnSpc>
              <a:buAutoNum type="arabicPeriod"/>
            </a:pPr>
            <a:r>
              <a:rPr lang="fr-FR" sz="2000" dirty="0"/>
              <a:t>Architecture</a:t>
            </a:r>
          </a:p>
          <a:p>
            <a:pPr marL="342900" indent="-342900">
              <a:lnSpc>
                <a:spcPct val="200000"/>
              </a:lnSpc>
              <a:buAutoNum type="arabicPeriod"/>
            </a:pPr>
            <a:r>
              <a:rPr lang="fr-FR" sz="2000" dirty="0"/>
              <a:t>Approches de Conception</a:t>
            </a:r>
          </a:p>
          <a:p>
            <a:pPr marL="342900" indent="-342900">
              <a:lnSpc>
                <a:spcPct val="200000"/>
              </a:lnSpc>
              <a:buAutoNum type="arabicPeriod"/>
            </a:pPr>
            <a:r>
              <a:rPr lang="fr-FR" sz="2000" dirty="0"/>
              <a:t>Tables des faits – Tables de dimensions</a:t>
            </a:r>
          </a:p>
          <a:p>
            <a:pPr marL="342900" indent="-342900">
              <a:lnSpc>
                <a:spcPct val="200000"/>
              </a:lnSpc>
              <a:buAutoNum type="arabicPeriod"/>
            </a:pPr>
            <a:r>
              <a:rPr lang="fr-FR" sz="2000" dirty="0"/>
              <a:t>Schéma en Étoile - Flocon – Constellation</a:t>
            </a:r>
          </a:p>
          <a:p>
            <a:pPr marL="342900" indent="-342900">
              <a:lnSpc>
                <a:spcPct val="200000"/>
              </a:lnSpc>
              <a:buAutoNum type="arabicPeriod"/>
            </a:pPr>
            <a:r>
              <a:rPr lang="fr-FR" sz="2000" dirty="0"/>
              <a:t>Phases de construction d’un DW </a:t>
            </a:r>
          </a:p>
        </p:txBody>
      </p:sp>
      <p:sp>
        <p:nvSpPr>
          <p:cNvPr id="3" name="TextBox 2">
            <a:extLst>
              <a:ext uri="{FF2B5EF4-FFF2-40B4-BE49-F238E27FC236}">
                <a16:creationId xmlns:a16="http://schemas.microsoft.com/office/drawing/2014/main" xmlns="" id="{E8FC435F-8937-254B-9F8F-10CEE98BC726}"/>
              </a:ext>
            </a:extLst>
          </p:cNvPr>
          <p:cNvSpPr txBox="1"/>
          <p:nvPr/>
        </p:nvSpPr>
        <p:spPr>
          <a:xfrm>
            <a:off x="2105526" y="1094874"/>
            <a:ext cx="1104790" cy="584775"/>
          </a:xfrm>
          <a:prstGeom prst="rect">
            <a:avLst/>
          </a:prstGeom>
          <a:noFill/>
        </p:spPr>
        <p:txBody>
          <a:bodyPr wrap="none" rtlCol="0">
            <a:spAutoFit/>
          </a:bodyPr>
          <a:lstStyle/>
          <a:p>
            <a:r>
              <a:rPr lang="fr-FR" sz="3200" b="1" dirty="0"/>
              <a:t>PLAN</a:t>
            </a:r>
          </a:p>
        </p:txBody>
      </p:sp>
    </p:spTree>
    <p:extLst>
      <p:ext uri="{BB962C8B-B14F-4D97-AF65-F5344CB8AC3E}">
        <p14:creationId xmlns:p14="http://schemas.microsoft.com/office/powerpoint/2010/main" xmlns="" val="21109769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BEBC1873-005C-C641-B30A-7414A7A14C9A}"/>
              </a:ext>
            </a:extLst>
          </p:cNvPr>
          <p:cNvPicPr>
            <a:picLocks noChangeAspect="1"/>
          </p:cNvPicPr>
          <p:nvPr/>
        </p:nvPicPr>
        <p:blipFill rotWithShape="1">
          <a:blip r:embed="rId2"/>
          <a:srcRect t="10541" b="10598"/>
          <a:stretch/>
        </p:blipFill>
        <p:spPr>
          <a:xfrm>
            <a:off x="1451811" y="1263316"/>
            <a:ext cx="9983079" cy="4331367"/>
          </a:xfrm>
          <a:prstGeom prst="rect">
            <a:avLst/>
          </a:prstGeom>
        </p:spPr>
      </p:pic>
    </p:spTree>
    <p:extLst>
      <p:ext uri="{BB962C8B-B14F-4D97-AF65-F5344CB8AC3E}">
        <p14:creationId xmlns:p14="http://schemas.microsoft.com/office/powerpoint/2010/main" xmlns="" val="5145592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2554705" y="2369479"/>
            <a:ext cx="7082589" cy="2119042"/>
          </a:xfrm>
          <a:prstGeom prst="rect">
            <a:avLst/>
          </a:prstGeom>
          <a:noFill/>
        </p:spPr>
        <p:txBody>
          <a:bodyPr wrap="square" rtlCol="0" anchor="ctr">
            <a:spAutoFit/>
          </a:bodyPr>
          <a:lstStyle/>
          <a:p>
            <a:pPr algn="ctr">
              <a:lnSpc>
                <a:spcPct val="150000"/>
              </a:lnSpc>
            </a:pPr>
            <a:r>
              <a:rPr lang="fr-FR" dirty="0"/>
              <a:t>Un entrepôt de données (Data </a:t>
            </a:r>
            <a:r>
              <a:rPr lang="fr-FR" dirty="0" err="1"/>
              <a:t>Warehouse</a:t>
            </a:r>
            <a:r>
              <a:rPr lang="fr-FR" dirty="0"/>
              <a:t>) est un système centralisé conçu pour stocker, consolider et gérer les données provenant de diverses sources au sein d'une organisation. Il s'agit d'une composante clé des systèmes d'information décisionnels (SID) qui permet l'analyse de données et la prise de décision basée sur des informations.</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5786392" cy="584775"/>
          </a:xfrm>
          <a:prstGeom prst="rect">
            <a:avLst/>
          </a:prstGeom>
          <a:noFill/>
        </p:spPr>
        <p:txBody>
          <a:bodyPr wrap="none" rtlCol="0">
            <a:spAutoFit/>
          </a:bodyPr>
          <a:lstStyle/>
          <a:p>
            <a:r>
              <a:rPr lang="fr-FR" sz="3200" b="1" dirty="0"/>
              <a:t>Entrepôt de données : Définition</a:t>
            </a:r>
          </a:p>
        </p:txBody>
      </p:sp>
    </p:spTree>
    <p:extLst>
      <p:ext uri="{BB962C8B-B14F-4D97-AF65-F5344CB8AC3E}">
        <p14:creationId xmlns:p14="http://schemas.microsoft.com/office/powerpoint/2010/main" xmlns="" val="36116841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6316A923-EBA3-5E46-95F4-1E51089C9DDA}"/>
              </a:ext>
            </a:extLst>
          </p:cNvPr>
          <p:cNvSpPr txBox="1"/>
          <p:nvPr/>
        </p:nvSpPr>
        <p:spPr>
          <a:xfrm>
            <a:off x="2554705" y="2784977"/>
            <a:ext cx="7082589" cy="1288045"/>
          </a:xfrm>
          <a:prstGeom prst="rect">
            <a:avLst/>
          </a:prstGeom>
          <a:noFill/>
        </p:spPr>
        <p:txBody>
          <a:bodyPr wrap="square" rtlCol="0" anchor="ctr">
            <a:spAutoFit/>
          </a:bodyPr>
          <a:lstStyle/>
          <a:p>
            <a:pPr algn="ctr">
              <a:lnSpc>
                <a:spcPct val="150000"/>
              </a:lnSpc>
            </a:pPr>
            <a:r>
              <a:rPr lang="fr-FR" dirty="0"/>
              <a:t>L'objectif principal derrière la mise en place d'un entrepôt de données est de fournir une source unique et cohérente d'informations pour l'analyse et le </a:t>
            </a:r>
            <a:r>
              <a:rPr lang="fr-FR" dirty="0" err="1"/>
              <a:t>reporting</a:t>
            </a:r>
            <a:r>
              <a:rPr lang="fr-FR" dirty="0"/>
              <a:t>.</a:t>
            </a:r>
          </a:p>
        </p:txBody>
      </p:sp>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5436104" cy="584775"/>
          </a:xfrm>
          <a:prstGeom prst="rect">
            <a:avLst/>
          </a:prstGeom>
          <a:noFill/>
        </p:spPr>
        <p:txBody>
          <a:bodyPr wrap="none" rtlCol="0">
            <a:spAutoFit/>
          </a:bodyPr>
          <a:lstStyle/>
          <a:p>
            <a:r>
              <a:rPr lang="fr-FR" sz="3200" b="1" dirty="0"/>
              <a:t>Entrepôt de données : Objectif</a:t>
            </a:r>
          </a:p>
        </p:txBody>
      </p:sp>
    </p:spTree>
    <p:extLst>
      <p:ext uri="{BB962C8B-B14F-4D97-AF65-F5344CB8AC3E}">
        <p14:creationId xmlns:p14="http://schemas.microsoft.com/office/powerpoint/2010/main" xmlns="" val="5091299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5436104" cy="584775"/>
          </a:xfrm>
          <a:prstGeom prst="rect">
            <a:avLst/>
          </a:prstGeom>
          <a:noFill/>
        </p:spPr>
        <p:txBody>
          <a:bodyPr wrap="none" rtlCol="0">
            <a:spAutoFit/>
          </a:bodyPr>
          <a:lstStyle/>
          <a:p>
            <a:r>
              <a:rPr lang="fr-FR" sz="3200" b="1" dirty="0"/>
              <a:t>Entrepôt de données : Objectif</a:t>
            </a:r>
          </a:p>
        </p:txBody>
      </p:sp>
      <p:graphicFrame>
        <p:nvGraphicFramePr>
          <p:cNvPr id="4" name="Diagram 3">
            <a:extLst>
              <a:ext uri="{FF2B5EF4-FFF2-40B4-BE49-F238E27FC236}">
                <a16:creationId xmlns:a16="http://schemas.microsoft.com/office/drawing/2014/main" xmlns="" id="{2DF41F17-92B6-784E-960E-67DE869F7101}"/>
              </a:ext>
            </a:extLst>
          </p:cNvPr>
          <p:cNvGraphicFramePr/>
          <p:nvPr>
            <p:extLst>
              <p:ext uri="{D42A27DB-BD31-4B8C-83A1-F6EECF244321}">
                <p14:modId xmlns:p14="http://schemas.microsoft.com/office/powerpoint/2010/main" xmlns="" val="2941299359"/>
              </p:ext>
            </p:extLst>
          </p:nvPr>
        </p:nvGraphicFramePr>
        <p:xfrm>
          <a:off x="1610139" y="2731323"/>
          <a:ext cx="8971722" cy="30318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5749214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xmlns="" id="{83F47D96-B467-3441-936E-B1C34A1B8269}"/>
              </a:ext>
            </a:extLst>
          </p:cNvPr>
          <p:cNvSpPr>
            <a:spLocks noGrp="1" noChangeArrowheads="1"/>
          </p:cNvSpPr>
          <p:nvPr>
            <p:ph type="body" idx="1"/>
          </p:nvPr>
        </p:nvSpPr>
        <p:spPr>
          <a:xfrm>
            <a:off x="1917700" y="1738313"/>
            <a:ext cx="8345488" cy="4279900"/>
          </a:xfrm>
          <a:noFill/>
        </p:spPr>
        <p:txBody>
          <a:bodyPr vert="horz" lIns="92075" tIns="46038" rIns="92075" bIns="46038" rtlCol="0">
            <a:normAutofit/>
          </a:bodyPr>
          <a:lstStyle/>
          <a:p>
            <a:pPr algn="just" eaLnBrk="1" hangingPunct="1">
              <a:lnSpc>
                <a:spcPct val="130000"/>
              </a:lnSpc>
            </a:pPr>
            <a:r>
              <a:rPr lang="fr-FR" altLang="fr-FR" dirty="0"/>
              <a:t>Organisé autour des sujets majeurs, tels que personne, client,…</a:t>
            </a:r>
          </a:p>
          <a:p>
            <a:pPr algn="just" eaLnBrk="1" hangingPunct="1">
              <a:lnSpc>
                <a:spcPct val="130000"/>
              </a:lnSpc>
            </a:pPr>
            <a:r>
              <a:rPr lang="fr-FR" altLang="fr-FR" dirty="0"/>
              <a:t>Sujet = Faits + Dimensions</a:t>
            </a:r>
          </a:p>
          <a:p>
            <a:pPr algn="just" eaLnBrk="1" hangingPunct="1">
              <a:lnSpc>
                <a:spcPct val="130000"/>
              </a:lnSpc>
            </a:pPr>
            <a:r>
              <a:rPr lang="fr-FR" altLang="fr-FR" dirty="0"/>
              <a:t>Centré sur la modélisation et l’analyse de données pour les décideurs, non pour des opérations quotidiennes</a:t>
            </a:r>
          </a:p>
          <a:p>
            <a:pPr algn="just" eaLnBrk="1" hangingPunct="1">
              <a:lnSpc>
                <a:spcPct val="130000"/>
              </a:lnSpc>
            </a:pPr>
            <a:r>
              <a:rPr lang="fr-FR" altLang="fr-FR" dirty="0"/>
              <a:t>Fournit une vue simple, concise  sur des sujets particuliers en excluant des données inutiles dans le processus d’aide à la décision</a:t>
            </a:r>
          </a:p>
          <a:p>
            <a:pPr algn="just" eaLnBrk="1" hangingPunct="1"/>
            <a:r>
              <a:rPr lang="fr-FR" altLang="fr-FR" dirty="0"/>
              <a:t>Construit par intégration de sources de données multiples et hétérogènes</a:t>
            </a:r>
          </a:p>
        </p:txBody>
      </p:sp>
      <p:sp>
        <p:nvSpPr>
          <p:cNvPr id="8" name="TextBox 7">
            <a:extLst>
              <a:ext uri="{FF2B5EF4-FFF2-40B4-BE49-F238E27FC236}">
                <a16:creationId xmlns:a16="http://schemas.microsoft.com/office/drawing/2014/main" xmlns="" id="{576D1CC6-858B-D942-BA7C-DC8C729FC19B}"/>
              </a:ext>
            </a:extLst>
          </p:cNvPr>
          <p:cNvSpPr txBox="1"/>
          <p:nvPr/>
        </p:nvSpPr>
        <p:spPr>
          <a:xfrm>
            <a:off x="2105526" y="1094874"/>
            <a:ext cx="6937284" cy="584775"/>
          </a:xfrm>
          <a:prstGeom prst="rect">
            <a:avLst/>
          </a:prstGeom>
          <a:noFill/>
        </p:spPr>
        <p:txBody>
          <a:bodyPr wrap="none" rtlCol="0">
            <a:spAutoFit/>
          </a:bodyPr>
          <a:lstStyle/>
          <a:p>
            <a:r>
              <a:rPr lang="fr-FR" sz="3200" b="1" dirty="0"/>
              <a:t>Entrepôt de données : Caractéristiques</a:t>
            </a:r>
          </a:p>
        </p:txBody>
      </p:sp>
    </p:spTree>
  </p:cSld>
  <p:clrMapOvr>
    <a:masterClrMapping/>
  </p:clrMapOvr>
  <p:transition>
    <p:wipe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6411948" cy="584775"/>
          </a:xfrm>
          <a:prstGeom prst="rect">
            <a:avLst/>
          </a:prstGeom>
          <a:noFill/>
        </p:spPr>
        <p:txBody>
          <a:bodyPr wrap="none" rtlCol="0">
            <a:spAutoFit/>
          </a:bodyPr>
          <a:lstStyle/>
          <a:p>
            <a:r>
              <a:rPr lang="fr-FR" sz="3200" b="1" dirty="0"/>
              <a:t>Entrepôt de données : Architecture</a:t>
            </a:r>
          </a:p>
        </p:txBody>
      </p:sp>
      <p:pic>
        <p:nvPicPr>
          <p:cNvPr id="5" name="Picture 4">
            <a:extLst>
              <a:ext uri="{FF2B5EF4-FFF2-40B4-BE49-F238E27FC236}">
                <a16:creationId xmlns:a16="http://schemas.microsoft.com/office/drawing/2014/main" xmlns="" id="{48E1136F-59A7-C14B-8990-3C780BC9B01B}"/>
              </a:ext>
            </a:extLst>
          </p:cNvPr>
          <p:cNvPicPr>
            <a:picLocks noChangeAspect="1"/>
          </p:cNvPicPr>
          <p:nvPr/>
        </p:nvPicPr>
        <p:blipFill rotWithShape="1">
          <a:blip r:embed="rId2"/>
          <a:srcRect t="10541" b="10598"/>
          <a:stretch/>
        </p:blipFill>
        <p:spPr>
          <a:xfrm>
            <a:off x="1451811" y="1961148"/>
            <a:ext cx="9983079" cy="4331367"/>
          </a:xfrm>
          <a:prstGeom prst="rect">
            <a:avLst/>
          </a:prstGeom>
        </p:spPr>
      </p:pic>
    </p:spTree>
    <p:extLst>
      <p:ext uri="{BB962C8B-B14F-4D97-AF65-F5344CB8AC3E}">
        <p14:creationId xmlns:p14="http://schemas.microsoft.com/office/powerpoint/2010/main" xmlns="" val="1633063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5" name="TextBox 4">
            <a:extLst>
              <a:ext uri="{FF2B5EF4-FFF2-40B4-BE49-F238E27FC236}">
                <a16:creationId xmlns:a16="http://schemas.microsoft.com/office/drawing/2014/main" xmlns="" id="{5B28DD3D-6D38-9544-B46F-46D8AAB6F8F7}"/>
              </a:ext>
            </a:extLst>
          </p:cNvPr>
          <p:cNvSpPr txBox="1"/>
          <p:nvPr/>
        </p:nvSpPr>
        <p:spPr>
          <a:xfrm>
            <a:off x="2698613" y="3058636"/>
            <a:ext cx="7289800" cy="2344231"/>
          </a:xfrm>
          <a:prstGeom prst="rect">
            <a:avLst/>
          </a:prstGeom>
          <a:noFill/>
        </p:spPr>
        <p:txBody>
          <a:bodyPr wrap="square">
            <a:spAutoFit/>
          </a:bodyPr>
          <a:lstStyle/>
          <a:p>
            <a:pPr algn="just">
              <a:lnSpc>
                <a:spcPct val="150000"/>
              </a:lnSpc>
            </a:pPr>
            <a:r>
              <a:rPr lang="en-US" sz="2000" b="1" dirty="0" err="1"/>
              <a:t>Définition</a:t>
            </a:r>
            <a:r>
              <a:rPr lang="en-US" sz="2000" b="1" dirty="0"/>
              <a:t> :</a:t>
            </a:r>
            <a:r>
              <a:rPr lang="en-US" sz="2000" dirty="0"/>
              <a:t> Dans </a:t>
            </a:r>
            <a:r>
              <a:rPr lang="en-US" sz="2000" dirty="0" err="1"/>
              <a:t>une</a:t>
            </a:r>
            <a:r>
              <a:rPr lang="en-US" sz="2000" dirty="0"/>
              <a:t> </a:t>
            </a:r>
            <a:r>
              <a:rPr lang="en-US" sz="2000" dirty="0" err="1"/>
              <a:t>approche</a:t>
            </a:r>
            <a:r>
              <a:rPr lang="en-US" sz="2000" dirty="0"/>
              <a:t> bottom-up, on commence par </a:t>
            </a:r>
            <a:r>
              <a:rPr lang="en-US" sz="2000" dirty="0" err="1"/>
              <a:t>créer</a:t>
            </a:r>
            <a:r>
              <a:rPr lang="en-US" sz="2000" dirty="0"/>
              <a:t> des entrepôts de </a:t>
            </a:r>
            <a:r>
              <a:rPr lang="en-US" sz="2000" dirty="0" err="1"/>
              <a:t>données</a:t>
            </a:r>
            <a:r>
              <a:rPr lang="en-US" sz="2000" dirty="0"/>
              <a:t> </a:t>
            </a:r>
            <a:r>
              <a:rPr lang="en-US" sz="2000" dirty="0" err="1"/>
              <a:t>départementaux</a:t>
            </a:r>
            <a:r>
              <a:rPr lang="en-US" sz="2000" dirty="0"/>
              <a:t> </a:t>
            </a:r>
            <a:r>
              <a:rPr lang="en-US" sz="2000" dirty="0" err="1"/>
              <a:t>ou</a:t>
            </a:r>
            <a:r>
              <a:rPr lang="en-US" sz="2000" dirty="0"/>
              <a:t> </a:t>
            </a:r>
            <a:r>
              <a:rPr lang="en-US" sz="2000" dirty="0" err="1"/>
              <a:t>spécialisés</a:t>
            </a:r>
            <a:r>
              <a:rPr lang="en-US" sz="2000" dirty="0"/>
              <a:t>, </a:t>
            </a:r>
            <a:r>
              <a:rPr lang="en-US" sz="2000" dirty="0" err="1"/>
              <a:t>souvent</a:t>
            </a:r>
            <a:r>
              <a:rPr lang="en-US" sz="2000" dirty="0"/>
              <a:t> </a:t>
            </a:r>
            <a:r>
              <a:rPr lang="en-US" sz="2000" dirty="0" err="1"/>
              <a:t>appelés</a:t>
            </a:r>
            <a:r>
              <a:rPr lang="en-US" sz="2000" dirty="0"/>
              <a:t> "Data Marts", qui </a:t>
            </a:r>
            <a:r>
              <a:rPr lang="en-US" sz="2000" dirty="0" err="1"/>
              <a:t>répondent</a:t>
            </a:r>
            <a:r>
              <a:rPr lang="en-US" sz="2000" dirty="0"/>
              <a:t> aux </a:t>
            </a:r>
            <a:r>
              <a:rPr lang="en-US" sz="2000" dirty="0" err="1"/>
              <a:t>besoins</a:t>
            </a:r>
            <a:r>
              <a:rPr lang="en-US" sz="2000" dirty="0"/>
              <a:t> </a:t>
            </a:r>
            <a:r>
              <a:rPr lang="en-US" sz="2000" dirty="0" err="1"/>
              <a:t>spécifiques</a:t>
            </a:r>
            <a:r>
              <a:rPr lang="en-US" sz="2000" dirty="0"/>
              <a:t> des </a:t>
            </a:r>
            <a:r>
              <a:rPr lang="en-US" sz="2000" dirty="0" err="1"/>
              <a:t>utilisateurs</a:t>
            </a:r>
            <a:r>
              <a:rPr lang="en-US" sz="2000" dirty="0"/>
              <a:t> </a:t>
            </a:r>
            <a:r>
              <a:rPr lang="en-US" sz="2000" dirty="0" err="1"/>
              <a:t>finaux</a:t>
            </a:r>
            <a:r>
              <a:rPr lang="en-US" sz="2000" dirty="0"/>
              <a:t> </a:t>
            </a:r>
            <a:r>
              <a:rPr lang="en-US" sz="2000" dirty="0" err="1"/>
              <a:t>ou</a:t>
            </a:r>
            <a:r>
              <a:rPr lang="en-US" sz="2000" dirty="0"/>
              <a:t> des </a:t>
            </a:r>
            <a:r>
              <a:rPr lang="en-US" sz="2000" dirty="0" err="1"/>
              <a:t>départements</a:t>
            </a:r>
            <a:r>
              <a:rPr lang="en-US" sz="2000" dirty="0"/>
              <a:t> de </a:t>
            </a:r>
            <a:r>
              <a:rPr lang="en-US" sz="2000" dirty="0" err="1"/>
              <a:t>l'entreprise</a:t>
            </a:r>
            <a:r>
              <a:rPr lang="en-US" sz="2000" dirty="0"/>
              <a:t>.</a:t>
            </a:r>
            <a:endParaRPr lang="fr-FR" sz="2000" dirty="0"/>
          </a:p>
        </p:txBody>
      </p:sp>
    </p:spTree>
    <p:extLst>
      <p:ext uri="{BB962C8B-B14F-4D97-AF65-F5344CB8AC3E}">
        <p14:creationId xmlns:p14="http://schemas.microsoft.com/office/powerpoint/2010/main" xmlns="" val="24147957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6" name="TextBox 5">
            <a:extLst>
              <a:ext uri="{FF2B5EF4-FFF2-40B4-BE49-F238E27FC236}">
                <a16:creationId xmlns:a16="http://schemas.microsoft.com/office/drawing/2014/main" xmlns="" id="{087A8C28-7CA1-144A-BA6A-F766335DE013}"/>
              </a:ext>
            </a:extLst>
          </p:cNvPr>
          <p:cNvSpPr txBox="1"/>
          <p:nvPr/>
        </p:nvSpPr>
        <p:spPr>
          <a:xfrm>
            <a:off x="1876219" y="2969736"/>
            <a:ext cx="8934587" cy="2554545"/>
          </a:xfrm>
          <a:prstGeom prst="rect">
            <a:avLst/>
          </a:prstGeom>
          <a:noFill/>
        </p:spPr>
        <p:txBody>
          <a:bodyPr wrap="square">
            <a:spAutoFit/>
          </a:bodyPr>
          <a:lstStyle/>
          <a:p>
            <a:pPr algn="just"/>
            <a:r>
              <a:rPr lang="en-US" sz="2000" b="1" dirty="0" err="1"/>
              <a:t>Caractéristiques</a:t>
            </a:r>
            <a:r>
              <a:rPr lang="en-US" sz="2000" b="1" dirty="0"/>
              <a:t> :</a:t>
            </a:r>
          </a:p>
          <a:p>
            <a:pPr algn="just"/>
            <a:endParaRPr lang="en-US" sz="2000" dirty="0"/>
          </a:p>
          <a:p>
            <a:pPr marL="342900" indent="-342900" algn="just">
              <a:buFont typeface="Arial" panose="020B0604020202020204" pitchFamily="34" charset="0"/>
              <a:buChar char="•"/>
            </a:pPr>
            <a:r>
              <a:rPr lang="en-US" sz="2000" dirty="0"/>
              <a:t>Elle part des </a:t>
            </a:r>
            <a:r>
              <a:rPr lang="en-US" sz="2000" dirty="0" err="1"/>
              <a:t>besoins</a:t>
            </a:r>
            <a:r>
              <a:rPr lang="en-US" sz="2000" dirty="0"/>
              <a:t> </a:t>
            </a:r>
            <a:r>
              <a:rPr lang="en-US" sz="2000" dirty="0" err="1"/>
              <a:t>opérationnels</a:t>
            </a:r>
            <a:r>
              <a:rPr lang="en-US" sz="2000" dirty="0"/>
              <a:t> et métier </a:t>
            </a:r>
            <a:r>
              <a:rPr lang="en-US" sz="2000" dirty="0" err="1"/>
              <a:t>spécifiques</a:t>
            </a:r>
            <a:r>
              <a:rPr lang="en-US" sz="2000" dirty="0"/>
              <a:t> de </a:t>
            </a:r>
            <a:r>
              <a:rPr lang="en-US" sz="2000" dirty="0" err="1"/>
              <a:t>chaque</a:t>
            </a:r>
            <a:r>
              <a:rPr lang="en-US" sz="2000" dirty="0"/>
              <a:t> </a:t>
            </a:r>
            <a:r>
              <a:rPr lang="en-US" sz="2000" dirty="0" err="1"/>
              <a:t>département</a:t>
            </a:r>
            <a:r>
              <a:rPr lang="en-US" sz="2000" dirty="0"/>
              <a:t> </a:t>
            </a:r>
            <a:r>
              <a:rPr lang="en-US" sz="2000" dirty="0" err="1"/>
              <a:t>ou</a:t>
            </a:r>
            <a:r>
              <a:rPr lang="en-US" sz="2000" dirty="0"/>
              <a:t> </a:t>
            </a:r>
            <a:r>
              <a:rPr lang="en-US" sz="2000" dirty="0" err="1"/>
              <a:t>groupe</a:t>
            </a:r>
            <a:r>
              <a:rPr lang="en-US" sz="2000" dirty="0"/>
              <a:t> </a:t>
            </a:r>
            <a:r>
              <a:rPr lang="en-US" sz="2000" dirty="0" err="1"/>
              <a:t>d'utilisateurs</a:t>
            </a:r>
            <a:r>
              <a:rPr lang="en-US" sz="2000" dirty="0"/>
              <a:t>.</a:t>
            </a:r>
          </a:p>
          <a:p>
            <a:pPr marL="342900" indent="-342900" algn="just">
              <a:buFont typeface="Arial" panose="020B0604020202020204" pitchFamily="34" charset="0"/>
              <a:buChar char="•"/>
            </a:pPr>
            <a:r>
              <a:rPr lang="en-US" sz="2000" dirty="0"/>
              <a:t>Les Data Marts </a:t>
            </a:r>
            <a:r>
              <a:rPr lang="en-US" sz="2000" dirty="0" err="1"/>
              <a:t>sont</a:t>
            </a:r>
            <a:r>
              <a:rPr lang="en-US" sz="2000" dirty="0"/>
              <a:t> </a:t>
            </a:r>
            <a:r>
              <a:rPr lang="en-US" sz="2000" dirty="0" err="1"/>
              <a:t>construits</a:t>
            </a:r>
            <a:r>
              <a:rPr lang="en-US" sz="2000" dirty="0"/>
              <a:t> de manière </a:t>
            </a:r>
            <a:r>
              <a:rPr lang="en-US" sz="2000" dirty="0" err="1"/>
              <a:t>indépendante</a:t>
            </a:r>
            <a:r>
              <a:rPr lang="en-US" sz="2000" dirty="0"/>
              <a:t>, avec des </a:t>
            </a:r>
            <a:r>
              <a:rPr lang="en-US" sz="2000" dirty="0" err="1"/>
              <a:t>données</a:t>
            </a:r>
            <a:r>
              <a:rPr lang="en-US" sz="2000" dirty="0"/>
              <a:t> </a:t>
            </a:r>
            <a:r>
              <a:rPr lang="en-US" sz="2000" dirty="0" err="1"/>
              <a:t>agrégées</a:t>
            </a:r>
            <a:r>
              <a:rPr lang="en-US" sz="2000" dirty="0"/>
              <a:t> et </a:t>
            </a:r>
            <a:r>
              <a:rPr lang="en-US" sz="2000" dirty="0" err="1"/>
              <a:t>optimisées</a:t>
            </a:r>
            <a:r>
              <a:rPr lang="en-US" sz="2000" dirty="0"/>
              <a:t> pour </a:t>
            </a:r>
            <a:r>
              <a:rPr lang="en-US" sz="2000" dirty="0" err="1"/>
              <a:t>répondre</a:t>
            </a:r>
            <a:r>
              <a:rPr lang="en-US" sz="2000" dirty="0"/>
              <a:t> aux </a:t>
            </a:r>
            <a:r>
              <a:rPr lang="en-US" sz="2000" dirty="0" err="1"/>
              <a:t>besoins</a:t>
            </a:r>
            <a:r>
              <a:rPr lang="en-US" sz="2000" dirty="0"/>
              <a:t> de </a:t>
            </a:r>
            <a:r>
              <a:rPr lang="en-US" sz="2000" dirty="0" err="1"/>
              <a:t>chaque</a:t>
            </a:r>
            <a:r>
              <a:rPr lang="en-US" sz="2000" dirty="0"/>
              <a:t> </a:t>
            </a:r>
            <a:r>
              <a:rPr lang="en-US" sz="2000" dirty="0" err="1"/>
              <a:t>groupe</a:t>
            </a:r>
            <a:r>
              <a:rPr lang="en-US" sz="2000" dirty="0"/>
              <a:t>.</a:t>
            </a:r>
          </a:p>
          <a:p>
            <a:pPr marL="342900" indent="-342900" algn="just">
              <a:buFont typeface="Arial" panose="020B0604020202020204" pitchFamily="34" charset="0"/>
              <a:buChar char="•"/>
            </a:pPr>
            <a:r>
              <a:rPr lang="en-US" sz="2000" dirty="0"/>
              <a:t>Une </a:t>
            </a:r>
            <a:r>
              <a:rPr lang="en-US" sz="2000" dirty="0" err="1"/>
              <a:t>fois</a:t>
            </a:r>
            <a:r>
              <a:rPr lang="en-US" sz="2000" dirty="0"/>
              <a:t> que </a:t>
            </a:r>
            <a:r>
              <a:rPr lang="en-US" sz="2000" dirty="0" err="1"/>
              <a:t>plusieurs</a:t>
            </a:r>
            <a:r>
              <a:rPr lang="en-US" sz="2000" dirty="0"/>
              <a:t> Data Marts </a:t>
            </a:r>
            <a:r>
              <a:rPr lang="en-US" sz="2000" dirty="0" err="1"/>
              <a:t>ont</a:t>
            </a:r>
            <a:r>
              <a:rPr lang="en-US" sz="2000" dirty="0"/>
              <a:t> </a:t>
            </a:r>
            <a:r>
              <a:rPr lang="en-US" sz="2000" dirty="0" err="1"/>
              <a:t>été</a:t>
            </a:r>
            <a:r>
              <a:rPr lang="en-US" sz="2000" dirty="0"/>
              <a:t> </a:t>
            </a:r>
            <a:r>
              <a:rPr lang="en-US" sz="2000" dirty="0" err="1"/>
              <a:t>construits</a:t>
            </a:r>
            <a:r>
              <a:rPr lang="en-US" sz="2000" dirty="0"/>
              <a:t>, </a:t>
            </a:r>
            <a:r>
              <a:rPr lang="en-US" sz="2000" dirty="0" err="1"/>
              <a:t>ils</a:t>
            </a:r>
            <a:r>
              <a:rPr lang="en-US" sz="2000" dirty="0"/>
              <a:t> </a:t>
            </a:r>
            <a:r>
              <a:rPr lang="en-US" sz="2000" dirty="0" err="1"/>
              <a:t>peuvent</a:t>
            </a:r>
            <a:r>
              <a:rPr lang="en-US" sz="2000" dirty="0"/>
              <a:t> </a:t>
            </a:r>
            <a:r>
              <a:rPr lang="en-US" sz="2000" dirty="0" err="1"/>
              <a:t>être</a:t>
            </a:r>
            <a:r>
              <a:rPr lang="en-US" sz="2000" dirty="0"/>
              <a:t> </a:t>
            </a:r>
            <a:r>
              <a:rPr lang="en-US" sz="2000" dirty="0" err="1"/>
              <a:t>intégrés</a:t>
            </a:r>
            <a:r>
              <a:rPr lang="en-US" sz="2000" dirty="0"/>
              <a:t> pour former un entrepôt de </a:t>
            </a:r>
            <a:r>
              <a:rPr lang="en-US" sz="2000" dirty="0" err="1"/>
              <a:t>données</a:t>
            </a:r>
            <a:r>
              <a:rPr lang="en-US" sz="2000" dirty="0"/>
              <a:t> global.</a:t>
            </a:r>
          </a:p>
        </p:txBody>
      </p:sp>
    </p:spTree>
    <p:extLst>
      <p:ext uri="{BB962C8B-B14F-4D97-AF65-F5344CB8AC3E}">
        <p14:creationId xmlns:p14="http://schemas.microsoft.com/office/powerpoint/2010/main" xmlns="" val="27117546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5" name="TextBox 4">
            <a:extLst>
              <a:ext uri="{FF2B5EF4-FFF2-40B4-BE49-F238E27FC236}">
                <a16:creationId xmlns:a16="http://schemas.microsoft.com/office/drawing/2014/main" xmlns="" id="{1FA05135-4740-D341-971E-D8ADF81D97A6}"/>
              </a:ext>
            </a:extLst>
          </p:cNvPr>
          <p:cNvSpPr txBox="1"/>
          <p:nvPr/>
        </p:nvSpPr>
        <p:spPr>
          <a:xfrm>
            <a:off x="1876219" y="2969736"/>
            <a:ext cx="8934587" cy="1938992"/>
          </a:xfrm>
          <a:prstGeom prst="rect">
            <a:avLst/>
          </a:prstGeom>
          <a:noFill/>
        </p:spPr>
        <p:txBody>
          <a:bodyPr wrap="square">
            <a:spAutoFit/>
          </a:bodyPr>
          <a:lstStyle/>
          <a:p>
            <a:pPr algn="just"/>
            <a:r>
              <a:rPr lang="en-US" sz="2000" b="1" dirty="0" err="1"/>
              <a:t>Avantages</a:t>
            </a:r>
            <a:r>
              <a:rPr lang="en-US" sz="2000" b="1" dirty="0"/>
              <a:t> :</a:t>
            </a:r>
          </a:p>
          <a:p>
            <a:pPr algn="just"/>
            <a:endParaRPr lang="en-US" sz="2000" dirty="0"/>
          </a:p>
          <a:p>
            <a:pPr marL="342900" indent="-342900" algn="just">
              <a:buFont typeface="Arial" panose="020B0604020202020204" pitchFamily="34" charset="0"/>
              <a:buChar char="•"/>
            </a:pPr>
            <a:r>
              <a:rPr lang="en-US" sz="2000" dirty="0" err="1"/>
              <a:t>Rapidité</a:t>
            </a:r>
            <a:r>
              <a:rPr lang="en-US" sz="2000" dirty="0"/>
              <a:t> de mise </a:t>
            </a:r>
            <a:r>
              <a:rPr lang="en-US" sz="2000" dirty="0" err="1"/>
              <a:t>en</a:t>
            </a:r>
            <a:r>
              <a:rPr lang="en-US" sz="2000" dirty="0"/>
              <a:t> </a:t>
            </a:r>
            <a:r>
              <a:rPr lang="en-US" sz="2000" dirty="0" err="1"/>
              <a:t>œuvre</a:t>
            </a:r>
            <a:r>
              <a:rPr lang="en-US" sz="2000" dirty="0"/>
              <a:t> : Les Data Marts </a:t>
            </a:r>
            <a:r>
              <a:rPr lang="en-US" sz="2000" dirty="0" err="1"/>
              <a:t>peuvent</a:t>
            </a:r>
            <a:r>
              <a:rPr lang="en-US" sz="2000" dirty="0"/>
              <a:t> </a:t>
            </a:r>
            <a:r>
              <a:rPr lang="en-US" sz="2000" dirty="0" err="1"/>
              <a:t>être</a:t>
            </a:r>
            <a:r>
              <a:rPr lang="en-US" sz="2000" dirty="0"/>
              <a:t> </a:t>
            </a:r>
            <a:r>
              <a:rPr lang="en-US" sz="2000" dirty="0" err="1"/>
              <a:t>développés</a:t>
            </a:r>
            <a:r>
              <a:rPr lang="en-US" sz="2000" dirty="0"/>
              <a:t> </a:t>
            </a:r>
            <a:r>
              <a:rPr lang="en-US" sz="2000" dirty="0" err="1"/>
              <a:t>rapidement</a:t>
            </a:r>
            <a:r>
              <a:rPr lang="en-US" sz="2000" dirty="0"/>
              <a:t> pour </a:t>
            </a:r>
            <a:r>
              <a:rPr lang="en-US" sz="2000" dirty="0" err="1"/>
              <a:t>répondre</a:t>
            </a:r>
            <a:r>
              <a:rPr lang="en-US" sz="2000" dirty="0"/>
              <a:t> </a:t>
            </a:r>
            <a:r>
              <a:rPr lang="en-US" sz="2000" dirty="0" err="1"/>
              <a:t>à</a:t>
            </a:r>
            <a:r>
              <a:rPr lang="en-US" sz="2000" dirty="0"/>
              <a:t> des </a:t>
            </a:r>
            <a:r>
              <a:rPr lang="en-US" sz="2000" dirty="0" err="1"/>
              <a:t>besoins</a:t>
            </a:r>
            <a:r>
              <a:rPr lang="en-US" sz="2000" dirty="0"/>
              <a:t> </a:t>
            </a:r>
            <a:r>
              <a:rPr lang="en-US" sz="2000" dirty="0" err="1"/>
              <a:t>immédiats</a:t>
            </a:r>
            <a:r>
              <a:rPr lang="en-US" sz="2000" dirty="0"/>
              <a:t>.</a:t>
            </a:r>
          </a:p>
          <a:p>
            <a:pPr marL="342900" indent="-342900" algn="just">
              <a:buFont typeface="Arial" panose="020B0604020202020204" pitchFamily="34" charset="0"/>
              <a:buChar char="•"/>
            </a:pPr>
            <a:r>
              <a:rPr lang="en-US" sz="2000" dirty="0" err="1"/>
              <a:t>Adaptabilité</a:t>
            </a:r>
            <a:r>
              <a:rPr lang="en-US" sz="2000" dirty="0"/>
              <a:t> : </a:t>
            </a:r>
            <a:r>
              <a:rPr lang="en-US" sz="2000" dirty="0" err="1"/>
              <a:t>Chaque</a:t>
            </a:r>
            <a:r>
              <a:rPr lang="en-US" sz="2000" dirty="0"/>
              <a:t> Data Mart </a:t>
            </a:r>
            <a:r>
              <a:rPr lang="en-US" sz="2000" dirty="0" err="1"/>
              <a:t>est</a:t>
            </a:r>
            <a:r>
              <a:rPr lang="en-US" sz="2000" dirty="0"/>
              <a:t> </a:t>
            </a:r>
            <a:r>
              <a:rPr lang="en-US" sz="2000" dirty="0" err="1"/>
              <a:t>conçu</a:t>
            </a:r>
            <a:r>
              <a:rPr lang="en-US" sz="2000" dirty="0"/>
              <a:t> pour </a:t>
            </a:r>
            <a:r>
              <a:rPr lang="en-US" sz="2000" dirty="0" err="1"/>
              <a:t>répondre</a:t>
            </a:r>
            <a:r>
              <a:rPr lang="en-US" sz="2000" dirty="0"/>
              <a:t> </a:t>
            </a:r>
            <a:r>
              <a:rPr lang="en-US" sz="2000" dirty="0" err="1"/>
              <a:t>spécifiquement</a:t>
            </a:r>
            <a:r>
              <a:rPr lang="en-US" sz="2000" dirty="0"/>
              <a:t> aux </a:t>
            </a:r>
            <a:r>
              <a:rPr lang="en-US" sz="2000" dirty="0" err="1"/>
              <a:t>besoins</a:t>
            </a:r>
            <a:r>
              <a:rPr lang="en-US" sz="2000" dirty="0"/>
              <a:t> de son </a:t>
            </a:r>
            <a:r>
              <a:rPr lang="en-US" sz="2000" dirty="0" err="1"/>
              <a:t>groupe</a:t>
            </a:r>
            <a:r>
              <a:rPr lang="en-US" sz="2000" dirty="0"/>
              <a:t> </a:t>
            </a:r>
            <a:r>
              <a:rPr lang="en-US" sz="2000" dirty="0" err="1"/>
              <a:t>d'utilisateurs</a:t>
            </a:r>
            <a:r>
              <a:rPr lang="en-US" sz="2000" dirty="0"/>
              <a:t>, </a:t>
            </a:r>
            <a:r>
              <a:rPr lang="en-US" sz="2000" dirty="0" err="1"/>
              <a:t>ce</a:t>
            </a:r>
            <a:r>
              <a:rPr lang="en-US" sz="2000" dirty="0"/>
              <a:t> qui le rend plus </a:t>
            </a:r>
            <a:r>
              <a:rPr lang="en-US" sz="2000" dirty="0" err="1"/>
              <a:t>adapté</a:t>
            </a:r>
            <a:r>
              <a:rPr lang="en-US" sz="2000" dirty="0"/>
              <a:t> et pertinent.</a:t>
            </a:r>
          </a:p>
        </p:txBody>
      </p:sp>
    </p:spTree>
    <p:extLst>
      <p:ext uri="{BB962C8B-B14F-4D97-AF65-F5344CB8AC3E}">
        <p14:creationId xmlns:p14="http://schemas.microsoft.com/office/powerpoint/2010/main" xmlns="" val="30075691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876219" y="2969736"/>
            <a:ext cx="8934587" cy="1938992"/>
          </a:xfrm>
          <a:prstGeom prst="rect">
            <a:avLst/>
          </a:prstGeom>
          <a:noFill/>
        </p:spPr>
        <p:txBody>
          <a:bodyPr wrap="square">
            <a:spAutoFit/>
          </a:bodyPr>
          <a:lstStyle/>
          <a:p>
            <a:r>
              <a:rPr lang="en-US" sz="2000" b="1" dirty="0" err="1"/>
              <a:t>Inconvénients</a:t>
            </a:r>
            <a:r>
              <a:rPr lang="en-US" sz="2000" b="1" dirty="0"/>
              <a:t> :</a:t>
            </a:r>
          </a:p>
          <a:p>
            <a:endParaRPr lang="en-US" sz="2000" dirty="0"/>
          </a:p>
          <a:p>
            <a:pPr marL="342900" indent="-342900" algn="just">
              <a:buFont typeface="Arial" panose="020B0604020202020204" pitchFamily="34" charset="0"/>
              <a:buChar char="•"/>
            </a:pPr>
            <a:r>
              <a:rPr lang="en-US" sz="2000" dirty="0" err="1"/>
              <a:t>Risque</a:t>
            </a:r>
            <a:r>
              <a:rPr lang="en-US" sz="2000" dirty="0"/>
              <a:t> de </a:t>
            </a:r>
            <a:r>
              <a:rPr lang="en-US" sz="2000" dirty="0" err="1"/>
              <a:t>redondance</a:t>
            </a:r>
            <a:r>
              <a:rPr lang="en-US" sz="2000" dirty="0"/>
              <a:t> : Il </a:t>
            </a:r>
            <a:r>
              <a:rPr lang="en-US" sz="2000" dirty="0" err="1"/>
              <a:t>peut</a:t>
            </a:r>
            <a:r>
              <a:rPr lang="en-US" sz="2000" dirty="0"/>
              <a:t> y </a:t>
            </a:r>
            <a:r>
              <a:rPr lang="en-US" sz="2000" dirty="0" err="1"/>
              <a:t>avoir</a:t>
            </a:r>
            <a:r>
              <a:rPr lang="en-US" sz="2000" dirty="0"/>
              <a:t> </a:t>
            </a:r>
            <a:r>
              <a:rPr lang="en-US" sz="2000" dirty="0" err="1"/>
              <a:t>une</a:t>
            </a:r>
            <a:r>
              <a:rPr lang="en-US" sz="2000" dirty="0"/>
              <a:t> duplication des </a:t>
            </a:r>
            <a:r>
              <a:rPr lang="en-US" sz="2000" dirty="0" err="1"/>
              <a:t>données</a:t>
            </a:r>
            <a:r>
              <a:rPr lang="en-US" sz="2000" dirty="0"/>
              <a:t> et des efforts de </a:t>
            </a:r>
            <a:r>
              <a:rPr lang="en-US" sz="2000" dirty="0" err="1"/>
              <a:t>développement</a:t>
            </a:r>
            <a:r>
              <a:rPr lang="en-US" sz="2000" dirty="0"/>
              <a:t> entre les </a:t>
            </a:r>
            <a:r>
              <a:rPr lang="en-US" sz="2000" dirty="0" err="1"/>
              <a:t>différents</a:t>
            </a:r>
            <a:r>
              <a:rPr lang="en-US" sz="2000" dirty="0"/>
              <a:t> Data Marts.</a:t>
            </a:r>
          </a:p>
          <a:p>
            <a:pPr marL="342900" indent="-342900" algn="just">
              <a:buFont typeface="Arial" panose="020B0604020202020204" pitchFamily="34" charset="0"/>
              <a:buChar char="•"/>
            </a:pPr>
            <a:r>
              <a:rPr lang="en-US" sz="2000" dirty="0" err="1"/>
              <a:t>Cohérence</a:t>
            </a:r>
            <a:r>
              <a:rPr lang="en-US" sz="2000" dirty="0"/>
              <a:t> : La </a:t>
            </a:r>
            <a:r>
              <a:rPr lang="en-US" sz="2000" dirty="0" err="1"/>
              <a:t>cohérence</a:t>
            </a:r>
            <a:r>
              <a:rPr lang="en-US" sz="2000" dirty="0"/>
              <a:t> des </a:t>
            </a:r>
            <a:r>
              <a:rPr lang="en-US" sz="2000" dirty="0" err="1"/>
              <a:t>données</a:t>
            </a:r>
            <a:r>
              <a:rPr lang="en-US" sz="2000" dirty="0"/>
              <a:t> </a:t>
            </a:r>
            <a:r>
              <a:rPr lang="en-US" sz="2000" dirty="0" err="1"/>
              <a:t>peut</a:t>
            </a:r>
            <a:r>
              <a:rPr lang="en-US" sz="2000" dirty="0"/>
              <a:t> </a:t>
            </a:r>
            <a:r>
              <a:rPr lang="en-US" sz="2000" dirty="0" err="1"/>
              <a:t>être</a:t>
            </a:r>
            <a:r>
              <a:rPr lang="en-US" sz="2000" dirty="0"/>
              <a:t> difficile </a:t>
            </a:r>
            <a:r>
              <a:rPr lang="en-US" sz="2000" dirty="0" err="1"/>
              <a:t>à</a:t>
            </a:r>
            <a:r>
              <a:rPr lang="en-US" sz="2000" dirty="0"/>
              <a:t> </a:t>
            </a:r>
            <a:r>
              <a:rPr lang="en-US" sz="2000" dirty="0" err="1"/>
              <a:t>maintenir</a:t>
            </a:r>
            <a:r>
              <a:rPr lang="en-US" sz="2000" dirty="0"/>
              <a:t> </a:t>
            </a:r>
            <a:r>
              <a:rPr lang="en-US" sz="2000" dirty="0" err="1"/>
              <a:t>lors</a:t>
            </a:r>
            <a:r>
              <a:rPr lang="en-US" sz="2000" dirty="0"/>
              <a:t> de </a:t>
            </a:r>
            <a:r>
              <a:rPr lang="en-US" sz="2000" dirty="0" err="1"/>
              <a:t>l'intégration</a:t>
            </a:r>
            <a:r>
              <a:rPr lang="en-US" sz="2000" dirty="0"/>
              <a:t> des </a:t>
            </a:r>
            <a:r>
              <a:rPr lang="en-US" sz="2000" dirty="0" err="1"/>
              <a:t>différents</a:t>
            </a:r>
            <a:r>
              <a:rPr lang="en-US" sz="2000" dirty="0"/>
              <a:t> Data Marts.</a:t>
            </a:r>
          </a:p>
        </p:txBody>
      </p:sp>
    </p:spTree>
    <p:extLst>
      <p:ext uri="{BB962C8B-B14F-4D97-AF65-F5344CB8AC3E}">
        <p14:creationId xmlns:p14="http://schemas.microsoft.com/office/powerpoint/2010/main" xmlns="" val="3820994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876219" y="2639536"/>
            <a:ext cx="8934587" cy="1323439"/>
          </a:xfrm>
          <a:prstGeom prst="rect">
            <a:avLst/>
          </a:prstGeom>
          <a:noFill/>
        </p:spPr>
        <p:txBody>
          <a:bodyPr wrap="square">
            <a:spAutoFit/>
          </a:bodyPr>
          <a:lstStyle/>
          <a:p>
            <a:pPr algn="just"/>
            <a:r>
              <a:rPr lang="en-US" sz="2000" dirty="0"/>
              <a:t>”IKEA" commence par identifier les </a:t>
            </a:r>
            <a:r>
              <a:rPr lang="en-US" sz="2000" dirty="0" err="1"/>
              <a:t>besoins</a:t>
            </a:r>
            <a:r>
              <a:rPr lang="en-US" sz="2000" dirty="0"/>
              <a:t> </a:t>
            </a:r>
            <a:r>
              <a:rPr lang="en-US" sz="2000" dirty="0" err="1"/>
              <a:t>spécifiques</a:t>
            </a:r>
            <a:r>
              <a:rPr lang="en-US" sz="2000" dirty="0"/>
              <a:t> de </a:t>
            </a:r>
            <a:r>
              <a:rPr lang="en-US" sz="2000" dirty="0" err="1"/>
              <a:t>ses</a:t>
            </a:r>
            <a:r>
              <a:rPr lang="en-US" sz="2000" dirty="0"/>
              <a:t> </a:t>
            </a:r>
            <a:r>
              <a:rPr lang="en-US" sz="2000" dirty="0" err="1"/>
              <a:t>départements</a:t>
            </a:r>
            <a:r>
              <a:rPr lang="en-US" sz="2000" dirty="0"/>
              <a:t>, </a:t>
            </a:r>
            <a:r>
              <a:rPr lang="en-US" sz="2000" dirty="0" err="1"/>
              <a:t>tels</a:t>
            </a:r>
            <a:r>
              <a:rPr lang="en-US" sz="2000" dirty="0"/>
              <a:t> que le marketing, les ventes et la </a:t>
            </a:r>
            <a:r>
              <a:rPr lang="en-US" sz="2000" dirty="0" err="1"/>
              <a:t>logistique</a:t>
            </a:r>
            <a:r>
              <a:rPr lang="en-US" sz="2000" dirty="0"/>
              <a:t>. </a:t>
            </a:r>
            <a:r>
              <a:rPr lang="en-US" sz="2000" dirty="0" err="1"/>
              <a:t>Chaque</a:t>
            </a:r>
            <a:r>
              <a:rPr lang="en-US" sz="2000" dirty="0"/>
              <a:t> </a:t>
            </a:r>
            <a:r>
              <a:rPr lang="en-US" sz="2000" dirty="0" err="1"/>
              <a:t>département</a:t>
            </a:r>
            <a:r>
              <a:rPr lang="en-US" sz="2000" dirty="0"/>
              <a:t> </a:t>
            </a:r>
            <a:r>
              <a:rPr lang="en-US" sz="2000" dirty="0" err="1"/>
              <a:t>souhaite</a:t>
            </a:r>
            <a:r>
              <a:rPr lang="en-US" sz="2000" dirty="0"/>
              <a:t> </a:t>
            </a:r>
            <a:r>
              <a:rPr lang="en-US" sz="2000" dirty="0" err="1"/>
              <a:t>analyser</a:t>
            </a:r>
            <a:r>
              <a:rPr lang="en-US" sz="2000" dirty="0"/>
              <a:t> </a:t>
            </a:r>
            <a:r>
              <a:rPr lang="en-US" sz="2000" dirty="0" err="1"/>
              <a:t>ses</a:t>
            </a:r>
            <a:r>
              <a:rPr lang="en-US" sz="2000" dirty="0"/>
              <a:t> </a:t>
            </a:r>
            <a:r>
              <a:rPr lang="en-US" sz="2000" dirty="0" err="1"/>
              <a:t>propres</a:t>
            </a:r>
            <a:r>
              <a:rPr lang="en-US" sz="2000" dirty="0"/>
              <a:t> </a:t>
            </a:r>
            <a:r>
              <a:rPr lang="en-US" sz="2000" dirty="0" err="1"/>
              <a:t>données</a:t>
            </a:r>
            <a:r>
              <a:rPr lang="en-US" sz="2000" dirty="0"/>
              <a:t> pour </a:t>
            </a:r>
            <a:r>
              <a:rPr lang="en-US" sz="2000" dirty="0" err="1"/>
              <a:t>optimiser</a:t>
            </a:r>
            <a:r>
              <a:rPr lang="en-US" sz="2000" dirty="0"/>
              <a:t> </a:t>
            </a:r>
            <a:r>
              <a:rPr lang="en-US" sz="2000" dirty="0" err="1"/>
              <a:t>ses</a:t>
            </a:r>
            <a:r>
              <a:rPr lang="en-US" sz="2000" dirty="0"/>
              <a:t> </a:t>
            </a:r>
            <a:r>
              <a:rPr lang="en-US" sz="2000" dirty="0" err="1"/>
              <a:t>opérations</a:t>
            </a:r>
            <a:r>
              <a:rPr lang="en-US" sz="2000" dirty="0"/>
              <a:t> et prendre des </a:t>
            </a:r>
            <a:r>
              <a:rPr lang="en-US" sz="2000" dirty="0" err="1"/>
              <a:t>décisions</a:t>
            </a:r>
            <a:r>
              <a:rPr lang="en-US" sz="2000" dirty="0"/>
              <a:t> </a:t>
            </a:r>
            <a:r>
              <a:rPr lang="en-US" sz="2000" dirty="0" err="1"/>
              <a:t>éclairées</a:t>
            </a:r>
            <a:r>
              <a:rPr lang="en-US" sz="2000" dirty="0"/>
              <a:t>.</a:t>
            </a:r>
          </a:p>
        </p:txBody>
      </p:sp>
      <p:sp>
        <p:nvSpPr>
          <p:cNvPr id="6" name="TextBox 5">
            <a:extLst>
              <a:ext uri="{FF2B5EF4-FFF2-40B4-BE49-F238E27FC236}">
                <a16:creationId xmlns:a16="http://schemas.microsoft.com/office/drawing/2014/main" xmlns="" id="{7718B299-5D61-FD42-9389-DC131684A886}"/>
              </a:ext>
            </a:extLst>
          </p:cNvPr>
          <p:cNvSpPr txBox="1"/>
          <p:nvPr/>
        </p:nvSpPr>
        <p:spPr>
          <a:xfrm>
            <a:off x="1876218" y="4027289"/>
            <a:ext cx="8934587" cy="2554545"/>
          </a:xfrm>
          <a:prstGeom prst="rect">
            <a:avLst/>
          </a:prstGeom>
          <a:noFill/>
        </p:spPr>
        <p:txBody>
          <a:bodyPr wrap="square">
            <a:spAutoFit/>
          </a:bodyPr>
          <a:lstStyle/>
          <a:p>
            <a:pPr marL="457200" indent="-457200" algn="just">
              <a:buFont typeface="+mj-lt"/>
              <a:buAutoNum type="arabicPeriod"/>
            </a:pPr>
            <a:r>
              <a:rPr lang="en-US" sz="2000" b="1" dirty="0"/>
              <a:t>Marketing :</a:t>
            </a:r>
            <a:r>
              <a:rPr lang="en-US" sz="2000" dirty="0"/>
              <a:t> Le </a:t>
            </a:r>
            <a:r>
              <a:rPr lang="en-US" sz="2000" dirty="0" err="1"/>
              <a:t>département</a:t>
            </a:r>
            <a:r>
              <a:rPr lang="en-US" sz="2000" dirty="0"/>
              <a:t> marketing </a:t>
            </a:r>
            <a:r>
              <a:rPr lang="en-US" sz="2000" dirty="0" err="1"/>
              <a:t>souhaite</a:t>
            </a:r>
            <a:r>
              <a:rPr lang="en-US" sz="2000" dirty="0"/>
              <a:t> </a:t>
            </a:r>
            <a:r>
              <a:rPr lang="en-US" sz="2000" dirty="0" err="1"/>
              <a:t>comprendre</a:t>
            </a:r>
            <a:r>
              <a:rPr lang="en-US" sz="2000" dirty="0"/>
              <a:t> le </a:t>
            </a:r>
            <a:r>
              <a:rPr lang="en-US" sz="2000" dirty="0" err="1"/>
              <a:t>comportement</a:t>
            </a:r>
            <a:r>
              <a:rPr lang="en-US" sz="2000" dirty="0"/>
              <a:t> </a:t>
            </a:r>
            <a:r>
              <a:rPr lang="en-US" sz="2000" dirty="0" err="1"/>
              <a:t>d'achat</a:t>
            </a:r>
            <a:r>
              <a:rPr lang="en-US" sz="2000" dirty="0"/>
              <a:t> des clients, les tendances de vente par </a:t>
            </a:r>
            <a:r>
              <a:rPr lang="en-US" sz="2000" dirty="0" err="1"/>
              <a:t>produit</a:t>
            </a:r>
            <a:r>
              <a:rPr lang="en-US" sz="2000" dirty="0"/>
              <a:t> et les performances des </a:t>
            </a:r>
            <a:r>
              <a:rPr lang="en-US" sz="2000" dirty="0" err="1"/>
              <a:t>campagnes</a:t>
            </a:r>
            <a:r>
              <a:rPr lang="en-US" sz="2000" dirty="0"/>
              <a:t> </a:t>
            </a:r>
            <a:r>
              <a:rPr lang="en-US" sz="2000" dirty="0" err="1"/>
              <a:t>publicitaires</a:t>
            </a:r>
            <a:r>
              <a:rPr lang="en-US" sz="2000" dirty="0"/>
              <a:t>.</a:t>
            </a:r>
          </a:p>
          <a:p>
            <a:pPr marL="457200" indent="-457200" algn="just">
              <a:buFont typeface="+mj-lt"/>
              <a:buAutoNum type="arabicPeriod"/>
            </a:pPr>
            <a:r>
              <a:rPr lang="en-US" sz="2000" b="1" dirty="0"/>
              <a:t>Ventes :</a:t>
            </a:r>
            <a:r>
              <a:rPr lang="en-US" sz="2000" dirty="0"/>
              <a:t> Le </a:t>
            </a:r>
            <a:r>
              <a:rPr lang="en-US" sz="2000" dirty="0" err="1"/>
              <a:t>département</a:t>
            </a:r>
            <a:r>
              <a:rPr lang="en-US" sz="2000" dirty="0"/>
              <a:t> des ventes </a:t>
            </a:r>
            <a:r>
              <a:rPr lang="en-US" sz="2000" dirty="0" err="1"/>
              <a:t>veut</a:t>
            </a:r>
            <a:r>
              <a:rPr lang="en-US" sz="2000" dirty="0"/>
              <a:t> </a:t>
            </a:r>
            <a:r>
              <a:rPr lang="en-US" sz="2000" dirty="0" err="1"/>
              <a:t>analyser</a:t>
            </a:r>
            <a:r>
              <a:rPr lang="en-US" sz="2000" dirty="0"/>
              <a:t> les performances des </a:t>
            </a:r>
            <a:r>
              <a:rPr lang="en-US" sz="2000" dirty="0" err="1"/>
              <a:t>vendeurs</a:t>
            </a:r>
            <a:r>
              <a:rPr lang="en-US" sz="2000" dirty="0"/>
              <a:t>, les tendances de vente par </a:t>
            </a:r>
            <a:r>
              <a:rPr lang="en-US" sz="2000" dirty="0" err="1"/>
              <a:t>région</a:t>
            </a:r>
            <a:r>
              <a:rPr lang="en-US" sz="2000" dirty="0"/>
              <a:t> et les </a:t>
            </a:r>
            <a:r>
              <a:rPr lang="en-US" sz="2000" dirty="0" err="1"/>
              <a:t>produits</a:t>
            </a:r>
            <a:r>
              <a:rPr lang="en-US" sz="2000" dirty="0"/>
              <a:t> les plus </a:t>
            </a:r>
            <a:r>
              <a:rPr lang="en-US" sz="2000" dirty="0" err="1"/>
              <a:t>populaires</a:t>
            </a:r>
            <a:r>
              <a:rPr lang="en-US" sz="2000" dirty="0"/>
              <a:t>.</a:t>
            </a:r>
          </a:p>
          <a:p>
            <a:pPr marL="457200" indent="-457200" algn="just">
              <a:buFont typeface="+mj-lt"/>
              <a:buAutoNum type="arabicPeriod"/>
            </a:pPr>
            <a:r>
              <a:rPr lang="en-US" sz="2000" b="1" dirty="0" err="1"/>
              <a:t>Logistique</a:t>
            </a:r>
            <a:r>
              <a:rPr lang="en-US" sz="2000" b="1" dirty="0"/>
              <a:t> :</a:t>
            </a:r>
            <a:r>
              <a:rPr lang="en-US" sz="2000" dirty="0"/>
              <a:t> Le </a:t>
            </a:r>
            <a:r>
              <a:rPr lang="en-US" sz="2000" dirty="0" err="1"/>
              <a:t>département</a:t>
            </a:r>
            <a:r>
              <a:rPr lang="en-US" sz="2000" dirty="0"/>
              <a:t> </a:t>
            </a:r>
            <a:r>
              <a:rPr lang="en-US" sz="2000" dirty="0" err="1"/>
              <a:t>logistique</a:t>
            </a:r>
            <a:r>
              <a:rPr lang="en-US" sz="2000" dirty="0"/>
              <a:t> </a:t>
            </a:r>
            <a:r>
              <a:rPr lang="en-US" sz="2000" dirty="0" err="1"/>
              <a:t>souhaite</a:t>
            </a:r>
            <a:r>
              <a:rPr lang="en-US" sz="2000" dirty="0"/>
              <a:t> </a:t>
            </a:r>
            <a:r>
              <a:rPr lang="en-US" sz="2000" dirty="0" err="1"/>
              <a:t>optimiser</a:t>
            </a:r>
            <a:r>
              <a:rPr lang="en-US" sz="2000" dirty="0"/>
              <a:t> la gestion des stocks, </a:t>
            </a:r>
            <a:r>
              <a:rPr lang="en-US" sz="2000" dirty="0" err="1"/>
              <a:t>prévoir</a:t>
            </a:r>
            <a:r>
              <a:rPr lang="en-US" sz="2000" dirty="0"/>
              <a:t> la </a:t>
            </a:r>
            <a:r>
              <a:rPr lang="en-US" sz="2000" dirty="0" err="1"/>
              <a:t>demande</a:t>
            </a:r>
            <a:r>
              <a:rPr lang="en-US" sz="2000" dirty="0"/>
              <a:t> et </a:t>
            </a:r>
            <a:r>
              <a:rPr lang="en-US" sz="2000" dirty="0" err="1"/>
              <a:t>améliorer</a:t>
            </a:r>
            <a:r>
              <a:rPr lang="en-US" sz="2000" dirty="0"/>
              <a:t> </a:t>
            </a:r>
            <a:r>
              <a:rPr lang="en-US" sz="2000" dirty="0" err="1"/>
              <a:t>l'efficacité</a:t>
            </a:r>
            <a:r>
              <a:rPr lang="en-US" sz="2000" dirty="0"/>
              <a:t> des livraisons.</a:t>
            </a:r>
          </a:p>
        </p:txBody>
      </p:sp>
    </p:spTree>
    <p:extLst>
      <p:ext uri="{BB962C8B-B14F-4D97-AF65-F5344CB8AC3E}">
        <p14:creationId xmlns:p14="http://schemas.microsoft.com/office/powerpoint/2010/main" xmlns="" val="41010094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680324" y="1822032"/>
            <a:ext cx="2831353" cy="461665"/>
          </a:xfrm>
          <a:prstGeom prst="rect">
            <a:avLst/>
          </a:prstGeom>
          <a:noFill/>
        </p:spPr>
        <p:txBody>
          <a:bodyPr wrap="none" rtlCol="0">
            <a:spAutoFit/>
          </a:bodyPr>
          <a:lstStyle/>
          <a:p>
            <a:pPr algn="ctr"/>
            <a:r>
              <a:rPr lang="fr-FR" sz="2400" b="1" dirty="0">
                <a:solidFill>
                  <a:schemeClr val="accent2">
                    <a:lumMod val="50000"/>
                  </a:schemeClr>
                </a:solidFill>
              </a:rPr>
              <a:t>Approche </a:t>
            </a:r>
            <a:r>
              <a:rPr lang="fr-FR" sz="2400" b="1" dirty="0" err="1">
                <a:solidFill>
                  <a:schemeClr val="accent2">
                    <a:lumMod val="50000"/>
                  </a:schemeClr>
                </a:solidFill>
              </a:rPr>
              <a:t>Bottom</a:t>
            </a:r>
            <a:r>
              <a:rPr lang="fr-FR" sz="2400" b="1" dirty="0">
                <a:solidFill>
                  <a:schemeClr val="accent2">
                    <a:lumMod val="50000"/>
                  </a:schemeClr>
                </a:solidFill>
              </a:rPr>
              <a:t>-up</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268949" y="2824604"/>
            <a:ext cx="10149128" cy="3785652"/>
          </a:xfrm>
          <a:prstGeom prst="rect">
            <a:avLst/>
          </a:prstGeom>
          <a:noFill/>
        </p:spPr>
        <p:txBody>
          <a:bodyPr wrap="square">
            <a:spAutoFit/>
          </a:bodyPr>
          <a:lstStyle/>
          <a:p>
            <a:pPr algn="just"/>
            <a:r>
              <a:rPr lang="en-US" sz="2000" dirty="0"/>
              <a:t>Pour </a:t>
            </a:r>
            <a:r>
              <a:rPr lang="en-US" sz="2000" dirty="0" err="1"/>
              <a:t>répondre</a:t>
            </a:r>
            <a:r>
              <a:rPr lang="en-US" sz="2000" dirty="0"/>
              <a:t> </a:t>
            </a:r>
            <a:r>
              <a:rPr lang="en-US" sz="2000" dirty="0" err="1"/>
              <a:t>à</a:t>
            </a:r>
            <a:r>
              <a:rPr lang="en-US" sz="2000" dirty="0"/>
              <a:t> </a:t>
            </a:r>
            <a:r>
              <a:rPr lang="en-US" sz="2000" dirty="0" err="1"/>
              <a:t>ces</a:t>
            </a:r>
            <a:r>
              <a:rPr lang="en-US" sz="2000" dirty="0"/>
              <a:t> </a:t>
            </a:r>
            <a:r>
              <a:rPr lang="en-US" sz="2000" dirty="0" err="1"/>
              <a:t>besoins</a:t>
            </a:r>
            <a:r>
              <a:rPr lang="en-US" sz="2000" dirty="0"/>
              <a:t>, ”IKEA" </a:t>
            </a:r>
            <a:r>
              <a:rPr lang="en-US" sz="2000" dirty="0" err="1"/>
              <a:t>décide</a:t>
            </a:r>
            <a:r>
              <a:rPr lang="en-US" sz="2000" dirty="0"/>
              <a:t> de </a:t>
            </a:r>
            <a:r>
              <a:rPr lang="en-US" sz="2000" dirty="0" err="1"/>
              <a:t>mettre</a:t>
            </a:r>
            <a:r>
              <a:rPr lang="en-US" sz="2000" dirty="0"/>
              <a:t> </a:t>
            </a:r>
            <a:r>
              <a:rPr lang="en-US" sz="2000" dirty="0" err="1"/>
              <a:t>en</a:t>
            </a:r>
            <a:r>
              <a:rPr lang="en-US" sz="2000" dirty="0"/>
              <a:t> place des Data Marts </a:t>
            </a:r>
            <a:r>
              <a:rPr lang="en-US" sz="2000" dirty="0" err="1"/>
              <a:t>départementaux</a:t>
            </a:r>
            <a:r>
              <a:rPr lang="en-US" sz="2000" dirty="0"/>
              <a:t> :</a:t>
            </a:r>
          </a:p>
          <a:p>
            <a:pPr algn="just"/>
            <a:endParaRPr lang="en-US" sz="2000" dirty="0"/>
          </a:p>
          <a:p>
            <a:pPr marL="342900" indent="-342900" algn="just">
              <a:buFont typeface="Arial" panose="020B0604020202020204" pitchFamily="34" charset="0"/>
              <a:buChar char="•"/>
            </a:pPr>
            <a:r>
              <a:rPr lang="en-US" sz="2000" dirty="0"/>
              <a:t>Un Data Mart Marketing pour </a:t>
            </a:r>
            <a:r>
              <a:rPr lang="en-US" sz="2000" dirty="0" err="1"/>
              <a:t>analyser</a:t>
            </a:r>
            <a:r>
              <a:rPr lang="en-US" sz="2000" dirty="0"/>
              <a:t> les </a:t>
            </a:r>
            <a:r>
              <a:rPr lang="en-US" sz="2000" dirty="0" err="1"/>
              <a:t>données</a:t>
            </a:r>
            <a:r>
              <a:rPr lang="en-US" sz="2000" dirty="0"/>
              <a:t> sur les clients, les </a:t>
            </a:r>
            <a:r>
              <a:rPr lang="en-US" sz="2000" dirty="0" err="1"/>
              <a:t>produits</a:t>
            </a:r>
            <a:r>
              <a:rPr lang="en-US" sz="2000" dirty="0"/>
              <a:t> et les </a:t>
            </a:r>
            <a:r>
              <a:rPr lang="en-US" sz="2000" dirty="0" err="1"/>
              <a:t>campagnes</a:t>
            </a:r>
            <a:r>
              <a:rPr lang="en-US" sz="2000" dirty="0"/>
              <a:t> </a:t>
            </a:r>
            <a:r>
              <a:rPr lang="en-US" sz="2000" dirty="0" err="1"/>
              <a:t>publicitaires</a:t>
            </a:r>
            <a:r>
              <a:rPr lang="en-US" sz="2000" dirty="0"/>
              <a:t>.</a:t>
            </a:r>
          </a:p>
          <a:p>
            <a:pPr marL="342900" indent="-342900" algn="just">
              <a:buFont typeface="Arial" panose="020B0604020202020204" pitchFamily="34" charset="0"/>
              <a:buChar char="•"/>
            </a:pPr>
            <a:r>
              <a:rPr lang="en-US" sz="2000" dirty="0"/>
              <a:t>Un Data Mart Ventes pour examiner les </a:t>
            </a:r>
            <a:r>
              <a:rPr lang="en-US" sz="2000" dirty="0" err="1"/>
              <a:t>données</a:t>
            </a:r>
            <a:r>
              <a:rPr lang="en-US" sz="2000" dirty="0"/>
              <a:t> sur les ventes, les </a:t>
            </a:r>
            <a:r>
              <a:rPr lang="en-US" sz="2000" dirty="0" err="1"/>
              <a:t>vendeurs</a:t>
            </a:r>
            <a:r>
              <a:rPr lang="en-US" sz="2000" dirty="0"/>
              <a:t> et les </a:t>
            </a:r>
            <a:r>
              <a:rPr lang="en-US" sz="2000" dirty="0" err="1"/>
              <a:t>régions</a:t>
            </a:r>
            <a:r>
              <a:rPr lang="en-US" sz="2000" dirty="0"/>
              <a:t>.</a:t>
            </a:r>
          </a:p>
          <a:p>
            <a:pPr marL="342900" indent="-342900" algn="just">
              <a:buFont typeface="Arial" panose="020B0604020202020204" pitchFamily="34" charset="0"/>
              <a:buChar char="•"/>
            </a:pPr>
            <a:r>
              <a:rPr lang="en-US" sz="2000" dirty="0"/>
              <a:t>Un Data Mart </a:t>
            </a:r>
            <a:r>
              <a:rPr lang="en-US" sz="2000" dirty="0" err="1"/>
              <a:t>Logistique</a:t>
            </a:r>
            <a:r>
              <a:rPr lang="en-US" sz="2000" dirty="0"/>
              <a:t> pour </a:t>
            </a:r>
            <a:r>
              <a:rPr lang="en-US" sz="2000" dirty="0" err="1"/>
              <a:t>gérer</a:t>
            </a:r>
            <a:r>
              <a:rPr lang="en-US" sz="2000" dirty="0"/>
              <a:t> les </a:t>
            </a:r>
            <a:r>
              <a:rPr lang="en-US" sz="2000" dirty="0" err="1"/>
              <a:t>données</a:t>
            </a:r>
            <a:r>
              <a:rPr lang="en-US" sz="2000" dirty="0"/>
              <a:t> sur les stocks, les </a:t>
            </a:r>
            <a:r>
              <a:rPr lang="en-US" sz="2000" dirty="0" err="1"/>
              <a:t>prévisions</a:t>
            </a:r>
            <a:r>
              <a:rPr lang="en-US" sz="2000" dirty="0"/>
              <a:t> de </a:t>
            </a:r>
            <a:r>
              <a:rPr lang="en-US" sz="2000" dirty="0" err="1"/>
              <a:t>demande</a:t>
            </a:r>
            <a:r>
              <a:rPr lang="en-US" sz="2000" dirty="0"/>
              <a:t> et les livraisons.</a:t>
            </a:r>
          </a:p>
          <a:p>
            <a:pPr algn="just"/>
            <a:endParaRPr lang="en-US" sz="2000" dirty="0"/>
          </a:p>
          <a:p>
            <a:pPr algn="just"/>
            <a:r>
              <a:rPr lang="en-US" sz="2000" dirty="0" err="1"/>
              <a:t>Chaque</a:t>
            </a:r>
            <a:r>
              <a:rPr lang="en-US" sz="2000" dirty="0"/>
              <a:t> Data Mart </a:t>
            </a:r>
            <a:r>
              <a:rPr lang="en-US" sz="2000" dirty="0" err="1"/>
              <a:t>est</a:t>
            </a:r>
            <a:r>
              <a:rPr lang="en-US" sz="2000" dirty="0"/>
              <a:t> </a:t>
            </a:r>
            <a:r>
              <a:rPr lang="en-US" sz="2000" dirty="0" err="1"/>
              <a:t>conçu</a:t>
            </a:r>
            <a:r>
              <a:rPr lang="en-US" sz="2000" dirty="0"/>
              <a:t> et </a:t>
            </a:r>
            <a:r>
              <a:rPr lang="en-US" sz="2000" dirty="0" err="1"/>
              <a:t>développé</a:t>
            </a:r>
            <a:r>
              <a:rPr lang="en-US" sz="2000" dirty="0"/>
              <a:t> </a:t>
            </a:r>
            <a:r>
              <a:rPr lang="en-US" sz="2000" dirty="0" err="1"/>
              <a:t>indépendamment</a:t>
            </a:r>
            <a:r>
              <a:rPr lang="en-US" sz="2000" dirty="0"/>
              <a:t> pour </a:t>
            </a:r>
            <a:r>
              <a:rPr lang="en-US" sz="2000" dirty="0" err="1"/>
              <a:t>répondre</a:t>
            </a:r>
            <a:r>
              <a:rPr lang="en-US" sz="2000" dirty="0"/>
              <a:t> </a:t>
            </a:r>
            <a:r>
              <a:rPr lang="en-US" sz="2000" dirty="0" err="1"/>
              <a:t>spécifiquement</a:t>
            </a:r>
            <a:r>
              <a:rPr lang="en-US" sz="2000" dirty="0"/>
              <a:t> aux </a:t>
            </a:r>
            <a:r>
              <a:rPr lang="en-US" sz="2000" dirty="0" err="1"/>
              <a:t>besoins</a:t>
            </a:r>
            <a:r>
              <a:rPr lang="en-US" sz="2000" dirty="0"/>
              <a:t> de son </a:t>
            </a:r>
            <a:r>
              <a:rPr lang="en-US" sz="2000" dirty="0" err="1"/>
              <a:t>département</a:t>
            </a:r>
            <a:r>
              <a:rPr lang="en-US" sz="2000" dirty="0"/>
              <a:t> </a:t>
            </a:r>
            <a:r>
              <a:rPr lang="en-US" sz="2000" dirty="0" err="1"/>
              <a:t>respectif</a:t>
            </a:r>
            <a:r>
              <a:rPr lang="en-US" sz="2000" dirty="0"/>
              <a:t>.</a:t>
            </a:r>
          </a:p>
        </p:txBody>
      </p:sp>
    </p:spTree>
    <p:extLst>
      <p:ext uri="{BB962C8B-B14F-4D97-AF65-F5344CB8AC3E}">
        <p14:creationId xmlns:p14="http://schemas.microsoft.com/office/powerpoint/2010/main" xmlns="" val="27105167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
        <p:nvSpPr>
          <p:cNvPr id="5" name="TextBox 4">
            <a:extLst>
              <a:ext uri="{FF2B5EF4-FFF2-40B4-BE49-F238E27FC236}">
                <a16:creationId xmlns:a16="http://schemas.microsoft.com/office/drawing/2014/main" xmlns="" id="{5A7156BE-3B28-2B41-8DBF-E1014518E8E2}"/>
              </a:ext>
            </a:extLst>
          </p:cNvPr>
          <p:cNvSpPr txBox="1"/>
          <p:nvPr/>
        </p:nvSpPr>
        <p:spPr>
          <a:xfrm>
            <a:off x="2698613" y="3058636"/>
            <a:ext cx="7289800" cy="1882567"/>
          </a:xfrm>
          <a:prstGeom prst="rect">
            <a:avLst/>
          </a:prstGeom>
          <a:noFill/>
        </p:spPr>
        <p:txBody>
          <a:bodyPr wrap="square">
            <a:spAutoFit/>
          </a:bodyPr>
          <a:lstStyle/>
          <a:p>
            <a:pPr algn="just">
              <a:lnSpc>
                <a:spcPct val="150000"/>
              </a:lnSpc>
            </a:pPr>
            <a:r>
              <a:rPr lang="en-US" sz="2000" b="1" dirty="0" err="1"/>
              <a:t>Définition</a:t>
            </a:r>
            <a:r>
              <a:rPr lang="en-US" sz="2000" b="1" dirty="0"/>
              <a:t> :</a:t>
            </a:r>
            <a:r>
              <a:rPr lang="en-US" sz="2000" dirty="0"/>
              <a:t> Dans </a:t>
            </a:r>
            <a:r>
              <a:rPr lang="en-US" sz="2000" dirty="0" err="1"/>
              <a:t>une</a:t>
            </a:r>
            <a:r>
              <a:rPr lang="en-US" sz="2000" dirty="0"/>
              <a:t> </a:t>
            </a:r>
            <a:r>
              <a:rPr lang="en-US" sz="2000" dirty="0" err="1"/>
              <a:t>approche</a:t>
            </a:r>
            <a:r>
              <a:rPr lang="en-US" sz="2000" dirty="0"/>
              <a:t> top-down, on commence par </a:t>
            </a:r>
            <a:r>
              <a:rPr lang="en-US" sz="2000" dirty="0" err="1"/>
              <a:t>concevoir</a:t>
            </a:r>
            <a:r>
              <a:rPr lang="en-US" sz="2000" dirty="0"/>
              <a:t> et </a:t>
            </a:r>
            <a:r>
              <a:rPr lang="en-US" sz="2000" dirty="0" err="1"/>
              <a:t>construire</a:t>
            </a:r>
            <a:r>
              <a:rPr lang="en-US" sz="2000" dirty="0"/>
              <a:t> un entrepôt de </a:t>
            </a:r>
            <a:r>
              <a:rPr lang="en-US" sz="2000" dirty="0" err="1"/>
              <a:t>données</a:t>
            </a:r>
            <a:r>
              <a:rPr lang="en-US" sz="2000" dirty="0"/>
              <a:t> </a:t>
            </a:r>
            <a:r>
              <a:rPr lang="en-US" sz="2000" dirty="0" err="1"/>
              <a:t>centralisé</a:t>
            </a:r>
            <a:r>
              <a:rPr lang="en-US" sz="2000" dirty="0"/>
              <a:t> qui </a:t>
            </a:r>
            <a:r>
              <a:rPr lang="en-US" sz="2000" dirty="0" err="1"/>
              <a:t>couvre</a:t>
            </a:r>
            <a:r>
              <a:rPr lang="en-US" sz="2000" dirty="0"/>
              <a:t> </a:t>
            </a:r>
            <a:r>
              <a:rPr lang="en-US" sz="2000" dirty="0" err="1"/>
              <a:t>l'ensemble</a:t>
            </a:r>
            <a:r>
              <a:rPr lang="en-US" sz="2000" dirty="0"/>
              <a:t> de </a:t>
            </a:r>
            <a:r>
              <a:rPr lang="en-US" sz="2000" dirty="0" err="1"/>
              <a:t>l'entreprise</a:t>
            </a:r>
            <a:r>
              <a:rPr lang="en-US" sz="2000" dirty="0"/>
              <a:t>, </a:t>
            </a:r>
            <a:r>
              <a:rPr lang="en-US" sz="2000" dirty="0" err="1"/>
              <a:t>souvent</a:t>
            </a:r>
            <a:r>
              <a:rPr lang="en-US" sz="2000" dirty="0"/>
              <a:t> </a:t>
            </a:r>
            <a:r>
              <a:rPr lang="en-US" sz="2000" dirty="0" err="1"/>
              <a:t>appelé</a:t>
            </a:r>
            <a:r>
              <a:rPr lang="en-US" sz="2000" dirty="0"/>
              <a:t> "Data Warehouse".</a:t>
            </a:r>
          </a:p>
        </p:txBody>
      </p:sp>
    </p:spTree>
    <p:extLst>
      <p:ext uri="{BB962C8B-B14F-4D97-AF65-F5344CB8AC3E}">
        <p14:creationId xmlns:p14="http://schemas.microsoft.com/office/powerpoint/2010/main" xmlns="" val="23877058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
        <p:nvSpPr>
          <p:cNvPr id="5" name="TextBox 4">
            <a:extLst>
              <a:ext uri="{FF2B5EF4-FFF2-40B4-BE49-F238E27FC236}">
                <a16:creationId xmlns:a16="http://schemas.microsoft.com/office/drawing/2014/main" xmlns="" id="{5A7156BE-3B28-2B41-8DBF-E1014518E8E2}"/>
              </a:ext>
            </a:extLst>
          </p:cNvPr>
          <p:cNvSpPr txBox="1"/>
          <p:nvPr/>
        </p:nvSpPr>
        <p:spPr>
          <a:xfrm>
            <a:off x="1939719" y="2855436"/>
            <a:ext cx="8807587" cy="2862322"/>
          </a:xfrm>
          <a:prstGeom prst="rect">
            <a:avLst/>
          </a:prstGeom>
          <a:noFill/>
        </p:spPr>
        <p:txBody>
          <a:bodyPr wrap="square">
            <a:spAutoFit/>
          </a:bodyPr>
          <a:lstStyle/>
          <a:p>
            <a:pPr algn="just"/>
            <a:r>
              <a:rPr lang="en-US" sz="2000" b="1" dirty="0" err="1"/>
              <a:t>Caractéristiques</a:t>
            </a:r>
            <a:r>
              <a:rPr lang="en-US" sz="2000" b="1" dirty="0"/>
              <a:t> :</a:t>
            </a:r>
          </a:p>
          <a:p>
            <a:pPr algn="just"/>
            <a:endParaRPr lang="en-US" sz="2000" dirty="0"/>
          </a:p>
          <a:p>
            <a:pPr marL="342900" indent="-342900" algn="just">
              <a:buFont typeface="Arial" panose="020B0604020202020204" pitchFamily="34" charset="0"/>
              <a:buChar char="•"/>
            </a:pPr>
            <a:r>
              <a:rPr lang="en-US" sz="2000" dirty="0"/>
              <a:t>Elle part </a:t>
            </a:r>
            <a:r>
              <a:rPr lang="en-US" sz="2000" dirty="0" err="1"/>
              <a:t>d'une</a:t>
            </a:r>
            <a:r>
              <a:rPr lang="en-US" sz="2000" dirty="0"/>
              <a:t> vision </a:t>
            </a:r>
            <a:r>
              <a:rPr lang="en-US" sz="2000" dirty="0" err="1"/>
              <a:t>holistique</a:t>
            </a:r>
            <a:r>
              <a:rPr lang="en-US" sz="2000" dirty="0"/>
              <a:t> des </a:t>
            </a:r>
            <a:r>
              <a:rPr lang="en-US" sz="2000" dirty="0" err="1"/>
              <a:t>besoins</a:t>
            </a:r>
            <a:r>
              <a:rPr lang="en-US" sz="2000" dirty="0"/>
              <a:t> de </a:t>
            </a:r>
            <a:r>
              <a:rPr lang="en-US" sz="2000" dirty="0" err="1"/>
              <a:t>l'entreprise</a:t>
            </a:r>
            <a:r>
              <a:rPr lang="en-US" sz="2000" dirty="0"/>
              <a:t> dans son ensemble.</a:t>
            </a:r>
          </a:p>
          <a:p>
            <a:pPr marL="342900" indent="-342900" algn="just">
              <a:buFont typeface="Arial" panose="020B0604020202020204" pitchFamily="34" charset="0"/>
              <a:buChar char="•"/>
            </a:pPr>
            <a:r>
              <a:rPr lang="en-US" sz="2000" dirty="0" err="1"/>
              <a:t>L'entrepôt</a:t>
            </a:r>
            <a:r>
              <a:rPr lang="en-US" sz="2000" dirty="0"/>
              <a:t> de </a:t>
            </a:r>
            <a:r>
              <a:rPr lang="en-US" sz="2000" dirty="0" err="1"/>
              <a:t>données</a:t>
            </a:r>
            <a:r>
              <a:rPr lang="en-US" sz="2000" dirty="0"/>
              <a:t> </a:t>
            </a:r>
            <a:r>
              <a:rPr lang="en-US" sz="2000" dirty="0" err="1"/>
              <a:t>est</a:t>
            </a:r>
            <a:r>
              <a:rPr lang="en-US" sz="2000" dirty="0"/>
              <a:t> </a:t>
            </a:r>
            <a:r>
              <a:rPr lang="en-US" sz="2000" dirty="0" err="1"/>
              <a:t>conçu</a:t>
            </a:r>
            <a:r>
              <a:rPr lang="en-US" sz="2000" dirty="0"/>
              <a:t> pour </a:t>
            </a:r>
            <a:r>
              <a:rPr lang="en-US" sz="2000" dirty="0" err="1"/>
              <a:t>intégrer</a:t>
            </a:r>
            <a:r>
              <a:rPr lang="en-US" sz="2000" dirty="0"/>
              <a:t> </a:t>
            </a:r>
            <a:r>
              <a:rPr lang="en-US" sz="2000" dirty="0" err="1"/>
              <a:t>toutes</a:t>
            </a:r>
            <a:r>
              <a:rPr lang="en-US" sz="2000" dirty="0"/>
              <a:t> les </a:t>
            </a:r>
            <a:r>
              <a:rPr lang="en-US" sz="2000" dirty="0" err="1"/>
              <a:t>données</a:t>
            </a:r>
            <a:r>
              <a:rPr lang="en-US" sz="2000" dirty="0"/>
              <a:t> de </a:t>
            </a:r>
            <a:r>
              <a:rPr lang="en-US" sz="2000" dirty="0" err="1"/>
              <a:t>l'entreprise</a:t>
            </a:r>
            <a:r>
              <a:rPr lang="en-US" sz="2000" dirty="0"/>
              <a:t>, avec </a:t>
            </a:r>
            <a:r>
              <a:rPr lang="en-US" sz="2000" dirty="0" err="1"/>
              <a:t>une</a:t>
            </a:r>
            <a:r>
              <a:rPr lang="en-US" sz="2000" dirty="0"/>
              <a:t> architecture et des </a:t>
            </a:r>
            <a:r>
              <a:rPr lang="en-US" sz="2000" dirty="0" err="1"/>
              <a:t>modèles</a:t>
            </a:r>
            <a:r>
              <a:rPr lang="en-US" sz="2000" dirty="0"/>
              <a:t> de </a:t>
            </a:r>
            <a:r>
              <a:rPr lang="en-US" sz="2000" dirty="0" err="1"/>
              <a:t>données</a:t>
            </a:r>
            <a:r>
              <a:rPr lang="en-US" sz="2000" dirty="0"/>
              <a:t> </a:t>
            </a:r>
            <a:r>
              <a:rPr lang="en-US" sz="2000" dirty="0" err="1"/>
              <a:t>normalisés</a:t>
            </a:r>
            <a:r>
              <a:rPr lang="en-US" sz="2000" dirty="0"/>
              <a:t>.</a:t>
            </a:r>
          </a:p>
          <a:p>
            <a:pPr marL="342900" indent="-342900" algn="just">
              <a:buFont typeface="Arial" panose="020B0604020202020204" pitchFamily="34" charset="0"/>
              <a:buChar char="•"/>
            </a:pPr>
            <a:r>
              <a:rPr lang="en-US" sz="2000" dirty="0"/>
              <a:t>Des </a:t>
            </a:r>
            <a:r>
              <a:rPr lang="en-US" sz="2000" dirty="0" err="1"/>
              <a:t>vues</a:t>
            </a:r>
            <a:r>
              <a:rPr lang="en-US" sz="2000" dirty="0"/>
              <a:t> </a:t>
            </a:r>
            <a:r>
              <a:rPr lang="en-US" sz="2000" dirty="0" err="1"/>
              <a:t>ou</a:t>
            </a:r>
            <a:r>
              <a:rPr lang="en-US" sz="2000" dirty="0"/>
              <a:t> des couches de </a:t>
            </a:r>
            <a:r>
              <a:rPr lang="en-US" sz="2000" dirty="0" err="1"/>
              <a:t>données</a:t>
            </a:r>
            <a:r>
              <a:rPr lang="en-US" sz="2000" dirty="0"/>
              <a:t> </a:t>
            </a:r>
            <a:r>
              <a:rPr lang="en-US" sz="2000" dirty="0" err="1"/>
              <a:t>spécifiques</a:t>
            </a:r>
            <a:r>
              <a:rPr lang="en-US" sz="2000" dirty="0"/>
              <a:t> </a:t>
            </a:r>
            <a:r>
              <a:rPr lang="en-US" sz="2000" dirty="0" err="1"/>
              <a:t>peuvent</a:t>
            </a:r>
            <a:r>
              <a:rPr lang="en-US" sz="2000" dirty="0"/>
              <a:t> </a:t>
            </a:r>
            <a:r>
              <a:rPr lang="en-US" sz="2000" dirty="0" err="1"/>
              <a:t>être</a:t>
            </a:r>
            <a:r>
              <a:rPr lang="en-US" sz="2000" dirty="0"/>
              <a:t> </a:t>
            </a:r>
            <a:r>
              <a:rPr lang="en-US" sz="2000" dirty="0" err="1"/>
              <a:t>construites</a:t>
            </a:r>
            <a:r>
              <a:rPr lang="en-US" sz="2000" dirty="0"/>
              <a:t> pour </a:t>
            </a:r>
            <a:r>
              <a:rPr lang="en-US" sz="2000" dirty="0" err="1"/>
              <a:t>répondre</a:t>
            </a:r>
            <a:r>
              <a:rPr lang="en-US" sz="2000" dirty="0"/>
              <a:t> aux </a:t>
            </a:r>
            <a:r>
              <a:rPr lang="en-US" sz="2000" dirty="0" err="1"/>
              <a:t>besoins</a:t>
            </a:r>
            <a:r>
              <a:rPr lang="en-US" sz="2000" dirty="0"/>
              <a:t> des </a:t>
            </a:r>
            <a:r>
              <a:rPr lang="en-US" sz="2000" dirty="0" err="1"/>
              <a:t>différents</a:t>
            </a:r>
            <a:r>
              <a:rPr lang="en-US" sz="2000" dirty="0"/>
              <a:t> </a:t>
            </a:r>
            <a:r>
              <a:rPr lang="en-US" sz="2000" dirty="0" err="1"/>
              <a:t>départements</a:t>
            </a:r>
            <a:r>
              <a:rPr lang="en-US" sz="2000" dirty="0"/>
              <a:t> </a:t>
            </a:r>
            <a:r>
              <a:rPr lang="en-US" sz="2000" dirty="0" err="1"/>
              <a:t>ou</a:t>
            </a:r>
            <a:r>
              <a:rPr lang="en-US" sz="2000" dirty="0"/>
              <a:t> </a:t>
            </a:r>
            <a:r>
              <a:rPr lang="en-US" sz="2000" dirty="0" err="1"/>
              <a:t>groupes</a:t>
            </a:r>
            <a:r>
              <a:rPr lang="en-US" sz="2000" dirty="0"/>
              <a:t> </a:t>
            </a:r>
            <a:r>
              <a:rPr lang="en-US" sz="2000" dirty="0" err="1"/>
              <a:t>d'utilisateurs</a:t>
            </a:r>
            <a:r>
              <a:rPr lang="en-US" sz="2000" dirty="0"/>
              <a:t>.</a:t>
            </a:r>
          </a:p>
        </p:txBody>
      </p:sp>
    </p:spTree>
    <p:extLst>
      <p:ext uri="{BB962C8B-B14F-4D97-AF65-F5344CB8AC3E}">
        <p14:creationId xmlns:p14="http://schemas.microsoft.com/office/powerpoint/2010/main" xmlns="" val="20643470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
        <p:nvSpPr>
          <p:cNvPr id="6" name="TextBox 5">
            <a:extLst>
              <a:ext uri="{FF2B5EF4-FFF2-40B4-BE49-F238E27FC236}">
                <a16:creationId xmlns:a16="http://schemas.microsoft.com/office/drawing/2014/main" xmlns="" id="{E7B4AACA-BDED-9640-B4A5-AED0CAED05D6}"/>
              </a:ext>
            </a:extLst>
          </p:cNvPr>
          <p:cNvSpPr txBox="1"/>
          <p:nvPr/>
        </p:nvSpPr>
        <p:spPr>
          <a:xfrm>
            <a:off x="1939719" y="3058636"/>
            <a:ext cx="8807587" cy="1938992"/>
          </a:xfrm>
          <a:prstGeom prst="rect">
            <a:avLst/>
          </a:prstGeom>
          <a:noFill/>
        </p:spPr>
        <p:txBody>
          <a:bodyPr wrap="square">
            <a:spAutoFit/>
          </a:bodyPr>
          <a:lstStyle/>
          <a:p>
            <a:pPr algn="just"/>
            <a:r>
              <a:rPr lang="en-US" sz="2000" b="1" dirty="0" err="1"/>
              <a:t>Avantages</a:t>
            </a:r>
            <a:r>
              <a:rPr lang="en-US" sz="2000" b="1" dirty="0"/>
              <a:t> :</a:t>
            </a:r>
          </a:p>
          <a:p>
            <a:pPr algn="just"/>
            <a:endParaRPr lang="en-US" sz="2000" dirty="0"/>
          </a:p>
          <a:p>
            <a:pPr marL="342900" indent="-342900" algn="just">
              <a:buFont typeface="Arial" panose="020B0604020202020204" pitchFamily="34" charset="0"/>
              <a:buChar char="•"/>
            </a:pPr>
            <a:r>
              <a:rPr lang="en-US" sz="2000" dirty="0" err="1"/>
              <a:t>Cohérence</a:t>
            </a:r>
            <a:r>
              <a:rPr lang="en-US" sz="2000" dirty="0"/>
              <a:t> des </a:t>
            </a:r>
            <a:r>
              <a:rPr lang="en-US" sz="2000" dirty="0" err="1"/>
              <a:t>données</a:t>
            </a:r>
            <a:r>
              <a:rPr lang="en-US" sz="2000" dirty="0"/>
              <a:t> : </a:t>
            </a:r>
            <a:r>
              <a:rPr lang="en-US" sz="2000" dirty="0" err="1"/>
              <a:t>L'entrepôt</a:t>
            </a:r>
            <a:r>
              <a:rPr lang="en-US" sz="2000" dirty="0"/>
              <a:t> de </a:t>
            </a:r>
            <a:r>
              <a:rPr lang="en-US" sz="2000" dirty="0" err="1"/>
              <a:t>données</a:t>
            </a:r>
            <a:r>
              <a:rPr lang="en-US" sz="2000" dirty="0"/>
              <a:t> </a:t>
            </a:r>
            <a:r>
              <a:rPr lang="en-US" sz="2000" dirty="0" err="1"/>
              <a:t>centralisé</a:t>
            </a:r>
            <a:r>
              <a:rPr lang="en-US" sz="2000" dirty="0"/>
              <a:t> </a:t>
            </a:r>
            <a:r>
              <a:rPr lang="en-US" sz="2000" dirty="0" err="1"/>
              <a:t>garantit</a:t>
            </a:r>
            <a:r>
              <a:rPr lang="en-US" sz="2000" dirty="0"/>
              <a:t> la </a:t>
            </a:r>
            <a:r>
              <a:rPr lang="en-US" sz="2000" dirty="0" err="1"/>
              <a:t>cohérence</a:t>
            </a:r>
            <a:r>
              <a:rPr lang="en-US" sz="2000" dirty="0"/>
              <a:t> des </a:t>
            </a:r>
            <a:r>
              <a:rPr lang="en-US" sz="2000" dirty="0" err="1"/>
              <a:t>données</a:t>
            </a:r>
            <a:r>
              <a:rPr lang="en-US" sz="2000" dirty="0"/>
              <a:t> </a:t>
            </a:r>
            <a:r>
              <a:rPr lang="en-US" sz="2000" dirty="0" err="1"/>
              <a:t>à</a:t>
            </a:r>
            <a:r>
              <a:rPr lang="en-US" sz="2000" dirty="0"/>
              <a:t> travers </a:t>
            </a:r>
            <a:r>
              <a:rPr lang="en-US" sz="2000" dirty="0" err="1"/>
              <a:t>toute</a:t>
            </a:r>
            <a:r>
              <a:rPr lang="en-US" sz="2000" dirty="0"/>
              <a:t> </a:t>
            </a:r>
            <a:r>
              <a:rPr lang="en-US" sz="2000" dirty="0" err="1"/>
              <a:t>l'entreprise</a:t>
            </a:r>
            <a:r>
              <a:rPr lang="en-US" sz="2000" dirty="0"/>
              <a:t>.</a:t>
            </a:r>
          </a:p>
          <a:p>
            <a:pPr marL="342900" indent="-342900" algn="just">
              <a:buFont typeface="Arial" panose="020B0604020202020204" pitchFamily="34" charset="0"/>
              <a:buChar char="•"/>
            </a:pPr>
            <a:r>
              <a:rPr lang="en-US" sz="2000" dirty="0" err="1"/>
              <a:t>Facilité</a:t>
            </a:r>
            <a:r>
              <a:rPr lang="en-US" sz="2000" dirty="0"/>
              <a:t> </a:t>
            </a:r>
            <a:r>
              <a:rPr lang="en-US" sz="2000" dirty="0" err="1"/>
              <a:t>d'intégration</a:t>
            </a:r>
            <a:r>
              <a:rPr lang="en-US" sz="2000" dirty="0"/>
              <a:t> : Les </a:t>
            </a:r>
            <a:r>
              <a:rPr lang="en-US" sz="2000" dirty="0" err="1"/>
              <a:t>données</a:t>
            </a:r>
            <a:r>
              <a:rPr lang="en-US" sz="2000" dirty="0"/>
              <a:t> </a:t>
            </a:r>
            <a:r>
              <a:rPr lang="en-US" sz="2000" dirty="0" err="1"/>
              <a:t>provenant</a:t>
            </a:r>
            <a:r>
              <a:rPr lang="en-US" sz="2000" dirty="0"/>
              <a:t> de </a:t>
            </a:r>
            <a:r>
              <a:rPr lang="en-US" sz="2000" dirty="0" err="1"/>
              <a:t>différentes</a:t>
            </a:r>
            <a:r>
              <a:rPr lang="en-US" sz="2000" dirty="0"/>
              <a:t> sources </a:t>
            </a:r>
            <a:r>
              <a:rPr lang="en-US" sz="2000" dirty="0" err="1"/>
              <a:t>sont</a:t>
            </a:r>
            <a:r>
              <a:rPr lang="en-US" sz="2000" dirty="0"/>
              <a:t> </a:t>
            </a:r>
            <a:r>
              <a:rPr lang="en-US" sz="2000" dirty="0" err="1"/>
              <a:t>intégrées</a:t>
            </a:r>
            <a:r>
              <a:rPr lang="en-US" sz="2000" dirty="0"/>
              <a:t> de manière </a:t>
            </a:r>
            <a:r>
              <a:rPr lang="en-US" sz="2000" dirty="0" err="1"/>
              <a:t>uniforme</a:t>
            </a:r>
            <a:r>
              <a:rPr lang="en-US" sz="2000" dirty="0"/>
              <a:t> dans </a:t>
            </a:r>
            <a:r>
              <a:rPr lang="en-US" sz="2000" dirty="0" err="1"/>
              <a:t>l'entrepôt</a:t>
            </a:r>
            <a:r>
              <a:rPr lang="en-US" sz="2000" dirty="0"/>
              <a:t> de </a:t>
            </a:r>
            <a:r>
              <a:rPr lang="en-US" sz="2000" dirty="0" err="1"/>
              <a:t>données</a:t>
            </a:r>
            <a:r>
              <a:rPr lang="en-US" sz="2000" dirty="0"/>
              <a:t>.</a:t>
            </a:r>
          </a:p>
        </p:txBody>
      </p:sp>
    </p:spTree>
    <p:extLst>
      <p:ext uri="{BB962C8B-B14F-4D97-AF65-F5344CB8AC3E}">
        <p14:creationId xmlns:p14="http://schemas.microsoft.com/office/powerpoint/2010/main" xmlns="" val="6225662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4" name="TextBox 3">
            <a:extLst>
              <a:ext uri="{FF2B5EF4-FFF2-40B4-BE49-F238E27FC236}">
                <a16:creationId xmlns:a16="http://schemas.microsoft.com/office/drawing/2014/main" xmlns="" id="{162DFB2A-5E06-9141-9344-99FD8DDFEAA8}"/>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
        <p:nvSpPr>
          <p:cNvPr id="6" name="TextBox 5">
            <a:extLst>
              <a:ext uri="{FF2B5EF4-FFF2-40B4-BE49-F238E27FC236}">
                <a16:creationId xmlns:a16="http://schemas.microsoft.com/office/drawing/2014/main" xmlns="" id="{10886629-9243-8141-B168-81DD4E8AEAA0}"/>
              </a:ext>
            </a:extLst>
          </p:cNvPr>
          <p:cNvSpPr txBox="1"/>
          <p:nvPr/>
        </p:nvSpPr>
        <p:spPr>
          <a:xfrm>
            <a:off x="1939719" y="3058636"/>
            <a:ext cx="8807587" cy="2246769"/>
          </a:xfrm>
          <a:prstGeom prst="rect">
            <a:avLst/>
          </a:prstGeom>
          <a:noFill/>
        </p:spPr>
        <p:txBody>
          <a:bodyPr wrap="square">
            <a:spAutoFit/>
          </a:bodyPr>
          <a:lstStyle/>
          <a:p>
            <a:pPr algn="just"/>
            <a:r>
              <a:rPr lang="en-US" sz="2000" b="1" dirty="0" err="1"/>
              <a:t>Inconvénients</a:t>
            </a:r>
            <a:r>
              <a:rPr lang="en-US" sz="2000" b="1" dirty="0"/>
              <a:t> :</a:t>
            </a:r>
          </a:p>
          <a:p>
            <a:pPr algn="just"/>
            <a:endParaRPr lang="en-US" sz="2000" dirty="0"/>
          </a:p>
          <a:p>
            <a:pPr marL="342900" indent="-342900" algn="just">
              <a:buFont typeface="Arial" panose="020B0604020202020204" pitchFamily="34" charset="0"/>
              <a:buChar char="•"/>
            </a:pPr>
            <a:r>
              <a:rPr lang="en-US" sz="2000" dirty="0" err="1"/>
              <a:t>Complexité</a:t>
            </a:r>
            <a:r>
              <a:rPr lang="en-US" sz="2000" dirty="0"/>
              <a:t> et temps de mise </a:t>
            </a:r>
            <a:r>
              <a:rPr lang="en-US" sz="2000" dirty="0" err="1"/>
              <a:t>en</a:t>
            </a:r>
            <a:r>
              <a:rPr lang="en-US" sz="2000" dirty="0"/>
              <a:t> </a:t>
            </a:r>
            <a:r>
              <a:rPr lang="en-US" sz="2000" dirty="0" err="1"/>
              <a:t>œuvre</a:t>
            </a:r>
            <a:r>
              <a:rPr lang="en-US" sz="2000" dirty="0"/>
              <a:t> : La conception et la construction d'un entrepôt de </a:t>
            </a:r>
            <a:r>
              <a:rPr lang="en-US" sz="2000" dirty="0" err="1"/>
              <a:t>données</a:t>
            </a:r>
            <a:r>
              <a:rPr lang="en-US" sz="2000" dirty="0"/>
              <a:t> </a:t>
            </a:r>
            <a:r>
              <a:rPr lang="en-US" sz="2000" dirty="0" err="1"/>
              <a:t>centralisé</a:t>
            </a:r>
            <a:r>
              <a:rPr lang="en-US" sz="2000" dirty="0"/>
              <a:t> </a:t>
            </a:r>
            <a:r>
              <a:rPr lang="en-US" sz="2000" dirty="0" err="1"/>
              <a:t>peuvent</a:t>
            </a:r>
            <a:r>
              <a:rPr lang="en-US" sz="2000" dirty="0"/>
              <a:t> </a:t>
            </a:r>
            <a:r>
              <a:rPr lang="en-US" sz="2000" dirty="0" err="1"/>
              <a:t>être</a:t>
            </a:r>
            <a:r>
              <a:rPr lang="en-US" sz="2000" dirty="0"/>
              <a:t> </a:t>
            </a:r>
            <a:r>
              <a:rPr lang="en-US" sz="2000" dirty="0" err="1"/>
              <a:t>longues</a:t>
            </a:r>
            <a:r>
              <a:rPr lang="en-US" sz="2000" dirty="0"/>
              <a:t> et complexes.</a:t>
            </a:r>
          </a:p>
          <a:p>
            <a:pPr marL="342900" indent="-342900" algn="just">
              <a:buFont typeface="Arial" panose="020B0604020202020204" pitchFamily="34" charset="0"/>
              <a:buChar char="•"/>
            </a:pPr>
            <a:r>
              <a:rPr lang="en-US" sz="2000" dirty="0" err="1"/>
              <a:t>Risque</a:t>
            </a:r>
            <a:r>
              <a:rPr lang="en-US" sz="2000" dirty="0"/>
              <a:t> de </a:t>
            </a:r>
            <a:r>
              <a:rPr lang="en-US" sz="2000" dirty="0" err="1"/>
              <a:t>surdimensionnement</a:t>
            </a:r>
            <a:r>
              <a:rPr lang="en-US" sz="2000" dirty="0"/>
              <a:t> : Il </a:t>
            </a:r>
            <a:r>
              <a:rPr lang="en-US" sz="2000" dirty="0" err="1"/>
              <a:t>peut</a:t>
            </a:r>
            <a:r>
              <a:rPr lang="en-US" sz="2000" dirty="0"/>
              <a:t> </a:t>
            </a:r>
            <a:r>
              <a:rPr lang="en-US" sz="2000" dirty="0" err="1"/>
              <a:t>être</a:t>
            </a:r>
            <a:r>
              <a:rPr lang="en-US" sz="2000" dirty="0"/>
              <a:t> difficile de </a:t>
            </a:r>
            <a:r>
              <a:rPr lang="en-US" sz="2000" dirty="0" err="1"/>
              <a:t>prévoir</a:t>
            </a:r>
            <a:r>
              <a:rPr lang="en-US" sz="2000" dirty="0"/>
              <a:t> et de </a:t>
            </a:r>
            <a:r>
              <a:rPr lang="en-US" sz="2000" dirty="0" err="1"/>
              <a:t>gérer</a:t>
            </a:r>
            <a:r>
              <a:rPr lang="en-US" sz="2000" dirty="0"/>
              <a:t> la </a:t>
            </a:r>
            <a:r>
              <a:rPr lang="en-US" sz="2000" dirty="0" err="1"/>
              <a:t>capacité</a:t>
            </a:r>
            <a:r>
              <a:rPr lang="en-US" sz="2000" dirty="0"/>
              <a:t> </a:t>
            </a:r>
            <a:r>
              <a:rPr lang="en-US" sz="2000" dirty="0" err="1"/>
              <a:t>nécessaire</a:t>
            </a:r>
            <a:r>
              <a:rPr lang="en-US" sz="2000" dirty="0"/>
              <a:t> pour un entrepôt de </a:t>
            </a:r>
            <a:r>
              <a:rPr lang="en-US" sz="2000" dirty="0" err="1"/>
              <a:t>données</a:t>
            </a:r>
            <a:r>
              <a:rPr lang="en-US" sz="2000" dirty="0"/>
              <a:t> </a:t>
            </a:r>
            <a:r>
              <a:rPr lang="en-US" sz="2000" dirty="0" err="1"/>
              <a:t>centralisé</a:t>
            </a:r>
            <a:r>
              <a:rPr lang="en-US" sz="2000" dirty="0"/>
              <a:t> qui </a:t>
            </a:r>
            <a:r>
              <a:rPr lang="en-US" sz="2000" dirty="0" err="1"/>
              <a:t>couvre</a:t>
            </a:r>
            <a:r>
              <a:rPr lang="en-US" sz="2000" dirty="0"/>
              <a:t> </a:t>
            </a:r>
            <a:r>
              <a:rPr lang="en-US" sz="2000" dirty="0" err="1"/>
              <a:t>toute</a:t>
            </a:r>
            <a:r>
              <a:rPr lang="en-US" sz="2000" dirty="0"/>
              <a:t> </a:t>
            </a:r>
            <a:r>
              <a:rPr lang="en-US" sz="2000" dirty="0" err="1"/>
              <a:t>l'entreprise</a:t>
            </a:r>
            <a:r>
              <a:rPr lang="en-US" sz="2000" dirty="0"/>
              <a:t>.</a:t>
            </a:r>
          </a:p>
        </p:txBody>
      </p:sp>
    </p:spTree>
    <p:extLst>
      <p:ext uri="{BB962C8B-B14F-4D97-AF65-F5344CB8AC3E}">
        <p14:creationId xmlns:p14="http://schemas.microsoft.com/office/powerpoint/2010/main" xmlns="" val="10626002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876219" y="2639536"/>
            <a:ext cx="8934587" cy="3267561"/>
          </a:xfrm>
          <a:prstGeom prst="rect">
            <a:avLst/>
          </a:prstGeom>
          <a:noFill/>
        </p:spPr>
        <p:txBody>
          <a:bodyPr wrap="square">
            <a:spAutoFit/>
          </a:bodyPr>
          <a:lstStyle/>
          <a:p>
            <a:pPr algn="just">
              <a:lnSpc>
                <a:spcPct val="150000"/>
              </a:lnSpc>
            </a:pPr>
            <a:r>
              <a:rPr lang="en-US" sz="2000" dirty="0"/>
              <a:t>”IKEA" </a:t>
            </a:r>
            <a:r>
              <a:rPr lang="en-US" sz="2000" dirty="0" err="1"/>
              <a:t>adopte</a:t>
            </a:r>
            <a:r>
              <a:rPr lang="en-US" sz="2000" dirty="0"/>
              <a:t> </a:t>
            </a:r>
            <a:r>
              <a:rPr lang="en-US" sz="2000" dirty="0" err="1"/>
              <a:t>une</a:t>
            </a:r>
            <a:r>
              <a:rPr lang="en-US" sz="2000" dirty="0"/>
              <a:t> </a:t>
            </a:r>
            <a:r>
              <a:rPr lang="en-US" sz="2000" dirty="0" err="1"/>
              <a:t>approche</a:t>
            </a:r>
            <a:r>
              <a:rPr lang="en-US" sz="2000" dirty="0"/>
              <a:t> plus </a:t>
            </a:r>
            <a:r>
              <a:rPr lang="en-US" sz="2000" dirty="0" err="1"/>
              <a:t>holistique</a:t>
            </a:r>
            <a:r>
              <a:rPr lang="en-US" sz="2000" dirty="0"/>
              <a:t> pour </a:t>
            </a:r>
            <a:r>
              <a:rPr lang="en-US" sz="2000" dirty="0" err="1"/>
              <a:t>répondre</a:t>
            </a:r>
            <a:r>
              <a:rPr lang="en-US" sz="2000" dirty="0"/>
              <a:t> aux </a:t>
            </a:r>
            <a:r>
              <a:rPr lang="en-US" sz="2000" dirty="0" err="1"/>
              <a:t>besoins</a:t>
            </a:r>
            <a:r>
              <a:rPr lang="en-US" sz="2000" dirty="0"/>
              <a:t> </a:t>
            </a:r>
            <a:r>
              <a:rPr lang="en-US" sz="2000" dirty="0" err="1"/>
              <a:t>globaux</a:t>
            </a:r>
            <a:r>
              <a:rPr lang="en-US" sz="2000" dirty="0"/>
              <a:t> de </a:t>
            </a:r>
            <a:r>
              <a:rPr lang="en-US" sz="2000" dirty="0" err="1"/>
              <a:t>l'entreprise</a:t>
            </a:r>
            <a:r>
              <a:rPr lang="en-US" sz="2000" dirty="0"/>
              <a:t>. </a:t>
            </a:r>
            <a:r>
              <a:rPr lang="en-US" sz="2000" dirty="0" err="1"/>
              <a:t>Ils</a:t>
            </a:r>
            <a:r>
              <a:rPr lang="en-US" sz="2000" dirty="0"/>
              <a:t> </a:t>
            </a:r>
            <a:r>
              <a:rPr lang="en-US" sz="2000" dirty="0" err="1"/>
              <a:t>reconnaissent</a:t>
            </a:r>
            <a:r>
              <a:rPr lang="en-US" sz="2000" dirty="0"/>
              <a:t> que les </a:t>
            </a:r>
            <a:r>
              <a:rPr lang="en-US" sz="2000" dirty="0" err="1"/>
              <a:t>départements</a:t>
            </a:r>
            <a:r>
              <a:rPr lang="en-US" sz="2000" dirty="0"/>
              <a:t> </a:t>
            </a:r>
            <a:r>
              <a:rPr lang="en-US" sz="2000" dirty="0" err="1"/>
              <a:t>sont</a:t>
            </a:r>
            <a:r>
              <a:rPr lang="en-US" sz="2000" dirty="0"/>
              <a:t> </a:t>
            </a:r>
            <a:r>
              <a:rPr lang="en-US" sz="2000" dirty="0" err="1"/>
              <a:t>interdépendants</a:t>
            </a:r>
            <a:r>
              <a:rPr lang="en-US" sz="2000" dirty="0"/>
              <a:t> et que des </a:t>
            </a:r>
            <a:r>
              <a:rPr lang="en-US" sz="2000" dirty="0" err="1"/>
              <a:t>données</a:t>
            </a:r>
            <a:r>
              <a:rPr lang="en-US" sz="2000" dirty="0"/>
              <a:t> </a:t>
            </a:r>
            <a:r>
              <a:rPr lang="en-US" sz="2000" dirty="0" err="1"/>
              <a:t>cohérentes</a:t>
            </a:r>
            <a:r>
              <a:rPr lang="en-US" sz="2000" dirty="0"/>
              <a:t> et </a:t>
            </a:r>
            <a:r>
              <a:rPr lang="en-US" sz="2000" dirty="0" err="1"/>
              <a:t>intégrées</a:t>
            </a:r>
            <a:r>
              <a:rPr lang="en-US" sz="2000" dirty="0"/>
              <a:t> </a:t>
            </a:r>
            <a:r>
              <a:rPr lang="en-US" sz="2000" dirty="0" err="1"/>
              <a:t>sont</a:t>
            </a:r>
            <a:r>
              <a:rPr lang="en-US" sz="2000" dirty="0"/>
              <a:t> </a:t>
            </a:r>
            <a:r>
              <a:rPr lang="en-US" sz="2000" dirty="0" err="1"/>
              <a:t>essentielles</a:t>
            </a:r>
            <a:r>
              <a:rPr lang="en-US" sz="2000" dirty="0"/>
              <a:t> pour </a:t>
            </a:r>
            <a:r>
              <a:rPr lang="en-US" sz="2000" dirty="0" err="1"/>
              <a:t>obtenir</a:t>
            </a:r>
            <a:r>
              <a:rPr lang="en-US" sz="2000" dirty="0"/>
              <a:t> </a:t>
            </a:r>
            <a:r>
              <a:rPr lang="en-US" sz="2000" dirty="0" err="1"/>
              <a:t>une</a:t>
            </a:r>
            <a:r>
              <a:rPr lang="en-US" sz="2000" dirty="0"/>
              <a:t> </a:t>
            </a:r>
            <a:r>
              <a:rPr lang="en-US" sz="2000" dirty="0" err="1"/>
              <a:t>vue</a:t>
            </a:r>
            <a:r>
              <a:rPr lang="en-US" sz="2000" dirty="0"/>
              <a:t> </a:t>
            </a:r>
            <a:r>
              <a:rPr lang="en-US" sz="2000" dirty="0" err="1"/>
              <a:t>d'ensemble</a:t>
            </a:r>
            <a:r>
              <a:rPr lang="en-US" sz="2000" dirty="0"/>
              <a:t> </a:t>
            </a:r>
            <a:r>
              <a:rPr lang="en-US" sz="2000" dirty="0" err="1"/>
              <a:t>précise</a:t>
            </a:r>
            <a:r>
              <a:rPr lang="en-US" sz="2000" dirty="0"/>
              <a:t> de </a:t>
            </a:r>
            <a:r>
              <a:rPr lang="en-US" sz="2000" dirty="0" err="1"/>
              <a:t>l'entreprise</a:t>
            </a:r>
            <a:r>
              <a:rPr lang="en-US" sz="2000" dirty="0"/>
              <a:t>.</a:t>
            </a:r>
          </a:p>
          <a:p>
            <a:pPr algn="just">
              <a:lnSpc>
                <a:spcPct val="150000"/>
              </a:lnSpc>
            </a:pPr>
            <a:endParaRPr lang="en-US" sz="2000" dirty="0"/>
          </a:p>
          <a:p>
            <a:pPr algn="just">
              <a:lnSpc>
                <a:spcPct val="150000"/>
              </a:lnSpc>
            </a:pPr>
            <a:r>
              <a:rPr lang="en-US" sz="2000" dirty="0"/>
              <a:t>" IKEA " </a:t>
            </a:r>
            <a:r>
              <a:rPr lang="en-US" sz="2000" dirty="0" err="1"/>
              <a:t>décide</a:t>
            </a:r>
            <a:r>
              <a:rPr lang="en-US" sz="2000" dirty="0"/>
              <a:t> </a:t>
            </a:r>
            <a:r>
              <a:rPr lang="en-US" sz="2000" dirty="0" err="1"/>
              <a:t>donc</a:t>
            </a:r>
            <a:r>
              <a:rPr lang="en-US" sz="2000" dirty="0"/>
              <a:t> de </a:t>
            </a:r>
            <a:r>
              <a:rPr lang="en-US" sz="2000" dirty="0" err="1"/>
              <a:t>concevoir</a:t>
            </a:r>
            <a:r>
              <a:rPr lang="en-US" sz="2000" dirty="0"/>
              <a:t> un entrepôt de </a:t>
            </a:r>
            <a:r>
              <a:rPr lang="en-US" sz="2000" dirty="0" err="1"/>
              <a:t>données</a:t>
            </a:r>
            <a:r>
              <a:rPr lang="en-US" sz="2000" dirty="0"/>
              <a:t> </a:t>
            </a:r>
            <a:r>
              <a:rPr lang="en-US" sz="2000" dirty="0" err="1"/>
              <a:t>centralisé</a:t>
            </a:r>
            <a:r>
              <a:rPr lang="en-US" sz="2000" dirty="0"/>
              <a:t>, le "Data Warehouse", qui </a:t>
            </a:r>
            <a:r>
              <a:rPr lang="en-US" sz="2000" dirty="0" err="1"/>
              <a:t>intègre</a:t>
            </a:r>
            <a:r>
              <a:rPr lang="en-US" sz="2000" dirty="0"/>
              <a:t> </a:t>
            </a:r>
            <a:r>
              <a:rPr lang="en-US" sz="2000" dirty="0" err="1"/>
              <a:t>toutes</a:t>
            </a:r>
            <a:r>
              <a:rPr lang="en-US" sz="2000" dirty="0"/>
              <a:t> les </a:t>
            </a:r>
            <a:r>
              <a:rPr lang="en-US" sz="2000" dirty="0" err="1"/>
              <a:t>données</a:t>
            </a:r>
            <a:r>
              <a:rPr lang="en-US" sz="2000" dirty="0"/>
              <a:t> de </a:t>
            </a:r>
            <a:r>
              <a:rPr lang="en-US" sz="2000" dirty="0" err="1"/>
              <a:t>l'entreprise</a:t>
            </a:r>
            <a:r>
              <a:rPr lang="en-US" sz="2000" dirty="0"/>
              <a:t> :</a:t>
            </a:r>
          </a:p>
        </p:txBody>
      </p:sp>
      <p:sp>
        <p:nvSpPr>
          <p:cNvPr id="7" name="TextBox 6">
            <a:extLst>
              <a:ext uri="{FF2B5EF4-FFF2-40B4-BE49-F238E27FC236}">
                <a16:creationId xmlns:a16="http://schemas.microsoft.com/office/drawing/2014/main" xmlns="" id="{3E8FD982-929A-B543-B370-C8D490A0F5E5}"/>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Tree>
    <p:extLst>
      <p:ext uri="{BB962C8B-B14F-4D97-AF65-F5344CB8AC3E}">
        <p14:creationId xmlns:p14="http://schemas.microsoft.com/office/powerpoint/2010/main" xmlns="" val="7043178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876219" y="2639536"/>
            <a:ext cx="8934587" cy="280589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err="1"/>
              <a:t>L'entrepôt</a:t>
            </a:r>
            <a:r>
              <a:rPr lang="en-US" sz="2000" dirty="0"/>
              <a:t> de </a:t>
            </a:r>
            <a:r>
              <a:rPr lang="en-US" sz="2000" dirty="0" err="1"/>
              <a:t>données</a:t>
            </a:r>
            <a:r>
              <a:rPr lang="en-US" sz="2000" dirty="0"/>
              <a:t> </a:t>
            </a:r>
            <a:r>
              <a:rPr lang="en-US" sz="2000" dirty="0" err="1"/>
              <a:t>centralisé</a:t>
            </a:r>
            <a:r>
              <a:rPr lang="en-US" sz="2000" dirty="0"/>
              <a:t> </a:t>
            </a:r>
            <a:r>
              <a:rPr lang="en-US" sz="2000" dirty="0" err="1"/>
              <a:t>contient</a:t>
            </a:r>
            <a:r>
              <a:rPr lang="en-US" sz="2000" dirty="0"/>
              <a:t> des </a:t>
            </a:r>
            <a:r>
              <a:rPr lang="en-US" sz="2000" dirty="0" err="1"/>
              <a:t>données</a:t>
            </a:r>
            <a:r>
              <a:rPr lang="en-US" sz="2000" dirty="0"/>
              <a:t> sur les clients, les </a:t>
            </a:r>
            <a:r>
              <a:rPr lang="en-US" sz="2000" dirty="0" err="1"/>
              <a:t>produits</a:t>
            </a:r>
            <a:r>
              <a:rPr lang="en-US" sz="2000" dirty="0"/>
              <a:t>, les ventes, les stocks, les </a:t>
            </a:r>
            <a:r>
              <a:rPr lang="en-US" sz="2000" dirty="0" err="1"/>
              <a:t>campagnes</a:t>
            </a:r>
            <a:r>
              <a:rPr lang="en-US" sz="2000" dirty="0"/>
              <a:t> </a:t>
            </a:r>
            <a:r>
              <a:rPr lang="en-US" sz="2000" dirty="0" err="1"/>
              <a:t>publicitaires</a:t>
            </a:r>
            <a:r>
              <a:rPr lang="en-US" sz="2000" dirty="0"/>
              <a:t> et les </a:t>
            </a:r>
            <a:r>
              <a:rPr lang="en-US" sz="2000" dirty="0" err="1"/>
              <a:t>opérations</a:t>
            </a:r>
            <a:r>
              <a:rPr lang="en-US" sz="2000" dirty="0"/>
              <a:t> </a:t>
            </a:r>
            <a:r>
              <a:rPr lang="en-US" sz="2000" dirty="0" err="1"/>
              <a:t>logistiques</a:t>
            </a:r>
            <a:r>
              <a:rPr lang="en-US" sz="2000" dirty="0"/>
              <a:t>.</a:t>
            </a:r>
          </a:p>
          <a:p>
            <a:pPr marL="342900" indent="-342900" algn="just">
              <a:lnSpc>
                <a:spcPct val="150000"/>
              </a:lnSpc>
              <a:buFont typeface="Arial" panose="020B0604020202020204" pitchFamily="34" charset="0"/>
              <a:buChar char="•"/>
            </a:pPr>
            <a:endParaRPr lang="en-US" sz="2000" dirty="0"/>
          </a:p>
          <a:p>
            <a:pPr marL="342900" indent="-342900" algn="just">
              <a:lnSpc>
                <a:spcPct val="150000"/>
              </a:lnSpc>
              <a:buFont typeface="Arial" panose="020B0604020202020204" pitchFamily="34" charset="0"/>
              <a:buChar char="•"/>
            </a:pPr>
            <a:r>
              <a:rPr lang="en-US" sz="2000" dirty="0"/>
              <a:t>Les </a:t>
            </a:r>
            <a:r>
              <a:rPr lang="en-US" sz="2000" dirty="0" err="1"/>
              <a:t>données</a:t>
            </a:r>
            <a:r>
              <a:rPr lang="en-US" sz="2000" dirty="0"/>
              <a:t> </a:t>
            </a:r>
            <a:r>
              <a:rPr lang="en-US" sz="2000" dirty="0" err="1"/>
              <a:t>sont</a:t>
            </a:r>
            <a:r>
              <a:rPr lang="en-US" sz="2000" dirty="0"/>
              <a:t> </a:t>
            </a:r>
            <a:r>
              <a:rPr lang="en-US" sz="2000" dirty="0" err="1"/>
              <a:t>organisées</a:t>
            </a:r>
            <a:r>
              <a:rPr lang="en-US" sz="2000" dirty="0"/>
              <a:t> dans un </a:t>
            </a:r>
            <a:r>
              <a:rPr lang="en-US" sz="2000" dirty="0" err="1"/>
              <a:t>modèle</a:t>
            </a:r>
            <a:r>
              <a:rPr lang="en-US" sz="2000" dirty="0"/>
              <a:t> de </a:t>
            </a:r>
            <a:r>
              <a:rPr lang="en-US" sz="2000" dirty="0" err="1"/>
              <a:t>données</a:t>
            </a:r>
            <a:r>
              <a:rPr lang="en-US" sz="2000" dirty="0"/>
              <a:t> </a:t>
            </a:r>
            <a:r>
              <a:rPr lang="en-US" sz="2000" dirty="0" err="1"/>
              <a:t>normalisé</a:t>
            </a:r>
            <a:r>
              <a:rPr lang="en-US" sz="2000" dirty="0"/>
              <a:t>, avec des dimensions et des faits </a:t>
            </a:r>
            <a:r>
              <a:rPr lang="en-US" sz="2000" dirty="0" err="1"/>
              <a:t>partagés</a:t>
            </a:r>
            <a:r>
              <a:rPr lang="en-US" sz="2000" dirty="0"/>
              <a:t> </a:t>
            </a:r>
            <a:r>
              <a:rPr lang="en-US" sz="2000" dirty="0" err="1"/>
              <a:t>à</a:t>
            </a:r>
            <a:r>
              <a:rPr lang="en-US" sz="2000" dirty="0"/>
              <a:t> travers </a:t>
            </a:r>
            <a:r>
              <a:rPr lang="en-US" sz="2000" dirty="0" err="1"/>
              <a:t>toute</a:t>
            </a:r>
            <a:r>
              <a:rPr lang="en-US" sz="2000" dirty="0"/>
              <a:t> </a:t>
            </a:r>
            <a:r>
              <a:rPr lang="en-US" sz="2000" dirty="0" err="1"/>
              <a:t>l'entreprise</a:t>
            </a:r>
            <a:r>
              <a:rPr lang="en-US" sz="2000" dirty="0"/>
              <a:t>.</a:t>
            </a:r>
          </a:p>
        </p:txBody>
      </p:sp>
      <p:sp>
        <p:nvSpPr>
          <p:cNvPr id="7" name="TextBox 6">
            <a:extLst>
              <a:ext uri="{FF2B5EF4-FFF2-40B4-BE49-F238E27FC236}">
                <a16:creationId xmlns:a16="http://schemas.microsoft.com/office/drawing/2014/main" xmlns="" id="{3E8FD982-929A-B543-B370-C8D490A0F5E5}"/>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Tree>
    <p:extLst>
      <p:ext uri="{BB962C8B-B14F-4D97-AF65-F5344CB8AC3E}">
        <p14:creationId xmlns:p14="http://schemas.microsoft.com/office/powerpoint/2010/main" xmlns="" val="39188057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5" name="TextBox 4">
            <a:extLst>
              <a:ext uri="{FF2B5EF4-FFF2-40B4-BE49-F238E27FC236}">
                <a16:creationId xmlns:a16="http://schemas.microsoft.com/office/drawing/2014/main" xmlns="" id="{7DCC750F-0EE4-1344-B5A9-CEB137967FE7}"/>
              </a:ext>
            </a:extLst>
          </p:cNvPr>
          <p:cNvSpPr txBox="1"/>
          <p:nvPr/>
        </p:nvSpPr>
        <p:spPr>
          <a:xfrm>
            <a:off x="1268949" y="2824604"/>
            <a:ext cx="10149128" cy="1420902"/>
          </a:xfrm>
          <a:prstGeom prst="rect">
            <a:avLst/>
          </a:prstGeom>
          <a:noFill/>
        </p:spPr>
        <p:txBody>
          <a:bodyPr wrap="square">
            <a:spAutoFit/>
          </a:bodyPr>
          <a:lstStyle/>
          <a:p>
            <a:pPr algn="just">
              <a:lnSpc>
                <a:spcPct val="150000"/>
              </a:lnSpc>
            </a:pPr>
            <a:r>
              <a:rPr lang="en-US" sz="2000" dirty="0" err="1"/>
              <a:t>Ainsi</a:t>
            </a:r>
            <a:r>
              <a:rPr lang="en-US" sz="2000" dirty="0"/>
              <a:t>, que </a:t>
            </a:r>
            <a:r>
              <a:rPr lang="en-US" sz="2000" dirty="0" err="1"/>
              <a:t>ce</a:t>
            </a:r>
            <a:r>
              <a:rPr lang="en-US" sz="2000" dirty="0"/>
              <a:t> </a:t>
            </a:r>
            <a:r>
              <a:rPr lang="en-US" sz="2000" dirty="0" err="1"/>
              <a:t>soit</a:t>
            </a:r>
            <a:r>
              <a:rPr lang="en-US" sz="2000" dirty="0"/>
              <a:t> pour le marketing, les ventes </a:t>
            </a:r>
            <a:r>
              <a:rPr lang="en-US" sz="2000" dirty="0" err="1"/>
              <a:t>ou</a:t>
            </a:r>
            <a:r>
              <a:rPr lang="en-US" sz="2000" dirty="0"/>
              <a:t> la </a:t>
            </a:r>
            <a:r>
              <a:rPr lang="en-US" sz="2000" dirty="0" err="1"/>
              <a:t>logistique</a:t>
            </a:r>
            <a:r>
              <a:rPr lang="en-US" sz="2000" dirty="0"/>
              <a:t>, </a:t>
            </a:r>
            <a:r>
              <a:rPr lang="en-US" sz="2000" dirty="0" err="1"/>
              <a:t>tous</a:t>
            </a:r>
            <a:r>
              <a:rPr lang="en-US" sz="2000" dirty="0"/>
              <a:t> les </a:t>
            </a:r>
            <a:r>
              <a:rPr lang="en-US" sz="2000" dirty="0" err="1"/>
              <a:t>départements</a:t>
            </a:r>
            <a:r>
              <a:rPr lang="en-US" sz="2000" dirty="0"/>
              <a:t> </a:t>
            </a:r>
            <a:r>
              <a:rPr lang="en-US" sz="2000" dirty="0" err="1"/>
              <a:t>ont</a:t>
            </a:r>
            <a:r>
              <a:rPr lang="en-US" sz="2000" dirty="0"/>
              <a:t> </a:t>
            </a:r>
            <a:r>
              <a:rPr lang="en-US" sz="2000" dirty="0" err="1"/>
              <a:t>accès</a:t>
            </a:r>
            <a:r>
              <a:rPr lang="en-US" sz="2000" dirty="0"/>
              <a:t> aux </a:t>
            </a:r>
            <a:r>
              <a:rPr lang="en-US" sz="2000" dirty="0" err="1"/>
              <a:t>mêmes</a:t>
            </a:r>
            <a:r>
              <a:rPr lang="en-US" sz="2000" dirty="0"/>
              <a:t> </a:t>
            </a:r>
            <a:r>
              <a:rPr lang="en-US" sz="2000" dirty="0" err="1"/>
              <a:t>données</a:t>
            </a:r>
            <a:r>
              <a:rPr lang="en-US" sz="2000" dirty="0"/>
              <a:t> </a:t>
            </a:r>
            <a:r>
              <a:rPr lang="en-US" sz="2000" dirty="0" err="1"/>
              <a:t>cohérentes</a:t>
            </a:r>
            <a:r>
              <a:rPr lang="en-US" sz="2000" dirty="0"/>
              <a:t> et </a:t>
            </a:r>
            <a:r>
              <a:rPr lang="en-US" sz="2000" dirty="0" err="1"/>
              <a:t>peuvent</a:t>
            </a:r>
            <a:r>
              <a:rPr lang="en-US" sz="2000" dirty="0"/>
              <a:t> </a:t>
            </a:r>
            <a:r>
              <a:rPr lang="en-US" sz="2000" dirty="0" err="1"/>
              <a:t>effectuer</a:t>
            </a:r>
            <a:r>
              <a:rPr lang="en-US" sz="2000" dirty="0"/>
              <a:t> des analyses sur </a:t>
            </a:r>
            <a:r>
              <a:rPr lang="en-US" sz="2000" dirty="0" err="1"/>
              <a:t>une</a:t>
            </a:r>
            <a:r>
              <a:rPr lang="en-US" sz="2000" dirty="0"/>
              <a:t> </a:t>
            </a:r>
            <a:r>
              <a:rPr lang="en-US" sz="2000" dirty="0" err="1"/>
              <a:t>vue</a:t>
            </a:r>
            <a:r>
              <a:rPr lang="en-US" sz="2000" dirty="0"/>
              <a:t> </a:t>
            </a:r>
            <a:r>
              <a:rPr lang="en-US" sz="2000" dirty="0" err="1"/>
              <a:t>d'ensemble</a:t>
            </a:r>
            <a:r>
              <a:rPr lang="en-US" sz="2000" dirty="0"/>
              <a:t> </a:t>
            </a:r>
            <a:r>
              <a:rPr lang="en-US" sz="2000" dirty="0" err="1"/>
              <a:t>unifiée</a:t>
            </a:r>
            <a:r>
              <a:rPr lang="en-US" sz="2000" dirty="0"/>
              <a:t> de </a:t>
            </a:r>
            <a:r>
              <a:rPr lang="en-US" sz="2000" dirty="0" err="1"/>
              <a:t>l'entreprise</a:t>
            </a:r>
            <a:r>
              <a:rPr lang="en-US" sz="2000" dirty="0"/>
              <a:t>.</a:t>
            </a:r>
          </a:p>
        </p:txBody>
      </p:sp>
      <p:sp>
        <p:nvSpPr>
          <p:cNvPr id="6" name="TextBox 5">
            <a:extLst>
              <a:ext uri="{FF2B5EF4-FFF2-40B4-BE49-F238E27FC236}">
                <a16:creationId xmlns:a16="http://schemas.microsoft.com/office/drawing/2014/main" xmlns="" id="{A9B6F9BE-5406-A042-8E5A-9608AF4E4414}"/>
              </a:ext>
            </a:extLst>
          </p:cNvPr>
          <p:cNvSpPr txBox="1"/>
          <p:nvPr/>
        </p:nvSpPr>
        <p:spPr>
          <a:xfrm>
            <a:off x="4740726" y="1822032"/>
            <a:ext cx="2710549" cy="461665"/>
          </a:xfrm>
          <a:prstGeom prst="rect">
            <a:avLst/>
          </a:prstGeom>
          <a:noFill/>
        </p:spPr>
        <p:txBody>
          <a:bodyPr wrap="none" rtlCol="0">
            <a:spAutoFit/>
          </a:bodyPr>
          <a:lstStyle/>
          <a:p>
            <a:pPr algn="ctr"/>
            <a:r>
              <a:rPr lang="fr-FR" sz="2400" b="1" dirty="0">
                <a:solidFill>
                  <a:schemeClr val="accent2">
                    <a:lumMod val="50000"/>
                  </a:schemeClr>
                </a:solidFill>
              </a:rPr>
              <a:t>Approche Top-down</a:t>
            </a:r>
          </a:p>
        </p:txBody>
      </p:sp>
    </p:spTree>
    <p:extLst>
      <p:ext uri="{BB962C8B-B14F-4D97-AF65-F5344CB8AC3E}">
        <p14:creationId xmlns:p14="http://schemas.microsoft.com/office/powerpoint/2010/main" xmlns="" val="13036353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475975" cy="584775"/>
          </a:xfrm>
          <a:prstGeom prst="rect">
            <a:avLst/>
          </a:prstGeom>
          <a:noFill/>
        </p:spPr>
        <p:txBody>
          <a:bodyPr wrap="none" rtlCol="0">
            <a:spAutoFit/>
          </a:bodyPr>
          <a:lstStyle/>
          <a:p>
            <a:r>
              <a:rPr lang="fr-FR" sz="3200" b="1" dirty="0"/>
              <a:t>Entrepôt de données : Approches de conception</a:t>
            </a:r>
          </a:p>
        </p:txBody>
      </p:sp>
      <p:sp>
        <p:nvSpPr>
          <p:cNvPr id="6" name="TextBox 5">
            <a:extLst>
              <a:ext uri="{FF2B5EF4-FFF2-40B4-BE49-F238E27FC236}">
                <a16:creationId xmlns:a16="http://schemas.microsoft.com/office/drawing/2014/main" xmlns="" id="{10886629-9243-8141-B168-81DD4E8AEAA0}"/>
              </a:ext>
            </a:extLst>
          </p:cNvPr>
          <p:cNvSpPr txBox="1"/>
          <p:nvPr/>
        </p:nvSpPr>
        <p:spPr>
          <a:xfrm>
            <a:off x="1939719" y="2474436"/>
            <a:ext cx="8807587" cy="2805896"/>
          </a:xfrm>
          <a:prstGeom prst="rect">
            <a:avLst/>
          </a:prstGeom>
          <a:noFill/>
        </p:spPr>
        <p:txBody>
          <a:bodyPr wrap="square">
            <a:spAutoFit/>
          </a:bodyPr>
          <a:lstStyle/>
          <a:p>
            <a:pPr algn="ctr">
              <a:lnSpc>
                <a:spcPct val="150000"/>
              </a:lnSpc>
            </a:pPr>
            <a:r>
              <a:rPr lang="en-US" sz="2000" dirty="0" err="1"/>
              <a:t>L’approche</a:t>
            </a:r>
            <a:r>
              <a:rPr lang="en-US" sz="2000" dirty="0"/>
              <a:t> bottom-up se </a:t>
            </a:r>
            <a:r>
              <a:rPr lang="en-US" sz="2000" dirty="0" err="1"/>
              <a:t>concentre</a:t>
            </a:r>
            <a:r>
              <a:rPr lang="en-US" sz="2000" dirty="0"/>
              <a:t> sur les </a:t>
            </a:r>
            <a:r>
              <a:rPr lang="en-US" sz="2000" dirty="0" err="1"/>
              <a:t>besoins</a:t>
            </a:r>
            <a:r>
              <a:rPr lang="en-US" sz="2000" dirty="0"/>
              <a:t> </a:t>
            </a:r>
            <a:r>
              <a:rPr lang="en-US" sz="2000" dirty="0" err="1"/>
              <a:t>spécifiques</a:t>
            </a:r>
            <a:r>
              <a:rPr lang="en-US" sz="2000" dirty="0"/>
              <a:t> des </a:t>
            </a:r>
            <a:r>
              <a:rPr lang="en-US" sz="2000" dirty="0" err="1"/>
              <a:t>utilisateurs</a:t>
            </a:r>
            <a:r>
              <a:rPr lang="en-US" sz="2000" dirty="0"/>
              <a:t> </a:t>
            </a:r>
            <a:r>
              <a:rPr lang="en-US" sz="2000" dirty="0" err="1"/>
              <a:t>finaux</a:t>
            </a:r>
            <a:r>
              <a:rPr lang="en-US" sz="2000" dirty="0"/>
              <a:t> </a:t>
            </a:r>
            <a:r>
              <a:rPr lang="en-US" sz="2000" dirty="0" err="1"/>
              <a:t>ou</a:t>
            </a:r>
            <a:r>
              <a:rPr lang="en-US" sz="2000" dirty="0"/>
              <a:t> des </a:t>
            </a:r>
            <a:r>
              <a:rPr lang="en-US" sz="2000" dirty="0" err="1"/>
              <a:t>départements</a:t>
            </a:r>
            <a:r>
              <a:rPr lang="en-US" sz="2000" dirty="0"/>
              <a:t> </a:t>
            </a:r>
            <a:r>
              <a:rPr lang="en-US" sz="2000" dirty="0" err="1"/>
              <a:t>individuels</a:t>
            </a:r>
            <a:r>
              <a:rPr lang="en-US" sz="2000" dirty="0"/>
              <a:t>, </a:t>
            </a:r>
            <a:r>
              <a:rPr lang="en-US" sz="2000" dirty="0" err="1"/>
              <a:t>tandis</a:t>
            </a:r>
            <a:r>
              <a:rPr lang="en-US" sz="2000" dirty="0"/>
              <a:t> que </a:t>
            </a:r>
            <a:r>
              <a:rPr lang="en-US" sz="2000" dirty="0" err="1"/>
              <a:t>l'approche</a:t>
            </a:r>
            <a:r>
              <a:rPr lang="en-US" sz="2000" dirty="0"/>
              <a:t> top-down vise </a:t>
            </a:r>
            <a:r>
              <a:rPr lang="en-US" sz="2000" dirty="0" err="1"/>
              <a:t>à</a:t>
            </a:r>
            <a:r>
              <a:rPr lang="en-US" sz="2000" dirty="0"/>
              <a:t> </a:t>
            </a:r>
            <a:r>
              <a:rPr lang="en-US" sz="2000" dirty="0" err="1"/>
              <a:t>répondre</a:t>
            </a:r>
            <a:r>
              <a:rPr lang="en-US" sz="2000" dirty="0"/>
              <a:t> aux </a:t>
            </a:r>
            <a:r>
              <a:rPr lang="en-US" sz="2000" dirty="0" err="1"/>
              <a:t>besoins</a:t>
            </a:r>
            <a:r>
              <a:rPr lang="en-US" sz="2000" dirty="0"/>
              <a:t> </a:t>
            </a:r>
            <a:r>
              <a:rPr lang="en-US" sz="2000" dirty="0" err="1"/>
              <a:t>globaux</a:t>
            </a:r>
            <a:r>
              <a:rPr lang="en-US" sz="2000" dirty="0"/>
              <a:t> de </a:t>
            </a:r>
            <a:r>
              <a:rPr lang="en-US" sz="2000" dirty="0" err="1"/>
              <a:t>l'entreprise</a:t>
            </a:r>
            <a:r>
              <a:rPr lang="en-US" sz="2000" dirty="0"/>
              <a:t> </a:t>
            </a:r>
            <a:r>
              <a:rPr lang="en-US" sz="2000" dirty="0" err="1"/>
              <a:t>en</a:t>
            </a:r>
            <a:r>
              <a:rPr lang="en-US" sz="2000" dirty="0"/>
              <a:t> </a:t>
            </a:r>
            <a:r>
              <a:rPr lang="en-US" sz="2000" dirty="0" err="1"/>
              <a:t>construisant</a:t>
            </a:r>
            <a:r>
              <a:rPr lang="en-US" sz="2000" dirty="0"/>
              <a:t> un entrepôt de </a:t>
            </a:r>
            <a:r>
              <a:rPr lang="en-US" sz="2000" dirty="0" err="1"/>
              <a:t>données</a:t>
            </a:r>
            <a:r>
              <a:rPr lang="en-US" sz="2000" dirty="0"/>
              <a:t> </a:t>
            </a:r>
            <a:r>
              <a:rPr lang="en-US" sz="2000" dirty="0" err="1"/>
              <a:t>centralisé</a:t>
            </a:r>
            <a:r>
              <a:rPr lang="en-US" sz="2000" dirty="0"/>
              <a:t>. </a:t>
            </a:r>
            <a:r>
              <a:rPr lang="en-US" sz="2000" dirty="0" err="1"/>
              <a:t>Chaque</a:t>
            </a:r>
            <a:r>
              <a:rPr lang="en-US" sz="2000" dirty="0"/>
              <a:t> </a:t>
            </a:r>
            <a:r>
              <a:rPr lang="en-US" sz="2000" dirty="0" err="1"/>
              <a:t>approche</a:t>
            </a:r>
            <a:r>
              <a:rPr lang="en-US" sz="2000" dirty="0"/>
              <a:t> a </a:t>
            </a:r>
            <a:r>
              <a:rPr lang="en-US" sz="2000" dirty="0" err="1"/>
              <a:t>ses</a:t>
            </a:r>
            <a:r>
              <a:rPr lang="en-US" sz="2000" dirty="0"/>
              <a:t> </a:t>
            </a:r>
            <a:r>
              <a:rPr lang="en-US" sz="2000" dirty="0" err="1"/>
              <a:t>avantages</a:t>
            </a:r>
            <a:r>
              <a:rPr lang="en-US" sz="2000" dirty="0"/>
              <a:t> et </a:t>
            </a:r>
            <a:r>
              <a:rPr lang="en-US" sz="2000" dirty="0" err="1"/>
              <a:t>ses</a:t>
            </a:r>
            <a:r>
              <a:rPr lang="en-US" sz="2000" dirty="0"/>
              <a:t> </a:t>
            </a:r>
            <a:r>
              <a:rPr lang="en-US" sz="2000" dirty="0" err="1"/>
              <a:t>inconvénients</a:t>
            </a:r>
            <a:r>
              <a:rPr lang="en-US" sz="2000" dirty="0"/>
              <a:t>, et le </a:t>
            </a:r>
            <a:r>
              <a:rPr lang="en-US" sz="2000" dirty="0" err="1"/>
              <a:t>choix</a:t>
            </a:r>
            <a:r>
              <a:rPr lang="en-US" sz="2000" dirty="0"/>
              <a:t> entre les deux </a:t>
            </a:r>
            <a:r>
              <a:rPr lang="en-US" sz="2000" dirty="0" err="1"/>
              <a:t>dépend</a:t>
            </a:r>
            <a:r>
              <a:rPr lang="en-US" sz="2000" dirty="0"/>
              <a:t> </a:t>
            </a:r>
            <a:r>
              <a:rPr lang="en-US" sz="2000" dirty="0" err="1"/>
              <a:t>souvent</a:t>
            </a:r>
            <a:r>
              <a:rPr lang="en-US" sz="2000" dirty="0"/>
              <a:t> de la taille, de la structure et des </a:t>
            </a:r>
            <a:r>
              <a:rPr lang="en-US" sz="2000" dirty="0" err="1"/>
              <a:t>objectifs</a:t>
            </a:r>
            <a:r>
              <a:rPr lang="en-US" sz="2000" dirty="0"/>
              <a:t> de </a:t>
            </a:r>
            <a:r>
              <a:rPr lang="en-US" sz="2000" dirty="0" err="1"/>
              <a:t>l'entreprise</a:t>
            </a:r>
            <a:r>
              <a:rPr lang="en-US" sz="2000" dirty="0"/>
              <a:t>.</a:t>
            </a:r>
          </a:p>
        </p:txBody>
      </p:sp>
    </p:spTree>
    <p:extLst>
      <p:ext uri="{BB962C8B-B14F-4D97-AF65-F5344CB8AC3E}">
        <p14:creationId xmlns:p14="http://schemas.microsoft.com/office/powerpoint/2010/main" xmlns="" val="359142168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A8309C7-160C-5D4F-86AF-1A63E57E0D65}"/>
              </a:ext>
            </a:extLst>
          </p:cNvPr>
          <p:cNvSpPr txBox="1"/>
          <p:nvPr/>
        </p:nvSpPr>
        <p:spPr>
          <a:xfrm>
            <a:off x="1371600" y="2577228"/>
            <a:ext cx="9448800" cy="1703543"/>
          </a:xfrm>
          <a:prstGeom prst="rect">
            <a:avLst/>
          </a:prstGeom>
          <a:noFill/>
        </p:spPr>
        <p:txBody>
          <a:bodyPr wrap="square" rtlCol="0">
            <a:spAutoFit/>
          </a:bodyPr>
          <a:lstStyle/>
          <a:p>
            <a:pPr algn="ctr">
              <a:lnSpc>
                <a:spcPct val="150000"/>
              </a:lnSpc>
            </a:pPr>
            <a:r>
              <a:rPr lang="fr-FR"/>
              <a:t>La modélisation des données implique la conception de schémas de données qui répondent aux besoins d'analyse et de reporting de l'entreprise. Une fois que le modèle de données est conçu, l'ETL est utilisé pour extraire les données des sources de données, les transformer selon les besoins du modèle et les charger dans le référentiel de données.</a:t>
            </a:r>
          </a:p>
        </p:txBody>
      </p:sp>
      <p:sp>
        <p:nvSpPr>
          <p:cNvPr id="6" name="TextBox 5">
            <a:extLst>
              <a:ext uri="{FF2B5EF4-FFF2-40B4-BE49-F238E27FC236}">
                <a16:creationId xmlns:a16="http://schemas.microsoft.com/office/drawing/2014/main" xmlns="" id="{CB45BF4D-7D58-C545-B2D0-5A23236C5DBB}"/>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Tree>
    <p:extLst>
      <p:ext uri="{BB962C8B-B14F-4D97-AF65-F5344CB8AC3E}">
        <p14:creationId xmlns:p14="http://schemas.microsoft.com/office/powerpoint/2010/main" xmlns="" val="32469362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A8309C7-160C-5D4F-86AF-1A63E57E0D65}"/>
              </a:ext>
            </a:extLst>
          </p:cNvPr>
          <p:cNvSpPr txBox="1"/>
          <p:nvPr/>
        </p:nvSpPr>
        <p:spPr>
          <a:xfrm>
            <a:off x="1548807" y="2784977"/>
            <a:ext cx="5105400" cy="12880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fr-FR" dirty="0"/>
              <a:t>Méthode unique de structuration de données</a:t>
            </a:r>
          </a:p>
          <a:p>
            <a:pPr marL="285750" indent="-285750">
              <a:lnSpc>
                <a:spcPct val="150000"/>
              </a:lnSpc>
              <a:buFont typeface="Arial" panose="020B0604020202020204" pitchFamily="34" charset="0"/>
              <a:buChar char="•"/>
            </a:pPr>
            <a:r>
              <a:rPr lang="fr-FR" dirty="0"/>
              <a:t>Utilisé et optimisé pour les Data </a:t>
            </a:r>
            <a:r>
              <a:rPr lang="fr-FR" dirty="0" err="1"/>
              <a:t>Warehouse</a:t>
            </a:r>
            <a:endParaRPr lang="fr-FR" dirty="0"/>
          </a:p>
          <a:p>
            <a:pPr marL="285750" indent="-285750">
              <a:lnSpc>
                <a:spcPct val="150000"/>
              </a:lnSpc>
              <a:buFont typeface="Arial" panose="020B0604020202020204" pitchFamily="34" charset="0"/>
              <a:buChar char="•"/>
            </a:pPr>
            <a:r>
              <a:rPr lang="fr-FR" dirty="0"/>
              <a:t>Réception rapide des données</a:t>
            </a:r>
          </a:p>
        </p:txBody>
      </p:sp>
      <p:sp>
        <p:nvSpPr>
          <p:cNvPr id="6" name="TextBox 5">
            <a:extLst>
              <a:ext uri="{FF2B5EF4-FFF2-40B4-BE49-F238E27FC236}">
                <a16:creationId xmlns:a16="http://schemas.microsoft.com/office/drawing/2014/main" xmlns="" id="{CB45BF4D-7D58-C545-B2D0-5A23236C5DBB}"/>
              </a:ext>
            </a:extLst>
          </p:cNvPr>
          <p:cNvSpPr txBox="1"/>
          <p:nvPr/>
        </p:nvSpPr>
        <p:spPr>
          <a:xfrm>
            <a:off x="2105526" y="1094874"/>
            <a:ext cx="9097362" cy="584775"/>
          </a:xfrm>
          <a:prstGeom prst="rect">
            <a:avLst/>
          </a:prstGeom>
          <a:noFill/>
        </p:spPr>
        <p:txBody>
          <a:bodyPr wrap="none" rtlCol="0">
            <a:spAutoFit/>
          </a:bodyPr>
          <a:lstStyle/>
          <a:p>
            <a:r>
              <a:rPr lang="fr-FR" sz="3200" b="1" dirty="0"/>
              <a:t>Entrepôt de données : Modélisation dimensionnelle</a:t>
            </a:r>
          </a:p>
        </p:txBody>
      </p:sp>
    </p:spTree>
    <p:extLst>
      <p:ext uri="{BB962C8B-B14F-4D97-AF65-F5344CB8AC3E}">
        <p14:creationId xmlns:p14="http://schemas.microsoft.com/office/powerpoint/2010/main" xmlns="" val="5246337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CB45BF4D-7D58-C545-B2D0-5A23236C5DBB}"/>
              </a:ext>
            </a:extLst>
          </p:cNvPr>
          <p:cNvSpPr txBox="1"/>
          <p:nvPr/>
        </p:nvSpPr>
        <p:spPr>
          <a:xfrm>
            <a:off x="2105526" y="1094874"/>
            <a:ext cx="9097362" cy="584775"/>
          </a:xfrm>
          <a:prstGeom prst="rect">
            <a:avLst/>
          </a:prstGeom>
          <a:noFill/>
        </p:spPr>
        <p:txBody>
          <a:bodyPr wrap="none" rtlCol="0">
            <a:spAutoFit/>
          </a:bodyPr>
          <a:lstStyle/>
          <a:p>
            <a:r>
              <a:rPr lang="fr-FR" sz="3200" b="1" dirty="0"/>
              <a:t>Entrepôt de données : Modélisation dimensionnelle</a:t>
            </a:r>
          </a:p>
        </p:txBody>
      </p:sp>
      <p:sp>
        <p:nvSpPr>
          <p:cNvPr id="4" name="TextBox 3">
            <a:extLst>
              <a:ext uri="{FF2B5EF4-FFF2-40B4-BE49-F238E27FC236}">
                <a16:creationId xmlns:a16="http://schemas.microsoft.com/office/drawing/2014/main" xmlns="" id="{3BE31F24-B87C-B849-A842-D1835143A492}"/>
              </a:ext>
            </a:extLst>
          </p:cNvPr>
          <p:cNvSpPr txBox="1"/>
          <p:nvPr/>
        </p:nvSpPr>
        <p:spPr>
          <a:xfrm>
            <a:off x="5350410" y="1822032"/>
            <a:ext cx="1491178" cy="461665"/>
          </a:xfrm>
          <a:prstGeom prst="rect">
            <a:avLst/>
          </a:prstGeom>
          <a:noFill/>
        </p:spPr>
        <p:txBody>
          <a:bodyPr wrap="none" rtlCol="0">
            <a:spAutoFit/>
          </a:bodyPr>
          <a:lstStyle/>
          <a:p>
            <a:pPr algn="ctr"/>
            <a:r>
              <a:rPr lang="fr-FR" sz="2400" b="1" dirty="0">
                <a:solidFill>
                  <a:schemeClr val="accent2">
                    <a:lumMod val="50000"/>
                  </a:schemeClr>
                </a:solidFill>
              </a:rPr>
              <a:t>Pourquoi?</a:t>
            </a:r>
          </a:p>
        </p:txBody>
      </p:sp>
      <p:pic>
        <p:nvPicPr>
          <p:cNvPr id="7" name="Picture 6">
            <a:extLst>
              <a:ext uri="{FF2B5EF4-FFF2-40B4-BE49-F238E27FC236}">
                <a16:creationId xmlns:a16="http://schemas.microsoft.com/office/drawing/2014/main" xmlns="" id="{A871B7B8-E8B9-B140-8C03-ED9414348DC6}"/>
              </a:ext>
            </a:extLst>
          </p:cNvPr>
          <p:cNvPicPr>
            <a:picLocks noChangeAspect="1"/>
          </p:cNvPicPr>
          <p:nvPr/>
        </p:nvPicPr>
        <p:blipFill>
          <a:blip r:embed="rId3"/>
          <a:stretch>
            <a:fillRect/>
          </a:stretch>
        </p:blipFill>
        <p:spPr>
          <a:xfrm>
            <a:off x="1365249" y="3247792"/>
            <a:ext cx="9461500" cy="2653023"/>
          </a:xfrm>
          <a:prstGeom prst="rect">
            <a:avLst/>
          </a:prstGeom>
        </p:spPr>
      </p:pic>
    </p:spTree>
    <p:extLst>
      <p:ext uri="{BB962C8B-B14F-4D97-AF65-F5344CB8AC3E}">
        <p14:creationId xmlns:p14="http://schemas.microsoft.com/office/powerpoint/2010/main" xmlns="" val="8614836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2554703" y="2666712"/>
            <a:ext cx="7082589" cy="2950038"/>
          </a:xfrm>
          <a:prstGeom prst="rect">
            <a:avLst/>
          </a:prstGeom>
          <a:noFill/>
        </p:spPr>
        <p:txBody>
          <a:bodyPr wrap="square" rtlCol="0" anchor="ctr">
            <a:spAutoFit/>
          </a:bodyPr>
          <a:lstStyle/>
          <a:p>
            <a:pPr algn="ctr">
              <a:lnSpc>
                <a:spcPct val="150000"/>
              </a:lnSpc>
            </a:pPr>
            <a:r>
              <a:rPr lang="fr-FR" dirty="0"/>
              <a:t>Une table de fait est une table qui contient les données observables (les faits) que l’on possède sur un sujet et que l’on veut étudier, selon divers axes d’analyse (les dimensions). </a:t>
            </a:r>
          </a:p>
          <a:p>
            <a:pPr algn="ctr">
              <a:lnSpc>
                <a:spcPct val="150000"/>
              </a:lnSpc>
            </a:pPr>
            <a:endParaRPr lang="fr-FR" dirty="0"/>
          </a:p>
          <a:p>
            <a:pPr algn="ctr">
              <a:lnSpc>
                <a:spcPct val="150000"/>
              </a:lnSpc>
            </a:pPr>
            <a:r>
              <a:rPr lang="fr-FR" dirty="0"/>
              <a:t>les « faits », dans un entrepôt de données, sont normalement numériques, puisque d’ordre quantitatif. Il peut s’agir du montant en argent des ventes, du nombre d’unités vendues d’un produit, etc.</a:t>
            </a:r>
          </a:p>
        </p:txBody>
      </p:sp>
      <p:sp>
        <p:nvSpPr>
          <p:cNvPr id="6" name="TextBox 5">
            <a:extLst>
              <a:ext uri="{FF2B5EF4-FFF2-40B4-BE49-F238E27FC236}">
                <a16:creationId xmlns:a16="http://schemas.microsoft.com/office/drawing/2014/main" xmlns="" id="{2833F03E-2285-AD4E-ABC8-E81F14B7F1D9}"/>
              </a:ext>
            </a:extLst>
          </p:cNvPr>
          <p:cNvSpPr txBox="1"/>
          <p:nvPr/>
        </p:nvSpPr>
        <p:spPr>
          <a:xfrm>
            <a:off x="4182013" y="1822032"/>
            <a:ext cx="3827971" cy="461665"/>
          </a:xfrm>
          <a:prstGeom prst="rect">
            <a:avLst/>
          </a:prstGeom>
          <a:noFill/>
        </p:spPr>
        <p:txBody>
          <a:bodyPr wrap="none" rtlCol="0">
            <a:spAutoFit/>
          </a:bodyPr>
          <a:lstStyle/>
          <a:p>
            <a:pPr algn="ctr"/>
            <a:r>
              <a:rPr lang="fr-FR" sz="2400" b="1" dirty="0">
                <a:solidFill>
                  <a:schemeClr val="accent2">
                    <a:lumMod val="50000"/>
                  </a:schemeClr>
                </a:solidFill>
              </a:rPr>
              <a:t>Tables des faits - Définition</a:t>
            </a:r>
          </a:p>
        </p:txBody>
      </p:sp>
    </p:spTree>
    <p:extLst>
      <p:ext uri="{BB962C8B-B14F-4D97-AF65-F5344CB8AC3E}">
        <p14:creationId xmlns:p14="http://schemas.microsoft.com/office/powerpoint/2010/main" xmlns="" val="354194602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253347" y="1805136"/>
            <a:ext cx="3685303" cy="461665"/>
          </a:xfrm>
          <a:prstGeom prst="rect">
            <a:avLst/>
          </a:prstGeom>
          <a:noFill/>
        </p:spPr>
        <p:txBody>
          <a:bodyPr wrap="none" rtlCol="0">
            <a:spAutoFit/>
          </a:bodyPr>
          <a:lstStyle/>
          <a:p>
            <a:pPr algn="ctr"/>
            <a:r>
              <a:rPr lang="fr-FR" sz="2400" b="1" dirty="0">
                <a:solidFill>
                  <a:schemeClr val="accent2">
                    <a:lumMod val="50000"/>
                  </a:schemeClr>
                </a:solidFill>
              </a:rPr>
              <a:t>Tables des faits - Définition</a:t>
            </a:r>
          </a:p>
        </p:txBody>
      </p:sp>
      <p:pic>
        <p:nvPicPr>
          <p:cNvPr id="3" name="Picture 2">
            <a:extLst>
              <a:ext uri="{FF2B5EF4-FFF2-40B4-BE49-F238E27FC236}">
                <a16:creationId xmlns:a16="http://schemas.microsoft.com/office/drawing/2014/main" xmlns="" id="{15353742-943C-BA43-BF10-ADCE3E9AA57C}"/>
              </a:ext>
            </a:extLst>
          </p:cNvPr>
          <p:cNvPicPr>
            <a:picLocks noChangeAspect="1"/>
          </p:cNvPicPr>
          <p:nvPr/>
        </p:nvPicPr>
        <p:blipFill>
          <a:blip r:embed="rId3"/>
          <a:stretch>
            <a:fillRect/>
          </a:stretch>
        </p:blipFill>
        <p:spPr>
          <a:xfrm>
            <a:off x="2069598" y="2392288"/>
            <a:ext cx="8052802" cy="3622264"/>
          </a:xfrm>
          <a:prstGeom prst="rect">
            <a:avLst/>
          </a:prstGeom>
        </p:spPr>
      </p:pic>
    </p:spTree>
    <p:extLst>
      <p:ext uri="{BB962C8B-B14F-4D97-AF65-F5344CB8AC3E}">
        <p14:creationId xmlns:p14="http://schemas.microsoft.com/office/powerpoint/2010/main" xmlns="" val="28626216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1435769" y="2623805"/>
            <a:ext cx="10499558" cy="3139321"/>
          </a:xfrm>
          <a:prstGeom prst="rect">
            <a:avLst/>
          </a:prstGeom>
          <a:noFill/>
        </p:spPr>
        <p:txBody>
          <a:bodyPr wrap="square" rtlCol="0" anchor="ctr">
            <a:spAutoFit/>
          </a:bodyPr>
          <a:lstStyle/>
          <a:p>
            <a:pPr marL="285750" indent="-285750" algn="just">
              <a:buFont typeface="Arial" panose="020B0604020202020204" pitchFamily="34" charset="0"/>
              <a:buChar char="•"/>
            </a:pPr>
            <a:r>
              <a:rPr lang="fr-FR" dirty="0"/>
              <a:t>Mesures ou Faits : Les valeurs numériques que l'on souhaite analyser, telles que les ventes totales, les quantités vendues, les heures travaillées, etc. Ces mesures peuvent être additives, semi-additives, ou non-additives.</a:t>
            </a:r>
          </a:p>
          <a:p>
            <a:pPr algn="just"/>
            <a:endParaRPr lang="fr-FR" dirty="0"/>
          </a:p>
          <a:p>
            <a:pPr marL="285750" indent="-285750" algn="just">
              <a:buFont typeface="Arial" panose="020B0604020202020204" pitchFamily="34" charset="0"/>
              <a:buChar char="•"/>
            </a:pPr>
            <a:r>
              <a:rPr lang="fr-FR" dirty="0"/>
              <a:t>Clés Étrangères : Les tables des faits contiennent des clés étrangères qui font référence à des tables de dimensions. Ces clés étrangères permettent d'associer chaque fait à des attributs descriptifs (dimensions) comme le temps, le lieu, le client, le produit, etc.</a:t>
            </a:r>
          </a:p>
          <a:p>
            <a:pPr algn="just"/>
            <a:endParaRPr lang="fr-FR" dirty="0"/>
          </a:p>
          <a:p>
            <a:pPr marL="285750" indent="-285750" algn="just">
              <a:buFont typeface="Arial" panose="020B0604020202020204" pitchFamily="34" charset="0"/>
              <a:buChar char="•"/>
            </a:pPr>
            <a:r>
              <a:rPr lang="fr-FR" dirty="0"/>
              <a:t>Granularité : La granularité d'une table des faits décrit le niveau de détail des données stockées. Par exemple, une granularité peut être au niveau de la transaction individuelle, du jour, du produit, etc.</a:t>
            </a:r>
          </a:p>
          <a:p>
            <a:pPr algn="just"/>
            <a:endParaRPr lang="fr-FR" dirty="0"/>
          </a:p>
        </p:txBody>
      </p:sp>
      <p:sp>
        <p:nvSpPr>
          <p:cNvPr id="5" name="TextBox 4">
            <a:extLst>
              <a:ext uri="{FF2B5EF4-FFF2-40B4-BE49-F238E27FC236}">
                <a16:creationId xmlns:a16="http://schemas.microsoft.com/office/drawing/2014/main" xmlns="" id="{92801EC3-9327-E94B-A73F-3EB6272A2DD3}"/>
              </a:ext>
            </a:extLst>
          </p:cNvPr>
          <p:cNvSpPr txBox="1"/>
          <p:nvPr/>
        </p:nvSpPr>
        <p:spPr>
          <a:xfrm>
            <a:off x="3822139" y="1805136"/>
            <a:ext cx="4547720" cy="461665"/>
          </a:xfrm>
          <a:prstGeom prst="rect">
            <a:avLst/>
          </a:prstGeom>
          <a:noFill/>
        </p:spPr>
        <p:txBody>
          <a:bodyPr wrap="none" rtlCol="0">
            <a:spAutoFit/>
          </a:bodyPr>
          <a:lstStyle/>
          <a:p>
            <a:pPr algn="ctr"/>
            <a:r>
              <a:rPr lang="fr-FR" sz="2400" b="1" dirty="0">
                <a:solidFill>
                  <a:schemeClr val="accent2">
                    <a:lumMod val="50000"/>
                  </a:schemeClr>
                </a:solidFill>
              </a:rPr>
              <a:t>Tables des faits - Caractéristiques</a:t>
            </a:r>
          </a:p>
        </p:txBody>
      </p:sp>
    </p:spTree>
    <p:extLst>
      <p:ext uri="{BB962C8B-B14F-4D97-AF65-F5344CB8AC3E}">
        <p14:creationId xmlns:p14="http://schemas.microsoft.com/office/powerpoint/2010/main" xmlns="" val="23388041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2039849" y="2289556"/>
            <a:ext cx="8112296" cy="923330"/>
          </a:xfrm>
          <a:prstGeom prst="rect">
            <a:avLst/>
          </a:prstGeom>
          <a:noFill/>
        </p:spPr>
        <p:txBody>
          <a:bodyPr wrap="square" rtlCol="0" anchor="ctr">
            <a:spAutoFit/>
          </a:bodyPr>
          <a:lstStyle/>
          <a:p>
            <a:pPr algn="just"/>
            <a:r>
              <a:rPr lang="fr-FR" dirty="0"/>
              <a:t>Dans un entrepôt de données, les tables des faits sont utilisées en combinaison avec des tables de dimensions pour répondre à des questions d'affaires spécifiques.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3822139" y="1805136"/>
            <a:ext cx="4547720" cy="461665"/>
          </a:xfrm>
          <a:prstGeom prst="rect">
            <a:avLst/>
          </a:prstGeom>
          <a:noFill/>
        </p:spPr>
        <p:txBody>
          <a:bodyPr wrap="none" rtlCol="0">
            <a:spAutoFit/>
          </a:bodyPr>
          <a:lstStyle/>
          <a:p>
            <a:pPr algn="ctr"/>
            <a:r>
              <a:rPr lang="fr-FR" sz="2400" b="1" dirty="0">
                <a:solidFill>
                  <a:schemeClr val="accent2">
                    <a:lumMod val="50000"/>
                  </a:schemeClr>
                </a:solidFill>
              </a:rPr>
              <a:t>Tables des faits - Caractéristiques</a:t>
            </a:r>
          </a:p>
        </p:txBody>
      </p:sp>
      <p:sp>
        <p:nvSpPr>
          <p:cNvPr id="6" name="TextBox 5">
            <a:extLst>
              <a:ext uri="{FF2B5EF4-FFF2-40B4-BE49-F238E27FC236}">
                <a16:creationId xmlns:a16="http://schemas.microsoft.com/office/drawing/2014/main" xmlns="" id="{E0F8F48B-EC7A-174E-90E2-D5AFB0B4E05E}"/>
              </a:ext>
            </a:extLst>
          </p:cNvPr>
          <p:cNvSpPr txBox="1"/>
          <p:nvPr/>
        </p:nvSpPr>
        <p:spPr>
          <a:xfrm>
            <a:off x="1975182" y="5763126"/>
            <a:ext cx="8241631" cy="923330"/>
          </a:xfrm>
          <a:prstGeom prst="rect">
            <a:avLst/>
          </a:prstGeom>
          <a:noFill/>
        </p:spPr>
        <p:txBody>
          <a:bodyPr wrap="square" rtlCol="0" anchor="ctr">
            <a:spAutoFit/>
          </a:bodyPr>
          <a:lstStyle/>
          <a:p>
            <a:pPr algn="just"/>
            <a:r>
              <a:rPr lang="fr-FR" dirty="0"/>
              <a:t>Par exemple, pour analyser les ventes mensuelles par produit et par région, une requête serait exécutée en joignant la table des faits "Ventes" avec les tables de dimensions "Produit" et  »Magasin".</a:t>
            </a:r>
          </a:p>
        </p:txBody>
      </p:sp>
      <p:pic>
        <p:nvPicPr>
          <p:cNvPr id="7" name="Picture 6">
            <a:extLst>
              <a:ext uri="{FF2B5EF4-FFF2-40B4-BE49-F238E27FC236}">
                <a16:creationId xmlns:a16="http://schemas.microsoft.com/office/drawing/2014/main" xmlns="" id="{CB9D3975-8530-8246-9F4C-8DE71CA3F655}"/>
              </a:ext>
            </a:extLst>
          </p:cNvPr>
          <p:cNvPicPr>
            <a:picLocks noChangeAspect="1"/>
          </p:cNvPicPr>
          <p:nvPr/>
        </p:nvPicPr>
        <p:blipFill>
          <a:blip r:embed="rId2"/>
          <a:stretch>
            <a:fillRect/>
          </a:stretch>
        </p:blipFill>
        <p:spPr>
          <a:xfrm>
            <a:off x="3727447" y="3074811"/>
            <a:ext cx="4737100" cy="2451100"/>
          </a:xfrm>
          <a:prstGeom prst="rect">
            <a:avLst/>
          </a:prstGeom>
        </p:spPr>
      </p:pic>
    </p:spTree>
    <p:extLst>
      <p:ext uri="{BB962C8B-B14F-4D97-AF65-F5344CB8AC3E}">
        <p14:creationId xmlns:p14="http://schemas.microsoft.com/office/powerpoint/2010/main" xmlns="" val="16164990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995633" y="1805136"/>
            <a:ext cx="2200731" cy="461665"/>
          </a:xfrm>
          <a:prstGeom prst="rect">
            <a:avLst/>
          </a:prstGeom>
          <a:noFill/>
        </p:spPr>
        <p:txBody>
          <a:bodyPr wrap="none" rtlCol="0">
            <a:spAutoFit/>
          </a:bodyPr>
          <a:lstStyle/>
          <a:p>
            <a:pPr algn="ctr"/>
            <a:r>
              <a:rPr lang="fr-FR" sz="2400" b="1" dirty="0">
                <a:solidFill>
                  <a:schemeClr val="accent2">
                    <a:lumMod val="50000"/>
                  </a:schemeClr>
                </a:solidFill>
              </a:rPr>
              <a:t>Tables des faits</a:t>
            </a:r>
          </a:p>
        </p:txBody>
      </p:sp>
      <p:graphicFrame>
        <p:nvGraphicFramePr>
          <p:cNvPr id="2" name="Diagram 1">
            <a:extLst>
              <a:ext uri="{FF2B5EF4-FFF2-40B4-BE49-F238E27FC236}">
                <a16:creationId xmlns:a16="http://schemas.microsoft.com/office/drawing/2014/main" xmlns="" id="{8DE098D2-D2B3-9444-88C6-AF86B79EC481}"/>
              </a:ext>
            </a:extLst>
          </p:cNvPr>
          <p:cNvGraphicFramePr/>
          <p:nvPr>
            <p:extLst>
              <p:ext uri="{D42A27DB-BD31-4B8C-83A1-F6EECF244321}">
                <p14:modId xmlns:p14="http://schemas.microsoft.com/office/powerpoint/2010/main" xmlns="" val="312933914"/>
              </p:ext>
            </p:extLst>
          </p:nvPr>
        </p:nvGraphicFramePr>
        <p:xfrm>
          <a:off x="2715125" y="2392288"/>
          <a:ext cx="6761746" cy="38715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xmlns="" id="{6CEC366F-24C8-3743-89F0-E1FBF1284DE0}"/>
              </a:ext>
            </a:extLst>
          </p:cNvPr>
          <p:cNvSpPr txBox="1"/>
          <p:nvPr/>
        </p:nvSpPr>
        <p:spPr>
          <a:xfrm>
            <a:off x="5159812" y="5894488"/>
            <a:ext cx="1872372" cy="369332"/>
          </a:xfrm>
          <a:prstGeom prst="rect">
            <a:avLst/>
          </a:prstGeom>
          <a:noFill/>
        </p:spPr>
        <p:txBody>
          <a:bodyPr wrap="none" rtlCol="0">
            <a:spAutoFit/>
          </a:bodyPr>
          <a:lstStyle/>
          <a:p>
            <a:r>
              <a:rPr lang="fr-FR" dirty="0"/>
              <a:t>Schéma en étoile</a:t>
            </a:r>
          </a:p>
        </p:txBody>
      </p:sp>
    </p:spTree>
    <p:extLst>
      <p:ext uri="{BB962C8B-B14F-4D97-AF65-F5344CB8AC3E}">
        <p14:creationId xmlns:p14="http://schemas.microsoft.com/office/powerpoint/2010/main" xmlns="" val="84121590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2330114" y="2912562"/>
            <a:ext cx="8226596" cy="2534540"/>
          </a:xfrm>
          <a:prstGeom prst="rect">
            <a:avLst/>
          </a:prstGeom>
          <a:noFill/>
        </p:spPr>
        <p:txBody>
          <a:bodyPr wrap="square" rtlCol="0" anchor="ctr">
            <a:spAutoFit/>
          </a:bodyPr>
          <a:lstStyle/>
          <a:p>
            <a:pPr algn="ctr">
              <a:lnSpc>
                <a:spcPct val="150000"/>
              </a:lnSpc>
            </a:pPr>
            <a:r>
              <a:rPr lang="fr-FR" dirty="0"/>
              <a:t>Les tables de dimension fournissent le contexte descriptif aux mesures quantitatives stockées dans les tables des faits. </a:t>
            </a:r>
          </a:p>
          <a:p>
            <a:pPr algn="ctr">
              <a:lnSpc>
                <a:spcPct val="150000"/>
              </a:lnSpc>
            </a:pPr>
            <a:endParaRPr lang="fr-FR" dirty="0"/>
          </a:p>
          <a:p>
            <a:pPr algn="ctr">
              <a:lnSpc>
                <a:spcPct val="150000"/>
              </a:lnSpc>
            </a:pPr>
            <a:r>
              <a:rPr lang="fr-FR" dirty="0"/>
              <a:t>Les tables de dimension contiennent des attributs ou des champs qui décrivent, catégorisent, spécifient et qualifient les données, permettant ainsi une analyse multidimensionnelle riche et intuitive.</a:t>
            </a:r>
          </a:p>
        </p:txBody>
      </p:sp>
      <p:sp>
        <p:nvSpPr>
          <p:cNvPr id="6" name="TextBox 5">
            <a:extLst>
              <a:ext uri="{FF2B5EF4-FFF2-40B4-BE49-F238E27FC236}">
                <a16:creationId xmlns:a16="http://schemas.microsoft.com/office/drawing/2014/main" xmlns="" id="{2833F03E-2285-AD4E-ABC8-E81F14B7F1D9}"/>
              </a:ext>
            </a:extLst>
          </p:cNvPr>
          <p:cNvSpPr txBox="1"/>
          <p:nvPr/>
        </p:nvSpPr>
        <p:spPr>
          <a:xfrm>
            <a:off x="3928195" y="1822032"/>
            <a:ext cx="4335610" cy="461665"/>
          </a:xfrm>
          <a:prstGeom prst="rect">
            <a:avLst/>
          </a:prstGeom>
          <a:noFill/>
        </p:spPr>
        <p:txBody>
          <a:bodyPr wrap="none" rtlCol="0">
            <a:spAutoFit/>
          </a:bodyPr>
          <a:lstStyle/>
          <a:p>
            <a:pPr algn="ctr"/>
            <a:r>
              <a:rPr lang="fr-FR" sz="2400" b="1" dirty="0">
                <a:solidFill>
                  <a:schemeClr val="accent2">
                    <a:lumMod val="50000"/>
                  </a:schemeClr>
                </a:solidFill>
              </a:rPr>
              <a:t>Table de dimensions - Définition</a:t>
            </a:r>
          </a:p>
        </p:txBody>
      </p:sp>
    </p:spTree>
    <p:extLst>
      <p:ext uri="{BB962C8B-B14F-4D97-AF65-F5344CB8AC3E}">
        <p14:creationId xmlns:p14="http://schemas.microsoft.com/office/powerpoint/2010/main" xmlns="" val="18122333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1435769" y="2762304"/>
            <a:ext cx="10499558" cy="2862322"/>
          </a:xfrm>
          <a:prstGeom prst="rect">
            <a:avLst/>
          </a:prstGeom>
          <a:noFill/>
        </p:spPr>
        <p:txBody>
          <a:bodyPr wrap="square" rtlCol="0" anchor="ctr">
            <a:spAutoFit/>
          </a:bodyPr>
          <a:lstStyle/>
          <a:p>
            <a:pPr marL="285750" indent="-285750" algn="just">
              <a:buFont typeface="Arial" panose="020B0604020202020204" pitchFamily="34" charset="0"/>
              <a:buChar char="•"/>
            </a:pPr>
            <a:r>
              <a:rPr lang="fr-FR" dirty="0"/>
              <a:t>Attributs descriptifs : Ces attributs fournissent des informations détaillées sur les dimensions, telles que le nom d'un produit, la description d'une catégorie, ou l'adresse d'un client.</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Clé primaire : Chaque table de dimension a une clé primaire unique qui identifie chaque élément (ou "membre") de la dimension. Cette clé primaire est utilisée pour relier les tables de dimension aux tables des faits.</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Hiérarchies et niveaux : Les tables de dimension peuvent inclure des hiérarchies et des niveaux qui permettent des analyses agrégées et détaillées. Par exemple, une dimension "Temps" peut avoir des niveaux pour les jours, les mois, les trimestres et les années.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3354321" y="1805136"/>
            <a:ext cx="5483361" cy="461665"/>
          </a:xfrm>
          <a:prstGeom prst="rect">
            <a:avLst/>
          </a:prstGeom>
          <a:noFill/>
        </p:spPr>
        <p:txBody>
          <a:bodyPr wrap="none" rtlCol="0">
            <a:spAutoFit/>
          </a:bodyPr>
          <a:lstStyle/>
          <a:p>
            <a:pPr algn="ctr"/>
            <a:r>
              <a:rPr lang="fr-FR" sz="2400" b="1" dirty="0">
                <a:solidFill>
                  <a:schemeClr val="accent2">
                    <a:lumMod val="50000"/>
                  </a:schemeClr>
                </a:solidFill>
              </a:rPr>
              <a:t>Tables des dimensions - Caractéristiques</a:t>
            </a:r>
          </a:p>
        </p:txBody>
      </p:sp>
    </p:spTree>
    <p:extLst>
      <p:ext uri="{BB962C8B-B14F-4D97-AF65-F5344CB8AC3E}">
        <p14:creationId xmlns:p14="http://schemas.microsoft.com/office/powerpoint/2010/main" xmlns="" val="28605895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4" name="TextBox 3">
            <a:extLst>
              <a:ext uri="{FF2B5EF4-FFF2-40B4-BE49-F238E27FC236}">
                <a16:creationId xmlns:a16="http://schemas.microsoft.com/office/drawing/2014/main" xmlns="" id="{15983605-2AC7-AC4E-9543-F267790A9D47}"/>
              </a:ext>
            </a:extLst>
          </p:cNvPr>
          <p:cNvSpPr txBox="1"/>
          <p:nvPr/>
        </p:nvSpPr>
        <p:spPr>
          <a:xfrm>
            <a:off x="2039849" y="2428480"/>
            <a:ext cx="8112296" cy="646331"/>
          </a:xfrm>
          <a:prstGeom prst="rect">
            <a:avLst/>
          </a:prstGeom>
          <a:noFill/>
        </p:spPr>
        <p:txBody>
          <a:bodyPr wrap="square" rtlCol="0" anchor="ctr">
            <a:spAutoFit/>
          </a:bodyPr>
          <a:lstStyle/>
          <a:p>
            <a:pPr algn="just"/>
            <a:r>
              <a:rPr lang="fr-FR" dirty="0"/>
              <a:t>Les tables de dimension sont utilisées pour filtrer, grouper et étiqueter les données dans les rapports et les analyses.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3345504" y="1805136"/>
            <a:ext cx="5500994" cy="461665"/>
          </a:xfrm>
          <a:prstGeom prst="rect">
            <a:avLst/>
          </a:prstGeom>
          <a:noFill/>
        </p:spPr>
        <p:txBody>
          <a:bodyPr wrap="none" rtlCol="0">
            <a:spAutoFit/>
          </a:bodyPr>
          <a:lstStyle/>
          <a:p>
            <a:pPr algn="ctr"/>
            <a:r>
              <a:rPr lang="fr-FR" sz="2400" b="1" dirty="0">
                <a:solidFill>
                  <a:schemeClr val="accent2">
                    <a:lumMod val="50000"/>
                  </a:schemeClr>
                </a:solidFill>
              </a:rPr>
              <a:t>Tables de dimensions - Caractéristiques</a:t>
            </a:r>
          </a:p>
        </p:txBody>
      </p:sp>
      <p:sp>
        <p:nvSpPr>
          <p:cNvPr id="6" name="TextBox 5">
            <a:extLst>
              <a:ext uri="{FF2B5EF4-FFF2-40B4-BE49-F238E27FC236}">
                <a16:creationId xmlns:a16="http://schemas.microsoft.com/office/drawing/2014/main" xmlns="" id="{E0F8F48B-EC7A-174E-90E2-D5AFB0B4E05E}"/>
              </a:ext>
            </a:extLst>
          </p:cNvPr>
          <p:cNvSpPr txBox="1"/>
          <p:nvPr/>
        </p:nvSpPr>
        <p:spPr>
          <a:xfrm>
            <a:off x="1975182" y="5565061"/>
            <a:ext cx="8241631" cy="923330"/>
          </a:xfrm>
          <a:prstGeom prst="rect">
            <a:avLst/>
          </a:prstGeom>
          <a:noFill/>
        </p:spPr>
        <p:txBody>
          <a:bodyPr wrap="square" rtlCol="0" anchor="ctr">
            <a:spAutoFit/>
          </a:bodyPr>
          <a:lstStyle/>
          <a:p>
            <a:pPr algn="just"/>
            <a:r>
              <a:rPr lang="fr-FR" dirty="0"/>
              <a:t>Par exemple, pour analyser les ventes par région et par produit, les tables de dimensions  »Magasin" et "Produit" sont jointes à la table des faits "Ventes" pour fournir le contexte nécessaire à l'analyse.</a:t>
            </a:r>
          </a:p>
        </p:txBody>
      </p:sp>
      <p:pic>
        <p:nvPicPr>
          <p:cNvPr id="3" name="Picture 2">
            <a:extLst>
              <a:ext uri="{FF2B5EF4-FFF2-40B4-BE49-F238E27FC236}">
                <a16:creationId xmlns:a16="http://schemas.microsoft.com/office/drawing/2014/main" xmlns="" id="{55AD7D22-F58D-DE45-B009-A249C015A421}"/>
              </a:ext>
            </a:extLst>
          </p:cNvPr>
          <p:cNvPicPr>
            <a:picLocks noChangeAspect="1"/>
          </p:cNvPicPr>
          <p:nvPr/>
        </p:nvPicPr>
        <p:blipFill>
          <a:blip r:embed="rId2"/>
          <a:stretch>
            <a:fillRect/>
          </a:stretch>
        </p:blipFill>
        <p:spPr>
          <a:xfrm>
            <a:off x="3727447" y="3074811"/>
            <a:ext cx="4737100" cy="2451100"/>
          </a:xfrm>
          <a:prstGeom prst="rect">
            <a:avLst/>
          </a:prstGeom>
        </p:spPr>
      </p:pic>
    </p:spTree>
    <p:extLst>
      <p:ext uri="{BB962C8B-B14F-4D97-AF65-F5344CB8AC3E}">
        <p14:creationId xmlns:p14="http://schemas.microsoft.com/office/powerpoint/2010/main" xmlns="" val="41751575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77496" y="1805136"/>
            <a:ext cx="2437014" cy="461665"/>
          </a:xfrm>
          <a:prstGeom prst="rect">
            <a:avLst/>
          </a:prstGeom>
          <a:noFill/>
        </p:spPr>
        <p:txBody>
          <a:bodyPr wrap="none" rtlCol="0">
            <a:spAutoFit/>
          </a:bodyPr>
          <a:lstStyle/>
          <a:p>
            <a:pPr algn="ctr"/>
            <a:r>
              <a:rPr lang="fr-FR" sz="2400" b="1" dirty="0">
                <a:solidFill>
                  <a:schemeClr val="accent2">
                    <a:lumMod val="50000"/>
                  </a:schemeClr>
                </a:solidFill>
              </a:rPr>
              <a:t>Schéma en étoile</a:t>
            </a:r>
          </a:p>
        </p:txBody>
      </p:sp>
      <p:pic>
        <p:nvPicPr>
          <p:cNvPr id="7" name="Picture 6">
            <a:extLst>
              <a:ext uri="{FF2B5EF4-FFF2-40B4-BE49-F238E27FC236}">
                <a16:creationId xmlns:a16="http://schemas.microsoft.com/office/drawing/2014/main" xmlns="" id="{A04ECA1A-9F8F-7444-B12E-6AB7907DE0E2}"/>
              </a:ext>
            </a:extLst>
          </p:cNvPr>
          <p:cNvPicPr>
            <a:picLocks noChangeAspect="1"/>
          </p:cNvPicPr>
          <p:nvPr/>
        </p:nvPicPr>
        <p:blipFill>
          <a:blip r:embed="rId2"/>
          <a:stretch>
            <a:fillRect/>
          </a:stretch>
        </p:blipFill>
        <p:spPr>
          <a:xfrm>
            <a:off x="2348615" y="2518219"/>
            <a:ext cx="7631698" cy="3948841"/>
          </a:xfrm>
          <a:prstGeom prst="rect">
            <a:avLst/>
          </a:prstGeom>
        </p:spPr>
      </p:pic>
    </p:spTree>
    <p:extLst>
      <p:ext uri="{BB962C8B-B14F-4D97-AF65-F5344CB8AC3E}">
        <p14:creationId xmlns:p14="http://schemas.microsoft.com/office/powerpoint/2010/main" xmlns="" val="39870661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77496" y="1805136"/>
            <a:ext cx="2437014" cy="461665"/>
          </a:xfrm>
          <a:prstGeom prst="rect">
            <a:avLst/>
          </a:prstGeom>
          <a:noFill/>
        </p:spPr>
        <p:txBody>
          <a:bodyPr wrap="none" rtlCol="0">
            <a:spAutoFit/>
          </a:bodyPr>
          <a:lstStyle/>
          <a:p>
            <a:pPr algn="ctr"/>
            <a:r>
              <a:rPr lang="fr-FR" sz="2400" b="1" dirty="0">
                <a:solidFill>
                  <a:schemeClr val="accent2">
                    <a:lumMod val="50000"/>
                  </a:schemeClr>
                </a:solidFill>
              </a:rPr>
              <a:t>Schéma en étoile</a:t>
            </a:r>
          </a:p>
        </p:txBody>
      </p:sp>
      <p:sp>
        <p:nvSpPr>
          <p:cNvPr id="6" name="TextBox 5">
            <a:extLst>
              <a:ext uri="{FF2B5EF4-FFF2-40B4-BE49-F238E27FC236}">
                <a16:creationId xmlns:a16="http://schemas.microsoft.com/office/drawing/2014/main" xmlns="" id="{0B976FF5-C35B-004E-B67E-610660FB59FF}"/>
              </a:ext>
            </a:extLst>
          </p:cNvPr>
          <p:cNvSpPr txBox="1"/>
          <p:nvPr/>
        </p:nvSpPr>
        <p:spPr>
          <a:xfrm>
            <a:off x="2039852" y="3452191"/>
            <a:ext cx="8112296" cy="923330"/>
          </a:xfrm>
          <a:prstGeom prst="rect">
            <a:avLst/>
          </a:prstGeom>
          <a:noFill/>
        </p:spPr>
        <p:txBody>
          <a:bodyPr wrap="square" rtlCol="0" anchor="ctr">
            <a:spAutoFit/>
          </a:bodyPr>
          <a:lstStyle/>
          <a:p>
            <a:pPr algn="just"/>
            <a:r>
              <a:rPr lang="fr-FR" dirty="0"/>
              <a:t>C'est le modèle le plus simple et le plus couramment utilisé pour le développement de systèmes décisionnels en raison de sa simplicité, de sa facilité de compréhension et de ses performances optimisées pour les requêtes.</a:t>
            </a:r>
          </a:p>
        </p:txBody>
      </p:sp>
    </p:spTree>
    <p:extLst>
      <p:ext uri="{BB962C8B-B14F-4D97-AF65-F5344CB8AC3E}">
        <p14:creationId xmlns:p14="http://schemas.microsoft.com/office/powerpoint/2010/main" xmlns="" val="26225291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0ECE887-0001-2F4E-B206-6E6A6BD22BC3}"/>
              </a:ext>
            </a:extLst>
          </p:cNvPr>
          <p:cNvPicPr>
            <a:picLocks noChangeAspect="1"/>
          </p:cNvPicPr>
          <p:nvPr/>
        </p:nvPicPr>
        <p:blipFill>
          <a:blip r:embed="rId3"/>
          <a:stretch>
            <a:fillRect/>
          </a:stretch>
        </p:blipFill>
        <p:spPr>
          <a:xfrm>
            <a:off x="2163597" y="1805136"/>
            <a:ext cx="7864806" cy="4925766"/>
          </a:xfrm>
          <a:prstGeom prst="rect">
            <a:avLst/>
          </a:prstGeom>
        </p:spPr>
      </p:pic>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77496" y="1805136"/>
            <a:ext cx="2437014" cy="461665"/>
          </a:xfrm>
          <a:prstGeom prst="rect">
            <a:avLst/>
          </a:prstGeom>
          <a:noFill/>
        </p:spPr>
        <p:txBody>
          <a:bodyPr wrap="none" rtlCol="0">
            <a:spAutoFit/>
          </a:bodyPr>
          <a:lstStyle/>
          <a:p>
            <a:pPr algn="ctr"/>
            <a:r>
              <a:rPr lang="fr-FR" sz="2400" b="1" dirty="0">
                <a:solidFill>
                  <a:schemeClr val="accent2">
                    <a:lumMod val="50000"/>
                  </a:schemeClr>
                </a:solidFill>
              </a:rPr>
              <a:t>Schéma en étoile</a:t>
            </a:r>
          </a:p>
        </p:txBody>
      </p:sp>
    </p:spTree>
    <p:extLst>
      <p:ext uri="{BB962C8B-B14F-4D97-AF65-F5344CB8AC3E}">
        <p14:creationId xmlns:p14="http://schemas.microsoft.com/office/powerpoint/2010/main" xmlns="" val="12741848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77496" y="1805136"/>
            <a:ext cx="2437014" cy="461665"/>
          </a:xfrm>
          <a:prstGeom prst="rect">
            <a:avLst/>
          </a:prstGeom>
          <a:noFill/>
        </p:spPr>
        <p:txBody>
          <a:bodyPr wrap="none" rtlCol="0">
            <a:spAutoFit/>
          </a:bodyPr>
          <a:lstStyle/>
          <a:p>
            <a:pPr algn="ctr"/>
            <a:r>
              <a:rPr lang="fr-FR" sz="2400" b="1" dirty="0">
                <a:solidFill>
                  <a:schemeClr val="accent2">
                    <a:lumMod val="50000"/>
                  </a:schemeClr>
                </a:solidFill>
              </a:rPr>
              <a:t>Schéma en étoile</a:t>
            </a:r>
          </a:p>
        </p:txBody>
      </p:sp>
      <p:sp>
        <p:nvSpPr>
          <p:cNvPr id="6" name="TextBox 5">
            <a:extLst>
              <a:ext uri="{FF2B5EF4-FFF2-40B4-BE49-F238E27FC236}">
                <a16:creationId xmlns:a16="http://schemas.microsoft.com/office/drawing/2014/main" xmlns="" id="{667C58E8-BA57-6A46-A4E8-EC0016294C98}"/>
              </a:ext>
            </a:extLst>
          </p:cNvPr>
          <p:cNvSpPr txBox="1"/>
          <p:nvPr/>
        </p:nvSpPr>
        <p:spPr>
          <a:xfrm>
            <a:off x="1721279" y="2934581"/>
            <a:ext cx="9444266" cy="2862322"/>
          </a:xfrm>
          <a:prstGeom prst="rect">
            <a:avLst/>
          </a:prstGeom>
          <a:noFill/>
        </p:spPr>
        <p:txBody>
          <a:bodyPr wrap="square" rtlCol="0" anchor="ctr">
            <a:spAutoFit/>
          </a:bodyPr>
          <a:lstStyle/>
          <a:p>
            <a:pPr marL="285750" indent="-285750" algn="just">
              <a:buFont typeface="Arial" panose="020B0604020202020204" pitchFamily="34" charset="0"/>
              <a:buChar char="•"/>
            </a:pPr>
            <a:r>
              <a:rPr lang="fr-FR" dirty="0"/>
              <a:t>Simplicité et Clarté : Sa structure simple facilite la compréhension pour les utilisateurs d'affaires et les développeurs, rendant la conception, la mise en œuvre et la maintenance plus aisées.</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Performances des Requêtes : La conception optimise les performances des requêtes analytiques en réduisant le nombre de jointures nécessaires pour répondre à une question d'affaires.</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Facilité d'Utilisation : Les utilisateurs finaux et les outils de BI trouvent plus facile de naviguer et d'extraire des données dans un modèle en étoile grâce à sa structure intuitive.</a:t>
            </a:r>
          </a:p>
        </p:txBody>
      </p:sp>
    </p:spTree>
    <p:extLst>
      <p:ext uri="{BB962C8B-B14F-4D97-AF65-F5344CB8AC3E}">
        <p14:creationId xmlns:p14="http://schemas.microsoft.com/office/powerpoint/2010/main" xmlns="" val="39135867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77496" y="1805136"/>
            <a:ext cx="2437014" cy="461665"/>
          </a:xfrm>
          <a:prstGeom prst="rect">
            <a:avLst/>
          </a:prstGeom>
          <a:noFill/>
        </p:spPr>
        <p:txBody>
          <a:bodyPr wrap="none" rtlCol="0">
            <a:spAutoFit/>
          </a:bodyPr>
          <a:lstStyle/>
          <a:p>
            <a:pPr algn="ctr"/>
            <a:r>
              <a:rPr lang="fr-FR" sz="2400" b="1" dirty="0">
                <a:solidFill>
                  <a:schemeClr val="accent2">
                    <a:lumMod val="50000"/>
                  </a:schemeClr>
                </a:solidFill>
              </a:rPr>
              <a:t>Schéma en étoile</a:t>
            </a:r>
          </a:p>
        </p:txBody>
      </p:sp>
      <p:pic>
        <p:nvPicPr>
          <p:cNvPr id="7" name="Picture 6">
            <a:extLst>
              <a:ext uri="{FF2B5EF4-FFF2-40B4-BE49-F238E27FC236}">
                <a16:creationId xmlns:a16="http://schemas.microsoft.com/office/drawing/2014/main" xmlns="" id="{A04ECA1A-9F8F-7444-B12E-6AB7907DE0E2}"/>
              </a:ext>
            </a:extLst>
          </p:cNvPr>
          <p:cNvPicPr>
            <a:picLocks noChangeAspect="1"/>
          </p:cNvPicPr>
          <p:nvPr/>
        </p:nvPicPr>
        <p:blipFill>
          <a:blip r:embed="rId3"/>
          <a:stretch>
            <a:fillRect/>
          </a:stretch>
        </p:blipFill>
        <p:spPr>
          <a:xfrm>
            <a:off x="2348615" y="2518219"/>
            <a:ext cx="7631698" cy="3948841"/>
          </a:xfrm>
          <a:prstGeom prst="rect">
            <a:avLst/>
          </a:prstGeom>
        </p:spPr>
      </p:pic>
    </p:spTree>
    <p:extLst>
      <p:ext uri="{BB962C8B-B14F-4D97-AF65-F5344CB8AC3E}">
        <p14:creationId xmlns:p14="http://schemas.microsoft.com/office/powerpoint/2010/main" xmlns="" val="34861129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B113EDD-F0EE-CE48-90AE-C3F450F42524}"/>
              </a:ext>
            </a:extLst>
          </p:cNvPr>
          <p:cNvPicPr>
            <a:picLocks noChangeAspect="1"/>
          </p:cNvPicPr>
          <p:nvPr/>
        </p:nvPicPr>
        <p:blipFill>
          <a:blip r:embed="rId3"/>
          <a:stretch>
            <a:fillRect/>
          </a:stretch>
        </p:blipFill>
        <p:spPr>
          <a:xfrm>
            <a:off x="2659545" y="1564489"/>
            <a:ext cx="6656733" cy="5081476"/>
          </a:xfrm>
          <a:prstGeom prst="rect">
            <a:avLst/>
          </a:prstGeom>
        </p:spPr>
      </p:pic>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03822" y="1805136"/>
            <a:ext cx="2584362" cy="461665"/>
          </a:xfrm>
          <a:prstGeom prst="rect">
            <a:avLst/>
          </a:prstGeom>
          <a:noFill/>
        </p:spPr>
        <p:txBody>
          <a:bodyPr wrap="none" rtlCol="0">
            <a:spAutoFit/>
          </a:bodyPr>
          <a:lstStyle/>
          <a:p>
            <a:pPr algn="ctr"/>
            <a:r>
              <a:rPr lang="fr-FR" sz="2400" b="1" dirty="0">
                <a:solidFill>
                  <a:schemeClr val="accent2">
                    <a:lumMod val="50000"/>
                  </a:schemeClr>
                </a:solidFill>
              </a:rPr>
              <a:t>Schéma en Flocon</a:t>
            </a:r>
          </a:p>
        </p:txBody>
      </p:sp>
    </p:spTree>
    <p:extLst>
      <p:ext uri="{BB962C8B-B14F-4D97-AF65-F5344CB8AC3E}">
        <p14:creationId xmlns:p14="http://schemas.microsoft.com/office/powerpoint/2010/main" xmlns="" val="19358363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03822" y="1805136"/>
            <a:ext cx="2584362" cy="461665"/>
          </a:xfrm>
          <a:prstGeom prst="rect">
            <a:avLst/>
          </a:prstGeom>
          <a:noFill/>
        </p:spPr>
        <p:txBody>
          <a:bodyPr wrap="none" rtlCol="0">
            <a:spAutoFit/>
          </a:bodyPr>
          <a:lstStyle/>
          <a:p>
            <a:pPr algn="ctr"/>
            <a:r>
              <a:rPr lang="fr-FR" sz="2400" b="1" dirty="0">
                <a:solidFill>
                  <a:schemeClr val="accent2">
                    <a:lumMod val="50000"/>
                  </a:schemeClr>
                </a:solidFill>
              </a:rPr>
              <a:t>Schéma en Flocon</a:t>
            </a:r>
          </a:p>
        </p:txBody>
      </p:sp>
      <p:sp>
        <p:nvSpPr>
          <p:cNvPr id="6" name="TextBox 5">
            <a:extLst>
              <a:ext uri="{FF2B5EF4-FFF2-40B4-BE49-F238E27FC236}">
                <a16:creationId xmlns:a16="http://schemas.microsoft.com/office/drawing/2014/main" xmlns="" id="{91807597-F228-134C-835F-FD4ADEBE7676}"/>
              </a:ext>
            </a:extLst>
          </p:cNvPr>
          <p:cNvSpPr txBox="1"/>
          <p:nvPr/>
        </p:nvSpPr>
        <p:spPr>
          <a:xfrm>
            <a:off x="2039852" y="3057220"/>
            <a:ext cx="8112296" cy="2031325"/>
          </a:xfrm>
          <a:prstGeom prst="rect">
            <a:avLst/>
          </a:prstGeom>
          <a:noFill/>
        </p:spPr>
        <p:txBody>
          <a:bodyPr wrap="square" rtlCol="0" anchor="ctr">
            <a:spAutoFit/>
          </a:bodyPr>
          <a:lstStyle/>
          <a:p>
            <a:pPr algn="just"/>
            <a:r>
              <a:rPr lang="fr-FR" dirty="0"/>
              <a:t>Dans un schéma en flocon, les tables de dimension sont normalisées, c'est-à-dire que les données sont organisées en structures hiérarchiques plus complexes et décomposées en tables supplémentaires pour réduire la redondance des données. </a:t>
            </a:r>
          </a:p>
          <a:p>
            <a:pPr algn="just"/>
            <a:endParaRPr lang="fr-FR" dirty="0"/>
          </a:p>
          <a:p>
            <a:pPr algn="just"/>
            <a:r>
              <a:rPr lang="fr-FR" dirty="0"/>
              <a:t>Cette normalisation entraîne une structure qui ressemble à un flocon de neige lorsqu'elle est visualisée graphiquement, d'où le nom de l'approche.</a:t>
            </a:r>
          </a:p>
        </p:txBody>
      </p:sp>
    </p:spTree>
    <p:extLst>
      <p:ext uri="{BB962C8B-B14F-4D97-AF65-F5344CB8AC3E}">
        <p14:creationId xmlns:p14="http://schemas.microsoft.com/office/powerpoint/2010/main" xmlns="" val="10277068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803822" y="1805136"/>
            <a:ext cx="2584362" cy="461665"/>
          </a:xfrm>
          <a:prstGeom prst="rect">
            <a:avLst/>
          </a:prstGeom>
          <a:noFill/>
        </p:spPr>
        <p:txBody>
          <a:bodyPr wrap="none" rtlCol="0">
            <a:spAutoFit/>
          </a:bodyPr>
          <a:lstStyle/>
          <a:p>
            <a:pPr algn="ctr"/>
            <a:r>
              <a:rPr lang="fr-FR" sz="2400" b="1" dirty="0">
                <a:solidFill>
                  <a:schemeClr val="accent2">
                    <a:lumMod val="50000"/>
                  </a:schemeClr>
                </a:solidFill>
              </a:rPr>
              <a:t>Schéma en Flocon</a:t>
            </a:r>
          </a:p>
        </p:txBody>
      </p:sp>
      <p:pic>
        <p:nvPicPr>
          <p:cNvPr id="7" name="Picture 6">
            <a:extLst>
              <a:ext uri="{FF2B5EF4-FFF2-40B4-BE49-F238E27FC236}">
                <a16:creationId xmlns:a16="http://schemas.microsoft.com/office/drawing/2014/main" xmlns="" id="{A2E5F528-69D5-DE4D-9D82-8F7C0C3D1F89}"/>
              </a:ext>
            </a:extLst>
          </p:cNvPr>
          <p:cNvPicPr>
            <a:picLocks noChangeAspect="1"/>
          </p:cNvPicPr>
          <p:nvPr/>
        </p:nvPicPr>
        <p:blipFill>
          <a:blip r:embed="rId3"/>
          <a:stretch>
            <a:fillRect/>
          </a:stretch>
        </p:blipFill>
        <p:spPr>
          <a:xfrm>
            <a:off x="2305050" y="2392288"/>
            <a:ext cx="7581900" cy="4030884"/>
          </a:xfrm>
          <a:prstGeom prst="rect">
            <a:avLst/>
          </a:prstGeom>
        </p:spPr>
      </p:pic>
    </p:spTree>
    <p:extLst>
      <p:ext uri="{BB962C8B-B14F-4D97-AF65-F5344CB8AC3E}">
        <p14:creationId xmlns:p14="http://schemas.microsoft.com/office/powerpoint/2010/main" xmlns="" val="288780628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386464" y="1805136"/>
            <a:ext cx="3419078" cy="461665"/>
          </a:xfrm>
          <a:prstGeom prst="rect">
            <a:avLst/>
          </a:prstGeom>
          <a:noFill/>
        </p:spPr>
        <p:txBody>
          <a:bodyPr wrap="none" rtlCol="0">
            <a:spAutoFit/>
          </a:bodyPr>
          <a:lstStyle/>
          <a:p>
            <a:pPr algn="ctr"/>
            <a:r>
              <a:rPr lang="fr-FR" sz="2400" b="1" dirty="0">
                <a:solidFill>
                  <a:schemeClr val="accent2">
                    <a:lumMod val="50000"/>
                  </a:schemeClr>
                </a:solidFill>
              </a:rPr>
              <a:t>Schéma en Constellation</a:t>
            </a:r>
          </a:p>
        </p:txBody>
      </p:sp>
      <p:sp>
        <p:nvSpPr>
          <p:cNvPr id="6" name="TextBox 5">
            <a:extLst>
              <a:ext uri="{FF2B5EF4-FFF2-40B4-BE49-F238E27FC236}">
                <a16:creationId xmlns:a16="http://schemas.microsoft.com/office/drawing/2014/main" xmlns="" id="{0B976FF5-C35B-004E-B67E-610660FB59FF}"/>
              </a:ext>
            </a:extLst>
          </p:cNvPr>
          <p:cNvSpPr txBox="1"/>
          <p:nvPr/>
        </p:nvSpPr>
        <p:spPr>
          <a:xfrm>
            <a:off x="1758113" y="2825236"/>
            <a:ext cx="8675773" cy="2585323"/>
          </a:xfrm>
          <a:prstGeom prst="rect">
            <a:avLst/>
          </a:prstGeom>
          <a:noFill/>
        </p:spPr>
        <p:txBody>
          <a:bodyPr wrap="square" rtlCol="0" anchor="ctr">
            <a:spAutoFit/>
          </a:bodyPr>
          <a:lstStyle/>
          <a:p>
            <a:pPr algn="just"/>
            <a:r>
              <a:rPr lang="fr-FR" dirty="0"/>
              <a:t>Le schéma en constellation est une architecture avancée pour modéliser les bases de données d'entrepôt de données, en particulier dans des contextes où les entreprises nécessitent des analyses complexes à travers plusieurs sujets d'affaires.</a:t>
            </a:r>
          </a:p>
          <a:p>
            <a:pPr algn="just"/>
            <a:endParaRPr lang="fr-FR" dirty="0"/>
          </a:p>
          <a:p>
            <a:pPr algn="just"/>
            <a:r>
              <a:rPr lang="fr-FR" dirty="0"/>
              <a:t>Il s'agit d'une extension du schéma en étoile et il peut être vu comme une collection de plusieurs schémas en étoile partageant des tables de dimension entre eux. Cette approche permet une flexibilité accrue dans l'analyse des données et facilite la représentation de relations complexes entre différentes unités d'affaires ou domaines fonctionnels.</a:t>
            </a:r>
          </a:p>
        </p:txBody>
      </p:sp>
    </p:spTree>
    <p:extLst>
      <p:ext uri="{BB962C8B-B14F-4D97-AF65-F5344CB8AC3E}">
        <p14:creationId xmlns:p14="http://schemas.microsoft.com/office/powerpoint/2010/main" xmlns="" val="5114744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2105526" y="1094874"/>
            <a:ext cx="8675773" cy="584775"/>
          </a:xfrm>
          <a:prstGeom prst="rect">
            <a:avLst/>
          </a:prstGeom>
          <a:noFill/>
        </p:spPr>
        <p:txBody>
          <a:bodyPr wrap="none" rtlCol="0">
            <a:spAutoFit/>
          </a:bodyPr>
          <a:lstStyle/>
          <a:p>
            <a:r>
              <a:rPr lang="fr-FR" sz="3200" b="1" dirty="0"/>
              <a:t>Entrepôt de données : Modélisation des données</a:t>
            </a:r>
          </a:p>
        </p:txBody>
      </p:sp>
      <p:sp>
        <p:nvSpPr>
          <p:cNvPr id="5" name="TextBox 4">
            <a:extLst>
              <a:ext uri="{FF2B5EF4-FFF2-40B4-BE49-F238E27FC236}">
                <a16:creationId xmlns:a16="http://schemas.microsoft.com/office/drawing/2014/main" xmlns="" id="{92801EC3-9327-E94B-A73F-3EB6272A2DD3}"/>
              </a:ext>
            </a:extLst>
          </p:cNvPr>
          <p:cNvSpPr txBox="1"/>
          <p:nvPr/>
        </p:nvSpPr>
        <p:spPr>
          <a:xfrm>
            <a:off x="4386467" y="1805136"/>
            <a:ext cx="3419078" cy="461665"/>
          </a:xfrm>
          <a:prstGeom prst="rect">
            <a:avLst/>
          </a:prstGeom>
          <a:noFill/>
        </p:spPr>
        <p:txBody>
          <a:bodyPr wrap="none" rtlCol="0">
            <a:spAutoFit/>
          </a:bodyPr>
          <a:lstStyle/>
          <a:p>
            <a:pPr algn="ctr"/>
            <a:r>
              <a:rPr lang="fr-FR" sz="2400" b="1" dirty="0">
                <a:solidFill>
                  <a:schemeClr val="accent2">
                    <a:lumMod val="50000"/>
                  </a:schemeClr>
                </a:solidFill>
              </a:rPr>
              <a:t>Schéma en Constellation</a:t>
            </a:r>
          </a:p>
        </p:txBody>
      </p:sp>
      <p:pic>
        <p:nvPicPr>
          <p:cNvPr id="4" name="Picture 3">
            <a:extLst>
              <a:ext uri="{FF2B5EF4-FFF2-40B4-BE49-F238E27FC236}">
                <a16:creationId xmlns:a16="http://schemas.microsoft.com/office/drawing/2014/main" xmlns="" id="{A801C715-F514-694B-A102-8647A27813AF}"/>
              </a:ext>
            </a:extLst>
          </p:cNvPr>
          <p:cNvPicPr>
            <a:picLocks noChangeAspect="1"/>
          </p:cNvPicPr>
          <p:nvPr/>
        </p:nvPicPr>
        <p:blipFill>
          <a:blip r:embed="rId3"/>
          <a:stretch>
            <a:fillRect/>
          </a:stretch>
        </p:blipFill>
        <p:spPr>
          <a:xfrm>
            <a:off x="1276625" y="2841574"/>
            <a:ext cx="10273589" cy="2921552"/>
          </a:xfrm>
          <a:prstGeom prst="rect">
            <a:avLst/>
          </a:prstGeom>
        </p:spPr>
      </p:pic>
    </p:spTree>
    <p:extLst>
      <p:ext uri="{BB962C8B-B14F-4D97-AF65-F5344CB8AC3E}">
        <p14:creationId xmlns:p14="http://schemas.microsoft.com/office/powerpoint/2010/main" xmlns="" val="40094521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89952B83-C016-3448-A40E-2A7FED347B9A}"/>
              </a:ext>
            </a:extLst>
          </p:cNvPr>
          <p:cNvSpPr>
            <a:spLocks noGrp="1"/>
          </p:cNvSpPr>
          <p:nvPr>
            <p:ph idx="1"/>
          </p:nvPr>
        </p:nvSpPr>
        <p:spPr>
          <a:xfrm>
            <a:off x="1371600" y="1866900"/>
            <a:ext cx="9601200" cy="4000500"/>
          </a:xfrm>
        </p:spPr>
        <p:txBody>
          <a:bodyPr>
            <a:normAutofit/>
          </a:bodyPr>
          <a:lstStyle/>
          <a:p>
            <a:pPr marL="0" indent="0">
              <a:buNone/>
            </a:pPr>
            <a:r>
              <a:rPr lang="fr-FR" sz="1600" dirty="0"/>
              <a:t>Vous travaillez pour une entreprise de vente au détail en ligne appelée "E-Shop". "E-Shop" souhaite analyser ses ventes pour comprendre les tendances d'achat de ses clients. Vous avez reçu les données suivantes :</a:t>
            </a:r>
          </a:p>
          <a:p>
            <a:r>
              <a:rPr lang="fr-FR" sz="1600" dirty="0"/>
              <a:t>Données de vente : ID de commande, ID de client, date de commande, ID de produit, quantité vendue, montant total.</a:t>
            </a:r>
          </a:p>
          <a:p>
            <a:r>
              <a:rPr lang="fr-FR" sz="1600" dirty="0"/>
              <a:t>Données client : ID de client, nom du client, adresse e-mail, ville, pays.</a:t>
            </a:r>
          </a:p>
          <a:p>
            <a:r>
              <a:rPr lang="fr-FR" sz="1600" dirty="0"/>
              <a:t>Données produit : ID de produit, nom du produit, catégorie de produit, prix.</a:t>
            </a:r>
          </a:p>
          <a:p>
            <a:endParaRPr lang="fr-FR" sz="1600" dirty="0"/>
          </a:p>
          <a:p>
            <a:pPr marL="0" indent="0">
              <a:buNone/>
            </a:pPr>
            <a:r>
              <a:rPr lang="fr-FR" sz="1600" dirty="0"/>
              <a:t>Créer la table de faits et les tables de dimensions associés.</a:t>
            </a:r>
          </a:p>
        </p:txBody>
      </p:sp>
      <p:sp>
        <p:nvSpPr>
          <p:cNvPr id="6" name="TextBox 5">
            <a:extLst>
              <a:ext uri="{FF2B5EF4-FFF2-40B4-BE49-F238E27FC236}">
                <a16:creationId xmlns:a16="http://schemas.microsoft.com/office/drawing/2014/main" xmlns="" id="{74A8C004-5134-4949-9CF6-E66925933725}"/>
              </a:ext>
            </a:extLst>
          </p:cNvPr>
          <p:cNvSpPr txBox="1"/>
          <p:nvPr/>
        </p:nvSpPr>
        <p:spPr>
          <a:xfrm>
            <a:off x="2105526" y="1094874"/>
            <a:ext cx="1952394" cy="584775"/>
          </a:xfrm>
          <a:prstGeom prst="rect">
            <a:avLst/>
          </a:prstGeom>
          <a:noFill/>
        </p:spPr>
        <p:txBody>
          <a:bodyPr wrap="none" rtlCol="0">
            <a:spAutoFit/>
          </a:bodyPr>
          <a:lstStyle/>
          <a:p>
            <a:r>
              <a:rPr lang="fr-FR" sz="3200" b="1" dirty="0"/>
              <a:t>Exercice 1</a:t>
            </a:r>
          </a:p>
        </p:txBody>
      </p:sp>
    </p:spTree>
    <p:extLst>
      <p:ext uri="{BB962C8B-B14F-4D97-AF65-F5344CB8AC3E}">
        <p14:creationId xmlns:p14="http://schemas.microsoft.com/office/powerpoint/2010/main" xmlns="" val="414352905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93032014-16F5-0944-9724-8B203A419F5A}"/>
              </a:ext>
            </a:extLst>
          </p:cNvPr>
          <p:cNvSpPr>
            <a:spLocks noGrp="1"/>
          </p:cNvSpPr>
          <p:nvPr>
            <p:ph idx="1"/>
          </p:nvPr>
        </p:nvSpPr>
        <p:spPr>
          <a:xfrm>
            <a:off x="1295400" y="1917700"/>
            <a:ext cx="10414000" cy="4267200"/>
          </a:xfrm>
        </p:spPr>
        <p:txBody>
          <a:bodyPr>
            <a:normAutofit/>
          </a:bodyPr>
          <a:lstStyle/>
          <a:p>
            <a:pPr marL="0" indent="0" algn="just">
              <a:lnSpc>
                <a:spcPct val="150000"/>
              </a:lnSpc>
              <a:buNone/>
              <a:defRPr/>
            </a:pPr>
            <a:r>
              <a:rPr lang="fr-FR" sz="1800" dirty="0">
                <a:solidFill>
                  <a:schemeClr val="tx1"/>
                </a:solidFill>
              </a:rPr>
              <a:t>Notre société vend des produits dans des magasins. Les produits sont décrits par un nom, une marque, un type, une couleur, une taille et un fabricant. Un client (nom, prénom, adresse) peut acheter pour un certain montant plusieurs unités d’un même produit (une vente = 1 ou plusieurs unités).</a:t>
            </a:r>
          </a:p>
          <a:p>
            <a:pPr marL="0" indent="0" algn="just">
              <a:buNone/>
              <a:defRPr/>
            </a:pPr>
            <a:r>
              <a:rPr lang="fr-FR" sz="1800" dirty="0">
                <a:solidFill>
                  <a:schemeClr val="tx1"/>
                </a:solidFill>
              </a:rPr>
              <a:t>Un magasin possède un responsable et une région. </a:t>
            </a:r>
          </a:p>
          <a:p>
            <a:pPr marL="0" indent="0" algn="just">
              <a:buNone/>
              <a:defRPr/>
            </a:pPr>
            <a:r>
              <a:rPr lang="fr-FR" sz="1800" dirty="0">
                <a:solidFill>
                  <a:schemeClr val="tx1"/>
                </a:solidFill>
              </a:rPr>
              <a:t>Le service marketing souhaite être en mesure d’obtenir les réponses aux questions suivantes :</a:t>
            </a:r>
          </a:p>
          <a:p>
            <a:pPr algn="just">
              <a:defRPr/>
            </a:pPr>
            <a:r>
              <a:rPr lang="fr-FR" sz="1800" dirty="0">
                <a:solidFill>
                  <a:schemeClr val="tx1"/>
                </a:solidFill>
              </a:rPr>
              <a:t> Je veux un diagramme des ventes globales de l’entreprise dans le temps</a:t>
            </a:r>
          </a:p>
          <a:p>
            <a:pPr algn="just">
              <a:defRPr/>
            </a:pPr>
            <a:r>
              <a:rPr lang="fr-FR" sz="1800" dirty="0">
                <a:solidFill>
                  <a:schemeClr val="tx1"/>
                </a:solidFill>
              </a:rPr>
              <a:t> Je veux un diagramme des ventes par magasin</a:t>
            </a:r>
          </a:p>
          <a:p>
            <a:pPr algn="just">
              <a:defRPr/>
            </a:pPr>
            <a:r>
              <a:rPr lang="fr-FR" sz="1800" dirty="0">
                <a:solidFill>
                  <a:schemeClr val="tx1"/>
                </a:solidFill>
              </a:rPr>
              <a:t> Je veux un diagramme des ventes par produit, et par magasin</a:t>
            </a:r>
          </a:p>
          <a:p>
            <a:pPr algn="just">
              <a:defRPr/>
            </a:pPr>
            <a:r>
              <a:rPr lang="fr-FR" sz="1800" dirty="0">
                <a:solidFill>
                  <a:schemeClr val="tx1"/>
                </a:solidFill>
              </a:rPr>
              <a:t> Je veux un diagramme des ventes par client. </a:t>
            </a:r>
          </a:p>
          <a:p>
            <a:pPr algn="just">
              <a:buFont typeface="+mj-lt"/>
              <a:buAutoNum type="arabicPeriod"/>
              <a:defRPr/>
            </a:pPr>
            <a:r>
              <a:rPr lang="fr-FR" sz="1800" dirty="0">
                <a:solidFill>
                  <a:schemeClr val="tx1"/>
                </a:solidFill>
              </a:rPr>
              <a:t>Question : Dessinez le schéma du DW sous-jacent. </a:t>
            </a:r>
          </a:p>
        </p:txBody>
      </p:sp>
      <p:sp>
        <p:nvSpPr>
          <p:cNvPr id="8" name="TextBox 7">
            <a:extLst>
              <a:ext uri="{FF2B5EF4-FFF2-40B4-BE49-F238E27FC236}">
                <a16:creationId xmlns:a16="http://schemas.microsoft.com/office/drawing/2014/main" xmlns="" id="{EB4EA1C8-6571-B44F-B2B6-844919943E4E}"/>
              </a:ext>
            </a:extLst>
          </p:cNvPr>
          <p:cNvSpPr txBox="1"/>
          <p:nvPr/>
        </p:nvSpPr>
        <p:spPr>
          <a:xfrm>
            <a:off x="2105526" y="1094874"/>
            <a:ext cx="1952394" cy="584775"/>
          </a:xfrm>
          <a:prstGeom prst="rect">
            <a:avLst/>
          </a:prstGeom>
          <a:noFill/>
        </p:spPr>
        <p:txBody>
          <a:bodyPr wrap="none" rtlCol="0">
            <a:spAutoFit/>
          </a:bodyPr>
          <a:lstStyle/>
          <a:p>
            <a:r>
              <a:rPr lang="fr-FR" sz="3200" b="1" dirty="0"/>
              <a:t>Exercice 2</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ZoneTexte 6">
            <a:extLst>
              <a:ext uri="{FF2B5EF4-FFF2-40B4-BE49-F238E27FC236}">
                <a16:creationId xmlns:a16="http://schemas.microsoft.com/office/drawing/2014/main" xmlns="" id="{96B51019-1F57-7246-A933-FA254B99BA67}"/>
              </a:ext>
            </a:extLst>
          </p:cNvPr>
          <p:cNvSpPr txBox="1">
            <a:spLocks noChangeArrowheads="1"/>
          </p:cNvSpPr>
          <p:nvPr/>
        </p:nvSpPr>
        <p:spPr bwMode="auto">
          <a:xfrm>
            <a:off x="1168400" y="1765301"/>
            <a:ext cx="10350500" cy="44346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chemeClr val="tx1"/>
                </a:solidFill>
                <a:latin typeface="Tahoma" panose="020B0604030504040204" pitchFamily="34" charset="0"/>
                <a:cs typeface="Times New Roman" panose="02020603050405020304" pitchFamily="18" charset="0"/>
              </a:defRPr>
            </a:lvl1pPr>
            <a:lvl2pPr marL="742950" indent="-285750">
              <a:defRPr sz="2800">
                <a:solidFill>
                  <a:schemeClr val="tx1"/>
                </a:solidFill>
                <a:latin typeface="Tahoma" panose="020B0604030504040204" pitchFamily="34" charset="0"/>
                <a:cs typeface="Times New Roman" panose="02020603050405020304" pitchFamily="18" charset="0"/>
              </a:defRPr>
            </a:lvl2pPr>
            <a:lvl3pPr marL="1143000" indent="-228600">
              <a:defRPr sz="2800">
                <a:solidFill>
                  <a:schemeClr val="tx1"/>
                </a:solidFill>
                <a:latin typeface="Tahoma" panose="020B0604030504040204" pitchFamily="34" charset="0"/>
                <a:cs typeface="Times New Roman" panose="02020603050405020304" pitchFamily="18" charset="0"/>
              </a:defRPr>
            </a:lvl3pPr>
            <a:lvl4pPr marL="1600200" indent="-228600">
              <a:defRPr sz="2800">
                <a:solidFill>
                  <a:schemeClr val="tx1"/>
                </a:solidFill>
                <a:latin typeface="Tahoma" panose="020B0604030504040204" pitchFamily="34" charset="0"/>
                <a:cs typeface="Times New Roman" panose="02020603050405020304" pitchFamily="18" charset="0"/>
              </a:defRPr>
            </a:lvl4pPr>
            <a:lvl5pPr marL="2057400" indent="-228600">
              <a:defRPr sz="2800">
                <a:solidFill>
                  <a:schemeClr val="tx1"/>
                </a:solidFill>
                <a:latin typeface="Tahom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Times New Roman" panose="02020603050405020304" pitchFamily="18" charset="0"/>
              </a:defRPr>
            </a:lvl9pPr>
          </a:lstStyle>
          <a:p>
            <a:pPr algn="just"/>
            <a:r>
              <a:rPr lang="fr-FR" altLang="x-none" sz="2000" dirty="0">
                <a:latin typeface="+mn-lt"/>
                <a:cs typeface="+mn-cs"/>
              </a:rPr>
              <a:t>On veut construire un entrepôt de données afin de stocker les Informations sur les consultations d’un pays.</a:t>
            </a:r>
          </a:p>
          <a:p>
            <a:pPr algn="just"/>
            <a:r>
              <a:rPr lang="fr-FR" altLang="x-none" sz="2000" dirty="0">
                <a:latin typeface="+mn-lt"/>
                <a:cs typeface="+mn-cs"/>
              </a:rPr>
              <a:t>On veut notamment connaître le nombre de consultations, par rapport à différents  critères (personnes, médecins, spécialités )</a:t>
            </a:r>
          </a:p>
          <a:p>
            <a:pPr algn="just"/>
            <a:r>
              <a:rPr lang="fr-FR" altLang="x-none" sz="2000" dirty="0">
                <a:latin typeface="+mn-lt"/>
                <a:cs typeface="+mn-cs"/>
              </a:rPr>
              <a:t>Ces informations sont stockées dans les relations suivantes </a:t>
            </a:r>
            <a:r>
              <a:rPr lang="fr-FR" altLang="x-none" sz="2000" dirty="0"/>
              <a:t>:</a:t>
            </a:r>
          </a:p>
          <a:p>
            <a:pPr algn="just"/>
            <a:endParaRPr lang="fr-FR" altLang="x-none" sz="2000" dirty="0"/>
          </a:p>
          <a:p>
            <a:pPr algn="just"/>
            <a:endParaRPr lang="fr-FR" altLang="x-none" sz="2000" dirty="0"/>
          </a:p>
          <a:p>
            <a:pPr algn="just"/>
            <a:r>
              <a:rPr lang="fr-FR" altLang="x-none" sz="2000" dirty="0"/>
              <a:t>PERSONNE (id, nom, tel, adresse, sexe)</a:t>
            </a:r>
          </a:p>
          <a:p>
            <a:pPr algn="just"/>
            <a:r>
              <a:rPr lang="fr-FR" altLang="x-none" sz="2000" dirty="0"/>
              <a:t>MEDECIN (id, tel, adresse, spécialité)</a:t>
            </a:r>
          </a:p>
          <a:p>
            <a:pPr algn="just"/>
            <a:r>
              <a:rPr lang="fr-FR" altLang="x-none" sz="2000" dirty="0"/>
              <a:t>CONSULTATION (</a:t>
            </a:r>
            <a:r>
              <a:rPr lang="fr-FR" altLang="x-none" sz="2000" dirty="0" err="1"/>
              <a:t>id_med</a:t>
            </a:r>
            <a:r>
              <a:rPr lang="fr-FR" altLang="x-none" sz="2000" dirty="0"/>
              <a:t>, </a:t>
            </a:r>
            <a:r>
              <a:rPr lang="fr-FR" altLang="x-none" sz="2000" dirty="0" err="1"/>
              <a:t>id_pers</a:t>
            </a:r>
            <a:r>
              <a:rPr lang="fr-FR" altLang="x-none" sz="2000" dirty="0"/>
              <a:t>, </a:t>
            </a:r>
            <a:r>
              <a:rPr lang="fr-FR" altLang="x-none" sz="2000" dirty="0" err="1"/>
              <a:t>date,prix</a:t>
            </a:r>
            <a:r>
              <a:rPr lang="fr-FR" altLang="x-none" sz="2000" dirty="0"/>
              <a:t>)</a:t>
            </a:r>
          </a:p>
          <a:p>
            <a:pPr algn="just"/>
            <a:endParaRPr lang="fr-FR" altLang="x-none" sz="2000" dirty="0"/>
          </a:p>
          <a:p>
            <a:pPr algn="just"/>
            <a:r>
              <a:rPr lang="fr-FR" altLang="x-none" sz="2000" dirty="0">
                <a:latin typeface="+mn-lt"/>
                <a:cs typeface="+mn-cs"/>
              </a:rPr>
              <a:t>Travail à faire</a:t>
            </a:r>
          </a:p>
          <a:p>
            <a:pPr marL="384048" indent="-384048" algn="just" defTabSz="914400">
              <a:lnSpc>
                <a:spcPct val="94000"/>
              </a:lnSpc>
              <a:spcBef>
                <a:spcPts val="1000"/>
              </a:spcBef>
              <a:spcAft>
                <a:spcPts val="200"/>
              </a:spcAft>
              <a:buFont typeface="+mj-lt"/>
              <a:buAutoNum type="arabicPeriod"/>
              <a:defRPr/>
            </a:pPr>
            <a:r>
              <a:rPr lang="fr-FR" altLang="x-none" sz="1800" dirty="0">
                <a:latin typeface="+mn-lt"/>
                <a:cs typeface="+mn-cs"/>
              </a:rPr>
              <a:t>1. Proposer un schéma relationnel qui tienne compte de la date, du jour de la semaine, du mois, du trimestre et de l’année.</a:t>
            </a:r>
          </a:p>
        </p:txBody>
      </p:sp>
      <p:sp>
        <p:nvSpPr>
          <p:cNvPr id="6" name="TextBox 5">
            <a:extLst>
              <a:ext uri="{FF2B5EF4-FFF2-40B4-BE49-F238E27FC236}">
                <a16:creationId xmlns:a16="http://schemas.microsoft.com/office/drawing/2014/main" xmlns="" id="{1B3D57F6-EF9D-2B4F-96C6-EB200DC63B08}"/>
              </a:ext>
            </a:extLst>
          </p:cNvPr>
          <p:cNvSpPr txBox="1"/>
          <p:nvPr/>
        </p:nvSpPr>
        <p:spPr>
          <a:xfrm>
            <a:off x="2105526" y="1094874"/>
            <a:ext cx="1952394" cy="584775"/>
          </a:xfrm>
          <a:prstGeom prst="rect">
            <a:avLst/>
          </a:prstGeom>
          <a:noFill/>
        </p:spPr>
        <p:txBody>
          <a:bodyPr wrap="none" rtlCol="0">
            <a:spAutoFit/>
          </a:bodyPr>
          <a:lstStyle/>
          <a:p>
            <a:r>
              <a:rPr lang="fr-FR" sz="3200" b="1" dirty="0"/>
              <a:t>Exercice 3</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89952B83-C016-3448-A40E-2A7FED347B9A}"/>
              </a:ext>
            </a:extLst>
          </p:cNvPr>
          <p:cNvSpPr>
            <a:spLocks noGrp="1"/>
          </p:cNvSpPr>
          <p:nvPr>
            <p:ph idx="1"/>
          </p:nvPr>
        </p:nvSpPr>
        <p:spPr>
          <a:xfrm>
            <a:off x="1371600" y="1866900"/>
            <a:ext cx="9601200" cy="4000500"/>
          </a:xfrm>
        </p:spPr>
        <p:txBody>
          <a:bodyPr>
            <a:normAutofit lnSpcReduction="10000"/>
          </a:bodyPr>
          <a:lstStyle/>
          <a:p>
            <a:pPr marL="0" indent="0" algn="just">
              <a:buNone/>
              <a:defRPr/>
            </a:pPr>
            <a:r>
              <a:rPr lang="fr-FR" sz="1800" dirty="0"/>
              <a:t>Il s’agit de modéliser l’entrepôt de données (ED) des ventes d’une entreprise commerciale. Cette entreprise vend des produits regroupés par familles de produits. </a:t>
            </a:r>
          </a:p>
          <a:p>
            <a:pPr marL="0" indent="0" algn="just">
              <a:buNone/>
              <a:defRPr/>
            </a:pPr>
            <a:r>
              <a:rPr lang="fr-FR" sz="1800" dirty="0"/>
              <a:t>Une vente correspond à un produit et un seul ; la vente est effectuée par l’un des vendeurs de vente spécialisé dans le produit. La semaine de vente est le numéro de semaine dans l’année. L’ED doit pouvoir fournir le chiffre d’affaires des ventes d’un produit, par date, client, et vendeur, ainsi que toutes les sommations possibles de chiffre d’affaires.</a:t>
            </a:r>
          </a:p>
          <a:p>
            <a:pPr marL="0" indent="0">
              <a:buNone/>
              <a:defRPr/>
            </a:pPr>
            <a:r>
              <a:rPr lang="fr-FR" sz="1800" dirty="0"/>
              <a:t>Les objets de l’ED sont les suivants :</a:t>
            </a:r>
          </a:p>
          <a:p>
            <a:pPr>
              <a:defRPr/>
            </a:pPr>
            <a:r>
              <a:rPr lang="fr-FR" sz="1800" dirty="0"/>
              <a:t>produit, caractérisé par : </a:t>
            </a:r>
            <a:r>
              <a:rPr lang="fr-FR" sz="1800" dirty="0" err="1"/>
              <a:t>code_produit</a:t>
            </a:r>
            <a:r>
              <a:rPr lang="fr-FR" sz="1800" dirty="0"/>
              <a:t>, </a:t>
            </a:r>
            <a:r>
              <a:rPr lang="fr-FR" sz="1800" dirty="0" err="1"/>
              <a:t>code_famille</a:t>
            </a:r>
            <a:endParaRPr lang="fr-FR" sz="1800" dirty="0"/>
          </a:p>
          <a:p>
            <a:pPr>
              <a:defRPr/>
            </a:pPr>
            <a:r>
              <a:rPr lang="fr-FR" sz="1800" dirty="0"/>
              <a:t> client, caractérisé par : </a:t>
            </a:r>
            <a:r>
              <a:rPr lang="fr-FR" sz="1800" dirty="0" err="1"/>
              <a:t>code_client</a:t>
            </a:r>
            <a:r>
              <a:rPr lang="fr-FR" sz="1800" dirty="0"/>
              <a:t>, nom, </a:t>
            </a:r>
            <a:r>
              <a:rPr lang="fr-FR" sz="1800" dirty="0" err="1"/>
              <a:t>csp</a:t>
            </a:r>
            <a:r>
              <a:rPr lang="fr-FR" sz="1800" dirty="0"/>
              <a:t> </a:t>
            </a:r>
          </a:p>
          <a:p>
            <a:pPr>
              <a:defRPr/>
            </a:pPr>
            <a:r>
              <a:rPr lang="fr-FR" sz="1800" dirty="0"/>
              <a:t> vente, caractérisée par : date, </a:t>
            </a:r>
            <a:r>
              <a:rPr lang="fr-FR" sz="1800" dirty="0" err="1"/>
              <a:t>code_produit</a:t>
            </a:r>
            <a:r>
              <a:rPr lang="fr-FR" sz="1800" dirty="0"/>
              <a:t>, code </a:t>
            </a:r>
            <a:r>
              <a:rPr lang="fr-FR" sz="1800" dirty="0" err="1"/>
              <a:t>montant_de_vente</a:t>
            </a:r>
            <a:r>
              <a:rPr lang="fr-FR" sz="1800" dirty="0"/>
              <a:t> </a:t>
            </a:r>
          </a:p>
          <a:p>
            <a:pPr>
              <a:defRPr/>
            </a:pPr>
            <a:r>
              <a:rPr lang="fr-FR" sz="1800" dirty="0"/>
              <a:t> vendeur, caractérisé par : </a:t>
            </a:r>
            <a:r>
              <a:rPr lang="fr-FR" sz="1800" dirty="0" err="1"/>
              <a:t>code_vendeur</a:t>
            </a:r>
            <a:r>
              <a:rPr lang="fr-FR" sz="1800" dirty="0"/>
              <a:t>, nom, </a:t>
            </a:r>
            <a:r>
              <a:rPr lang="fr-FR" sz="1800" dirty="0" err="1"/>
              <a:t>code_service</a:t>
            </a:r>
            <a:endParaRPr lang="fr-FR" sz="1800" dirty="0"/>
          </a:p>
          <a:p>
            <a:pPr>
              <a:defRPr/>
            </a:pPr>
            <a:r>
              <a:rPr lang="fr-FR" sz="1800" dirty="0"/>
              <a:t> date, caractérisée par : semaine, mois, année </a:t>
            </a:r>
          </a:p>
          <a:p>
            <a:pPr>
              <a:defRPr/>
            </a:pPr>
            <a:endParaRPr lang="fr-FR" sz="1800" dirty="0"/>
          </a:p>
        </p:txBody>
      </p:sp>
      <p:sp>
        <p:nvSpPr>
          <p:cNvPr id="6" name="TextBox 5">
            <a:extLst>
              <a:ext uri="{FF2B5EF4-FFF2-40B4-BE49-F238E27FC236}">
                <a16:creationId xmlns:a16="http://schemas.microsoft.com/office/drawing/2014/main" xmlns="" id="{74A8C004-5134-4949-9CF6-E66925933725}"/>
              </a:ext>
            </a:extLst>
          </p:cNvPr>
          <p:cNvSpPr txBox="1"/>
          <p:nvPr/>
        </p:nvSpPr>
        <p:spPr>
          <a:xfrm>
            <a:off x="2105526" y="1094874"/>
            <a:ext cx="1952394" cy="584775"/>
          </a:xfrm>
          <a:prstGeom prst="rect">
            <a:avLst/>
          </a:prstGeom>
          <a:noFill/>
        </p:spPr>
        <p:txBody>
          <a:bodyPr wrap="none" rtlCol="0">
            <a:spAutoFit/>
          </a:bodyPr>
          <a:lstStyle/>
          <a:p>
            <a:r>
              <a:rPr lang="fr-FR" sz="3200" b="1" dirty="0"/>
              <a:t>Exercice 4</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xmlns="" id="{89952B83-C016-3448-A40E-2A7FED347B9A}"/>
              </a:ext>
            </a:extLst>
          </p:cNvPr>
          <p:cNvSpPr>
            <a:spLocks noGrp="1"/>
          </p:cNvSpPr>
          <p:nvPr>
            <p:ph idx="1"/>
          </p:nvPr>
        </p:nvSpPr>
        <p:spPr>
          <a:xfrm>
            <a:off x="1371600" y="1866900"/>
            <a:ext cx="10223500" cy="3987800"/>
          </a:xfrm>
        </p:spPr>
        <p:txBody>
          <a:bodyPr>
            <a:normAutofit/>
          </a:bodyPr>
          <a:lstStyle/>
          <a:p>
            <a:pPr marL="0" indent="0" algn="just">
              <a:lnSpc>
                <a:spcPct val="150000"/>
              </a:lnSpc>
              <a:buNone/>
            </a:pPr>
            <a:r>
              <a:rPr lang="en-US" dirty="0"/>
              <a:t>Une </a:t>
            </a:r>
            <a:r>
              <a:rPr lang="en-US" dirty="0" err="1"/>
              <a:t>entreprise</a:t>
            </a:r>
            <a:r>
              <a:rPr lang="en-US" dirty="0"/>
              <a:t> de services </a:t>
            </a:r>
            <a:r>
              <a:rPr lang="en-US" dirty="0" err="1"/>
              <a:t>souhaite</a:t>
            </a:r>
            <a:r>
              <a:rPr lang="en-US" dirty="0"/>
              <a:t> </a:t>
            </a:r>
            <a:r>
              <a:rPr lang="en-US" dirty="0" err="1"/>
              <a:t>créer</a:t>
            </a:r>
            <a:r>
              <a:rPr lang="en-US" dirty="0"/>
              <a:t> un entrepôt de </a:t>
            </a:r>
            <a:r>
              <a:rPr lang="en-US" dirty="0" err="1"/>
              <a:t>données</a:t>
            </a:r>
            <a:r>
              <a:rPr lang="en-US" dirty="0"/>
              <a:t> pour </a:t>
            </a:r>
            <a:r>
              <a:rPr lang="en-US" dirty="0" err="1"/>
              <a:t>suivre</a:t>
            </a:r>
            <a:r>
              <a:rPr lang="en-US" dirty="0"/>
              <a:t> </a:t>
            </a:r>
            <a:r>
              <a:rPr lang="en-US" dirty="0" err="1"/>
              <a:t>ses</a:t>
            </a:r>
            <a:r>
              <a:rPr lang="en-US" dirty="0"/>
              <a:t> </a:t>
            </a:r>
            <a:r>
              <a:rPr lang="en-US" dirty="0" err="1"/>
              <a:t>projets</a:t>
            </a:r>
            <a:r>
              <a:rPr lang="en-US" dirty="0"/>
              <a:t> et les </a:t>
            </a:r>
            <a:r>
              <a:rPr lang="en-US" dirty="0" err="1"/>
              <a:t>heures</a:t>
            </a:r>
            <a:r>
              <a:rPr lang="en-US" dirty="0"/>
              <a:t> </a:t>
            </a:r>
            <a:r>
              <a:rPr lang="en-US" dirty="0" err="1"/>
              <a:t>travaillées</a:t>
            </a:r>
            <a:r>
              <a:rPr lang="en-US" dirty="0"/>
              <a:t> par </a:t>
            </a:r>
            <a:r>
              <a:rPr lang="en-US" dirty="0" err="1"/>
              <a:t>ses</a:t>
            </a:r>
            <a:r>
              <a:rPr lang="en-US" dirty="0"/>
              <a:t> </a:t>
            </a:r>
            <a:r>
              <a:rPr lang="en-US" dirty="0" err="1"/>
              <a:t>employés</a:t>
            </a:r>
            <a:r>
              <a:rPr lang="en-US" dirty="0"/>
              <a:t>. </a:t>
            </a:r>
            <a:r>
              <a:rPr lang="en-US" dirty="0" err="1"/>
              <a:t>Voici</a:t>
            </a:r>
            <a:r>
              <a:rPr lang="en-US" dirty="0"/>
              <a:t> les </a:t>
            </a:r>
            <a:r>
              <a:rPr lang="en-US" dirty="0" err="1"/>
              <a:t>objets</a:t>
            </a:r>
            <a:r>
              <a:rPr lang="en-US" dirty="0"/>
              <a:t> de </a:t>
            </a:r>
            <a:r>
              <a:rPr lang="en-US" dirty="0" err="1"/>
              <a:t>l'entrepôt</a:t>
            </a:r>
            <a:r>
              <a:rPr lang="en-US" dirty="0"/>
              <a:t> de </a:t>
            </a:r>
            <a:r>
              <a:rPr lang="en-US" dirty="0" err="1"/>
              <a:t>données</a:t>
            </a:r>
            <a:r>
              <a:rPr lang="en-US" dirty="0"/>
              <a:t> :</a:t>
            </a:r>
          </a:p>
          <a:p>
            <a:pPr algn="just">
              <a:buFont typeface="Arial" panose="020B0604020202020204" pitchFamily="34" charset="0"/>
              <a:buChar char="•"/>
            </a:pPr>
            <a:r>
              <a:rPr lang="en-US" dirty="0" err="1"/>
              <a:t>Projet</a:t>
            </a:r>
            <a:r>
              <a:rPr lang="en-US" dirty="0"/>
              <a:t>, </a:t>
            </a:r>
            <a:r>
              <a:rPr lang="en-US" dirty="0" err="1"/>
              <a:t>caractérisé</a:t>
            </a:r>
            <a:r>
              <a:rPr lang="en-US" dirty="0"/>
              <a:t> par : </a:t>
            </a:r>
            <a:r>
              <a:rPr lang="en-US" dirty="0" err="1"/>
              <a:t>ID_Projet</a:t>
            </a:r>
            <a:r>
              <a:rPr lang="en-US" dirty="0"/>
              <a:t>, </a:t>
            </a:r>
            <a:r>
              <a:rPr lang="en-US" dirty="0" err="1"/>
              <a:t>Nom_Projet</a:t>
            </a:r>
            <a:r>
              <a:rPr lang="en-US" dirty="0"/>
              <a:t>, </a:t>
            </a:r>
            <a:r>
              <a:rPr lang="en-US" dirty="0" err="1"/>
              <a:t>Date_Début</a:t>
            </a:r>
            <a:r>
              <a:rPr lang="en-US" dirty="0"/>
              <a:t>, </a:t>
            </a:r>
            <a:r>
              <a:rPr lang="en-US" dirty="0" err="1"/>
              <a:t>Date_Fin</a:t>
            </a:r>
            <a:endParaRPr lang="en-US" dirty="0"/>
          </a:p>
          <a:p>
            <a:pPr algn="just">
              <a:buFont typeface="Arial" panose="020B0604020202020204" pitchFamily="34" charset="0"/>
              <a:buChar char="•"/>
            </a:pPr>
            <a:r>
              <a:rPr lang="en-US" dirty="0" err="1"/>
              <a:t>Employé</a:t>
            </a:r>
            <a:r>
              <a:rPr lang="en-US" dirty="0"/>
              <a:t>, </a:t>
            </a:r>
            <a:r>
              <a:rPr lang="en-US" dirty="0" err="1"/>
              <a:t>caractérisé</a:t>
            </a:r>
            <a:r>
              <a:rPr lang="en-US" dirty="0"/>
              <a:t> par : </a:t>
            </a:r>
            <a:r>
              <a:rPr lang="en-US" dirty="0" err="1"/>
              <a:t>ID_Employé</a:t>
            </a:r>
            <a:r>
              <a:rPr lang="en-US" dirty="0"/>
              <a:t>, </a:t>
            </a:r>
            <a:r>
              <a:rPr lang="en-US" dirty="0" err="1"/>
              <a:t>Nom_Employé</a:t>
            </a:r>
            <a:r>
              <a:rPr lang="en-US" dirty="0"/>
              <a:t>, Service</a:t>
            </a:r>
          </a:p>
          <a:p>
            <a:pPr algn="just">
              <a:buFont typeface="Arial" panose="020B0604020202020204" pitchFamily="34" charset="0"/>
              <a:buChar char="•"/>
            </a:pPr>
            <a:r>
              <a:rPr lang="en-US" dirty="0" err="1"/>
              <a:t>Heures_Travaillées</a:t>
            </a:r>
            <a:r>
              <a:rPr lang="en-US" dirty="0"/>
              <a:t>, </a:t>
            </a:r>
            <a:r>
              <a:rPr lang="en-US" dirty="0" err="1"/>
              <a:t>caractérisées</a:t>
            </a:r>
            <a:r>
              <a:rPr lang="en-US" dirty="0"/>
              <a:t> par : </a:t>
            </a:r>
            <a:r>
              <a:rPr lang="en-US" dirty="0" err="1"/>
              <a:t>ID_Heures</a:t>
            </a:r>
            <a:r>
              <a:rPr lang="en-US" dirty="0"/>
              <a:t>, </a:t>
            </a:r>
            <a:r>
              <a:rPr lang="en-US" dirty="0" err="1"/>
              <a:t>ID_Projet</a:t>
            </a:r>
            <a:r>
              <a:rPr lang="en-US" dirty="0"/>
              <a:t>, </a:t>
            </a:r>
            <a:r>
              <a:rPr lang="en-US" dirty="0" err="1"/>
              <a:t>ID_Employé</a:t>
            </a:r>
            <a:r>
              <a:rPr lang="en-US" dirty="0"/>
              <a:t>, Date, </a:t>
            </a:r>
            <a:r>
              <a:rPr lang="en-US" dirty="0" err="1"/>
              <a:t>Heures</a:t>
            </a:r>
            <a:endParaRPr lang="en-US" dirty="0"/>
          </a:p>
          <a:p>
            <a:pPr marL="0" indent="0" algn="just">
              <a:buNone/>
            </a:pPr>
            <a:endParaRPr lang="en-US" dirty="0"/>
          </a:p>
          <a:p>
            <a:pPr marL="0" indent="0" algn="just">
              <a:buNone/>
            </a:pPr>
            <a:r>
              <a:rPr lang="en-US" dirty="0"/>
              <a:t>Travail </a:t>
            </a:r>
            <a:r>
              <a:rPr lang="en-US" dirty="0" err="1"/>
              <a:t>à</a:t>
            </a:r>
            <a:r>
              <a:rPr lang="en-US" dirty="0"/>
              <a:t> faire :</a:t>
            </a:r>
          </a:p>
          <a:p>
            <a:pPr algn="just">
              <a:buFont typeface="+mj-lt"/>
              <a:buAutoNum type="arabicPeriod"/>
            </a:pPr>
            <a:r>
              <a:rPr lang="en-US" dirty="0"/>
              <a:t>Proposer un </a:t>
            </a:r>
            <a:r>
              <a:rPr lang="en-US" dirty="0" err="1"/>
              <a:t>schéma</a:t>
            </a:r>
            <a:r>
              <a:rPr lang="en-US" dirty="0"/>
              <a:t> </a:t>
            </a:r>
            <a:r>
              <a:rPr lang="en-US" dirty="0" err="1"/>
              <a:t>relationnel</a:t>
            </a:r>
            <a:r>
              <a:rPr lang="en-US" dirty="0"/>
              <a:t> pour </a:t>
            </a:r>
            <a:r>
              <a:rPr lang="en-US" dirty="0" err="1"/>
              <a:t>l'entrepôt</a:t>
            </a:r>
            <a:r>
              <a:rPr lang="en-US" dirty="0"/>
              <a:t> de </a:t>
            </a:r>
            <a:r>
              <a:rPr lang="en-US" dirty="0" err="1"/>
              <a:t>données</a:t>
            </a:r>
            <a:r>
              <a:rPr lang="en-US" dirty="0"/>
              <a:t> qui </a:t>
            </a:r>
            <a:r>
              <a:rPr lang="en-US" dirty="0" err="1"/>
              <a:t>permettra</a:t>
            </a:r>
            <a:r>
              <a:rPr lang="en-US" dirty="0"/>
              <a:t> </a:t>
            </a:r>
            <a:r>
              <a:rPr lang="en-US" dirty="0" err="1"/>
              <a:t>à</a:t>
            </a:r>
            <a:r>
              <a:rPr lang="en-US" dirty="0"/>
              <a:t> </a:t>
            </a:r>
            <a:r>
              <a:rPr lang="en-US" dirty="0" err="1"/>
              <a:t>l'entreprise</a:t>
            </a:r>
            <a:r>
              <a:rPr lang="en-US" dirty="0"/>
              <a:t> </a:t>
            </a:r>
            <a:r>
              <a:rPr lang="en-US" dirty="0" err="1"/>
              <a:t>d'analyser</a:t>
            </a:r>
            <a:r>
              <a:rPr lang="en-US" dirty="0"/>
              <a:t> les </a:t>
            </a:r>
            <a:r>
              <a:rPr lang="en-US" dirty="0" err="1"/>
              <a:t>heures</a:t>
            </a:r>
            <a:r>
              <a:rPr lang="en-US" dirty="0"/>
              <a:t> </a:t>
            </a:r>
            <a:r>
              <a:rPr lang="en-US" dirty="0" err="1"/>
              <a:t>travaillées</a:t>
            </a:r>
            <a:r>
              <a:rPr lang="en-US" dirty="0"/>
              <a:t> par </a:t>
            </a:r>
            <a:r>
              <a:rPr lang="en-US" dirty="0" err="1"/>
              <a:t>projet</a:t>
            </a:r>
            <a:r>
              <a:rPr lang="en-US" dirty="0"/>
              <a:t>, par </a:t>
            </a:r>
            <a:r>
              <a:rPr lang="en-US" dirty="0" err="1"/>
              <a:t>employé</a:t>
            </a:r>
            <a:r>
              <a:rPr lang="en-US" dirty="0"/>
              <a:t> et par date.</a:t>
            </a:r>
          </a:p>
        </p:txBody>
      </p:sp>
      <p:sp>
        <p:nvSpPr>
          <p:cNvPr id="6" name="TextBox 5">
            <a:extLst>
              <a:ext uri="{FF2B5EF4-FFF2-40B4-BE49-F238E27FC236}">
                <a16:creationId xmlns:a16="http://schemas.microsoft.com/office/drawing/2014/main" xmlns="" id="{74A8C004-5134-4949-9CF6-E66925933725}"/>
              </a:ext>
            </a:extLst>
          </p:cNvPr>
          <p:cNvSpPr txBox="1"/>
          <p:nvPr/>
        </p:nvSpPr>
        <p:spPr>
          <a:xfrm>
            <a:off x="2105526" y="1094874"/>
            <a:ext cx="1952394" cy="584775"/>
          </a:xfrm>
          <a:prstGeom prst="rect">
            <a:avLst/>
          </a:prstGeom>
          <a:noFill/>
        </p:spPr>
        <p:txBody>
          <a:bodyPr wrap="none" rtlCol="0">
            <a:spAutoFit/>
          </a:bodyPr>
          <a:lstStyle/>
          <a:p>
            <a:r>
              <a:rPr lang="fr-FR" sz="3200" b="1" dirty="0"/>
              <a:t>Exercice 5</a:t>
            </a:r>
          </a:p>
        </p:txBody>
      </p:sp>
    </p:spTree>
    <p:extLst>
      <p:ext uri="{BB962C8B-B14F-4D97-AF65-F5344CB8AC3E}">
        <p14:creationId xmlns:p14="http://schemas.microsoft.com/office/powerpoint/2010/main" xmlns="" val="21881136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3188793" y="1094874"/>
            <a:ext cx="5814412" cy="584775"/>
          </a:xfrm>
          <a:prstGeom prst="rect">
            <a:avLst/>
          </a:prstGeom>
          <a:noFill/>
        </p:spPr>
        <p:txBody>
          <a:bodyPr wrap="none" rtlCol="0">
            <a:spAutoFit/>
          </a:bodyPr>
          <a:lstStyle/>
          <a:p>
            <a:r>
              <a:rPr lang="fr-FR" sz="3200" b="1" dirty="0"/>
              <a:t>Phases de construction d’un DW</a:t>
            </a:r>
          </a:p>
        </p:txBody>
      </p:sp>
      <p:sp>
        <p:nvSpPr>
          <p:cNvPr id="7" name="TextBox 6">
            <a:extLst>
              <a:ext uri="{FF2B5EF4-FFF2-40B4-BE49-F238E27FC236}">
                <a16:creationId xmlns:a16="http://schemas.microsoft.com/office/drawing/2014/main" xmlns="" id="{4640C5B7-19C9-8046-883B-2E51CE98D18F}"/>
              </a:ext>
            </a:extLst>
          </p:cNvPr>
          <p:cNvSpPr txBox="1"/>
          <p:nvPr/>
        </p:nvSpPr>
        <p:spPr>
          <a:xfrm>
            <a:off x="1346200" y="2189589"/>
            <a:ext cx="10693400" cy="4247317"/>
          </a:xfrm>
          <a:prstGeom prst="rect">
            <a:avLst/>
          </a:prstGeom>
          <a:noFill/>
        </p:spPr>
        <p:txBody>
          <a:bodyPr wrap="square">
            <a:spAutoFit/>
          </a:bodyPr>
          <a:lstStyle/>
          <a:p>
            <a:pPr marL="285750" indent="-285750">
              <a:buFont typeface="Arial" panose="020B0604020202020204" pitchFamily="34" charset="0"/>
              <a:buChar char="•"/>
            </a:pPr>
            <a:r>
              <a:rPr lang="fr-FR" altLang="fr-FR" b="1" dirty="0"/>
              <a:t>Etude préalable </a:t>
            </a:r>
          </a:p>
          <a:p>
            <a:pPr marL="742950" lvl="1" indent="-285750" algn="just">
              <a:buFont typeface="Arial" panose="020B0604020202020204" pitchFamily="34" charset="0"/>
              <a:buChar char="•"/>
            </a:pPr>
            <a:r>
              <a:rPr lang="fr-FR" altLang="fr-FR" dirty="0"/>
              <a:t>Etude des besoins: </a:t>
            </a:r>
          </a:p>
          <a:p>
            <a:pPr marL="1200150" lvl="2" indent="-285750" algn="just">
              <a:buFont typeface="Arial" panose="020B0604020202020204" pitchFamily="34" charset="0"/>
              <a:buChar char="•"/>
            </a:pPr>
            <a:r>
              <a:rPr lang="fr-FR" altLang="fr-FR" dirty="0"/>
              <a:t>Définir les objectifs du DW </a:t>
            </a:r>
          </a:p>
          <a:p>
            <a:pPr marL="1200150" lvl="2" indent="-285750" algn="just">
              <a:buFont typeface="Arial" panose="020B0604020202020204" pitchFamily="34" charset="0"/>
              <a:buChar char="•"/>
            </a:pPr>
            <a:r>
              <a:rPr lang="fr-FR" altLang="fr-FR" dirty="0"/>
              <a:t>Déterminer le contenu du DW et son organisation, d’après: </a:t>
            </a:r>
          </a:p>
          <a:p>
            <a:pPr marL="1657350" lvl="3" indent="-285750" algn="just">
              <a:buFont typeface="Arial" panose="020B0604020202020204" pitchFamily="34" charset="0"/>
              <a:buChar char="•"/>
            </a:pPr>
            <a:r>
              <a:rPr lang="fr-FR" altLang="fr-FR" dirty="0"/>
              <a:t> Les résultats attendus par les utilisateurs, </a:t>
            </a:r>
          </a:p>
          <a:p>
            <a:pPr marL="1657350" lvl="3" indent="-285750" algn="just">
              <a:buFont typeface="Arial" panose="020B0604020202020204" pitchFamily="34" charset="0"/>
              <a:buChar char="•"/>
            </a:pPr>
            <a:r>
              <a:rPr lang="fr-FR" altLang="fr-FR" dirty="0"/>
              <a:t>Les requêtes qu’ils formuleront, </a:t>
            </a:r>
          </a:p>
          <a:p>
            <a:pPr marL="1657350" lvl="3" indent="-285750" algn="just">
              <a:buFont typeface="Arial" panose="020B0604020202020204" pitchFamily="34" charset="0"/>
              <a:buChar char="•"/>
            </a:pPr>
            <a:r>
              <a:rPr lang="fr-FR" altLang="fr-FR" dirty="0"/>
              <a:t>Les projets qui ont été définie </a:t>
            </a:r>
          </a:p>
          <a:p>
            <a:pPr marL="1200150" lvl="2" indent="-285750" algn="just">
              <a:buFont typeface="Arial" panose="020B0604020202020204" pitchFamily="34" charset="0"/>
              <a:buChar char="•"/>
            </a:pPr>
            <a:r>
              <a:rPr lang="fr-FR" altLang="fr-FR" dirty="0"/>
              <a:t> Recenser les données nécessaires à un bon fonctionnement du DW: </a:t>
            </a:r>
          </a:p>
          <a:p>
            <a:pPr marL="1657350" lvl="3" indent="-285750" algn="just">
              <a:buFont typeface="Arial" panose="020B0604020202020204" pitchFamily="34" charset="0"/>
              <a:buChar char="•"/>
            </a:pPr>
            <a:r>
              <a:rPr lang="fr-FR" altLang="fr-FR" dirty="0"/>
              <a:t> Recenser les données disponibles dans les bases de production </a:t>
            </a:r>
          </a:p>
          <a:p>
            <a:pPr marL="1657350" lvl="3" indent="-285750" algn="just">
              <a:buFont typeface="Arial" panose="020B0604020202020204" pitchFamily="34" charset="0"/>
              <a:buChar char="•"/>
            </a:pPr>
            <a:r>
              <a:rPr lang="fr-FR" altLang="fr-FR" dirty="0"/>
              <a:t>Identifier les données supplémentaires requises </a:t>
            </a:r>
          </a:p>
          <a:p>
            <a:pPr marL="1200150" lvl="2" indent="-285750" algn="just">
              <a:buFont typeface="Arial" panose="020B0604020202020204" pitchFamily="34" charset="0"/>
              <a:buChar char="•"/>
            </a:pPr>
            <a:r>
              <a:rPr lang="fr-FR" altLang="fr-FR" dirty="0"/>
              <a:t>Choisir les dimensions </a:t>
            </a:r>
          </a:p>
          <a:p>
            <a:pPr marL="1657350" lvl="3" indent="-285750" algn="just">
              <a:buFont typeface="Arial" panose="020B0604020202020204" pitchFamily="34" charset="0"/>
              <a:buChar char="•"/>
            </a:pPr>
            <a:r>
              <a:rPr lang="fr-FR" altLang="fr-FR" dirty="0"/>
              <a:t>Typiquement: le temps, le client, le produit, le magasin... </a:t>
            </a:r>
          </a:p>
          <a:p>
            <a:pPr marL="1200150" lvl="2" indent="-285750" algn="just">
              <a:buFont typeface="Arial" panose="020B0604020202020204" pitchFamily="34" charset="0"/>
              <a:buChar char="•"/>
            </a:pPr>
            <a:r>
              <a:rPr lang="fr-FR" altLang="fr-FR" dirty="0"/>
              <a:t>Choisir les mesures de fait </a:t>
            </a:r>
          </a:p>
          <a:p>
            <a:pPr marL="1657350" lvl="3" indent="-285750" algn="just">
              <a:buFont typeface="Arial" panose="020B0604020202020204" pitchFamily="34" charset="0"/>
              <a:buChar char="•"/>
            </a:pPr>
            <a:r>
              <a:rPr lang="fr-FR" altLang="fr-FR" dirty="0"/>
              <a:t>De préférences de quantités numériques additives</a:t>
            </a:r>
          </a:p>
          <a:p>
            <a:pPr marL="285750" indent="-285750">
              <a:buFont typeface="Arial" panose="020B0604020202020204" pitchFamily="34" charset="0"/>
              <a:buChar char="•"/>
            </a:pPr>
            <a:endParaRPr lang="fr-FR" altLang="fr-FR" dirty="0"/>
          </a:p>
        </p:txBody>
      </p:sp>
    </p:spTree>
    <p:extLst>
      <p:ext uri="{BB962C8B-B14F-4D97-AF65-F5344CB8AC3E}">
        <p14:creationId xmlns:p14="http://schemas.microsoft.com/office/powerpoint/2010/main" xmlns="" val="34792423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B1F54480-2173-1048-9D50-3BBDEF687566}"/>
              </a:ext>
            </a:extLst>
          </p:cNvPr>
          <p:cNvSpPr txBox="1"/>
          <p:nvPr/>
        </p:nvSpPr>
        <p:spPr>
          <a:xfrm>
            <a:off x="3188793" y="1094874"/>
            <a:ext cx="5814412" cy="584775"/>
          </a:xfrm>
          <a:prstGeom prst="rect">
            <a:avLst/>
          </a:prstGeom>
          <a:noFill/>
        </p:spPr>
        <p:txBody>
          <a:bodyPr wrap="none" rtlCol="0">
            <a:spAutoFit/>
          </a:bodyPr>
          <a:lstStyle/>
          <a:p>
            <a:r>
              <a:rPr lang="fr-FR" sz="3200" b="1" dirty="0"/>
              <a:t>Phases de construction d’un DW</a:t>
            </a:r>
          </a:p>
        </p:txBody>
      </p:sp>
      <p:sp>
        <p:nvSpPr>
          <p:cNvPr id="7" name="TextBox 6">
            <a:extLst>
              <a:ext uri="{FF2B5EF4-FFF2-40B4-BE49-F238E27FC236}">
                <a16:creationId xmlns:a16="http://schemas.microsoft.com/office/drawing/2014/main" xmlns="" id="{4640C5B7-19C9-8046-883B-2E51CE98D18F}"/>
              </a:ext>
            </a:extLst>
          </p:cNvPr>
          <p:cNvSpPr txBox="1"/>
          <p:nvPr/>
        </p:nvSpPr>
        <p:spPr>
          <a:xfrm>
            <a:off x="1346200" y="2189589"/>
            <a:ext cx="10693400" cy="1200329"/>
          </a:xfrm>
          <a:prstGeom prst="rect">
            <a:avLst/>
          </a:prstGeom>
          <a:noFill/>
        </p:spPr>
        <p:txBody>
          <a:bodyPr wrap="square">
            <a:spAutoFit/>
          </a:bodyPr>
          <a:lstStyle/>
          <a:p>
            <a:pPr marL="285750" indent="-285750">
              <a:buFont typeface="Arial" panose="020B0604020202020204" pitchFamily="34" charset="0"/>
              <a:buChar char="•"/>
            </a:pPr>
            <a:r>
              <a:rPr lang="fr-FR" altLang="fr-FR" b="1" dirty="0"/>
              <a:t>Modélisation (Choix du schéma adéquate)</a:t>
            </a:r>
          </a:p>
          <a:p>
            <a:pPr marL="742950" lvl="1" indent="-285750" algn="just">
              <a:buFont typeface="Arial" panose="020B0604020202020204" pitchFamily="34" charset="0"/>
              <a:buChar char="•"/>
            </a:pPr>
            <a:r>
              <a:rPr lang="fr-FR" altLang="fr-FR" dirty="0"/>
              <a:t>Etoile</a:t>
            </a:r>
          </a:p>
          <a:p>
            <a:pPr marL="742950" lvl="1" indent="-285750" algn="just">
              <a:buFont typeface="Arial" panose="020B0604020202020204" pitchFamily="34" charset="0"/>
              <a:buChar char="•"/>
            </a:pPr>
            <a:r>
              <a:rPr lang="fr-FR" altLang="fr-FR" dirty="0"/>
              <a:t>Flocon</a:t>
            </a:r>
          </a:p>
          <a:p>
            <a:pPr marL="742950" lvl="1" indent="-285750" algn="just">
              <a:buFont typeface="Arial" panose="020B0604020202020204" pitchFamily="34" charset="0"/>
              <a:buChar char="•"/>
            </a:pPr>
            <a:r>
              <a:rPr lang="fr-FR" altLang="fr-FR" dirty="0"/>
              <a:t>Constellation</a:t>
            </a:r>
          </a:p>
        </p:txBody>
      </p:sp>
      <p:sp>
        <p:nvSpPr>
          <p:cNvPr id="4" name="TextBox 3">
            <a:extLst>
              <a:ext uri="{FF2B5EF4-FFF2-40B4-BE49-F238E27FC236}">
                <a16:creationId xmlns:a16="http://schemas.microsoft.com/office/drawing/2014/main" xmlns="" id="{2F8859CE-3B73-5D4A-B08E-8BEF745E36D9}"/>
              </a:ext>
            </a:extLst>
          </p:cNvPr>
          <p:cNvSpPr txBox="1"/>
          <p:nvPr/>
        </p:nvSpPr>
        <p:spPr>
          <a:xfrm>
            <a:off x="1346200" y="3777089"/>
            <a:ext cx="10693400" cy="369332"/>
          </a:xfrm>
          <a:prstGeom prst="rect">
            <a:avLst/>
          </a:prstGeom>
          <a:noFill/>
        </p:spPr>
        <p:txBody>
          <a:bodyPr wrap="square">
            <a:spAutoFit/>
          </a:bodyPr>
          <a:lstStyle/>
          <a:p>
            <a:pPr marL="285750" indent="-285750">
              <a:buFont typeface="Arial" panose="020B0604020202020204" pitchFamily="34" charset="0"/>
              <a:buChar char="•"/>
            </a:pPr>
            <a:r>
              <a:rPr lang="fr-FR" altLang="fr-FR" b="1" dirty="0"/>
              <a:t>Extraction, Transformation et Chargement (ETL)</a:t>
            </a:r>
          </a:p>
        </p:txBody>
      </p:sp>
    </p:spTree>
    <p:extLst>
      <p:ext uri="{BB962C8B-B14F-4D97-AF65-F5344CB8AC3E}">
        <p14:creationId xmlns:p14="http://schemas.microsoft.com/office/powerpoint/2010/main" xmlns="" val="19511531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983873" y="2358736"/>
            <a:ext cx="8334300" cy="2301240"/>
          </a:xfrm>
        </p:spPr>
        <p:txBody>
          <a:bodyPr anchor="ctr">
            <a:noAutofit/>
          </a:bodyPr>
          <a:lstStyle/>
          <a:p>
            <a:r>
              <a:rPr lang="fr-FR" sz="6000" dirty="0">
                <a:solidFill>
                  <a:schemeClr val="tx1"/>
                </a:solidFill>
              </a:rPr>
              <a:t>ETL</a:t>
            </a:r>
            <a:br>
              <a:rPr lang="fr-FR" sz="6000" dirty="0">
                <a:solidFill>
                  <a:schemeClr val="tx1"/>
                </a:solidFill>
              </a:rPr>
            </a:br>
            <a:r>
              <a:rPr lang="fr-FR" sz="6000" dirty="0">
                <a:solidFill>
                  <a:schemeClr val="tx1"/>
                </a:solidFill>
              </a:rPr>
              <a:t>Formation TALEND</a:t>
            </a:r>
          </a:p>
        </p:txBody>
      </p:sp>
    </p:spTree>
    <p:extLst>
      <p:ext uri="{BB962C8B-B14F-4D97-AF65-F5344CB8AC3E}">
        <p14:creationId xmlns:p14="http://schemas.microsoft.com/office/powerpoint/2010/main" xmlns="" val="256538736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4A7F6EE-3ECB-F648-AED7-50DEE6F24B22}"/>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07740" y="968282"/>
            <a:ext cx="10776520" cy="4921436"/>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r>
              <a:rPr lang="fr-FR" altLang="fr-FR" b="1" u="sng" dirty="0">
                <a:latin typeface="Times New Roman" pitchFamily="18" charset="0"/>
                <a:cs typeface="Times New Roman" pitchFamily="18" charset="0"/>
              </a:rPr>
              <a:t>Introduction</a:t>
            </a:r>
            <a:endParaRPr lang="fr-FR"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479376" y="2132856"/>
            <a:ext cx="5730832" cy="4239012"/>
          </a:xfrm>
        </p:spPr>
        <p:txBody>
          <a:bodyPr anchor="t">
            <a:noAutofit/>
          </a:bodyPr>
          <a:lstStyle/>
          <a:p>
            <a:pPr algn="just"/>
            <a:r>
              <a:rPr lang="fr-FR" altLang="fr-FR" dirty="0">
                <a:latin typeface="Times New Roman" pitchFamily="18" charset="0"/>
                <a:cs typeface="Times New Roman" pitchFamily="18" charset="0"/>
              </a:rPr>
              <a:t>ETL est l'acronyme de « </a:t>
            </a:r>
            <a:r>
              <a:rPr lang="fr-FR" altLang="fr-FR" dirty="0" err="1">
                <a:latin typeface="Times New Roman" pitchFamily="18" charset="0"/>
                <a:cs typeface="Times New Roman" pitchFamily="18" charset="0"/>
              </a:rPr>
              <a:t>Extract</a:t>
            </a:r>
            <a:r>
              <a:rPr lang="fr-FR" altLang="fr-FR" dirty="0">
                <a:latin typeface="Times New Roman" pitchFamily="18" charset="0"/>
                <a:cs typeface="Times New Roman" pitchFamily="18" charset="0"/>
              </a:rPr>
              <a:t> – </a:t>
            </a:r>
            <a:r>
              <a:rPr lang="fr-FR" altLang="fr-FR" dirty="0" err="1">
                <a:latin typeface="Times New Roman" pitchFamily="18" charset="0"/>
                <a:cs typeface="Times New Roman" pitchFamily="18" charset="0"/>
              </a:rPr>
              <a:t>Transform</a:t>
            </a:r>
            <a:r>
              <a:rPr lang="fr-FR" altLang="fr-FR" dirty="0">
                <a:latin typeface="Times New Roman" pitchFamily="18" charset="0"/>
                <a:cs typeface="Times New Roman" pitchFamily="18" charset="0"/>
              </a:rPr>
              <a:t> -</a:t>
            </a:r>
            <a:r>
              <a:rPr lang="fr-FR" altLang="fr-FR" dirty="0" err="1">
                <a:latin typeface="Times New Roman" pitchFamily="18" charset="0"/>
                <a:cs typeface="Times New Roman" pitchFamily="18" charset="0"/>
              </a:rPr>
              <a:t>Load</a:t>
            </a:r>
            <a:r>
              <a:rPr lang="fr-FR" altLang="fr-FR" dirty="0">
                <a:latin typeface="Times New Roman" pitchFamily="18" charset="0"/>
                <a:cs typeface="Times New Roman" pitchFamily="18" charset="0"/>
              </a:rPr>
              <a:t> ».</a:t>
            </a:r>
          </a:p>
          <a:p>
            <a:pPr algn="just">
              <a:buFont typeface="Wingdings 3" pitchFamily="18" charset="2"/>
              <a:buNone/>
            </a:pPr>
            <a:endParaRPr lang="fr-FR" altLang="fr-FR" dirty="0">
              <a:latin typeface="Times New Roman" pitchFamily="18" charset="0"/>
              <a:cs typeface="Times New Roman" pitchFamily="18" charset="0"/>
            </a:endParaRPr>
          </a:p>
          <a:p>
            <a:pPr algn="just"/>
            <a:r>
              <a:rPr lang="fr-FR" altLang="fr-FR" dirty="0">
                <a:latin typeface="Times New Roman" pitchFamily="18" charset="0"/>
                <a:cs typeface="Times New Roman" pitchFamily="18" charset="0"/>
              </a:rPr>
              <a:t>Un ETL permet ainsi l' </a:t>
            </a:r>
            <a:r>
              <a:rPr lang="fr-FR" altLang="fr-FR" i="1" dirty="0">
                <a:latin typeface="Times New Roman" pitchFamily="18" charset="0"/>
                <a:cs typeface="Times New Roman" pitchFamily="18" charset="0"/>
              </a:rPr>
              <a:t>Extraction</a:t>
            </a:r>
            <a:r>
              <a:rPr lang="fr-FR" altLang="fr-FR" dirty="0">
                <a:latin typeface="Times New Roman" pitchFamily="18" charset="0"/>
                <a:cs typeface="Times New Roman" pitchFamily="18" charset="0"/>
              </a:rPr>
              <a:t>, la </a:t>
            </a:r>
            <a:r>
              <a:rPr lang="fr-FR" altLang="fr-FR" i="1" dirty="0">
                <a:latin typeface="Times New Roman" pitchFamily="18" charset="0"/>
                <a:cs typeface="Times New Roman" pitchFamily="18" charset="0"/>
              </a:rPr>
              <a:t>Transformation </a:t>
            </a:r>
            <a:r>
              <a:rPr lang="fr-FR" altLang="fr-FR" dirty="0">
                <a:latin typeface="Times New Roman" pitchFamily="18" charset="0"/>
                <a:cs typeface="Times New Roman" pitchFamily="18" charset="0"/>
              </a:rPr>
              <a:t>et le </a:t>
            </a:r>
            <a:r>
              <a:rPr lang="fr-FR" altLang="fr-FR" i="1" dirty="0">
                <a:latin typeface="Times New Roman" pitchFamily="18" charset="0"/>
                <a:cs typeface="Times New Roman" pitchFamily="18" charset="0"/>
              </a:rPr>
              <a:t>Chargement </a:t>
            </a:r>
            <a:r>
              <a:rPr lang="fr-FR" altLang="fr-FR" dirty="0">
                <a:latin typeface="Times New Roman" pitchFamily="18" charset="0"/>
                <a:cs typeface="Times New Roman" pitchFamily="18" charset="0"/>
              </a:rPr>
              <a:t>de données depuis des sources diverses (bases de données, fichiers) vers des cibles préalablement définies.</a:t>
            </a:r>
          </a:p>
          <a:p>
            <a:pPr algn="just"/>
            <a:endParaRPr lang="fr-FR" altLang="fr-FR" dirty="0">
              <a:latin typeface="Times New Roman" pitchFamily="18" charset="0"/>
              <a:cs typeface="Times New Roman" pitchFamily="18" charset="0"/>
            </a:endParaRPr>
          </a:p>
          <a:p>
            <a:pPr algn="just"/>
            <a:r>
              <a:rPr lang="fr-FR" altLang="fr-FR" dirty="0">
                <a:latin typeface="Times New Roman" pitchFamily="18" charset="0"/>
                <a:cs typeface="Times New Roman" pitchFamily="18" charset="0"/>
              </a:rPr>
              <a:t>Les termes « </a:t>
            </a:r>
            <a:r>
              <a:rPr lang="fr-FR" altLang="fr-FR" dirty="0" err="1">
                <a:latin typeface="Times New Roman" pitchFamily="18" charset="0"/>
                <a:cs typeface="Times New Roman" pitchFamily="18" charset="0"/>
              </a:rPr>
              <a:t>Extract</a:t>
            </a:r>
            <a:r>
              <a:rPr lang="fr-FR" altLang="fr-FR" dirty="0">
                <a:latin typeface="Times New Roman" pitchFamily="18" charset="0"/>
                <a:cs typeface="Times New Roman" pitchFamily="18" charset="0"/>
              </a:rPr>
              <a:t>, </a:t>
            </a:r>
            <a:r>
              <a:rPr lang="fr-FR" altLang="fr-FR" dirty="0" err="1">
                <a:latin typeface="Times New Roman" pitchFamily="18" charset="0"/>
                <a:cs typeface="Times New Roman" pitchFamily="18" charset="0"/>
              </a:rPr>
              <a:t>Transform</a:t>
            </a:r>
            <a:r>
              <a:rPr lang="fr-FR" altLang="fr-FR" dirty="0">
                <a:latin typeface="Times New Roman" pitchFamily="18" charset="0"/>
                <a:cs typeface="Times New Roman" pitchFamily="18" charset="0"/>
              </a:rPr>
              <a:t>, </a:t>
            </a:r>
            <a:r>
              <a:rPr lang="fr-FR" altLang="fr-FR" dirty="0" err="1">
                <a:latin typeface="Times New Roman" pitchFamily="18" charset="0"/>
                <a:cs typeface="Times New Roman" pitchFamily="18" charset="0"/>
              </a:rPr>
              <a:t>Load</a:t>
            </a:r>
            <a:r>
              <a:rPr lang="fr-FR" altLang="fr-FR" dirty="0">
                <a:latin typeface="Times New Roman" pitchFamily="18" charset="0"/>
                <a:cs typeface="Times New Roman" pitchFamily="18" charset="0"/>
              </a:rPr>
              <a:t> (ETL) » désignent une séquence d'opérations portant sur les données : collecte à partir d'un nombre illimité de sources, structuration, centralisation dans un référentiel unique.</a:t>
            </a:r>
          </a:p>
          <a:p>
            <a:endParaRPr lang="fr-FR" dirty="0"/>
          </a:p>
        </p:txBody>
      </p:sp>
      <p:pic>
        <p:nvPicPr>
          <p:cNvPr id="5" name="Picture 6">
            <a:extLst>
              <a:ext uri="{FF2B5EF4-FFF2-40B4-BE49-F238E27FC236}">
                <a16:creationId xmlns:a16="http://schemas.microsoft.com/office/drawing/2014/main" xmlns="" id="{E84F6372-AED3-D949-A3A9-75CA91B7F6DB}"/>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600056" y="2720089"/>
            <a:ext cx="5010752" cy="26324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277923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lstStyle/>
          <a:p>
            <a:r>
              <a:rPr lang="fr-FR" b="1" u="sng" dirty="0">
                <a:latin typeface="Times New Roman" pitchFamily="18" charset="0"/>
                <a:cs typeface="Times New Roman" pitchFamily="18" charset="0"/>
              </a:rPr>
              <a:t>Introduction</a:t>
            </a:r>
          </a:p>
        </p:txBody>
      </p:sp>
      <p:sp>
        <p:nvSpPr>
          <p:cNvPr id="3" name="Espace réservé du contenu 2"/>
          <p:cNvSpPr>
            <a:spLocks noGrp="1"/>
          </p:cNvSpPr>
          <p:nvPr>
            <p:ph idx="1"/>
          </p:nvPr>
        </p:nvSpPr>
        <p:spPr/>
        <p:txBody>
          <a:bodyPr>
            <a:normAutofit lnSpcReduction="10000"/>
          </a:bodyPr>
          <a:lstStyle/>
          <a:p>
            <a:pPr algn="just"/>
            <a:r>
              <a:rPr lang="fr-FR" altLang="fr-FR" dirty="0">
                <a:latin typeface="Times New Roman" pitchFamily="18" charset="0"/>
                <a:cs typeface="Times New Roman" pitchFamily="18" charset="0"/>
              </a:rPr>
              <a:t>De nombreux systèmes de gestion de bases de données sont supportés nativement en lecture/écriture (Oracle, MS SQL Server, DB2, </a:t>
            </a:r>
            <a:r>
              <a:rPr lang="fr-FR" altLang="fr-FR" dirty="0" err="1">
                <a:latin typeface="Times New Roman" pitchFamily="18" charset="0"/>
                <a:cs typeface="Times New Roman" pitchFamily="18" charset="0"/>
              </a:rPr>
              <a:t>Postgresql</a:t>
            </a:r>
            <a:r>
              <a:rPr lang="fr-FR" altLang="fr-FR" dirty="0">
                <a:latin typeface="Times New Roman" pitchFamily="18" charset="0"/>
                <a:cs typeface="Times New Roman" pitchFamily="18" charset="0"/>
              </a:rPr>
              <a:t>, MySQL,...).</a:t>
            </a:r>
          </a:p>
          <a:p>
            <a:pPr algn="just">
              <a:buFont typeface="Wingdings 3" pitchFamily="18" charset="2"/>
              <a:buNone/>
            </a:pPr>
            <a:endParaRPr lang="fr-FR" altLang="fr-FR" dirty="0">
              <a:latin typeface="Times New Roman" pitchFamily="18" charset="0"/>
              <a:cs typeface="Times New Roman" pitchFamily="18" charset="0"/>
            </a:endParaRPr>
          </a:p>
          <a:p>
            <a:pPr algn="just"/>
            <a:r>
              <a:rPr lang="fr-FR" altLang="fr-FR" dirty="0">
                <a:latin typeface="Times New Roman" pitchFamily="18" charset="0"/>
                <a:cs typeface="Times New Roman" pitchFamily="18" charset="0"/>
              </a:rPr>
              <a:t>De nombreux types de fichiers peuvent également être lus ou écrits: Csv, Excel, Txt, XML, ...</a:t>
            </a:r>
          </a:p>
          <a:p>
            <a:pPr algn="just">
              <a:buFont typeface="Wingdings 3" pitchFamily="18" charset="2"/>
              <a:buNone/>
            </a:pPr>
            <a:endParaRPr lang="fr-FR" altLang="fr-FR" dirty="0">
              <a:latin typeface="Times New Roman" pitchFamily="18" charset="0"/>
              <a:cs typeface="Times New Roman" pitchFamily="18" charset="0"/>
            </a:endParaRPr>
          </a:p>
          <a:p>
            <a:pPr algn="just"/>
            <a:r>
              <a:rPr lang="fr-FR" altLang="fr-FR" dirty="0">
                <a:latin typeface="Times New Roman" pitchFamily="18" charset="0"/>
                <a:cs typeface="Times New Roman" pitchFamily="18" charset="0"/>
              </a:rPr>
              <a:t>Le travail des développeurs est grandement facilité, tant au niveau de la conception que de la maintenance des traitements de données et cela grâce à l’interface graphique dont dispose la plupart des ETL et qui permet l'élaboration des différents scénarios d'intégration.</a:t>
            </a:r>
          </a:p>
          <a:p>
            <a:endParaRPr lang="fr-FR" dirty="0"/>
          </a:p>
        </p:txBody>
      </p:sp>
    </p:spTree>
    <p:extLst>
      <p:ext uri="{BB962C8B-B14F-4D97-AF65-F5344CB8AC3E}">
        <p14:creationId xmlns:p14="http://schemas.microsoft.com/office/powerpoint/2010/main" xmlns="" val="311236249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276872"/>
            <a:ext cx="11161240" cy="3456384"/>
          </a:xfrm>
        </p:spPr>
        <p:txBody>
          <a:bodyPr>
            <a:noAutofit/>
          </a:bodyPr>
          <a:lstStyle/>
          <a:p>
            <a:pPr algn="just"/>
            <a:r>
              <a:rPr lang="fr-FR" altLang="fr-FR" dirty="0">
                <a:latin typeface="Times New Roman" pitchFamily="18" charset="0"/>
                <a:cs typeface="Times New Roman" pitchFamily="18" charset="0"/>
              </a:rPr>
              <a:t>Les ETL sont utilisés dans l'informatique décisionnelle afin de permettre l'alimentation des </a:t>
            </a:r>
            <a:r>
              <a:rPr lang="fr-FR" altLang="fr-FR" dirty="0" err="1">
                <a:latin typeface="Times New Roman" pitchFamily="18" charset="0"/>
                <a:cs typeface="Times New Roman" pitchFamily="18" charset="0"/>
              </a:rPr>
              <a:t>datawarehouses</a:t>
            </a:r>
            <a:r>
              <a:rPr lang="fr-FR" altLang="fr-FR" dirty="0">
                <a:latin typeface="Times New Roman" pitchFamily="18" charset="0"/>
                <a:cs typeface="Times New Roman" pitchFamily="18" charset="0"/>
              </a:rPr>
              <a:t> (entrepôts de données).</a:t>
            </a:r>
          </a:p>
          <a:p>
            <a:pPr algn="just"/>
            <a:r>
              <a:rPr lang="fr-FR" altLang="fr-FR" dirty="0">
                <a:latin typeface="Times New Roman" pitchFamily="18" charset="0"/>
                <a:cs typeface="Times New Roman" pitchFamily="18" charset="0"/>
              </a:rPr>
              <a:t>Ces derniers servent de supports pour l'analyse des données sous plusieurs formes :</a:t>
            </a:r>
          </a:p>
          <a:p>
            <a:pPr lvl="2" algn="just">
              <a:buFont typeface="Wingdings" panose="05000000000000000000" pitchFamily="2" charset="2"/>
              <a:buChar char="§"/>
            </a:pPr>
            <a:r>
              <a:rPr lang="fr-FR" altLang="fr-FR" sz="1800" dirty="0">
                <a:latin typeface="Times New Roman" pitchFamily="18" charset="0"/>
                <a:cs typeface="Times New Roman" pitchFamily="18" charset="0"/>
              </a:rPr>
              <a:t>Rapports et états,</a:t>
            </a:r>
          </a:p>
          <a:p>
            <a:pPr lvl="2" algn="just">
              <a:buFont typeface="Wingdings" panose="05000000000000000000" pitchFamily="2" charset="2"/>
              <a:buChar char="§"/>
            </a:pPr>
            <a:r>
              <a:rPr lang="fr-FR" altLang="fr-FR" sz="1800" dirty="0">
                <a:latin typeface="Times New Roman" pitchFamily="18" charset="0"/>
                <a:cs typeface="Times New Roman" pitchFamily="18" charset="0"/>
              </a:rPr>
              <a:t>Tableaux de bords (Dashboard),</a:t>
            </a:r>
          </a:p>
          <a:p>
            <a:pPr lvl="2" algn="just">
              <a:buFont typeface="Wingdings" panose="05000000000000000000" pitchFamily="2" charset="2"/>
              <a:buChar char="§"/>
            </a:pPr>
            <a:r>
              <a:rPr lang="fr-FR" altLang="fr-FR" sz="1800" dirty="0">
                <a:latin typeface="Times New Roman" pitchFamily="18" charset="0"/>
                <a:cs typeface="Times New Roman" pitchFamily="18" charset="0"/>
              </a:rPr>
              <a:t>Indicateurs de performance (« </a:t>
            </a:r>
            <a:r>
              <a:rPr lang="fr-FR" altLang="fr-FR" sz="1800" dirty="0" err="1">
                <a:latin typeface="Times New Roman" pitchFamily="18" charset="0"/>
                <a:cs typeface="Times New Roman" pitchFamily="18" charset="0"/>
              </a:rPr>
              <a:t>KPIs</a:t>
            </a:r>
            <a:r>
              <a:rPr lang="fr-FR" altLang="fr-FR" sz="1800" dirty="0">
                <a:latin typeface="Times New Roman" pitchFamily="18" charset="0"/>
                <a:cs typeface="Times New Roman" pitchFamily="18" charset="0"/>
              </a:rPr>
              <a:t> »),</a:t>
            </a:r>
          </a:p>
          <a:p>
            <a:pPr lvl="2" algn="just">
              <a:buFont typeface="Wingdings" panose="05000000000000000000" pitchFamily="2" charset="2"/>
              <a:buChar char="§"/>
            </a:pPr>
            <a:r>
              <a:rPr lang="fr-FR" altLang="fr-FR" sz="1800" dirty="0">
                <a:latin typeface="Times New Roman" pitchFamily="18" charset="0"/>
                <a:cs typeface="Times New Roman" pitchFamily="18" charset="0"/>
              </a:rPr>
              <a:t>Analyse </a:t>
            </a:r>
            <a:r>
              <a:rPr lang="fr-FR" altLang="fr-FR" sz="1800" dirty="0" err="1">
                <a:latin typeface="Times New Roman" pitchFamily="18" charset="0"/>
                <a:cs typeface="Times New Roman" pitchFamily="18" charset="0"/>
              </a:rPr>
              <a:t>multi-dimensionnelle</a:t>
            </a:r>
            <a:r>
              <a:rPr lang="fr-FR" altLang="fr-FR" sz="1800" dirty="0">
                <a:latin typeface="Times New Roman" pitchFamily="18" charset="0"/>
                <a:cs typeface="Times New Roman" pitchFamily="18" charset="0"/>
              </a:rPr>
              <a:t> (OLAP) ,</a:t>
            </a:r>
          </a:p>
          <a:p>
            <a:pPr lvl="2" algn="just">
              <a:buFont typeface="Wingdings" panose="05000000000000000000" pitchFamily="2" charset="2"/>
              <a:buChar char="§"/>
            </a:pPr>
            <a:r>
              <a:rPr lang="fr-FR" altLang="fr-FR" sz="1800" dirty="0">
                <a:latin typeface="Times New Roman" pitchFamily="18" charset="0"/>
                <a:cs typeface="Times New Roman" pitchFamily="18" charset="0"/>
              </a:rPr>
              <a:t>Analyse exploratoire (</a:t>
            </a:r>
            <a:r>
              <a:rPr lang="fr-FR" altLang="fr-FR" sz="1800" dirty="0" err="1">
                <a:latin typeface="Times New Roman" pitchFamily="18" charset="0"/>
                <a:cs typeface="Times New Roman" pitchFamily="18" charset="0"/>
              </a:rPr>
              <a:t>Data-Mining</a:t>
            </a:r>
            <a:r>
              <a:rPr lang="fr-FR" altLang="fr-FR" sz="1800" dirty="0">
                <a:latin typeface="Times New Roman" pitchFamily="18" charset="0"/>
                <a:cs typeface="Times New Roman" pitchFamily="18" charset="0"/>
              </a:rPr>
              <a:t>).</a:t>
            </a:r>
          </a:p>
          <a:p>
            <a:endParaRPr lang="fr-FR" dirty="0"/>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Introduction</a:t>
            </a:r>
          </a:p>
        </p:txBody>
      </p:sp>
    </p:spTree>
    <p:extLst>
      <p:ext uri="{BB962C8B-B14F-4D97-AF65-F5344CB8AC3E}">
        <p14:creationId xmlns:p14="http://schemas.microsoft.com/office/powerpoint/2010/main" xmlns="" val="29588417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Type d’</a:t>
            </a:r>
            <a:r>
              <a:rPr lang="fr-FR" b="1" u="sng" dirty="0" err="1">
                <a:latin typeface="Times New Roman" pitchFamily="18" charset="0"/>
                <a:cs typeface="Times New Roman" pitchFamily="18" charset="0"/>
              </a:rPr>
              <a:t>eTL</a:t>
            </a:r>
            <a:endParaRPr lang="fr-FR" b="1" u="sng"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xmlns="" id="{7F839027-B17C-0B4E-B82E-BAB40DB4F777}"/>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60005" y="4735199"/>
            <a:ext cx="7271990" cy="1716370"/>
          </a:xfrm>
          <a:prstGeom prst="rect">
            <a:avLst/>
          </a:prstGeom>
        </p:spPr>
      </p:pic>
      <p:pic>
        <p:nvPicPr>
          <p:cNvPr id="9" name="Picture 8">
            <a:extLst>
              <a:ext uri="{FF2B5EF4-FFF2-40B4-BE49-F238E27FC236}">
                <a16:creationId xmlns:a16="http://schemas.microsoft.com/office/drawing/2014/main" xmlns="" id="{53C7CF8B-732E-204D-BBE1-39C3D6D147CB}"/>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500656" y="2222856"/>
            <a:ext cx="7190688" cy="2005443"/>
          </a:xfrm>
          <a:prstGeom prst="rect">
            <a:avLst/>
          </a:prstGeom>
        </p:spPr>
      </p:pic>
    </p:spTree>
    <p:extLst>
      <p:ext uri="{BB962C8B-B14F-4D97-AF65-F5344CB8AC3E}">
        <p14:creationId xmlns:p14="http://schemas.microsoft.com/office/powerpoint/2010/main" xmlns="" val="339138569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276872"/>
            <a:ext cx="11161240" cy="1152128"/>
          </a:xfrm>
        </p:spPr>
        <p:txBody>
          <a:bodyPr>
            <a:noAutofit/>
          </a:bodyPr>
          <a:lstStyle/>
          <a:p>
            <a:pPr algn="just"/>
            <a:r>
              <a:rPr lang="fr-FR" altLang="fr-FR" dirty="0">
                <a:latin typeface="Times New Roman" pitchFamily="18" charset="0"/>
                <a:cs typeface="Times New Roman" pitchFamily="18" charset="0"/>
              </a:rPr>
              <a:t>Comme le suggère leur sigle E-T-L, les opérations ETL suivent généralement une séquence en trois étapes : Extraction-Transformation-Chargement (L pour le terme anglais « </a:t>
            </a:r>
            <a:r>
              <a:rPr lang="fr-FR" altLang="fr-FR" dirty="0" err="1">
                <a:latin typeface="Times New Roman" pitchFamily="18" charset="0"/>
                <a:cs typeface="Times New Roman" pitchFamily="18" charset="0"/>
              </a:rPr>
              <a:t>Load</a:t>
            </a:r>
            <a:r>
              <a:rPr lang="fr-FR" altLang="fr-FR" dirty="0">
                <a:latin typeface="Times New Roman" pitchFamily="18" charset="0"/>
                <a:cs typeface="Times New Roman" pitchFamily="18" charset="0"/>
              </a:rPr>
              <a:t> »).</a:t>
            </a:r>
            <a:endParaRPr lang="fr-FR" dirty="0"/>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Tree>
    <p:extLst>
      <p:ext uri="{BB962C8B-B14F-4D97-AF65-F5344CB8AC3E}">
        <p14:creationId xmlns:p14="http://schemas.microsoft.com/office/powerpoint/2010/main" xmlns="" val="210269648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420888"/>
            <a:ext cx="11161240" cy="4248472"/>
          </a:xfrm>
        </p:spPr>
        <p:txBody>
          <a:bodyPr>
            <a:noAutofit/>
          </a:bodyPr>
          <a:lstStyle/>
          <a:p>
            <a:pPr marL="0" indent="0" algn="just">
              <a:buNone/>
            </a:pPr>
            <a:r>
              <a:rPr lang="fr-FR" altLang="fr-FR" dirty="0">
                <a:latin typeface="Times New Roman" pitchFamily="18" charset="0"/>
                <a:cs typeface="Times New Roman" pitchFamily="18" charset="0"/>
              </a:rPr>
              <a:t>L'objectif d'ETL est de produire des données propres, faciles d'accès et qui peuvent être exploitées efficacement par l'analytique, la Business Intelligence ou/et les opérations commerciales. Les données brutes peuvent être extraites de différentes sources, en particulier :</a:t>
            </a:r>
          </a:p>
          <a:p>
            <a:pPr algn="just"/>
            <a:endParaRPr lang="fr-FR" altLang="fr-FR" dirty="0">
              <a:latin typeface="Times New Roman" pitchFamily="18" charset="0"/>
              <a:cs typeface="Times New Roman" pitchFamily="18" charset="0"/>
            </a:endParaRPr>
          </a:p>
          <a:p>
            <a:pPr algn="just"/>
            <a:r>
              <a:rPr lang="fr-FR" altLang="fr-FR" dirty="0">
                <a:latin typeface="Times New Roman" pitchFamily="18" charset="0"/>
                <a:cs typeface="Times New Roman" pitchFamily="18" charset="0"/>
              </a:rPr>
              <a:t>    Bases de données existantes</a:t>
            </a:r>
          </a:p>
          <a:p>
            <a:pPr algn="just"/>
            <a:r>
              <a:rPr lang="fr-FR" altLang="fr-FR" dirty="0">
                <a:latin typeface="Times New Roman" pitchFamily="18" charset="0"/>
                <a:cs typeface="Times New Roman" pitchFamily="18" charset="0"/>
              </a:rPr>
              <a:t>    Logs d'activité (trafic réseau, rapports d'erreurs, etc.)</a:t>
            </a:r>
          </a:p>
          <a:p>
            <a:pPr algn="just"/>
            <a:r>
              <a:rPr lang="fr-FR" altLang="fr-FR" dirty="0">
                <a:latin typeface="Times New Roman" pitchFamily="18" charset="0"/>
                <a:cs typeface="Times New Roman" pitchFamily="18" charset="0"/>
              </a:rPr>
              <a:t>    Comportement, performances et anomalies des applications</a:t>
            </a:r>
          </a:p>
          <a:p>
            <a:pPr algn="just"/>
            <a:r>
              <a:rPr lang="fr-FR" altLang="fr-FR" dirty="0">
                <a:latin typeface="Times New Roman" pitchFamily="18" charset="0"/>
                <a:cs typeface="Times New Roman" pitchFamily="18" charset="0"/>
              </a:rPr>
              <a:t>    Événements de sécurité</a:t>
            </a:r>
          </a:p>
          <a:p>
            <a:pPr algn="just"/>
            <a:r>
              <a:rPr lang="fr-FR" altLang="fr-FR" dirty="0">
                <a:latin typeface="Times New Roman" pitchFamily="18" charset="0"/>
                <a:cs typeface="Times New Roman" pitchFamily="18" charset="0"/>
              </a:rPr>
              <a:t>    Autres opérations qui doivent être décrites aux fins de conformité</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Extraction</a:t>
            </a:r>
          </a:p>
        </p:txBody>
      </p:sp>
    </p:spTree>
    <p:extLst>
      <p:ext uri="{BB962C8B-B14F-4D97-AF65-F5344CB8AC3E}">
        <p14:creationId xmlns:p14="http://schemas.microsoft.com/office/powerpoint/2010/main" xmlns="" val="272000703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924944"/>
            <a:ext cx="11161240" cy="1728192"/>
          </a:xfrm>
        </p:spPr>
        <p:txBody>
          <a:bodyPr>
            <a:noAutofit/>
          </a:bodyPr>
          <a:lstStyle/>
          <a:p>
            <a:pPr marL="0" indent="0" algn="just">
              <a:lnSpc>
                <a:spcPct val="150000"/>
              </a:lnSpc>
              <a:buNone/>
            </a:pPr>
            <a:r>
              <a:rPr lang="fr-FR" altLang="fr-FR" dirty="0">
                <a:latin typeface="Times New Roman" pitchFamily="18" charset="0"/>
                <a:cs typeface="Times New Roman" pitchFamily="18" charset="0"/>
              </a:rPr>
              <a:t>L'extraction est la première étape du processus ETL. Elle implique la récupération des données à partir de sources diverses telles que des bases de données relationnelles, des fichiers plats, des API, des services web, des flux de données en continu, etc. L'extraction peut être réalisée de manière complète, incrémentielle ou basée sur des déclencheurs, en fonction des besoins et de la nature des données.</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4" name="TextBox 3">
            <a:extLst>
              <a:ext uri="{FF2B5EF4-FFF2-40B4-BE49-F238E27FC236}">
                <a16:creationId xmlns:a16="http://schemas.microsoft.com/office/drawing/2014/main" xmlns="" id="{66CA5059-A154-4E40-B624-34DDCE306D43}"/>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Extraction</a:t>
            </a:r>
          </a:p>
        </p:txBody>
      </p:sp>
    </p:spTree>
    <p:extLst>
      <p:ext uri="{BB962C8B-B14F-4D97-AF65-F5344CB8AC3E}">
        <p14:creationId xmlns:p14="http://schemas.microsoft.com/office/powerpoint/2010/main" xmlns="" val="72869820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996952"/>
            <a:ext cx="11161240" cy="2016224"/>
          </a:xfrm>
        </p:spPr>
        <p:txBody>
          <a:bodyPr>
            <a:noAutofit/>
          </a:bodyPr>
          <a:lstStyle/>
          <a:p>
            <a:pPr marL="0" indent="0" algn="just">
              <a:lnSpc>
                <a:spcPct val="150000"/>
              </a:lnSpc>
              <a:buNone/>
            </a:pPr>
            <a:r>
              <a:rPr lang="fr-FR" altLang="fr-FR" dirty="0">
                <a:latin typeface="Times New Roman" pitchFamily="18" charset="0"/>
                <a:cs typeface="Times New Roman" pitchFamily="18" charset="0"/>
              </a:rPr>
              <a:t>L'étape de transformation du processus ETL est celle des opérations les plus essentielles. L'opération la plus importante de l'étape de transformation consiste à appliquer aux données brutes les règles internes de l'entreprise de manière à répondre aux exigences en matière de </a:t>
            </a:r>
            <a:r>
              <a:rPr lang="fr-FR" altLang="fr-FR" dirty="0" err="1">
                <a:latin typeface="Times New Roman" pitchFamily="18" charset="0"/>
                <a:cs typeface="Times New Roman" pitchFamily="18" charset="0"/>
              </a:rPr>
              <a:t>reporting</a:t>
            </a:r>
            <a:r>
              <a:rPr lang="fr-FR" altLang="fr-FR" dirty="0">
                <a:latin typeface="Times New Roman" pitchFamily="18" charset="0"/>
                <a:cs typeface="Times New Roman" pitchFamily="18" charset="0"/>
              </a:rPr>
              <a:t> :  les données brutes sont nettoyées et converties aux formats de rapport qui conviennent (si les données ne sont pas nettoyées, il devient plus difficile d'appliquer les règles internes de </a:t>
            </a:r>
            <a:r>
              <a:rPr lang="fr-FR" altLang="fr-FR" dirty="0" err="1">
                <a:latin typeface="Times New Roman" pitchFamily="18" charset="0"/>
                <a:cs typeface="Times New Roman" pitchFamily="18" charset="0"/>
              </a:rPr>
              <a:t>reporting</a:t>
            </a:r>
            <a:r>
              <a:rPr lang="fr-FR" altLang="fr-FR" dirty="0">
                <a:latin typeface="Times New Roman" pitchFamily="18" charset="0"/>
                <a:cs typeface="Times New Roman" pitchFamily="18" charset="0"/>
              </a:rPr>
              <a:t>).</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Transformation</a:t>
            </a:r>
          </a:p>
        </p:txBody>
      </p:sp>
    </p:spTree>
    <p:extLst>
      <p:ext uri="{BB962C8B-B14F-4D97-AF65-F5344CB8AC3E}">
        <p14:creationId xmlns:p14="http://schemas.microsoft.com/office/powerpoint/2010/main" xmlns="" val="3057690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Transformation</a:t>
            </a:r>
          </a:p>
        </p:txBody>
      </p:sp>
      <p:graphicFrame>
        <p:nvGraphicFramePr>
          <p:cNvPr id="4" name="Diagram 3">
            <a:extLst>
              <a:ext uri="{FF2B5EF4-FFF2-40B4-BE49-F238E27FC236}">
                <a16:creationId xmlns:a16="http://schemas.microsoft.com/office/drawing/2014/main" xmlns="" id="{EDE1A639-B736-324B-A3D1-72EBDE77608F}"/>
              </a:ext>
            </a:extLst>
          </p:cNvPr>
          <p:cNvGraphicFramePr/>
          <p:nvPr>
            <p:extLst>
              <p:ext uri="{D42A27DB-BD31-4B8C-83A1-F6EECF244321}">
                <p14:modId xmlns:p14="http://schemas.microsoft.com/office/powerpoint/2010/main" xmlns="" val="2618195732"/>
              </p:ext>
            </p:extLst>
          </p:nvPr>
        </p:nvGraphicFramePr>
        <p:xfrm>
          <a:off x="2032000" y="2636332"/>
          <a:ext cx="8240464" cy="3502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41338242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Transformation</a:t>
            </a:r>
          </a:p>
        </p:txBody>
      </p:sp>
      <p:sp>
        <p:nvSpPr>
          <p:cNvPr id="2" name="TextBox 1">
            <a:extLst>
              <a:ext uri="{FF2B5EF4-FFF2-40B4-BE49-F238E27FC236}">
                <a16:creationId xmlns:a16="http://schemas.microsoft.com/office/drawing/2014/main" xmlns="" id="{5A9C3EEE-3801-7341-98EB-AF6C3C0D7E16}"/>
              </a:ext>
            </a:extLst>
          </p:cNvPr>
          <p:cNvSpPr txBox="1"/>
          <p:nvPr/>
        </p:nvSpPr>
        <p:spPr>
          <a:xfrm>
            <a:off x="1595986" y="4221669"/>
            <a:ext cx="9000028" cy="400110"/>
          </a:xfrm>
          <a:prstGeom prst="rect">
            <a:avLst/>
          </a:prstGeom>
          <a:noFill/>
        </p:spPr>
        <p:txBody>
          <a:bodyPr wrap="none" rtlCol="0">
            <a:spAutoFit/>
          </a:bodyPr>
          <a:lstStyle/>
          <a:p>
            <a:r>
              <a:rPr lang="fr-FR" sz="2000" b="1" dirty="0">
                <a:solidFill>
                  <a:srgbClr val="FF0000"/>
                </a:solidFill>
              </a:rPr>
              <a:t>Différents systèmes = Différents formats = Différents types d’informations</a:t>
            </a:r>
          </a:p>
        </p:txBody>
      </p:sp>
      <p:sp>
        <p:nvSpPr>
          <p:cNvPr id="7" name="TextBox 6">
            <a:extLst>
              <a:ext uri="{FF2B5EF4-FFF2-40B4-BE49-F238E27FC236}">
                <a16:creationId xmlns:a16="http://schemas.microsoft.com/office/drawing/2014/main" xmlns="" id="{A8A0B553-E38B-AE45-861B-8D29A68179A0}"/>
              </a:ext>
            </a:extLst>
          </p:cNvPr>
          <p:cNvSpPr txBox="1"/>
          <p:nvPr/>
        </p:nvSpPr>
        <p:spPr>
          <a:xfrm>
            <a:off x="2795972" y="3429157"/>
            <a:ext cx="6600056" cy="400110"/>
          </a:xfrm>
          <a:prstGeom prst="rect">
            <a:avLst/>
          </a:prstGeom>
          <a:noFill/>
        </p:spPr>
        <p:txBody>
          <a:bodyPr wrap="square">
            <a:spAutoFit/>
          </a:bodyPr>
          <a:lstStyle/>
          <a:p>
            <a:r>
              <a:rPr lang="fr-FR" sz="2000" dirty="0">
                <a:latin typeface="Times New Roman" pitchFamily="18" charset="0"/>
                <a:cs typeface="Times New Roman" pitchFamily="18" charset="0"/>
              </a:rPr>
              <a:t>Consolidation = Intégration des données de plusieurs sources</a:t>
            </a:r>
          </a:p>
        </p:txBody>
      </p:sp>
    </p:spTree>
    <p:extLst>
      <p:ext uri="{BB962C8B-B14F-4D97-AF65-F5344CB8AC3E}">
        <p14:creationId xmlns:p14="http://schemas.microsoft.com/office/powerpoint/2010/main" xmlns="" val="15714158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Transformation</a:t>
            </a:r>
          </a:p>
        </p:txBody>
      </p:sp>
      <p:sp>
        <p:nvSpPr>
          <p:cNvPr id="2" name="TextBox 1">
            <a:extLst>
              <a:ext uri="{FF2B5EF4-FFF2-40B4-BE49-F238E27FC236}">
                <a16:creationId xmlns:a16="http://schemas.microsoft.com/office/drawing/2014/main" xmlns="" id="{5A9C3EEE-3801-7341-98EB-AF6C3C0D7E16}"/>
              </a:ext>
            </a:extLst>
          </p:cNvPr>
          <p:cNvSpPr txBox="1"/>
          <p:nvPr/>
        </p:nvSpPr>
        <p:spPr>
          <a:xfrm>
            <a:off x="4268128" y="4221982"/>
            <a:ext cx="3655744" cy="400110"/>
          </a:xfrm>
          <a:prstGeom prst="rect">
            <a:avLst/>
          </a:prstGeom>
          <a:noFill/>
        </p:spPr>
        <p:txBody>
          <a:bodyPr wrap="none" rtlCol="0">
            <a:spAutoFit/>
          </a:bodyPr>
          <a:lstStyle/>
          <a:p>
            <a:r>
              <a:rPr lang="fr-FR" sz="2000" b="1" dirty="0">
                <a:solidFill>
                  <a:srgbClr val="FF0000"/>
                </a:solidFill>
              </a:rPr>
              <a:t>Selon les exigences du travail</a:t>
            </a:r>
          </a:p>
        </p:txBody>
      </p:sp>
      <p:sp>
        <p:nvSpPr>
          <p:cNvPr id="7" name="TextBox 6">
            <a:extLst>
              <a:ext uri="{FF2B5EF4-FFF2-40B4-BE49-F238E27FC236}">
                <a16:creationId xmlns:a16="http://schemas.microsoft.com/office/drawing/2014/main" xmlns="" id="{A8A0B553-E38B-AE45-861B-8D29A68179A0}"/>
              </a:ext>
            </a:extLst>
          </p:cNvPr>
          <p:cNvSpPr txBox="1"/>
          <p:nvPr/>
        </p:nvSpPr>
        <p:spPr>
          <a:xfrm>
            <a:off x="2795972" y="3429157"/>
            <a:ext cx="6600056" cy="400110"/>
          </a:xfrm>
          <a:prstGeom prst="rect">
            <a:avLst/>
          </a:prstGeom>
          <a:noFill/>
        </p:spPr>
        <p:txBody>
          <a:bodyPr wrap="square">
            <a:spAutoFit/>
          </a:bodyPr>
          <a:lstStyle/>
          <a:p>
            <a:pPr algn="ctr"/>
            <a:r>
              <a:rPr lang="fr-FR" sz="2000" dirty="0">
                <a:latin typeface="Times New Roman" pitchFamily="18" charset="0"/>
                <a:cs typeface="Times New Roman" pitchFamily="18" charset="0"/>
              </a:rPr>
              <a:t>Réforme = Pour mieux analyser les données</a:t>
            </a:r>
          </a:p>
        </p:txBody>
      </p:sp>
    </p:spTree>
    <p:extLst>
      <p:ext uri="{BB962C8B-B14F-4D97-AF65-F5344CB8AC3E}">
        <p14:creationId xmlns:p14="http://schemas.microsoft.com/office/powerpoint/2010/main" xmlns="" val="7645449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Type de Transformation : Basic</a:t>
            </a:r>
          </a:p>
        </p:txBody>
      </p:sp>
      <p:graphicFrame>
        <p:nvGraphicFramePr>
          <p:cNvPr id="4" name="Diagram 3">
            <a:extLst>
              <a:ext uri="{FF2B5EF4-FFF2-40B4-BE49-F238E27FC236}">
                <a16:creationId xmlns:a16="http://schemas.microsoft.com/office/drawing/2014/main" xmlns="" id="{9D79BB67-0BD8-2B47-BFED-3A8B27952194}"/>
              </a:ext>
            </a:extLst>
          </p:cNvPr>
          <p:cNvGraphicFramePr/>
          <p:nvPr>
            <p:extLst>
              <p:ext uri="{D42A27DB-BD31-4B8C-83A1-F6EECF244321}">
                <p14:modId xmlns:p14="http://schemas.microsoft.com/office/powerpoint/2010/main" xmlns="" val="46836879"/>
              </p:ext>
            </p:extLst>
          </p:nvPr>
        </p:nvGraphicFramePr>
        <p:xfrm>
          <a:off x="2032000" y="2924944"/>
          <a:ext cx="8528496" cy="3213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9172923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Type de Transformation : Avancé</a:t>
            </a:r>
          </a:p>
        </p:txBody>
      </p:sp>
      <p:graphicFrame>
        <p:nvGraphicFramePr>
          <p:cNvPr id="4" name="Diagram 3">
            <a:extLst>
              <a:ext uri="{FF2B5EF4-FFF2-40B4-BE49-F238E27FC236}">
                <a16:creationId xmlns:a16="http://schemas.microsoft.com/office/drawing/2014/main" xmlns="" id="{9D79BB67-0BD8-2B47-BFED-3A8B27952194}"/>
              </a:ext>
            </a:extLst>
          </p:cNvPr>
          <p:cNvGraphicFramePr/>
          <p:nvPr>
            <p:extLst>
              <p:ext uri="{D42A27DB-BD31-4B8C-83A1-F6EECF244321}">
                <p14:modId xmlns:p14="http://schemas.microsoft.com/office/powerpoint/2010/main" xmlns="" val="2431971713"/>
              </p:ext>
            </p:extLst>
          </p:nvPr>
        </p:nvGraphicFramePr>
        <p:xfrm>
          <a:off x="782312" y="2780928"/>
          <a:ext cx="10627376" cy="3213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91718466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47532" y="2924944"/>
            <a:ext cx="11161240" cy="2895467"/>
          </a:xfrm>
        </p:spPr>
        <p:txBody>
          <a:bodyPr>
            <a:noAutofit/>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 </a:t>
            </a:r>
            <a:r>
              <a:rPr lang="en-US" dirty="0" err="1">
                <a:latin typeface="Times New Roman" panose="02020603050405020304" pitchFamily="18" charset="0"/>
                <a:cs typeface="Times New Roman" panose="02020603050405020304" pitchFamily="18" charset="0"/>
              </a:rPr>
              <a:t>chargement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est</a:t>
            </a:r>
            <a:r>
              <a:rPr lang="en-US" dirty="0">
                <a:latin typeface="Times New Roman" panose="02020603050405020304" pitchFamily="18" charset="0"/>
                <a:cs typeface="Times New Roman" panose="02020603050405020304" pitchFamily="18" charset="0"/>
              </a:rPr>
              <a:t> la </a:t>
            </a:r>
            <a:r>
              <a:rPr lang="en-US" dirty="0" err="1">
                <a:latin typeface="Times New Roman" panose="02020603050405020304" pitchFamily="18" charset="0"/>
                <a:cs typeface="Times New Roman" panose="02020603050405020304" pitchFamily="18" charset="0"/>
              </a:rPr>
              <a:t>dernière</a:t>
            </a:r>
            <a:r>
              <a:rPr lang="en-US" dirty="0">
                <a:latin typeface="Times New Roman" panose="02020603050405020304" pitchFamily="18" charset="0"/>
                <a:cs typeface="Times New Roman" panose="02020603050405020304" pitchFamily="18" charset="0"/>
              </a:rPr>
              <a:t> étape du </a:t>
            </a:r>
            <a:r>
              <a:rPr lang="en-US" dirty="0" err="1">
                <a:latin typeface="Times New Roman" panose="02020603050405020304" pitchFamily="18" charset="0"/>
                <a:cs typeface="Times New Roman" panose="02020603050405020304" pitchFamily="18" charset="0"/>
              </a:rPr>
              <a:t>processus</a:t>
            </a:r>
            <a:r>
              <a:rPr lang="en-US" dirty="0">
                <a:latin typeface="Times New Roman" panose="02020603050405020304" pitchFamily="18" charset="0"/>
                <a:cs typeface="Times New Roman" panose="02020603050405020304" pitchFamily="18" charset="0"/>
              </a:rPr>
              <a:t> ETL </a:t>
            </a:r>
            <a:r>
              <a:rPr lang="en-US" dirty="0" err="1">
                <a:latin typeface="Times New Roman" panose="02020603050405020304" pitchFamily="18" charset="0"/>
                <a:cs typeface="Times New Roman" panose="02020603050405020304" pitchFamily="18" charset="0"/>
              </a:rPr>
              <a:t>où</a:t>
            </a:r>
            <a:r>
              <a:rPr lang="en-US" dirty="0">
                <a:latin typeface="Times New Roman" panose="02020603050405020304" pitchFamily="18" charset="0"/>
                <a:cs typeface="Times New Roman" panose="02020603050405020304" pitchFamily="18" charset="0"/>
              </a:rPr>
              <a:t> les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transformées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chargées</a:t>
            </a:r>
            <a:r>
              <a:rPr lang="en-US" dirty="0">
                <a:latin typeface="Times New Roman" panose="02020603050405020304" pitchFamily="18" charset="0"/>
                <a:cs typeface="Times New Roman" panose="02020603050405020304" pitchFamily="18" charset="0"/>
              </a:rPr>
              <a:t> dans la destination </a:t>
            </a:r>
            <a:r>
              <a:rPr lang="en-US" dirty="0" err="1">
                <a:latin typeface="Times New Roman" panose="02020603050405020304" pitchFamily="18" charset="0"/>
                <a:cs typeface="Times New Roman" panose="02020603050405020304" pitchFamily="18" charset="0"/>
              </a:rPr>
              <a:t>cible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généralement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une</a:t>
            </a:r>
            <a:r>
              <a:rPr lang="en-US" dirty="0">
                <a:latin typeface="Times New Roman" panose="02020603050405020304" pitchFamily="18" charset="0"/>
                <a:cs typeface="Times New Roman" panose="02020603050405020304" pitchFamily="18" charset="0"/>
              </a:rPr>
              <a:t> base de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ou</a:t>
            </a:r>
            <a:r>
              <a:rPr lang="en-US" dirty="0">
                <a:latin typeface="Times New Roman" panose="02020603050405020304" pitchFamily="18" charset="0"/>
                <a:cs typeface="Times New Roman" panose="02020603050405020304" pitchFamily="18" charset="0"/>
              </a:rPr>
              <a:t> un entrepôt de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Le </a:t>
            </a:r>
            <a:r>
              <a:rPr lang="en-US" dirty="0" err="1">
                <a:latin typeface="Times New Roman" panose="02020603050405020304" pitchFamily="18" charset="0"/>
                <a:cs typeface="Times New Roman" panose="02020603050405020304" pitchFamily="18" charset="0"/>
              </a:rPr>
              <a:t>chargement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peut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être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effectué</a:t>
            </a:r>
            <a:r>
              <a:rPr lang="en-US" dirty="0">
                <a:latin typeface="Times New Roman" panose="02020603050405020304" pitchFamily="18" charset="0"/>
                <a:cs typeface="Times New Roman" panose="02020603050405020304" pitchFamily="18" charset="0"/>
              </a:rPr>
              <a:t> de manière </a:t>
            </a:r>
            <a:r>
              <a:rPr lang="en-US" dirty="0" err="1">
                <a:latin typeface="Times New Roman" panose="02020603050405020304" pitchFamily="18" charset="0"/>
                <a:cs typeface="Times New Roman" panose="02020603050405020304" pitchFamily="18" charset="0"/>
              </a:rPr>
              <a:t>incrémentielle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a:t>
            </a:r>
            <a:r>
              <a:rPr lang="en-US" dirty="0">
                <a:latin typeface="Times New Roman" panose="02020603050405020304" pitchFamily="18" charset="0"/>
                <a:cs typeface="Times New Roman" panose="02020603050405020304" pitchFamily="18" charset="0"/>
              </a:rPr>
              <a:t> mode </a:t>
            </a:r>
            <a:r>
              <a:rPr lang="en-US" dirty="0" err="1">
                <a:latin typeface="Times New Roman" panose="02020603050405020304" pitchFamily="18" charset="0"/>
                <a:cs typeface="Times New Roman" panose="02020603050405020304" pitchFamily="18" charset="0"/>
              </a:rPr>
              <a:t>complet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selon</a:t>
            </a:r>
            <a:r>
              <a:rPr lang="en-US" dirty="0">
                <a:latin typeface="Times New Roman" panose="02020603050405020304" pitchFamily="18" charset="0"/>
                <a:cs typeface="Times New Roman" panose="02020603050405020304" pitchFamily="18" charset="0"/>
              </a:rPr>
              <a:t> les exigences de </a:t>
            </a:r>
            <a:r>
              <a:rPr lang="en-US" dirty="0" err="1">
                <a:latin typeface="Times New Roman" panose="02020603050405020304" pitchFamily="18" charset="0"/>
                <a:cs typeface="Times New Roman" panose="02020603050405020304" pitchFamily="18" charset="0"/>
              </a:rPr>
              <a:t>l'application</a:t>
            </a:r>
            <a:r>
              <a:rPr lang="en-US" dirty="0">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Cette</a:t>
            </a:r>
            <a:r>
              <a:rPr lang="en-US" dirty="0">
                <a:latin typeface="Times New Roman" panose="02020603050405020304" pitchFamily="18" charset="0"/>
                <a:cs typeface="Times New Roman" panose="02020603050405020304" pitchFamily="18" charset="0"/>
              </a:rPr>
              <a:t> étape </a:t>
            </a:r>
            <a:r>
              <a:rPr lang="en-US" dirty="0" err="1">
                <a:latin typeface="Times New Roman" panose="02020603050405020304" pitchFamily="18" charset="0"/>
                <a:cs typeface="Times New Roman" panose="02020603050405020304" pitchFamily="18" charset="0"/>
              </a:rPr>
              <a:t>implique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souvent</a:t>
            </a:r>
            <a:r>
              <a:rPr lang="en-US" dirty="0">
                <a:latin typeface="Times New Roman" panose="02020603050405020304" pitchFamily="18" charset="0"/>
                <a:cs typeface="Times New Roman" panose="02020603050405020304" pitchFamily="18" charset="0"/>
              </a:rPr>
              <a:t> des </a:t>
            </a:r>
            <a:r>
              <a:rPr lang="en-US" dirty="0" err="1">
                <a:latin typeface="Times New Roman" panose="02020603050405020304" pitchFamily="18" charset="0"/>
                <a:cs typeface="Times New Roman" panose="02020603050405020304" pitchFamily="18" charset="0"/>
              </a:rPr>
              <a:t>opérations</a:t>
            </a:r>
            <a:r>
              <a:rPr lang="en-US" dirty="0">
                <a:latin typeface="Times New Roman" panose="02020603050405020304" pitchFamily="18" charset="0"/>
                <a:cs typeface="Times New Roman" panose="02020603050405020304" pitchFamily="18" charset="0"/>
              </a:rPr>
              <a:t> de validation pour </a:t>
            </a:r>
            <a:r>
              <a:rPr lang="en-US" dirty="0" err="1">
                <a:latin typeface="Times New Roman" panose="02020603050405020304" pitchFamily="18" charset="0"/>
                <a:cs typeface="Times New Roman" panose="02020603050405020304" pitchFamily="18" charset="0"/>
              </a:rPr>
              <a:t>s'assurer</a:t>
            </a:r>
            <a:r>
              <a:rPr lang="en-US" dirty="0">
                <a:latin typeface="Times New Roman" panose="02020603050405020304" pitchFamily="18" charset="0"/>
                <a:cs typeface="Times New Roman" panose="02020603050405020304" pitchFamily="18" charset="0"/>
              </a:rPr>
              <a:t> que les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correctement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chargées</a:t>
            </a:r>
            <a:r>
              <a:rPr lang="en-US" dirty="0">
                <a:latin typeface="Times New Roman" panose="02020603050405020304" pitchFamily="18" charset="0"/>
                <a:cs typeface="Times New Roman" panose="02020603050405020304" pitchFamily="18" charset="0"/>
              </a:rPr>
              <a:t> et </a:t>
            </a:r>
            <a:r>
              <a:rPr lang="en-US" dirty="0" err="1">
                <a:latin typeface="Times New Roman" panose="02020603050405020304" pitchFamily="18" charset="0"/>
                <a:cs typeface="Times New Roman" panose="02020603050405020304" pitchFamily="18" charset="0"/>
              </a:rPr>
              <a:t>cohérentes</a:t>
            </a:r>
            <a:r>
              <a:rPr lang="en-US" dirty="0">
                <a:latin typeface="Times New Roman" panose="02020603050405020304" pitchFamily="18" charset="0"/>
                <a:cs typeface="Times New Roman" panose="02020603050405020304" pitchFamily="18" charset="0"/>
              </a:rPr>
              <a:t> avec le </a:t>
            </a:r>
            <a:r>
              <a:rPr lang="en-US" dirty="0" err="1">
                <a:latin typeface="Times New Roman" panose="02020603050405020304" pitchFamily="18" charset="0"/>
                <a:cs typeface="Times New Roman" panose="02020603050405020304" pitchFamily="18" charset="0"/>
              </a:rPr>
              <a:t>schéma</a:t>
            </a:r>
            <a:r>
              <a:rPr lang="en-US" dirty="0">
                <a:latin typeface="Times New Roman" panose="02020603050405020304" pitchFamily="18" charset="0"/>
                <a:cs typeface="Times New Roman" panose="02020603050405020304" pitchFamily="18" charset="0"/>
              </a:rPr>
              <a:t> de la destination.</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Fonctionnement des processus ETL</a:t>
            </a: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Chargement - </a:t>
            </a:r>
            <a:r>
              <a:rPr lang="fr-FR" sz="2000" b="1" u="sng" dirty="0" err="1">
                <a:solidFill>
                  <a:schemeClr val="accent1"/>
                </a:solidFill>
                <a:latin typeface="Times New Roman" pitchFamily="18" charset="0"/>
                <a:cs typeface="Times New Roman" pitchFamily="18" charset="0"/>
              </a:rPr>
              <a:t>Loading</a:t>
            </a:r>
            <a:endParaRPr lang="fr-FR" sz="2000" b="1" u="sng" dirty="0">
              <a:solidFill>
                <a:schemeClr val="accent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80930327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47532" y="2924944"/>
            <a:ext cx="10517020" cy="2895467"/>
          </a:xfrm>
        </p:spPr>
        <p:txBody>
          <a:bodyPr>
            <a:noAutofit/>
          </a:bodyPr>
          <a:lstStyle/>
          <a:p>
            <a:pPr algn="just">
              <a:lnSpc>
                <a:spcPct val="150000"/>
              </a:lnSpc>
            </a:pPr>
            <a:r>
              <a:rPr lang="fr-FR">
                <a:latin typeface="Times New Roman" panose="02020603050405020304" pitchFamily="18" charset="0"/>
                <a:cs typeface="Times New Roman" panose="02020603050405020304" pitchFamily="18" charset="0"/>
              </a:rPr>
              <a:t>L'intégration décisionnelle dans le cadre de la Business Intelligence (BI) fait référence au processus de consolidation et d'organisation des données provenant de différentes sources au sein d'un entrepôt de données centralisé. Cette intégration vise à garantir la cohérence, la qualité et l'intégrité des données pour permettre des analyses et des rapports décisionnels efficaces.</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Intégration </a:t>
            </a:r>
            <a:r>
              <a:rPr lang="fr-FR" b="1" u="sng" dirty="0" err="1">
                <a:latin typeface="Times New Roman" pitchFamily="18" charset="0"/>
                <a:cs typeface="Times New Roman" pitchFamily="18" charset="0"/>
              </a:rPr>
              <a:t>décisonnelle</a:t>
            </a:r>
            <a:endParaRPr lang="fr-FR" b="1" u="sng"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xmlns="" id="{A4595AA0-57F0-BE43-B3C3-DC65EB14B4B1}"/>
              </a:ext>
            </a:extLst>
          </p:cNvPr>
          <p:cNvSpPr txBox="1"/>
          <p:nvPr/>
        </p:nvSpPr>
        <p:spPr>
          <a:xfrm>
            <a:off x="510692" y="2236222"/>
            <a:ext cx="6096000" cy="400110"/>
          </a:xfrm>
          <a:prstGeom prst="rect">
            <a:avLst/>
          </a:prstGeom>
          <a:noFill/>
        </p:spPr>
        <p:txBody>
          <a:bodyPr wrap="square">
            <a:spAutoFit/>
          </a:bodyPr>
          <a:lstStyle/>
          <a:p>
            <a:r>
              <a:rPr lang="fr-FR" sz="2000" b="1" u="sng" dirty="0">
                <a:solidFill>
                  <a:schemeClr val="accent1"/>
                </a:solidFill>
                <a:latin typeface="Times New Roman" pitchFamily="18" charset="0"/>
                <a:cs typeface="Times New Roman" pitchFamily="18" charset="0"/>
              </a:rPr>
              <a:t>Définition</a:t>
            </a:r>
          </a:p>
        </p:txBody>
      </p:sp>
    </p:spTree>
    <p:extLst>
      <p:ext uri="{BB962C8B-B14F-4D97-AF65-F5344CB8AC3E}">
        <p14:creationId xmlns:p14="http://schemas.microsoft.com/office/powerpoint/2010/main" xmlns="" val="110080624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15380" y="2060848"/>
            <a:ext cx="11161240" cy="4407635"/>
          </a:xfrm>
        </p:spPr>
        <p:txBody>
          <a:bodyPr>
            <a:noAutofit/>
          </a:bodyPr>
          <a:lstStyle/>
          <a:p>
            <a:pPr algn="just">
              <a:buFont typeface="+mj-lt"/>
              <a:buAutoNum type="arabicPeriod"/>
            </a:pPr>
            <a:r>
              <a:rPr lang="fr-FR" b="1">
                <a:latin typeface="Times New Roman" panose="02020603050405020304" pitchFamily="18" charset="0"/>
                <a:cs typeface="Times New Roman" panose="02020603050405020304" pitchFamily="18" charset="0"/>
              </a:rPr>
              <a:t>Consolidation des données :</a:t>
            </a:r>
            <a:r>
              <a:rPr lang="fr-FR">
                <a:latin typeface="Times New Roman" panose="02020603050405020304" pitchFamily="18" charset="0"/>
                <a:cs typeface="Times New Roman" panose="02020603050405020304" pitchFamily="18" charset="0"/>
              </a:rPr>
              <a:t> Les données sont extraites de diverses sources, telles que les systèmes transactionnels, les bases de données opérationnelles, les fichiers plats, les applications métier, etc.</a:t>
            </a:r>
          </a:p>
          <a:p>
            <a:pPr algn="just">
              <a:buFont typeface="+mj-lt"/>
              <a:buAutoNum type="arabicPeriod"/>
            </a:pPr>
            <a:r>
              <a:rPr lang="fr-FR" b="1">
                <a:latin typeface="Times New Roman" panose="02020603050405020304" pitchFamily="18" charset="0"/>
                <a:cs typeface="Times New Roman" panose="02020603050405020304" pitchFamily="18" charset="0"/>
              </a:rPr>
              <a:t>Transformation des données :</a:t>
            </a:r>
            <a:r>
              <a:rPr lang="fr-FR">
                <a:latin typeface="Times New Roman" panose="02020603050405020304" pitchFamily="18" charset="0"/>
                <a:cs typeface="Times New Roman" panose="02020603050405020304" pitchFamily="18" charset="0"/>
              </a:rPr>
              <a:t> Les données extraites sont nettoyées, transformées et normalisées pour assurer leur cohérence et leur qualité. Cela peut inclure des opérations telles que le nettoyage des données, la suppression des doublons, la normalisation des formats, la conversion des unités, etc.</a:t>
            </a:r>
          </a:p>
          <a:p>
            <a:pPr algn="just">
              <a:buFont typeface="+mj-lt"/>
              <a:buAutoNum type="arabicPeriod"/>
            </a:pPr>
            <a:r>
              <a:rPr lang="fr-FR" b="1">
                <a:latin typeface="Times New Roman" panose="02020603050405020304" pitchFamily="18" charset="0"/>
                <a:cs typeface="Times New Roman" panose="02020603050405020304" pitchFamily="18" charset="0"/>
              </a:rPr>
              <a:t>Intégration des données :</a:t>
            </a:r>
            <a:r>
              <a:rPr lang="fr-FR">
                <a:latin typeface="Times New Roman" panose="02020603050405020304" pitchFamily="18" charset="0"/>
                <a:cs typeface="Times New Roman" panose="02020603050405020304" pitchFamily="18" charset="0"/>
              </a:rPr>
              <a:t> Les données transformées sont intégrées dans un entrepôt de données centralisé, où elles sont organisées de manière cohérente et structurée. Cette intégration permet de regrouper toutes les données pertinentes pour l'analyse et la génération de rapports.</a:t>
            </a:r>
          </a:p>
          <a:p>
            <a:pPr algn="just">
              <a:buFont typeface="+mj-lt"/>
              <a:buAutoNum type="arabicPeriod"/>
            </a:pPr>
            <a:r>
              <a:rPr lang="fr-FR" b="1">
                <a:latin typeface="Times New Roman" panose="02020603050405020304" pitchFamily="18" charset="0"/>
                <a:cs typeface="Times New Roman" panose="02020603050405020304" pitchFamily="18" charset="0"/>
              </a:rPr>
              <a:t>Gestion des métadonnées :</a:t>
            </a:r>
            <a:r>
              <a:rPr lang="fr-FR">
                <a:latin typeface="Times New Roman" panose="02020603050405020304" pitchFamily="18" charset="0"/>
                <a:cs typeface="Times New Roman" panose="02020603050405020304" pitchFamily="18" charset="0"/>
              </a:rPr>
              <a:t> Les métadonnées, qui décrivent les caractéristiques et les relations des données, sont gérées pour faciliter la recherche, la compréhension et l'utilisation des données dans l'entrepôt de données.</a:t>
            </a:r>
          </a:p>
          <a:p>
            <a:pPr algn="just">
              <a:buFont typeface="+mj-lt"/>
              <a:buAutoNum type="arabicPeriod"/>
            </a:pPr>
            <a:r>
              <a:rPr lang="fr-FR" b="1">
                <a:latin typeface="Times New Roman" panose="02020603050405020304" pitchFamily="18" charset="0"/>
                <a:cs typeface="Times New Roman" panose="02020603050405020304" pitchFamily="18" charset="0"/>
              </a:rPr>
              <a:t>Accès aux données :</a:t>
            </a:r>
            <a:r>
              <a:rPr lang="fr-FR">
                <a:latin typeface="Times New Roman" panose="02020603050405020304" pitchFamily="18" charset="0"/>
                <a:cs typeface="Times New Roman" panose="02020603050405020304" pitchFamily="18" charset="0"/>
              </a:rPr>
              <a:t> Une fois les données intégrées dans l'entrepôt de données, les utilisateurs autorisés, tels que les analystes et les décideurs, peuvent accéder aux données de manière sécurisée et utiliser des outils d'analyse pour générer des rapports, des tableaux de bord et des analyses ad hoc.</a:t>
            </a:r>
          </a:p>
        </p:txBody>
      </p:sp>
      <p:sp>
        <p:nvSpPr>
          <p:cNvPr id="5" name="Titre 1">
            <a:extLst>
              <a:ext uri="{FF2B5EF4-FFF2-40B4-BE49-F238E27FC236}">
                <a16:creationId xmlns:a16="http://schemas.microsoft.com/office/drawing/2014/main" xmlns="" id="{DAA2F1CE-BE39-DE48-97B1-F8B2295CDD6E}"/>
              </a:ext>
            </a:extLst>
          </p:cNvPr>
          <p:cNvSpPr>
            <a:spLocks noGrp="1"/>
          </p:cNvSpPr>
          <p:nvPr>
            <p:ph type="title"/>
          </p:nvPr>
        </p:nvSpPr>
        <p:spPr>
          <a:xfrm>
            <a:off x="581192" y="702156"/>
            <a:ext cx="11029616" cy="1013800"/>
          </a:xfrm>
        </p:spPr>
        <p:txBody>
          <a:bodyPr anchor="ctr"/>
          <a:lstStyle/>
          <a:p>
            <a:r>
              <a:rPr lang="fr-FR" b="1" u="sng" dirty="0">
                <a:latin typeface="Times New Roman" pitchFamily="18" charset="0"/>
                <a:cs typeface="Times New Roman" pitchFamily="18" charset="0"/>
              </a:rPr>
              <a:t>Intégration </a:t>
            </a:r>
            <a:r>
              <a:rPr lang="fr-FR" b="1" u="sng" dirty="0" err="1">
                <a:latin typeface="Times New Roman" pitchFamily="18" charset="0"/>
                <a:cs typeface="Times New Roman" pitchFamily="18" charset="0"/>
              </a:rPr>
              <a:t>décisonnelle</a:t>
            </a:r>
            <a:endParaRPr lang="fr-FR" b="1" u="sng" dirty="0">
              <a:latin typeface="Times New Roman" pitchFamily="18" charset="0"/>
              <a:cs typeface="Times New Roman" pitchFamily="18" charset="0"/>
            </a:endParaRPr>
          </a:p>
        </p:txBody>
      </p:sp>
    </p:spTree>
    <p:extLst>
      <p:ext uri="{BB962C8B-B14F-4D97-AF65-F5344CB8AC3E}">
        <p14:creationId xmlns:p14="http://schemas.microsoft.com/office/powerpoint/2010/main" xmlns="" val="41477223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oAutofit/>
          </a:bodyPr>
          <a:lstStyle/>
          <a:p>
            <a:r>
              <a:rPr lang="fr-FR" sz="3600" b="1" u="sng" dirty="0">
                <a:latin typeface="Times New Roman" pitchFamily="18" charset="0"/>
                <a:cs typeface="Times New Roman" pitchFamily="18" charset="0"/>
              </a:rPr>
              <a:t/>
            </a:r>
            <a:br>
              <a:rPr lang="fr-FR" sz="3600" b="1" u="sng" dirty="0">
                <a:latin typeface="Times New Roman" pitchFamily="18" charset="0"/>
                <a:cs typeface="Times New Roman" pitchFamily="18" charset="0"/>
              </a:rPr>
            </a:br>
            <a:r>
              <a:rPr lang="fr-FR" sz="3600" b="1" u="sng" dirty="0">
                <a:latin typeface="Times New Roman" pitchFamily="18" charset="0"/>
                <a:cs typeface="Times New Roman" pitchFamily="18" charset="0"/>
              </a:rPr>
              <a:t>Présentation de Talend Open Studio</a:t>
            </a:r>
            <a:br>
              <a:rPr lang="fr-FR" sz="3600" b="1" u="sng" dirty="0">
                <a:latin typeface="Times New Roman" pitchFamily="18" charset="0"/>
                <a:cs typeface="Times New Roman" pitchFamily="18" charset="0"/>
              </a:rPr>
            </a:b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fontScale="92500"/>
          </a:bodyPr>
          <a:lstStyle/>
          <a:p>
            <a:pPr algn="just"/>
            <a:r>
              <a:rPr lang="fr-FR" sz="2400" dirty="0">
                <a:latin typeface="Times New Roman" pitchFamily="18" charset="0"/>
                <a:cs typeface="Times New Roman" pitchFamily="18" charset="0"/>
              </a:rPr>
              <a:t>Talend Open Studio est un ETL open source, développé par la société française Talend. Il permet de créer graphiquement des processus de manipulation et de transformation de données puis de générer l’exécutable correspondant sous forme de programme Java.</a:t>
            </a:r>
          </a:p>
          <a:p>
            <a:pPr algn="just"/>
            <a:r>
              <a:rPr lang="fr-FR" sz="2400" dirty="0">
                <a:latin typeface="Times New Roman" pitchFamily="18" charset="0"/>
                <a:cs typeface="Times New Roman" pitchFamily="18" charset="0"/>
              </a:rPr>
              <a:t>Talend utilise un modèle graphique à base de glisser/déposer pour créer les processus de manipulation de données. De nombreux types d’étapes sont à effectuer pour se connecter aux principales bases de données ainsi que pour traiter différents types de fichiers (CSV, Excel, XML et autre). </a:t>
            </a:r>
          </a:p>
          <a:p>
            <a:pPr algn="just"/>
            <a:r>
              <a:rPr lang="fr-FR" sz="2400" dirty="0">
                <a:latin typeface="Times New Roman" pitchFamily="18" charset="0"/>
                <a:cs typeface="Times New Roman" pitchFamily="18" charset="0"/>
              </a:rPr>
              <a:t>On notera que Talend facilite la construction des requêtes dans les bases de données en détectant les relations entre tables.</a:t>
            </a:r>
          </a:p>
          <a:p>
            <a:pPr algn="just"/>
            <a:r>
              <a:rPr lang="fr-FR" sz="2400" dirty="0">
                <a:latin typeface="Times New Roman" pitchFamily="18" charset="0"/>
                <a:cs typeface="Times New Roman" pitchFamily="18" charset="0"/>
              </a:rPr>
              <a:t>Il est également possible d’ajouter simplement de nouvelles fonctions et composants afin de réaliser des processus plus complexes (et spécifique)</a:t>
            </a:r>
          </a:p>
          <a:p>
            <a:endParaRPr lang="fr-FR" dirty="0"/>
          </a:p>
        </p:txBody>
      </p:sp>
    </p:spTree>
    <p:extLst>
      <p:ext uri="{BB962C8B-B14F-4D97-AF65-F5344CB8AC3E}">
        <p14:creationId xmlns:p14="http://schemas.microsoft.com/office/powerpoint/2010/main" xmlns="" val="222061132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oAutofit/>
          </a:bodyPr>
          <a:lstStyle/>
          <a:p>
            <a:r>
              <a:rPr lang="fr-FR" sz="3600" b="1" u="sng" dirty="0">
                <a:latin typeface="Times New Roman" pitchFamily="18" charset="0"/>
                <a:cs typeface="Times New Roman" pitchFamily="18" charset="0"/>
              </a:rPr>
              <a:t/>
            </a:r>
            <a:br>
              <a:rPr lang="fr-FR" sz="3600" b="1" u="sng" dirty="0">
                <a:latin typeface="Times New Roman" pitchFamily="18" charset="0"/>
                <a:cs typeface="Times New Roman" pitchFamily="18" charset="0"/>
              </a:rPr>
            </a:br>
            <a:r>
              <a:rPr lang="fr-FR" sz="3600" b="1" u="sng" dirty="0">
                <a:latin typeface="Times New Roman" pitchFamily="18" charset="0"/>
                <a:cs typeface="Times New Roman" pitchFamily="18" charset="0"/>
              </a:rPr>
              <a:t>Présentation de Talend Open Studio</a:t>
            </a:r>
            <a:br>
              <a:rPr lang="fr-FR" sz="3600" b="1" u="sng" dirty="0">
                <a:latin typeface="Times New Roman" pitchFamily="18" charset="0"/>
                <a:cs typeface="Times New Roman" pitchFamily="18" charset="0"/>
              </a:rPr>
            </a:br>
            <a:endParaRPr lang="fr-FR" sz="2000" b="1" u="sng"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xmlns="" id="{D00A9C6F-EC09-424F-B2EC-906650976304}"/>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912386" y="1988840"/>
            <a:ext cx="8367227" cy="4608512"/>
          </a:xfrm>
          <a:prstGeom prst="rect">
            <a:avLst/>
          </a:prstGeom>
        </p:spPr>
      </p:pic>
    </p:spTree>
    <p:extLst>
      <p:ext uri="{BB962C8B-B14F-4D97-AF65-F5344CB8AC3E}">
        <p14:creationId xmlns:p14="http://schemas.microsoft.com/office/powerpoint/2010/main" xmlns="" val="16407858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terminologie</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a:bodyPr>
          <a:lstStyle/>
          <a:p>
            <a:pPr algn="just"/>
            <a:r>
              <a:rPr lang="fr-FR" sz="2400" dirty="0">
                <a:latin typeface="Times New Roman" pitchFamily="18" charset="0"/>
                <a:cs typeface="Times New Roman" pitchFamily="18" charset="0"/>
              </a:rPr>
              <a:t>Job</a:t>
            </a:r>
          </a:p>
          <a:p>
            <a:pPr algn="just"/>
            <a:r>
              <a:rPr lang="fr-FR" sz="2400" dirty="0">
                <a:latin typeface="Times New Roman" pitchFamily="18" charset="0"/>
                <a:cs typeface="Times New Roman" pitchFamily="18" charset="0"/>
              </a:rPr>
              <a:t>Composant</a:t>
            </a:r>
          </a:p>
          <a:p>
            <a:pPr algn="just"/>
            <a:r>
              <a:rPr lang="fr-FR" sz="2400" dirty="0">
                <a:latin typeface="Times New Roman" pitchFamily="18" charset="0"/>
                <a:cs typeface="Times New Roman" pitchFamily="18" charset="0"/>
              </a:rPr>
              <a:t>Connecteur</a:t>
            </a:r>
          </a:p>
          <a:p>
            <a:pPr algn="just"/>
            <a:r>
              <a:rPr lang="fr-FR" sz="2400" dirty="0" err="1">
                <a:latin typeface="Times New Roman" pitchFamily="18" charset="0"/>
                <a:cs typeface="Times New Roman" pitchFamily="18" charset="0"/>
              </a:rPr>
              <a:t>Métadonnés</a:t>
            </a:r>
            <a:endParaRPr lang="fr-FR" dirty="0"/>
          </a:p>
        </p:txBody>
      </p:sp>
    </p:spTree>
    <p:extLst>
      <p:ext uri="{BB962C8B-B14F-4D97-AF65-F5344CB8AC3E}">
        <p14:creationId xmlns:p14="http://schemas.microsoft.com/office/powerpoint/2010/main" xmlns="" val="18069896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terminologie</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a:bodyPr>
          <a:lstStyle/>
          <a:p>
            <a:pPr algn="just"/>
            <a:r>
              <a:rPr lang="fr-FR" sz="2400" dirty="0">
                <a:latin typeface="Times New Roman" pitchFamily="18" charset="0"/>
                <a:cs typeface="Times New Roman" pitchFamily="18" charset="0"/>
              </a:rPr>
              <a:t>Job : Ensemble de tâches, considérées comme une unité.</a:t>
            </a:r>
            <a:endParaRPr lang="fr-FR" sz="2200" dirty="0">
              <a:latin typeface="Times New Roman" pitchFamily="18" charset="0"/>
              <a:cs typeface="Times New Roman" pitchFamily="18" charset="0"/>
            </a:endParaRPr>
          </a:p>
          <a:p>
            <a:pPr lvl="1" algn="just"/>
            <a:r>
              <a:rPr lang="fr-FR" sz="2200" dirty="0">
                <a:latin typeface="Times New Roman" pitchFamily="18" charset="0"/>
                <a:cs typeface="Times New Roman" pitchFamily="18" charset="0"/>
              </a:rPr>
              <a:t>Regroupe de nombreux composants liés entre eux.</a:t>
            </a:r>
          </a:p>
          <a:p>
            <a:pPr lvl="1" algn="just"/>
            <a:r>
              <a:rPr lang="fr-FR" sz="2200" dirty="0">
                <a:latin typeface="Times New Roman" pitchFamily="18" charset="0"/>
                <a:cs typeface="Times New Roman" pitchFamily="18" charset="0"/>
              </a:rPr>
              <a:t>Peut-être exécuté en mode batch, avec de multiple inputs/outputs autorisés au sein d’un même job</a:t>
            </a:r>
          </a:p>
        </p:txBody>
      </p:sp>
    </p:spTree>
    <p:extLst>
      <p:ext uri="{BB962C8B-B14F-4D97-AF65-F5344CB8AC3E}">
        <p14:creationId xmlns:p14="http://schemas.microsoft.com/office/powerpoint/2010/main" xmlns="" val="87372362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terminologie</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a:bodyPr>
          <a:lstStyle/>
          <a:p>
            <a:pPr algn="just"/>
            <a:r>
              <a:rPr lang="fr-FR" sz="2400" dirty="0">
                <a:latin typeface="Times New Roman" pitchFamily="18" charset="0"/>
                <a:cs typeface="Times New Roman" pitchFamily="18" charset="0"/>
              </a:rPr>
              <a:t>Composant : sous-ensemble d’un job offrant une panoplie de fonctions</a:t>
            </a:r>
            <a:endParaRPr lang="fr-FR" sz="2200" dirty="0">
              <a:latin typeface="Times New Roman" pitchFamily="18" charset="0"/>
              <a:cs typeface="Times New Roman" pitchFamily="18" charset="0"/>
            </a:endParaRPr>
          </a:p>
          <a:p>
            <a:pPr lvl="1" algn="just"/>
            <a:r>
              <a:rPr lang="fr-FR" sz="2200" dirty="0">
                <a:latin typeface="Times New Roman" pitchFamily="18" charset="0"/>
                <a:cs typeface="Times New Roman" pitchFamily="18" charset="0"/>
              </a:rPr>
              <a:t>Unité de traitement</a:t>
            </a:r>
          </a:p>
          <a:p>
            <a:pPr lvl="1" algn="just"/>
            <a:r>
              <a:rPr lang="fr-FR" sz="2200" dirty="0">
                <a:latin typeface="Times New Roman" pitchFamily="18" charset="0"/>
                <a:cs typeface="Times New Roman" pitchFamily="18" charset="0"/>
              </a:rPr>
              <a:t>Son objectif est d’éviter la rédaction de lignes de code simples les plus courantes</a:t>
            </a:r>
          </a:p>
          <a:p>
            <a:pPr marL="324000" lvl="1" indent="0" algn="just">
              <a:buNone/>
            </a:pPr>
            <a:r>
              <a:rPr lang="fr-FR" sz="2000" i="1" dirty="0">
                <a:latin typeface="Times New Roman" pitchFamily="18" charset="0"/>
                <a:cs typeface="Times New Roman" pitchFamily="18" charset="0"/>
              </a:rPr>
              <a:t>(mettre en majuscule tout une chaîne de caractère)</a:t>
            </a:r>
          </a:p>
        </p:txBody>
      </p:sp>
    </p:spTree>
    <p:extLst>
      <p:ext uri="{BB962C8B-B14F-4D97-AF65-F5344CB8AC3E}">
        <p14:creationId xmlns:p14="http://schemas.microsoft.com/office/powerpoint/2010/main" xmlns="" val="113685656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terminologie</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a:bodyPr>
          <a:lstStyle/>
          <a:p>
            <a:pPr algn="just"/>
            <a:r>
              <a:rPr lang="fr-FR" sz="2400" dirty="0">
                <a:latin typeface="Times New Roman" pitchFamily="18" charset="0"/>
                <a:cs typeface="Times New Roman" pitchFamily="18" charset="0"/>
              </a:rPr>
              <a:t>Connecteurs : il existe plus de 450 connecteurs pour se connecter aux principaux SGBD.</a:t>
            </a:r>
            <a:endParaRPr lang="fr-FR" sz="2200" dirty="0">
              <a:latin typeface="Times New Roman" pitchFamily="18" charset="0"/>
              <a:cs typeface="Times New Roman" pitchFamily="18" charset="0"/>
            </a:endParaRPr>
          </a:p>
          <a:p>
            <a:pPr lvl="1" algn="just"/>
            <a:r>
              <a:rPr lang="fr-FR" sz="2200" dirty="0">
                <a:latin typeface="Times New Roman" pitchFamily="18" charset="0"/>
                <a:cs typeface="Times New Roman" pitchFamily="18" charset="0"/>
              </a:rPr>
              <a:t>Oracle, PostgreSQL, </a:t>
            </a:r>
            <a:r>
              <a:rPr lang="fr-FR" sz="2200" dirty="0" err="1">
                <a:latin typeface="Times New Roman" pitchFamily="18" charset="0"/>
                <a:cs typeface="Times New Roman" pitchFamily="18" charset="0"/>
              </a:rPr>
              <a:t>MySql</a:t>
            </a:r>
            <a:r>
              <a:rPr lang="fr-FR" sz="2200" dirty="0">
                <a:latin typeface="Times New Roman" pitchFamily="18" charset="0"/>
                <a:cs typeface="Times New Roman" pitchFamily="18" charset="0"/>
              </a:rPr>
              <a:t> …</a:t>
            </a:r>
          </a:p>
          <a:p>
            <a:pPr lvl="1" algn="just"/>
            <a:r>
              <a:rPr lang="fr-FR" sz="2200" dirty="0">
                <a:latin typeface="Times New Roman" pitchFamily="18" charset="0"/>
                <a:cs typeface="Times New Roman" pitchFamily="18" charset="0"/>
              </a:rPr>
              <a:t>Traitement de tout les types de fichiers plats (CSV, Excel, XML).</a:t>
            </a:r>
          </a:p>
          <a:p>
            <a:pPr marL="324000" lvl="1" indent="0" algn="just">
              <a:buNone/>
            </a:pPr>
            <a:r>
              <a:rPr lang="fr-FR" sz="2000" i="1" dirty="0">
                <a:latin typeface="Times New Roman" pitchFamily="18" charset="0"/>
                <a:cs typeface="Times New Roman" pitchFamily="18" charset="0"/>
              </a:rPr>
              <a:t>Aussi bien en lecture qu’en écriture.</a:t>
            </a:r>
          </a:p>
        </p:txBody>
      </p:sp>
    </p:spTree>
    <p:extLst>
      <p:ext uri="{BB962C8B-B14F-4D97-AF65-F5344CB8AC3E}">
        <p14:creationId xmlns:p14="http://schemas.microsoft.com/office/powerpoint/2010/main" xmlns="" val="150271736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terminologie</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0729192" cy="4525963"/>
          </a:xfrm>
        </p:spPr>
        <p:txBody>
          <a:bodyPr>
            <a:normAutofit/>
          </a:bodyPr>
          <a:lstStyle/>
          <a:p>
            <a:pPr algn="just"/>
            <a:r>
              <a:rPr lang="fr-FR" sz="2400" dirty="0">
                <a:latin typeface="Times New Roman" pitchFamily="18" charset="0"/>
                <a:cs typeface="Times New Roman" pitchFamily="18" charset="0"/>
              </a:rPr>
              <a:t>Métadonnées : données qui définissent les données traitées</a:t>
            </a:r>
            <a:endParaRPr lang="fr-FR" sz="2200" dirty="0">
              <a:latin typeface="Times New Roman" pitchFamily="18" charset="0"/>
              <a:cs typeface="Times New Roman" pitchFamily="18" charset="0"/>
            </a:endParaRPr>
          </a:p>
          <a:p>
            <a:pPr lvl="1" algn="just"/>
            <a:r>
              <a:rPr lang="fr-FR" sz="2200" dirty="0">
                <a:latin typeface="Times New Roman" pitchFamily="18" charset="0"/>
                <a:cs typeface="Times New Roman" pitchFamily="18" charset="0"/>
              </a:rPr>
              <a:t>Un référentiel permet de les stocker afin de pouvoir les exploiter dans différents jobs.</a:t>
            </a:r>
          </a:p>
          <a:p>
            <a:pPr lvl="1" algn="just"/>
            <a:r>
              <a:rPr lang="fr-FR" sz="2200" dirty="0">
                <a:latin typeface="Times New Roman" pitchFamily="18" charset="0"/>
                <a:cs typeface="Times New Roman" pitchFamily="18" charset="0"/>
              </a:rPr>
              <a:t>Obtenir une application plus robuste, plus facile à maintenir, plus rapide.</a:t>
            </a:r>
          </a:p>
          <a:p>
            <a:pPr marL="324000" lvl="1" indent="0" algn="just">
              <a:buNone/>
            </a:pPr>
            <a:r>
              <a:rPr lang="fr-FR" sz="2000" i="1" dirty="0">
                <a:latin typeface="Times New Roman" pitchFamily="18" charset="0"/>
                <a:cs typeface="Times New Roman" pitchFamily="18" charset="0"/>
              </a:rPr>
              <a:t>(Sauvegarde du type et format des données d’entrée d’un fichier CSV, afin de les exploiter ultérieurement.)</a:t>
            </a:r>
          </a:p>
        </p:txBody>
      </p:sp>
    </p:spTree>
    <p:extLst>
      <p:ext uri="{BB962C8B-B14F-4D97-AF65-F5344CB8AC3E}">
        <p14:creationId xmlns:p14="http://schemas.microsoft.com/office/powerpoint/2010/main" xmlns="" val="383465398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4680520" cy="4525963"/>
          </a:xfrm>
        </p:spPr>
        <p:txBody>
          <a:bodyPr>
            <a:normAutofit/>
          </a:bodyPr>
          <a:lstStyle/>
          <a:p>
            <a:pPr algn="just"/>
            <a:r>
              <a:rPr lang="en-US" sz="2000" b="1" dirty="0">
                <a:latin typeface="Times New Roman" panose="02020603050405020304" pitchFamily="18" charset="0"/>
                <a:cs typeface="Times New Roman" panose="02020603050405020304" pitchFamily="18" charset="0"/>
              </a:rPr>
              <a:t>Le </a:t>
            </a:r>
            <a:r>
              <a:rPr lang="en-US" sz="2000" b="1" dirty="0" err="1">
                <a:latin typeface="Times New Roman" panose="02020603050405020304" pitchFamily="18" charset="0"/>
                <a:cs typeface="Times New Roman" panose="02020603050405020304" pitchFamily="18" charset="0"/>
              </a:rPr>
              <a:t>Référentiel</a:t>
            </a:r>
            <a:r>
              <a:rPr lang="en-US" sz="2000" b="1" dirty="0">
                <a:latin typeface="Times New Roman" panose="02020603050405020304" pitchFamily="18" charset="0"/>
                <a:cs typeface="Times New Roman" panose="02020603050405020304" pitchFamily="18" charset="0"/>
              </a:rPr>
              <a:t> de </a:t>
            </a:r>
            <a:r>
              <a:rPr lang="en-US" sz="2000" b="1" dirty="0" err="1">
                <a:latin typeface="Times New Roman" panose="02020603050405020304" pitchFamily="18" charset="0"/>
                <a:cs typeface="Times New Roman" panose="02020603050405020304" pitchFamily="18" charset="0"/>
              </a:rPr>
              <a:t>projet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indique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tous</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éléments</a:t>
            </a:r>
            <a:r>
              <a:rPr lang="en-US" sz="2000" dirty="0">
                <a:latin typeface="Times New Roman" panose="02020603050405020304" pitchFamily="18" charset="0"/>
                <a:cs typeface="Times New Roman" panose="02020603050405020304" pitchFamily="18" charset="0"/>
              </a:rPr>
              <a:t> du </a:t>
            </a:r>
            <a:r>
              <a:rPr lang="en-US" sz="2000" dirty="0" err="1">
                <a:latin typeface="Times New Roman" panose="02020603050405020304" pitchFamily="18" charset="0"/>
                <a:cs typeface="Times New Roman" panose="02020603050405020304" pitchFamily="18" charset="0"/>
              </a:rPr>
              <a:t>projet</a:t>
            </a:r>
            <a:r>
              <a:rPr lang="en-US" sz="2000" dirty="0">
                <a:latin typeface="Times New Roman" panose="02020603050405020304" pitchFamily="18" charset="0"/>
                <a:cs typeface="Times New Roman" panose="02020603050405020304" pitchFamily="18" charset="0"/>
              </a:rPr>
              <a:t> : les Jobs, qui </a:t>
            </a:r>
            <a:r>
              <a:rPr lang="en-US" sz="2000" dirty="0" err="1">
                <a:latin typeface="Times New Roman" panose="02020603050405020304" pitchFamily="18" charset="0"/>
                <a:cs typeface="Times New Roman" panose="02020603050405020304" pitchFamily="18" charset="0"/>
              </a:rPr>
              <a:t>sont</a:t>
            </a:r>
            <a:r>
              <a:rPr lang="en-US" sz="2000" dirty="0">
                <a:latin typeface="Times New Roman" panose="02020603050405020304" pitchFamily="18" charset="0"/>
                <a:cs typeface="Times New Roman" panose="02020603050405020304" pitchFamily="18" charset="0"/>
              </a:rPr>
              <a:t> des </a:t>
            </a:r>
            <a:r>
              <a:rPr lang="en-US" sz="2000" dirty="0" err="1">
                <a:latin typeface="Times New Roman" panose="02020603050405020304" pitchFamily="18" charset="0"/>
                <a:cs typeface="Times New Roman" panose="02020603050405020304" pitchFamily="18" charset="0"/>
              </a:rPr>
              <a:t>programmes</a:t>
            </a:r>
            <a:r>
              <a:rPr lang="en-US" sz="2000" dirty="0">
                <a:latin typeface="Times New Roman" panose="02020603050405020304" pitchFamily="18" charset="0"/>
                <a:cs typeface="Times New Roman" panose="02020603050405020304" pitchFamily="18" charset="0"/>
              </a:rPr>
              <a:t> Java ETL </a:t>
            </a:r>
            <a:r>
              <a:rPr lang="en-US" sz="2000" dirty="0" err="1">
                <a:latin typeface="Times New Roman" panose="02020603050405020304" pitchFamily="18" charset="0"/>
                <a:cs typeface="Times New Roman" panose="02020603050405020304" pitchFamily="18" charset="0"/>
              </a:rPr>
              <a:t>exécutables</a:t>
            </a:r>
            <a:r>
              <a:rPr lang="en-US" sz="2000" dirty="0">
                <a:latin typeface="Times New Roman" panose="02020603050405020304" pitchFamily="18" charset="0"/>
                <a:cs typeface="Times New Roman" panose="02020603050405020304" pitchFamily="18" charset="0"/>
              </a:rPr>
              <a:t>, codes, </a:t>
            </a:r>
            <a:r>
              <a:rPr lang="en-US" sz="2000" dirty="0" err="1">
                <a:latin typeface="Times New Roman" panose="02020603050405020304" pitchFamily="18" charset="0"/>
                <a:cs typeface="Times New Roman" panose="02020603050405020304" pitchFamily="18" charset="0"/>
              </a:rPr>
              <a:t>modèles</a:t>
            </a:r>
            <a:r>
              <a:rPr lang="en-US" sz="2000" dirty="0">
                <a:latin typeface="Times New Roman" panose="02020603050405020304" pitchFamily="18" charset="0"/>
                <a:cs typeface="Times New Roman" panose="02020603050405020304" pitchFamily="18" charset="0"/>
              </a:rPr>
              <a:t> SQL, </a:t>
            </a:r>
            <a:r>
              <a:rPr lang="en-US" sz="2000" dirty="0" err="1">
                <a:latin typeface="Times New Roman" panose="02020603050405020304" pitchFamily="18" charset="0"/>
                <a:cs typeface="Times New Roman" panose="02020603050405020304" pitchFamily="18" charset="0"/>
              </a:rPr>
              <a:t>métadonnées</a:t>
            </a:r>
            <a:r>
              <a:rPr lang="en-US" sz="2000" dirty="0">
                <a:latin typeface="Times New Roman" panose="02020603050405020304" pitchFamily="18" charset="0"/>
                <a:cs typeface="Times New Roman" panose="02020603050405020304" pitchFamily="18" charset="0"/>
              </a:rPr>
              <a:t> et documentation du </a:t>
            </a:r>
            <a:r>
              <a:rPr lang="en-US" sz="2000" dirty="0" err="1">
                <a:latin typeface="Times New Roman" panose="02020603050405020304" pitchFamily="18" charset="0"/>
                <a:cs typeface="Times New Roman" panose="02020603050405020304" pitchFamily="18" charset="0"/>
              </a:rPr>
              <a:t>projet</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Le Job « </a:t>
            </a:r>
            <a:r>
              <a:rPr lang="en-US" sz="2000" b="1" dirty="0" err="1">
                <a:latin typeface="Times New Roman" panose="02020603050405020304" pitchFamily="18" charset="0"/>
                <a:cs typeface="Times New Roman" panose="02020603050405020304" pitchFamily="18" charset="0"/>
              </a:rPr>
              <a:t>OnBoardingDemoJob</a:t>
            </a:r>
            <a:r>
              <a:rPr lang="en-US" sz="2000" b="1" dirty="0">
                <a:latin typeface="Times New Roman" panose="02020603050405020304" pitchFamily="18" charset="0"/>
                <a:cs typeface="Times New Roman" panose="02020603050405020304" pitchFamily="18" charset="0"/>
              </a:rPr>
              <a:t> 0.1</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un Job qui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proposé</a:t>
            </a:r>
            <a:r>
              <a:rPr lang="en-US" sz="2000" dirty="0">
                <a:latin typeface="Times New Roman" panose="02020603050405020304" pitchFamily="18" charset="0"/>
                <a:cs typeface="Times New Roman" panose="02020603050405020304" pitchFamily="18" charset="0"/>
              </a:rPr>
              <a:t> par </a:t>
            </a:r>
            <a:r>
              <a:rPr lang="en-US" sz="2000" dirty="0" err="1">
                <a:latin typeface="Times New Roman" panose="02020603050405020304" pitchFamily="18" charset="0"/>
                <a:cs typeface="Times New Roman" panose="02020603050405020304" pitchFamily="18" charset="0"/>
              </a:rPr>
              <a:t>défaut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lors</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l’ouverture</a:t>
            </a:r>
            <a:r>
              <a:rPr lang="en-US" sz="2000" dirty="0">
                <a:latin typeface="Times New Roman" panose="02020603050405020304" pitchFamily="18" charset="0"/>
                <a:cs typeface="Times New Roman" panose="02020603050405020304" pitchFamily="18" charset="0"/>
              </a:rPr>
              <a:t> de Talend Studio. Si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double </a:t>
            </a:r>
            <a:r>
              <a:rPr lang="en-US" sz="2000" dirty="0" err="1">
                <a:latin typeface="Times New Roman" panose="02020603050405020304" pitchFamily="18" charset="0"/>
                <a:cs typeface="Times New Roman" panose="02020603050405020304" pitchFamily="18" charset="0"/>
              </a:rPr>
              <a:t>cliquez</a:t>
            </a:r>
            <a:r>
              <a:rPr lang="en-US" sz="2000" dirty="0">
                <a:latin typeface="Times New Roman" panose="02020603050405020304" pitchFamily="18" charset="0"/>
                <a:cs typeface="Times New Roman" panose="02020603050405020304" pitchFamily="18" charset="0"/>
              </a:rPr>
              <a:t> sur </a:t>
            </a:r>
            <a:r>
              <a:rPr lang="en-US" sz="2000" dirty="0" err="1">
                <a:latin typeface="Times New Roman" panose="02020603050405020304" pitchFamily="18" charset="0"/>
                <a:cs typeface="Times New Roman" panose="02020603050405020304" pitchFamily="18" charset="0"/>
              </a:rPr>
              <a:t>ce</a:t>
            </a:r>
            <a:r>
              <a:rPr lang="en-US" sz="2000" dirty="0">
                <a:latin typeface="Times New Roman" panose="02020603050405020304" pitchFamily="18" charset="0"/>
                <a:cs typeface="Times New Roman" panose="02020603050405020304" pitchFamily="18" charset="0"/>
              </a:rPr>
              <a:t> Job il </a:t>
            </a:r>
            <a:r>
              <a:rPr lang="en-US" sz="2000" dirty="0" err="1">
                <a:latin typeface="Times New Roman" panose="02020603050405020304" pitchFamily="18" charset="0"/>
                <a:cs typeface="Times New Roman" panose="02020603050405020304" pitchFamily="18" charset="0"/>
              </a:rPr>
              <a:t>va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s’ouvrir</a:t>
            </a:r>
            <a:r>
              <a:rPr lang="en-US" sz="2000" dirty="0">
                <a:latin typeface="Times New Roman" panose="02020603050405020304" pitchFamily="18" charset="0"/>
                <a:cs typeface="Times New Roman" panose="02020603050405020304" pitchFamily="18" charset="0"/>
              </a:rPr>
              <a:t> dans </a:t>
            </a:r>
            <a:r>
              <a:rPr lang="en-US" sz="2000" dirty="0" err="1">
                <a:latin typeface="Times New Roman" panose="02020603050405020304" pitchFamily="18" charset="0"/>
                <a:cs typeface="Times New Roman" panose="02020603050405020304" pitchFamily="18" charset="0"/>
              </a:rPr>
              <a:t>l’espace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modélisation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graphique</a:t>
            </a:r>
            <a:r>
              <a:rPr lang="en-US" sz="2000" dirty="0">
                <a:latin typeface="Times New Roman" panose="02020603050405020304" pitchFamily="18" charset="0"/>
                <a:cs typeface="Times New Roman" panose="02020603050405020304" pitchFamily="18" charset="0"/>
              </a:rPr>
              <a:t> visible.</a:t>
            </a:r>
          </a:p>
        </p:txBody>
      </p:sp>
      <p:pic>
        <p:nvPicPr>
          <p:cNvPr id="5" name="Picture 4">
            <a:extLst>
              <a:ext uri="{FF2B5EF4-FFF2-40B4-BE49-F238E27FC236}">
                <a16:creationId xmlns:a16="http://schemas.microsoft.com/office/drawing/2014/main" xmlns="" id="{2C54FDAA-103B-CC4C-95D2-0A862DEEA56D}"/>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57394" y="1945946"/>
            <a:ext cx="3168352" cy="4646916"/>
          </a:xfrm>
          <a:prstGeom prst="rect">
            <a:avLst/>
          </a:prstGeom>
        </p:spPr>
      </p:pic>
    </p:spTree>
    <p:extLst>
      <p:ext uri="{BB962C8B-B14F-4D97-AF65-F5344CB8AC3E}">
        <p14:creationId xmlns:p14="http://schemas.microsoft.com/office/powerpoint/2010/main" xmlns="" val="329530034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1161240" cy="1659633"/>
          </a:xfrm>
        </p:spPr>
        <p:txBody>
          <a:bodyPr>
            <a:normAutofit/>
          </a:bodyPr>
          <a:lstStyle/>
          <a:p>
            <a:pPr algn="just"/>
            <a:r>
              <a:rPr lang="en-US" sz="2000" b="1" dirty="0" err="1">
                <a:latin typeface="Times New Roman" panose="02020603050405020304" pitchFamily="18" charset="0"/>
                <a:cs typeface="Times New Roman" panose="02020603050405020304" pitchFamily="18" charset="0"/>
              </a:rPr>
              <a:t>L’espace</a:t>
            </a:r>
            <a:r>
              <a:rPr lang="en-US" sz="2000" b="1" dirty="0">
                <a:latin typeface="Times New Roman" panose="02020603050405020304" pitchFamily="18" charset="0"/>
                <a:cs typeface="Times New Roman" panose="02020603050405020304" pitchFamily="18" charset="0"/>
              </a:rPr>
              <a:t> de </a:t>
            </a:r>
            <a:r>
              <a:rPr lang="en-US" sz="2000" b="1" dirty="0" err="1">
                <a:latin typeface="Times New Roman" panose="02020603050405020304" pitchFamily="18" charset="0"/>
                <a:cs typeface="Times New Roman" panose="02020603050405020304" pitchFamily="18" charset="0"/>
              </a:rPr>
              <a:t>modélisation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graphique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permet</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développer</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composants</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votre</a:t>
            </a:r>
            <a:r>
              <a:rPr lang="en-US" sz="2000" dirty="0">
                <a:latin typeface="Times New Roman" panose="02020603050405020304" pitchFamily="18" charset="0"/>
                <a:cs typeface="Times New Roman" panose="02020603050405020304" pitchFamily="18" charset="0"/>
              </a:rPr>
              <a:t> Job ETL et de les </a:t>
            </a:r>
            <a:r>
              <a:rPr lang="en-US" sz="2000" dirty="0" err="1">
                <a:latin typeface="Times New Roman" panose="02020603050405020304" pitchFamily="18" charset="0"/>
                <a:cs typeface="Times New Roman" panose="02020603050405020304" pitchFamily="18" charset="0"/>
              </a:rPr>
              <a:t>relier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selon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séquence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d’exécution</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Le </a:t>
            </a:r>
            <a:r>
              <a:rPr lang="en-US" sz="2000"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tRowGenerator_1</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génère</a:t>
            </a:r>
            <a:r>
              <a:rPr lang="en-US" sz="2000" dirty="0">
                <a:latin typeface="Times New Roman" panose="02020603050405020304" pitchFamily="18" charset="0"/>
                <a:cs typeface="Times New Roman" panose="02020603050405020304" pitchFamily="18" charset="0"/>
              </a:rPr>
              <a:t> 100 </a:t>
            </a:r>
            <a:r>
              <a:rPr lang="en-US" sz="2000" dirty="0" err="1">
                <a:latin typeface="Times New Roman" panose="02020603050405020304" pitchFamily="18" charset="0"/>
                <a:cs typeface="Times New Roman" panose="02020603050405020304" pitchFamily="18" charset="0"/>
              </a:rPr>
              <a:t>lignes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chacune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constituée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colonne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contenant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chaîne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caractère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aléatoire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puis</a:t>
            </a:r>
            <a:r>
              <a:rPr lang="en-US" sz="2000" dirty="0">
                <a:latin typeface="Times New Roman" panose="02020603050405020304" pitchFamily="18" charset="0"/>
                <a:cs typeface="Times New Roman" panose="02020603050405020304" pitchFamily="18" charset="0"/>
              </a:rPr>
              <a:t> envoi </a:t>
            </a:r>
            <a:r>
              <a:rPr lang="en-US" sz="2000" dirty="0" err="1">
                <a:latin typeface="Times New Roman" panose="02020603050405020304" pitchFamily="18" charset="0"/>
                <a:cs typeface="Times New Roman" panose="02020603050405020304" pitchFamily="18" charset="0"/>
              </a:rPr>
              <a:t>ces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lignes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vers</a:t>
            </a:r>
            <a:r>
              <a:rPr lang="en-US" sz="2000" dirty="0">
                <a:latin typeface="Times New Roman" panose="02020603050405020304" pitchFamily="18" charset="0"/>
                <a:cs typeface="Times New Roman" panose="02020603050405020304" pitchFamily="18" charset="0"/>
              </a:rPr>
              <a:t> le </a:t>
            </a:r>
            <a:r>
              <a:rPr lang="en-US" sz="2000"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tLogRow_1</a:t>
            </a:r>
            <a:r>
              <a:rPr lang="en-US" sz="20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xmlns="" id="{6D2F54B1-A8CE-BC48-9763-F61314736425}"/>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806104" y="3734916"/>
            <a:ext cx="8651800" cy="2906464"/>
          </a:xfrm>
          <a:prstGeom prst="rect">
            <a:avLst/>
          </a:prstGeom>
        </p:spPr>
      </p:pic>
    </p:spTree>
    <p:extLst>
      <p:ext uri="{BB962C8B-B14F-4D97-AF65-F5344CB8AC3E}">
        <p14:creationId xmlns:p14="http://schemas.microsoft.com/office/powerpoint/2010/main" xmlns="" val="419542829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1844824"/>
            <a:ext cx="11161240" cy="1371601"/>
          </a:xfrm>
        </p:spPr>
        <p:txBody>
          <a:bodyPr>
            <a:normAutofit/>
          </a:bodyPr>
          <a:lstStyle/>
          <a:p>
            <a:pPr algn="just"/>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pouvez</a:t>
            </a:r>
            <a:r>
              <a:rPr lang="en-US" sz="2000" dirty="0">
                <a:latin typeface="Times New Roman" panose="02020603050405020304" pitchFamily="18" charset="0"/>
                <a:cs typeface="Times New Roman" panose="02020603050405020304" pitchFamily="18" charset="0"/>
              </a:rPr>
              <a:t> double – </a:t>
            </a:r>
            <a:r>
              <a:rPr lang="en-US" sz="2000" dirty="0" err="1">
                <a:latin typeface="Times New Roman" panose="02020603050405020304" pitchFamily="18" charset="0"/>
                <a:cs typeface="Times New Roman" panose="02020603050405020304" pitchFamily="18" charset="0"/>
              </a:rPr>
              <a:t>cliquer</a:t>
            </a:r>
            <a:r>
              <a:rPr lang="en-US" sz="2000" dirty="0">
                <a:latin typeface="Times New Roman" panose="02020603050405020304" pitchFamily="18" charset="0"/>
                <a:cs typeface="Times New Roman" panose="02020603050405020304" pitchFamily="18" charset="0"/>
              </a:rPr>
              <a:t> sur </a:t>
            </a:r>
            <a:r>
              <a:rPr lang="en-US" sz="2000" dirty="0" err="1">
                <a:latin typeface="Times New Roman" panose="02020603050405020304" pitchFamily="18" charset="0"/>
                <a:cs typeface="Times New Roman" panose="02020603050405020304" pitchFamily="18" charset="0"/>
              </a:rPr>
              <a:t>ce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pour </a:t>
            </a:r>
            <a:r>
              <a:rPr lang="en-US" sz="2000" dirty="0" err="1">
                <a:latin typeface="Times New Roman" panose="02020603050405020304" pitchFamily="18" charset="0"/>
                <a:cs typeface="Times New Roman" panose="02020603050405020304" pitchFamily="18" charset="0"/>
              </a:rPr>
              <a:t>afficher</a:t>
            </a:r>
            <a:r>
              <a:rPr lang="en-US" sz="2000" dirty="0">
                <a:latin typeface="Times New Roman" panose="02020603050405020304" pitchFamily="18" charset="0"/>
                <a:cs typeface="Times New Roman" panose="02020603050405020304" pitchFamily="18" charset="0"/>
              </a:rPr>
              <a:t> son </a:t>
            </a:r>
            <a:r>
              <a:rPr lang="en-US" sz="2000" dirty="0" err="1">
                <a:latin typeface="Times New Roman" panose="02020603050405020304" pitchFamily="18" charset="0"/>
                <a:cs typeface="Times New Roman" panose="02020603050405020304" pitchFamily="18" charset="0"/>
              </a:rPr>
              <a:t>paramétrage</a:t>
            </a:r>
            <a:r>
              <a:rPr lang="en-US" sz="2000" dirty="0">
                <a:latin typeface="Times New Roman" panose="02020603050405020304" pitchFamily="18" charset="0"/>
                <a:cs typeface="Times New Roman" panose="02020603050405020304" pitchFamily="18" charset="0"/>
              </a:rPr>
              <a:t> et le modifier. Le nom de la </a:t>
            </a:r>
            <a:r>
              <a:rPr lang="en-US" sz="2000" dirty="0" err="1">
                <a:latin typeface="Times New Roman" panose="02020603050405020304" pitchFamily="18" charset="0"/>
                <a:cs typeface="Times New Roman" panose="02020603050405020304" pitchFamily="18" charset="0"/>
              </a:rPr>
              <a:t>colonne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générée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newColumn</a:t>
            </a:r>
            <a:r>
              <a:rPr lang="en-US" sz="2000" dirty="0">
                <a:latin typeface="Times New Roman" panose="02020603050405020304" pitchFamily="18" charset="0"/>
                <a:cs typeface="Times New Roman" panose="02020603050405020304" pitchFamily="18" charset="0"/>
              </a:rPr>
              <a:t>« , son type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chaîne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caractères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String</a:t>
            </a:r>
            <a:r>
              <a:rPr lang="en-US" sz="2000" dirty="0">
                <a:latin typeface="Times New Roman" panose="02020603050405020304" pitchFamily="18" charset="0"/>
                <a:cs typeface="Times New Roman" panose="02020603050405020304" pitchFamily="18" charset="0"/>
              </a:rPr>
              <a:t>) et la </a:t>
            </a:r>
            <a:r>
              <a:rPr lang="en-US" sz="2000" dirty="0" err="1">
                <a:latin typeface="Times New Roman" panose="02020603050405020304" pitchFamily="18" charset="0"/>
                <a:cs typeface="Times New Roman" panose="02020603050405020304" pitchFamily="18" charset="0"/>
              </a:rPr>
              <a:t>fonction</a:t>
            </a:r>
            <a:r>
              <a:rPr lang="en-US" sz="2000"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getAsciiRandomString</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 de la </a:t>
            </a:r>
            <a:r>
              <a:rPr lang="en-US" sz="2000" dirty="0" err="1">
                <a:latin typeface="Times New Roman" panose="02020603050405020304" pitchFamily="18" charset="0"/>
                <a:cs typeface="Times New Roman" panose="02020603050405020304" pitchFamily="18" charset="0"/>
              </a:rPr>
              <a:t>classe</a:t>
            </a:r>
            <a:r>
              <a:rPr lang="en-US" sz="2000"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TalendString</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permet</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générer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chaîne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caractère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d’une</a:t>
            </a:r>
            <a:r>
              <a:rPr lang="en-US" sz="2000" dirty="0">
                <a:latin typeface="Times New Roman" panose="02020603050405020304" pitchFamily="18" charset="0"/>
                <a:cs typeface="Times New Roman" panose="02020603050405020304" pitchFamily="18" charset="0"/>
              </a:rPr>
              <a:t> longueur </a:t>
            </a:r>
            <a:r>
              <a:rPr lang="en-US" sz="2000" dirty="0" err="1">
                <a:latin typeface="Times New Roman" panose="02020603050405020304" pitchFamily="18" charset="0"/>
                <a:cs typeface="Times New Roman" panose="02020603050405020304" pitchFamily="18" charset="0"/>
              </a:rPr>
              <a:t>spécifiée</a:t>
            </a:r>
            <a:r>
              <a:rPr lang="en-US" sz="2000" dirty="0">
                <a:latin typeface="Times New Roman" panose="02020603050405020304" pitchFamily="18" charset="0"/>
                <a:cs typeface="Times New Roman" panose="02020603050405020304" pitchFamily="18" charset="0"/>
              </a:rPr>
              <a:t> dans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variable </a:t>
            </a:r>
            <a:r>
              <a:rPr lang="en-US" sz="2000" dirty="0" err="1">
                <a:latin typeface="Times New Roman" panose="02020603050405020304" pitchFamily="18" charset="0"/>
                <a:cs typeface="Times New Roman" panose="02020603050405020304" pitchFamily="18" charset="0"/>
              </a:rPr>
              <a:t>d’environnement</a:t>
            </a:r>
            <a:r>
              <a:rPr lang="en-US" sz="2000"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xmlns="" id="{2DB3FB79-F585-B940-AB81-2B7B11089219}"/>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711084" y="3216425"/>
            <a:ext cx="8769831" cy="3689424"/>
          </a:xfrm>
          <a:prstGeom prst="rect">
            <a:avLst/>
          </a:prstGeom>
        </p:spPr>
      </p:pic>
    </p:spTree>
    <p:extLst>
      <p:ext uri="{BB962C8B-B14F-4D97-AF65-F5344CB8AC3E}">
        <p14:creationId xmlns:p14="http://schemas.microsoft.com/office/powerpoint/2010/main" xmlns="" val="122255848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551384" y="2057399"/>
            <a:ext cx="11161240" cy="1659633"/>
          </a:xfrm>
        </p:spPr>
        <p:txBody>
          <a:bodyPr>
            <a:normAutofit/>
          </a:bodyPr>
          <a:lstStyle/>
          <a:p>
            <a:r>
              <a:rPr lang="en-US" sz="2000" b="1" dirty="0">
                <a:latin typeface="Times New Roman" panose="02020603050405020304" pitchFamily="18" charset="0"/>
                <a:cs typeface="Times New Roman" panose="02020603050405020304" pitchFamily="18" charset="0"/>
              </a:rPr>
              <a:t>Les onglets de configuration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permettent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d’obtenir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vue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affichant</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propriétés</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l’élément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sélectionné</a:t>
            </a:r>
            <a:r>
              <a:rPr lang="en-US" sz="2000" dirty="0">
                <a:latin typeface="Times New Roman" panose="02020603050405020304" pitchFamily="18" charset="0"/>
                <a:cs typeface="Times New Roman" panose="02020603050405020304" pitchFamily="18" charset="0"/>
              </a:rPr>
              <a:t> dans </a:t>
            </a:r>
            <a:r>
              <a:rPr lang="en-US" sz="2000" dirty="0" err="1">
                <a:latin typeface="Times New Roman" panose="02020603050405020304" pitchFamily="18" charset="0"/>
                <a:cs typeface="Times New Roman" panose="02020603050405020304" pitchFamily="18" charset="0"/>
              </a:rPr>
              <a:t>l’espace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modélisation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graphique</a:t>
            </a:r>
            <a:r>
              <a:rPr lang="en-US" sz="2000" dirty="0">
                <a:latin typeface="Times New Roman" panose="02020603050405020304" pitchFamily="18" charset="0"/>
                <a:cs typeface="Times New Roman" panose="02020603050405020304" pitchFamily="18" charset="0"/>
              </a:rPr>
              <a:t> et </a:t>
            </a:r>
            <a:r>
              <a:rPr lang="en-US" sz="2000" dirty="0" err="1">
                <a:latin typeface="Times New Roman" panose="02020603050405020304" pitchFamily="18" charset="0"/>
                <a:cs typeface="Times New Roman" panose="02020603050405020304" pitchFamily="18" charset="0"/>
              </a:rPr>
              <a:t>permettant</a:t>
            </a:r>
            <a:r>
              <a:rPr lang="en-US" sz="2000" dirty="0">
                <a:latin typeface="Times New Roman" panose="02020603050405020304" pitchFamily="18" charset="0"/>
                <a:cs typeface="Times New Roman" panose="02020603050405020304" pitchFamily="18" charset="0"/>
              </a:rPr>
              <a:t> de les modifier. ci – dessous </a:t>
            </a:r>
            <a:r>
              <a:rPr lang="en-US" sz="2000" dirty="0" err="1">
                <a:latin typeface="Times New Roman" panose="02020603050405020304" pitchFamily="18" charset="0"/>
                <a:cs typeface="Times New Roman" panose="02020603050405020304" pitchFamily="18" charset="0"/>
              </a:rPr>
              <a:t>l’onglet</a:t>
            </a:r>
            <a:r>
              <a:rPr lang="en-US" sz="2000" dirty="0">
                <a:latin typeface="Times New Roman" panose="02020603050405020304" pitchFamily="18" charset="0"/>
                <a:cs typeface="Times New Roman" panose="02020603050405020304" pitchFamily="18" charset="0"/>
              </a:rPr>
              <a:t> des </a:t>
            </a:r>
            <a:r>
              <a:rPr lang="en-US" sz="2000" dirty="0" err="1">
                <a:latin typeface="Times New Roman" panose="02020603050405020304" pitchFamily="18" charset="0"/>
                <a:cs typeface="Times New Roman" panose="02020603050405020304" pitchFamily="18" charset="0"/>
              </a:rPr>
              <a:t>propriétés</a:t>
            </a:r>
            <a:r>
              <a:rPr lang="en-US" sz="2000" dirty="0">
                <a:latin typeface="Times New Roman" panose="02020603050405020304" pitchFamily="18" charset="0"/>
                <a:cs typeface="Times New Roman" panose="02020603050405020304" pitchFamily="18" charset="0"/>
              </a:rPr>
              <a:t> du Job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affiché</a:t>
            </a:r>
            <a:r>
              <a:rPr lang="en-US" sz="20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xmlns="" id="{63E7D53A-380A-6F42-8877-0473A605FFDC}"/>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654087" y="4011114"/>
            <a:ext cx="8883826" cy="2498576"/>
          </a:xfrm>
          <a:prstGeom prst="rect">
            <a:avLst/>
          </a:prstGeom>
        </p:spPr>
      </p:pic>
    </p:spTree>
    <p:extLst>
      <p:ext uri="{BB962C8B-B14F-4D97-AF65-F5344CB8AC3E}">
        <p14:creationId xmlns:p14="http://schemas.microsoft.com/office/powerpoint/2010/main" xmlns="" val="411411465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449188" y="1844824"/>
            <a:ext cx="11161240" cy="1371597"/>
          </a:xfrm>
        </p:spPr>
        <p:txBody>
          <a:bodyPr>
            <a:normAutofit/>
          </a:bodyPr>
          <a:lstStyle/>
          <a:p>
            <a:pPr algn="just"/>
            <a:r>
              <a:rPr lang="en-US" sz="2000" dirty="0">
                <a:latin typeface="Times New Roman" panose="02020603050405020304" pitchFamily="18" charset="0"/>
                <a:cs typeface="Times New Roman" panose="02020603050405020304" pitchFamily="18" charset="0"/>
              </a:rPr>
              <a:t>Ci – dessous </a:t>
            </a:r>
            <a:r>
              <a:rPr lang="en-US" sz="2000" dirty="0" err="1">
                <a:latin typeface="Times New Roman" panose="02020603050405020304" pitchFamily="18" charset="0"/>
                <a:cs typeface="Times New Roman" panose="02020603050405020304" pitchFamily="18" charset="0"/>
              </a:rPr>
              <a:t>l’onglet</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a </a:t>
            </a:r>
            <a:r>
              <a:rPr lang="en-US" sz="2000" dirty="0" err="1">
                <a:latin typeface="Times New Roman" panose="02020603050405020304" pitchFamily="18" charset="0"/>
                <a:cs typeface="Times New Roman" panose="02020603050405020304" pitchFamily="18" charset="0"/>
              </a:rPr>
              <a:t>été</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sélectionné</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puis</a:t>
            </a:r>
            <a:r>
              <a:rPr lang="en-US" sz="2000" dirty="0">
                <a:latin typeface="Times New Roman" panose="02020603050405020304" pitchFamily="18" charset="0"/>
                <a:cs typeface="Times New Roman" panose="02020603050405020304" pitchFamily="18" charset="0"/>
              </a:rPr>
              <a:t> nous </a:t>
            </a:r>
            <a:r>
              <a:rPr lang="en-US" sz="2000" dirty="0" err="1">
                <a:latin typeface="Times New Roman" panose="02020603050405020304" pitchFamily="18" charset="0"/>
                <a:cs typeface="Times New Roman" panose="02020603050405020304" pitchFamily="18" charset="0"/>
              </a:rPr>
              <a:t>avons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cliqué</a:t>
            </a:r>
            <a:r>
              <a:rPr lang="en-US" sz="2000" dirty="0">
                <a:latin typeface="Times New Roman" panose="02020603050405020304" pitchFamily="18" charset="0"/>
                <a:cs typeface="Times New Roman" panose="02020603050405020304" pitchFamily="18" charset="0"/>
              </a:rPr>
              <a:t> sur le </a:t>
            </a:r>
            <a:r>
              <a:rPr lang="en-US" sz="2000"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cible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tLogRow_1</a:t>
            </a:r>
            <a:r>
              <a:rPr lang="en-US" sz="2000" dirty="0">
                <a:latin typeface="Times New Roman" panose="02020603050405020304" pitchFamily="18" charset="0"/>
                <a:cs typeface="Times New Roman" panose="02020603050405020304" pitchFamily="18" charset="0"/>
              </a:rPr>
              <a:t> du </a:t>
            </a:r>
            <a:r>
              <a:rPr lang="en-US" sz="2000" dirty="0" err="1">
                <a:latin typeface="Times New Roman" panose="02020603050405020304" pitchFamily="18" charset="0"/>
                <a:cs typeface="Times New Roman" panose="02020603050405020304" pitchFamily="18" charset="0"/>
              </a:rPr>
              <a:t>traitement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pouvez</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alors</a:t>
            </a:r>
            <a:r>
              <a:rPr lang="en-US" sz="2000" dirty="0">
                <a:latin typeface="Times New Roman" panose="02020603050405020304" pitchFamily="18" charset="0"/>
                <a:cs typeface="Times New Roman" panose="02020603050405020304" pitchFamily="18" charset="0"/>
              </a:rPr>
              <a:t> modifier les </a:t>
            </a:r>
            <a:r>
              <a:rPr lang="en-US" sz="2000" dirty="0" err="1">
                <a:latin typeface="Times New Roman" panose="02020603050405020304" pitchFamily="18" charset="0"/>
                <a:cs typeface="Times New Roman" panose="02020603050405020304" pitchFamily="18" charset="0"/>
              </a:rPr>
              <a:t>propriétés</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ce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composant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permettant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d’afficher</a:t>
            </a:r>
            <a:r>
              <a:rPr lang="en-US" sz="2000" dirty="0">
                <a:latin typeface="Times New Roman" panose="02020603050405020304" pitchFamily="18" charset="0"/>
                <a:cs typeface="Times New Roman" panose="02020603050405020304" pitchFamily="18" charset="0"/>
              </a:rPr>
              <a:t> la sortie du </a:t>
            </a:r>
            <a:r>
              <a:rPr lang="en-US" sz="2000" dirty="0" err="1">
                <a:latin typeface="Times New Roman" panose="02020603050405020304" pitchFamily="18" charset="0"/>
                <a:cs typeface="Times New Roman" panose="02020603050405020304" pitchFamily="18" charset="0"/>
              </a:rPr>
              <a:t>traitement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spécifiant</a:t>
            </a:r>
            <a:r>
              <a:rPr lang="en-US" sz="2000" dirty="0">
                <a:latin typeface="Times New Roman" panose="02020603050405020304" pitchFamily="18" charset="0"/>
                <a:cs typeface="Times New Roman" panose="02020603050405020304" pitchFamily="18" charset="0"/>
              </a:rPr>
              <a:t> par </a:t>
            </a:r>
            <a:r>
              <a:rPr lang="en-US" sz="2000" dirty="0" err="1">
                <a:latin typeface="Times New Roman" panose="02020603050405020304" pitchFamily="18" charset="0"/>
                <a:cs typeface="Times New Roman" panose="02020603050405020304" pitchFamily="18" charset="0"/>
              </a:rPr>
              <a:t>exemple</a:t>
            </a:r>
            <a:r>
              <a:rPr lang="en-US" sz="2000" dirty="0">
                <a:latin typeface="Times New Roman" panose="02020603050405020304" pitchFamily="18" charset="0"/>
                <a:cs typeface="Times New Roman" panose="02020603050405020304" pitchFamily="18" charset="0"/>
              </a:rPr>
              <a:t> un </a:t>
            </a:r>
            <a:r>
              <a:rPr lang="en-US" sz="2000" dirty="0" err="1">
                <a:latin typeface="Times New Roman" panose="02020603050405020304" pitchFamily="18" charset="0"/>
                <a:cs typeface="Times New Roman" panose="02020603050405020304" pitchFamily="18" charset="0"/>
              </a:rPr>
              <a:t>séparateur</a:t>
            </a:r>
            <a:r>
              <a:rPr lang="en-US" sz="2000" dirty="0">
                <a:latin typeface="Times New Roman" panose="02020603050405020304" pitchFamily="18" charset="0"/>
                <a:cs typeface="Times New Roman" panose="02020603050405020304" pitchFamily="18" charset="0"/>
              </a:rPr>
              <a:t> de champs </a:t>
            </a:r>
            <a:r>
              <a:rPr lang="en-US" sz="2000" dirty="0" err="1">
                <a:latin typeface="Times New Roman" panose="02020603050405020304" pitchFamily="18" charset="0"/>
                <a:cs typeface="Times New Roman" panose="02020603050405020304" pitchFamily="18" charset="0"/>
              </a:rPr>
              <a:t>différent</a:t>
            </a:r>
            <a:r>
              <a:rPr lang="en-US" sz="20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xmlns="" id="{16AAFAFF-7262-FB4B-A983-35E1613DFC8A}"/>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710680" y="3395712"/>
            <a:ext cx="7608168" cy="3092633"/>
          </a:xfrm>
          <a:prstGeom prst="rect">
            <a:avLst/>
          </a:prstGeom>
        </p:spPr>
      </p:pic>
    </p:spTree>
    <p:extLst>
      <p:ext uri="{BB962C8B-B14F-4D97-AF65-F5344CB8AC3E}">
        <p14:creationId xmlns:p14="http://schemas.microsoft.com/office/powerpoint/2010/main" xmlns="" val="409214859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449188" y="1844824"/>
            <a:ext cx="11161240" cy="1371597"/>
          </a:xfrm>
        </p:spPr>
        <p:txBody>
          <a:bodyPr>
            <a:normAutofit/>
          </a:bodyPr>
          <a:lstStyle/>
          <a:p>
            <a:pPr algn="just"/>
            <a:r>
              <a:rPr lang="en-US" sz="2000" dirty="0">
                <a:latin typeface="Times New Roman" panose="02020603050405020304" pitchFamily="18" charset="0"/>
                <a:cs typeface="Times New Roman" panose="02020603050405020304" pitchFamily="18" charset="0"/>
              </a:rPr>
              <a:t>Ci – dessous </a:t>
            </a:r>
            <a:r>
              <a:rPr lang="en-US" sz="2000" dirty="0" err="1">
                <a:latin typeface="Times New Roman" panose="02020603050405020304" pitchFamily="18" charset="0"/>
                <a:cs typeface="Times New Roman" panose="02020603050405020304" pitchFamily="18" charset="0"/>
              </a:rPr>
              <a:t>l’onglet</a:t>
            </a: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Exécuter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vous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permet</a:t>
            </a:r>
            <a:r>
              <a:rPr lang="en-US" sz="2000" dirty="0">
                <a:latin typeface="Times New Roman" panose="02020603050405020304" pitchFamily="18" charset="0"/>
                <a:cs typeface="Times New Roman" panose="02020603050405020304" pitchFamily="18" charset="0"/>
              </a:rPr>
              <a:t> de lancer </a:t>
            </a:r>
            <a:r>
              <a:rPr lang="en-US" sz="2000" dirty="0" err="1">
                <a:latin typeface="Times New Roman" panose="02020603050405020304" pitchFamily="18" charset="0"/>
                <a:cs typeface="Times New Roman" panose="02020603050405020304" pitchFamily="18" charset="0"/>
              </a:rPr>
              <a:t>l’exécution</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votre</a:t>
            </a:r>
            <a:r>
              <a:rPr lang="en-US" sz="2000" dirty="0">
                <a:latin typeface="Times New Roman" panose="02020603050405020304" pitchFamily="18" charset="0"/>
                <a:cs typeface="Times New Roman" panose="02020603050405020304" pitchFamily="18" charset="0"/>
              </a:rPr>
              <a:t> flux ETL. Une </a:t>
            </a:r>
            <a:r>
              <a:rPr lang="en-US" sz="2000" dirty="0" err="1">
                <a:latin typeface="Times New Roman" panose="02020603050405020304" pitchFamily="18" charset="0"/>
                <a:cs typeface="Times New Roman" panose="02020603050405020304" pitchFamily="18" charset="0"/>
              </a:rPr>
              <a:t>fois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l’exécution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terminée</a:t>
            </a:r>
            <a:r>
              <a:rPr lang="en-US" sz="2000" dirty="0">
                <a:latin typeface="Times New Roman" panose="02020603050405020304" pitchFamily="18" charset="0"/>
                <a:cs typeface="Times New Roman" panose="02020603050405020304" pitchFamily="18" charset="0"/>
              </a:rPr>
              <a:t> la durée </a:t>
            </a:r>
            <a:r>
              <a:rPr lang="en-US" sz="2000" dirty="0" err="1">
                <a:latin typeface="Times New Roman" panose="02020603050405020304" pitchFamily="18" charset="0"/>
                <a:cs typeface="Times New Roman" panose="02020603050405020304" pitchFamily="18" charset="0"/>
              </a:rPr>
              <a:t>d’exécution</a:t>
            </a:r>
            <a:r>
              <a:rPr lang="en-US" sz="2000" dirty="0">
                <a:latin typeface="Times New Roman" panose="02020603050405020304" pitchFamily="18" charset="0"/>
                <a:cs typeface="Times New Roman" panose="02020603050405020304" pitchFamily="18" charset="0"/>
              </a:rPr>
              <a:t> et le </a:t>
            </a:r>
            <a:r>
              <a:rPr lang="en-US" sz="2000" dirty="0" err="1">
                <a:latin typeface="Times New Roman" panose="02020603050405020304" pitchFamily="18" charset="0"/>
                <a:cs typeface="Times New Roman" panose="02020603050405020304" pitchFamily="18" charset="0"/>
              </a:rPr>
              <a:t>nombre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lignes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traitées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visibles</a:t>
            </a:r>
            <a:r>
              <a:rPr lang="en-US" sz="2000" dirty="0">
                <a:latin typeface="Times New Roman" panose="02020603050405020304" pitchFamily="18" charset="0"/>
                <a:cs typeface="Times New Roman" panose="02020603050405020304" pitchFamily="18" charset="0"/>
              </a:rPr>
              <a:t> dans </a:t>
            </a:r>
            <a:r>
              <a:rPr lang="en-US" sz="2000" dirty="0" err="1">
                <a:latin typeface="Times New Roman" panose="02020603050405020304" pitchFamily="18" charset="0"/>
                <a:cs typeface="Times New Roman" panose="02020603050405020304" pitchFamily="18" charset="0"/>
              </a:rPr>
              <a:t>l’espace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modélisation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graphique</a:t>
            </a:r>
            <a:r>
              <a:rPr lang="en-US" sz="2000" dirty="0">
                <a:latin typeface="Times New Roman" panose="02020603050405020304" pitchFamily="18" charset="0"/>
                <a:cs typeface="Times New Roman" panose="02020603050405020304" pitchFamily="18" charset="0"/>
              </a:rPr>
              <a:t> (1). Les </a:t>
            </a:r>
            <a:r>
              <a:rPr lang="en-US" sz="2000" dirty="0" err="1">
                <a:latin typeface="Times New Roman" panose="02020603050405020304" pitchFamily="18" charset="0"/>
                <a:cs typeface="Times New Roman" panose="02020603050405020304" pitchFamily="18" charset="0"/>
              </a:rPr>
              <a:t>données</a:t>
            </a:r>
            <a:r>
              <a:rPr lang="en-US" sz="2000" dirty="0">
                <a:latin typeface="Times New Roman" panose="02020603050405020304" pitchFamily="18" charset="0"/>
                <a:cs typeface="Times New Roman" panose="02020603050405020304" pitchFamily="18" charset="0"/>
              </a:rPr>
              <a:t> de sortie </a:t>
            </a:r>
            <a:r>
              <a:rPr lang="en-US" sz="2000" dirty="0" err="1">
                <a:latin typeface="Times New Roman" panose="02020603050405020304" pitchFamily="18" charset="0"/>
                <a:cs typeface="Times New Roman" panose="02020603050405020304" pitchFamily="18" charset="0"/>
              </a:rPr>
              <a:t>sont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visibles</a:t>
            </a:r>
            <a:r>
              <a:rPr lang="en-US" sz="2000" dirty="0">
                <a:latin typeface="Times New Roman" panose="02020603050405020304" pitchFamily="18" charset="0"/>
                <a:cs typeface="Times New Roman" panose="02020603050405020304" pitchFamily="18" charset="0"/>
              </a:rPr>
              <a:t> au sein de </a:t>
            </a:r>
            <a:r>
              <a:rPr lang="en-US" sz="2000" dirty="0" err="1">
                <a:latin typeface="Times New Roman" panose="02020603050405020304" pitchFamily="18" charset="0"/>
                <a:cs typeface="Times New Roman" panose="02020603050405020304" pitchFamily="18" charset="0"/>
              </a:rPr>
              <a:t>l’onglet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d’exécution</a:t>
            </a:r>
            <a:r>
              <a:rPr lang="en-US" sz="2000" dirty="0">
                <a:latin typeface="Times New Roman" panose="02020603050405020304" pitchFamily="18" charset="0"/>
                <a:cs typeface="Times New Roman" panose="02020603050405020304" pitchFamily="18" charset="0"/>
              </a:rPr>
              <a:t> (2) :</a:t>
            </a:r>
          </a:p>
        </p:txBody>
      </p:sp>
      <p:pic>
        <p:nvPicPr>
          <p:cNvPr id="5" name="Picture 4">
            <a:extLst>
              <a:ext uri="{FF2B5EF4-FFF2-40B4-BE49-F238E27FC236}">
                <a16:creationId xmlns:a16="http://schemas.microsoft.com/office/drawing/2014/main" xmlns="" id="{FC17F2A5-E7B6-DB47-A406-B3A0B3DA5E3E}"/>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371290" y="3204465"/>
            <a:ext cx="7317035" cy="3479929"/>
          </a:xfrm>
          <a:prstGeom prst="rect">
            <a:avLst/>
          </a:prstGeom>
        </p:spPr>
      </p:pic>
    </p:spTree>
    <p:extLst>
      <p:ext uri="{BB962C8B-B14F-4D97-AF65-F5344CB8AC3E}">
        <p14:creationId xmlns:p14="http://schemas.microsoft.com/office/powerpoint/2010/main" xmlns="" val="114846845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9032" y="701824"/>
            <a:ext cx="10091464" cy="1143000"/>
          </a:xfrm>
        </p:spPr>
        <p:txBody>
          <a:bodyPr anchor="ctr">
            <a:noAutofit/>
          </a:bodyPr>
          <a:lstStyle/>
          <a:p>
            <a:r>
              <a:rPr lang="fr-FR" sz="3600" b="1" u="sng" dirty="0">
                <a:latin typeface="Times New Roman" pitchFamily="18" charset="0"/>
                <a:cs typeface="Times New Roman" pitchFamily="18" charset="0"/>
              </a:rPr>
              <a:t>Interface TOS</a:t>
            </a:r>
            <a:endParaRPr lang="fr-FR" sz="2000" b="1" u="sng" dirty="0">
              <a:latin typeface="Times New Roman" pitchFamily="18" charset="0"/>
              <a:cs typeface="Times New Roman" pitchFamily="18" charset="0"/>
            </a:endParaRPr>
          </a:p>
        </p:txBody>
      </p:sp>
      <p:sp>
        <p:nvSpPr>
          <p:cNvPr id="3" name="Espace réservé du contenu 2"/>
          <p:cNvSpPr>
            <a:spLocks noGrp="1"/>
          </p:cNvSpPr>
          <p:nvPr>
            <p:ph idx="1"/>
          </p:nvPr>
        </p:nvSpPr>
        <p:spPr>
          <a:xfrm>
            <a:off x="449188" y="1844824"/>
            <a:ext cx="4926732" cy="4464496"/>
          </a:xfrm>
        </p:spPr>
        <p:txBody>
          <a:bodyPr>
            <a:normAutofit/>
          </a:bodyPr>
          <a:lstStyle/>
          <a:p>
            <a:pPr algn="just"/>
            <a:r>
              <a:rPr lang="en-US" sz="2000" b="1" dirty="0">
                <a:latin typeface="Times New Roman" panose="02020603050405020304" pitchFamily="18" charset="0"/>
                <a:cs typeface="Times New Roman" panose="02020603050405020304" pitchFamily="18" charset="0"/>
              </a:rPr>
              <a:t>La Palette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répertorie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tous</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composants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pouvant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être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utilisés</a:t>
            </a:r>
            <a:r>
              <a:rPr lang="en-US" sz="2000" dirty="0">
                <a:latin typeface="Times New Roman" panose="02020603050405020304" pitchFamily="18" charset="0"/>
                <a:cs typeface="Times New Roman" panose="02020603050405020304" pitchFamily="18" charset="0"/>
              </a:rPr>
              <a:t> dans un flux ETL, </a:t>
            </a:r>
            <a:r>
              <a:rPr lang="en-US" sz="2000" dirty="0" err="1">
                <a:latin typeface="Times New Roman" panose="02020603050405020304" pitchFamily="18" charset="0"/>
                <a:cs typeface="Times New Roman" panose="02020603050405020304" pitchFamily="18" charset="0"/>
              </a:rPr>
              <a:t>organisés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en</a:t>
            </a:r>
            <a:r>
              <a:rPr lang="en-US" sz="2000" dirty="0">
                <a:latin typeface="Times New Roman" panose="02020603050405020304" pitchFamily="18" charset="0"/>
                <a:cs typeface="Times New Roman" panose="02020603050405020304" pitchFamily="18" charset="0"/>
              </a:rPr>
              <a:t> dossiers. </a:t>
            </a:r>
            <a:r>
              <a:rPr lang="en-US" sz="2000" dirty="0" err="1">
                <a:latin typeface="Times New Roman" panose="02020603050405020304" pitchFamily="18" charset="0"/>
                <a:cs typeface="Times New Roman" panose="02020603050405020304" pitchFamily="18" charset="0"/>
              </a:rPr>
              <a:t>Ces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composants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peuvent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être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cliqués</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déposés</a:t>
            </a:r>
            <a:r>
              <a:rPr lang="en-US" sz="2000" dirty="0">
                <a:latin typeface="Times New Roman" panose="02020603050405020304" pitchFamily="18" charset="0"/>
                <a:cs typeface="Times New Roman" panose="02020603050405020304" pitchFamily="18" charset="0"/>
              </a:rPr>
              <a:t> au sein de </a:t>
            </a:r>
            <a:r>
              <a:rPr lang="en-US" sz="2000" dirty="0" err="1">
                <a:latin typeface="Times New Roman" panose="02020603050405020304" pitchFamily="18" charset="0"/>
                <a:cs typeface="Times New Roman" panose="02020603050405020304" pitchFamily="18" charset="0"/>
              </a:rPr>
              <a:t>votre</a:t>
            </a:r>
            <a:r>
              <a:rPr lang="en-US" sz="2000" dirty="0">
                <a:latin typeface="Times New Roman" panose="02020603050405020304" pitchFamily="18" charset="0"/>
                <a:cs typeface="Times New Roman" panose="02020603050405020304" pitchFamily="18" charset="0"/>
              </a:rPr>
              <a:t> Job </a:t>
            </a:r>
            <a:r>
              <a:rPr lang="en-US" sz="2000" dirty="0" err="1">
                <a:latin typeface="Times New Roman" panose="02020603050405020304" pitchFamily="18" charset="0"/>
                <a:cs typeface="Times New Roman" panose="02020603050405020304" pitchFamily="18" charset="0"/>
              </a:rPr>
              <a:t>lorsqu’il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actif</a:t>
            </a:r>
            <a:r>
              <a:rPr lang="en-US" sz="2000" dirty="0">
                <a:latin typeface="Times New Roman" panose="02020603050405020304" pitchFamily="18" charset="0"/>
                <a:cs typeface="Times New Roman" panose="02020603050405020304" pitchFamily="18" charset="0"/>
              </a:rPr>
              <a:t> dans </a:t>
            </a:r>
            <a:r>
              <a:rPr lang="en-US" sz="2000" dirty="0" err="1">
                <a:latin typeface="Times New Roman" panose="02020603050405020304" pitchFamily="18" charset="0"/>
                <a:cs typeface="Times New Roman" panose="02020603050405020304" pitchFamily="18" charset="0"/>
              </a:rPr>
              <a:t>l’espace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modélisation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graphique</a:t>
            </a:r>
            <a:r>
              <a:rPr lang="en-US" sz="20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xmlns="" id="{6B368CA7-2BDD-F148-B2E0-5F1DDEDDB1D4}"/>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312024" y="1916832"/>
            <a:ext cx="4737100" cy="4673600"/>
          </a:xfrm>
          <a:prstGeom prst="rect">
            <a:avLst/>
          </a:prstGeom>
        </p:spPr>
      </p:pic>
    </p:spTree>
    <p:extLst>
      <p:ext uri="{BB962C8B-B14F-4D97-AF65-F5344CB8AC3E}">
        <p14:creationId xmlns:p14="http://schemas.microsoft.com/office/powerpoint/2010/main" xmlns="" val="15672864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sz="2400" dirty="0">
                <a:latin typeface="Times New Roman" pitchFamily="18" charset="0"/>
                <a:cs typeface="Times New Roman" pitchFamily="18" charset="0"/>
              </a:rPr>
              <a:t>On distingue trois principaux composants de l’outil:</a:t>
            </a:r>
          </a:p>
          <a:p>
            <a:pPr lvl="1"/>
            <a:r>
              <a:rPr lang="fr-FR" sz="2000" dirty="0">
                <a:latin typeface="Times New Roman" pitchFamily="18" charset="0"/>
                <a:cs typeface="Times New Roman" pitchFamily="18" charset="0"/>
              </a:rPr>
              <a:t>Le </a:t>
            </a:r>
            <a:r>
              <a:rPr lang="fr-FR" sz="2000" i="1" dirty="0">
                <a:latin typeface="Times New Roman" pitchFamily="18" charset="0"/>
                <a:cs typeface="Times New Roman" pitchFamily="18" charset="0"/>
              </a:rPr>
              <a:t>Business </a:t>
            </a:r>
            <a:r>
              <a:rPr lang="fr-FR" sz="2000" i="1" dirty="0" err="1">
                <a:latin typeface="Times New Roman" pitchFamily="18" charset="0"/>
                <a:cs typeface="Times New Roman" pitchFamily="18" charset="0"/>
              </a:rPr>
              <a:t>Modele</a:t>
            </a:r>
            <a:endParaRPr lang="fr-FR" sz="2000" i="1" dirty="0">
              <a:latin typeface="Times New Roman" pitchFamily="18" charset="0"/>
              <a:cs typeface="Times New Roman" pitchFamily="18" charset="0"/>
            </a:endParaRPr>
          </a:p>
          <a:p>
            <a:pPr lvl="1"/>
            <a:r>
              <a:rPr lang="fr-FR" sz="2000" dirty="0">
                <a:latin typeface="Times New Roman" pitchFamily="18" charset="0"/>
                <a:cs typeface="Times New Roman" pitchFamily="18" charset="0"/>
              </a:rPr>
              <a:t>Le </a:t>
            </a:r>
            <a:r>
              <a:rPr lang="fr-FR" sz="2000" i="1" dirty="0" err="1">
                <a:latin typeface="Times New Roman" pitchFamily="18" charset="0"/>
                <a:cs typeface="Times New Roman" pitchFamily="18" charset="0"/>
              </a:rPr>
              <a:t>Metadata</a:t>
            </a:r>
            <a:r>
              <a:rPr lang="fr-FR" sz="2000" i="1" dirty="0">
                <a:latin typeface="Times New Roman" pitchFamily="18" charset="0"/>
                <a:cs typeface="Times New Roman" pitchFamily="18" charset="0"/>
              </a:rPr>
              <a:t> Manager</a:t>
            </a:r>
          </a:p>
          <a:p>
            <a:pPr lvl="1"/>
            <a:r>
              <a:rPr lang="fr-FR" sz="2000" dirty="0">
                <a:latin typeface="Times New Roman" pitchFamily="18" charset="0"/>
                <a:cs typeface="Times New Roman" pitchFamily="18" charset="0"/>
              </a:rPr>
              <a:t>Le </a:t>
            </a:r>
            <a:r>
              <a:rPr lang="fr-FR" sz="2000" i="1" dirty="0">
                <a:latin typeface="Times New Roman" pitchFamily="18" charset="0"/>
                <a:cs typeface="Times New Roman" pitchFamily="18" charset="0"/>
              </a:rPr>
              <a:t>Job Designer</a:t>
            </a:r>
          </a:p>
          <a:p>
            <a:endParaRPr lang="fr-FR" dirty="0"/>
          </a:p>
        </p:txBody>
      </p:sp>
      <p:sp>
        <p:nvSpPr>
          <p:cNvPr id="4" name="Titre 1">
            <a:extLst>
              <a:ext uri="{FF2B5EF4-FFF2-40B4-BE49-F238E27FC236}">
                <a16:creationId xmlns:a16="http://schemas.microsoft.com/office/drawing/2014/main" xmlns="" id="{7912BD84-3A84-444E-847D-E60A81173207}"/>
              </a:ext>
            </a:extLst>
          </p:cNvPr>
          <p:cNvSpPr>
            <a:spLocks noGrp="1"/>
          </p:cNvSpPr>
          <p:nvPr>
            <p:ph type="title"/>
          </p:nvPr>
        </p:nvSpPr>
        <p:spPr>
          <a:xfrm>
            <a:off x="469032" y="701824"/>
            <a:ext cx="10091464" cy="1143000"/>
          </a:xfrm>
        </p:spPr>
        <p:txBody>
          <a:bodyPr>
            <a:noAutofit/>
          </a:bodyPr>
          <a:lstStyle/>
          <a:p>
            <a:r>
              <a:rPr lang="fr-FR" sz="3600" b="1" u="sng" dirty="0">
                <a:latin typeface="Times New Roman" pitchFamily="18" charset="0"/>
                <a:cs typeface="Times New Roman" pitchFamily="18" charset="0"/>
              </a:rPr>
              <a:t/>
            </a:r>
            <a:br>
              <a:rPr lang="fr-FR" sz="3600" b="1" u="sng" dirty="0">
                <a:latin typeface="Times New Roman" pitchFamily="18" charset="0"/>
                <a:cs typeface="Times New Roman" pitchFamily="18" charset="0"/>
              </a:rPr>
            </a:br>
            <a:r>
              <a:rPr lang="fr-FR" sz="3600" b="1" u="sng" dirty="0">
                <a:latin typeface="Times New Roman" pitchFamily="18" charset="0"/>
                <a:cs typeface="Times New Roman" pitchFamily="18" charset="0"/>
              </a:rPr>
              <a:t>Présentation de Talend Open Studio</a:t>
            </a:r>
            <a:br>
              <a:rPr lang="fr-FR" sz="3600" b="1" u="sng" dirty="0">
                <a:latin typeface="Times New Roman" pitchFamily="18" charset="0"/>
                <a:cs typeface="Times New Roman" pitchFamily="18" charset="0"/>
              </a:rPr>
            </a:br>
            <a:endParaRPr lang="fr-FR" sz="2000" b="1" u="sng" dirty="0">
              <a:latin typeface="Times New Roman" pitchFamily="18" charset="0"/>
              <a:cs typeface="Times New Roman" pitchFamily="18" charset="0"/>
            </a:endParaRPr>
          </a:p>
        </p:txBody>
      </p:sp>
    </p:spTree>
    <p:extLst>
      <p:ext uri="{BB962C8B-B14F-4D97-AF65-F5344CB8AC3E}">
        <p14:creationId xmlns:p14="http://schemas.microsoft.com/office/powerpoint/2010/main" xmlns="" val="224484836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Business Model</a:t>
            </a:r>
          </a:p>
        </p:txBody>
      </p:sp>
      <p:sp>
        <p:nvSpPr>
          <p:cNvPr id="3" name="Espace réservé du contenu 2"/>
          <p:cNvSpPr>
            <a:spLocks noGrp="1"/>
          </p:cNvSpPr>
          <p:nvPr>
            <p:ph idx="1"/>
          </p:nvPr>
        </p:nvSpPr>
        <p:spPr>
          <a:xfrm>
            <a:off x="479376" y="2420888"/>
            <a:ext cx="11233248" cy="3085803"/>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Le Business Modeler de Talend </a:t>
            </a:r>
            <a:r>
              <a:rPr lang="en-US" sz="2400" dirty="0" err="1">
                <a:latin typeface="Times New Roman" panose="02020603050405020304" pitchFamily="18" charset="0"/>
                <a:cs typeface="Times New Roman" panose="02020603050405020304" pitchFamily="18" charset="0"/>
              </a:rPr>
              <a:t>est</a:t>
            </a:r>
            <a:r>
              <a:rPr lang="en-US" sz="2400" dirty="0">
                <a:latin typeface="Times New Roman" panose="02020603050405020304" pitchFamily="18" charset="0"/>
                <a:cs typeface="Times New Roman" panose="02020603050405020304" pitchFamily="18" charset="0"/>
              </a:rPr>
              <a:t> un </a:t>
            </a:r>
            <a:r>
              <a:rPr lang="en-US" sz="2400" dirty="0" err="1">
                <a:latin typeface="Times New Roman" panose="02020603050405020304" pitchFamily="18" charset="0"/>
                <a:cs typeface="Times New Roman" panose="02020603050405020304" pitchFamily="18" charset="0"/>
              </a:rPr>
              <a:t>composant</a:t>
            </a:r>
            <a:r>
              <a:rPr lang="en-US" sz="2400" dirty="0">
                <a:latin typeface="Times New Roman" panose="02020603050405020304" pitchFamily="18" charset="0"/>
                <a:cs typeface="Times New Roman" panose="02020603050405020304" pitchFamily="18" charset="0"/>
              </a:rPr>
              <a:t> qui </a:t>
            </a:r>
            <a:r>
              <a:rPr lang="en-US" sz="2400" dirty="0" err="1">
                <a:latin typeface="Times New Roman" panose="02020603050405020304" pitchFamily="18" charset="0"/>
                <a:cs typeface="Times New Roman" panose="02020603050405020304" pitchFamily="18" charset="0"/>
              </a:rPr>
              <a:t>permet</a:t>
            </a:r>
            <a:r>
              <a:rPr lang="en-US" sz="2400" dirty="0">
                <a:latin typeface="Times New Roman" panose="02020603050405020304" pitchFamily="18" charset="0"/>
                <a:cs typeface="Times New Roman" panose="02020603050405020304" pitchFamily="18" charset="0"/>
              </a:rPr>
              <a:t> aux </a:t>
            </a:r>
            <a:r>
              <a:rPr lang="en-US" sz="2400" dirty="0" err="1">
                <a:latin typeface="Times New Roman" panose="02020603050405020304" pitchFamily="18" charset="0"/>
                <a:cs typeface="Times New Roman" panose="02020603050405020304" pitchFamily="18" charset="0"/>
              </a:rPr>
              <a:t>utilisateurs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créer</a:t>
            </a:r>
            <a:r>
              <a:rPr lang="en-US" sz="2400" dirty="0">
                <a:latin typeface="Times New Roman" panose="02020603050405020304" pitchFamily="18" charset="0"/>
                <a:cs typeface="Times New Roman" panose="02020603050405020304" pitchFamily="18" charset="0"/>
              </a:rPr>
              <a:t> et de </a:t>
            </a:r>
            <a:r>
              <a:rPr lang="en-US" sz="2400" dirty="0" err="1">
                <a:latin typeface="Times New Roman" panose="02020603050405020304" pitchFamily="18" charset="0"/>
                <a:cs typeface="Times New Roman" panose="02020603050405020304" pitchFamily="18" charset="0"/>
              </a:rPr>
              <a:t>gérer</a:t>
            </a:r>
            <a:r>
              <a:rPr lang="en-US" sz="2400" dirty="0">
                <a:latin typeface="Times New Roman" panose="02020603050405020304" pitchFamily="18" charset="0"/>
                <a:cs typeface="Times New Roman" panose="02020603050405020304" pitchFamily="18" charset="0"/>
              </a:rPr>
              <a:t> les </a:t>
            </a:r>
            <a:r>
              <a:rPr lang="en-US" sz="2400" dirty="0" err="1">
                <a:latin typeface="Times New Roman" panose="02020603050405020304" pitchFamily="18" charset="0"/>
                <a:cs typeface="Times New Roman" panose="02020603050405020304" pitchFamily="18" charset="0"/>
              </a:rPr>
              <a:t>modèles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données</a:t>
            </a:r>
            <a:r>
              <a:rPr lang="en-US" sz="2400" dirty="0">
                <a:latin typeface="Times New Roman" panose="02020603050405020304" pitchFamily="18" charset="0"/>
                <a:cs typeface="Times New Roman" panose="02020603050405020304" pitchFamily="18" charset="0"/>
              </a:rPr>
              <a:t>. Il </a:t>
            </a:r>
            <a:r>
              <a:rPr lang="en-US" sz="2400" dirty="0" err="1">
                <a:latin typeface="Times New Roman" panose="02020603050405020304" pitchFamily="18" charset="0"/>
                <a:cs typeface="Times New Roman" panose="02020603050405020304" pitchFamily="18" charset="0"/>
              </a:rPr>
              <a:t>offre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une</a:t>
            </a:r>
            <a:r>
              <a:rPr lang="en-US" sz="2400" dirty="0">
                <a:latin typeface="Times New Roman" panose="02020603050405020304" pitchFamily="18" charset="0"/>
                <a:cs typeface="Times New Roman" panose="02020603050405020304" pitchFamily="18" charset="0"/>
              </a:rPr>
              <a:t> interface </a:t>
            </a:r>
            <a:r>
              <a:rPr lang="en-US" sz="2400" dirty="0" err="1">
                <a:latin typeface="Times New Roman" panose="02020603050405020304" pitchFamily="18" charset="0"/>
                <a:cs typeface="Times New Roman" panose="02020603050405020304" pitchFamily="18" charset="0"/>
              </a:rPr>
              <a:t>graphique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conviviale</a:t>
            </a:r>
            <a:r>
              <a:rPr lang="en-US" sz="2400" dirty="0">
                <a:latin typeface="Times New Roman" panose="02020603050405020304" pitchFamily="18" charset="0"/>
                <a:cs typeface="Times New Roman" panose="02020603050405020304" pitchFamily="18" charset="0"/>
              </a:rPr>
              <a:t> pour </a:t>
            </a:r>
            <a:r>
              <a:rPr lang="en-US" sz="2400" dirty="0" err="1">
                <a:latin typeface="Times New Roman" panose="02020603050405020304" pitchFamily="18" charset="0"/>
                <a:cs typeface="Times New Roman" panose="02020603050405020304" pitchFamily="18" charset="0"/>
              </a:rPr>
              <a:t>concevoir</a:t>
            </a:r>
            <a:r>
              <a:rPr lang="en-US" sz="2400" dirty="0">
                <a:latin typeface="Times New Roman" panose="02020603050405020304" pitchFamily="18" charset="0"/>
                <a:cs typeface="Times New Roman" panose="02020603050405020304" pitchFamily="18" charset="0"/>
              </a:rPr>
              <a:t> des </a:t>
            </a:r>
            <a:r>
              <a:rPr lang="en-US" sz="2400" dirty="0" err="1">
                <a:latin typeface="Times New Roman" panose="02020603050405020304" pitchFamily="18" charset="0"/>
                <a:cs typeface="Times New Roman" panose="02020603050405020304" pitchFamily="18" charset="0"/>
              </a:rPr>
              <a:t>modèles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conceptuels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logiques</a:t>
            </a:r>
            <a:r>
              <a:rPr lang="en-US" sz="2400" dirty="0">
                <a:latin typeface="Times New Roman" panose="02020603050405020304" pitchFamily="18" charset="0"/>
                <a:cs typeface="Times New Roman" panose="02020603050405020304" pitchFamily="18" charset="0"/>
              </a:rPr>
              <a:t> et physiques. Avec le Business Modeler, les </a:t>
            </a:r>
            <a:r>
              <a:rPr lang="en-US" sz="2400" dirty="0" err="1">
                <a:latin typeface="Times New Roman" panose="02020603050405020304" pitchFamily="18" charset="0"/>
                <a:cs typeface="Times New Roman" panose="02020603050405020304" pitchFamily="18" charset="0"/>
              </a:rPr>
              <a:t>utilisateurs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peuvent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définir</a:t>
            </a:r>
            <a:r>
              <a:rPr lang="en-US" sz="2400" dirty="0">
                <a:latin typeface="Times New Roman" panose="02020603050405020304" pitchFamily="18" charset="0"/>
                <a:cs typeface="Times New Roman" panose="02020603050405020304" pitchFamily="18" charset="0"/>
              </a:rPr>
              <a:t> la structure de </a:t>
            </a:r>
            <a:r>
              <a:rPr lang="en-US" sz="2400" dirty="0" err="1">
                <a:latin typeface="Times New Roman" panose="02020603050405020304" pitchFamily="18" charset="0"/>
                <a:cs typeface="Times New Roman" panose="02020603050405020304" pitchFamily="18" charset="0"/>
              </a:rPr>
              <a:t>leurs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données</a:t>
            </a:r>
            <a:r>
              <a:rPr lang="en-US" sz="2400" dirty="0">
                <a:latin typeface="Times New Roman" panose="02020603050405020304" pitchFamily="18" charset="0"/>
                <a:cs typeface="Times New Roman" panose="02020603050405020304" pitchFamily="18" charset="0"/>
              </a:rPr>
              <a:t>, les relations entre les tables, les </a:t>
            </a:r>
            <a:r>
              <a:rPr lang="en-US" sz="2400" dirty="0" err="1">
                <a:latin typeface="Times New Roman" panose="02020603050405020304" pitchFamily="18" charset="0"/>
                <a:cs typeface="Times New Roman" panose="02020603050405020304" pitchFamily="18" charset="0"/>
              </a:rPr>
              <a:t>contraintes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d'intégrité</a:t>
            </a:r>
            <a:r>
              <a:rPr lang="en-US" sz="2400" dirty="0">
                <a:latin typeface="Times New Roman" panose="02020603050405020304" pitchFamily="18" charset="0"/>
                <a:cs typeface="Times New Roman" panose="02020603050405020304" pitchFamily="18" charset="0"/>
              </a:rPr>
              <a:t>, etc. </a:t>
            </a:r>
            <a:r>
              <a:rPr lang="en-US" sz="2400" dirty="0" err="1">
                <a:latin typeface="Times New Roman" panose="02020603050405020304" pitchFamily="18" charset="0"/>
                <a:cs typeface="Times New Roman" panose="02020603050405020304" pitchFamily="18" charset="0"/>
              </a:rPr>
              <a:t>Cet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outil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facilite</a:t>
            </a:r>
            <a:r>
              <a:rPr lang="en-US" sz="2400" dirty="0">
                <a:latin typeface="Times New Roman" panose="02020603050405020304" pitchFamily="18" charset="0"/>
                <a:cs typeface="Times New Roman" panose="02020603050405020304" pitchFamily="18" charset="0"/>
              </a:rPr>
              <a:t> la </a:t>
            </a:r>
            <a:r>
              <a:rPr lang="en-US" sz="2400" dirty="0" err="1">
                <a:latin typeface="Times New Roman" panose="02020603050405020304" pitchFamily="18" charset="0"/>
                <a:cs typeface="Times New Roman" panose="02020603050405020304" pitchFamily="18" charset="0"/>
              </a:rPr>
              <a:t>modélisation</a:t>
            </a:r>
            <a:r>
              <a:rPr lang="en-US" sz="2400" dirty="0">
                <a:latin typeface="Times New Roman" panose="02020603050405020304" pitchFamily="18" charset="0"/>
                <a:cs typeface="Times New Roman" panose="02020603050405020304" pitchFamily="18" charset="0"/>
              </a:rPr>
              <a:t> des </a:t>
            </a:r>
            <a:r>
              <a:rPr lang="en-US" sz="2400" dirty="0" err="1">
                <a:latin typeface="Times New Roman" panose="02020603050405020304" pitchFamily="18" charset="0"/>
                <a:cs typeface="Times New Roman" panose="02020603050405020304" pitchFamily="18" charset="0"/>
              </a:rPr>
              <a:t>données</a:t>
            </a:r>
            <a:r>
              <a:rPr lang="en-US" sz="2400" dirty="0">
                <a:latin typeface="Times New Roman" panose="02020603050405020304" pitchFamily="18" charset="0"/>
                <a:cs typeface="Times New Roman" panose="02020603050405020304" pitchFamily="18" charset="0"/>
              </a:rPr>
              <a:t> et </a:t>
            </a:r>
            <a:r>
              <a:rPr lang="en-US" sz="2400" dirty="0" err="1">
                <a:latin typeface="Times New Roman" panose="02020603050405020304" pitchFamily="18" charset="0"/>
                <a:cs typeface="Times New Roman" panose="02020603050405020304" pitchFamily="18" charset="0"/>
              </a:rPr>
              <a:t>permet</a:t>
            </a:r>
            <a:r>
              <a:rPr lang="en-US" sz="2400" dirty="0">
                <a:latin typeface="Times New Roman" panose="02020603050405020304" pitchFamily="18" charset="0"/>
                <a:cs typeface="Times New Roman" panose="02020603050405020304" pitchFamily="18" charset="0"/>
              </a:rPr>
              <a:t> aux </a:t>
            </a:r>
            <a:r>
              <a:rPr lang="en-US" sz="2400" dirty="0" err="1">
                <a:latin typeface="Times New Roman" panose="02020603050405020304" pitchFamily="18" charset="0"/>
                <a:cs typeface="Times New Roman" panose="02020603050405020304" pitchFamily="18" charset="0"/>
              </a:rPr>
              <a:t>équipes</a:t>
            </a:r>
            <a:r>
              <a:rPr lang="en-US" sz="2400" dirty="0">
                <a:latin typeface="Times New Roman" panose="02020603050405020304" pitchFamily="18" charset="0"/>
                <a:cs typeface="Times New Roman" panose="02020603050405020304" pitchFamily="18" charset="0"/>
              </a:rPr>
              <a:t> de </a:t>
            </a:r>
            <a:r>
              <a:rPr lang="en-US" sz="2400" dirty="0" err="1">
                <a:latin typeface="Times New Roman" panose="02020603050405020304" pitchFamily="18" charset="0"/>
                <a:cs typeface="Times New Roman" panose="02020603050405020304" pitchFamily="18" charset="0"/>
              </a:rPr>
              <a:t>collaborer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efficacement</a:t>
            </a:r>
            <a:r>
              <a:rPr lang="en-US" sz="2400" dirty="0">
                <a:latin typeface="Times New Roman" panose="02020603050405020304" pitchFamily="18" charset="0"/>
                <a:cs typeface="Times New Roman" panose="02020603050405020304" pitchFamily="18" charset="0"/>
              </a:rPr>
              <a:t> sur la conception des bases de </a:t>
            </a:r>
            <a:r>
              <a:rPr lang="en-US" sz="2400" dirty="0" err="1">
                <a:latin typeface="Times New Roman" panose="02020603050405020304" pitchFamily="18" charset="0"/>
                <a:cs typeface="Times New Roman" panose="02020603050405020304" pitchFamily="18" charset="0"/>
              </a:rPr>
              <a:t>données</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58928066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Business Model</a:t>
            </a:r>
          </a:p>
        </p:txBody>
      </p:sp>
      <p:sp>
        <p:nvSpPr>
          <p:cNvPr id="3" name="Espace réservé du contenu 2"/>
          <p:cNvSpPr>
            <a:spLocks noGrp="1"/>
          </p:cNvSpPr>
          <p:nvPr>
            <p:ph idx="1"/>
          </p:nvPr>
        </p:nvSpPr>
        <p:spPr>
          <a:xfrm>
            <a:off x="479376" y="2420888"/>
            <a:ext cx="11233248" cy="3085803"/>
          </a:xfrm>
        </p:spPr>
        <p:txBody>
          <a:bodyPr>
            <a:normAutofit/>
          </a:bodyPr>
          <a:lstStyle/>
          <a:p>
            <a:pPr algn="just">
              <a:lnSpc>
                <a:spcPct val="150000"/>
              </a:lnSpc>
              <a:defRPr/>
            </a:pPr>
            <a:r>
              <a:rPr lang="fr-FR" sz="2400" dirty="0">
                <a:latin typeface="Times New Roman" pitchFamily="18" charset="0"/>
                <a:cs typeface="Times New Roman" pitchFamily="18" charset="0"/>
              </a:rPr>
              <a:t>Talend permet de créer un Business Model afin de modéliser les interactions entre les différents systèmes d’information et bases de données. </a:t>
            </a:r>
          </a:p>
          <a:p>
            <a:pPr algn="just">
              <a:lnSpc>
                <a:spcPct val="150000"/>
              </a:lnSpc>
              <a:defRPr/>
            </a:pPr>
            <a:r>
              <a:rPr lang="fr-FR" sz="2400" dirty="0">
                <a:latin typeface="Times New Roman" pitchFamily="18" charset="0"/>
                <a:cs typeface="Times New Roman" pitchFamily="18" charset="0"/>
              </a:rPr>
              <a:t>Les informations de connexion, les métadonnées ainsi que des documents peuvent être associés à chaque élément. </a:t>
            </a:r>
          </a:p>
          <a:p>
            <a:pPr algn="just">
              <a:lnSpc>
                <a:spcPct val="150000"/>
              </a:lnSpc>
              <a:defRPr/>
            </a:pPr>
            <a:r>
              <a:rPr lang="fr-FR" sz="2400" dirty="0">
                <a:latin typeface="Times New Roman" pitchFamily="18" charset="0"/>
                <a:cs typeface="Times New Roman" pitchFamily="18" charset="0"/>
              </a:rPr>
              <a:t>Il constitue une véritable documentation du système d’information.</a:t>
            </a:r>
          </a:p>
        </p:txBody>
      </p:sp>
    </p:spTree>
    <p:extLst>
      <p:ext uri="{BB962C8B-B14F-4D97-AF65-F5344CB8AC3E}">
        <p14:creationId xmlns:p14="http://schemas.microsoft.com/office/powerpoint/2010/main" xmlns="" val="401674184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063552" y="1844824"/>
            <a:ext cx="7591425" cy="4562475"/>
          </a:xfrm>
          <a:prstGeom prst="rect">
            <a:avLst/>
          </a:prstGeom>
        </p:spPr>
      </p:pic>
      <p:sp>
        <p:nvSpPr>
          <p:cNvPr id="6" name="Titre 1">
            <a:extLst>
              <a:ext uri="{FF2B5EF4-FFF2-40B4-BE49-F238E27FC236}">
                <a16:creationId xmlns:a16="http://schemas.microsoft.com/office/drawing/2014/main" xmlns="" id="{DCBAC12F-9162-1440-B380-7F4E564A9D42}"/>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Business Model</a:t>
            </a:r>
          </a:p>
        </p:txBody>
      </p:sp>
    </p:spTree>
    <p:extLst>
      <p:ext uri="{BB962C8B-B14F-4D97-AF65-F5344CB8AC3E}">
        <p14:creationId xmlns:p14="http://schemas.microsoft.com/office/powerpoint/2010/main" xmlns="" val="195457379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xmlns="" id="{DCBAC12F-9162-1440-B380-7F4E564A9D42}"/>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Business Model</a:t>
            </a:r>
          </a:p>
        </p:txBody>
      </p:sp>
      <p:sp>
        <p:nvSpPr>
          <p:cNvPr id="7" name="TextBox 6">
            <a:extLst>
              <a:ext uri="{FF2B5EF4-FFF2-40B4-BE49-F238E27FC236}">
                <a16:creationId xmlns:a16="http://schemas.microsoft.com/office/drawing/2014/main" xmlns="" id="{3E743FB4-B44C-2849-BE33-FB47036EBB68}"/>
              </a:ext>
            </a:extLst>
          </p:cNvPr>
          <p:cNvSpPr txBox="1"/>
          <p:nvPr/>
        </p:nvSpPr>
        <p:spPr>
          <a:xfrm>
            <a:off x="479376" y="1916832"/>
            <a:ext cx="11161240" cy="4612994"/>
          </a:xfrm>
          <a:prstGeom prst="rect">
            <a:avLst/>
          </a:prstGeom>
          <a:noFill/>
        </p:spPr>
        <p:txBody>
          <a:bodyPr wrap="square">
            <a:spAutoFit/>
          </a:bodyPr>
          <a:lstStyle/>
          <a:p>
            <a:pPr algn="just">
              <a:lnSpc>
                <a:spcPct val="150000"/>
              </a:lnSpc>
            </a:pPr>
            <a:r>
              <a:rPr lang="en-US" dirty="0" err="1">
                <a:latin typeface="Times New Roman" panose="02020603050405020304" pitchFamily="18" charset="0"/>
                <a:cs typeface="Times New Roman" panose="02020603050405020304" pitchFamily="18" charset="0"/>
              </a:rPr>
              <a:t>Supposons</a:t>
            </a:r>
            <a:r>
              <a:rPr lang="en-US" dirty="0">
                <a:latin typeface="Times New Roman" panose="02020603050405020304" pitchFamily="18" charset="0"/>
                <a:cs typeface="Times New Roman" panose="02020603050405020304" pitchFamily="18" charset="0"/>
              </a:rPr>
              <a:t> que nous </a:t>
            </a:r>
            <a:r>
              <a:rPr lang="en-US" dirty="0" err="1">
                <a:latin typeface="Times New Roman" panose="02020603050405020304" pitchFamily="18" charset="0"/>
                <a:cs typeface="Times New Roman" panose="02020603050405020304" pitchFamily="18" charset="0"/>
              </a:rPr>
              <a:t>travaillons</a:t>
            </a:r>
            <a:r>
              <a:rPr lang="en-US" dirty="0">
                <a:latin typeface="Times New Roman" panose="02020603050405020304" pitchFamily="18" charset="0"/>
                <a:cs typeface="Times New Roman" panose="02020603050405020304" pitchFamily="18" charset="0"/>
              </a:rPr>
              <a:t> pour </a:t>
            </a:r>
            <a:r>
              <a:rPr lang="en-US" dirty="0" err="1">
                <a:latin typeface="Times New Roman" panose="02020603050405020304" pitchFamily="18" charset="0"/>
                <a:cs typeface="Times New Roman" panose="02020603050405020304" pitchFamily="18" charset="0"/>
              </a:rPr>
              <a:t>une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entreprise</a:t>
            </a:r>
            <a:r>
              <a:rPr lang="en-US" dirty="0">
                <a:latin typeface="Times New Roman" panose="02020603050405020304" pitchFamily="18" charset="0"/>
                <a:cs typeface="Times New Roman" panose="02020603050405020304" pitchFamily="18" charset="0"/>
              </a:rPr>
              <a:t> de commerce </a:t>
            </a:r>
            <a:r>
              <a:rPr lang="en-US" dirty="0" err="1">
                <a:latin typeface="Times New Roman" panose="02020603050405020304" pitchFamily="18" charset="0"/>
                <a:cs typeface="Times New Roman" panose="02020603050405020304" pitchFamily="18" charset="0"/>
              </a:rPr>
              <a:t>électronique</a:t>
            </a:r>
            <a:r>
              <a:rPr lang="en-US" dirty="0">
                <a:latin typeface="Times New Roman" panose="02020603050405020304" pitchFamily="18" charset="0"/>
                <a:cs typeface="Times New Roman" panose="02020603050405020304" pitchFamily="18" charset="0"/>
              </a:rPr>
              <a:t> qui </a:t>
            </a:r>
            <a:r>
              <a:rPr lang="en-US" dirty="0" err="1">
                <a:latin typeface="Times New Roman" panose="02020603050405020304" pitchFamily="18" charset="0"/>
                <a:cs typeface="Times New Roman" panose="02020603050405020304" pitchFamily="18" charset="0"/>
              </a:rPr>
              <a:t>souhaite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concevoir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une</a:t>
            </a:r>
            <a:r>
              <a:rPr lang="en-US" dirty="0">
                <a:latin typeface="Times New Roman" panose="02020603050405020304" pitchFamily="18" charset="0"/>
                <a:cs typeface="Times New Roman" panose="02020603050405020304" pitchFamily="18" charset="0"/>
              </a:rPr>
              <a:t> base de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pour </a:t>
            </a:r>
            <a:r>
              <a:rPr lang="en-US" dirty="0" err="1">
                <a:latin typeface="Times New Roman" panose="02020603050405020304" pitchFamily="18" charset="0"/>
                <a:cs typeface="Times New Roman" panose="02020603050405020304" pitchFamily="18" charset="0"/>
              </a:rPr>
              <a:t>gérer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produits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ses</a:t>
            </a:r>
            <a:r>
              <a:rPr lang="en-US" dirty="0">
                <a:latin typeface="Times New Roman" panose="02020603050405020304" pitchFamily="18" charset="0"/>
                <a:cs typeface="Times New Roman" panose="02020603050405020304" pitchFamily="18" charset="0"/>
              </a:rPr>
              <a:t> clients et </a:t>
            </a:r>
            <a:r>
              <a:rPr lang="en-US" dirty="0" err="1">
                <a:latin typeface="Times New Roman" panose="02020603050405020304" pitchFamily="18" charset="0"/>
                <a:cs typeface="Times New Roman" panose="02020603050405020304" pitchFamily="18" charset="0"/>
              </a:rPr>
              <a:t>ses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commandes</a:t>
            </a:r>
            <a:r>
              <a:rPr lang="en-US" dirty="0">
                <a:latin typeface="Times New Roman" panose="02020603050405020304" pitchFamily="18" charset="0"/>
                <a:cs typeface="Times New Roman" panose="02020603050405020304" pitchFamily="18" charset="0"/>
              </a:rPr>
              <a:t>. Avec le Business Modeler de Talend, nous </a:t>
            </a:r>
            <a:r>
              <a:rPr lang="en-US" dirty="0" err="1">
                <a:latin typeface="Times New Roman" panose="02020603050405020304" pitchFamily="18" charset="0"/>
                <a:cs typeface="Times New Roman" panose="02020603050405020304" pitchFamily="18" charset="0"/>
              </a:rPr>
              <a:t>pouvons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créer</a:t>
            </a:r>
            <a:r>
              <a:rPr lang="en-US" dirty="0">
                <a:latin typeface="Times New Roman" panose="02020603050405020304" pitchFamily="18" charset="0"/>
                <a:cs typeface="Times New Roman" panose="02020603050405020304" pitchFamily="18" charset="0"/>
              </a:rPr>
              <a:t> un </a:t>
            </a:r>
            <a:r>
              <a:rPr lang="en-US" dirty="0" err="1">
                <a:latin typeface="Times New Roman" panose="02020603050405020304" pitchFamily="18" charset="0"/>
                <a:cs typeface="Times New Roman" panose="02020603050405020304" pitchFamily="18" charset="0"/>
              </a:rPr>
              <a:t>modèle</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données</a:t>
            </a:r>
            <a:r>
              <a:rPr lang="en-US" dirty="0">
                <a:latin typeface="Times New Roman" panose="02020603050405020304" pitchFamily="18" charset="0"/>
                <a:cs typeface="Times New Roman" panose="02020603050405020304" pitchFamily="18" charset="0"/>
              </a:rPr>
              <a:t> qui </a:t>
            </a:r>
            <a:r>
              <a:rPr lang="en-US" dirty="0" err="1">
                <a:latin typeface="Times New Roman" panose="02020603050405020304" pitchFamily="18" charset="0"/>
                <a:cs typeface="Times New Roman" panose="02020603050405020304" pitchFamily="18" charset="0"/>
              </a:rPr>
              <a:t>comprend</a:t>
            </a:r>
            <a:r>
              <a:rPr lang="en-US" dirty="0">
                <a:latin typeface="Times New Roman" panose="02020603050405020304" pitchFamily="18" charset="0"/>
                <a:cs typeface="Times New Roman" panose="02020603050405020304" pitchFamily="18" charset="0"/>
              </a:rPr>
              <a:t> les </a:t>
            </a:r>
            <a:r>
              <a:rPr lang="en-US" dirty="0" err="1">
                <a:latin typeface="Times New Roman" panose="02020603050405020304" pitchFamily="18" charset="0"/>
                <a:cs typeface="Times New Roman" panose="02020603050405020304" pitchFamily="18" charset="0"/>
              </a:rPr>
              <a:t>entités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suivantes</a:t>
            </a:r>
            <a:r>
              <a:rPr lang="en-US" dirty="0">
                <a:latin typeface="Times New Roman" panose="02020603050405020304" pitchFamily="18" charset="0"/>
                <a:cs typeface="Times New Roman" panose="02020603050405020304" pitchFamily="18" charset="0"/>
              </a:rPr>
              <a:t> :</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Produit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ID_Produit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Nom_Produit</a:t>
            </a:r>
            <a:r>
              <a:rPr lang="en-US" dirty="0">
                <a:latin typeface="Times New Roman" panose="02020603050405020304" pitchFamily="18" charset="0"/>
                <a:cs typeface="Times New Roman" panose="02020603050405020304" pitchFamily="18" charset="0"/>
              </a:rPr>
              <a:t>, Prix, </a:t>
            </a:r>
            <a:r>
              <a:rPr lang="en-US" dirty="0" err="1">
                <a:latin typeface="Times New Roman" panose="02020603050405020304" pitchFamily="18" charset="0"/>
                <a:cs typeface="Times New Roman" panose="02020603050405020304" pitchFamily="18" charset="0"/>
              </a:rPr>
              <a:t>Catégorie</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Client : </a:t>
            </a:r>
            <a:r>
              <a:rPr lang="en-US" dirty="0" err="1">
                <a:latin typeface="Times New Roman" panose="02020603050405020304" pitchFamily="18" charset="0"/>
                <a:cs typeface="Times New Roman" panose="02020603050405020304" pitchFamily="18" charset="0"/>
              </a:rPr>
              <a:t>ID_Client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Nom_Client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Adresse</a:t>
            </a:r>
            <a:r>
              <a:rPr lang="en-US" dirty="0">
                <a:latin typeface="Times New Roman" panose="02020603050405020304" pitchFamily="18" charset="0"/>
                <a:cs typeface="Times New Roman" panose="02020603050405020304" pitchFamily="18" charset="0"/>
              </a:rPr>
              <a:t>, Email</a:t>
            </a:r>
          </a:p>
          <a:p>
            <a:pPr marL="285750" indent="-285750" algn="just">
              <a:lnSpc>
                <a:spcPct val="150000"/>
              </a:lnSpc>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Commande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ID_Commande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ID_Client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étrangère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vers</a:t>
            </a:r>
            <a:r>
              <a:rPr lang="en-US" dirty="0">
                <a:latin typeface="Times New Roman" panose="02020603050405020304" pitchFamily="18" charset="0"/>
                <a:cs typeface="Times New Roman" panose="02020603050405020304" pitchFamily="18" charset="0"/>
              </a:rPr>
              <a:t> Client), </a:t>
            </a:r>
            <a:r>
              <a:rPr lang="en-US" dirty="0" err="1">
                <a:latin typeface="Times New Roman" panose="02020603050405020304" pitchFamily="18" charset="0"/>
                <a:cs typeface="Times New Roman" panose="02020603050405020304" pitchFamily="18" charset="0"/>
              </a:rPr>
              <a:t>ID_Produit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étrangère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vers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Produit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Quantité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Montant_Total</a:t>
            </a:r>
            <a:r>
              <a:rPr lang="en-US" dirty="0">
                <a:latin typeface="Times New Roman" panose="02020603050405020304" pitchFamily="18" charset="0"/>
                <a:cs typeface="Times New Roman" panose="02020603050405020304" pitchFamily="18" charset="0"/>
              </a:rPr>
              <a:t>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Le Business Modeler nous </a:t>
            </a:r>
            <a:r>
              <a:rPr lang="en-US" dirty="0" err="1">
                <a:latin typeface="Times New Roman" panose="02020603050405020304" pitchFamily="18" charset="0"/>
                <a:cs typeface="Times New Roman" panose="02020603050405020304" pitchFamily="18" charset="0"/>
              </a:rPr>
              <a:t>permet</a:t>
            </a:r>
            <a:r>
              <a:rPr lang="en-US" dirty="0">
                <a:latin typeface="Times New Roman" panose="02020603050405020304" pitchFamily="18" charset="0"/>
                <a:cs typeface="Times New Roman" panose="02020603050405020304" pitchFamily="18" charset="0"/>
              </a:rPr>
              <a:t> de </a:t>
            </a:r>
            <a:r>
              <a:rPr lang="en-US" dirty="0" err="1">
                <a:latin typeface="Times New Roman" panose="02020603050405020304" pitchFamily="18" charset="0"/>
                <a:cs typeface="Times New Roman" panose="02020603050405020304" pitchFamily="18" charset="0"/>
              </a:rPr>
              <a:t>définir</a:t>
            </a:r>
            <a:r>
              <a:rPr lang="en-US" dirty="0">
                <a:latin typeface="Times New Roman" panose="02020603050405020304" pitchFamily="18" charset="0"/>
                <a:cs typeface="Times New Roman" panose="02020603050405020304" pitchFamily="18" charset="0"/>
              </a:rPr>
              <a:t> les relations entre </a:t>
            </a:r>
            <a:r>
              <a:rPr lang="en-US" dirty="0" err="1">
                <a:latin typeface="Times New Roman" panose="02020603050405020304" pitchFamily="18" charset="0"/>
                <a:cs typeface="Times New Roman" panose="02020603050405020304" pitchFamily="18" charset="0"/>
              </a:rPr>
              <a:t>ces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entités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telles</a:t>
            </a:r>
            <a:r>
              <a:rPr lang="en-US" dirty="0">
                <a:latin typeface="Times New Roman" panose="02020603050405020304" pitchFamily="18" charset="0"/>
                <a:cs typeface="Times New Roman" panose="02020603050405020304" pitchFamily="18" charset="0"/>
              </a:rPr>
              <a:t> que les </a:t>
            </a:r>
            <a:r>
              <a:rPr lang="en-US" dirty="0" err="1">
                <a:latin typeface="Times New Roman" panose="02020603050405020304" pitchFamily="18" charset="0"/>
                <a:cs typeface="Times New Roman" panose="02020603050405020304" pitchFamily="18" charset="0"/>
              </a:rPr>
              <a:t>clés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primaires</a:t>
            </a:r>
            <a:r>
              <a:rPr lang="en-US" dirty="0">
                <a:latin typeface="Times New Roman" panose="02020603050405020304" pitchFamily="18" charset="0"/>
                <a:cs typeface="Times New Roman" panose="02020603050405020304" pitchFamily="18" charset="0"/>
              </a:rPr>
              <a:t> et </a:t>
            </a:r>
            <a:r>
              <a:rPr lang="en-US" dirty="0" err="1">
                <a:latin typeface="Times New Roman" panose="02020603050405020304" pitchFamily="18" charset="0"/>
                <a:cs typeface="Times New Roman" panose="02020603050405020304" pitchFamily="18" charset="0"/>
              </a:rPr>
              <a:t>étrangères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ainsi</a:t>
            </a:r>
            <a:r>
              <a:rPr lang="en-US" dirty="0">
                <a:latin typeface="Times New Roman" panose="02020603050405020304" pitchFamily="18" charset="0"/>
                <a:cs typeface="Times New Roman" panose="02020603050405020304" pitchFamily="18" charset="0"/>
              </a:rPr>
              <a:t> que les </a:t>
            </a:r>
            <a:r>
              <a:rPr lang="en-US" dirty="0" err="1">
                <a:latin typeface="Times New Roman" panose="02020603050405020304" pitchFamily="18" charset="0"/>
                <a:cs typeface="Times New Roman" panose="02020603050405020304" pitchFamily="18" charset="0"/>
              </a:rPr>
              <a:t>contraintes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d'intégrité</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115027605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9376" y="2420888"/>
            <a:ext cx="11233248" cy="3085803"/>
          </a:xfrm>
        </p:spPr>
        <p:txBody>
          <a:bodyPr>
            <a:normAutofit fontScale="85000" lnSpcReduction="20000"/>
          </a:bodyPr>
          <a:lstStyle/>
          <a:p>
            <a:pPr marL="0" indent="0" algn="just">
              <a:lnSpc>
                <a:spcPct val="150000"/>
              </a:lnSpc>
              <a:buNone/>
            </a:pPr>
            <a:r>
              <a:rPr lang="fr-FR" sz="2400" dirty="0">
                <a:latin typeface="Times New Roman" panose="02020603050405020304" pitchFamily="18" charset="0"/>
                <a:cs typeface="Times New Roman" panose="02020603050405020304" pitchFamily="18" charset="0"/>
              </a:rPr>
              <a:t>Le </a:t>
            </a:r>
            <a:r>
              <a:rPr lang="fr-FR" sz="2400" dirty="0" err="1">
                <a:latin typeface="Times New Roman" panose="02020603050405020304" pitchFamily="18" charset="0"/>
                <a:cs typeface="Times New Roman" panose="02020603050405020304" pitchFamily="18" charset="0"/>
              </a:rPr>
              <a:t>Metadata</a:t>
            </a:r>
            <a:r>
              <a:rPr lang="fr-FR" sz="2400" dirty="0">
                <a:latin typeface="Times New Roman" panose="02020603050405020304" pitchFamily="18" charset="0"/>
                <a:cs typeface="Times New Roman" panose="02020603050405020304" pitchFamily="18" charset="0"/>
              </a:rPr>
              <a:t> Manager de </a:t>
            </a:r>
            <a:r>
              <a:rPr lang="fr-FR" sz="2400" dirty="0" err="1">
                <a:latin typeface="Times New Roman" panose="02020603050405020304" pitchFamily="18" charset="0"/>
                <a:cs typeface="Times New Roman" panose="02020603050405020304" pitchFamily="18" charset="0"/>
              </a:rPr>
              <a:t>Talend</a:t>
            </a:r>
            <a:r>
              <a:rPr lang="fr-FR" sz="2400" dirty="0">
                <a:latin typeface="Times New Roman" panose="02020603050405020304" pitchFamily="18" charset="0"/>
                <a:cs typeface="Times New Roman" panose="02020603050405020304" pitchFamily="18" charset="0"/>
              </a:rPr>
              <a:t> est un composant qui permet de gérer les métadonnées des projets. Les métadonnées sont des informations descriptives sur les données, telles que leur structure, leur signification, leur source, etc. </a:t>
            </a:r>
          </a:p>
          <a:p>
            <a:pPr marL="0" indent="0" algn="just">
              <a:lnSpc>
                <a:spcPct val="150000"/>
              </a:lnSpc>
              <a:buNone/>
            </a:pPr>
            <a:r>
              <a:rPr lang="fr-FR" sz="2400" dirty="0">
                <a:latin typeface="Times New Roman" panose="02020603050405020304" pitchFamily="18" charset="0"/>
                <a:cs typeface="Times New Roman" panose="02020603050405020304" pitchFamily="18" charset="0"/>
              </a:rPr>
              <a:t>Le </a:t>
            </a:r>
            <a:r>
              <a:rPr lang="fr-FR" sz="2400" dirty="0" err="1">
                <a:latin typeface="Times New Roman" panose="02020603050405020304" pitchFamily="18" charset="0"/>
                <a:cs typeface="Times New Roman" panose="02020603050405020304" pitchFamily="18" charset="0"/>
              </a:rPr>
              <a:t>Metadata</a:t>
            </a:r>
            <a:r>
              <a:rPr lang="fr-FR" sz="2400" dirty="0">
                <a:latin typeface="Times New Roman" panose="02020603050405020304" pitchFamily="18" charset="0"/>
                <a:cs typeface="Times New Roman" panose="02020603050405020304" pitchFamily="18" charset="0"/>
              </a:rPr>
              <a:t> Manager de </a:t>
            </a:r>
            <a:r>
              <a:rPr lang="fr-FR" sz="2400" dirty="0" err="1">
                <a:latin typeface="Times New Roman" panose="02020603050405020304" pitchFamily="18" charset="0"/>
                <a:cs typeface="Times New Roman" panose="02020603050405020304" pitchFamily="18" charset="0"/>
              </a:rPr>
              <a:t>Talend</a:t>
            </a:r>
            <a:r>
              <a:rPr lang="fr-FR" sz="2400" dirty="0">
                <a:latin typeface="Times New Roman" panose="02020603050405020304" pitchFamily="18" charset="0"/>
                <a:cs typeface="Times New Roman" panose="02020603050405020304" pitchFamily="18" charset="0"/>
              </a:rPr>
              <a:t> permet de créer, de modifier et de gérer les métadonnées de manière centralisée. Il offre également des fonctionnalités avancées telles que la documentation automatique des métadonnées, la recherche et la navigation dans les métadonnées, la gestion des versions, etc. Cet outil facilite la compréhension et la gestion des données dans les projets de BI.</a:t>
            </a:r>
          </a:p>
        </p:txBody>
      </p:sp>
      <p:sp>
        <p:nvSpPr>
          <p:cNvPr id="6" name="Titre 1">
            <a:extLst>
              <a:ext uri="{FF2B5EF4-FFF2-40B4-BE49-F238E27FC236}">
                <a16:creationId xmlns:a16="http://schemas.microsoft.com/office/drawing/2014/main" xmlns="" id="{CE5E89EB-B35F-6847-AF08-C0C2E4AA6BFD}"/>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err="1">
                <a:solidFill>
                  <a:schemeClr val="accent5">
                    <a:lumMod val="20000"/>
                    <a:lumOff val="80000"/>
                  </a:schemeClr>
                </a:solidFill>
                <a:latin typeface="Times New Roman" pitchFamily="18" charset="0"/>
                <a:cs typeface="Times New Roman" pitchFamily="18" charset="0"/>
              </a:rPr>
              <a:t>metadata</a:t>
            </a:r>
            <a:r>
              <a:rPr lang="fr-FR" sz="2000" i="1" dirty="0">
                <a:solidFill>
                  <a:schemeClr val="accent5">
                    <a:lumMod val="20000"/>
                    <a:lumOff val="80000"/>
                  </a:schemeClr>
                </a:solidFill>
                <a:latin typeface="Times New Roman" pitchFamily="18" charset="0"/>
                <a:cs typeface="Times New Roman" pitchFamily="18" charset="0"/>
              </a:rPr>
              <a:t> manager</a:t>
            </a:r>
          </a:p>
        </p:txBody>
      </p:sp>
    </p:spTree>
    <p:extLst>
      <p:ext uri="{BB962C8B-B14F-4D97-AF65-F5344CB8AC3E}">
        <p14:creationId xmlns:p14="http://schemas.microsoft.com/office/powerpoint/2010/main" xmlns="" val="99455348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9416" y="2060848"/>
            <a:ext cx="6912768" cy="4525963"/>
          </a:xfrm>
        </p:spPr>
        <p:txBody>
          <a:bodyPr>
            <a:normAutofit/>
          </a:bodyPr>
          <a:lstStyle/>
          <a:p>
            <a:pPr algn="just"/>
            <a:r>
              <a:rPr lang="fr-FR" sz="2400" dirty="0">
                <a:latin typeface="Times New Roman" pitchFamily="18" charset="0"/>
                <a:cs typeface="Times New Roman" pitchFamily="18" charset="0"/>
              </a:rPr>
              <a:t>Le </a:t>
            </a:r>
            <a:r>
              <a:rPr lang="fr-FR" sz="2400" dirty="0" err="1">
                <a:latin typeface="Times New Roman" pitchFamily="18" charset="0"/>
                <a:cs typeface="Times New Roman" pitchFamily="18" charset="0"/>
              </a:rPr>
              <a:t>Metadata</a:t>
            </a:r>
            <a:r>
              <a:rPr lang="fr-FR" sz="2400" dirty="0">
                <a:latin typeface="Times New Roman" pitchFamily="18" charset="0"/>
                <a:cs typeface="Times New Roman" pitchFamily="18" charset="0"/>
              </a:rPr>
              <a:t> Manager stocke et gère toutes les métadonnées des projets, notamment les données contextuelles, comme les informations de connexion aux bases de données et les chemins d’accès et les structures (ou contrat d’interface) des fichiers utilisés.</a:t>
            </a:r>
          </a:p>
          <a:p>
            <a:endParaRPr lang="fr-FR" sz="2000" dirty="0"/>
          </a:p>
        </p:txBody>
      </p:sp>
      <p:pic>
        <p:nvPicPr>
          <p:cNvPr id="4" name="Imag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112224" y="1763688"/>
            <a:ext cx="2787352" cy="4565526"/>
          </a:xfrm>
          <a:prstGeom prst="rect">
            <a:avLst/>
          </a:prstGeom>
        </p:spPr>
      </p:pic>
      <p:sp>
        <p:nvSpPr>
          <p:cNvPr id="7" name="Titre 1">
            <a:extLst>
              <a:ext uri="{FF2B5EF4-FFF2-40B4-BE49-F238E27FC236}">
                <a16:creationId xmlns:a16="http://schemas.microsoft.com/office/drawing/2014/main" xmlns="" id="{41DD863C-BC0F-5E44-8804-42363534C3F2}"/>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err="1">
                <a:solidFill>
                  <a:schemeClr val="accent5">
                    <a:lumMod val="20000"/>
                    <a:lumOff val="80000"/>
                  </a:schemeClr>
                </a:solidFill>
                <a:latin typeface="Times New Roman" pitchFamily="18" charset="0"/>
                <a:cs typeface="Times New Roman" pitchFamily="18" charset="0"/>
              </a:rPr>
              <a:t>metadata</a:t>
            </a:r>
            <a:r>
              <a:rPr lang="fr-FR" sz="2000" i="1" dirty="0">
                <a:solidFill>
                  <a:schemeClr val="accent5">
                    <a:lumMod val="20000"/>
                    <a:lumOff val="80000"/>
                  </a:schemeClr>
                </a:solidFill>
                <a:latin typeface="Times New Roman" pitchFamily="18" charset="0"/>
                <a:cs typeface="Times New Roman" pitchFamily="18" charset="0"/>
              </a:rPr>
              <a:t> manager</a:t>
            </a:r>
          </a:p>
        </p:txBody>
      </p:sp>
    </p:spTree>
    <p:extLst>
      <p:ext uri="{BB962C8B-B14F-4D97-AF65-F5344CB8AC3E}">
        <p14:creationId xmlns:p14="http://schemas.microsoft.com/office/powerpoint/2010/main" xmlns="" val="292968924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06922" y="1988840"/>
            <a:ext cx="9337996" cy="4608511"/>
          </a:xfrm>
        </p:spPr>
        <p:txBody>
          <a:bodyPr>
            <a:normAutofit/>
          </a:bodyPr>
          <a:lstStyle/>
          <a:p>
            <a:pPr algn="just"/>
            <a:r>
              <a:rPr lang="fr-FR" sz="2000" dirty="0">
                <a:latin typeface="Times New Roman" pitchFamily="18" charset="0"/>
                <a:cs typeface="Times New Roman" pitchFamily="18" charset="0"/>
              </a:rPr>
              <a:t>Permet de définir la structure de fichier de plusieurs type:</a:t>
            </a:r>
          </a:p>
          <a:p>
            <a:pPr lvl="1" algn="just"/>
            <a:r>
              <a:rPr lang="fr-FR" sz="1800" dirty="0">
                <a:latin typeface="Times New Roman" pitchFamily="18" charset="0"/>
                <a:cs typeface="Times New Roman" pitchFamily="18" charset="0"/>
              </a:rPr>
              <a:t>positionnel.</a:t>
            </a:r>
          </a:p>
          <a:p>
            <a:pPr lvl="1" algn="just"/>
            <a:r>
              <a:rPr lang="fr-FR" sz="1800" dirty="0">
                <a:latin typeface="Times New Roman" pitchFamily="18" charset="0"/>
                <a:cs typeface="Times New Roman" pitchFamily="18" charset="0"/>
              </a:rPr>
              <a:t>Délimités par des séparateurs (CSV par exemple).</a:t>
            </a:r>
          </a:p>
          <a:p>
            <a:pPr lvl="1" algn="just"/>
            <a:r>
              <a:rPr lang="fr-FR" sz="1800" dirty="0">
                <a:latin typeface="Times New Roman" pitchFamily="18" charset="0"/>
                <a:cs typeface="Times New Roman" pitchFamily="18" charset="0"/>
              </a:rPr>
              <a:t>XML.</a:t>
            </a:r>
          </a:p>
          <a:p>
            <a:pPr lvl="1" algn="just"/>
            <a:r>
              <a:rPr lang="fr-FR" sz="1800" dirty="0">
                <a:latin typeface="Times New Roman" pitchFamily="18" charset="0"/>
                <a:cs typeface="Times New Roman" pitchFamily="18" charset="0"/>
              </a:rPr>
              <a:t>Excel.</a:t>
            </a:r>
          </a:p>
          <a:p>
            <a:pPr lvl="1" algn="just"/>
            <a:r>
              <a:rPr lang="fr-FR" sz="1800" dirty="0">
                <a:latin typeface="Times New Roman" pitchFamily="18" charset="0"/>
                <a:cs typeface="Times New Roman" pitchFamily="18" charset="0"/>
              </a:rPr>
              <a:t>Autre... </a:t>
            </a:r>
          </a:p>
          <a:p>
            <a:pPr marL="342900" lvl="1" indent="-342900" algn="just">
              <a:spcBef>
                <a:spcPts val="600"/>
              </a:spcBef>
              <a:buSzPct val="80000"/>
              <a:buFont typeface="Wingdings" pitchFamily="2" charset="2"/>
              <a:buChar char="Ø"/>
            </a:pPr>
            <a:r>
              <a:rPr lang="fr-FR" sz="1800" dirty="0">
                <a:latin typeface="Times New Roman" pitchFamily="18" charset="0"/>
                <a:cs typeface="Times New Roman" pitchFamily="18" charset="0"/>
              </a:rPr>
              <a:t>Etablir la connexion avec plusieurs SGBD.</a:t>
            </a:r>
          </a:p>
          <a:p>
            <a:pPr lvl="1" algn="just"/>
            <a:r>
              <a:rPr lang="fr-FR" sz="1800" dirty="0">
                <a:latin typeface="Times New Roman" pitchFamily="18" charset="0"/>
                <a:cs typeface="Times New Roman" pitchFamily="18" charset="0"/>
              </a:rPr>
              <a:t>MySQL</a:t>
            </a:r>
          </a:p>
          <a:p>
            <a:pPr lvl="1" algn="just"/>
            <a:r>
              <a:rPr lang="fr-FR" sz="1800" dirty="0">
                <a:latin typeface="Times New Roman" pitchFamily="18" charset="0"/>
                <a:cs typeface="Times New Roman" pitchFamily="18" charset="0"/>
              </a:rPr>
              <a:t>Oracle</a:t>
            </a:r>
          </a:p>
          <a:p>
            <a:pPr lvl="1" algn="just"/>
            <a:r>
              <a:rPr lang="fr-FR" sz="1800" dirty="0" err="1">
                <a:latin typeface="Times New Roman" pitchFamily="18" charset="0"/>
                <a:cs typeface="Times New Roman" pitchFamily="18" charset="0"/>
              </a:rPr>
              <a:t>PostgreSQL</a:t>
            </a:r>
            <a:endParaRPr lang="fr-FR" sz="1800" dirty="0">
              <a:latin typeface="Times New Roman" pitchFamily="18" charset="0"/>
              <a:cs typeface="Times New Roman" pitchFamily="18" charset="0"/>
            </a:endParaRPr>
          </a:p>
          <a:p>
            <a:pPr lvl="1" algn="just"/>
            <a:r>
              <a:rPr lang="fr-FR" sz="1800" dirty="0">
                <a:latin typeface="Times New Roman" pitchFamily="18" charset="0"/>
                <a:cs typeface="Times New Roman" pitchFamily="18" charset="0"/>
              </a:rPr>
              <a:t>AS400</a:t>
            </a:r>
          </a:p>
        </p:txBody>
      </p:sp>
      <p:sp>
        <p:nvSpPr>
          <p:cNvPr id="6" name="Titre 1">
            <a:extLst>
              <a:ext uri="{FF2B5EF4-FFF2-40B4-BE49-F238E27FC236}">
                <a16:creationId xmlns:a16="http://schemas.microsoft.com/office/drawing/2014/main" xmlns="" id="{874F66A9-D7E3-DF4E-90E8-1EEBFD99F092}"/>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err="1">
                <a:solidFill>
                  <a:schemeClr val="accent5">
                    <a:lumMod val="20000"/>
                    <a:lumOff val="80000"/>
                  </a:schemeClr>
                </a:solidFill>
                <a:latin typeface="Times New Roman" pitchFamily="18" charset="0"/>
                <a:cs typeface="Times New Roman" pitchFamily="18" charset="0"/>
              </a:rPr>
              <a:t>metadata</a:t>
            </a:r>
            <a:r>
              <a:rPr lang="fr-FR" sz="2000" i="1" dirty="0">
                <a:solidFill>
                  <a:schemeClr val="accent5">
                    <a:lumMod val="20000"/>
                    <a:lumOff val="80000"/>
                  </a:schemeClr>
                </a:solidFill>
                <a:latin typeface="Times New Roman" pitchFamily="18" charset="0"/>
                <a:cs typeface="Times New Roman" pitchFamily="18" charset="0"/>
              </a:rPr>
              <a:t> manager</a:t>
            </a:r>
          </a:p>
        </p:txBody>
      </p:sp>
    </p:spTree>
    <p:extLst>
      <p:ext uri="{BB962C8B-B14F-4D97-AF65-F5344CB8AC3E}">
        <p14:creationId xmlns:p14="http://schemas.microsoft.com/office/powerpoint/2010/main" xmlns="" val="327701676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xmlns="" id="{874F66A9-D7E3-DF4E-90E8-1EEBFD99F092}"/>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err="1">
                <a:solidFill>
                  <a:schemeClr val="accent5">
                    <a:lumMod val="20000"/>
                    <a:lumOff val="80000"/>
                  </a:schemeClr>
                </a:solidFill>
                <a:latin typeface="Times New Roman" pitchFamily="18" charset="0"/>
                <a:cs typeface="Times New Roman" pitchFamily="18" charset="0"/>
              </a:rPr>
              <a:t>metadata</a:t>
            </a:r>
            <a:r>
              <a:rPr lang="fr-FR" sz="2000" i="1" dirty="0">
                <a:solidFill>
                  <a:schemeClr val="accent5">
                    <a:lumMod val="20000"/>
                    <a:lumOff val="80000"/>
                  </a:schemeClr>
                </a:solidFill>
                <a:latin typeface="Times New Roman" pitchFamily="18" charset="0"/>
                <a:cs typeface="Times New Roman" pitchFamily="18" charset="0"/>
              </a:rPr>
              <a:t> manager</a:t>
            </a:r>
          </a:p>
        </p:txBody>
      </p:sp>
      <p:sp>
        <p:nvSpPr>
          <p:cNvPr id="7" name="TextBox 6">
            <a:extLst>
              <a:ext uri="{FF2B5EF4-FFF2-40B4-BE49-F238E27FC236}">
                <a16:creationId xmlns:a16="http://schemas.microsoft.com/office/drawing/2014/main" xmlns="" id="{5AEBCCEA-5117-0049-A156-669634E21352}"/>
              </a:ext>
            </a:extLst>
          </p:cNvPr>
          <p:cNvSpPr txBox="1"/>
          <p:nvPr/>
        </p:nvSpPr>
        <p:spPr>
          <a:xfrm>
            <a:off x="407368" y="2045331"/>
            <a:ext cx="11377264"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Dans </a:t>
            </a:r>
            <a:r>
              <a:rPr lang="en-US" sz="2000" dirty="0" err="1">
                <a:latin typeface="Times New Roman" panose="02020603050405020304" pitchFamily="18" charset="0"/>
                <a:cs typeface="Times New Roman" panose="02020603050405020304" pitchFamily="18" charset="0"/>
              </a:rPr>
              <a:t>notre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projet</a:t>
            </a:r>
            <a:r>
              <a:rPr lang="en-US" sz="2000" dirty="0">
                <a:latin typeface="Times New Roman" panose="02020603050405020304" pitchFamily="18" charset="0"/>
                <a:cs typeface="Times New Roman" panose="02020603050405020304" pitchFamily="18" charset="0"/>
              </a:rPr>
              <a:t> de commerce </a:t>
            </a:r>
            <a:r>
              <a:rPr lang="en-US" sz="2000" dirty="0" err="1">
                <a:latin typeface="Times New Roman" panose="02020603050405020304" pitchFamily="18" charset="0"/>
                <a:cs typeface="Times New Roman" panose="02020603050405020304" pitchFamily="18" charset="0"/>
              </a:rPr>
              <a:t>électronique</a:t>
            </a:r>
            <a:r>
              <a:rPr lang="en-US" sz="2000" dirty="0">
                <a:latin typeface="Times New Roman" panose="02020603050405020304" pitchFamily="18" charset="0"/>
                <a:cs typeface="Times New Roman" panose="02020603050405020304" pitchFamily="18" charset="0"/>
              </a:rPr>
              <a:t>, nous </a:t>
            </a:r>
            <a:r>
              <a:rPr lang="en-US" sz="2000" dirty="0" err="1">
                <a:latin typeface="Times New Roman" panose="02020603050405020304" pitchFamily="18" charset="0"/>
                <a:cs typeface="Times New Roman" panose="02020603050405020304" pitchFamily="18" charset="0"/>
              </a:rPr>
              <a:t>pouvons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utiliser</a:t>
            </a:r>
            <a:r>
              <a:rPr lang="en-US" sz="2000" dirty="0">
                <a:latin typeface="Times New Roman" panose="02020603050405020304" pitchFamily="18" charset="0"/>
                <a:cs typeface="Times New Roman" panose="02020603050405020304" pitchFamily="18" charset="0"/>
              </a:rPr>
              <a:t> le Metadata Manager de Talend pour </a:t>
            </a:r>
            <a:r>
              <a:rPr lang="en-US" sz="2000" dirty="0" err="1">
                <a:latin typeface="Times New Roman" panose="02020603050405020304" pitchFamily="18" charset="0"/>
                <a:cs typeface="Times New Roman" panose="02020603050405020304" pitchFamily="18" charset="0"/>
              </a:rPr>
              <a:t>gérer</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métadonnées</a:t>
            </a:r>
            <a:r>
              <a:rPr lang="en-US" sz="2000" dirty="0">
                <a:latin typeface="Times New Roman" panose="02020603050405020304" pitchFamily="18" charset="0"/>
                <a:cs typeface="Times New Roman" panose="02020603050405020304" pitchFamily="18" charset="0"/>
              </a:rPr>
              <a:t> des tables de </a:t>
            </a:r>
            <a:r>
              <a:rPr lang="en-US" sz="2000" dirty="0" err="1">
                <a:latin typeface="Times New Roman" panose="02020603050405020304" pitchFamily="18" charset="0"/>
                <a:cs typeface="Times New Roman" panose="02020603050405020304" pitchFamily="18" charset="0"/>
              </a:rPr>
              <a:t>notre</a:t>
            </a:r>
            <a:r>
              <a:rPr lang="en-US" sz="2000" dirty="0">
                <a:latin typeface="Times New Roman" panose="02020603050405020304" pitchFamily="18" charset="0"/>
                <a:cs typeface="Times New Roman" panose="02020603050405020304" pitchFamily="18" charset="0"/>
              </a:rPr>
              <a:t> base de </a:t>
            </a:r>
            <a:r>
              <a:rPr lang="en-US" sz="2000" dirty="0" err="1">
                <a:latin typeface="Times New Roman" panose="02020603050405020304" pitchFamily="18" charset="0"/>
                <a:cs typeface="Times New Roman" panose="02020603050405020304" pitchFamily="18" charset="0"/>
              </a:rPr>
              <a:t>données</a:t>
            </a:r>
            <a:r>
              <a:rPr lang="en-US" sz="2000" dirty="0">
                <a:latin typeface="Times New Roman" panose="02020603050405020304" pitchFamily="18" charset="0"/>
                <a:cs typeface="Times New Roman" panose="02020603050405020304" pitchFamily="18" charset="0"/>
              </a:rPr>
              <a:t>. </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Par </a:t>
            </a:r>
            <a:r>
              <a:rPr lang="en-US" sz="2000" dirty="0" err="1">
                <a:latin typeface="Times New Roman" panose="02020603050405020304" pitchFamily="18" charset="0"/>
                <a:cs typeface="Times New Roman" panose="02020603050405020304" pitchFamily="18" charset="0"/>
              </a:rPr>
              <a:t>exemple</a:t>
            </a:r>
            <a:r>
              <a:rPr lang="en-US" sz="2000" dirty="0">
                <a:latin typeface="Times New Roman" panose="02020603050405020304" pitchFamily="18" charset="0"/>
                <a:cs typeface="Times New Roman" panose="02020603050405020304" pitchFamily="18" charset="0"/>
              </a:rPr>
              <a:t>, pour la table </a:t>
            </a:r>
            <a:r>
              <a:rPr lang="en-US" sz="2000" dirty="0" err="1">
                <a:latin typeface="Times New Roman" panose="02020603050405020304" pitchFamily="18" charset="0"/>
                <a:cs typeface="Times New Roman" panose="02020603050405020304" pitchFamily="18" charset="0"/>
              </a:rPr>
              <a:t>Produit</a:t>
            </a:r>
            <a:r>
              <a:rPr lang="en-US" sz="2000" dirty="0">
                <a:latin typeface="Times New Roman" panose="02020603050405020304" pitchFamily="18" charset="0"/>
                <a:cs typeface="Times New Roman" panose="02020603050405020304" pitchFamily="18" charset="0"/>
              </a:rPr>
              <a:t>, nous </a:t>
            </a:r>
            <a:r>
              <a:rPr lang="en-US" sz="2000" dirty="0" err="1">
                <a:latin typeface="Times New Roman" panose="02020603050405020304" pitchFamily="18" charset="0"/>
                <a:cs typeface="Times New Roman" panose="02020603050405020304" pitchFamily="18" charset="0"/>
              </a:rPr>
              <a:t>pouvons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ajouter</a:t>
            </a:r>
            <a:r>
              <a:rPr lang="en-US" sz="2000" dirty="0">
                <a:latin typeface="Times New Roman" panose="02020603050405020304" pitchFamily="18" charset="0"/>
                <a:cs typeface="Times New Roman" panose="02020603050405020304" pitchFamily="18" charset="0"/>
              </a:rPr>
              <a:t> des </a:t>
            </a:r>
            <a:r>
              <a:rPr lang="en-US" sz="2000" dirty="0" err="1">
                <a:latin typeface="Times New Roman" panose="02020603050405020304" pitchFamily="18" charset="0"/>
                <a:cs typeface="Times New Roman" panose="02020603050405020304" pitchFamily="18" charset="0"/>
              </a:rPr>
              <a:t>métadonnées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telles</a:t>
            </a:r>
            <a:r>
              <a:rPr lang="en-US" sz="2000" dirty="0">
                <a:latin typeface="Times New Roman" panose="02020603050405020304" pitchFamily="18" charset="0"/>
                <a:cs typeface="Times New Roman" panose="02020603050405020304" pitchFamily="18" charset="0"/>
              </a:rPr>
              <a:t> que la description des </a:t>
            </a:r>
            <a:r>
              <a:rPr lang="en-US" sz="2000" dirty="0" err="1">
                <a:latin typeface="Times New Roman" panose="02020603050405020304" pitchFamily="18" charset="0"/>
                <a:cs typeface="Times New Roman" panose="02020603050405020304" pitchFamily="18" charset="0"/>
              </a:rPr>
              <a:t>colonnes</a:t>
            </a:r>
            <a:r>
              <a:rPr lang="en-US" sz="2000" dirty="0">
                <a:latin typeface="Times New Roman" panose="02020603050405020304" pitchFamily="18" charset="0"/>
                <a:cs typeface="Times New Roman" panose="02020603050405020304" pitchFamily="18" charset="0"/>
              </a:rPr>
              <a:t>, les types de </a:t>
            </a:r>
            <a:r>
              <a:rPr lang="en-US" sz="2000" dirty="0" err="1">
                <a:latin typeface="Times New Roman" panose="02020603050405020304" pitchFamily="18" charset="0"/>
                <a:cs typeface="Times New Roman" panose="02020603050405020304" pitchFamily="18" charset="0"/>
              </a:rPr>
              <a:t>données</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règles</a:t>
            </a:r>
            <a:r>
              <a:rPr lang="en-US" sz="2000" dirty="0">
                <a:latin typeface="Times New Roman" panose="02020603050405020304" pitchFamily="18" charset="0"/>
                <a:cs typeface="Times New Roman" panose="02020603050405020304" pitchFamily="18" charset="0"/>
              </a:rPr>
              <a:t> de validation, etc. </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Le Metadata Manager nous </a:t>
            </a:r>
            <a:r>
              <a:rPr lang="en-US" sz="2000" dirty="0" err="1">
                <a:latin typeface="Times New Roman" panose="02020603050405020304" pitchFamily="18" charset="0"/>
                <a:cs typeface="Times New Roman" panose="02020603050405020304" pitchFamily="18" charset="0"/>
              </a:rPr>
              <a:t>permet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également</a:t>
            </a:r>
            <a:r>
              <a:rPr lang="en-US" sz="2000" dirty="0">
                <a:latin typeface="Times New Roman" panose="02020603050405020304" pitchFamily="18" charset="0"/>
                <a:cs typeface="Times New Roman" panose="02020603050405020304" pitchFamily="18" charset="0"/>
              </a:rPr>
              <a:t> de documenter les sources de </a:t>
            </a:r>
            <a:r>
              <a:rPr lang="en-US" sz="2000" dirty="0" err="1">
                <a:latin typeface="Times New Roman" panose="02020603050405020304" pitchFamily="18" charset="0"/>
                <a:cs typeface="Times New Roman" panose="02020603050405020304" pitchFamily="18" charset="0"/>
              </a:rPr>
              <a:t>données</a:t>
            </a:r>
            <a:r>
              <a:rPr lang="en-US" sz="2000" dirty="0">
                <a:latin typeface="Times New Roman" panose="02020603050405020304" pitchFamily="18" charset="0"/>
                <a:cs typeface="Times New Roman" panose="02020603050405020304" pitchFamily="18" charset="0"/>
              </a:rPr>
              <a:t>, les transformations </a:t>
            </a:r>
            <a:r>
              <a:rPr lang="en-US" sz="2000" dirty="0" err="1">
                <a:latin typeface="Times New Roman" panose="02020603050405020304" pitchFamily="18" charset="0"/>
                <a:cs typeface="Times New Roman" panose="02020603050405020304" pitchFamily="18" charset="0"/>
              </a:rPr>
              <a:t>appliquées</a:t>
            </a:r>
            <a:r>
              <a:rPr lang="en-US" sz="2000" dirty="0">
                <a:latin typeface="Times New Roman" panose="02020603050405020304" pitchFamily="18" charset="0"/>
                <a:cs typeface="Times New Roman" panose="02020603050405020304" pitchFamily="18" charset="0"/>
              </a:rPr>
              <a:t>, les </a:t>
            </a:r>
            <a:r>
              <a:rPr lang="en-US" sz="2000" dirty="0" err="1">
                <a:latin typeface="Times New Roman" panose="02020603050405020304" pitchFamily="18" charset="0"/>
                <a:cs typeface="Times New Roman" panose="02020603050405020304" pitchFamily="18" charset="0"/>
              </a:rPr>
              <a:t>règles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d'affaires</a:t>
            </a:r>
            <a:r>
              <a:rPr lang="en-US" sz="2000" dirty="0">
                <a:latin typeface="Times New Roman" panose="02020603050405020304" pitchFamily="18" charset="0"/>
                <a:cs typeface="Times New Roman" panose="02020603050405020304" pitchFamily="18" charset="0"/>
              </a:rPr>
              <a:t>, etc. </a:t>
            </a:r>
            <a:r>
              <a:rPr lang="en-US" sz="2000" dirty="0" err="1">
                <a:latin typeface="Times New Roman" panose="02020603050405020304" pitchFamily="18" charset="0"/>
                <a:cs typeface="Times New Roman" panose="02020603050405020304" pitchFamily="18" charset="0"/>
              </a:rPr>
              <a:t>Cela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facilite</a:t>
            </a:r>
            <a:r>
              <a:rPr lang="en-US" sz="2000" dirty="0">
                <a:latin typeface="Times New Roman" panose="02020603050405020304" pitchFamily="18" charset="0"/>
                <a:cs typeface="Times New Roman" panose="02020603050405020304" pitchFamily="18" charset="0"/>
              </a:rPr>
              <a:t> la </a:t>
            </a:r>
            <a:r>
              <a:rPr lang="en-US" sz="2000" dirty="0" err="1">
                <a:latin typeface="Times New Roman" panose="02020603050405020304" pitchFamily="18" charset="0"/>
                <a:cs typeface="Times New Roman" panose="02020603050405020304" pitchFamily="18" charset="0"/>
              </a:rPr>
              <a:t>compréhension</a:t>
            </a:r>
            <a:r>
              <a:rPr lang="en-US" sz="2000" dirty="0">
                <a:latin typeface="Times New Roman" panose="02020603050405020304" pitchFamily="18" charset="0"/>
                <a:cs typeface="Times New Roman" panose="02020603050405020304" pitchFamily="18" charset="0"/>
              </a:rPr>
              <a:t> et la gestion de </a:t>
            </a:r>
            <a:r>
              <a:rPr lang="en-US" sz="2000" dirty="0" err="1">
                <a:latin typeface="Times New Roman" panose="02020603050405020304" pitchFamily="18" charset="0"/>
                <a:cs typeface="Times New Roman" panose="02020603050405020304" pitchFamily="18" charset="0"/>
              </a:rPr>
              <a:t>notre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modèle</a:t>
            </a:r>
            <a:r>
              <a:rPr lang="en-US" sz="2000" dirty="0">
                <a:latin typeface="Times New Roman" panose="02020603050405020304" pitchFamily="18" charset="0"/>
                <a:cs typeface="Times New Roman" panose="02020603050405020304" pitchFamily="18" charset="0"/>
              </a:rPr>
              <a:t> de </a:t>
            </a:r>
            <a:r>
              <a:rPr lang="en-US" sz="2000" dirty="0" err="1">
                <a:latin typeface="Times New Roman" panose="02020603050405020304" pitchFamily="18" charset="0"/>
                <a:cs typeface="Times New Roman" panose="02020603050405020304" pitchFamily="18" charset="0"/>
              </a:rPr>
              <a:t>données</a:t>
            </a:r>
            <a:r>
              <a:rPr lang="en-US" sz="2000" dirty="0">
                <a:latin typeface="Times New Roman" panose="02020603050405020304" pitchFamily="18" charset="0"/>
                <a:cs typeface="Times New Roman" panose="02020603050405020304" pitchFamily="18" charset="0"/>
              </a:rPr>
              <a:t> par </a:t>
            </a:r>
            <a:r>
              <a:rPr lang="en-US" sz="2000" dirty="0" err="1">
                <a:latin typeface="Times New Roman" panose="02020603050405020304" pitchFamily="18" charset="0"/>
                <a:cs typeface="Times New Roman" panose="02020603050405020304" pitchFamily="18" charset="0"/>
              </a:rPr>
              <a:t>l'équipe</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64514252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9376" y="1916832"/>
            <a:ext cx="11233248" cy="4680520"/>
          </a:xfrm>
        </p:spPr>
        <p:txBody>
          <a:bodyPr>
            <a:normAutofit fontScale="85000" lnSpcReduction="10000"/>
          </a:bodyPr>
          <a:lstStyle/>
          <a:p>
            <a:pPr marL="0" indent="0" algn="just">
              <a:lnSpc>
                <a:spcPct val="150000"/>
              </a:lnSpc>
              <a:buNone/>
            </a:pPr>
            <a:r>
              <a:rPr lang="fr-FR" sz="2400">
                <a:latin typeface="Times New Roman" panose="02020603050405020304" pitchFamily="18" charset="0"/>
                <a:cs typeface="Times New Roman" panose="02020603050405020304" pitchFamily="18" charset="0"/>
              </a:rPr>
              <a:t>Le Job Designer de Talend est l'outil principal pour la conception et l'exécution des tâches d'intégration de données. Il offre une interface graphique intuitive pour créer des jobs d'intégration de données en utilisant des composants prédéfinis. Les utilisateurs peuvent glisser-déposer les composants sur une palette de conception et les connecter pour définir le flux de données. </a:t>
            </a:r>
          </a:p>
          <a:p>
            <a:pPr marL="0" indent="0" algn="just">
              <a:lnSpc>
                <a:spcPct val="150000"/>
              </a:lnSpc>
              <a:buNone/>
            </a:pPr>
            <a:endParaRPr lang="fr-FR" sz="2400">
              <a:latin typeface="Times New Roman" panose="02020603050405020304" pitchFamily="18" charset="0"/>
              <a:cs typeface="Times New Roman" panose="02020603050405020304" pitchFamily="18" charset="0"/>
            </a:endParaRPr>
          </a:p>
          <a:p>
            <a:pPr marL="0" indent="0" algn="just">
              <a:lnSpc>
                <a:spcPct val="150000"/>
              </a:lnSpc>
              <a:buNone/>
            </a:pPr>
            <a:r>
              <a:rPr lang="fr-FR" sz="2400">
                <a:latin typeface="Times New Roman" panose="02020603050405020304" pitchFamily="18" charset="0"/>
                <a:cs typeface="Times New Roman" panose="02020603050405020304" pitchFamily="18" charset="0"/>
              </a:rPr>
              <a:t>Le Job Designer prend en charge une large gamme de tâches d'intégration de données, telles que l'extraction, la transformation, le chargement (ETL), la qualité des données, etc. Il permet également de planifier et de gérer l'exécution des jobs, ainsi que de surveiller les performances et les erreurs. En résumé, le Job Designer de Talend est un outil puissant pour créer des workflows d'intégration de données complexes de manière visuelle et intuitive.</a:t>
            </a:r>
          </a:p>
        </p:txBody>
      </p:sp>
      <p:sp>
        <p:nvSpPr>
          <p:cNvPr id="7" name="Titre 1">
            <a:extLst>
              <a:ext uri="{FF2B5EF4-FFF2-40B4-BE49-F238E27FC236}">
                <a16:creationId xmlns:a16="http://schemas.microsoft.com/office/drawing/2014/main" xmlns="" id="{97A66587-6F2C-9D4D-8383-CA3B2FF32B0D}"/>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JOB DESIGNER</a:t>
            </a:r>
          </a:p>
        </p:txBody>
      </p:sp>
    </p:spTree>
    <p:extLst>
      <p:ext uri="{BB962C8B-B14F-4D97-AF65-F5344CB8AC3E}">
        <p14:creationId xmlns:p14="http://schemas.microsoft.com/office/powerpoint/2010/main" xmlns="" val="185170414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9376" y="1988840"/>
            <a:ext cx="4143130" cy="4248472"/>
          </a:xfrm>
        </p:spPr>
        <p:txBody>
          <a:bodyPr>
            <a:normAutofit/>
          </a:bodyPr>
          <a:lstStyle/>
          <a:p>
            <a:pPr marL="0" indent="0" algn="just">
              <a:lnSpc>
                <a:spcPct val="150000"/>
              </a:lnSpc>
              <a:buNone/>
            </a:pPr>
            <a:r>
              <a:rPr lang="fr-FR" sz="2000" dirty="0">
                <a:latin typeface="Times New Roman" pitchFamily="18" charset="0"/>
                <a:cs typeface="Times New Roman" pitchFamily="18" charset="0"/>
              </a:rPr>
              <a:t>Le Job Designer est l’espace dédié pour la conception des processus de manipulation de donnée (job), comme cité auparavant ,TALEND se base sur le principe du Drag &amp; Drop (Glisser / déposer), donc il suffit juste d’aller chercher le composant à utiliser et le faire glisser sur ledit espace.</a:t>
            </a:r>
          </a:p>
        </p:txBody>
      </p:sp>
      <p:pic>
        <p:nvPicPr>
          <p:cNvPr id="5" name="Imag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159896" y="1988840"/>
            <a:ext cx="5832648" cy="4380254"/>
          </a:xfrm>
          <a:prstGeom prst="rect">
            <a:avLst/>
          </a:prstGeom>
        </p:spPr>
      </p:pic>
      <p:sp>
        <p:nvSpPr>
          <p:cNvPr id="7" name="Titre 1">
            <a:extLst>
              <a:ext uri="{FF2B5EF4-FFF2-40B4-BE49-F238E27FC236}">
                <a16:creationId xmlns:a16="http://schemas.microsoft.com/office/drawing/2014/main" xmlns="" id="{48948FDB-2239-EB42-A4AC-68D353A40583}"/>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JOB DESIGNER</a:t>
            </a:r>
          </a:p>
        </p:txBody>
      </p:sp>
    </p:spTree>
    <p:extLst>
      <p:ext uri="{BB962C8B-B14F-4D97-AF65-F5344CB8AC3E}">
        <p14:creationId xmlns:p14="http://schemas.microsoft.com/office/powerpoint/2010/main" xmlns="" val="21879966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9376" y="1916832"/>
            <a:ext cx="8496944" cy="4525963"/>
          </a:xfrm>
        </p:spPr>
        <p:txBody>
          <a:bodyPr>
            <a:normAutofit/>
          </a:bodyPr>
          <a:lstStyle/>
          <a:p>
            <a:r>
              <a:rPr lang="fr-FR" sz="2400" dirty="0">
                <a:latin typeface="Times New Roman" pitchFamily="18" charset="0"/>
                <a:cs typeface="Times New Roman" pitchFamily="18" charset="0"/>
              </a:rPr>
              <a:t>Le Job Designer dispose d’une palette de composants.</a:t>
            </a:r>
          </a:p>
          <a:p>
            <a:pPr lvl="1"/>
            <a:r>
              <a:rPr lang="fr-FR" sz="2000" dirty="0">
                <a:latin typeface="Times New Roman" pitchFamily="18" charset="0"/>
                <a:cs typeface="Times New Roman" pitchFamily="18" charset="0"/>
              </a:rPr>
              <a:t>Les composants sont repartie par thème et/ou par type.</a:t>
            </a:r>
          </a:p>
          <a:p>
            <a:pPr lvl="1"/>
            <a:r>
              <a:rPr lang="fr-FR" sz="2000" dirty="0">
                <a:latin typeface="Times New Roman" pitchFamily="18" charset="0"/>
                <a:cs typeface="Times New Roman" pitchFamily="18" charset="0"/>
              </a:rPr>
              <a:t>Trois catégories de composants :</a:t>
            </a:r>
          </a:p>
          <a:p>
            <a:pPr lvl="2"/>
            <a:r>
              <a:rPr lang="fr-FR" sz="1800" dirty="0">
                <a:latin typeface="Times New Roman" pitchFamily="18" charset="0"/>
                <a:cs typeface="Times New Roman" pitchFamily="18" charset="0"/>
              </a:rPr>
              <a:t>Composants utilisés en entrée.</a:t>
            </a:r>
          </a:p>
          <a:p>
            <a:pPr lvl="2"/>
            <a:r>
              <a:rPr lang="fr-FR" sz="1800" dirty="0">
                <a:latin typeface="Times New Roman" pitchFamily="18" charset="0"/>
                <a:cs typeface="Times New Roman" pitchFamily="18" charset="0"/>
              </a:rPr>
              <a:t>Composants intermédiaire.</a:t>
            </a:r>
          </a:p>
          <a:p>
            <a:pPr lvl="2"/>
            <a:r>
              <a:rPr lang="fr-FR" sz="1800" dirty="0">
                <a:latin typeface="Times New Roman" pitchFamily="18" charset="0"/>
                <a:cs typeface="Times New Roman" pitchFamily="18" charset="0"/>
              </a:rPr>
              <a:t>Composants utilisés en sortie.</a:t>
            </a:r>
          </a:p>
          <a:p>
            <a:pPr lvl="1"/>
            <a:r>
              <a:rPr lang="fr-FR" sz="2000" dirty="0">
                <a:latin typeface="Times New Roman" pitchFamily="18" charset="0"/>
                <a:cs typeface="Times New Roman" pitchFamily="18" charset="0"/>
              </a:rPr>
              <a:t>Dispose d’un outil de recherche des </a:t>
            </a:r>
          </a:p>
          <a:p>
            <a:pPr marL="665162" lvl="2" indent="0">
              <a:buNone/>
            </a:pPr>
            <a:r>
              <a:rPr lang="fr-FR" sz="1800" dirty="0">
                <a:latin typeface="Times New Roman" pitchFamily="18" charset="0"/>
                <a:cs typeface="Times New Roman" pitchFamily="18" charset="0"/>
              </a:rPr>
              <a:t>composants</a:t>
            </a:r>
          </a:p>
          <a:p>
            <a:endParaRPr lang="fr-FR" sz="1600" dirty="0"/>
          </a:p>
        </p:txBody>
      </p:sp>
      <p:pic>
        <p:nvPicPr>
          <p:cNvPr id="6" name="Image 5"/>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7536160" y="1916832"/>
            <a:ext cx="3892054" cy="4759099"/>
          </a:xfrm>
          <a:prstGeom prst="rect">
            <a:avLst/>
          </a:prstGeom>
        </p:spPr>
      </p:pic>
      <p:sp>
        <p:nvSpPr>
          <p:cNvPr id="7" name="Titre 1">
            <a:extLst>
              <a:ext uri="{FF2B5EF4-FFF2-40B4-BE49-F238E27FC236}">
                <a16:creationId xmlns:a16="http://schemas.microsoft.com/office/drawing/2014/main" xmlns="" id="{9FFDA473-BEFE-3640-9231-C71A6F50D96F}"/>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JOB DESIGNER</a:t>
            </a:r>
          </a:p>
        </p:txBody>
      </p:sp>
    </p:spTree>
    <p:extLst>
      <p:ext uri="{BB962C8B-B14F-4D97-AF65-F5344CB8AC3E}">
        <p14:creationId xmlns:p14="http://schemas.microsoft.com/office/powerpoint/2010/main" xmlns="" val="25272180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9376" y="1916832"/>
            <a:ext cx="11233248" cy="4680520"/>
          </a:xfrm>
        </p:spPr>
        <p:txBody>
          <a:bodyPr>
            <a:normAutofit fontScale="92500"/>
          </a:bodyPr>
          <a:lstStyle/>
          <a:p>
            <a:pPr marL="0" indent="0" algn="just">
              <a:lnSpc>
                <a:spcPct val="150000"/>
              </a:lnSpc>
              <a:buNone/>
            </a:pPr>
            <a:r>
              <a:rPr lang="fr-FR" sz="2000">
                <a:latin typeface="Times New Roman" panose="02020603050405020304" pitchFamily="18" charset="0"/>
                <a:cs typeface="Times New Roman" panose="02020603050405020304" pitchFamily="18" charset="0"/>
              </a:rPr>
              <a:t>Supposons que nous devons extraire les données des commandes de notre système de commerce électronique et les charger dans un entrepôt de données pour l'analyse. Nous pouvons utiliser le Job Designer de Talend pour créer un job d'extraction, transformation et chargement (ETL) qui effectue les étapes suivantes :</a:t>
            </a:r>
          </a:p>
          <a:p>
            <a:pPr algn="just">
              <a:lnSpc>
                <a:spcPct val="150000"/>
              </a:lnSpc>
              <a:buFont typeface="Arial" panose="020B0604020202020204" pitchFamily="34" charset="0"/>
              <a:buChar char="•"/>
            </a:pPr>
            <a:r>
              <a:rPr lang="fr-FR" sz="2000">
                <a:latin typeface="Times New Roman" panose="02020603050405020304" pitchFamily="18" charset="0"/>
                <a:cs typeface="Times New Roman" panose="02020603050405020304" pitchFamily="18" charset="0"/>
              </a:rPr>
              <a:t>Extraction des données des commandes de la base de données de production.</a:t>
            </a:r>
          </a:p>
          <a:p>
            <a:pPr algn="just">
              <a:lnSpc>
                <a:spcPct val="150000"/>
              </a:lnSpc>
              <a:buFont typeface="Arial" panose="020B0604020202020204" pitchFamily="34" charset="0"/>
              <a:buChar char="•"/>
            </a:pPr>
            <a:r>
              <a:rPr lang="fr-FR" sz="2000">
                <a:latin typeface="Times New Roman" panose="02020603050405020304" pitchFamily="18" charset="0"/>
                <a:cs typeface="Times New Roman" panose="02020603050405020304" pitchFamily="18" charset="0"/>
              </a:rPr>
              <a:t>Transformation des données pour nettoyer, filtrer et formater les informations selon les besoins.</a:t>
            </a:r>
          </a:p>
          <a:p>
            <a:pPr algn="just">
              <a:lnSpc>
                <a:spcPct val="150000"/>
              </a:lnSpc>
              <a:buFont typeface="Arial" panose="020B0604020202020204" pitchFamily="34" charset="0"/>
              <a:buChar char="•"/>
            </a:pPr>
            <a:r>
              <a:rPr lang="fr-FR" sz="2000">
                <a:latin typeface="Times New Roman" panose="02020603050405020304" pitchFamily="18" charset="0"/>
                <a:cs typeface="Times New Roman" panose="02020603050405020304" pitchFamily="18" charset="0"/>
              </a:rPr>
              <a:t>Chargement des données transformées dans un entrepôt de données pour l'analyse ultérieure. </a:t>
            </a:r>
          </a:p>
          <a:p>
            <a:pPr marL="0" indent="0" algn="just">
              <a:lnSpc>
                <a:spcPct val="150000"/>
              </a:lnSpc>
              <a:buNone/>
            </a:pPr>
            <a:r>
              <a:rPr lang="fr-FR" sz="2000">
                <a:latin typeface="Times New Roman" panose="02020603050405020304" pitchFamily="18" charset="0"/>
                <a:cs typeface="Times New Roman" panose="02020603050405020304" pitchFamily="18" charset="0"/>
              </a:rPr>
              <a:t>Le Job Designer nous permet de créer visuellement ce flux de travail d'intégration de données en utilisant des composants prédéfinis de Talend, tels que tFileInputDelimited pour l'extraction, tMap pour la transformation, et tOracleOutput pour le chargement des données.</a:t>
            </a:r>
          </a:p>
        </p:txBody>
      </p:sp>
      <p:sp>
        <p:nvSpPr>
          <p:cNvPr id="7" name="Titre 1">
            <a:extLst>
              <a:ext uri="{FF2B5EF4-FFF2-40B4-BE49-F238E27FC236}">
                <a16:creationId xmlns:a16="http://schemas.microsoft.com/office/drawing/2014/main" xmlns="" id="{97A66587-6F2C-9D4D-8383-CA3B2FF32B0D}"/>
              </a:ext>
            </a:extLst>
          </p:cNvPr>
          <p:cNvSpPr>
            <a:spLocks noGrp="1"/>
          </p:cNvSpPr>
          <p:nvPr>
            <p:ph type="title"/>
          </p:nvPr>
        </p:nvSpPr>
        <p:spPr>
          <a:xfrm>
            <a:off x="479376" y="620688"/>
            <a:ext cx="9793088" cy="1143000"/>
          </a:xfrm>
        </p:spPr>
        <p:txBody>
          <a:bodyPr>
            <a:noAutofit/>
          </a:bodyPr>
          <a:lstStyle/>
          <a:p>
            <a:r>
              <a:rPr lang="fr-FR" sz="3600" dirty="0">
                <a:latin typeface="Times New Roman" pitchFamily="18" charset="0"/>
                <a:cs typeface="Times New Roman" pitchFamily="18" charset="0"/>
              </a:rPr>
              <a:t>Présentation de Talend Open Studio </a:t>
            </a:r>
            <a:br>
              <a:rPr lang="fr-FR" sz="3600" dirty="0">
                <a:latin typeface="Times New Roman" pitchFamily="18" charset="0"/>
                <a:cs typeface="Times New Roman" pitchFamily="18" charset="0"/>
              </a:rPr>
            </a:br>
            <a:r>
              <a:rPr lang="fr-FR" sz="2000" i="1" dirty="0">
                <a:solidFill>
                  <a:schemeClr val="accent5">
                    <a:lumMod val="20000"/>
                    <a:lumOff val="80000"/>
                  </a:schemeClr>
                </a:solidFill>
                <a:latin typeface="Times New Roman" pitchFamily="18" charset="0"/>
                <a:cs typeface="Times New Roman" pitchFamily="18" charset="0"/>
              </a:rPr>
              <a:t>JOB DESIGNER</a:t>
            </a:r>
          </a:p>
        </p:txBody>
      </p:sp>
    </p:spTree>
    <p:extLst>
      <p:ext uri="{BB962C8B-B14F-4D97-AF65-F5344CB8AC3E}">
        <p14:creationId xmlns:p14="http://schemas.microsoft.com/office/powerpoint/2010/main" xmlns="" val="183273116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9376" y="638174"/>
            <a:ext cx="10945216" cy="1143000"/>
          </a:xfrm>
        </p:spPr>
        <p:txBody>
          <a:bodyPr anchor="ctr">
            <a:normAutofit fontScale="90000"/>
          </a:bodyPr>
          <a:lstStyle/>
          <a:p>
            <a:r>
              <a:rPr lang="fr-FR" sz="4000" b="1" dirty="0">
                <a:latin typeface="Times New Roman" pitchFamily="18" charset="0"/>
                <a:cs typeface="Times New Roman" pitchFamily="18" charset="0"/>
              </a:rPr>
              <a:t>Liste des composants les plus utilisés</a:t>
            </a:r>
          </a:p>
        </p:txBody>
      </p:sp>
      <p:pic>
        <p:nvPicPr>
          <p:cNvPr id="12" name="Picture 40" descr="tFileInputDelimited"/>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16139" y="2509839"/>
            <a:ext cx="1482725" cy="854075"/>
          </a:xfrm>
          <a:prstGeom prst="rect">
            <a:avLst/>
          </a:prstGeom>
          <a:noFill/>
          <a:extLst>
            <a:ext uri="{909E8E84-426E-40DD-AFC4-6F175D3DCCD1}">
              <a14:hiddenFill xmlns:a14="http://schemas.microsoft.com/office/drawing/2010/main" xmlns="">
                <a:solidFill>
                  <a:srgbClr val="FFFFFF"/>
                </a:solidFill>
              </a14:hiddenFill>
            </a:ext>
          </a:extLst>
        </p:spPr>
      </p:pic>
      <p:pic>
        <p:nvPicPr>
          <p:cNvPr id="13" name="Picture 41" descr="tFileInputExcel"/>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41537" y="3823419"/>
            <a:ext cx="1309688" cy="804862"/>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42" descr="tFileInputMSDelimited"/>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089151" y="4709244"/>
            <a:ext cx="1533525" cy="717550"/>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43" descr="tFileInputPositionnel"/>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090737" y="5510932"/>
            <a:ext cx="1474788" cy="760413"/>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16" name="Group 72"/>
          <p:cNvGraphicFramePr>
            <a:graphicFrameLocks/>
          </p:cNvGraphicFramePr>
          <p:nvPr>
            <p:extLst>
              <p:ext uri="{D42A27DB-BD31-4B8C-83A1-F6EECF244321}">
                <p14:modId xmlns:p14="http://schemas.microsoft.com/office/powerpoint/2010/main" xmlns="" val="2166682187"/>
              </p:ext>
            </p:extLst>
          </p:nvPr>
        </p:nvGraphicFramePr>
        <p:xfrm>
          <a:off x="1981200" y="1916832"/>
          <a:ext cx="8229600" cy="4357936"/>
        </p:xfrm>
        <a:graphic>
          <a:graphicData uri="http://schemas.openxmlformats.org/drawingml/2006/table">
            <a:tbl>
              <a:tblPr/>
              <a:tblGrid>
                <a:gridCol w="1746250">
                  <a:extLst>
                    <a:ext uri="{9D8B030D-6E8A-4147-A177-3AD203B41FA5}">
                      <a16:colId xmlns:a16="http://schemas.microsoft.com/office/drawing/2014/main" xmlns="" val="20000"/>
                    </a:ext>
                  </a:extLst>
                </a:gridCol>
                <a:gridCol w="6483350">
                  <a:extLst>
                    <a:ext uri="{9D8B030D-6E8A-4147-A177-3AD203B41FA5}">
                      <a16:colId xmlns:a16="http://schemas.microsoft.com/office/drawing/2014/main" xmlns="" val="20001"/>
                    </a:ext>
                  </a:extLst>
                </a:gridCol>
              </a:tblGrid>
              <a:tr h="432048">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000" b="0" i="0" u="none" strike="noStrike" cap="none" normalizeH="0" baseline="0" dirty="0">
                          <a:ln>
                            <a:noFill/>
                          </a:ln>
                          <a:solidFill>
                            <a:schemeClr val="tx1"/>
                          </a:solidFill>
                          <a:effectLst/>
                          <a:latin typeface="Arial" charset="0"/>
                          <a:cs typeface="Arial" charset="0"/>
                        </a:rPr>
                        <a:t>Composants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000" b="0" i="0" u="none" strike="noStrike" cap="none" normalizeH="0" baseline="0" dirty="0">
                          <a:ln>
                            <a:noFill/>
                          </a:ln>
                          <a:solidFill>
                            <a:schemeClr val="tx1"/>
                          </a:solidFill>
                          <a:effectLst/>
                          <a:latin typeface="Arial" charset="0"/>
                          <a:cs typeface="Arial" charset="0"/>
                        </a:rPr>
                        <a:t>rôle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25888">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000" b="0" i="0" u="none" strike="noStrike" cap="none" normalizeH="0" baseline="0" dirty="0">
                        <a:ln>
                          <a:noFill/>
                        </a:ln>
                        <a:solidFill>
                          <a:srgbClr val="424A53"/>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lecture d'un fichier plat délimité</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lecture  d’un fichier Excel</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lecture d'un fichier plat multi-schémas</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lecture d’un fichier plat délimité avec des positions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91239126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22"/>
          <p:cNvGraphicFramePr>
            <a:graphicFrameLocks/>
          </p:cNvGraphicFramePr>
          <p:nvPr>
            <p:extLst>
              <p:ext uri="{D42A27DB-BD31-4B8C-83A1-F6EECF244321}">
                <p14:modId xmlns:p14="http://schemas.microsoft.com/office/powerpoint/2010/main" xmlns="" val="211792084"/>
              </p:ext>
            </p:extLst>
          </p:nvPr>
        </p:nvGraphicFramePr>
        <p:xfrm>
          <a:off x="1631504" y="1412776"/>
          <a:ext cx="8229600" cy="4641850"/>
        </p:xfrm>
        <a:graphic>
          <a:graphicData uri="http://schemas.openxmlformats.org/drawingml/2006/table">
            <a:tbl>
              <a:tblPr/>
              <a:tblGrid>
                <a:gridCol w="1920875">
                  <a:extLst>
                    <a:ext uri="{9D8B030D-6E8A-4147-A177-3AD203B41FA5}">
                      <a16:colId xmlns:a16="http://schemas.microsoft.com/office/drawing/2014/main" xmlns="" val="20000"/>
                    </a:ext>
                  </a:extLst>
                </a:gridCol>
                <a:gridCol w="6308725">
                  <a:extLst>
                    <a:ext uri="{9D8B030D-6E8A-4147-A177-3AD203B41FA5}">
                      <a16:colId xmlns:a16="http://schemas.microsoft.com/office/drawing/2014/main" xmlns="" val="20001"/>
                    </a:ext>
                  </a:extLst>
                </a:gridCol>
              </a:tblGrid>
              <a:tr h="715963">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Composants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rôle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25887">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Connexion à une base de données oracle</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Valider les changements sur une base de données Oracle</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Lire à partir d'une base de données oracle</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Ecrire dans une base de données oracle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pic>
        <p:nvPicPr>
          <p:cNvPr id="9" name="Picture 18" descr="tOracleCommit"/>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66455" y="3159026"/>
            <a:ext cx="1412875" cy="806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9" descr="tOracleConnection"/>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77567" y="2176364"/>
            <a:ext cx="1374998" cy="889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20" descr="tOracleInput"/>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884414" y="4108724"/>
            <a:ext cx="1334591" cy="854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7" name="Picture 21" descr="tOracleOutput"/>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907729" y="5091015"/>
            <a:ext cx="1344836" cy="820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63701028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3"/>
          <p:cNvGraphicFramePr>
            <a:graphicFrameLocks/>
          </p:cNvGraphicFramePr>
          <p:nvPr>
            <p:extLst>
              <p:ext uri="{D42A27DB-BD31-4B8C-83A1-F6EECF244321}">
                <p14:modId xmlns:p14="http://schemas.microsoft.com/office/powerpoint/2010/main" xmlns="" val="3024176260"/>
              </p:ext>
            </p:extLst>
          </p:nvPr>
        </p:nvGraphicFramePr>
        <p:xfrm>
          <a:off x="1631504" y="1340768"/>
          <a:ext cx="8229600" cy="4641850"/>
        </p:xfrm>
        <a:graphic>
          <a:graphicData uri="http://schemas.openxmlformats.org/drawingml/2006/table">
            <a:tbl>
              <a:tblPr/>
              <a:tblGrid>
                <a:gridCol w="1920875">
                  <a:extLst>
                    <a:ext uri="{9D8B030D-6E8A-4147-A177-3AD203B41FA5}">
                      <a16:colId xmlns:a16="http://schemas.microsoft.com/office/drawing/2014/main" xmlns="" val="20000"/>
                    </a:ext>
                  </a:extLst>
                </a:gridCol>
                <a:gridCol w="6308725">
                  <a:extLst>
                    <a:ext uri="{9D8B030D-6E8A-4147-A177-3AD203B41FA5}">
                      <a16:colId xmlns:a16="http://schemas.microsoft.com/office/drawing/2014/main" xmlns="" val="20001"/>
                    </a:ext>
                  </a:extLst>
                </a:gridCol>
              </a:tblGrid>
              <a:tr h="715963">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Composants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rôle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25887">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Annuler les modifications sur une base de données oracle</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Filtrage de colonne</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Times New Roman" pitchFamily="18" charset="0"/>
                        <a:ea typeface="+mn-ea"/>
                        <a:cs typeface="Times New Roman" pitchFamily="18"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Times New Roman" pitchFamily="18" charset="0"/>
                          <a:ea typeface="+mn-ea"/>
                          <a:cs typeface="Times New Roman" pitchFamily="18" charset="0"/>
                        </a:rPr>
                        <a:t>Filtrage de ligne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pic>
        <p:nvPicPr>
          <p:cNvPr id="9" name="Picture 18" descr="tOracleRollback"/>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28429" y="2308523"/>
            <a:ext cx="1212850" cy="819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20" descr="tFilterColumns"/>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028430" y="3676676"/>
            <a:ext cx="1386979" cy="828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7" name="Picture 21" descr="tFilterRow"/>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100438" y="4828804"/>
            <a:ext cx="1276027" cy="866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63701028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3"/>
          <p:cNvGraphicFramePr>
            <a:graphicFrameLocks/>
          </p:cNvGraphicFramePr>
          <p:nvPr>
            <p:extLst>
              <p:ext uri="{D42A27DB-BD31-4B8C-83A1-F6EECF244321}">
                <p14:modId xmlns:p14="http://schemas.microsoft.com/office/powerpoint/2010/main" xmlns="" val="3692564339"/>
              </p:ext>
            </p:extLst>
          </p:nvPr>
        </p:nvGraphicFramePr>
        <p:xfrm>
          <a:off x="2098675" y="1381126"/>
          <a:ext cx="8229600" cy="4696651"/>
        </p:xfrm>
        <a:graphic>
          <a:graphicData uri="http://schemas.openxmlformats.org/drawingml/2006/table">
            <a:tbl>
              <a:tblPr/>
              <a:tblGrid>
                <a:gridCol w="1920875">
                  <a:extLst>
                    <a:ext uri="{9D8B030D-6E8A-4147-A177-3AD203B41FA5}">
                      <a16:colId xmlns:a16="http://schemas.microsoft.com/office/drawing/2014/main" xmlns="" val="20000"/>
                    </a:ext>
                  </a:extLst>
                </a:gridCol>
                <a:gridCol w="6308725">
                  <a:extLst>
                    <a:ext uri="{9D8B030D-6E8A-4147-A177-3AD203B41FA5}">
                      <a16:colId xmlns:a16="http://schemas.microsoft.com/office/drawing/2014/main" xmlns="" val="20001"/>
                    </a:ext>
                  </a:extLst>
                </a:gridCol>
              </a:tblGrid>
              <a:tr h="715963">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Composants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rôle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25887">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Introduction du code java dans des Jobs</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Transformation Avancées ( Jointure , Filtrage , Transformation…)</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defRPr/>
                      </a:pPr>
                      <a:r>
                        <a:rPr kumimoji="0" lang="fr-FR" altLang="fr-FR" sz="2200" kern="1200" dirty="0" err="1">
                          <a:solidFill>
                            <a:schemeClr val="tx1"/>
                          </a:solidFill>
                          <a:latin typeface="Arial" charset="0"/>
                          <a:ea typeface="+mn-ea"/>
                          <a:cs typeface="Arial" charset="0"/>
                        </a:rPr>
                        <a:t>Dédoublonnage</a:t>
                      </a:r>
                      <a:r>
                        <a:rPr kumimoji="0" lang="fr-FR" altLang="fr-FR" sz="2200" kern="1200" dirty="0">
                          <a:solidFill>
                            <a:schemeClr val="tx1"/>
                          </a:solidFill>
                          <a:latin typeface="Arial" charset="0"/>
                          <a:ea typeface="+mn-ea"/>
                          <a:cs typeface="Arial" charset="0"/>
                        </a:rPr>
                        <a:t> de données</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pic>
        <p:nvPicPr>
          <p:cNvPr id="10" name="Picture 15" descr="tJavaRow"/>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617" y="2348881"/>
            <a:ext cx="892175" cy="892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1" name="Picture 16" descr="Tmap"/>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616" y="3789040"/>
            <a:ext cx="882650" cy="882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2" name="Picture 16" descr="tUniqRow"/>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711624" y="5013177"/>
            <a:ext cx="877888" cy="9128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63701028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3"/>
          <p:cNvGraphicFramePr>
            <a:graphicFrameLocks/>
          </p:cNvGraphicFramePr>
          <p:nvPr>
            <p:extLst>
              <p:ext uri="{D42A27DB-BD31-4B8C-83A1-F6EECF244321}">
                <p14:modId xmlns:p14="http://schemas.microsoft.com/office/powerpoint/2010/main" xmlns="" val="1767806662"/>
              </p:ext>
            </p:extLst>
          </p:nvPr>
        </p:nvGraphicFramePr>
        <p:xfrm>
          <a:off x="2098675" y="1381125"/>
          <a:ext cx="8229600" cy="4641850"/>
        </p:xfrm>
        <a:graphic>
          <a:graphicData uri="http://schemas.openxmlformats.org/drawingml/2006/table">
            <a:tbl>
              <a:tblPr/>
              <a:tblGrid>
                <a:gridCol w="1920875">
                  <a:extLst>
                    <a:ext uri="{9D8B030D-6E8A-4147-A177-3AD203B41FA5}">
                      <a16:colId xmlns:a16="http://schemas.microsoft.com/office/drawing/2014/main" xmlns="" val="20000"/>
                    </a:ext>
                  </a:extLst>
                </a:gridCol>
                <a:gridCol w="6308725">
                  <a:extLst>
                    <a:ext uri="{9D8B030D-6E8A-4147-A177-3AD203B41FA5}">
                      <a16:colId xmlns:a16="http://schemas.microsoft.com/office/drawing/2014/main" xmlns="" val="20001"/>
                    </a:ext>
                  </a:extLst>
                </a:gridCol>
              </a:tblGrid>
              <a:tr h="715963">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Composants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a:solidFill>
                            <a:schemeClr val="tx1"/>
                          </a:solidFill>
                          <a:latin typeface="+mn-lt"/>
                          <a:ea typeface="+mn-ea"/>
                          <a:cs typeface="+mn-cs"/>
                        </a:rPr>
                        <a:t>rôle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925887">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defRPr sz="2000">
                          <a:solidFill>
                            <a:srgbClr val="424A53"/>
                          </a:solidFill>
                          <a:latin typeface="Arial" charset="0"/>
                          <a:cs typeface="Arial" charset="0"/>
                        </a:defRPr>
                      </a:lvl1pPr>
                      <a:lvl2pPr marL="344488" algn="l">
                        <a:buFont typeface="Wingdings" pitchFamily="2" charset="2"/>
                        <a:defRPr>
                          <a:solidFill>
                            <a:srgbClr val="424A53"/>
                          </a:solidFill>
                          <a:latin typeface="Arial" charset="0"/>
                          <a:cs typeface="Arial" charset="0"/>
                        </a:defRPr>
                      </a:lvl2pPr>
                      <a:lvl3pPr marL="715963" algn="l">
                        <a:buFont typeface="Wingdings" pitchFamily="2" charset="2"/>
                        <a:defRPr sz="1600">
                          <a:solidFill>
                            <a:srgbClr val="000000"/>
                          </a:solidFill>
                          <a:latin typeface="Arial" charset="0"/>
                          <a:cs typeface="Arial" charset="0"/>
                        </a:defRPr>
                      </a:lvl3pPr>
                      <a:lvl4pPr marL="1046163" algn="l">
                        <a:defRPr sz="1400">
                          <a:solidFill>
                            <a:srgbClr val="000000"/>
                          </a:solidFill>
                          <a:latin typeface="Arial" charset="0"/>
                          <a:cs typeface="Arial" charset="0"/>
                        </a:defRPr>
                      </a:lvl4pPr>
                      <a:lvl5pPr marL="1355725" algn="l">
                        <a:buFont typeface="Arial" charset="0"/>
                        <a:defRPr sz="1400">
                          <a:solidFill>
                            <a:srgbClr val="000000"/>
                          </a:solidFill>
                          <a:latin typeface="Arial" charset="0"/>
                          <a:cs typeface="Arial" charset="0"/>
                        </a:defRPr>
                      </a:lvl5pPr>
                      <a:lvl6pPr marL="1812925" fontAlgn="base">
                        <a:spcBef>
                          <a:spcPct val="20000"/>
                        </a:spcBef>
                        <a:spcAft>
                          <a:spcPct val="0"/>
                        </a:spcAft>
                        <a:buClr>
                          <a:schemeClr val="tx2"/>
                        </a:buClr>
                        <a:buFont typeface="Arial" charset="0"/>
                        <a:defRPr sz="1400">
                          <a:solidFill>
                            <a:srgbClr val="000000"/>
                          </a:solidFill>
                          <a:latin typeface="Arial" charset="0"/>
                          <a:cs typeface="Arial" charset="0"/>
                        </a:defRPr>
                      </a:lvl6pPr>
                      <a:lvl7pPr marL="2270125" fontAlgn="base">
                        <a:spcBef>
                          <a:spcPct val="20000"/>
                        </a:spcBef>
                        <a:spcAft>
                          <a:spcPct val="0"/>
                        </a:spcAft>
                        <a:buClr>
                          <a:schemeClr val="tx2"/>
                        </a:buClr>
                        <a:buFont typeface="Arial" charset="0"/>
                        <a:defRPr sz="1400">
                          <a:solidFill>
                            <a:srgbClr val="000000"/>
                          </a:solidFill>
                          <a:latin typeface="Arial" charset="0"/>
                          <a:cs typeface="Arial" charset="0"/>
                        </a:defRPr>
                      </a:lvl7pPr>
                      <a:lvl8pPr marL="2727325" fontAlgn="base">
                        <a:spcBef>
                          <a:spcPct val="20000"/>
                        </a:spcBef>
                        <a:spcAft>
                          <a:spcPct val="0"/>
                        </a:spcAft>
                        <a:buClr>
                          <a:schemeClr val="tx2"/>
                        </a:buClr>
                        <a:buFont typeface="Arial" charset="0"/>
                        <a:defRPr sz="1400">
                          <a:solidFill>
                            <a:srgbClr val="000000"/>
                          </a:solidFill>
                          <a:latin typeface="Arial" charset="0"/>
                          <a:cs typeface="Arial" charset="0"/>
                        </a:defRPr>
                      </a:lvl8pPr>
                      <a:lvl9pPr marL="3184525" fontAlgn="base">
                        <a:spcBef>
                          <a:spcPct val="20000"/>
                        </a:spcBef>
                        <a:spcAft>
                          <a:spcPct val="0"/>
                        </a:spcAft>
                        <a:buClr>
                          <a:schemeClr val="tx2"/>
                        </a:buClr>
                        <a:buFont typeface="Arial" charset="0"/>
                        <a:defRPr sz="1400">
                          <a:solidFill>
                            <a:srgbClr val="000000"/>
                          </a:solidFill>
                          <a:latin typeface="Arial" charset="0"/>
                          <a:cs typeface="Arial"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Trie de données</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r>
                        <a:rPr kumimoji="0" lang="fr-FR" altLang="fr-FR" sz="2200" kern="1200" dirty="0">
                          <a:solidFill>
                            <a:schemeClr val="tx1"/>
                          </a:solidFill>
                          <a:latin typeface="+mn-lt"/>
                          <a:ea typeface="+mn-ea"/>
                          <a:cs typeface="+mn-cs"/>
                        </a:rPr>
                        <a:t>Ecriture d’un flux de données dans un fichier de sortie XML avec définition d'un arbre XML</a:t>
                      </a: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defRPr/>
                      </a:pPr>
                      <a:r>
                        <a:rPr kumimoji="0" lang="fr-FR" altLang="fr-FR" sz="2200" kern="1200" dirty="0">
                          <a:solidFill>
                            <a:schemeClr val="tx1"/>
                          </a:solidFill>
                          <a:latin typeface="Arial" charset="0"/>
                          <a:ea typeface="+mn-ea"/>
                          <a:cs typeface="Arial" charset="0"/>
                        </a:rPr>
                        <a:t>Groupement et </a:t>
                      </a:r>
                      <a:r>
                        <a:rPr kumimoji="0" lang="fr-FR" altLang="fr-FR" sz="2200" kern="1200" dirty="0" err="1">
                          <a:solidFill>
                            <a:schemeClr val="tx1"/>
                          </a:solidFill>
                          <a:latin typeface="Arial" charset="0"/>
                          <a:ea typeface="+mn-ea"/>
                          <a:cs typeface="Arial" charset="0"/>
                        </a:rPr>
                        <a:t>aggrégation</a:t>
                      </a:r>
                      <a:endParaRPr kumimoji="0" lang="fr-FR" altLang="fr-FR" sz="2200" kern="1200" dirty="0">
                        <a:solidFill>
                          <a:schemeClr val="tx1"/>
                        </a:solidFill>
                        <a:latin typeface="Arial" charset="0"/>
                        <a:ea typeface="+mn-ea"/>
                        <a:cs typeface="Arial" charset="0"/>
                      </a:endParaRPr>
                    </a:p>
                    <a:p>
                      <a:pPr marL="0" marR="0" lvl="0" indent="0" algn="l" defTabSz="914400" rtl="0" eaLnBrk="1" fontAlgn="base" latinLnBrk="0" hangingPunct="1">
                        <a:lnSpc>
                          <a:spcPct val="100000"/>
                        </a:lnSpc>
                        <a:spcBef>
                          <a:spcPct val="20000"/>
                        </a:spcBef>
                        <a:spcAft>
                          <a:spcPct val="0"/>
                        </a:spcAft>
                        <a:buClr>
                          <a:schemeClr val="tx2"/>
                        </a:buClr>
                        <a:buSzPct val="85000"/>
                        <a:buFont typeface="Wingdings 3" pitchFamily="18" charset="2"/>
                        <a:buNone/>
                        <a:tabLst/>
                      </a:pPr>
                      <a:endParaRPr kumimoji="0" lang="fr-FR" altLang="fr-FR" sz="2200" kern="1200" dirty="0">
                        <a:solidFill>
                          <a:schemeClr val="tx1"/>
                        </a:solidFill>
                        <a:latin typeface="+mn-lt"/>
                        <a:ea typeface="+mn-ea"/>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pic>
        <p:nvPicPr>
          <p:cNvPr id="5" name="Picture 15" descr="tSortRow"/>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67609" y="2420888"/>
            <a:ext cx="887413" cy="869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17" descr="tAdvancedFileOutputXML"/>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79576" y="3717032"/>
            <a:ext cx="1584176" cy="750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19" descr="tAggregateRow"/>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351584" y="4869161"/>
            <a:ext cx="1468958" cy="815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20475190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chor="ctr">
            <a:noAutofit/>
          </a:bodyPr>
          <a:lstStyle/>
          <a:p>
            <a:pPr algn="just"/>
            <a:r>
              <a:rPr lang="fr-FR" sz="3600" dirty="0">
                <a:latin typeface="Times New Roman" pitchFamily="18" charset="0"/>
                <a:cs typeface="Times New Roman" pitchFamily="18" charset="0"/>
              </a:rPr>
              <a:t>Connexion entre les composants (ROW)  </a:t>
            </a:r>
          </a:p>
        </p:txBody>
      </p:sp>
      <p:sp>
        <p:nvSpPr>
          <p:cNvPr id="3" name="Espace réservé du contenu 2"/>
          <p:cNvSpPr>
            <a:spLocks noGrp="1"/>
          </p:cNvSpPr>
          <p:nvPr>
            <p:ph idx="1"/>
          </p:nvPr>
        </p:nvSpPr>
        <p:spPr>
          <a:xfrm>
            <a:off x="581192" y="2682152"/>
            <a:ext cx="11029615" cy="1493695"/>
          </a:xfrm>
        </p:spPr>
        <p:txBody>
          <a:bodyPr>
            <a:normAutofit/>
          </a:bodyPr>
          <a:lstStyle/>
          <a:p>
            <a:r>
              <a:rPr lang="fr-FR" sz="2400" dirty="0">
                <a:latin typeface="Times New Roman" pitchFamily="18" charset="0"/>
                <a:cs typeface="Times New Roman" pitchFamily="18" charset="0"/>
              </a:rPr>
              <a:t>Connexion Main </a:t>
            </a:r>
          </a:p>
          <a:p>
            <a:r>
              <a:rPr lang="fr-FR" sz="2400" dirty="0">
                <a:latin typeface="Times New Roman" pitchFamily="18" charset="0"/>
                <a:cs typeface="Times New Roman" pitchFamily="18" charset="0"/>
              </a:rPr>
              <a:t>Connexion </a:t>
            </a:r>
            <a:r>
              <a:rPr lang="fr-FR" sz="2400" dirty="0" err="1">
                <a:latin typeface="Times New Roman" pitchFamily="18" charset="0"/>
                <a:cs typeface="Times New Roman" pitchFamily="18" charset="0"/>
              </a:rPr>
              <a:t>Lookup</a:t>
            </a:r>
            <a:endParaRPr lang="fr-FR" sz="2400" dirty="0">
              <a:latin typeface="Times New Roman" pitchFamily="18" charset="0"/>
              <a:cs typeface="Times New Roman" pitchFamily="18" charset="0"/>
            </a:endParaRPr>
          </a:p>
          <a:p>
            <a:r>
              <a:rPr lang="fr-FR" sz="2400" dirty="0">
                <a:latin typeface="Times New Roman" pitchFamily="18" charset="0"/>
                <a:cs typeface="Times New Roman" pitchFamily="18" charset="0"/>
              </a:rPr>
              <a:t>Connexion </a:t>
            </a:r>
            <a:r>
              <a:rPr lang="fr-FR" sz="2400" dirty="0" err="1">
                <a:latin typeface="Times New Roman" pitchFamily="18" charset="0"/>
                <a:cs typeface="Times New Roman" pitchFamily="18" charset="0"/>
              </a:rPr>
              <a:t>OutPut</a:t>
            </a:r>
            <a:r>
              <a:rPr lang="fr-FR" sz="2400" dirty="0">
                <a:latin typeface="Times New Roman" pitchFamily="18" charset="0"/>
                <a:cs typeface="Times New Roman" pitchFamily="18" charset="0"/>
              </a:rPr>
              <a:t> </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lgn="just"/>
            <a:r>
              <a:rPr lang="fr-FR" sz="2800" b="1" u="sng" dirty="0">
                <a:latin typeface="Times New Roman" pitchFamily="18" charset="0"/>
                <a:cs typeface="Times New Roman" pitchFamily="18" charset="0"/>
              </a:rPr>
              <a:t>Connexion Main </a:t>
            </a:r>
            <a:r>
              <a:rPr lang="fr-FR" sz="2800" dirty="0">
                <a:latin typeface="Times New Roman" pitchFamily="18" charset="0"/>
                <a:cs typeface="Times New Roman" pitchFamily="18" charset="0"/>
              </a:rPr>
              <a:t>: La connexion </a:t>
            </a:r>
            <a:r>
              <a:rPr lang="fr-FR" sz="2800" b="1" dirty="0" err="1">
                <a:latin typeface="Times New Roman" pitchFamily="18" charset="0"/>
                <a:cs typeface="Times New Roman" pitchFamily="18" charset="0"/>
              </a:rPr>
              <a:t>Row</a:t>
            </a:r>
            <a:r>
              <a:rPr lang="fr-FR" sz="2800" dirty="0">
                <a:latin typeface="Times New Roman" pitchFamily="18" charset="0"/>
                <a:cs typeface="Times New Roman" pitchFamily="18" charset="0"/>
              </a:rPr>
              <a:t> de type </a:t>
            </a:r>
            <a:r>
              <a:rPr lang="fr-FR" sz="2800" b="1" dirty="0">
                <a:latin typeface="Times New Roman" pitchFamily="18" charset="0"/>
                <a:cs typeface="Times New Roman" pitchFamily="18" charset="0"/>
              </a:rPr>
              <a:t>Main</a:t>
            </a:r>
            <a:r>
              <a:rPr lang="fr-FR" sz="2800" dirty="0">
                <a:latin typeface="Times New Roman" pitchFamily="18" charset="0"/>
                <a:cs typeface="Times New Roman" pitchFamily="18" charset="0"/>
              </a:rPr>
              <a:t> est la connexion la plus courante. Elle transmet les flux de données d'un composant à l'autre, en faisant une boucle sur chacune des lignes pour lire ou extraire les données selon la définition des propriétés du </a:t>
            </a:r>
            <a:r>
              <a:rPr lang="fr-FR" sz="2800">
                <a:latin typeface="Times New Roman" pitchFamily="18" charset="0"/>
                <a:cs typeface="Times New Roman" pitchFamily="18" charset="0"/>
              </a:rPr>
              <a:t>composant.</a:t>
            </a:r>
            <a:endParaRPr lang="fr-FR" sz="2800" dirty="0">
              <a:latin typeface="Times New Roman" pitchFamily="18" charset="0"/>
              <a:cs typeface="Times New Roman" pitchFamily="18" charset="0"/>
            </a:endParaRPr>
          </a:p>
        </p:txBody>
      </p:sp>
      <p:sp>
        <p:nvSpPr>
          <p:cNvPr id="4" name="Titre 1">
            <a:extLst>
              <a:ext uri="{FF2B5EF4-FFF2-40B4-BE49-F238E27FC236}">
                <a16:creationId xmlns:a16="http://schemas.microsoft.com/office/drawing/2014/main" xmlns="" id="{F7E55C51-EFA9-D544-AACD-9E4DFFB3B959}"/>
              </a:ext>
            </a:extLst>
          </p:cNvPr>
          <p:cNvSpPr>
            <a:spLocks noGrp="1"/>
          </p:cNvSpPr>
          <p:nvPr>
            <p:ph type="title"/>
          </p:nvPr>
        </p:nvSpPr>
        <p:spPr>
          <a:xfrm>
            <a:off x="581192" y="702156"/>
            <a:ext cx="11029616" cy="1013800"/>
          </a:xfrm>
        </p:spPr>
        <p:txBody>
          <a:bodyPr anchor="ctr">
            <a:noAutofit/>
          </a:bodyPr>
          <a:lstStyle/>
          <a:p>
            <a:pPr algn="just"/>
            <a:r>
              <a:rPr lang="fr-FR" sz="3600" dirty="0">
                <a:latin typeface="Times New Roman" pitchFamily="18" charset="0"/>
                <a:cs typeface="Times New Roman" pitchFamily="18" charset="0"/>
              </a:rPr>
              <a:t>Connexion entre les composants (ROW)  </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lgn="just"/>
            <a:r>
              <a:rPr lang="fr-FR" sz="2400" b="1" dirty="0">
                <a:latin typeface="Times New Roman" pitchFamily="18" charset="0"/>
                <a:cs typeface="Times New Roman" pitchFamily="18" charset="0"/>
              </a:rPr>
              <a:t>La connexion de type </a:t>
            </a:r>
            <a:r>
              <a:rPr lang="fr-FR" sz="2400" b="1" dirty="0" err="1">
                <a:latin typeface="Times New Roman" pitchFamily="18" charset="0"/>
                <a:cs typeface="Times New Roman" pitchFamily="18" charset="0"/>
              </a:rPr>
              <a:t>Lookup</a:t>
            </a:r>
            <a:r>
              <a:rPr lang="fr-FR" sz="2400" b="1" dirty="0">
                <a:latin typeface="Times New Roman" pitchFamily="18" charset="0"/>
                <a:cs typeface="Times New Roman" pitchFamily="18" charset="0"/>
              </a:rPr>
              <a:t> </a:t>
            </a:r>
            <a:r>
              <a:rPr lang="fr-FR" sz="2400" dirty="0">
                <a:latin typeface="Times New Roman" pitchFamily="18" charset="0"/>
                <a:cs typeface="Times New Roman" pitchFamily="18" charset="0"/>
              </a:rPr>
              <a:t>est une connexion </a:t>
            </a:r>
            <a:r>
              <a:rPr lang="fr-FR" sz="2400" b="1" dirty="0" err="1">
                <a:latin typeface="Times New Roman" pitchFamily="18" charset="0"/>
                <a:cs typeface="Times New Roman" pitchFamily="18" charset="0"/>
              </a:rPr>
              <a:t>Row</a:t>
            </a:r>
            <a:r>
              <a:rPr lang="fr-FR" sz="2400" dirty="0">
                <a:latin typeface="Times New Roman" pitchFamily="18" charset="0"/>
                <a:cs typeface="Times New Roman" pitchFamily="18" charset="0"/>
              </a:rPr>
              <a:t> reliant un composant d'un flux secondaire à un composant d'un flux principal (ce composant doit être capable de recevoir plus d'un flux d'entrée)</a:t>
            </a:r>
          </a:p>
        </p:txBody>
      </p:sp>
      <p:sp>
        <p:nvSpPr>
          <p:cNvPr id="4" name="Titre 1">
            <a:extLst>
              <a:ext uri="{FF2B5EF4-FFF2-40B4-BE49-F238E27FC236}">
                <a16:creationId xmlns:a16="http://schemas.microsoft.com/office/drawing/2014/main" xmlns="" id="{F3CAE165-9888-A943-92A3-C1CB4070D5D1}"/>
              </a:ext>
            </a:extLst>
          </p:cNvPr>
          <p:cNvSpPr>
            <a:spLocks noGrp="1"/>
          </p:cNvSpPr>
          <p:nvPr>
            <p:ph type="title"/>
          </p:nvPr>
        </p:nvSpPr>
        <p:spPr>
          <a:xfrm>
            <a:off x="581192" y="702156"/>
            <a:ext cx="11029616" cy="1013800"/>
          </a:xfrm>
        </p:spPr>
        <p:txBody>
          <a:bodyPr anchor="ctr">
            <a:noAutofit/>
          </a:bodyPr>
          <a:lstStyle/>
          <a:p>
            <a:pPr algn="just"/>
            <a:r>
              <a:rPr lang="fr-FR" sz="3600" dirty="0">
                <a:latin typeface="Times New Roman" pitchFamily="18" charset="0"/>
                <a:cs typeface="Times New Roman" pitchFamily="18" charset="0"/>
              </a:rPr>
              <a:t>Connexion entre les composants (ROW)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lgn="just"/>
            <a:r>
              <a:rPr lang="fr-FR" sz="2400" b="1" dirty="0">
                <a:latin typeface="Times New Roman" pitchFamily="18" charset="0"/>
                <a:cs typeface="Times New Roman" pitchFamily="18" charset="0"/>
              </a:rPr>
              <a:t>La connexion de type Output</a:t>
            </a:r>
            <a:r>
              <a:rPr lang="fr-FR" sz="2400" dirty="0">
                <a:latin typeface="Times New Roman" pitchFamily="18" charset="0"/>
                <a:cs typeface="Times New Roman" pitchFamily="18" charset="0"/>
              </a:rPr>
              <a:t> est une connexion </a:t>
            </a:r>
            <a:r>
              <a:rPr lang="fr-FR" sz="2400" b="1" dirty="0" err="1">
                <a:latin typeface="Times New Roman" pitchFamily="18" charset="0"/>
                <a:cs typeface="Times New Roman" pitchFamily="18" charset="0"/>
              </a:rPr>
              <a:t>Row</a:t>
            </a:r>
            <a:r>
              <a:rPr lang="fr-FR" sz="2400" dirty="0">
                <a:latin typeface="Times New Roman" pitchFamily="18" charset="0"/>
                <a:cs typeface="Times New Roman" pitchFamily="18" charset="0"/>
              </a:rPr>
              <a:t>, traitant de la donnée, et qui relie un composant </a:t>
            </a:r>
            <a:r>
              <a:rPr lang="fr-FR" sz="2400" b="1" dirty="0" err="1">
                <a:latin typeface="Times New Roman" pitchFamily="18" charset="0"/>
                <a:cs typeface="Times New Roman" pitchFamily="18" charset="0"/>
              </a:rPr>
              <a:t>tMap</a:t>
            </a:r>
            <a:r>
              <a:rPr lang="fr-FR" sz="2400" dirty="0">
                <a:latin typeface="Times New Roman" pitchFamily="18" charset="0"/>
                <a:cs typeface="Times New Roman" pitchFamily="18" charset="0"/>
              </a:rPr>
              <a:t> à un ou plusieurs composants de sortie</a:t>
            </a:r>
          </a:p>
        </p:txBody>
      </p:sp>
      <p:sp>
        <p:nvSpPr>
          <p:cNvPr id="4" name="Titre 1">
            <a:extLst>
              <a:ext uri="{FF2B5EF4-FFF2-40B4-BE49-F238E27FC236}">
                <a16:creationId xmlns:a16="http://schemas.microsoft.com/office/drawing/2014/main" xmlns="" id="{7D659895-AC8B-534D-BAE1-B4B929C50E55}"/>
              </a:ext>
            </a:extLst>
          </p:cNvPr>
          <p:cNvSpPr>
            <a:spLocks noGrp="1"/>
          </p:cNvSpPr>
          <p:nvPr>
            <p:ph type="title"/>
          </p:nvPr>
        </p:nvSpPr>
        <p:spPr>
          <a:xfrm>
            <a:off x="581192" y="702156"/>
            <a:ext cx="11029616" cy="1013800"/>
          </a:xfrm>
        </p:spPr>
        <p:txBody>
          <a:bodyPr anchor="ctr">
            <a:noAutofit/>
          </a:bodyPr>
          <a:lstStyle/>
          <a:p>
            <a:pPr algn="just"/>
            <a:r>
              <a:rPr lang="fr-FR" sz="3600" dirty="0">
                <a:latin typeface="Times New Roman" pitchFamily="18" charset="0"/>
                <a:cs typeface="Times New Roman" pitchFamily="18" charset="0"/>
              </a:rPr>
              <a:t>Connexion entre les composants (ROW)  </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latin typeface="Times New Roman" pitchFamily="18" charset="0"/>
                <a:cs typeface="Times New Roman" pitchFamily="18" charset="0"/>
              </a:rPr>
              <a:t>Exemple</a:t>
            </a:r>
          </a:p>
        </p:txBody>
      </p:sp>
      <p:sp>
        <p:nvSpPr>
          <p:cNvPr id="3" name="Espace réservé du contenu 2"/>
          <p:cNvSpPr>
            <a:spLocks noGrp="1"/>
          </p:cNvSpPr>
          <p:nvPr>
            <p:ph idx="1"/>
          </p:nvPr>
        </p:nvSpPr>
        <p:spPr/>
        <p:txBody>
          <a:bodyPr/>
          <a:lstStyle/>
          <a:p>
            <a:r>
              <a:rPr lang="fr-FR" dirty="0">
                <a:latin typeface="Times New Roman" pitchFamily="18" charset="0"/>
                <a:cs typeface="Times New Roman" pitchFamily="18" charset="0"/>
              </a:rPr>
              <a:t>Créer ou alimenter une base de données</a:t>
            </a:r>
          </a:p>
          <a:p>
            <a:pPr>
              <a:buNone/>
            </a:pPr>
            <a:endParaRPr lang="fr-FR" dirty="0"/>
          </a:p>
          <a:p>
            <a:pPr>
              <a:buNone/>
            </a:pPr>
            <a:endParaRPr lang="fr-FR" dirty="0"/>
          </a:p>
        </p:txBody>
      </p:sp>
      <p:pic>
        <p:nvPicPr>
          <p:cNvPr id="1027" name="Picture 3"/>
          <p:cNvPicPr>
            <a:picLocks noChangeAspect="1" noChangeArrowheads="1"/>
          </p:cNvPicPr>
          <p:nvPr/>
        </p:nvPicPr>
        <p:blipFill>
          <a:blip r:embed="rId2" cstate="print"/>
          <a:srcRect/>
          <a:stretch>
            <a:fillRect/>
          </a:stretch>
        </p:blipFill>
        <p:spPr bwMode="auto">
          <a:xfrm>
            <a:off x="2711624" y="4293096"/>
            <a:ext cx="3816424" cy="1402922"/>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6960096" y="3501008"/>
            <a:ext cx="735832" cy="360040"/>
          </a:xfrm>
          <a:prstGeom prst="rect">
            <a:avLst/>
          </a:prstGeom>
          <a:noFill/>
          <a:ln w="9525">
            <a:noFill/>
            <a:miter lim="800000"/>
            <a:headEnd/>
            <a:tailEnd/>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81192" y="836712"/>
            <a:ext cx="11029616" cy="591212"/>
          </a:xfrm>
        </p:spPr>
        <p:txBody>
          <a:bodyPr>
            <a:normAutofit fontScale="90000"/>
          </a:bodyPr>
          <a:lstStyle/>
          <a:p>
            <a:pPr algn="ctr"/>
            <a:r>
              <a:rPr lang="fr-FR" b="1" dirty="0">
                <a:latin typeface="Times New Roman" pitchFamily="18" charset="0"/>
                <a:cs typeface="Times New Roman" pitchFamily="18" charset="0"/>
              </a:rPr>
              <a:t>Conclusion</a:t>
            </a:r>
          </a:p>
        </p:txBody>
      </p:sp>
      <p:sp>
        <p:nvSpPr>
          <p:cNvPr id="3" name="Espace réservé du contenu 2"/>
          <p:cNvSpPr>
            <a:spLocks noGrp="1"/>
          </p:cNvSpPr>
          <p:nvPr>
            <p:ph idx="1"/>
          </p:nvPr>
        </p:nvSpPr>
        <p:spPr>
          <a:xfrm>
            <a:off x="581192" y="1988840"/>
            <a:ext cx="11029616" cy="4425355"/>
          </a:xfrm>
        </p:spPr>
        <p:txBody>
          <a:bodyPr>
            <a:normAutofit/>
          </a:bodyPr>
          <a:lstStyle/>
          <a:p>
            <a:pPr marL="36576" indent="0" algn="just">
              <a:lnSpc>
                <a:spcPct val="90000"/>
              </a:lnSpc>
              <a:buNone/>
            </a:pPr>
            <a:r>
              <a:rPr lang="fr-FR" altLang="fr-FR" b="1" dirty="0">
                <a:latin typeface="Times New Roman" pitchFamily="18" charset="0"/>
                <a:cs typeface="Times New Roman" pitchFamily="18" charset="0"/>
              </a:rPr>
              <a:t>Talend Open Studio </a:t>
            </a:r>
            <a:r>
              <a:rPr lang="fr-FR" altLang="fr-FR" dirty="0">
                <a:latin typeface="Times New Roman" pitchFamily="18" charset="0"/>
                <a:cs typeface="Times New Roman" pitchFamily="18" charset="0"/>
              </a:rPr>
              <a:t>est un ETL ayant ses propres spécificités:</a:t>
            </a:r>
          </a:p>
          <a:p>
            <a:pPr marL="36576" indent="0" algn="just">
              <a:lnSpc>
                <a:spcPct val="90000"/>
              </a:lnSpc>
              <a:buNone/>
            </a:pPr>
            <a:endParaRPr lang="fr-FR" altLang="fr-FR" dirty="0">
              <a:latin typeface="Times New Roman" pitchFamily="18" charset="0"/>
              <a:cs typeface="Times New Roman" pitchFamily="18" charset="0"/>
            </a:endParaRPr>
          </a:p>
          <a:p>
            <a:pPr algn="just">
              <a:lnSpc>
                <a:spcPct val="90000"/>
              </a:lnSpc>
              <a:buFont typeface="Wingdings" panose="05000000000000000000" pitchFamily="2" charset="2"/>
              <a:buChar char="v"/>
            </a:pPr>
            <a:r>
              <a:rPr lang="fr-FR" altLang="fr-FR" dirty="0">
                <a:latin typeface="Times New Roman" pitchFamily="18" charset="0"/>
                <a:cs typeface="Times New Roman" pitchFamily="18" charset="0"/>
              </a:rPr>
              <a:t>Il présente une alternative réelle à un ETL propriétaire car il propose l'ensemble des fonctionnalités nécessaires à un ETL.</a:t>
            </a:r>
          </a:p>
          <a:p>
            <a:pPr algn="just">
              <a:lnSpc>
                <a:spcPct val="90000"/>
              </a:lnSpc>
              <a:buFont typeface="Wingdings" panose="05000000000000000000" pitchFamily="2" charset="2"/>
              <a:buChar char="v"/>
            </a:pPr>
            <a:endParaRPr lang="fr-FR" altLang="fr-FR" dirty="0">
              <a:latin typeface="Times New Roman" pitchFamily="18" charset="0"/>
              <a:cs typeface="Times New Roman" pitchFamily="18" charset="0"/>
            </a:endParaRPr>
          </a:p>
          <a:p>
            <a:pPr algn="just">
              <a:lnSpc>
                <a:spcPct val="90000"/>
              </a:lnSpc>
              <a:buFont typeface="Wingdings" panose="05000000000000000000" pitchFamily="2" charset="2"/>
              <a:buChar char="v"/>
            </a:pPr>
            <a:r>
              <a:rPr lang="fr-FR" altLang="fr-FR" dirty="0">
                <a:latin typeface="Times New Roman" pitchFamily="18" charset="0"/>
                <a:cs typeface="Times New Roman" pitchFamily="18" charset="0"/>
                <a:sym typeface="Wingdings" pitchFamily="2" charset="2"/>
              </a:rPr>
              <a:t>La </a:t>
            </a:r>
            <a:r>
              <a:rPr lang="fr-FR" altLang="fr-FR" dirty="0">
                <a:latin typeface="Times New Roman" pitchFamily="18" charset="0"/>
                <a:cs typeface="Times New Roman" pitchFamily="18" charset="0"/>
              </a:rPr>
              <a:t>conception des traitements d'intégration de données est toujours simple et pragmatique.</a:t>
            </a:r>
          </a:p>
          <a:p>
            <a:pPr algn="just">
              <a:lnSpc>
                <a:spcPct val="90000"/>
              </a:lnSpc>
              <a:buFont typeface="Wingdings" panose="05000000000000000000" pitchFamily="2" charset="2"/>
              <a:buChar char="v"/>
            </a:pPr>
            <a:endParaRPr lang="fr-FR" altLang="fr-FR" dirty="0">
              <a:latin typeface="Times New Roman" pitchFamily="18" charset="0"/>
              <a:cs typeface="Times New Roman" pitchFamily="18" charset="0"/>
            </a:endParaRPr>
          </a:p>
          <a:p>
            <a:pPr algn="just">
              <a:lnSpc>
                <a:spcPct val="90000"/>
              </a:lnSpc>
              <a:buFont typeface="Wingdings" panose="05000000000000000000" pitchFamily="2" charset="2"/>
              <a:buChar char="v"/>
            </a:pPr>
            <a:r>
              <a:rPr lang="fr-FR" altLang="fr-FR" dirty="0">
                <a:latin typeface="Times New Roman" pitchFamily="18" charset="0"/>
                <a:cs typeface="Times New Roman" pitchFamily="18" charset="0"/>
              </a:rPr>
              <a:t>Les temps d'exécution varient suivant la typologie des traitements.(efficace dans les calculs d'agrégations et les lookups , moins performant en chargement de données)</a:t>
            </a:r>
          </a:p>
          <a:p>
            <a:endParaRPr lang="fr-FR" dirty="0"/>
          </a:p>
        </p:txBody>
      </p:sp>
    </p:spTree>
    <p:extLst>
      <p:ext uri="{BB962C8B-B14F-4D97-AF65-F5344CB8AC3E}">
        <p14:creationId xmlns:p14="http://schemas.microsoft.com/office/powerpoint/2010/main" xmlns="" val="37567399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D646882-0ED8-C449-83CE-245FF293FE2E}"/>
              </a:ext>
            </a:extLst>
          </p:cNvPr>
          <p:cNvSpPr>
            <a:spLocks noGrp="1"/>
          </p:cNvSpPr>
          <p:nvPr>
            <p:ph type="ctrTitle"/>
          </p:nvPr>
        </p:nvSpPr>
        <p:spPr>
          <a:xfrm>
            <a:off x="1915385" y="2665926"/>
            <a:ext cx="8361229" cy="1079086"/>
          </a:xfrm>
        </p:spPr>
        <p:txBody>
          <a:bodyPr/>
          <a:lstStyle/>
          <a:p>
            <a:r>
              <a:rPr lang="fr-FR" dirty="0"/>
              <a:t>CUBE OLAP</a:t>
            </a:r>
          </a:p>
        </p:txBody>
      </p:sp>
    </p:spTree>
    <p:extLst>
      <p:ext uri="{BB962C8B-B14F-4D97-AF65-F5344CB8AC3E}">
        <p14:creationId xmlns:p14="http://schemas.microsoft.com/office/powerpoint/2010/main" xmlns="" val="6855725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1103187" cy="584775"/>
          </a:xfrm>
          <a:prstGeom prst="rect">
            <a:avLst/>
          </a:prstGeom>
          <a:noFill/>
        </p:spPr>
        <p:txBody>
          <a:bodyPr wrap="none" rtlCol="0">
            <a:spAutoFit/>
          </a:bodyPr>
          <a:lstStyle/>
          <a:p>
            <a:r>
              <a:rPr lang="fr-FR" sz="3200" b="1" dirty="0"/>
              <a:t>PLAN</a:t>
            </a:r>
            <a:endParaRPr lang="fr-FR" b="1" dirty="0"/>
          </a:p>
        </p:txBody>
      </p:sp>
      <p:sp>
        <p:nvSpPr>
          <p:cNvPr id="3" name="TextBox 2">
            <a:extLst>
              <a:ext uri="{FF2B5EF4-FFF2-40B4-BE49-F238E27FC236}">
                <a16:creationId xmlns:a16="http://schemas.microsoft.com/office/drawing/2014/main" xmlns="" id="{48180BFF-BF91-0F4D-A9A1-0042398F9B19}"/>
              </a:ext>
            </a:extLst>
          </p:cNvPr>
          <p:cNvSpPr txBox="1"/>
          <p:nvPr/>
        </p:nvSpPr>
        <p:spPr>
          <a:xfrm>
            <a:off x="1694594" y="1277225"/>
            <a:ext cx="6412333" cy="4303550"/>
          </a:xfrm>
          <a:prstGeom prst="rect">
            <a:avLst/>
          </a:prstGeom>
          <a:noFill/>
        </p:spPr>
        <p:txBody>
          <a:bodyPr wrap="none" rtlCol="0">
            <a:spAutoFit/>
          </a:bodyPr>
          <a:lstStyle/>
          <a:p>
            <a:pPr marL="342900" indent="-342900">
              <a:lnSpc>
                <a:spcPct val="200000"/>
              </a:lnSpc>
              <a:buFont typeface="+mj-lt"/>
              <a:buAutoNum type="arabicPeriod"/>
            </a:pPr>
            <a:r>
              <a:rPr lang="fr-FR" sz="2000" b="1" dirty="0">
                <a:effectLst/>
                <a:latin typeface="Helvetica Neue" panose="02000503000000020004" pitchFamily="2" charset="0"/>
              </a:rPr>
              <a:t>Définition de l'OLAP</a:t>
            </a:r>
            <a:endParaRPr lang="fr-FR" sz="2000" dirty="0">
              <a:effectLst/>
              <a:latin typeface="Helvetica Neue" panose="02000503000000020004" pitchFamily="2" charset="0"/>
            </a:endParaRPr>
          </a:p>
          <a:p>
            <a:pPr marL="342900" indent="-342900">
              <a:lnSpc>
                <a:spcPct val="200000"/>
              </a:lnSpc>
              <a:buFont typeface="+mj-lt"/>
              <a:buAutoNum type="arabicPeriod"/>
            </a:pPr>
            <a:r>
              <a:rPr lang="fr-FR" sz="2000" b="1" dirty="0">
                <a:effectLst/>
                <a:latin typeface="Helvetica Neue" panose="02000503000000020004" pitchFamily="2" charset="0"/>
              </a:rPr>
              <a:t>Concepts de Base</a:t>
            </a:r>
            <a:endParaRPr lang="fr-FR" sz="2000" dirty="0">
              <a:effectLst/>
              <a:latin typeface="Helvetica Neue" panose="02000503000000020004" pitchFamily="2" charset="0"/>
            </a:endParaRPr>
          </a:p>
          <a:p>
            <a:pPr marL="342900" indent="-342900">
              <a:lnSpc>
                <a:spcPct val="200000"/>
              </a:lnSpc>
              <a:buFont typeface="+mj-lt"/>
              <a:buAutoNum type="arabicPeriod"/>
            </a:pPr>
            <a:r>
              <a:rPr lang="fr-FR" sz="2000" b="1" dirty="0">
                <a:effectLst/>
                <a:latin typeface="Helvetica Neue" panose="02000503000000020004" pitchFamily="2" charset="0"/>
              </a:rPr>
              <a:t>Avantages de l'OLAP</a:t>
            </a:r>
            <a:endParaRPr lang="fr-FR" sz="2000" dirty="0">
              <a:effectLst/>
              <a:latin typeface="Helvetica Neue" panose="02000503000000020004" pitchFamily="2" charset="0"/>
            </a:endParaRPr>
          </a:p>
          <a:p>
            <a:pPr marL="342900" indent="-342900">
              <a:lnSpc>
                <a:spcPct val="200000"/>
              </a:lnSpc>
              <a:buFont typeface="+mj-lt"/>
              <a:buAutoNum type="arabicPeriod"/>
            </a:pPr>
            <a:r>
              <a:rPr lang="fr-FR" sz="2000" b="1" dirty="0">
                <a:effectLst/>
                <a:latin typeface="Helvetica Neue" panose="02000503000000020004" pitchFamily="2" charset="0"/>
              </a:rPr>
              <a:t>Architectures OLAP</a:t>
            </a:r>
            <a:endParaRPr lang="fr-FR" sz="2000" dirty="0">
              <a:effectLst/>
              <a:latin typeface="Helvetica Neue" panose="02000503000000020004" pitchFamily="2" charset="0"/>
            </a:endParaRPr>
          </a:p>
          <a:p>
            <a:pPr marL="342900" indent="-342900">
              <a:lnSpc>
                <a:spcPct val="200000"/>
              </a:lnSpc>
              <a:buFont typeface="+mj-lt"/>
              <a:buAutoNum type="arabicPeriod"/>
            </a:pPr>
            <a:r>
              <a:rPr lang="fr-FR" sz="2000" b="1" dirty="0">
                <a:effectLst/>
                <a:latin typeface="Helvetica Neue" panose="02000503000000020004" pitchFamily="2" charset="0"/>
              </a:rPr>
              <a:t>Outils OLAP</a:t>
            </a:r>
          </a:p>
          <a:p>
            <a:pPr marL="342900" indent="-342900">
              <a:lnSpc>
                <a:spcPct val="200000"/>
              </a:lnSpc>
              <a:buFont typeface="+mj-lt"/>
              <a:buAutoNum type="arabicPeriod"/>
            </a:pPr>
            <a:r>
              <a:rPr lang="fr-FR" sz="2000" b="1" dirty="0">
                <a:latin typeface="Helvetica Neue" panose="02000503000000020004" pitchFamily="2" charset="0"/>
              </a:rPr>
              <a:t>Manipulation des données Multidimensionnelles</a:t>
            </a:r>
          </a:p>
          <a:p>
            <a:pPr marL="342900" indent="-342900">
              <a:lnSpc>
                <a:spcPct val="200000"/>
              </a:lnSpc>
              <a:buFont typeface="+mj-lt"/>
              <a:buAutoNum type="arabicPeriod"/>
            </a:pPr>
            <a:r>
              <a:rPr lang="fr-FR" sz="2000" b="1" dirty="0">
                <a:effectLst/>
                <a:latin typeface="Helvetica Neue" panose="02000503000000020004" pitchFamily="2" charset="0"/>
              </a:rPr>
              <a:t>Exercices</a:t>
            </a:r>
            <a:endParaRPr lang="fr-FR" sz="2000" dirty="0">
              <a:effectLst/>
              <a:latin typeface="Helvetica Neue" panose="02000503000000020004" pitchFamily="2" charset="0"/>
            </a:endParaRPr>
          </a:p>
        </p:txBody>
      </p:sp>
    </p:spTree>
    <p:extLst>
      <p:ext uri="{BB962C8B-B14F-4D97-AF65-F5344CB8AC3E}">
        <p14:creationId xmlns:p14="http://schemas.microsoft.com/office/powerpoint/2010/main" xmlns="" val="127781889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3606308" cy="584775"/>
          </a:xfrm>
          <a:prstGeom prst="rect">
            <a:avLst/>
          </a:prstGeom>
          <a:noFill/>
        </p:spPr>
        <p:txBody>
          <a:bodyPr wrap="none" rtlCol="0">
            <a:spAutoFit/>
          </a:bodyPr>
          <a:lstStyle/>
          <a:p>
            <a:r>
              <a:rPr lang="fr-FR" sz="3200" b="1" dirty="0"/>
              <a:t>Définition de l’OLAP</a:t>
            </a:r>
            <a:endParaRPr lang="fr-FR" b="1" dirty="0"/>
          </a:p>
        </p:txBody>
      </p:sp>
      <p:pic>
        <p:nvPicPr>
          <p:cNvPr id="5" name="Picture 4">
            <a:extLst>
              <a:ext uri="{FF2B5EF4-FFF2-40B4-BE49-F238E27FC236}">
                <a16:creationId xmlns:a16="http://schemas.microsoft.com/office/drawing/2014/main" xmlns="" id="{A17B5505-0C0D-C349-A93E-9EE06DFACF1A}"/>
              </a:ext>
            </a:extLst>
          </p:cNvPr>
          <p:cNvPicPr>
            <a:picLocks noChangeAspect="1"/>
          </p:cNvPicPr>
          <p:nvPr/>
        </p:nvPicPr>
        <p:blipFill>
          <a:blip r:embed="rId2"/>
          <a:stretch>
            <a:fillRect/>
          </a:stretch>
        </p:blipFill>
        <p:spPr>
          <a:xfrm>
            <a:off x="9646771" y="4312771"/>
            <a:ext cx="2545229" cy="2545229"/>
          </a:xfrm>
          <a:prstGeom prst="rect">
            <a:avLst/>
          </a:prstGeom>
        </p:spPr>
      </p:pic>
      <p:sp>
        <p:nvSpPr>
          <p:cNvPr id="6" name="TextBox 5">
            <a:extLst>
              <a:ext uri="{FF2B5EF4-FFF2-40B4-BE49-F238E27FC236}">
                <a16:creationId xmlns:a16="http://schemas.microsoft.com/office/drawing/2014/main" xmlns="" id="{133F1E1C-12EE-6D44-A153-B8B6F0608AE5}"/>
              </a:ext>
            </a:extLst>
          </p:cNvPr>
          <p:cNvSpPr txBox="1"/>
          <p:nvPr/>
        </p:nvSpPr>
        <p:spPr>
          <a:xfrm>
            <a:off x="1358154" y="1899770"/>
            <a:ext cx="10112187" cy="2805896"/>
          </a:xfrm>
          <a:prstGeom prst="rect">
            <a:avLst/>
          </a:prstGeom>
          <a:noFill/>
        </p:spPr>
        <p:txBody>
          <a:bodyPr wrap="square" rtlCol="0">
            <a:spAutoFit/>
          </a:bodyPr>
          <a:lstStyle/>
          <a:p>
            <a:pPr algn="just">
              <a:lnSpc>
                <a:spcPct val="150000"/>
              </a:lnSpc>
            </a:pPr>
            <a:r>
              <a:rPr lang="fr-FR" sz="2000"/>
              <a:t>OLAP (Online Analytical Processing) est une technologie qui permet aux utilisateurs d'extraire et d'analyser facilement des données depuis différentes perspectives multidimensionnelles. </a:t>
            </a:r>
          </a:p>
          <a:p>
            <a:pPr algn="just">
              <a:lnSpc>
                <a:spcPct val="150000"/>
              </a:lnSpc>
            </a:pPr>
            <a:endParaRPr lang="fr-FR" sz="2000"/>
          </a:p>
          <a:p>
            <a:pPr algn="just">
              <a:lnSpc>
                <a:spcPct val="150000"/>
              </a:lnSpc>
            </a:pPr>
            <a:r>
              <a:rPr lang="fr-FR" sz="2000"/>
              <a:t>OLAP est conçu pour les requêtes complexes et les analyses de données, offrant une vue multidimensionnelle qui facilite la comprehension des relations entre les données.</a:t>
            </a:r>
          </a:p>
          <a:p>
            <a:pPr algn="just">
              <a:lnSpc>
                <a:spcPct val="150000"/>
              </a:lnSpc>
            </a:pPr>
            <a:endParaRPr lang="fr-FR" sz="2000"/>
          </a:p>
        </p:txBody>
      </p:sp>
    </p:spTree>
    <p:extLst>
      <p:ext uri="{BB962C8B-B14F-4D97-AF65-F5344CB8AC3E}">
        <p14:creationId xmlns:p14="http://schemas.microsoft.com/office/powerpoint/2010/main" xmlns="" val="275639335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6736909" cy="584775"/>
          </a:xfrm>
          <a:prstGeom prst="rect">
            <a:avLst/>
          </a:prstGeom>
          <a:noFill/>
        </p:spPr>
        <p:txBody>
          <a:bodyPr wrap="none" rtlCol="0">
            <a:spAutoFit/>
          </a:bodyPr>
          <a:lstStyle/>
          <a:p>
            <a:r>
              <a:rPr lang="fr-FR" sz="3200" b="1" dirty="0"/>
              <a:t>Caractéristiques Principales de l'OLAP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321546"/>
            <a:ext cx="10112187" cy="5114221"/>
          </a:xfrm>
          <a:prstGeom prst="rect">
            <a:avLst/>
          </a:prstGeom>
          <a:noFill/>
        </p:spPr>
        <p:txBody>
          <a:bodyPr wrap="square" rtlCol="0">
            <a:spAutoFit/>
          </a:bodyPr>
          <a:lstStyle/>
          <a:p>
            <a:pPr algn="just">
              <a:lnSpc>
                <a:spcPct val="150000"/>
              </a:lnSpc>
            </a:pPr>
            <a:r>
              <a:rPr lang="fr-FR" sz="2000" b="1"/>
              <a:t>Analyse Multidimensionnelle</a:t>
            </a:r>
            <a:r>
              <a:rPr lang="fr-FR" sz="2000"/>
              <a:t> :</a:t>
            </a:r>
          </a:p>
          <a:p>
            <a:pPr marL="342900" indent="-342900" algn="just">
              <a:lnSpc>
                <a:spcPct val="150000"/>
              </a:lnSpc>
              <a:buFont typeface="Arial" panose="020B0604020202020204" pitchFamily="34" charset="0"/>
              <a:buChar char="•"/>
            </a:pPr>
            <a:r>
              <a:rPr lang="fr-FR" sz="2000"/>
              <a:t>Les données sont structurées en cubes OLAP, permettant une vue multidimensionnelle. Les dimensions représentent les différentes perspectives sous lesquelles les données peuvent être analysées (par exemple, temps, produits, régions).</a:t>
            </a:r>
          </a:p>
          <a:p>
            <a:pPr algn="just">
              <a:lnSpc>
                <a:spcPct val="150000"/>
              </a:lnSpc>
              <a:buFont typeface="Arial" panose="020B0604020202020204" pitchFamily="34" charset="0"/>
              <a:buChar char="•"/>
            </a:pPr>
            <a:endParaRPr lang="fr-FR" sz="2000"/>
          </a:p>
          <a:p>
            <a:pPr algn="just">
              <a:lnSpc>
                <a:spcPct val="150000"/>
              </a:lnSpc>
              <a:buFont typeface="Arial" panose="020B0604020202020204" pitchFamily="34" charset="0"/>
              <a:buChar char="•"/>
            </a:pPr>
            <a:endParaRPr lang="fr-FR" sz="2000"/>
          </a:p>
          <a:p>
            <a:pPr algn="just">
              <a:lnSpc>
                <a:spcPct val="150000"/>
              </a:lnSpc>
            </a:pPr>
            <a:r>
              <a:rPr lang="fr-FR" sz="2000" b="1"/>
              <a:t>Hiérarchies et Agrégations</a:t>
            </a:r>
            <a:r>
              <a:rPr lang="fr-FR" sz="2000"/>
              <a:t> :</a:t>
            </a:r>
          </a:p>
          <a:p>
            <a:pPr marL="342900" indent="-342900" algn="just">
              <a:lnSpc>
                <a:spcPct val="150000"/>
              </a:lnSpc>
              <a:buFont typeface="Arial" panose="020B0604020202020204" pitchFamily="34" charset="0"/>
              <a:buChar char="•"/>
            </a:pPr>
            <a:r>
              <a:rPr lang="fr-FR" sz="2000"/>
              <a:t>Les dimensions peuvent avoir des hiérarchies (par exemple, années &gt; trimestres &gt; mois &gt; jours) qui permettent des niveaux de détail variés.</a:t>
            </a:r>
          </a:p>
          <a:p>
            <a:pPr marL="342900" indent="-342900" algn="just">
              <a:lnSpc>
                <a:spcPct val="150000"/>
              </a:lnSpc>
              <a:buFont typeface="Arial" panose="020B0604020202020204" pitchFamily="34" charset="0"/>
              <a:buChar char="•"/>
            </a:pPr>
            <a:r>
              <a:rPr lang="fr-FR" sz="2000"/>
              <a:t>Les mesures peuvent être agrégées à différents niveaux de ces hiérarchies (par exemple, total des ventes annuelles, trimestrielles, mensuelles).</a:t>
            </a:r>
          </a:p>
        </p:txBody>
      </p:sp>
    </p:spTree>
    <p:extLst>
      <p:ext uri="{BB962C8B-B14F-4D97-AF65-F5344CB8AC3E}">
        <p14:creationId xmlns:p14="http://schemas.microsoft.com/office/powerpoint/2010/main" xmlns="" val="308735536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6736909" cy="584775"/>
          </a:xfrm>
          <a:prstGeom prst="rect">
            <a:avLst/>
          </a:prstGeom>
          <a:noFill/>
        </p:spPr>
        <p:txBody>
          <a:bodyPr wrap="none" rtlCol="0">
            <a:spAutoFit/>
          </a:bodyPr>
          <a:lstStyle/>
          <a:p>
            <a:r>
              <a:rPr lang="fr-FR" sz="3200" b="1" dirty="0"/>
              <a:t>Caractéristiques Principales de l'OLAP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778746"/>
            <a:ext cx="10112187" cy="4190891"/>
          </a:xfrm>
          <a:prstGeom prst="rect">
            <a:avLst/>
          </a:prstGeom>
          <a:noFill/>
        </p:spPr>
        <p:txBody>
          <a:bodyPr wrap="square" rtlCol="0">
            <a:spAutoFit/>
          </a:bodyPr>
          <a:lstStyle/>
          <a:p>
            <a:pPr algn="just">
              <a:lnSpc>
                <a:spcPct val="150000"/>
              </a:lnSpc>
            </a:pPr>
            <a:r>
              <a:rPr lang="fr-FR" sz="2000" b="1"/>
              <a:t>Performances Élevées</a:t>
            </a:r>
            <a:r>
              <a:rPr lang="fr-FR" sz="2000"/>
              <a:t> :</a:t>
            </a:r>
          </a:p>
          <a:p>
            <a:pPr marL="342900" indent="-342900" algn="just">
              <a:lnSpc>
                <a:spcPct val="150000"/>
              </a:lnSpc>
              <a:buFont typeface="Arial" panose="020B0604020202020204" pitchFamily="34" charset="0"/>
              <a:buChar char="•"/>
            </a:pPr>
            <a:r>
              <a:rPr lang="fr-FR" sz="2000"/>
              <a:t>OLAP est optimisé pour les requêtes analytiques complexes, permettant des temps de réponse rapides même avec de grandes quantités de données.</a:t>
            </a:r>
          </a:p>
          <a:p>
            <a:pPr algn="just">
              <a:lnSpc>
                <a:spcPct val="150000"/>
              </a:lnSpc>
              <a:buFont typeface="Arial" panose="020B0604020202020204" pitchFamily="34" charset="0"/>
              <a:buChar char="•"/>
            </a:pPr>
            <a:endParaRPr lang="fr-FR" sz="2000"/>
          </a:p>
          <a:p>
            <a:pPr algn="just">
              <a:lnSpc>
                <a:spcPct val="150000"/>
              </a:lnSpc>
              <a:buFont typeface="Arial" panose="020B0604020202020204" pitchFamily="34" charset="0"/>
              <a:buChar char="•"/>
            </a:pPr>
            <a:endParaRPr lang="fr-FR" sz="2000"/>
          </a:p>
          <a:p>
            <a:pPr algn="just">
              <a:lnSpc>
                <a:spcPct val="150000"/>
              </a:lnSpc>
            </a:pPr>
            <a:r>
              <a:rPr lang="fr-FR" sz="2000" b="1"/>
              <a:t>Facilité d'Utilisation</a:t>
            </a:r>
            <a:r>
              <a:rPr lang="fr-FR" sz="2000"/>
              <a:t> :</a:t>
            </a:r>
          </a:p>
          <a:p>
            <a:pPr marL="342900" indent="-342900" algn="just">
              <a:lnSpc>
                <a:spcPct val="150000"/>
              </a:lnSpc>
              <a:buFont typeface="Arial" panose="020B0604020202020204" pitchFamily="34" charset="0"/>
              <a:buChar char="•"/>
            </a:pPr>
            <a:r>
              <a:rPr lang="fr-FR" sz="2000"/>
              <a:t>Interfaces intuitives qui permettent aux utilisateurs non techniques d'explorer et d'analyser les données sans nécessiter une connaissance approfondie des bases de données sous-jacentes.</a:t>
            </a:r>
          </a:p>
        </p:txBody>
      </p:sp>
    </p:spTree>
    <p:extLst>
      <p:ext uri="{BB962C8B-B14F-4D97-AF65-F5344CB8AC3E}">
        <p14:creationId xmlns:p14="http://schemas.microsoft.com/office/powerpoint/2010/main" xmlns="" val="126176376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a:extLst>
              <a:ext uri="{FF2B5EF4-FFF2-40B4-BE49-F238E27FC236}">
                <a16:creationId xmlns:a16="http://schemas.microsoft.com/office/drawing/2014/main" xmlns="" id="{39D2E84C-4CC0-7C45-B2CD-747607E22E1B}"/>
              </a:ext>
            </a:extLst>
          </p:cNvPr>
          <p:cNvPicPr>
            <a:picLocks noChangeAspect="1"/>
          </p:cNvPicPr>
          <p:nvPr/>
        </p:nvPicPr>
        <p:blipFill rotWithShape="1">
          <a:blip r:embed="rId3"/>
          <a:srcRect l="1268" r="-1268"/>
          <a:stretch/>
        </p:blipFill>
        <p:spPr>
          <a:xfrm>
            <a:off x="0" y="0"/>
            <a:ext cx="12192000" cy="6858000"/>
          </a:xfrm>
          <a:prstGeom prst="rect">
            <a:avLst/>
          </a:prstGeom>
        </p:spPr>
      </p:pic>
    </p:spTree>
    <p:extLst>
      <p:ext uri="{BB962C8B-B14F-4D97-AF65-F5344CB8AC3E}">
        <p14:creationId xmlns:p14="http://schemas.microsoft.com/office/powerpoint/2010/main" xmlns="" val="251323844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2807179" cy="584775"/>
          </a:xfrm>
          <a:prstGeom prst="rect">
            <a:avLst/>
          </a:prstGeom>
          <a:noFill/>
        </p:spPr>
        <p:txBody>
          <a:bodyPr wrap="none" rtlCol="0">
            <a:spAutoFit/>
          </a:bodyPr>
          <a:lstStyle/>
          <a:p>
            <a:r>
              <a:rPr lang="fr-FR" sz="3200" b="1" dirty="0"/>
              <a:t>Structure 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526955"/>
            <a:ext cx="7417903" cy="3365537"/>
          </a:xfrm>
          <a:prstGeom prst="rect">
            <a:avLst/>
          </a:prstGeom>
          <a:noFill/>
        </p:spPr>
        <p:txBody>
          <a:bodyPr wrap="square" rtlCol="0">
            <a:spAutoFit/>
          </a:bodyPr>
          <a:lstStyle/>
          <a:p>
            <a:pPr>
              <a:lnSpc>
                <a:spcPct val="150000"/>
              </a:lnSpc>
            </a:pPr>
            <a:r>
              <a:rPr lang="fr-FR" b="1" dirty="0"/>
              <a:t>1. Dimensions</a:t>
            </a:r>
          </a:p>
          <a:p>
            <a:pPr>
              <a:lnSpc>
                <a:spcPct val="150000"/>
              </a:lnSpc>
            </a:pPr>
            <a:r>
              <a:rPr lang="fr-FR" dirty="0"/>
              <a:t>Les dimensions sont les perspectives ou les aspects sous lesquels les données peuvent être analysées. Elles définissent le contexte de l'analyse.</a:t>
            </a:r>
          </a:p>
          <a:p>
            <a:pPr>
              <a:lnSpc>
                <a:spcPct val="150000"/>
              </a:lnSpc>
              <a:buFont typeface="Arial" panose="020B0604020202020204" pitchFamily="34" charset="0"/>
              <a:buChar char="•"/>
            </a:pPr>
            <a:r>
              <a:rPr lang="fr-FR" b="1" dirty="0"/>
              <a:t>Exemples de dimensions :</a:t>
            </a:r>
            <a:endParaRPr lang="fr-FR" dirty="0"/>
          </a:p>
          <a:p>
            <a:pPr marL="742950" lvl="1" indent="-285750">
              <a:lnSpc>
                <a:spcPct val="150000"/>
              </a:lnSpc>
              <a:buFont typeface="Arial" panose="020B0604020202020204" pitchFamily="34" charset="0"/>
              <a:buChar char="•"/>
            </a:pPr>
            <a:r>
              <a:rPr lang="fr-FR" b="1" dirty="0"/>
              <a:t>Temps</a:t>
            </a:r>
            <a:r>
              <a:rPr lang="fr-FR" dirty="0"/>
              <a:t> : Année, Trimestre, Mois, Jour</a:t>
            </a:r>
          </a:p>
          <a:p>
            <a:pPr marL="742950" lvl="1" indent="-285750">
              <a:lnSpc>
                <a:spcPct val="150000"/>
              </a:lnSpc>
              <a:buFont typeface="Arial" panose="020B0604020202020204" pitchFamily="34" charset="0"/>
              <a:buChar char="•"/>
            </a:pPr>
            <a:r>
              <a:rPr lang="fr-FR" b="1" dirty="0"/>
              <a:t>Produit</a:t>
            </a:r>
            <a:r>
              <a:rPr lang="fr-FR" dirty="0"/>
              <a:t> : Catégorie, Sous-catégorie, Produit</a:t>
            </a:r>
          </a:p>
          <a:p>
            <a:pPr marL="742950" lvl="1" indent="-285750">
              <a:lnSpc>
                <a:spcPct val="150000"/>
              </a:lnSpc>
              <a:buFont typeface="Arial" panose="020B0604020202020204" pitchFamily="34" charset="0"/>
              <a:buChar char="•"/>
            </a:pPr>
            <a:r>
              <a:rPr lang="fr-FR" b="1" dirty="0"/>
              <a:t>Géographie</a:t>
            </a:r>
            <a:r>
              <a:rPr lang="fr-FR" dirty="0"/>
              <a:t> : Pays, Région, Ville</a:t>
            </a:r>
          </a:p>
          <a:p>
            <a:pPr marL="742950" lvl="1" indent="-285750">
              <a:lnSpc>
                <a:spcPct val="150000"/>
              </a:lnSpc>
              <a:buFont typeface="Arial" panose="020B0604020202020204" pitchFamily="34" charset="0"/>
              <a:buChar char="•"/>
            </a:pPr>
            <a:r>
              <a:rPr lang="fr-FR" b="1" dirty="0"/>
              <a:t>Client</a:t>
            </a:r>
            <a:r>
              <a:rPr lang="fr-FR" dirty="0"/>
              <a:t> : Segment de marché, Type de client</a:t>
            </a:r>
          </a:p>
        </p:txBody>
      </p:sp>
      <p:pic>
        <p:nvPicPr>
          <p:cNvPr id="4" name="Picture 3">
            <a:extLst>
              <a:ext uri="{FF2B5EF4-FFF2-40B4-BE49-F238E27FC236}">
                <a16:creationId xmlns:a16="http://schemas.microsoft.com/office/drawing/2014/main" xmlns="" id="{FF49FFAD-1513-094F-ABBC-47C6D92F1678}"/>
              </a:ext>
            </a:extLst>
          </p:cNvPr>
          <p:cNvPicPr>
            <a:picLocks noChangeAspect="1"/>
          </p:cNvPicPr>
          <p:nvPr/>
        </p:nvPicPr>
        <p:blipFill>
          <a:blip r:embed="rId2"/>
          <a:stretch>
            <a:fillRect/>
          </a:stretch>
        </p:blipFill>
        <p:spPr>
          <a:xfrm>
            <a:off x="7209183" y="2040834"/>
            <a:ext cx="4982817" cy="4671391"/>
          </a:xfrm>
          <a:prstGeom prst="rect">
            <a:avLst/>
          </a:prstGeom>
        </p:spPr>
      </p:pic>
    </p:spTree>
    <p:extLst>
      <p:ext uri="{BB962C8B-B14F-4D97-AF65-F5344CB8AC3E}">
        <p14:creationId xmlns:p14="http://schemas.microsoft.com/office/powerpoint/2010/main" xmlns="" val="233588592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2807179" cy="584775"/>
          </a:xfrm>
          <a:prstGeom prst="rect">
            <a:avLst/>
          </a:prstGeom>
          <a:noFill/>
        </p:spPr>
        <p:txBody>
          <a:bodyPr wrap="none" rtlCol="0">
            <a:spAutoFit/>
          </a:bodyPr>
          <a:lstStyle/>
          <a:p>
            <a:r>
              <a:rPr lang="fr-FR" sz="3200" b="1" dirty="0"/>
              <a:t>Structure 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526955"/>
            <a:ext cx="7417903" cy="2534540"/>
          </a:xfrm>
          <a:prstGeom prst="rect">
            <a:avLst/>
          </a:prstGeom>
          <a:noFill/>
        </p:spPr>
        <p:txBody>
          <a:bodyPr wrap="square" rtlCol="0">
            <a:spAutoFit/>
          </a:bodyPr>
          <a:lstStyle/>
          <a:p>
            <a:pPr>
              <a:lnSpc>
                <a:spcPct val="150000"/>
              </a:lnSpc>
            </a:pPr>
            <a:r>
              <a:rPr lang="fr-FR" b="1"/>
              <a:t>2. Hiérarchies</a:t>
            </a:r>
          </a:p>
          <a:p>
            <a:pPr>
              <a:lnSpc>
                <a:spcPct val="150000"/>
              </a:lnSpc>
            </a:pPr>
            <a:r>
              <a:rPr lang="fr-FR"/>
              <a:t>Les hiérarchies structurent les dimensions en différents niveaux d'agrégation, permettant la navigation de données du niveau le plus général au niveau le plus détaillé.</a:t>
            </a:r>
          </a:p>
          <a:p>
            <a:pPr>
              <a:lnSpc>
                <a:spcPct val="150000"/>
              </a:lnSpc>
              <a:buFont typeface="Arial" panose="020B0604020202020204" pitchFamily="34" charset="0"/>
              <a:buChar char="•"/>
            </a:pPr>
            <a:r>
              <a:rPr lang="fr-FR" b="1"/>
              <a:t>Exemple de hiérarchie pour la dimension Temps :</a:t>
            </a:r>
            <a:endParaRPr lang="fr-FR"/>
          </a:p>
          <a:p>
            <a:pPr marL="742950" lvl="1" indent="-285750">
              <a:lnSpc>
                <a:spcPct val="150000"/>
              </a:lnSpc>
              <a:buFont typeface="Arial" panose="020B0604020202020204" pitchFamily="34" charset="0"/>
              <a:buChar char="•"/>
            </a:pPr>
            <a:r>
              <a:rPr lang="fr-FR" b="1"/>
              <a:t>Année &gt; Trimestre &gt; Mois &gt; Jour</a:t>
            </a:r>
            <a:endParaRPr lang="fr-FR"/>
          </a:p>
        </p:txBody>
      </p:sp>
    </p:spTree>
    <p:extLst>
      <p:ext uri="{BB962C8B-B14F-4D97-AF65-F5344CB8AC3E}">
        <p14:creationId xmlns:p14="http://schemas.microsoft.com/office/powerpoint/2010/main" xmlns="" val="50200413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2807179" cy="584775"/>
          </a:xfrm>
          <a:prstGeom prst="rect">
            <a:avLst/>
          </a:prstGeom>
          <a:noFill/>
        </p:spPr>
        <p:txBody>
          <a:bodyPr wrap="none" rtlCol="0">
            <a:spAutoFit/>
          </a:bodyPr>
          <a:lstStyle/>
          <a:p>
            <a:r>
              <a:rPr lang="fr-FR" sz="3200" b="1" dirty="0"/>
              <a:t>Structure 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526955"/>
            <a:ext cx="7417903" cy="2950038"/>
          </a:xfrm>
          <a:prstGeom prst="rect">
            <a:avLst/>
          </a:prstGeom>
          <a:noFill/>
        </p:spPr>
        <p:txBody>
          <a:bodyPr wrap="square" rtlCol="0">
            <a:spAutoFit/>
          </a:bodyPr>
          <a:lstStyle/>
          <a:p>
            <a:pPr>
              <a:lnSpc>
                <a:spcPct val="150000"/>
              </a:lnSpc>
            </a:pPr>
            <a:r>
              <a:rPr lang="fr-FR" b="1"/>
              <a:t>3. Mesures</a:t>
            </a:r>
          </a:p>
          <a:p>
            <a:pPr>
              <a:lnSpc>
                <a:spcPct val="150000"/>
              </a:lnSpc>
            </a:pPr>
            <a:r>
              <a:rPr lang="fr-FR"/>
              <a:t>Les mesures sont les données quantitatives que les utilisateurs souhaitent analyser. Elles représentent les valeurs numériques dans le cube OLAP.</a:t>
            </a:r>
          </a:p>
          <a:p>
            <a:pPr>
              <a:lnSpc>
                <a:spcPct val="150000"/>
              </a:lnSpc>
              <a:buFont typeface="Arial" panose="020B0604020202020204" pitchFamily="34" charset="0"/>
              <a:buChar char="•"/>
            </a:pPr>
            <a:r>
              <a:rPr lang="fr-FR" b="1"/>
              <a:t>Exemples de mesures :</a:t>
            </a:r>
            <a:endParaRPr lang="fr-FR"/>
          </a:p>
          <a:p>
            <a:pPr marL="742950" lvl="1" indent="-285750">
              <a:lnSpc>
                <a:spcPct val="150000"/>
              </a:lnSpc>
              <a:buFont typeface="Arial" panose="020B0604020202020204" pitchFamily="34" charset="0"/>
              <a:buChar char="•"/>
            </a:pPr>
            <a:r>
              <a:rPr lang="fr-FR" b="1"/>
              <a:t>Ventes</a:t>
            </a:r>
            <a:r>
              <a:rPr lang="fr-FR"/>
              <a:t> : Total des ventes, Volume des ventes</a:t>
            </a:r>
          </a:p>
          <a:p>
            <a:pPr marL="742950" lvl="1" indent="-285750">
              <a:lnSpc>
                <a:spcPct val="150000"/>
              </a:lnSpc>
              <a:buFont typeface="Arial" panose="020B0604020202020204" pitchFamily="34" charset="0"/>
              <a:buChar char="•"/>
            </a:pPr>
            <a:r>
              <a:rPr lang="fr-FR" b="1"/>
              <a:t>Profit</a:t>
            </a:r>
            <a:r>
              <a:rPr lang="fr-FR"/>
              <a:t> : Marge brute, Bénéfice net</a:t>
            </a:r>
          </a:p>
          <a:p>
            <a:pPr marL="742950" lvl="1" indent="-285750">
              <a:lnSpc>
                <a:spcPct val="150000"/>
              </a:lnSpc>
              <a:buFont typeface="Arial" panose="020B0604020202020204" pitchFamily="34" charset="0"/>
              <a:buChar char="•"/>
            </a:pPr>
            <a:r>
              <a:rPr lang="fr-FR" b="1"/>
              <a:t>Coûts</a:t>
            </a:r>
            <a:r>
              <a:rPr lang="fr-FR"/>
              <a:t> : Coûts des biens vendus, Coûts opérationnels</a:t>
            </a:r>
          </a:p>
        </p:txBody>
      </p:sp>
      <p:pic>
        <p:nvPicPr>
          <p:cNvPr id="4" name="Picture 3">
            <a:extLst>
              <a:ext uri="{FF2B5EF4-FFF2-40B4-BE49-F238E27FC236}">
                <a16:creationId xmlns:a16="http://schemas.microsoft.com/office/drawing/2014/main" xmlns="" id="{6C20BECD-43D2-0445-B424-BBBF3E079C66}"/>
              </a:ext>
            </a:extLst>
          </p:cNvPr>
          <p:cNvPicPr>
            <a:picLocks noChangeAspect="1"/>
          </p:cNvPicPr>
          <p:nvPr/>
        </p:nvPicPr>
        <p:blipFill>
          <a:blip r:embed="rId2"/>
          <a:stretch>
            <a:fillRect/>
          </a:stretch>
        </p:blipFill>
        <p:spPr>
          <a:xfrm>
            <a:off x="7209183" y="2040834"/>
            <a:ext cx="4982817" cy="4671391"/>
          </a:xfrm>
          <a:prstGeom prst="rect">
            <a:avLst/>
          </a:prstGeom>
        </p:spPr>
      </p:pic>
    </p:spTree>
    <p:extLst>
      <p:ext uri="{BB962C8B-B14F-4D97-AF65-F5344CB8AC3E}">
        <p14:creationId xmlns:p14="http://schemas.microsoft.com/office/powerpoint/2010/main" xmlns="" val="254512460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2807179" cy="584775"/>
          </a:xfrm>
          <a:prstGeom prst="rect">
            <a:avLst/>
          </a:prstGeom>
          <a:noFill/>
        </p:spPr>
        <p:txBody>
          <a:bodyPr wrap="none" rtlCol="0">
            <a:spAutoFit/>
          </a:bodyPr>
          <a:lstStyle/>
          <a:p>
            <a:r>
              <a:rPr lang="fr-FR" sz="3200" b="1" dirty="0"/>
              <a:t>Structure 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526955"/>
            <a:ext cx="6185451" cy="4196533"/>
          </a:xfrm>
          <a:prstGeom prst="rect">
            <a:avLst/>
          </a:prstGeom>
          <a:noFill/>
        </p:spPr>
        <p:txBody>
          <a:bodyPr wrap="square" rtlCol="0">
            <a:spAutoFit/>
          </a:bodyPr>
          <a:lstStyle/>
          <a:p>
            <a:pPr>
              <a:lnSpc>
                <a:spcPct val="150000"/>
              </a:lnSpc>
            </a:pPr>
            <a:r>
              <a:rPr lang="fr-FR" b="1" dirty="0"/>
              <a:t>4. Membres</a:t>
            </a:r>
          </a:p>
          <a:p>
            <a:pPr>
              <a:lnSpc>
                <a:spcPct val="150000"/>
              </a:lnSpc>
            </a:pPr>
            <a:r>
              <a:rPr lang="fr-FR" dirty="0"/>
              <a:t>Les membres sont les valeurs spécifiques au sein d'une dimension. Ils constituent les points de données individuels dans une hiérarchie.</a:t>
            </a:r>
          </a:p>
          <a:p>
            <a:pPr>
              <a:lnSpc>
                <a:spcPct val="150000"/>
              </a:lnSpc>
              <a:buFont typeface="Arial" panose="020B0604020202020204" pitchFamily="34" charset="0"/>
              <a:buChar char="•"/>
            </a:pPr>
            <a:r>
              <a:rPr lang="fr-FR" b="1" dirty="0"/>
              <a:t>Exemple de membres pour la dimension Produit :</a:t>
            </a:r>
            <a:endParaRPr lang="fr-FR" dirty="0"/>
          </a:p>
          <a:p>
            <a:pPr marL="742950" lvl="1" indent="-285750">
              <a:lnSpc>
                <a:spcPct val="150000"/>
              </a:lnSpc>
              <a:buFont typeface="Arial" panose="020B0604020202020204" pitchFamily="34" charset="0"/>
              <a:buChar char="•"/>
            </a:pPr>
            <a:r>
              <a:rPr lang="fr-FR" dirty="0"/>
              <a:t>Catégorie : Électronique, Vêtements</a:t>
            </a:r>
          </a:p>
          <a:p>
            <a:pPr marL="742950" lvl="1" indent="-285750">
              <a:lnSpc>
                <a:spcPct val="150000"/>
              </a:lnSpc>
              <a:buFont typeface="Arial" panose="020B0604020202020204" pitchFamily="34" charset="0"/>
              <a:buChar char="•"/>
            </a:pPr>
            <a:r>
              <a:rPr lang="fr-FR" dirty="0"/>
              <a:t>Sous-catégorie : Smartphones, Ordinateurs portables, T-shirts, Jeans</a:t>
            </a:r>
          </a:p>
          <a:p>
            <a:pPr marL="742950" lvl="1" indent="-285750">
              <a:lnSpc>
                <a:spcPct val="150000"/>
              </a:lnSpc>
              <a:buFont typeface="Arial" panose="020B0604020202020204" pitchFamily="34" charset="0"/>
              <a:buChar char="•"/>
            </a:pPr>
            <a:r>
              <a:rPr lang="fr-FR" dirty="0"/>
              <a:t>Produit : iPhone 13, MacBook Pro, T-shirt blanc, Jean bleu</a:t>
            </a:r>
          </a:p>
        </p:txBody>
      </p:sp>
      <p:pic>
        <p:nvPicPr>
          <p:cNvPr id="4" name="Picture 3">
            <a:extLst>
              <a:ext uri="{FF2B5EF4-FFF2-40B4-BE49-F238E27FC236}">
                <a16:creationId xmlns:a16="http://schemas.microsoft.com/office/drawing/2014/main" xmlns="" id="{46A2CAA4-94FE-E349-B279-FEC1F50FAD66}"/>
              </a:ext>
            </a:extLst>
          </p:cNvPr>
          <p:cNvPicPr>
            <a:picLocks noChangeAspect="1"/>
          </p:cNvPicPr>
          <p:nvPr/>
        </p:nvPicPr>
        <p:blipFill>
          <a:blip r:embed="rId2"/>
          <a:stretch>
            <a:fillRect/>
          </a:stretch>
        </p:blipFill>
        <p:spPr>
          <a:xfrm>
            <a:off x="7209183" y="1289525"/>
            <a:ext cx="4982817" cy="4671391"/>
          </a:xfrm>
          <a:prstGeom prst="rect">
            <a:avLst/>
          </a:prstGeom>
        </p:spPr>
      </p:pic>
    </p:spTree>
    <p:extLst>
      <p:ext uri="{BB962C8B-B14F-4D97-AF65-F5344CB8AC3E}">
        <p14:creationId xmlns:p14="http://schemas.microsoft.com/office/powerpoint/2010/main" xmlns="" val="85065275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2807179" cy="584775"/>
          </a:xfrm>
          <a:prstGeom prst="rect">
            <a:avLst/>
          </a:prstGeom>
          <a:noFill/>
        </p:spPr>
        <p:txBody>
          <a:bodyPr wrap="none" rtlCol="0">
            <a:spAutoFit/>
          </a:bodyPr>
          <a:lstStyle/>
          <a:p>
            <a:r>
              <a:rPr lang="fr-FR" sz="3200" b="1" dirty="0"/>
              <a:t>Structure OLAP</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143001" y="1526955"/>
            <a:ext cx="4395855" cy="4196533"/>
          </a:xfrm>
          <a:prstGeom prst="rect">
            <a:avLst/>
          </a:prstGeom>
          <a:noFill/>
        </p:spPr>
        <p:txBody>
          <a:bodyPr wrap="square" rtlCol="0">
            <a:spAutoFit/>
          </a:bodyPr>
          <a:lstStyle/>
          <a:p>
            <a:pPr>
              <a:lnSpc>
                <a:spcPct val="150000"/>
              </a:lnSpc>
            </a:pPr>
            <a:r>
              <a:rPr lang="fr-FR" b="1" dirty="0"/>
              <a:t>5. Cellules</a:t>
            </a:r>
          </a:p>
          <a:p>
            <a:pPr>
              <a:lnSpc>
                <a:spcPct val="150000"/>
              </a:lnSpc>
            </a:pPr>
            <a:r>
              <a:rPr lang="fr-FR" dirty="0"/>
              <a:t>Les cellules du cube OLAP contiennent les valeurs des mesures, croisées par les membres des dimensions. Chaque cellule est unique par sa combinaison de membres de différentes dimensions.</a:t>
            </a:r>
          </a:p>
          <a:p>
            <a:pPr>
              <a:lnSpc>
                <a:spcPct val="150000"/>
              </a:lnSpc>
              <a:buFont typeface="Arial" panose="020B0604020202020204" pitchFamily="34" charset="0"/>
              <a:buChar char="•"/>
            </a:pPr>
            <a:r>
              <a:rPr lang="fr-FR" b="1" dirty="0"/>
              <a:t>Exemple de cellule :</a:t>
            </a:r>
            <a:endParaRPr lang="fr-FR" dirty="0"/>
          </a:p>
          <a:p>
            <a:pPr marL="742950" lvl="1" indent="-285750">
              <a:lnSpc>
                <a:spcPct val="150000"/>
              </a:lnSpc>
              <a:buFont typeface="Arial" panose="020B0604020202020204" pitchFamily="34" charset="0"/>
              <a:buChar char="•"/>
            </a:pPr>
            <a:r>
              <a:rPr lang="fr-FR" b="1" dirty="0"/>
              <a:t>Dimensions</a:t>
            </a:r>
            <a:r>
              <a:rPr lang="fr-FR" dirty="0"/>
              <a:t> : Année = 2023, Produit = iPhone 13, Région = Nord</a:t>
            </a:r>
          </a:p>
          <a:p>
            <a:pPr marL="742950" lvl="1" indent="-285750">
              <a:lnSpc>
                <a:spcPct val="150000"/>
              </a:lnSpc>
              <a:buFont typeface="Arial" panose="020B0604020202020204" pitchFamily="34" charset="0"/>
              <a:buChar char="•"/>
            </a:pPr>
            <a:r>
              <a:rPr lang="fr-FR" b="1" dirty="0"/>
              <a:t>Mesure</a:t>
            </a:r>
            <a:r>
              <a:rPr lang="fr-FR" dirty="0"/>
              <a:t> : Ventes = 1 000 000 $</a:t>
            </a:r>
          </a:p>
        </p:txBody>
      </p:sp>
      <p:pic>
        <p:nvPicPr>
          <p:cNvPr id="8" name="Picture 7">
            <a:extLst>
              <a:ext uri="{FF2B5EF4-FFF2-40B4-BE49-F238E27FC236}">
                <a16:creationId xmlns:a16="http://schemas.microsoft.com/office/drawing/2014/main" xmlns="" id="{E308B597-C46E-084F-807D-8B0379FA5068}"/>
              </a:ext>
            </a:extLst>
          </p:cNvPr>
          <p:cNvPicPr>
            <a:picLocks noChangeAspect="1"/>
          </p:cNvPicPr>
          <p:nvPr/>
        </p:nvPicPr>
        <p:blipFill>
          <a:blip r:embed="rId2"/>
          <a:stretch>
            <a:fillRect/>
          </a:stretch>
        </p:blipFill>
        <p:spPr>
          <a:xfrm>
            <a:off x="5764143" y="1456748"/>
            <a:ext cx="6162813" cy="3944503"/>
          </a:xfrm>
          <a:prstGeom prst="rect">
            <a:avLst/>
          </a:prstGeom>
        </p:spPr>
      </p:pic>
    </p:spTree>
    <p:extLst>
      <p:ext uri="{BB962C8B-B14F-4D97-AF65-F5344CB8AC3E}">
        <p14:creationId xmlns:p14="http://schemas.microsoft.com/office/powerpoint/2010/main" xmlns="" val="128262137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xmlns="" id="{8EBCF420-1A16-4E79-B048-973CB46413E7}"/>
              </a:ext>
            </a:extLst>
          </p:cNvPr>
          <p:cNvPicPr>
            <a:picLocks noChangeAspect="1"/>
          </p:cNvPicPr>
          <p:nvPr/>
        </p:nvPicPr>
        <p:blipFill>
          <a:blip r:embed="rId2"/>
          <a:stretch>
            <a:fillRect/>
          </a:stretch>
        </p:blipFill>
        <p:spPr>
          <a:xfrm>
            <a:off x="1015284" y="780781"/>
            <a:ext cx="10592874" cy="5296437"/>
          </a:xfrm>
          <a:prstGeom prst="rect">
            <a:avLst/>
          </a:prstGeom>
        </p:spPr>
      </p:pic>
    </p:spTree>
    <p:extLst>
      <p:ext uri="{BB962C8B-B14F-4D97-AF65-F5344CB8AC3E}">
        <p14:creationId xmlns:p14="http://schemas.microsoft.com/office/powerpoint/2010/main" xmlns="" val="210156135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xmlns="" id="{460BF08E-04F8-4FF6-87CE-509CE8BB393E}"/>
              </a:ext>
            </a:extLst>
          </p:cNvPr>
          <p:cNvPicPr>
            <a:picLocks noChangeAspect="1"/>
          </p:cNvPicPr>
          <p:nvPr/>
        </p:nvPicPr>
        <p:blipFill>
          <a:blip r:embed="rId2"/>
          <a:stretch>
            <a:fillRect/>
          </a:stretch>
        </p:blipFill>
        <p:spPr>
          <a:xfrm>
            <a:off x="1030310" y="777023"/>
            <a:ext cx="10131380" cy="5303954"/>
          </a:xfrm>
          <a:prstGeom prst="rect">
            <a:avLst/>
          </a:prstGeom>
        </p:spPr>
      </p:pic>
    </p:spTree>
    <p:extLst>
      <p:ext uri="{BB962C8B-B14F-4D97-AF65-F5344CB8AC3E}">
        <p14:creationId xmlns:p14="http://schemas.microsoft.com/office/powerpoint/2010/main" xmlns="" val="296151201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pic>
        <p:nvPicPr>
          <p:cNvPr id="4" name="Picture 3">
            <a:extLst>
              <a:ext uri="{FF2B5EF4-FFF2-40B4-BE49-F238E27FC236}">
                <a16:creationId xmlns:a16="http://schemas.microsoft.com/office/drawing/2014/main" xmlns="" id="{EBE09FB6-14A6-A440-9714-3632CA64D798}"/>
              </a:ext>
            </a:extLst>
          </p:cNvPr>
          <p:cNvPicPr>
            <a:picLocks noChangeAspect="1"/>
          </p:cNvPicPr>
          <p:nvPr/>
        </p:nvPicPr>
        <p:blipFill>
          <a:blip r:embed="rId2"/>
          <a:stretch>
            <a:fillRect/>
          </a:stretch>
        </p:blipFill>
        <p:spPr>
          <a:xfrm>
            <a:off x="1311137" y="1605745"/>
            <a:ext cx="10629900" cy="4737100"/>
          </a:xfrm>
          <a:prstGeom prst="rect">
            <a:avLst/>
          </a:prstGeom>
        </p:spPr>
      </p:pic>
    </p:spTree>
    <p:extLst>
      <p:ext uri="{BB962C8B-B14F-4D97-AF65-F5344CB8AC3E}">
        <p14:creationId xmlns:p14="http://schemas.microsoft.com/office/powerpoint/2010/main" xmlns="" val="53137888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241004" y="0"/>
            <a:ext cx="11950996" cy="6858000"/>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4842864"/>
          </a:xfrm>
          <a:prstGeom prst="rect">
            <a:avLst/>
          </a:prstGeom>
          <a:noFill/>
        </p:spPr>
        <p:txBody>
          <a:bodyPr wrap="square" rtlCol="0">
            <a:spAutoFit/>
          </a:bodyPr>
          <a:lstStyle/>
          <a:p>
            <a:pPr>
              <a:lnSpc>
                <a:spcPct val="150000"/>
              </a:lnSpc>
            </a:pPr>
            <a:r>
              <a:rPr lang="fr-FR" sz="2800" b="1" dirty="0">
                <a:solidFill>
                  <a:schemeClr val="accent6">
                    <a:lumMod val="50000"/>
                  </a:schemeClr>
                </a:solidFill>
              </a:rPr>
              <a:t>SLICING</a:t>
            </a:r>
            <a:endParaRPr lang="fr-FR" b="1" dirty="0">
              <a:solidFill>
                <a:schemeClr val="accent6">
                  <a:lumMod val="50000"/>
                </a:schemeClr>
              </a:solidFill>
            </a:endParaRPr>
          </a:p>
          <a:p>
            <a:pPr>
              <a:lnSpc>
                <a:spcPct val="150000"/>
              </a:lnSpc>
              <a:buFont typeface="Arial" panose="020B0604020202020204" pitchFamily="34" charset="0"/>
              <a:buChar char="•"/>
            </a:pPr>
            <a:r>
              <a:rPr lang="fr-FR" b="1" dirty="0"/>
              <a:t>Définition</a:t>
            </a:r>
            <a:r>
              <a:rPr lang="fr-FR" dirty="0"/>
              <a:t> :</a:t>
            </a:r>
          </a:p>
          <a:p>
            <a:pPr marL="742950" lvl="1" indent="-285750">
              <a:lnSpc>
                <a:spcPct val="150000"/>
              </a:lnSpc>
              <a:buFont typeface="Arial" panose="020B0604020202020204" pitchFamily="34" charset="0"/>
              <a:buChar char="•"/>
            </a:pPr>
            <a:r>
              <a:rPr lang="fr-FR" dirty="0"/>
              <a:t>Le </a:t>
            </a:r>
            <a:r>
              <a:rPr lang="fr-FR" b="1" dirty="0" err="1"/>
              <a:t>slicing</a:t>
            </a:r>
            <a:r>
              <a:rPr lang="fr-FR" dirty="0"/>
              <a:t> consiste à extraire une seule dimension d'un cube OLAP, créant ainsi un sous-ensemble des données.</a:t>
            </a:r>
          </a:p>
          <a:p>
            <a:pPr marL="742950" lvl="1" indent="-285750">
              <a:lnSpc>
                <a:spcPct val="150000"/>
              </a:lnSpc>
              <a:buFont typeface="Arial" panose="020B0604020202020204" pitchFamily="34" charset="0"/>
              <a:buChar char="•"/>
            </a:pPr>
            <a:endParaRPr lang="fr-FR" dirty="0"/>
          </a:p>
          <a:p>
            <a:pPr>
              <a:lnSpc>
                <a:spcPct val="150000"/>
              </a:lnSpc>
              <a:buFont typeface="Arial" panose="020B0604020202020204" pitchFamily="34" charset="0"/>
              <a:buChar char="•"/>
            </a:pPr>
            <a:r>
              <a:rPr lang="fr-FR" b="1" dirty="0"/>
              <a:t>Exemple</a:t>
            </a:r>
            <a:r>
              <a:rPr lang="fr-FR" dirty="0"/>
              <a:t> :</a:t>
            </a:r>
          </a:p>
          <a:p>
            <a:pPr marL="742950" lvl="1" indent="-285750">
              <a:lnSpc>
                <a:spcPct val="150000"/>
              </a:lnSpc>
              <a:buFont typeface="Arial" panose="020B0604020202020204" pitchFamily="34" charset="0"/>
              <a:buChar char="•"/>
            </a:pPr>
            <a:r>
              <a:rPr lang="fr-FR" dirty="0"/>
              <a:t>Si vous avez un cube avec les dimensions Temps, Région, et Produit, un slice pourrait être toutes les ventes (mesure) pour une année particulière (par exemple, 2023).</a:t>
            </a:r>
          </a:p>
          <a:p>
            <a:pPr marL="742950" lvl="1" indent="-285750">
              <a:lnSpc>
                <a:spcPct val="150000"/>
              </a:lnSpc>
              <a:buFont typeface="Arial" panose="020B0604020202020204" pitchFamily="34" charset="0"/>
              <a:buChar char="•"/>
            </a:pPr>
            <a:endParaRPr lang="fr-FR" dirty="0"/>
          </a:p>
          <a:p>
            <a:pPr>
              <a:lnSpc>
                <a:spcPct val="150000"/>
              </a:lnSpc>
              <a:buFont typeface="Arial" panose="020B0604020202020204" pitchFamily="34" charset="0"/>
              <a:buChar char="•"/>
            </a:pPr>
            <a:r>
              <a:rPr lang="fr-FR" b="1" dirty="0"/>
              <a:t>Utilisation</a:t>
            </a:r>
            <a:r>
              <a:rPr lang="fr-FR" dirty="0"/>
              <a:t> :</a:t>
            </a:r>
          </a:p>
          <a:p>
            <a:pPr marL="742950" lvl="1" indent="-285750">
              <a:lnSpc>
                <a:spcPct val="150000"/>
              </a:lnSpc>
              <a:buFont typeface="Arial" panose="020B0604020202020204" pitchFamily="34" charset="0"/>
              <a:buChar char="•"/>
            </a:pPr>
            <a:r>
              <a:rPr lang="fr-FR" dirty="0"/>
              <a:t>Permet de se concentrer sur une dimension spécifique pour une analyse détaillée.</a:t>
            </a:r>
          </a:p>
        </p:txBody>
      </p:sp>
    </p:spTree>
    <p:extLst>
      <p:ext uri="{BB962C8B-B14F-4D97-AF65-F5344CB8AC3E}">
        <p14:creationId xmlns:p14="http://schemas.microsoft.com/office/powerpoint/2010/main" xmlns="" val="6968552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SLICING</a:t>
            </a:r>
            <a:endParaRPr lang="fr-FR" b="1" dirty="0">
              <a:solidFill>
                <a:schemeClr val="accent6">
                  <a:lumMod val="50000"/>
                </a:schemeClr>
              </a:solidFill>
            </a:endParaRPr>
          </a:p>
        </p:txBody>
      </p:sp>
      <p:pic>
        <p:nvPicPr>
          <p:cNvPr id="4" name="Picture 3">
            <a:extLst>
              <a:ext uri="{FF2B5EF4-FFF2-40B4-BE49-F238E27FC236}">
                <a16:creationId xmlns:a16="http://schemas.microsoft.com/office/drawing/2014/main" xmlns="" id="{403CCCDF-1DF4-C24B-ADB7-8C97FEF0BE67}"/>
              </a:ext>
            </a:extLst>
          </p:cNvPr>
          <p:cNvPicPr>
            <a:picLocks noChangeAspect="1"/>
          </p:cNvPicPr>
          <p:nvPr/>
        </p:nvPicPr>
        <p:blipFill>
          <a:blip r:embed="rId2"/>
          <a:stretch>
            <a:fillRect/>
          </a:stretch>
        </p:blipFill>
        <p:spPr>
          <a:xfrm>
            <a:off x="2062801" y="2069686"/>
            <a:ext cx="7747000" cy="4622800"/>
          </a:xfrm>
          <a:prstGeom prst="rect">
            <a:avLst/>
          </a:prstGeom>
        </p:spPr>
      </p:pic>
    </p:spTree>
    <p:extLst>
      <p:ext uri="{BB962C8B-B14F-4D97-AF65-F5344CB8AC3E}">
        <p14:creationId xmlns:p14="http://schemas.microsoft.com/office/powerpoint/2010/main" xmlns="" val="365692540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rotWithShape="1">
          <a:blip r:embed="rId3"/>
          <a:srcRect t="36244"/>
          <a:stretch/>
        </p:blipFill>
        <p:spPr>
          <a:xfrm>
            <a:off x="860738" y="2289811"/>
            <a:ext cx="10470524" cy="3755010"/>
          </a:xfrm>
          <a:prstGeom prst="rect">
            <a:avLst/>
          </a:prstGeom>
        </p:spPr>
      </p:pic>
      <p:sp>
        <p:nvSpPr>
          <p:cNvPr id="3" name="TextBox 2">
            <a:extLst>
              <a:ext uri="{FF2B5EF4-FFF2-40B4-BE49-F238E27FC236}">
                <a16:creationId xmlns:a16="http://schemas.microsoft.com/office/drawing/2014/main" xmlns="" id="{BFC72F5C-C15D-BE46-B503-937330771BBB}"/>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4" name="TextBox 3">
            <a:extLst>
              <a:ext uri="{FF2B5EF4-FFF2-40B4-BE49-F238E27FC236}">
                <a16:creationId xmlns:a16="http://schemas.microsoft.com/office/drawing/2014/main" xmlns="" id="{6F4E5CDB-6360-6A48-9013-C2C5631A968F}"/>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SLICING</a:t>
            </a:r>
            <a:endParaRPr lang="fr-FR" b="1" dirty="0">
              <a:solidFill>
                <a:schemeClr val="accent6">
                  <a:lumMod val="50000"/>
                </a:schemeClr>
              </a:solidFill>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xmlns="" id="{224B4B39-3BF5-4421-AA40-A8178B105E77}"/>
              </a:ext>
            </a:extLst>
          </p:cNvPr>
          <p:cNvPicPr>
            <a:picLocks noChangeAspect="1"/>
          </p:cNvPicPr>
          <p:nvPr/>
        </p:nvPicPr>
        <p:blipFill>
          <a:blip r:embed="rId2"/>
          <a:stretch>
            <a:fillRect/>
          </a:stretch>
        </p:blipFill>
        <p:spPr>
          <a:xfrm>
            <a:off x="0" y="244428"/>
            <a:ext cx="12192000" cy="5490187"/>
          </a:xfrm>
          <a:prstGeom prst="rect">
            <a:avLst/>
          </a:prstGeom>
        </p:spPr>
      </p:pic>
      <p:pic>
        <p:nvPicPr>
          <p:cNvPr id="4" name="Image 3">
            <a:extLst>
              <a:ext uri="{FF2B5EF4-FFF2-40B4-BE49-F238E27FC236}">
                <a16:creationId xmlns:a16="http://schemas.microsoft.com/office/drawing/2014/main" xmlns="" id="{7B459514-94EC-45C4-BF2A-725022826C0E}"/>
              </a:ext>
            </a:extLst>
          </p:cNvPr>
          <p:cNvPicPr>
            <a:picLocks noChangeAspect="1"/>
          </p:cNvPicPr>
          <p:nvPr/>
        </p:nvPicPr>
        <p:blipFill>
          <a:blip r:embed="rId3"/>
          <a:stretch>
            <a:fillRect/>
          </a:stretch>
        </p:blipFill>
        <p:spPr>
          <a:xfrm>
            <a:off x="330200" y="244428"/>
            <a:ext cx="11861800" cy="1041400"/>
          </a:xfrm>
          <a:prstGeom prst="rect">
            <a:avLst/>
          </a:prstGeom>
        </p:spPr>
      </p:pic>
      <p:pic>
        <p:nvPicPr>
          <p:cNvPr id="5" name="Image 4">
            <a:extLst>
              <a:ext uri="{FF2B5EF4-FFF2-40B4-BE49-F238E27FC236}">
                <a16:creationId xmlns:a16="http://schemas.microsoft.com/office/drawing/2014/main" xmlns="" id="{BFD9F1BC-BED3-4D20-B46B-9BE4F3A5490F}"/>
              </a:ext>
            </a:extLst>
          </p:cNvPr>
          <p:cNvPicPr>
            <a:picLocks noChangeAspect="1"/>
          </p:cNvPicPr>
          <p:nvPr/>
        </p:nvPicPr>
        <p:blipFill>
          <a:blip r:embed="rId4"/>
          <a:stretch>
            <a:fillRect/>
          </a:stretch>
        </p:blipFill>
        <p:spPr>
          <a:xfrm>
            <a:off x="111622" y="1285828"/>
            <a:ext cx="7708900" cy="4521200"/>
          </a:xfrm>
          <a:prstGeom prst="rect">
            <a:avLst/>
          </a:prstGeom>
        </p:spPr>
      </p:pic>
      <p:pic>
        <p:nvPicPr>
          <p:cNvPr id="6" name="Image 5">
            <a:extLst>
              <a:ext uri="{FF2B5EF4-FFF2-40B4-BE49-F238E27FC236}">
                <a16:creationId xmlns:a16="http://schemas.microsoft.com/office/drawing/2014/main" xmlns="" id="{25903EA7-4411-4D3D-9F4D-007BE9C4A3DC}"/>
              </a:ext>
            </a:extLst>
          </p:cNvPr>
          <p:cNvPicPr>
            <a:picLocks noChangeAspect="1"/>
          </p:cNvPicPr>
          <p:nvPr/>
        </p:nvPicPr>
        <p:blipFill>
          <a:blip r:embed="rId5"/>
          <a:stretch>
            <a:fillRect/>
          </a:stretch>
        </p:blipFill>
        <p:spPr>
          <a:xfrm>
            <a:off x="7397368" y="946715"/>
            <a:ext cx="4794632" cy="4787900"/>
          </a:xfrm>
          <a:prstGeom prst="rect">
            <a:avLst/>
          </a:prstGeom>
        </p:spPr>
      </p:pic>
    </p:spTree>
    <p:extLst>
      <p:ext uri="{BB962C8B-B14F-4D97-AF65-F5344CB8AC3E}">
        <p14:creationId xmlns:p14="http://schemas.microsoft.com/office/powerpoint/2010/main" xmlns="" val="3024456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4427366"/>
          </a:xfrm>
          <a:prstGeom prst="rect">
            <a:avLst/>
          </a:prstGeom>
          <a:noFill/>
        </p:spPr>
        <p:txBody>
          <a:bodyPr wrap="square" rtlCol="0">
            <a:spAutoFit/>
          </a:bodyPr>
          <a:lstStyle/>
          <a:p>
            <a:pPr>
              <a:lnSpc>
                <a:spcPct val="150000"/>
              </a:lnSpc>
            </a:pPr>
            <a:r>
              <a:rPr lang="fr-FR" sz="2800" b="1" dirty="0">
                <a:solidFill>
                  <a:schemeClr val="accent6">
                    <a:lumMod val="50000"/>
                  </a:schemeClr>
                </a:solidFill>
              </a:rPr>
              <a:t>DICING</a:t>
            </a:r>
            <a:endParaRPr lang="fr-FR" b="1" dirty="0">
              <a:solidFill>
                <a:schemeClr val="accent6">
                  <a:lumMod val="50000"/>
                </a:schemeClr>
              </a:solidFill>
            </a:endParaRPr>
          </a:p>
          <a:p>
            <a:pPr>
              <a:lnSpc>
                <a:spcPct val="150000"/>
              </a:lnSpc>
              <a:buFont typeface="Arial" panose="020B0604020202020204" pitchFamily="34" charset="0"/>
              <a:buChar char="•"/>
            </a:pPr>
            <a:r>
              <a:rPr lang="fr-FR" b="1" dirty="0"/>
              <a:t>Définition</a:t>
            </a:r>
            <a:r>
              <a:rPr lang="fr-FR" dirty="0"/>
              <a:t> :</a:t>
            </a:r>
          </a:p>
          <a:p>
            <a:pPr marL="742950" lvl="1" indent="-285750">
              <a:lnSpc>
                <a:spcPct val="150000"/>
              </a:lnSpc>
              <a:buFont typeface="Arial" panose="020B0604020202020204" pitchFamily="34" charset="0"/>
              <a:buChar char="•"/>
            </a:pPr>
            <a:r>
              <a:rPr lang="fr-FR" dirty="0"/>
              <a:t>Le </a:t>
            </a:r>
            <a:r>
              <a:rPr lang="fr-FR" b="1" dirty="0" err="1"/>
              <a:t>dicing</a:t>
            </a:r>
            <a:r>
              <a:rPr lang="fr-FR" dirty="0"/>
              <a:t> implique la sélection d'un sous-ensemble de données en spécifiant des valeurs pour plusieurs dimensions, créant ainsi un "cube plus petit" ou un "sous-cube".</a:t>
            </a:r>
          </a:p>
          <a:p>
            <a:pPr>
              <a:lnSpc>
                <a:spcPct val="150000"/>
              </a:lnSpc>
              <a:buFont typeface="Arial" panose="020B0604020202020204" pitchFamily="34" charset="0"/>
              <a:buChar char="•"/>
            </a:pPr>
            <a:r>
              <a:rPr lang="fr-FR" b="1" dirty="0"/>
              <a:t>Exemple</a:t>
            </a:r>
            <a:r>
              <a:rPr lang="fr-FR" dirty="0"/>
              <a:t> :</a:t>
            </a:r>
          </a:p>
          <a:p>
            <a:pPr marL="742950" lvl="1" indent="-285750">
              <a:lnSpc>
                <a:spcPct val="150000"/>
              </a:lnSpc>
              <a:buFont typeface="Arial" panose="020B0604020202020204" pitchFamily="34" charset="0"/>
              <a:buChar char="•"/>
            </a:pPr>
            <a:r>
              <a:rPr lang="fr-FR" dirty="0"/>
              <a:t>Si vous avez les dimensions Temps, Région, Produit, un </a:t>
            </a:r>
            <a:r>
              <a:rPr lang="fr-FR" dirty="0" err="1"/>
              <a:t>dice</a:t>
            </a:r>
            <a:r>
              <a:rPr lang="fr-FR" dirty="0"/>
              <a:t> pourrait être toutes les ventes pour les régions "Nord" et "Sud" pendant les années 2022 et 2023 pour les produits "A" et "B".</a:t>
            </a:r>
          </a:p>
          <a:p>
            <a:pPr>
              <a:lnSpc>
                <a:spcPct val="150000"/>
              </a:lnSpc>
              <a:buFont typeface="Arial" panose="020B0604020202020204" pitchFamily="34" charset="0"/>
              <a:buChar char="•"/>
            </a:pPr>
            <a:r>
              <a:rPr lang="fr-FR" b="1" dirty="0"/>
              <a:t>Utilisation</a:t>
            </a:r>
            <a:r>
              <a:rPr lang="fr-FR" dirty="0"/>
              <a:t> :</a:t>
            </a:r>
          </a:p>
          <a:p>
            <a:pPr marL="742950" lvl="1" indent="-285750">
              <a:lnSpc>
                <a:spcPct val="150000"/>
              </a:lnSpc>
              <a:buFont typeface="Arial" panose="020B0604020202020204" pitchFamily="34" charset="0"/>
              <a:buChar char="•"/>
            </a:pPr>
            <a:r>
              <a:rPr lang="fr-FR" dirty="0"/>
              <a:t>Permet de comparer des sous-ensembles de données spécifiques.</a:t>
            </a:r>
          </a:p>
        </p:txBody>
      </p:sp>
    </p:spTree>
    <p:extLst>
      <p:ext uri="{BB962C8B-B14F-4D97-AF65-F5344CB8AC3E}">
        <p14:creationId xmlns:p14="http://schemas.microsoft.com/office/powerpoint/2010/main" xmlns="" val="401065807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DICING</a:t>
            </a:r>
            <a:endParaRPr lang="fr-FR" b="1" dirty="0">
              <a:solidFill>
                <a:schemeClr val="accent6">
                  <a:lumMod val="50000"/>
                </a:schemeClr>
              </a:solidFill>
            </a:endParaRPr>
          </a:p>
        </p:txBody>
      </p:sp>
      <p:pic>
        <p:nvPicPr>
          <p:cNvPr id="5" name="Picture 4">
            <a:extLst>
              <a:ext uri="{FF2B5EF4-FFF2-40B4-BE49-F238E27FC236}">
                <a16:creationId xmlns:a16="http://schemas.microsoft.com/office/drawing/2014/main" xmlns="" id="{AAD83799-FC16-C541-85CE-CB8934CC533A}"/>
              </a:ext>
            </a:extLst>
          </p:cNvPr>
          <p:cNvPicPr>
            <a:picLocks noChangeAspect="1"/>
          </p:cNvPicPr>
          <p:nvPr/>
        </p:nvPicPr>
        <p:blipFill>
          <a:blip r:embed="rId2"/>
          <a:stretch>
            <a:fillRect/>
          </a:stretch>
        </p:blipFill>
        <p:spPr>
          <a:xfrm>
            <a:off x="2006600" y="2069686"/>
            <a:ext cx="8178800" cy="4381500"/>
          </a:xfrm>
          <a:prstGeom prst="rect">
            <a:avLst/>
          </a:prstGeom>
        </p:spPr>
      </p:pic>
    </p:spTree>
    <p:extLst>
      <p:ext uri="{BB962C8B-B14F-4D97-AF65-F5344CB8AC3E}">
        <p14:creationId xmlns:p14="http://schemas.microsoft.com/office/powerpoint/2010/main" xmlns="" val="90056554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rotWithShape="1">
          <a:blip r:embed="rId3"/>
          <a:srcRect t="30798"/>
          <a:stretch/>
        </p:blipFill>
        <p:spPr>
          <a:xfrm>
            <a:off x="785611" y="2289811"/>
            <a:ext cx="10620777" cy="4134250"/>
          </a:xfrm>
          <a:prstGeom prst="rect">
            <a:avLst/>
          </a:prstGeom>
        </p:spPr>
      </p:pic>
      <p:sp>
        <p:nvSpPr>
          <p:cNvPr id="3" name="TextBox 2">
            <a:extLst>
              <a:ext uri="{FF2B5EF4-FFF2-40B4-BE49-F238E27FC236}">
                <a16:creationId xmlns:a16="http://schemas.microsoft.com/office/drawing/2014/main" xmlns="" id="{72D0FD57-9755-6F4A-95AC-075BC3EC1DC6}"/>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4" name="TextBox 3">
            <a:extLst>
              <a:ext uri="{FF2B5EF4-FFF2-40B4-BE49-F238E27FC236}">
                <a16:creationId xmlns:a16="http://schemas.microsoft.com/office/drawing/2014/main" xmlns="" id="{27D0A8ED-32EE-2A45-9165-A50245A88F38}"/>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DICING</a:t>
            </a:r>
            <a:endParaRPr lang="fr-FR" b="1" dirty="0">
              <a:solidFill>
                <a:schemeClr val="accent6">
                  <a:lumMod val="50000"/>
                </a:schemeClr>
              </a:solidFill>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xmlns="" id="{F8D310A1-4F1A-4FB6-930B-49F89280E676}"/>
              </a:ext>
            </a:extLst>
          </p:cNvPr>
          <p:cNvPicPr>
            <a:picLocks noChangeAspect="1"/>
          </p:cNvPicPr>
          <p:nvPr/>
        </p:nvPicPr>
        <p:blipFill>
          <a:blip r:embed="rId2"/>
          <a:stretch>
            <a:fillRect/>
          </a:stretch>
        </p:blipFill>
        <p:spPr>
          <a:xfrm>
            <a:off x="0" y="173252"/>
            <a:ext cx="12192000" cy="6511496"/>
          </a:xfrm>
          <a:prstGeom prst="rect">
            <a:avLst/>
          </a:prstGeom>
        </p:spPr>
      </p:pic>
      <p:pic>
        <p:nvPicPr>
          <p:cNvPr id="9" name="Image 8">
            <a:extLst>
              <a:ext uri="{FF2B5EF4-FFF2-40B4-BE49-F238E27FC236}">
                <a16:creationId xmlns:a16="http://schemas.microsoft.com/office/drawing/2014/main" xmlns="" id="{ACE7FD76-CAD3-42AD-BD3A-EEBD93258FB1}"/>
              </a:ext>
            </a:extLst>
          </p:cNvPr>
          <p:cNvPicPr>
            <a:picLocks noChangeAspect="1"/>
          </p:cNvPicPr>
          <p:nvPr/>
        </p:nvPicPr>
        <p:blipFill>
          <a:blip r:embed="rId3"/>
          <a:stretch>
            <a:fillRect/>
          </a:stretch>
        </p:blipFill>
        <p:spPr>
          <a:xfrm>
            <a:off x="167931" y="1366092"/>
            <a:ext cx="9740900" cy="5318656"/>
          </a:xfrm>
          <a:prstGeom prst="rect">
            <a:avLst/>
          </a:prstGeom>
        </p:spPr>
      </p:pic>
      <p:pic>
        <p:nvPicPr>
          <p:cNvPr id="10" name="Image 9">
            <a:extLst>
              <a:ext uri="{FF2B5EF4-FFF2-40B4-BE49-F238E27FC236}">
                <a16:creationId xmlns:a16="http://schemas.microsoft.com/office/drawing/2014/main" xmlns="" id="{EE4A38F7-FC95-480D-936D-9DE7F78C4CF8}"/>
              </a:ext>
            </a:extLst>
          </p:cNvPr>
          <p:cNvPicPr>
            <a:picLocks noChangeAspect="1"/>
          </p:cNvPicPr>
          <p:nvPr/>
        </p:nvPicPr>
        <p:blipFill>
          <a:blip r:embed="rId4"/>
          <a:stretch>
            <a:fillRect/>
          </a:stretch>
        </p:blipFill>
        <p:spPr>
          <a:xfrm>
            <a:off x="8342446" y="1790777"/>
            <a:ext cx="3468631" cy="3289300"/>
          </a:xfrm>
          <a:prstGeom prst="rect">
            <a:avLst/>
          </a:prstGeom>
        </p:spPr>
      </p:pic>
    </p:spTree>
    <p:extLst>
      <p:ext uri="{BB962C8B-B14F-4D97-AF65-F5344CB8AC3E}">
        <p14:creationId xmlns:p14="http://schemas.microsoft.com/office/powerpoint/2010/main" xmlns="" val="7366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4427366"/>
          </a:xfrm>
          <a:prstGeom prst="rect">
            <a:avLst/>
          </a:prstGeom>
          <a:noFill/>
        </p:spPr>
        <p:txBody>
          <a:bodyPr wrap="square" rtlCol="0">
            <a:spAutoFit/>
          </a:bodyPr>
          <a:lstStyle/>
          <a:p>
            <a:pPr>
              <a:lnSpc>
                <a:spcPct val="150000"/>
              </a:lnSpc>
            </a:pPr>
            <a:r>
              <a:rPr lang="fr-FR" sz="2800" b="1" dirty="0">
                <a:solidFill>
                  <a:schemeClr val="accent6">
                    <a:lumMod val="50000"/>
                  </a:schemeClr>
                </a:solidFill>
              </a:rPr>
              <a:t>ROTATING</a:t>
            </a:r>
            <a:endParaRPr lang="fr-FR" b="1" dirty="0">
              <a:solidFill>
                <a:schemeClr val="accent6">
                  <a:lumMod val="50000"/>
                </a:schemeClr>
              </a:solidFill>
            </a:endParaRPr>
          </a:p>
          <a:p>
            <a:pPr>
              <a:lnSpc>
                <a:spcPct val="150000"/>
              </a:lnSpc>
              <a:buFont typeface="Arial" panose="020B0604020202020204" pitchFamily="34" charset="0"/>
              <a:buChar char="•"/>
            </a:pPr>
            <a:r>
              <a:rPr lang="fr-FR" b="1" dirty="0"/>
              <a:t>Définition</a:t>
            </a:r>
            <a:r>
              <a:rPr lang="fr-FR" dirty="0"/>
              <a:t> :</a:t>
            </a:r>
          </a:p>
          <a:p>
            <a:pPr marL="742950" lvl="1" indent="-285750">
              <a:lnSpc>
                <a:spcPct val="150000"/>
              </a:lnSpc>
              <a:buFont typeface="Arial" panose="020B0604020202020204" pitchFamily="34" charset="0"/>
              <a:buChar char="•"/>
            </a:pPr>
            <a:r>
              <a:rPr lang="fr-FR" dirty="0"/>
              <a:t>Le </a:t>
            </a:r>
            <a:r>
              <a:rPr lang="fr-FR" b="1" dirty="0" err="1"/>
              <a:t>rotating</a:t>
            </a:r>
            <a:r>
              <a:rPr lang="fr-FR" dirty="0"/>
              <a:t> ou </a:t>
            </a:r>
            <a:r>
              <a:rPr lang="fr-FR" b="1" dirty="0" err="1"/>
              <a:t>pivoting</a:t>
            </a:r>
            <a:r>
              <a:rPr lang="fr-FR" dirty="0"/>
              <a:t> consiste à changer l'orientation des axes dans un cube OLAP. Cela signifie transformer les dimensions des lignes en colonnes et vice-versa.</a:t>
            </a:r>
          </a:p>
          <a:p>
            <a:pPr>
              <a:lnSpc>
                <a:spcPct val="150000"/>
              </a:lnSpc>
              <a:buFont typeface="Arial" panose="020B0604020202020204" pitchFamily="34" charset="0"/>
              <a:buChar char="•"/>
            </a:pPr>
            <a:r>
              <a:rPr lang="fr-FR" b="1" dirty="0"/>
              <a:t>Exemple</a:t>
            </a:r>
            <a:r>
              <a:rPr lang="fr-FR" dirty="0"/>
              <a:t> :</a:t>
            </a:r>
          </a:p>
          <a:p>
            <a:pPr marL="742950" lvl="1" indent="-285750">
              <a:lnSpc>
                <a:spcPct val="150000"/>
              </a:lnSpc>
              <a:buFont typeface="Arial" panose="020B0604020202020204" pitchFamily="34" charset="0"/>
              <a:buChar char="•"/>
            </a:pPr>
            <a:r>
              <a:rPr lang="fr-FR" dirty="0"/>
              <a:t>Transformer la vue d’un tableau qui affiche les ventes par Produit et par Région pour qu’il affiche les ventes par Région et par Produit.</a:t>
            </a:r>
          </a:p>
          <a:p>
            <a:pPr>
              <a:lnSpc>
                <a:spcPct val="150000"/>
              </a:lnSpc>
              <a:buFont typeface="Arial" panose="020B0604020202020204" pitchFamily="34" charset="0"/>
              <a:buChar char="•"/>
            </a:pPr>
            <a:r>
              <a:rPr lang="fr-FR" b="1" dirty="0"/>
              <a:t>Utilisation</a:t>
            </a:r>
            <a:r>
              <a:rPr lang="fr-FR" dirty="0"/>
              <a:t> :</a:t>
            </a:r>
          </a:p>
          <a:p>
            <a:pPr marL="742950" lvl="1" indent="-285750">
              <a:lnSpc>
                <a:spcPct val="150000"/>
              </a:lnSpc>
              <a:buFont typeface="Arial" panose="020B0604020202020204" pitchFamily="34" charset="0"/>
              <a:buChar char="•"/>
            </a:pPr>
            <a:r>
              <a:rPr lang="fr-FR" dirty="0"/>
              <a:t>Permet de visualiser les données sous différents angles et de découvrir de nouvelles perspectives.</a:t>
            </a:r>
          </a:p>
        </p:txBody>
      </p:sp>
    </p:spTree>
    <p:extLst>
      <p:ext uri="{BB962C8B-B14F-4D97-AF65-F5344CB8AC3E}">
        <p14:creationId xmlns:p14="http://schemas.microsoft.com/office/powerpoint/2010/main" xmlns="" val="389193419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ROTATING</a:t>
            </a:r>
            <a:endParaRPr lang="fr-FR" b="1" dirty="0">
              <a:solidFill>
                <a:schemeClr val="accent6">
                  <a:lumMod val="50000"/>
                </a:schemeClr>
              </a:solidFill>
            </a:endParaRPr>
          </a:p>
        </p:txBody>
      </p:sp>
      <p:pic>
        <p:nvPicPr>
          <p:cNvPr id="4" name="Picture 3">
            <a:extLst>
              <a:ext uri="{FF2B5EF4-FFF2-40B4-BE49-F238E27FC236}">
                <a16:creationId xmlns:a16="http://schemas.microsoft.com/office/drawing/2014/main" xmlns="" id="{182BDFDB-8192-5E42-8F50-D47C4D2898ED}"/>
              </a:ext>
            </a:extLst>
          </p:cNvPr>
          <p:cNvPicPr>
            <a:picLocks noChangeAspect="1"/>
          </p:cNvPicPr>
          <p:nvPr/>
        </p:nvPicPr>
        <p:blipFill>
          <a:blip r:embed="rId2"/>
          <a:stretch>
            <a:fillRect/>
          </a:stretch>
        </p:blipFill>
        <p:spPr>
          <a:xfrm>
            <a:off x="2076450" y="2289811"/>
            <a:ext cx="8039100" cy="3657600"/>
          </a:xfrm>
          <a:prstGeom prst="rect">
            <a:avLst/>
          </a:prstGeom>
        </p:spPr>
      </p:pic>
    </p:spTree>
    <p:extLst>
      <p:ext uri="{BB962C8B-B14F-4D97-AF65-F5344CB8AC3E}">
        <p14:creationId xmlns:p14="http://schemas.microsoft.com/office/powerpoint/2010/main" xmlns="" val="98846150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p:cNvPicPr>
            <a:picLocks noChangeAspect="1"/>
          </p:cNvPicPr>
          <p:nvPr/>
        </p:nvPicPr>
        <p:blipFill rotWithShape="1">
          <a:blip r:embed="rId3"/>
          <a:srcRect t="33240"/>
          <a:stretch/>
        </p:blipFill>
        <p:spPr>
          <a:xfrm>
            <a:off x="1081826" y="2322164"/>
            <a:ext cx="10775324" cy="4046437"/>
          </a:xfrm>
          <a:prstGeom prst="rect">
            <a:avLst/>
          </a:prstGeom>
        </p:spPr>
      </p:pic>
      <p:sp>
        <p:nvSpPr>
          <p:cNvPr id="3" name="TextBox 2">
            <a:extLst>
              <a:ext uri="{FF2B5EF4-FFF2-40B4-BE49-F238E27FC236}">
                <a16:creationId xmlns:a16="http://schemas.microsoft.com/office/drawing/2014/main" xmlns="" id="{C4C6804B-4829-F94F-897D-EAD15D8B9F42}"/>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4" name="TextBox 3">
            <a:extLst>
              <a:ext uri="{FF2B5EF4-FFF2-40B4-BE49-F238E27FC236}">
                <a16:creationId xmlns:a16="http://schemas.microsoft.com/office/drawing/2014/main" xmlns="" id="{B28CD7BB-41EC-C347-B1A4-0380534B1F30}"/>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ROTATING</a:t>
            </a:r>
            <a:endParaRPr lang="fr-FR" b="1" dirty="0">
              <a:solidFill>
                <a:schemeClr val="accent6">
                  <a:lumMod val="50000"/>
                </a:schemeClr>
              </a:solidFil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preencoded.png">
            <a:extLst>
              <a:ext uri="{FF2B5EF4-FFF2-40B4-BE49-F238E27FC236}">
                <a16:creationId xmlns:a16="http://schemas.microsoft.com/office/drawing/2014/main" xmlns="" id="{C7D24D88-8AF6-1744-84A9-886BAE5F3D23}"/>
              </a:ext>
            </a:extLst>
          </p:cNvPr>
          <p:cNvPicPr>
            <a:picLocks noChangeAspect="1"/>
          </p:cNvPicPr>
          <p:nvPr/>
        </p:nvPicPr>
        <p:blipFill>
          <a:blip r:embed="rId2"/>
          <a:srcRect/>
          <a:stretch/>
        </p:blipFill>
        <p:spPr>
          <a:xfrm>
            <a:off x="0" y="0"/>
            <a:ext cx="12289650" cy="6858000"/>
          </a:xfrm>
          <a:prstGeom prst="rect">
            <a:avLst/>
          </a:prstGeom>
        </p:spPr>
      </p:pic>
    </p:spTree>
    <p:extLst>
      <p:ext uri="{BB962C8B-B14F-4D97-AF65-F5344CB8AC3E}">
        <p14:creationId xmlns:p14="http://schemas.microsoft.com/office/powerpoint/2010/main" xmlns="" val="54712582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4427366"/>
          </a:xfrm>
          <a:prstGeom prst="rect">
            <a:avLst/>
          </a:prstGeom>
          <a:noFill/>
        </p:spPr>
        <p:txBody>
          <a:bodyPr wrap="square" rtlCol="0">
            <a:spAutoFit/>
          </a:bodyPr>
          <a:lstStyle/>
          <a:p>
            <a:pPr>
              <a:lnSpc>
                <a:spcPct val="150000"/>
              </a:lnSpc>
            </a:pPr>
            <a:r>
              <a:rPr lang="fr-FR" sz="2800" b="1" dirty="0">
                <a:solidFill>
                  <a:schemeClr val="accent6">
                    <a:lumMod val="50000"/>
                  </a:schemeClr>
                </a:solidFill>
              </a:rPr>
              <a:t>DRILL DOWN</a:t>
            </a:r>
            <a:endParaRPr lang="fr-FR" b="1" dirty="0">
              <a:solidFill>
                <a:schemeClr val="accent6">
                  <a:lumMod val="50000"/>
                </a:schemeClr>
              </a:solidFill>
            </a:endParaRPr>
          </a:p>
          <a:p>
            <a:pPr>
              <a:lnSpc>
                <a:spcPct val="150000"/>
              </a:lnSpc>
              <a:buFont typeface="Arial" panose="020B0604020202020204" pitchFamily="34" charset="0"/>
              <a:buChar char="•"/>
            </a:pPr>
            <a:r>
              <a:rPr lang="fr-FR" b="1" dirty="0"/>
              <a:t>Définition</a:t>
            </a:r>
            <a:r>
              <a:rPr lang="fr-FR" dirty="0"/>
              <a:t> :</a:t>
            </a:r>
          </a:p>
          <a:p>
            <a:pPr marL="742950" lvl="1" indent="-285750">
              <a:lnSpc>
                <a:spcPct val="150000"/>
              </a:lnSpc>
              <a:buFont typeface="Arial" panose="020B0604020202020204" pitchFamily="34" charset="0"/>
              <a:buChar char="•"/>
            </a:pPr>
            <a:r>
              <a:rPr lang="fr-FR" dirty="0"/>
              <a:t>Le </a:t>
            </a:r>
            <a:r>
              <a:rPr lang="fr-FR" b="1" dirty="0"/>
              <a:t>drill down</a:t>
            </a:r>
            <a:r>
              <a:rPr lang="fr-FR" dirty="0"/>
              <a:t> est le processus de navigation parmi les niveaux de hiérarchie des données pour obtenir des niveaux de détail plus fins.</a:t>
            </a:r>
          </a:p>
          <a:p>
            <a:pPr>
              <a:lnSpc>
                <a:spcPct val="150000"/>
              </a:lnSpc>
              <a:buFont typeface="Arial" panose="020B0604020202020204" pitchFamily="34" charset="0"/>
              <a:buChar char="•"/>
            </a:pPr>
            <a:r>
              <a:rPr lang="fr-FR" b="1" dirty="0"/>
              <a:t>Exemple</a:t>
            </a:r>
            <a:r>
              <a:rPr lang="fr-FR" dirty="0"/>
              <a:t> :</a:t>
            </a:r>
          </a:p>
          <a:p>
            <a:pPr marL="742950" lvl="1" indent="-285750">
              <a:lnSpc>
                <a:spcPct val="150000"/>
              </a:lnSpc>
              <a:buFont typeface="Arial" panose="020B0604020202020204" pitchFamily="34" charset="0"/>
              <a:buChar char="•"/>
            </a:pPr>
            <a:r>
              <a:rPr lang="fr-FR" dirty="0"/>
              <a:t>Si vous avez une hiérarchie Temps avec les niveaux Année &gt; Trimestre &gt; Mois &gt; Jour, vous pouvez effectuer un drill down de l’année 2023 au trimestre Q1, puis à janvier.</a:t>
            </a:r>
          </a:p>
          <a:p>
            <a:pPr>
              <a:lnSpc>
                <a:spcPct val="150000"/>
              </a:lnSpc>
              <a:buFont typeface="Arial" panose="020B0604020202020204" pitchFamily="34" charset="0"/>
              <a:buChar char="•"/>
            </a:pPr>
            <a:r>
              <a:rPr lang="fr-FR" b="1" dirty="0"/>
              <a:t>Utilisation</a:t>
            </a:r>
            <a:r>
              <a:rPr lang="fr-FR" dirty="0"/>
              <a:t> :</a:t>
            </a:r>
          </a:p>
          <a:p>
            <a:pPr marL="742950" lvl="1" indent="-285750">
              <a:lnSpc>
                <a:spcPct val="150000"/>
              </a:lnSpc>
              <a:buFont typeface="Arial" panose="020B0604020202020204" pitchFamily="34" charset="0"/>
              <a:buChar char="•"/>
            </a:pPr>
            <a:r>
              <a:rPr lang="fr-FR" dirty="0"/>
              <a:t>Permet d'explorer les données de manière plus détaillée pour identifier des tendances ou des anomalies spécifiques.</a:t>
            </a:r>
          </a:p>
        </p:txBody>
      </p:sp>
    </p:spTree>
    <p:extLst>
      <p:ext uri="{BB962C8B-B14F-4D97-AF65-F5344CB8AC3E}">
        <p14:creationId xmlns:p14="http://schemas.microsoft.com/office/powerpoint/2010/main" xmlns="" val="1410800391"/>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1410018"/>
            <a:ext cx="9803295" cy="659668"/>
          </a:xfrm>
          <a:prstGeom prst="rect">
            <a:avLst/>
          </a:prstGeom>
          <a:noFill/>
        </p:spPr>
        <p:txBody>
          <a:bodyPr wrap="square" rtlCol="0">
            <a:spAutoFit/>
          </a:bodyPr>
          <a:lstStyle/>
          <a:p>
            <a:pPr>
              <a:lnSpc>
                <a:spcPct val="150000"/>
              </a:lnSpc>
            </a:pPr>
            <a:r>
              <a:rPr lang="fr-FR" sz="2800" b="1" dirty="0">
                <a:solidFill>
                  <a:schemeClr val="accent6">
                    <a:lumMod val="50000"/>
                  </a:schemeClr>
                </a:solidFill>
              </a:rPr>
              <a:t>DRILL DOWN</a:t>
            </a:r>
          </a:p>
        </p:txBody>
      </p:sp>
      <p:pic>
        <p:nvPicPr>
          <p:cNvPr id="5" name="Picture 4">
            <a:extLst>
              <a:ext uri="{FF2B5EF4-FFF2-40B4-BE49-F238E27FC236}">
                <a16:creationId xmlns:a16="http://schemas.microsoft.com/office/drawing/2014/main" xmlns="" id="{81511ED1-3A42-CC42-BEB9-F6044A221B00}"/>
              </a:ext>
            </a:extLst>
          </p:cNvPr>
          <p:cNvPicPr>
            <a:picLocks noChangeAspect="1"/>
          </p:cNvPicPr>
          <p:nvPr/>
        </p:nvPicPr>
        <p:blipFill>
          <a:blip r:embed="rId2"/>
          <a:stretch>
            <a:fillRect/>
          </a:stretch>
        </p:blipFill>
        <p:spPr>
          <a:xfrm>
            <a:off x="1955800" y="2289811"/>
            <a:ext cx="8280400" cy="4495800"/>
          </a:xfrm>
          <a:prstGeom prst="rect">
            <a:avLst/>
          </a:prstGeom>
        </p:spPr>
      </p:pic>
    </p:spTree>
    <p:extLst>
      <p:ext uri="{BB962C8B-B14F-4D97-AF65-F5344CB8AC3E}">
        <p14:creationId xmlns:p14="http://schemas.microsoft.com/office/powerpoint/2010/main" xmlns="" val="27677806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793300" cy="584775"/>
          </a:xfrm>
          <a:prstGeom prst="rect">
            <a:avLst/>
          </a:prstGeom>
          <a:noFill/>
        </p:spPr>
        <p:txBody>
          <a:bodyPr wrap="none" rtlCol="0">
            <a:spAutoFit/>
          </a:bodyPr>
          <a:lstStyle/>
          <a:p>
            <a:r>
              <a:rPr lang="fr-FR" sz="3200" b="1" dirty="0"/>
              <a:t>Manipulation des données</a:t>
            </a:r>
            <a:endParaRPr lang="fr-FR" b="1" dirty="0"/>
          </a:p>
        </p:txBody>
      </p:sp>
      <p:sp>
        <p:nvSpPr>
          <p:cNvPr id="6" name="TextBox 5">
            <a:extLst>
              <a:ext uri="{FF2B5EF4-FFF2-40B4-BE49-F238E27FC236}">
                <a16:creationId xmlns:a16="http://schemas.microsoft.com/office/drawing/2014/main" xmlns="" id="{133F1E1C-12EE-6D44-A153-B8B6F0608AE5}"/>
              </a:ext>
            </a:extLst>
          </p:cNvPr>
          <p:cNvSpPr txBox="1"/>
          <p:nvPr/>
        </p:nvSpPr>
        <p:spPr>
          <a:xfrm>
            <a:off x="1302027" y="2082477"/>
            <a:ext cx="9803295" cy="2693045"/>
          </a:xfrm>
          <a:prstGeom prst="rect">
            <a:avLst/>
          </a:prstGeom>
          <a:noFill/>
        </p:spPr>
        <p:txBody>
          <a:bodyPr wrap="square" rtlCol="0">
            <a:spAutoFit/>
          </a:bodyPr>
          <a:lstStyle/>
          <a:p>
            <a:pPr>
              <a:lnSpc>
                <a:spcPct val="150000"/>
              </a:lnSpc>
            </a:pPr>
            <a:r>
              <a:rPr lang="fr-FR" sz="2800" b="1">
                <a:solidFill>
                  <a:schemeClr val="accent6">
                    <a:lumMod val="50000"/>
                  </a:schemeClr>
                </a:solidFill>
              </a:rPr>
              <a:t>Résumé</a:t>
            </a:r>
          </a:p>
          <a:p>
            <a:pPr>
              <a:lnSpc>
                <a:spcPct val="150000"/>
              </a:lnSpc>
            </a:pPr>
            <a:endParaRPr lang="fr-FR" b="1">
              <a:solidFill>
                <a:schemeClr val="accent6">
                  <a:lumMod val="50000"/>
                </a:schemeClr>
              </a:solidFill>
            </a:endParaRPr>
          </a:p>
          <a:p>
            <a:pPr marL="285750" indent="-285750">
              <a:buFont typeface="Arial" panose="020B0604020202020204" pitchFamily="34" charset="0"/>
              <a:buChar char="•"/>
            </a:pPr>
            <a:r>
              <a:rPr lang="fr-FR" sz="2000"/>
              <a:t>Slicing pour voir les ventes mensuelles.</a:t>
            </a:r>
          </a:p>
          <a:p>
            <a:pPr marL="285750" indent="-285750">
              <a:buFont typeface="Arial" panose="020B0604020202020204" pitchFamily="34" charset="0"/>
              <a:buChar char="•"/>
            </a:pPr>
            <a:r>
              <a:rPr lang="fr-FR" sz="2000"/>
              <a:t>Dicing pour comparer les ventes de différents produits dans plusieurs régions.</a:t>
            </a:r>
          </a:p>
          <a:p>
            <a:pPr marL="285750" indent="-285750">
              <a:buFont typeface="Arial" panose="020B0604020202020204" pitchFamily="34" charset="0"/>
              <a:buChar char="•"/>
            </a:pPr>
            <a:r>
              <a:rPr lang="fr-FR" sz="2000"/>
              <a:t>Pivoting pour réorganiser les données de vente par magasin et par catégorie de produit.</a:t>
            </a:r>
          </a:p>
          <a:p>
            <a:pPr marL="285750" indent="-285750">
              <a:buFont typeface="Arial" panose="020B0604020202020204" pitchFamily="34" charset="0"/>
              <a:buChar char="•"/>
            </a:pPr>
            <a:r>
              <a:rPr lang="fr-FR" sz="2000"/>
              <a:t>Drill down pour analyser les ventes journalières d'un mois spécifique.</a:t>
            </a:r>
          </a:p>
        </p:txBody>
      </p:sp>
    </p:spTree>
    <p:extLst>
      <p:ext uri="{BB962C8B-B14F-4D97-AF65-F5344CB8AC3E}">
        <p14:creationId xmlns:p14="http://schemas.microsoft.com/office/powerpoint/2010/main" xmlns="" val="95220993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BC2EDF5D-7BCB-4686-88C7-722AAF002089}"/>
              </a:ext>
            </a:extLst>
          </p:cNvPr>
          <p:cNvSpPr txBox="1"/>
          <p:nvPr/>
        </p:nvSpPr>
        <p:spPr>
          <a:xfrm>
            <a:off x="1022365" y="25573"/>
            <a:ext cx="6071185"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pic>
        <p:nvPicPr>
          <p:cNvPr id="3" name="Image 2">
            <a:extLst>
              <a:ext uri="{FF2B5EF4-FFF2-40B4-BE49-F238E27FC236}">
                <a16:creationId xmlns:a16="http://schemas.microsoft.com/office/drawing/2014/main" xmlns="" id="{D423EC3D-B9FD-4672-88E9-BDBE41E34390}"/>
              </a:ext>
            </a:extLst>
          </p:cNvPr>
          <p:cNvPicPr>
            <a:picLocks noChangeAspect="1"/>
          </p:cNvPicPr>
          <p:nvPr/>
        </p:nvPicPr>
        <p:blipFill>
          <a:blip r:embed="rId2"/>
          <a:stretch>
            <a:fillRect/>
          </a:stretch>
        </p:blipFill>
        <p:spPr>
          <a:xfrm>
            <a:off x="1331663" y="1398309"/>
            <a:ext cx="1803400" cy="1562100"/>
          </a:xfrm>
          <a:prstGeom prst="rect">
            <a:avLst/>
          </a:prstGeom>
        </p:spPr>
      </p:pic>
      <p:sp>
        <p:nvSpPr>
          <p:cNvPr id="4" name="ZoneTexte 3">
            <a:extLst>
              <a:ext uri="{FF2B5EF4-FFF2-40B4-BE49-F238E27FC236}">
                <a16:creationId xmlns:a16="http://schemas.microsoft.com/office/drawing/2014/main" xmlns="" id="{3486BEE3-6B3D-42CE-9ECA-1A13AE4EF8FE}"/>
              </a:ext>
            </a:extLst>
          </p:cNvPr>
          <p:cNvSpPr txBox="1"/>
          <p:nvPr/>
        </p:nvSpPr>
        <p:spPr>
          <a:xfrm>
            <a:off x="1062215" y="646356"/>
            <a:ext cx="10400575" cy="748795"/>
          </a:xfrm>
          <a:prstGeom prst="rect">
            <a:avLst/>
          </a:prstGeom>
          <a:noFill/>
        </p:spPr>
        <p:txBody>
          <a:bodyPr wrap="square" rtlCol="0">
            <a:spAutoFit/>
          </a:bodyPr>
          <a:lstStyle/>
          <a:p>
            <a:r>
              <a:rPr lang="fr-FR" sz="2133" dirty="0">
                <a:latin typeface="Times New Roman" panose="02020603050405020304" pitchFamily="18" charset="0"/>
                <a:cs typeface="Times New Roman" panose="02020603050405020304" pitchFamily="18" charset="0"/>
              </a:rPr>
              <a:t>1. La dimension Lieu est présentée a la granularité Pays. On veut avoir ce résultat par Continent. Qu’elle opération est jugée convenable pour avoir ce résultat ?</a:t>
            </a:r>
          </a:p>
        </p:txBody>
      </p:sp>
      <p:pic>
        <p:nvPicPr>
          <p:cNvPr id="5" name="Image 4">
            <a:extLst>
              <a:ext uri="{FF2B5EF4-FFF2-40B4-BE49-F238E27FC236}">
                <a16:creationId xmlns:a16="http://schemas.microsoft.com/office/drawing/2014/main" xmlns="" id="{0FF15EE9-25F0-45BB-809A-A4C70B492294}"/>
              </a:ext>
            </a:extLst>
          </p:cNvPr>
          <p:cNvPicPr>
            <a:picLocks noChangeAspect="1"/>
          </p:cNvPicPr>
          <p:nvPr/>
        </p:nvPicPr>
        <p:blipFill>
          <a:blip r:embed="rId3"/>
          <a:stretch>
            <a:fillRect/>
          </a:stretch>
        </p:blipFill>
        <p:spPr>
          <a:xfrm>
            <a:off x="7122207" y="1455199"/>
            <a:ext cx="3251200" cy="825500"/>
          </a:xfrm>
          <a:prstGeom prst="rect">
            <a:avLst/>
          </a:prstGeom>
        </p:spPr>
      </p:pic>
      <p:cxnSp>
        <p:nvCxnSpPr>
          <p:cNvPr id="7" name="Connecteur droit avec flèche 6">
            <a:extLst>
              <a:ext uri="{FF2B5EF4-FFF2-40B4-BE49-F238E27FC236}">
                <a16:creationId xmlns:a16="http://schemas.microsoft.com/office/drawing/2014/main" xmlns="" id="{FC665465-ECCF-4DC8-9A7D-69DEB2390A28}"/>
              </a:ext>
            </a:extLst>
          </p:cNvPr>
          <p:cNvCxnSpPr/>
          <p:nvPr/>
        </p:nvCxnSpPr>
        <p:spPr>
          <a:xfrm>
            <a:off x="3572540" y="182491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xmlns="" id="{4631BE44-72BA-4CC7-A1D7-1B4A8F3BEE67}"/>
              </a:ext>
            </a:extLst>
          </p:cNvPr>
          <p:cNvSpPr/>
          <p:nvPr/>
        </p:nvSpPr>
        <p:spPr>
          <a:xfrm>
            <a:off x="1054561" y="2966939"/>
            <a:ext cx="10247530" cy="1077026"/>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2. Imaginons maintenant que nous souhaitons décomposer les mesures selon une autre dimension, en rajoutant pour chaque pays la dimension couleurs que son drapeau contient. Qu’elle opération est jugée convenable pour avoir ce résultat ? </a:t>
            </a:r>
          </a:p>
        </p:txBody>
      </p:sp>
      <p:pic>
        <p:nvPicPr>
          <p:cNvPr id="10" name="Image 9">
            <a:extLst>
              <a:ext uri="{FF2B5EF4-FFF2-40B4-BE49-F238E27FC236}">
                <a16:creationId xmlns:a16="http://schemas.microsoft.com/office/drawing/2014/main" xmlns="" id="{2EB644F5-12C1-4B24-826D-BA11BCA93839}"/>
              </a:ext>
            </a:extLst>
          </p:cNvPr>
          <p:cNvPicPr>
            <a:picLocks noChangeAspect="1"/>
          </p:cNvPicPr>
          <p:nvPr/>
        </p:nvPicPr>
        <p:blipFill>
          <a:blip r:embed="rId4"/>
          <a:stretch>
            <a:fillRect/>
          </a:stretch>
        </p:blipFill>
        <p:spPr>
          <a:xfrm>
            <a:off x="1255463" y="4074935"/>
            <a:ext cx="1879600" cy="1739900"/>
          </a:xfrm>
          <a:prstGeom prst="rect">
            <a:avLst/>
          </a:prstGeom>
        </p:spPr>
      </p:pic>
      <p:cxnSp>
        <p:nvCxnSpPr>
          <p:cNvPr id="11" name="Connecteur droit avec flèche 10">
            <a:extLst>
              <a:ext uri="{FF2B5EF4-FFF2-40B4-BE49-F238E27FC236}">
                <a16:creationId xmlns:a16="http://schemas.microsoft.com/office/drawing/2014/main" xmlns="" id="{3BF182E4-4FF2-45DF-9EBD-E0ACEEE56862}"/>
              </a:ext>
            </a:extLst>
          </p:cNvPr>
          <p:cNvCxnSpPr/>
          <p:nvPr/>
        </p:nvCxnSpPr>
        <p:spPr>
          <a:xfrm>
            <a:off x="3572540" y="4944884"/>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xmlns="" id="{439F15AC-0D21-470B-896F-8D1C1A6C0C63}"/>
              </a:ext>
            </a:extLst>
          </p:cNvPr>
          <p:cNvPicPr>
            <a:picLocks noChangeAspect="1"/>
          </p:cNvPicPr>
          <p:nvPr/>
        </p:nvPicPr>
        <p:blipFill>
          <a:blip r:embed="rId5"/>
          <a:stretch>
            <a:fillRect/>
          </a:stretch>
        </p:blipFill>
        <p:spPr>
          <a:xfrm>
            <a:off x="7577322" y="3756167"/>
            <a:ext cx="2603500" cy="2857444"/>
          </a:xfrm>
          <a:prstGeom prst="rect">
            <a:avLst/>
          </a:prstGeom>
        </p:spPr>
      </p:pic>
    </p:spTree>
    <p:extLst>
      <p:ext uri="{BB962C8B-B14F-4D97-AF65-F5344CB8AC3E}">
        <p14:creationId xmlns:p14="http://schemas.microsoft.com/office/powerpoint/2010/main" xmlns="" val="140030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BC2EDF5D-7BCB-4686-88C7-722AAF002089}"/>
              </a:ext>
            </a:extLst>
          </p:cNvPr>
          <p:cNvSpPr txBox="1"/>
          <p:nvPr/>
        </p:nvSpPr>
        <p:spPr>
          <a:xfrm>
            <a:off x="1022365" y="25573"/>
            <a:ext cx="6071185"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pic>
        <p:nvPicPr>
          <p:cNvPr id="3" name="Image 2">
            <a:extLst>
              <a:ext uri="{FF2B5EF4-FFF2-40B4-BE49-F238E27FC236}">
                <a16:creationId xmlns:a16="http://schemas.microsoft.com/office/drawing/2014/main" xmlns="" id="{D423EC3D-B9FD-4672-88E9-BDBE41E34390}"/>
              </a:ext>
            </a:extLst>
          </p:cNvPr>
          <p:cNvPicPr>
            <a:picLocks noChangeAspect="1"/>
          </p:cNvPicPr>
          <p:nvPr/>
        </p:nvPicPr>
        <p:blipFill>
          <a:blip r:embed="rId2"/>
          <a:stretch>
            <a:fillRect/>
          </a:stretch>
        </p:blipFill>
        <p:spPr>
          <a:xfrm>
            <a:off x="1331663" y="1398309"/>
            <a:ext cx="1803400" cy="1562100"/>
          </a:xfrm>
          <a:prstGeom prst="rect">
            <a:avLst/>
          </a:prstGeom>
        </p:spPr>
      </p:pic>
      <p:sp>
        <p:nvSpPr>
          <p:cNvPr id="4" name="ZoneTexte 3">
            <a:extLst>
              <a:ext uri="{FF2B5EF4-FFF2-40B4-BE49-F238E27FC236}">
                <a16:creationId xmlns:a16="http://schemas.microsoft.com/office/drawing/2014/main" xmlns="" id="{3486BEE3-6B3D-42CE-9ECA-1A13AE4EF8FE}"/>
              </a:ext>
            </a:extLst>
          </p:cNvPr>
          <p:cNvSpPr txBox="1"/>
          <p:nvPr/>
        </p:nvSpPr>
        <p:spPr>
          <a:xfrm>
            <a:off x="1062215" y="646356"/>
            <a:ext cx="10400575" cy="748795"/>
          </a:xfrm>
          <a:prstGeom prst="rect">
            <a:avLst/>
          </a:prstGeom>
          <a:noFill/>
        </p:spPr>
        <p:txBody>
          <a:bodyPr wrap="square" rtlCol="0">
            <a:spAutoFit/>
          </a:bodyPr>
          <a:lstStyle/>
          <a:p>
            <a:r>
              <a:rPr lang="fr-FR" sz="2133" dirty="0">
                <a:latin typeface="Times New Roman" panose="02020603050405020304" pitchFamily="18" charset="0"/>
                <a:cs typeface="Times New Roman" panose="02020603050405020304" pitchFamily="18" charset="0"/>
              </a:rPr>
              <a:t>1. La dimension Lieu est présentée a la granularité Pays. On veut avoir ce résultat par Continent. Qu’elle opération est jugée convenable pour avoir ce résultat ?</a:t>
            </a:r>
          </a:p>
        </p:txBody>
      </p:sp>
      <p:pic>
        <p:nvPicPr>
          <p:cNvPr id="5" name="Image 4">
            <a:extLst>
              <a:ext uri="{FF2B5EF4-FFF2-40B4-BE49-F238E27FC236}">
                <a16:creationId xmlns:a16="http://schemas.microsoft.com/office/drawing/2014/main" xmlns="" id="{0FF15EE9-25F0-45BB-809A-A4C70B492294}"/>
              </a:ext>
            </a:extLst>
          </p:cNvPr>
          <p:cNvPicPr>
            <a:picLocks noChangeAspect="1"/>
          </p:cNvPicPr>
          <p:nvPr/>
        </p:nvPicPr>
        <p:blipFill>
          <a:blip r:embed="rId3"/>
          <a:stretch>
            <a:fillRect/>
          </a:stretch>
        </p:blipFill>
        <p:spPr>
          <a:xfrm>
            <a:off x="7122207" y="1455199"/>
            <a:ext cx="3251200" cy="825500"/>
          </a:xfrm>
          <a:prstGeom prst="rect">
            <a:avLst/>
          </a:prstGeom>
        </p:spPr>
      </p:pic>
      <p:cxnSp>
        <p:nvCxnSpPr>
          <p:cNvPr id="7" name="Connecteur droit avec flèche 6">
            <a:extLst>
              <a:ext uri="{FF2B5EF4-FFF2-40B4-BE49-F238E27FC236}">
                <a16:creationId xmlns:a16="http://schemas.microsoft.com/office/drawing/2014/main" xmlns="" id="{FC665465-ECCF-4DC8-9A7D-69DEB2390A28}"/>
              </a:ext>
            </a:extLst>
          </p:cNvPr>
          <p:cNvCxnSpPr/>
          <p:nvPr/>
        </p:nvCxnSpPr>
        <p:spPr>
          <a:xfrm>
            <a:off x="3572540" y="182491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xmlns="" id="{7E0560D3-8332-46FF-B9ED-D9CBF5B9D4C5}"/>
              </a:ext>
            </a:extLst>
          </p:cNvPr>
          <p:cNvSpPr txBox="1"/>
          <p:nvPr/>
        </p:nvSpPr>
        <p:spPr>
          <a:xfrm>
            <a:off x="4153047" y="2044822"/>
            <a:ext cx="1739579" cy="461665"/>
          </a:xfrm>
          <a:prstGeom prst="rect">
            <a:avLst/>
          </a:prstGeom>
          <a:noFill/>
        </p:spPr>
        <p:txBody>
          <a:bodyPr wrap="none" rtlCol="0">
            <a:spAutoFit/>
          </a:bodyPr>
          <a:lstStyle/>
          <a:p>
            <a:r>
              <a:rPr lang="fr-FR" sz="2400" b="1" dirty="0">
                <a:solidFill>
                  <a:srgbClr val="FF0000"/>
                </a:solidFill>
                <a:latin typeface="Tahoma" panose="020B0604030504040204" pitchFamily="34" charset="0"/>
                <a:ea typeface="Tahoma" panose="020B0604030504040204" pitchFamily="34" charset="0"/>
                <a:cs typeface="Tahoma" panose="020B0604030504040204" pitchFamily="34" charset="0"/>
              </a:rPr>
              <a:t>ROLL - UP</a:t>
            </a:r>
          </a:p>
        </p:txBody>
      </p:sp>
      <p:sp>
        <p:nvSpPr>
          <p:cNvPr id="9" name="Rectangle 8">
            <a:extLst>
              <a:ext uri="{FF2B5EF4-FFF2-40B4-BE49-F238E27FC236}">
                <a16:creationId xmlns:a16="http://schemas.microsoft.com/office/drawing/2014/main" xmlns="" id="{4631BE44-72BA-4CC7-A1D7-1B4A8F3BEE67}"/>
              </a:ext>
            </a:extLst>
          </p:cNvPr>
          <p:cNvSpPr/>
          <p:nvPr/>
        </p:nvSpPr>
        <p:spPr>
          <a:xfrm>
            <a:off x="1054561" y="2966939"/>
            <a:ext cx="10247530" cy="1077026"/>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2. Imaginons maintenant que nous souhaitons décomposer les mesures selon une autre dimension, en rajoutant pour chaque pays la dimension couleurs que son drapeau contient. Qu’elle opération est jugée convenable pour avoir ce résultat ? </a:t>
            </a:r>
          </a:p>
        </p:txBody>
      </p:sp>
      <p:pic>
        <p:nvPicPr>
          <p:cNvPr id="10" name="Image 9">
            <a:extLst>
              <a:ext uri="{FF2B5EF4-FFF2-40B4-BE49-F238E27FC236}">
                <a16:creationId xmlns:a16="http://schemas.microsoft.com/office/drawing/2014/main" xmlns="" id="{2EB644F5-12C1-4B24-826D-BA11BCA93839}"/>
              </a:ext>
            </a:extLst>
          </p:cNvPr>
          <p:cNvPicPr>
            <a:picLocks noChangeAspect="1"/>
          </p:cNvPicPr>
          <p:nvPr/>
        </p:nvPicPr>
        <p:blipFill>
          <a:blip r:embed="rId4"/>
          <a:stretch>
            <a:fillRect/>
          </a:stretch>
        </p:blipFill>
        <p:spPr>
          <a:xfrm>
            <a:off x="1255463" y="4074935"/>
            <a:ext cx="1879600" cy="1739900"/>
          </a:xfrm>
          <a:prstGeom prst="rect">
            <a:avLst/>
          </a:prstGeom>
        </p:spPr>
      </p:pic>
      <p:cxnSp>
        <p:nvCxnSpPr>
          <p:cNvPr id="11" name="Connecteur droit avec flèche 10">
            <a:extLst>
              <a:ext uri="{FF2B5EF4-FFF2-40B4-BE49-F238E27FC236}">
                <a16:creationId xmlns:a16="http://schemas.microsoft.com/office/drawing/2014/main" xmlns="" id="{3BF182E4-4FF2-45DF-9EBD-E0ACEEE56862}"/>
              </a:ext>
            </a:extLst>
          </p:cNvPr>
          <p:cNvCxnSpPr/>
          <p:nvPr/>
        </p:nvCxnSpPr>
        <p:spPr>
          <a:xfrm>
            <a:off x="3572540" y="4944884"/>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xmlns="" id="{439F15AC-0D21-470B-896F-8D1C1A6C0C63}"/>
              </a:ext>
            </a:extLst>
          </p:cNvPr>
          <p:cNvPicPr>
            <a:picLocks noChangeAspect="1"/>
          </p:cNvPicPr>
          <p:nvPr/>
        </p:nvPicPr>
        <p:blipFill>
          <a:blip r:embed="rId5"/>
          <a:stretch>
            <a:fillRect/>
          </a:stretch>
        </p:blipFill>
        <p:spPr>
          <a:xfrm>
            <a:off x="7577322" y="3756167"/>
            <a:ext cx="2603500" cy="2857444"/>
          </a:xfrm>
          <a:prstGeom prst="rect">
            <a:avLst/>
          </a:prstGeom>
        </p:spPr>
      </p:pic>
      <p:sp>
        <p:nvSpPr>
          <p:cNvPr id="14" name="ZoneTexte 13">
            <a:extLst>
              <a:ext uri="{FF2B5EF4-FFF2-40B4-BE49-F238E27FC236}">
                <a16:creationId xmlns:a16="http://schemas.microsoft.com/office/drawing/2014/main" xmlns="" id="{ECE96DD2-1917-45EC-B1FF-2BC919014F5D}"/>
              </a:ext>
            </a:extLst>
          </p:cNvPr>
          <p:cNvSpPr txBox="1"/>
          <p:nvPr/>
        </p:nvSpPr>
        <p:spPr>
          <a:xfrm>
            <a:off x="4003064" y="5114088"/>
            <a:ext cx="2297424" cy="461665"/>
          </a:xfrm>
          <a:prstGeom prst="rect">
            <a:avLst/>
          </a:prstGeom>
          <a:noFill/>
        </p:spPr>
        <p:txBody>
          <a:bodyPr wrap="none" rtlCol="0">
            <a:spAutoFit/>
          </a:bodyPr>
          <a:lstStyle/>
          <a:p>
            <a:r>
              <a:rPr lang="fr-FR" sz="2400" b="1" dirty="0">
                <a:solidFill>
                  <a:srgbClr val="FF0000"/>
                </a:solidFill>
                <a:latin typeface="Tahoma" panose="020B0604030504040204" pitchFamily="34" charset="0"/>
                <a:ea typeface="Tahoma" panose="020B0604030504040204" pitchFamily="34" charset="0"/>
                <a:cs typeface="Tahoma" panose="020B0604030504040204" pitchFamily="34" charset="0"/>
              </a:rPr>
              <a:t>DRILL-DOWN</a:t>
            </a:r>
          </a:p>
        </p:txBody>
      </p:sp>
    </p:spTree>
    <p:extLst>
      <p:ext uri="{BB962C8B-B14F-4D97-AF65-F5344CB8AC3E}">
        <p14:creationId xmlns:p14="http://schemas.microsoft.com/office/powerpoint/2010/main" xmlns="" val="60746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4"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CC92B08-02CB-43C8-9286-82187496EB4C}"/>
              </a:ext>
            </a:extLst>
          </p:cNvPr>
          <p:cNvSpPr/>
          <p:nvPr/>
        </p:nvSpPr>
        <p:spPr>
          <a:xfrm>
            <a:off x="866977" y="1"/>
            <a:ext cx="8265043" cy="461665"/>
          </a:xfrm>
          <a:prstGeom prst="rect">
            <a:avLst/>
          </a:prstGeom>
        </p:spPr>
        <p:txBody>
          <a:bodyPr wrap="square">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sp>
        <p:nvSpPr>
          <p:cNvPr id="3" name="Rectangle 2">
            <a:extLst>
              <a:ext uri="{FF2B5EF4-FFF2-40B4-BE49-F238E27FC236}">
                <a16:creationId xmlns:a16="http://schemas.microsoft.com/office/drawing/2014/main" xmlns="" id="{D7EA1B60-EE33-4BFF-8D04-C0E89C3FDD8C}"/>
              </a:ext>
            </a:extLst>
          </p:cNvPr>
          <p:cNvSpPr/>
          <p:nvPr/>
        </p:nvSpPr>
        <p:spPr>
          <a:xfrm>
            <a:off x="866977" y="983911"/>
            <a:ext cx="11084617" cy="1077026"/>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3. Prenons l’exemple de la table précédente, qui comprend a la fois des pays et des couleurs. On veut éliminer la couleur orange et ne conserver que les pays européens. Qu’elle opération est jugée convenable ? </a:t>
            </a:r>
          </a:p>
        </p:txBody>
      </p:sp>
      <p:pic>
        <p:nvPicPr>
          <p:cNvPr id="4" name="Image 3">
            <a:extLst>
              <a:ext uri="{FF2B5EF4-FFF2-40B4-BE49-F238E27FC236}">
                <a16:creationId xmlns:a16="http://schemas.microsoft.com/office/drawing/2014/main" xmlns="" id="{485811BC-FA6C-409B-8DF8-1159A594706F}"/>
              </a:ext>
            </a:extLst>
          </p:cNvPr>
          <p:cNvPicPr>
            <a:picLocks noChangeAspect="1"/>
          </p:cNvPicPr>
          <p:nvPr/>
        </p:nvPicPr>
        <p:blipFill>
          <a:blip r:embed="rId2"/>
          <a:stretch>
            <a:fillRect/>
          </a:stretch>
        </p:blipFill>
        <p:spPr>
          <a:xfrm>
            <a:off x="985135" y="2091907"/>
            <a:ext cx="2603500" cy="2857444"/>
          </a:xfrm>
          <a:prstGeom prst="rect">
            <a:avLst/>
          </a:prstGeom>
        </p:spPr>
      </p:pic>
      <p:cxnSp>
        <p:nvCxnSpPr>
          <p:cNvPr id="5" name="Connecteur droit avec flèche 4">
            <a:extLst>
              <a:ext uri="{FF2B5EF4-FFF2-40B4-BE49-F238E27FC236}">
                <a16:creationId xmlns:a16="http://schemas.microsoft.com/office/drawing/2014/main" xmlns="" id="{164F0C88-23D9-4418-B34B-33770EC05379}"/>
              </a:ext>
            </a:extLst>
          </p:cNvPr>
          <p:cNvCxnSpPr/>
          <p:nvPr/>
        </p:nvCxnSpPr>
        <p:spPr>
          <a:xfrm>
            <a:off x="4151308" y="311658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Image 6">
            <a:extLst>
              <a:ext uri="{FF2B5EF4-FFF2-40B4-BE49-F238E27FC236}">
                <a16:creationId xmlns:a16="http://schemas.microsoft.com/office/drawing/2014/main" xmlns="" id="{FD943E54-5B80-4A34-9298-07B8C4F290C9}"/>
              </a:ext>
            </a:extLst>
          </p:cNvPr>
          <p:cNvPicPr>
            <a:picLocks noChangeAspect="1"/>
          </p:cNvPicPr>
          <p:nvPr/>
        </p:nvPicPr>
        <p:blipFill>
          <a:blip r:embed="rId3"/>
          <a:stretch>
            <a:fillRect/>
          </a:stretch>
        </p:blipFill>
        <p:spPr>
          <a:xfrm>
            <a:off x="8382295" y="2609850"/>
            <a:ext cx="2260600" cy="1638300"/>
          </a:xfrm>
          <a:prstGeom prst="rect">
            <a:avLst/>
          </a:prstGeom>
        </p:spPr>
      </p:pic>
    </p:spTree>
    <p:extLst>
      <p:ext uri="{BB962C8B-B14F-4D97-AF65-F5344CB8AC3E}">
        <p14:creationId xmlns:p14="http://schemas.microsoft.com/office/powerpoint/2010/main" xmlns="" val="411065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CC92B08-02CB-43C8-9286-82187496EB4C}"/>
              </a:ext>
            </a:extLst>
          </p:cNvPr>
          <p:cNvSpPr/>
          <p:nvPr/>
        </p:nvSpPr>
        <p:spPr>
          <a:xfrm>
            <a:off x="866977" y="1"/>
            <a:ext cx="8265043" cy="461665"/>
          </a:xfrm>
          <a:prstGeom prst="rect">
            <a:avLst/>
          </a:prstGeom>
        </p:spPr>
        <p:txBody>
          <a:bodyPr wrap="square">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sp>
        <p:nvSpPr>
          <p:cNvPr id="3" name="Rectangle 2">
            <a:extLst>
              <a:ext uri="{FF2B5EF4-FFF2-40B4-BE49-F238E27FC236}">
                <a16:creationId xmlns:a16="http://schemas.microsoft.com/office/drawing/2014/main" xmlns="" id="{D7EA1B60-EE33-4BFF-8D04-C0E89C3FDD8C}"/>
              </a:ext>
            </a:extLst>
          </p:cNvPr>
          <p:cNvSpPr/>
          <p:nvPr/>
        </p:nvSpPr>
        <p:spPr>
          <a:xfrm>
            <a:off x="866977" y="983911"/>
            <a:ext cx="11084617" cy="1077026"/>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3. Prenons l’exemple de la table précédente, qui comprend a la fois des pays et des couleurs. On veut éliminer la couleur orange et ne conserver que les pays européens. Qu’elle opération est jugée convenable ? </a:t>
            </a:r>
          </a:p>
        </p:txBody>
      </p:sp>
      <p:pic>
        <p:nvPicPr>
          <p:cNvPr id="4" name="Image 3">
            <a:extLst>
              <a:ext uri="{FF2B5EF4-FFF2-40B4-BE49-F238E27FC236}">
                <a16:creationId xmlns:a16="http://schemas.microsoft.com/office/drawing/2014/main" xmlns="" id="{485811BC-FA6C-409B-8DF8-1159A594706F}"/>
              </a:ext>
            </a:extLst>
          </p:cNvPr>
          <p:cNvPicPr>
            <a:picLocks noChangeAspect="1"/>
          </p:cNvPicPr>
          <p:nvPr/>
        </p:nvPicPr>
        <p:blipFill>
          <a:blip r:embed="rId2"/>
          <a:stretch>
            <a:fillRect/>
          </a:stretch>
        </p:blipFill>
        <p:spPr>
          <a:xfrm>
            <a:off x="985135" y="2091907"/>
            <a:ext cx="2603500" cy="2857444"/>
          </a:xfrm>
          <a:prstGeom prst="rect">
            <a:avLst/>
          </a:prstGeom>
        </p:spPr>
      </p:pic>
      <p:cxnSp>
        <p:nvCxnSpPr>
          <p:cNvPr id="5" name="Connecteur droit avec flèche 4">
            <a:extLst>
              <a:ext uri="{FF2B5EF4-FFF2-40B4-BE49-F238E27FC236}">
                <a16:creationId xmlns:a16="http://schemas.microsoft.com/office/drawing/2014/main" xmlns="" id="{164F0C88-23D9-4418-B34B-33770EC05379}"/>
              </a:ext>
            </a:extLst>
          </p:cNvPr>
          <p:cNvCxnSpPr/>
          <p:nvPr/>
        </p:nvCxnSpPr>
        <p:spPr>
          <a:xfrm>
            <a:off x="4151308" y="311658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xmlns="" id="{FE9A8BC1-F632-4D63-A172-94B514181E94}"/>
              </a:ext>
            </a:extLst>
          </p:cNvPr>
          <p:cNvSpPr txBox="1"/>
          <p:nvPr/>
        </p:nvSpPr>
        <p:spPr>
          <a:xfrm>
            <a:off x="5473359" y="3285785"/>
            <a:ext cx="960519" cy="461665"/>
          </a:xfrm>
          <a:prstGeom prst="rect">
            <a:avLst/>
          </a:prstGeom>
          <a:noFill/>
        </p:spPr>
        <p:txBody>
          <a:bodyPr wrap="none" rtlCol="0">
            <a:spAutoFit/>
          </a:bodyPr>
          <a:lstStyle/>
          <a:p>
            <a:r>
              <a:rPr lang="fr-FR" sz="2400" b="1" dirty="0">
                <a:solidFill>
                  <a:srgbClr val="FF0000"/>
                </a:solidFill>
                <a:latin typeface="Tahoma" panose="020B0604030504040204" pitchFamily="34" charset="0"/>
                <a:ea typeface="Tahoma" panose="020B0604030504040204" pitchFamily="34" charset="0"/>
                <a:cs typeface="Tahoma" panose="020B0604030504040204" pitchFamily="34" charset="0"/>
              </a:rPr>
              <a:t>DICE</a:t>
            </a:r>
          </a:p>
        </p:txBody>
      </p:sp>
      <p:pic>
        <p:nvPicPr>
          <p:cNvPr id="7" name="Image 6">
            <a:extLst>
              <a:ext uri="{FF2B5EF4-FFF2-40B4-BE49-F238E27FC236}">
                <a16:creationId xmlns:a16="http://schemas.microsoft.com/office/drawing/2014/main" xmlns="" id="{FD943E54-5B80-4A34-9298-07B8C4F290C9}"/>
              </a:ext>
            </a:extLst>
          </p:cNvPr>
          <p:cNvPicPr>
            <a:picLocks noChangeAspect="1"/>
          </p:cNvPicPr>
          <p:nvPr/>
        </p:nvPicPr>
        <p:blipFill>
          <a:blip r:embed="rId3"/>
          <a:stretch>
            <a:fillRect/>
          </a:stretch>
        </p:blipFill>
        <p:spPr>
          <a:xfrm>
            <a:off x="8382295" y="2609850"/>
            <a:ext cx="2260600" cy="1638300"/>
          </a:xfrm>
          <a:prstGeom prst="rect">
            <a:avLst/>
          </a:prstGeom>
        </p:spPr>
      </p:pic>
    </p:spTree>
    <p:extLst>
      <p:ext uri="{BB962C8B-B14F-4D97-AF65-F5344CB8AC3E}">
        <p14:creationId xmlns:p14="http://schemas.microsoft.com/office/powerpoint/2010/main" xmlns="" val="137363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CC92B08-02CB-43C8-9286-82187496EB4C}"/>
              </a:ext>
            </a:extLst>
          </p:cNvPr>
          <p:cNvSpPr/>
          <p:nvPr/>
        </p:nvSpPr>
        <p:spPr>
          <a:xfrm>
            <a:off x="776824" y="0"/>
            <a:ext cx="8265043" cy="461665"/>
          </a:xfrm>
          <a:prstGeom prst="rect">
            <a:avLst/>
          </a:prstGeom>
        </p:spPr>
        <p:txBody>
          <a:bodyPr wrap="square">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sp>
        <p:nvSpPr>
          <p:cNvPr id="3" name="Rectangle 2">
            <a:extLst>
              <a:ext uri="{FF2B5EF4-FFF2-40B4-BE49-F238E27FC236}">
                <a16:creationId xmlns:a16="http://schemas.microsoft.com/office/drawing/2014/main" xmlns="" id="{D7EA1B60-EE33-4BFF-8D04-C0E89C3FDD8C}"/>
              </a:ext>
            </a:extLst>
          </p:cNvPr>
          <p:cNvSpPr/>
          <p:nvPr/>
        </p:nvSpPr>
        <p:spPr>
          <a:xfrm>
            <a:off x="776825" y="983910"/>
            <a:ext cx="10492190" cy="748795"/>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3. Prenons l’exemple de la table précédente, qui comprend a la fois des pays et des couleurs. Nous nous intéressions qu’a la couleur rouge. Qu’elle opération est jugée convenable ? </a:t>
            </a:r>
          </a:p>
        </p:txBody>
      </p:sp>
      <p:pic>
        <p:nvPicPr>
          <p:cNvPr id="4" name="Image 3">
            <a:extLst>
              <a:ext uri="{FF2B5EF4-FFF2-40B4-BE49-F238E27FC236}">
                <a16:creationId xmlns:a16="http://schemas.microsoft.com/office/drawing/2014/main" xmlns="" id="{485811BC-FA6C-409B-8DF8-1159A594706F}"/>
              </a:ext>
            </a:extLst>
          </p:cNvPr>
          <p:cNvPicPr>
            <a:picLocks noChangeAspect="1"/>
          </p:cNvPicPr>
          <p:nvPr/>
        </p:nvPicPr>
        <p:blipFill>
          <a:blip r:embed="rId2"/>
          <a:stretch>
            <a:fillRect/>
          </a:stretch>
        </p:blipFill>
        <p:spPr>
          <a:xfrm>
            <a:off x="985135" y="2091907"/>
            <a:ext cx="2603500" cy="2857444"/>
          </a:xfrm>
          <a:prstGeom prst="rect">
            <a:avLst/>
          </a:prstGeom>
        </p:spPr>
      </p:pic>
      <p:cxnSp>
        <p:nvCxnSpPr>
          <p:cNvPr id="5" name="Connecteur droit avec flèche 4">
            <a:extLst>
              <a:ext uri="{FF2B5EF4-FFF2-40B4-BE49-F238E27FC236}">
                <a16:creationId xmlns:a16="http://schemas.microsoft.com/office/drawing/2014/main" xmlns="" id="{164F0C88-23D9-4418-B34B-33770EC05379}"/>
              </a:ext>
            </a:extLst>
          </p:cNvPr>
          <p:cNvCxnSpPr/>
          <p:nvPr/>
        </p:nvCxnSpPr>
        <p:spPr>
          <a:xfrm>
            <a:off x="4151308" y="311658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Image 7">
            <a:extLst>
              <a:ext uri="{FF2B5EF4-FFF2-40B4-BE49-F238E27FC236}">
                <a16:creationId xmlns:a16="http://schemas.microsoft.com/office/drawing/2014/main" xmlns="" id="{9E85434D-A5F5-4971-8BC4-8239AE2633A0}"/>
              </a:ext>
            </a:extLst>
          </p:cNvPr>
          <p:cNvPicPr>
            <a:picLocks noChangeAspect="1"/>
          </p:cNvPicPr>
          <p:nvPr/>
        </p:nvPicPr>
        <p:blipFill>
          <a:blip r:embed="rId3"/>
          <a:stretch>
            <a:fillRect/>
          </a:stretch>
        </p:blipFill>
        <p:spPr>
          <a:xfrm>
            <a:off x="8069144" y="2501139"/>
            <a:ext cx="2108200" cy="1346200"/>
          </a:xfrm>
          <a:prstGeom prst="rect">
            <a:avLst/>
          </a:prstGeom>
        </p:spPr>
      </p:pic>
    </p:spTree>
    <p:extLst>
      <p:ext uri="{BB962C8B-B14F-4D97-AF65-F5344CB8AC3E}">
        <p14:creationId xmlns:p14="http://schemas.microsoft.com/office/powerpoint/2010/main" xmlns="" val="67250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CC92B08-02CB-43C8-9286-82187496EB4C}"/>
              </a:ext>
            </a:extLst>
          </p:cNvPr>
          <p:cNvSpPr/>
          <p:nvPr/>
        </p:nvSpPr>
        <p:spPr>
          <a:xfrm>
            <a:off x="776824" y="0"/>
            <a:ext cx="8265043" cy="461665"/>
          </a:xfrm>
          <a:prstGeom prst="rect">
            <a:avLst/>
          </a:prstGeom>
        </p:spPr>
        <p:txBody>
          <a:bodyPr wrap="square">
            <a:spAutoFit/>
          </a:bodyPr>
          <a:lstStyle/>
          <a:p>
            <a:r>
              <a:rPr lang="fr-FR" sz="2400" b="1" dirty="0">
                <a:solidFill>
                  <a:srgbClr val="FF0000"/>
                </a:solidFill>
                <a:latin typeface="Times New Roman" panose="02020603050405020304" pitchFamily="18" charset="0"/>
                <a:cs typeface="Times New Roman" panose="02020603050405020304" pitchFamily="18" charset="0"/>
              </a:rPr>
              <a:t>Exemples sur la manipulation des Cubes OLAP : </a:t>
            </a:r>
          </a:p>
        </p:txBody>
      </p:sp>
      <p:sp>
        <p:nvSpPr>
          <p:cNvPr id="3" name="Rectangle 2">
            <a:extLst>
              <a:ext uri="{FF2B5EF4-FFF2-40B4-BE49-F238E27FC236}">
                <a16:creationId xmlns:a16="http://schemas.microsoft.com/office/drawing/2014/main" xmlns="" id="{D7EA1B60-EE33-4BFF-8D04-C0E89C3FDD8C}"/>
              </a:ext>
            </a:extLst>
          </p:cNvPr>
          <p:cNvSpPr/>
          <p:nvPr/>
        </p:nvSpPr>
        <p:spPr>
          <a:xfrm>
            <a:off x="776825" y="983910"/>
            <a:ext cx="10492190" cy="748795"/>
          </a:xfrm>
          <a:prstGeom prst="rect">
            <a:avLst/>
          </a:prstGeom>
        </p:spPr>
        <p:txBody>
          <a:bodyPr wrap="square">
            <a:spAutoFit/>
          </a:bodyPr>
          <a:lstStyle/>
          <a:p>
            <a:r>
              <a:rPr lang="fr-FR" sz="2133" dirty="0">
                <a:latin typeface="Times New Roman" panose="02020603050405020304" pitchFamily="18" charset="0"/>
                <a:cs typeface="Times New Roman" panose="02020603050405020304" pitchFamily="18" charset="0"/>
              </a:rPr>
              <a:t>3. Prenons l’exemple de la table précédente, qui comprend a la fois des pays et des couleurs. Nous nous intéressions qu’a la couleur rouge. Qu’elle opération est jugée convenable ? </a:t>
            </a:r>
          </a:p>
        </p:txBody>
      </p:sp>
      <p:pic>
        <p:nvPicPr>
          <p:cNvPr id="4" name="Image 3">
            <a:extLst>
              <a:ext uri="{FF2B5EF4-FFF2-40B4-BE49-F238E27FC236}">
                <a16:creationId xmlns:a16="http://schemas.microsoft.com/office/drawing/2014/main" xmlns="" id="{485811BC-FA6C-409B-8DF8-1159A594706F}"/>
              </a:ext>
            </a:extLst>
          </p:cNvPr>
          <p:cNvPicPr>
            <a:picLocks noChangeAspect="1"/>
          </p:cNvPicPr>
          <p:nvPr/>
        </p:nvPicPr>
        <p:blipFill>
          <a:blip r:embed="rId2"/>
          <a:stretch>
            <a:fillRect/>
          </a:stretch>
        </p:blipFill>
        <p:spPr>
          <a:xfrm>
            <a:off x="985135" y="2091907"/>
            <a:ext cx="2603500" cy="2857444"/>
          </a:xfrm>
          <a:prstGeom prst="rect">
            <a:avLst/>
          </a:prstGeom>
        </p:spPr>
      </p:pic>
      <p:cxnSp>
        <p:nvCxnSpPr>
          <p:cNvPr id="5" name="Connecteur droit avec flèche 4">
            <a:extLst>
              <a:ext uri="{FF2B5EF4-FFF2-40B4-BE49-F238E27FC236}">
                <a16:creationId xmlns:a16="http://schemas.microsoft.com/office/drawing/2014/main" xmlns="" id="{164F0C88-23D9-4418-B34B-33770EC05379}"/>
              </a:ext>
            </a:extLst>
          </p:cNvPr>
          <p:cNvCxnSpPr/>
          <p:nvPr/>
        </p:nvCxnSpPr>
        <p:spPr>
          <a:xfrm>
            <a:off x="4151308" y="3116581"/>
            <a:ext cx="33551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xmlns="" id="{FE9A8BC1-F632-4D63-A172-94B514181E94}"/>
              </a:ext>
            </a:extLst>
          </p:cNvPr>
          <p:cNvSpPr txBox="1"/>
          <p:nvPr/>
        </p:nvSpPr>
        <p:spPr>
          <a:xfrm>
            <a:off x="5473359" y="3285785"/>
            <a:ext cx="910827" cy="461665"/>
          </a:xfrm>
          <a:prstGeom prst="rect">
            <a:avLst/>
          </a:prstGeom>
          <a:noFill/>
        </p:spPr>
        <p:txBody>
          <a:bodyPr wrap="none" rtlCol="0">
            <a:spAutoFit/>
          </a:bodyPr>
          <a:lstStyle/>
          <a:p>
            <a:r>
              <a:rPr lang="fr-FR" sz="2400" b="1" dirty="0">
                <a:solidFill>
                  <a:srgbClr val="FF0000"/>
                </a:solidFill>
                <a:latin typeface="Tahoma" panose="020B0604030504040204" pitchFamily="34" charset="0"/>
                <a:ea typeface="Tahoma" panose="020B0604030504040204" pitchFamily="34" charset="0"/>
                <a:cs typeface="Tahoma" panose="020B0604030504040204" pitchFamily="34" charset="0"/>
              </a:rPr>
              <a:t>Slice</a:t>
            </a:r>
          </a:p>
        </p:txBody>
      </p:sp>
      <p:pic>
        <p:nvPicPr>
          <p:cNvPr id="8" name="Image 7">
            <a:extLst>
              <a:ext uri="{FF2B5EF4-FFF2-40B4-BE49-F238E27FC236}">
                <a16:creationId xmlns:a16="http://schemas.microsoft.com/office/drawing/2014/main" xmlns="" id="{9E85434D-A5F5-4971-8BC4-8239AE2633A0}"/>
              </a:ext>
            </a:extLst>
          </p:cNvPr>
          <p:cNvPicPr>
            <a:picLocks noChangeAspect="1"/>
          </p:cNvPicPr>
          <p:nvPr/>
        </p:nvPicPr>
        <p:blipFill>
          <a:blip r:embed="rId3"/>
          <a:stretch>
            <a:fillRect/>
          </a:stretch>
        </p:blipFill>
        <p:spPr>
          <a:xfrm>
            <a:off x="8069144" y="2501139"/>
            <a:ext cx="2108200" cy="1346200"/>
          </a:xfrm>
          <a:prstGeom prst="rect">
            <a:avLst/>
          </a:prstGeom>
        </p:spPr>
      </p:pic>
    </p:spTree>
    <p:extLst>
      <p:ext uri="{BB962C8B-B14F-4D97-AF65-F5344CB8AC3E}">
        <p14:creationId xmlns:p14="http://schemas.microsoft.com/office/powerpoint/2010/main" xmlns="" val="299249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133F1E1C-12EE-6D44-A153-B8B6F0608AE5}"/>
              </a:ext>
            </a:extLst>
          </p:cNvPr>
          <p:cNvSpPr txBox="1"/>
          <p:nvPr/>
        </p:nvSpPr>
        <p:spPr>
          <a:xfrm>
            <a:off x="1194352" y="495618"/>
            <a:ext cx="9803295" cy="6001643"/>
          </a:xfrm>
          <a:prstGeom prst="rect">
            <a:avLst/>
          </a:prstGeom>
          <a:noFill/>
        </p:spPr>
        <p:txBody>
          <a:bodyPr wrap="square" rtlCol="0">
            <a:spAutoFit/>
          </a:bodyPr>
          <a:lstStyle/>
          <a:p>
            <a:pPr algn="just"/>
            <a:r>
              <a:rPr lang="fr-FR" sz="2400" b="1" dirty="0"/>
              <a:t>Exercice 1 : Analyse des Ventes par Catégorie de Produits</a:t>
            </a:r>
          </a:p>
          <a:p>
            <a:pPr algn="just"/>
            <a:r>
              <a:rPr lang="fr-FR" sz="2400" dirty="0"/>
              <a:t>Données de Ventes :</a:t>
            </a:r>
          </a:p>
          <a:p>
            <a:pPr marL="342900" indent="-342900" algn="just">
              <a:buFont typeface="Arial" panose="020B0604020202020204" pitchFamily="34" charset="0"/>
              <a:buChar char="•"/>
            </a:pPr>
            <a:r>
              <a:rPr lang="fr-FR" sz="2400" dirty="0"/>
              <a:t>Dimensions : Produit (Catégorie, Marque), Temps (Année, Mois), Région (Pays)</a:t>
            </a:r>
          </a:p>
          <a:p>
            <a:pPr marL="342900" indent="-342900" algn="just">
              <a:buFont typeface="Arial" panose="020B0604020202020204" pitchFamily="34" charset="0"/>
              <a:buChar char="•"/>
            </a:pPr>
            <a:r>
              <a:rPr lang="fr-FR" sz="2400" dirty="0"/>
              <a:t>Mesure : Ventes</a:t>
            </a:r>
          </a:p>
          <a:p>
            <a:pPr algn="just">
              <a:buFont typeface="Arial" panose="020B0604020202020204" pitchFamily="34" charset="0"/>
              <a:buChar char="•"/>
            </a:pPr>
            <a:endParaRPr lang="fr-FR" sz="2400" dirty="0"/>
          </a:p>
          <a:p>
            <a:pPr algn="just">
              <a:buFont typeface="Arial" panose="020B0604020202020204" pitchFamily="34" charset="0"/>
              <a:buChar char="•"/>
            </a:pPr>
            <a:endParaRPr lang="fr-FR" sz="2400" dirty="0"/>
          </a:p>
          <a:p>
            <a:pPr algn="just"/>
            <a:r>
              <a:rPr lang="fr-FR" sz="2400" b="1" dirty="0"/>
              <a:t>Instructions :</a:t>
            </a:r>
            <a:endParaRPr lang="fr-FR" sz="2400" dirty="0"/>
          </a:p>
          <a:p>
            <a:pPr marL="457200" indent="-457200" algn="just">
              <a:buFont typeface="+mj-lt"/>
              <a:buAutoNum type="arabicPeriod"/>
            </a:pPr>
            <a:r>
              <a:rPr lang="fr-FR" sz="2400" dirty="0"/>
              <a:t>Quelle opérations il faut effectuer pour afficher les ventes totales par catégorie de produits pour l'année 2023?</a:t>
            </a:r>
          </a:p>
          <a:p>
            <a:pPr marL="457200" indent="-457200" algn="just">
              <a:buFont typeface="+mj-lt"/>
              <a:buAutoNum type="arabicPeriod"/>
            </a:pPr>
            <a:r>
              <a:rPr lang="fr-FR" sz="2400" dirty="0"/>
              <a:t>Quelle opérations il faut effectuer pour filtrer les ventes par catégorie de produits "Électronique" et par région "États-Unis »?</a:t>
            </a:r>
          </a:p>
          <a:p>
            <a:pPr marL="457200" indent="-457200" algn="just">
              <a:buFont typeface="+mj-lt"/>
              <a:buAutoNum type="arabicPeriod"/>
            </a:pPr>
            <a:r>
              <a:rPr lang="fr-FR" sz="2400" dirty="0"/>
              <a:t>Quelle opérations il faut effectuer pour afficher les ventes par mois pour la catégorie de produits "Électronique"?</a:t>
            </a:r>
          </a:p>
          <a:p>
            <a:pPr marL="457200" indent="-457200" algn="just">
              <a:buFont typeface="+mj-lt"/>
              <a:buAutoNum type="arabicPeriod"/>
            </a:pPr>
            <a:r>
              <a:rPr lang="fr-FR" sz="2400" dirty="0"/>
              <a:t>Quelle opérations il faut effectuer pour explorer les ventes par marque de produits dans la catégorie "Électronique »?</a:t>
            </a:r>
          </a:p>
        </p:txBody>
      </p:sp>
    </p:spTree>
    <p:extLst>
      <p:ext uri="{BB962C8B-B14F-4D97-AF65-F5344CB8AC3E}">
        <p14:creationId xmlns:p14="http://schemas.microsoft.com/office/powerpoint/2010/main" xmlns="" val="92781121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6BADDE8E-0084-4E5D-9AF5-A397D320086B}"/>
              </a:ext>
            </a:extLst>
          </p:cNvPr>
          <p:cNvSpPr txBox="1"/>
          <p:nvPr/>
        </p:nvSpPr>
        <p:spPr>
          <a:xfrm>
            <a:off x="862984" y="246222"/>
            <a:ext cx="1381340"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Exercice </a:t>
            </a:r>
          </a:p>
        </p:txBody>
      </p:sp>
      <p:graphicFrame>
        <p:nvGraphicFramePr>
          <p:cNvPr id="3" name="Tableau 2">
            <a:extLst>
              <a:ext uri="{FF2B5EF4-FFF2-40B4-BE49-F238E27FC236}">
                <a16:creationId xmlns:a16="http://schemas.microsoft.com/office/drawing/2014/main" xmlns="" id="{352D36D3-2A00-4AB6-8425-3CAB46BD405D}"/>
              </a:ext>
            </a:extLst>
          </p:cNvPr>
          <p:cNvGraphicFramePr>
            <a:graphicFrameLocks noGrp="1"/>
          </p:cNvGraphicFramePr>
          <p:nvPr>
            <p:extLst>
              <p:ext uri="{D42A27DB-BD31-4B8C-83A1-F6EECF244321}">
                <p14:modId xmlns:p14="http://schemas.microsoft.com/office/powerpoint/2010/main" xmlns="" val="2626358444"/>
              </p:ext>
            </p:extLst>
          </p:nvPr>
        </p:nvGraphicFramePr>
        <p:xfrm>
          <a:off x="862985" y="1139079"/>
          <a:ext cx="6271912" cy="4189216"/>
        </p:xfrm>
        <a:graphic>
          <a:graphicData uri="http://schemas.openxmlformats.org/drawingml/2006/table">
            <a:tbl>
              <a:tblPr/>
              <a:tblGrid>
                <a:gridCol w="1567978">
                  <a:extLst>
                    <a:ext uri="{9D8B030D-6E8A-4147-A177-3AD203B41FA5}">
                      <a16:colId xmlns:a16="http://schemas.microsoft.com/office/drawing/2014/main" xmlns="" val="3817588477"/>
                    </a:ext>
                  </a:extLst>
                </a:gridCol>
                <a:gridCol w="1567978">
                  <a:extLst>
                    <a:ext uri="{9D8B030D-6E8A-4147-A177-3AD203B41FA5}">
                      <a16:colId xmlns:a16="http://schemas.microsoft.com/office/drawing/2014/main" xmlns="" val="260086358"/>
                    </a:ext>
                  </a:extLst>
                </a:gridCol>
                <a:gridCol w="1774675">
                  <a:extLst>
                    <a:ext uri="{9D8B030D-6E8A-4147-A177-3AD203B41FA5}">
                      <a16:colId xmlns:a16="http://schemas.microsoft.com/office/drawing/2014/main" xmlns="" val="284669907"/>
                    </a:ext>
                  </a:extLst>
                </a:gridCol>
                <a:gridCol w="1361281">
                  <a:extLst>
                    <a:ext uri="{9D8B030D-6E8A-4147-A177-3AD203B41FA5}">
                      <a16:colId xmlns:a16="http://schemas.microsoft.com/office/drawing/2014/main" xmlns="" val="1760881332"/>
                    </a:ext>
                  </a:extLst>
                </a:gridCol>
              </a:tblGrid>
              <a:tr h="347752">
                <a:tc>
                  <a:txBody>
                    <a:bodyPr/>
                    <a:lstStyle/>
                    <a:p>
                      <a:pPr fontAlgn="b"/>
                      <a:r>
                        <a:rPr lang="fr-FR" sz="1700" b="1" dirty="0">
                          <a:effectLst/>
                          <a:latin typeface="Times New Roman" panose="02020603050405020304" pitchFamily="18" charset="0"/>
                          <a:cs typeface="Times New Roman" panose="02020603050405020304" pitchFamily="18" charset="0"/>
                        </a:rPr>
                        <a:t>Temps</a:t>
                      </a:r>
                    </a:p>
                  </a:txBody>
                  <a:tcPr marL="82891" marR="82891" marT="41444" marB="41444"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700" b="1">
                          <a:effectLst/>
                          <a:latin typeface="Times New Roman" panose="02020603050405020304" pitchFamily="18" charset="0"/>
                          <a:cs typeface="Times New Roman" panose="02020603050405020304" pitchFamily="18" charset="0"/>
                        </a:rPr>
                        <a:t>Produit</a:t>
                      </a:r>
                    </a:p>
                  </a:txBody>
                  <a:tcPr marL="82891" marR="82891" marT="41444" marB="41444"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700" b="1">
                          <a:effectLst/>
                          <a:latin typeface="Times New Roman" panose="02020603050405020304" pitchFamily="18" charset="0"/>
                          <a:cs typeface="Times New Roman" panose="02020603050405020304" pitchFamily="18" charset="0"/>
                        </a:rPr>
                        <a:t>Région</a:t>
                      </a:r>
                    </a:p>
                  </a:txBody>
                  <a:tcPr marL="82891" marR="82891" marT="41444" marB="41444"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700" b="1">
                          <a:effectLst/>
                          <a:latin typeface="Times New Roman" panose="02020603050405020304" pitchFamily="18" charset="0"/>
                          <a:cs typeface="Times New Roman" panose="02020603050405020304" pitchFamily="18" charset="0"/>
                        </a:rPr>
                        <a:t>Ventes</a:t>
                      </a:r>
                    </a:p>
                  </a:txBody>
                  <a:tcPr marL="82891" marR="82891" marT="41444" marB="41444"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612614">
                <a:tc>
                  <a:txBody>
                    <a:bodyPr/>
                    <a:lstStyle/>
                    <a:p>
                      <a:pPr fontAlgn="base"/>
                      <a:r>
                        <a:rPr lang="fr-FR" sz="1700" dirty="0">
                          <a:effectLst/>
                          <a:latin typeface="Times New Roman" panose="02020603050405020304" pitchFamily="18" charset="0"/>
                          <a:cs typeface="Times New Roman" panose="02020603050405020304" pitchFamily="18" charset="0"/>
                        </a:rPr>
                        <a:t>2023-S1</a:t>
                      </a:r>
                    </a:p>
                  </a:txBody>
                  <a:tcPr marL="82891" marR="82891" marT="41444" marB="41444"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Électronique</a:t>
                      </a:r>
                    </a:p>
                  </a:txBody>
                  <a:tcPr marL="82891" marR="82891" marT="41444" marB="41444"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Amérique du Nord</a:t>
                      </a:r>
                    </a:p>
                  </a:txBody>
                  <a:tcPr marL="82891" marR="82891" marT="41444" marB="41444"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1000</a:t>
                      </a:r>
                    </a:p>
                  </a:txBody>
                  <a:tcPr marL="82891" marR="82891" marT="41444" marB="41444"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47752">
                <a:tc>
                  <a:txBody>
                    <a:bodyPr/>
                    <a:lstStyle/>
                    <a:p>
                      <a:pPr fontAlgn="base"/>
                      <a:r>
                        <a:rPr lang="fr-FR" sz="1700" dirty="0">
                          <a:effectLst/>
                          <a:latin typeface="Times New Roman" panose="02020603050405020304" pitchFamily="18" charset="0"/>
                          <a:cs typeface="Times New Roman" panose="02020603050405020304" pitchFamily="18" charset="0"/>
                        </a:rPr>
                        <a:t>2023-S1</a:t>
                      </a:r>
                    </a:p>
                  </a:txBody>
                  <a:tcPr marL="82891" marR="82891" marT="41444" marB="41444"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Électronique</a:t>
                      </a:r>
                    </a:p>
                  </a:txBody>
                  <a:tcPr marL="82891" marR="82891" marT="41444" marB="41444"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Europe</a:t>
                      </a:r>
                    </a:p>
                  </a:txBody>
                  <a:tcPr marL="82891" marR="82891" marT="41444" marB="41444"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800</a:t>
                      </a:r>
                    </a:p>
                  </a:txBody>
                  <a:tcPr marL="82891" marR="82891" marT="41444" marB="41444"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612614">
                <a:tc>
                  <a:txBody>
                    <a:bodyPr/>
                    <a:lstStyle/>
                    <a:p>
                      <a:pPr fontAlgn="base"/>
                      <a:r>
                        <a:rPr lang="fr-FR" sz="1700" dirty="0">
                          <a:effectLst/>
                          <a:latin typeface="Times New Roman" panose="02020603050405020304" pitchFamily="18" charset="0"/>
                          <a:cs typeface="Times New Roman" panose="02020603050405020304" pitchFamily="18" charset="0"/>
                        </a:rPr>
                        <a:t>2023-S1</a:t>
                      </a:r>
                    </a:p>
                  </a:txBody>
                  <a:tcPr marL="82891" marR="82891" marT="41444" marB="41444"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Meubles</a:t>
                      </a:r>
                    </a:p>
                  </a:txBody>
                  <a:tcPr marL="82891" marR="82891" marT="41444" marB="41444"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Amérique du Nord</a:t>
                      </a:r>
                    </a:p>
                  </a:txBody>
                  <a:tcPr marL="82891" marR="82891" marT="41444" marB="41444"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600</a:t>
                      </a:r>
                    </a:p>
                  </a:txBody>
                  <a:tcPr marL="82891" marR="82891" marT="41444" marB="41444"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47752">
                <a:tc>
                  <a:txBody>
                    <a:bodyPr/>
                    <a:lstStyle/>
                    <a:p>
                      <a:pPr fontAlgn="base"/>
                      <a:r>
                        <a:rPr lang="fr-FR" sz="1700" dirty="0">
                          <a:effectLst/>
                          <a:latin typeface="Times New Roman" panose="02020603050405020304" pitchFamily="18" charset="0"/>
                          <a:cs typeface="Times New Roman" panose="02020603050405020304" pitchFamily="18" charset="0"/>
                        </a:rPr>
                        <a:t>2023-S1</a:t>
                      </a:r>
                    </a:p>
                  </a:txBody>
                  <a:tcPr marL="82891" marR="82891" marT="41444" marB="41444"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Meubles</a:t>
                      </a:r>
                    </a:p>
                  </a:txBody>
                  <a:tcPr marL="82891" marR="82891" marT="41444" marB="41444"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Europe</a:t>
                      </a:r>
                    </a:p>
                  </a:txBody>
                  <a:tcPr marL="82891" marR="82891" marT="41444" marB="41444"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700</a:t>
                      </a:r>
                    </a:p>
                  </a:txBody>
                  <a:tcPr marL="82891" marR="82891" marT="41444" marB="41444"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612614">
                <a:tc>
                  <a:txBody>
                    <a:bodyPr/>
                    <a:lstStyle/>
                    <a:p>
                      <a:pPr fontAlgn="base"/>
                      <a:r>
                        <a:rPr lang="fr-FR" sz="1700" dirty="0">
                          <a:effectLst/>
                          <a:latin typeface="Times New Roman" panose="02020603050405020304" pitchFamily="18" charset="0"/>
                          <a:cs typeface="Times New Roman" panose="02020603050405020304" pitchFamily="18" charset="0"/>
                        </a:rPr>
                        <a:t>2023-S2</a:t>
                      </a:r>
                    </a:p>
                  </a:txBody>
                  <a:tcPr marL="82891" marR="82891" marT="41444" marB="41444"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Électronique</a:t>
                      </a:r>
                    </a:p>
                  </a:txBody>
                  <a:tcPr marL="82891" marR="82891" marT="41444" marB="41444"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Amérique du Nord</a:t>
                      </a:r>
                    </a:p>
                  </a:txBody>
                  <a:tcPr marL="82891" marR="82891" marT="41444" marB="41444"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1200</a:t>
                      </a:r>
                    </a:p>
                  </a:txBody>
                  <a:tcPr marL="82891" marR="82891" marT="41444" marB="41444"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47752">
                <a:tc>
                  <a:txBody>
                    <a:bodyPr/>
                    <a:lstStyle/>
                    <a:p>
                      <a:pPr fontAlgn="base"/>
                      <a:r>
                        <a:rPr lang="fr-FR" sz="1700" dirty="0">
                          <a:effectLst/>
                          <a:latin typeface="Times New Roman" panose="02020603050405020304" pitchFamily="18" charset="0"/>
                          <a:cs typeface="Times New Roman" panose="02020603050405020304" pitchFamily="18" charset="0"/>
                        </a:rPr>
                        <a:t>2023-S2</a:t>
                      </a:r>
                    </a:p>
                  </a:txBody>
                  <a:tcPr marL="82891" marR="82891" marT="41444" marB="41444"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Électronique</a:t>
                      </a:r>
                    </a:p>
                  </a:txBody>
                  <a:tcPr marL="82891" marR="82891" marT="41444" marB="41444"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Europe</a:t>
                      </a:r>
                    </a:p>
                  </a:txBody>
                  <a:tcPr marL="82891" marR="82891" marT="41444" marB="41444"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900</a:t>
                      </a:r>
                    </a:p>
                  </a:txBody>
                  <a:tcPr marL="82891" marR="82891" marT="41444" marB="41444"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612614">
                <a:tc>
                  <a:txBody>
                    <a:bodyPr/>
                    <a:lstStyle/>
                    <a:p>
                      <a:pPr fontAlgn="base"/>
                      <a:r>
                        <a:rPr lang="fr-FR" sz="1700" dirty="0">
                          <a:effectLst/>
                          <a:latin typeface="Times New Roman" panose="02020603050405020304" pitchFamily="18" charset="0"/>
                          <a:cs typeface="Times New Roman" panose="02020603050405020304" pitchFamily="18" charset="0"/>
                        </a:rPr>
                        <a:t>2023-S2</a:t>
                      </a:r>
                    </a:p>
                  </a:txBody>
                  <a:tcPr marL="82891" marR="82891" marT="41444" marB="41444"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Meubles</a:t>
                      </a:r>
                    </a:p>
                  </a:txBody>
                  <a:tcPr marL="82891" marR="82891" marT="41444" marB="41444"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Amérique du Nord</a:t>
                      </a:r>
                    </a:p>
                  </a:txBody>
                  <a:tcPr marL="82891" marR="82891" marT="41444" marB="41444"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650</a:t>
                      </a:r>
                    </a:p>
                  </a:txBody>
                  <a:tcPr marL="82891" marR="82891" marT="41444" marB="41444"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47752">
                <a:tc>
                  <a:txBody>
                    <a:bodyPr/>
                    <a:lstStyle/>
                    <a:p>
                      <a:pPr fontAlgn="base"/>
                      <a:r>
                        <a:rPr lang="fr-FR" sz="1700" dirty="0">
                          <a:effectLst/>
                          <a:latin typeface="Times New Roman" panose="02020603050405020304" pitchFamily="18" charset="0"/>
                          <a:cs typeface="Times New Roman" panose="02020603050405020304" pitchFamily="18" charset="0"/>
                        </a:rPr>
                        <a:t>2023-S2</a:t>
                      </a:r>
                    </a:p>
                  </a:txBody>
                  <a:tcPr marL="82891" marR="82891" marT="41444" marB="41444"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Meubles</a:t>
                      </a:r>
                    </a:p>
                  </a:txBody>
                  <a:tcPr marL="82891" marR="82891" marT="41444" marB="41444"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700">
                          <a:effectLst/>
                          <a:latin typeface="Times New Roman" panose="02020603050405020304" pitchFamily="18" charset="0"/>
                          <a:cs typeface="Times New Roman" panose="02020603050405020304" pitchFamily="18" charset="0"/>
                        </a:rPr>
                        <a:t>Europe</a:t>
                      </a:r>
                    </a:p>
                  </a:txBody>
                  <a:tcPr marL="82891" marR="82891" marT="41444" marB="41444"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700" dirty="0">
                          <a:effectLst/>
                          <a:latin typeface="Times New Roman" panose="02020603050405020304" pitchFamily="18" charset="0"/>
                          <a:cs typeface="Times New Roman" panose="02020603050405020304" pitchFamily="18" charset="0"/>
                        </a:rPr>
                        <a:t>750</a:t>
                      </a:r>
                    </a:p>
                  </a:txBody>
                  <a:tcPr marL="82891" marR="82891" marT="41444" marB="41444"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E32E302A-08AE-44E3-B769-D90B67329F51}"/>
              </a:ext>
            </a:extLst>
          </p:cNvPr>
          <p:cNvSpPr/>
          <p:nvPr/>
        </p:nvSpPr>
        <p:spPr>
          <a:xfrm>
            <a:off x="7134897" y="555315"/>
            <a:ext cx="4947684" cy="5551456"/>
          </a:xfrm>
          <a:prstGeom prst="rect">
            <a:avLst/>
          </a:prstGeom>
        </p:spPr>
        <p:txBody>
          <a:bodyPr wrap="square">
            <a:spAutoFit/>
          </a:bodyPr>
          <a:lstStyle/>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Obtenez les ventes du premier trimestre de 2023.</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Obtenez les ventes d'Électronique et de Meubles en Europe pour les deux premiers trimestres de 2023.</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Affichez les ventes de Meubles pour tous les trimestres.</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Affichez les ventes de la catégorie Électronique en détaillant par trimestres.</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Calculez les ventes totales par région.</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Calculez les ventes totales par trimestre.</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Affichez les ventes pour l'Amérique du Nord pour tous les produits et tous les trimestres.</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Analysez les ventes d'Électronique pour l'année 2023 en Amérique du Nord et Europe, en détaillant les résultats par région.</a:t>
            </a:r>
          </a:p>
          <a:p>
            <a:pPr marL="457189" indent="-457189" algn="just">
              <a:buAutoNum type="arabicPeriod"/>
            </a:pPr>
            <a:r>
              <a:rPr lang="fr-FR" sz="1867" dirty="0">
                <a:solidFill>
                  <a:srgbClr val="0D0D0D"/>
                </a:solidFill>
                <a:latin typeface="Times New Roman" panose="02020603050405020304" pitchFamily="18" charset="0"/>
                <a:cs typeface="Times New Roman" panose="02020603050405020304" pitchFamily="18" charset="0"/>
              </a:rPr>
              <a:t>Analysez les ventes de Meubles en Amérique du Nord pour les deux premiers trimestres de 2023, détaillant les résultats par trimestre.</a:t>
            </a:r>
          </a:p>
        </p:txBody>
      </p:sp>
    </p:spTree>
    <p:extLst>
      <p:ext uri="{BB962C8B-B14F-4D97-AF65-F5344CB8AC3E}">
        <p14:creationId xmlns:p14="http://schemas.microsoft.com/office/powerpoint/2010/main" xmlns="" val="261562780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868090"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3039300510"/>
              </p:ext>
            </p:extLst>
          </p:nvPr>
        </p:nvGraphicFramePr>
        <p:xfrm>
          <a:off x="868090" y="460345"/>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dirty="0">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202451" y="2430145"/>
            <a:ext cx="3989549" cy="1487651"/>
          </a:xfrm>
          <a:prstGeom prst="rect">
            <a:avLst/>
          </a:prstGeom>
        </p:spPr>
        <p:txBody>
          <a:bodyPr wrap="square">
            <a:spAutoFit/>
          </a:bodyPr>
          <a:lstStyle/>
          <a:p>
            <a:pPr algn="just"/>
            <a:r>
              <a:rPr lang="fr-FR" sz="2400" dirty="0">
                <a:solidFill>
                  <a:srgbClr val="0D0D0D"/>
                </a:solidFill>
                <a:latin typeface="Times New Roman" panose="02020603050405020304" pitchFamily="18" charset="0"/>
                <a:cs typeface="Times New Roman" panose="02020603050405020304" pitchFamily="18" charset="0"/>
              </a:rPr>
              <a:t>1. Obtenez les ventes du premier trimestre de 2023. </a:t>
            </a:r>
            <a:r>
              <a:rPr lang="fr-FR" sz="2400" b="1" dirty="0">
                <a:solidFill>
                  <a:srgbClr val="FF0000"/>
                </a:solidFill>
                <a:latin typeface="Times New Roman" panose="02020603050405020304" pitchFamily="18" charset="0"/>
                <a:cs typeface="Times New Roman" panose="02020603050405020304" pitchFamily="18" charset="0"/>
              </a:rPr>
              <a:t>SLICE</a:t>
            </a:r>
          </a:p>
          <a:p>
            <a:pPr marL="457189" indent="-457189" algn="just">
              <a:buAutoNum type="arabicPeriod"/>
            </a:pPr>
            <a:endParaRPr lang="fr-FR" sz="1867" dirty="0">
              <a:solidFill>
                <a:srgbClr val="0D0D0D"/>
              </a:solidFill>
              <a:latin typeface="Times New Roman" panose="02020603050405020304" pitchFamily="18" charset="0"/>
              <a:cs typeface="Times New Roman" panose="02020603050405020304" pitchFamily="18" charset="0"/>
            </a:endParaRPr>
          </a:p>
        </p:txBody>
      </p:sp>
      <p:graphicFrame>
        <p:nvGraphicFramePr>
          <p:cNvPr id="5" name="Tableau 4">
            <a:extLst>
              <a:ext uri="{FF2B5EF4-FFF2-40B4-BE49-F238E27FC236}">
                <a16:creationId xmlns:a16="http://schemas.microsoft.com/office/drawing/2014/main" xmlns="" id="{B93E11DD-CD42-4691-94EB-6E04705C4336}"/>
              </a:ext>
            </a:extLst>
          </p:cNvPr>
          <p:cNvGraphicFramePr>
            <a:graphicFrameLocks noGrp="1"/>
          </p:cNvGraphicFramePr>
          <p:nvPr/>
        </p:nvGraphicFramePr>
        <p:xfrm>
          <a:off x="1858336" y="4642572"/>
          <a:ext cx="9042400" cy="2057400"/>
        </p:xfrm>
        <a:graphic>
          <a:graphicData uri="http://schemas.openxmlformats.org/drawingml/2006/table">
            <a:tbl>
              <a:tblPr/>
              <a:tblGrid>
                <a:gridCol w="2260600">
                  <a:extLst>
                    <a:ext uri="{9D8B030D-6E8A-4147-A177-3AD203B41FA5}">
                      <a16:colId xmlns:a16="http://schemas.microsoft.com/office/drawing/2014/main" xmlns="" val="390293955"/>
                    </a:ext>
                  </a:extLst>
                </a:gridCol>
                <a:gridCol w="2260600">
                  <a:extLst>
                    <a:ext uri="{9D8B030D-6E8A-4147-A177-3AD203B41FA5}">
                      <a16:colId xmlns:a16="http://schemas.microsoft.com/office/drawing/2014/main" xmlns="" val="3511717573"/>
                    </a:ext>
                  </a:extLst>
                </a:gridCol>
                <a:gridCol w="2260600">
                  <a:extLst>
                    <a:ext uri="{9D8B030D-6E8A-4147-A177-3AD203B41FA5}">
                      <a16:colId xmlns:a16="http://schemas.microsoft.com/office/drawing/2014/main" xmlns="" val="3442958843"/>
                    </a:ext>
                  </a:extLst>
                </a:gridCol>
                <a:gridCol w="2260600">
                  <a:extLst>
                    <a:ext uri="{9D8B030D-6E8A-4147-A177-3AD203B41FA5}">
                      <a16:colId xmlns:a16="http://schemas.microsoft.com/office/drawing/2014/main" xmlns="" val="2930937289"/>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60B3CA"/>
                      </a:solidFill>
                      <a:prstDash val="solid"/>
                      <a:round/>
                      <a:headEnd type="none" w="med" len="med"/>
                      <a:tailEnd type="none" w="med" len="med"/>
                    </a:lnL>
                    <a:lnR w="9525" cap="flat" cmpd="sng" algn="ctr">
                      <a:solidFill>
                        <a:srgbClr val="B0B7CA"/>
                      </a:solidFill>
                      <a:prstDash val="solid"/>
                      <a:round/>
                      <a:headEnd type="none" w="med" len="med"/>
                      <a:tailEnd type="none" w="med" len="med"/>
                    </a:lnR>
                    <a:lnT w="9525" cap="flat" cmpd="sng" algn="ctr">
                      <a:solidFill>
                        <a:srgbClr val="60B3CA"/>
                      </a:solidFill>
                      <a:prstDash val="solid"/>
                      <a:round/>
                      <a:headEnd type="none" w="med" len="med"/>
                      <a:tailEnd type="none" w="med" len="med"/>
                    </a:lnT>
                    <a:lnB w="12700" cap="flat" cmpd="sng" algn="ctr">
                      <a:solidFill>
                        <a:srgbClr val="20B7CA"/>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B0B7CA"/>
                      </a:solidFill>
                      <a:prstDash val="solid"/>
                      <a:round/>
                      <a:headEnd type="none" w="med" len="med"/>
                      <a:tailEnd type="none" w="med" len="med"/>
                    </a:lnL>
                    <a:lnR w="9525" cap="flat" cmpd="sng" algn="ctr">
                      <a:solidFill>
                        <a:srgbClr val="50C3CA"/>
                      </a:solidFill>
                      <a:prstDash val="solid"/>
                      <a:round/>
                      <a:headEnd type="none" w="med" len="med"/>
                      <a:tailEnd type="none" w="med" len="med"/>
                    </a:lnR>
                    <a:lnT w="9525" cap="flat" cmpd="sng" algn="ctr">
                      <a:solidFill>
                        <a:srgbClr val="B0B7CA"/>
                      </a:solidFill>
                      <a:prstDash val="solid"/>
                      <a:round/>
                      <a:headEnd type="none" w="med" len="med"/>
                      <a:tailEnd type="none" w="med" len="med"/>
                    </a:lnT>
                    <a:lnB w="12700" cap="flat" cmpd="sng" algn="ctr">
                      <a:solidFill>
                        <a:srgbClr val="70C4CA"/>
                      </a:solidFill>
                      <a:prstDash val="solid"/>
                      <a:round/>
                      <a:headEnd type="none" w="med" len="med"/>
                      <a:tailEnd type="none" w="med" len="med"/>
                    </a:lnB>
                    <a:solidFill>
                      <a:srgbClr val="FFFFFF"/>
                    </a:solidFill>
                  </a:tcPr>
                </a:tc>
                <a:tc>
                  <a:txBody>
                    <a:bodyPr/>
                    <a:lstStyle/>
                    <a:p>
                      <a:pPr fontAlgn="b"/>
                      <a:r>
                        <a:rPr lang="fr-FR" sz="1900" b="1" dirty="0">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50C3CA"/>
                      </a:solidFill>
                      <a:prstDash val="solid"/>
                      <a:round/>
                      <a:headEnd type="none" w="med" len="med"/>
                      <a:tailEnd type="none" w="med" len="med"/>
                    </a:lnL>
                    <a:lnR w="9525" cap="flat" cmpd="sng" algn="ctr">
                      <a:solidFill>
                        <a:srgbClr val="C0C5CA"/>
                      </a:solidFill>
                      <a:prstDash val="solid"/>
                      <a:round/>
                      <a:headEnd type="none" w="med" len="med"/>
                      <a:tailEnd type="none" w="med" len="med"/>
                    </a:lnR>
                    <a:lnT w="9525" cap="flat" cmpd="sng" algn="ctr">
                      <a:solidFill>
                        <a:srgbClr val="50C3CA"/>
                      </a:solidFill>
                      <a:prstDash val="solid"/>
                      <a:round/>
                      <a:headEnd type="none" w="med" len="med"/>
                      <a:tailEnd type="none" w="med" len="med"/>
                    </a:lnT>
                    <a:lnB w="12700" cap="flat" cmpd="sng" algn="ctr">
                      <a:solidFill>
                        <a:srgbClr val="80D8CA"/>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C0C5CA"/>
                      </a:solidFill>
                      <a:prstDash val="solid"/>
                      <a:round/>
                      <a:headEnd type="none" w="med" len="med"/>
                      <a:tailEnd type="none" w="med" len="med"/>
                    </a:lnL>
                    <a:lnR w="9525" cap="flat" cmpd="sng" algn="ctr">
                      <a:solidFill>
                        <a:srgbClr val="C0C5CA"/>
                      </a:solidFill>
                      <a:prstDash val="solid"/>
                      <a:round/>
                      <a:headEnd type="none" w="med" len="med"/>
                      <a:tailEnd type="none" w="med" len="med"/>
                    </a:lnR>
                    <a:lnT w="9525" cap="flat" cmpd="sng" algn="ctr">
                      <a:solidFill>
                        <a:srgbClr val="C0C5CA"/>
                      </a:solidFill>
                      <a:prstDash val="solid"/>
                      <a:round/>
                      <a:headEnd type="none" w="med" len="med"/>
                      <a:tailEnd type="none" w="med" len="med"/>
                    </a:lnT>
                    <a:lnB w="12700" cap="flat" cmpd="sng" algn="ctr">
                      <a:solidFill>
                        <a:srgbClr val="D0E2CA"/>
                      </a:solidFill>
                      <a:prstDash val="solid"/>
                      <a:round/>
                      <a:headEnd type="none" w="med" len="med"/>
                      <a:tailEnd type="none" w="med" len="med"/>
                    </a:lnB>
                    <a:solidFill>
                      <a:srgbClr val="FFFFFF"/>
                    </a:solidFill>
                  </a:tcPr>
                </a:tc>
                <a:extLst>
                  <a:ext uri="{0D108BD9-81ED-4DB2-BD59-A6C34878D82A}">
                    <a16:rowId xmlns:a16="http://schemas.microsoft.com/office/drawing/2014/main" xmlns="" val="3275850864"/>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20B7CA"/>
                      </a:solidFill>
                      <a:prstDash val="solid"/>
                      <a:round/>
                      <a:headEnd type="none" w="med" len="med"/>
                      <a:tailEnd type="none" w="med" len="med"/>
                    </a:lnL>
                    <a:lnR w="9525" cap="flat" cmpd="sng" algn="ctr">
                      <a:solidFill>
                        <a:srgbClr val="70C4CA"/>
                      </a:solidFill>
                      <a:prstDash val="solid"/>
                      <a:round/>
                      <a:headEnd type="none" w="med" len="med"/>
                      <a:tailEnd type="none" w="med" len="med"/>
                    </a:lnR>
                    <a:lnT w="12700" cap="flat" cmpd="sng" algn="ctr">
                      <a:solidFill>
                        <a:srgbClr val="20B7CA"/>
                      </a:solidFill>
                      <a:prstDash val="solid"/>
                      <a:round/>
                      <a:headEnd type="none" w="med" len="med"/>
                      <a:tailEnd type="none" w="med" len="med"/>
                    </a:lnT>
                    <a:lnB w="12700" cap="flat" cmpd="sng" algn="ctr">
                      <a:solidFill>
                        <a:srgbClr val="00C2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70C4CA"/>
                      </a:solidFill>
                      <a:prstDash val="solid"/>
                      <a:round/>
                      <a:headEnd type="none" w="med" len="med"/>
                      <a:tailEnd type="none" w="med" len="med"/>
                    </a:lnL>
                    <a:lnR w="9525" cap="flat" cmpd="sng" algn="ctr">
                      <a:solidFill>
                        <a:srgbClr val="80D8CA"/>
                      </a:solidFill>
                      <a:prstDash val="solid"/>
                      <a:round/>
                      <a:headEnd type="none" w="med" len="med"/>
                      <a:tailEnd type="none" w="med" len="med"/>
                    </a:lnR>
                    <a:lnT w="12700" cap="flat" cmpd="sng" algn="ctr">
                      <a:solidFill>
                        <a:srgbClr val="70C4CA"/>
                      </a:solidFill>
                      <a:prstDash val="solid"/>
                      <a:round/>
                      <a:headEnd type="none" w="med" len="med"/>
                      <a:tailEnd type="none" w="med" len="med"/>
                    </a:lnT>
                    <a:lnB w="12700" cap="flat" cmpd="sng" algn="ctr">
                      <a:solidFill>
                        <a:srgbClr val="B0E1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80D8CA"/>
                      </a:solidFill>
                      <a:prstDash val="solid"/>
                      <a:round/>
                      <a:headEnd type="none" w="med" len="med"/>
                      <a:tailEnd type="none" w="med" len="med"/>
                    </a:lnL>
                    <a:lnR w="9525" cap="flat" cmpd="sng" algn="ctr">
                      <a:solidFill>
                        <a:srgbClr val="D0E2CA"/>
                      </a:solidFill>
                      <a:prstDash val="solid"/>
                      <a:round/>
                      <a:headEnd type="none" w="med" len="med"/>
                      <a:tailEnd type="none" w="med" len="med"/>
                    </a:lnR>
                    <a:lnT w="12700" cap="flat" cmpd="sng" algn="ctr">
                      <a:solidFill>
                        <a:srgbClr val="80D8CA"/>
                      </a:solidFill>
                      <a:prstDash val="solid"/>
                      <a:round/>
                      <a:headEnd type="none" w="med" len="med"/>
                      <a:tailEnd type="none" w="med" len="med"/>
                    </a:lnT>
                    <a:lnB w="12700" cap="flat" cmpd="sng" algn="ctr">
                      <a:solidFill>
                        <a:srgbClr val="70F7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121920" marR="121920" marT="60960" marB="60960" anchor="ctr">
                    <a:lnL w="9525" cap="flat" cmpd="sng" algn="ctr">
                      <a:solidFill>
                        <a:srgbClr val="D0E2CA"/>
                      </a:solidFill>
                      <a:prstDash val="solid"/>
                      <a:round/>
                      <a:headEnd type="none" w="med" len="med"/>
                      <a:tailEnd type="none" w="med" len="med"/>
                    </a:lnL>
                    <a:lnR w="9525" cap="flat" cmpd="sng" algn="ctr">
                      <a:solidFill>
                        <a:srgbClr val="D0E2CA"/>
                      </a:solidFill>
                      <a:prstDash val="solid"/>
                      <a:round/>
                      <a:headEnd type="none" w="med" len="med"/>
                      <a:tailEnd type="none" w="med" len="med"/>
                    </a:lnR>
                    <a:lnT w="12700" cap="flat" cmpd="sng" algn="ctr">
                      <a:solidFill>
                        <a:srgbClr val="D0E2CA"/>
                      </a:solidFill>
                      <a:prstDash val="solid"/>
                      <a:round/>
                      <a:headEnd type="none" w="med" len="med"/>
                      <a:tailEnd type="none" w="med" len="med"/>
                    </a:lnT>
                    <a:lnB w="12700" cap="flat" cmpd="sng" algn="ctr">
                      <a:solidFill>
                        <a:srgbClr val="500BCB"/>
                      </a:solidFill>
                      <a:prstDash val="solid"/>
                      <a:round/>
                      <a:headEnd type="none" w="med" len="med"/>
                      <a:tailEnd type="none" w="med" len="med"/>
                    </a:lnB>
                    <a:solidFill>
                      <a:srgbClr val="FFFFFF"/>
                    </a:solidFill>
                  </a:tcPr>
                </a:tc>
                <a:extLst>
                  <a:ext uri="{0D108BD9-81ED-4DB2-BD59-A6C34878D82A}">
                    <a16:rowId xmlns:a16="http://schemas.microsoft.com/office/drawing/2014/main" xmlns="" val="424253785"/>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00C2CA"/>
                      </a:solidFill>
                      <a:prstDash val="solid"/>
                      <a:round/>
                      <a:headEnd type="none" w="med" len="med"/>
                      <a:tailEnd type="none" w="med" len="med"/>
                    </a:lnL>
                    <a:lnR w="9525" cap="flat" cmpd="sng" algn="ctr">
                      <a:solidFill>
                        <a:srgbClr val="B0E1CA"/>
                      </a:solidFill>
                      <a:prstDash val="solid"/>
                      <a:round/>
                      <a:headEnd type="none" w="med" len="med"/>
                      <a:tailEnd type="none" w="med" len="med"/>
                    </a:lnR>
                    <a:lnT w="12700" cap="flat" cmpd="sng" algn="ctr">
                      <a:solidFill>
                        <a:srgbClr val="00C2CA"/>
                      </a:solidFill>
                      <a:prstDash val="solid"/>
                      <a:round/>
                      <a:headEnd type="none" w="med" len="med"/>
                      <a:tailEnd type="none" w="med" len="med"/>
                    </a:lnT>
                    <a:lnB w="12700" cap="flat" cmpd="sng" algn="ctr">
                      <a:solidFill>
                        <a:srgbClr val="60C8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B0E1CA"/>
                      </a:solidFill>
                      <a:prstDash val="solid"/>
                      <a:round/>
                      <a:headEnd type="none" w="med" len="med"/>
                      <a:tailEnd type="none" w="med" len="med"/>
                    </a:lnL>
                    <a:lnR w="9525" cap="flat" cmpd="sng" algn="ctr">
                      <a:solidFill>
                        <a:srgbClr val="70F7CA"/>
                      </a:solidFill>
                      <a:prstDash val="solid"/>
                      <a:round/>
                      <a:headEnd type="none" w="med" len="med"/>
                      <a:tailEnd type="none" w="med" len="med"/>
                    </a:lnR>
                    <a:lnT w="12700" cap="flat" cmpd="sng" algn="ctr">
                      <a:solidFill>
                        <a:srgbClr val="B0E1CA"/>
                      </a:solidFill>
                      <a:prstDash val="solid"/>
                      <a:round/>
                      <a:headEnd type="none" w="med" len="med"/>
                      <a:tailEnd type="none" w="med" len="med"/>
                    </a:lnT>
                    <a:lnB w="12700" cap="flat" cmpd="sng" algn="ctr">
                      <a:solidFill>
                        <a:srgbClr val="30E6CA"/>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70F7CA"/>
                      </a:solidFill>
                      <a:prstDash val="solid"/>
                      <a:round/>
                      <a:headEnd type="none" w="med" len="med"/>
                      <a:tailEnd type="none" w="med" len="med"/>
                    </a:lnL>
                    <a:lnR w="9525" cap="flat" cmpd="sng" algn="ctr">
                      <a:solidFill>
                        <a:srgbClr val="500BCB"/>
                      </a:solidFill>
                      <a:prstDash val="solid"/>
                      <a:round/>
                      <a:headEnd type="none" w="med" len="med"/>
                      <a:tailEnd type="none" w="med" len="med"/>
                    </a:lnR>
                    <a:lnT w="12700" cap="flat" cmpd="sng" algn="ctr">
                      <a:solidFill>
                        <a:srgbClr val="70F7CA"/>
                      </a:solidFill>
                      <a:prstDash val="solid"/>
                      <a:round/>
                      <a:headEnd type="none" w="med" len="med"/>
                      <a:tailEnd type="none" w="med" len="med"/>
                    </a:lnT>
                    <a:lnB w="12700" cap="flat" cmpd="sng" algn="ctr">
                      <a:solidFill>
                        <a:srgbClr val="100C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121920" marR="121920" marT="60960" marB="60960" anchor="ctr">
                    <a:lnL w="9525" cap="flat" cmpd="sng" algn="ctr">
                      <a:solidFill>
                        <a:srgbClr val="500BCB"/>
                      </a:solidFill>
                      <a:prstDash val="solid"/>
                      <a:round/>
                      <a:headEnd type="none" w="med" len="med"/>
                      <a:tailEnd type="none" w="med" len="med"/>
                    </a:lnL>
                    <a:lnR w="9525" cap="flat" cmpd="sng" algn="ctr">
                      <a:solidFill>
                        <a:srgbClr val="500BCB"/>
                      </a:solidFill>
                      <a:prstDash val="solid"/>
                      <a:round/>
                      <a:headEnd type="none" w="med" len="med"/>
                      <a:tailEnd type="none" w="med" len="med"/>
                    </a:lnR>
                    <a:lnT w="12700" cap="flat" cmpd="sng" algn="ctr">
                      <a:solidFill>
                        <a:srgbClr val="500BCB"/>
                      </a:solidFill>
                      <a:prstDash val="solid"/>
                      <a:round/>
                      <a:headEnd type="none" w="med" len="med"/>
                      <a:tailEnd type="none" w="med" len="med"/>
                    </a:lnT>
                    <a:lnB w="12700" cap="flat" cmpd="sng" algn="ctr">
                      <a:solidFill>
                        <a:srgbClr val="701BCB"/>
                      </a:solidFill>
                      <a:prstDash val="solid"/>
                      <a:round/>
                      <a:headEnd type="none" w="med" len="med"/>
                      <a:tailEnd type="none" w="med" len="med"/>
                    </a:lnB>
                    <a:solidFill>
                      <a:srgbClr val="FFFFFF"/>
                    </a:solidFill>
                  </a:tcPr>
                </a:tc>
                <a:extLst>
                  <a:ext uri="{0D108BD9-81ED-4DB2-BD59-A6C34878D82A}">
                    <a16:rowId xmlns:a16="http://schemas.microsoft.com/office/drawing/2014/main" xmlns="" val="1310913204"/>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60C8CA"/>
                      </a:solidFill>
                      <a:prstDash val="solid"/>
                      <a:round/>
                      <a:headEnd type="none" w="med" len="med"/>
                      <a:tailEnd type="none" w="med" len="med"/>
                    </a:lnL>
                    <a:lnR w="9525" cap="flat" cmpd="sng" algn="ctr">
                      <a:solidFill>
                        <a:srgbClr val="30E6CA"/>
                      </a:solidFill>
                      <a:prstDash val="solid"/>
                      <a:round/>
                      <a:headEnd type="none" w="med" len="med"/>
                      <a:tailEnd type="none" w="med" len="med"/>
                    </a:lnR>
                    <a:lnT w="12700" cap="flat" cmpd="sng" algn="ctr">
                      <a:solidFill>
                        <a:srgbClr val="60C8CA"/>
                      </a:solidFill>
                      <a:prstDash val="solid"/>
                      <a:round/>
                      <a:headEnd type="none" w="med" len="med"/>
                      <a:tailEnd type="none" w="med" len="med"/>
                    </a:lnT>
                    <a:lnB w="12700" cap="flat" cmpd="sng" algn="ctr">
                      <a:solidFill>
                        <a:srgbClr val="90C8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30E6CA"/>
                      </a:solidFill>
                      <a:prstDash val="solid"/>
                      <a:round/>
                      <a:headEnd type="none" w="med" len="med"/>
                      <a:tailEnd type="none" w="med" len="med"/>
                    </a:lnL>
                    <a:lnR w="9525" cap="flat" cmpd="sng" algn="ctr">
                      <a:solidFill>
                        <a:srgbClr val="100CCB"/>
                      </a:solidFill>
                      <a:prstDash val="solid"/>
                      <a:round/>
                      <a:headEnd type="none" w="med" len="med"/>
                      <a:tailEnd type="none" w="med" len="med"/>
                    </a:lnR>
                    <a:lnT w="12700" cap="flat" cmpd="sng" algn="ctr">
                      <a:solidFill>
                        <a:srgbClr val="30E6CA"/>
                      </a:solidFill>
                      <a:prstDash val="solid"/>
                      <a:round/>
                      <a:headEnd type="none" w="med" len="med"/>
                      <a:tailEnd type="none" w="med" len="med"/>
                    </a:lnT>
                    <a:lnB w="12700" cap="flat" cmpd="sng" algn="ctr">
                      <a:solidFill>
                        <a:srgbClr val="4012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100CCB"/>
                      </a:solidFill>
                      <a:prstDash val="solid"/>
                      <a:round/>
                      <a:headEnd type="none" w="med" len="med"/>
                      <a:tailEnd type="none" w="med" len="med"/>
                    </a:lnL>
                    <a:lnR w="9525" cap="flat" cmpd="sng" algn="ctr">
                      <a:solidFill>
                        <a:srgbClr val="701BCB"/>
                      </a:solidFill>
                      <a:prstDash val="solid"/>
                      <a:round/>
                      <a:headEnd type="none" w="med" len="med"/>
                      <a:tailEnd type="none" w="med" len="med"/>
                    </a:lnR>
                    <a:lnT w="12700" cap="flat" cmpd="sng" algn="ctr">
                      <a:solidFill>
                        <a:srgbClr val="100CCB"/>
                      </a:solidFill>
                      <a:prstDash val="solid"/>
                      <a:round/>
                      <a:headEnd type="none" w="med" len="med"/>
                      <a:tailEnd type="none" w="med" len="med"/>
                    </a:lnT>
                    <a:lnB w="12700" cap="flat" cmpd="sng" algn="ctr">
                      <a:solidFill>
                        <a:srgbClr val="9019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600</a:t>
                      </a:r>
                    </a:p>
                  </a:txBody>
                  <a:tcPr marL="121920" marR="121920" marT="60960" marB="60960" anchor="ctr">
                    <a:lnL w="9525" cap="flat" cmpd="sng" algn="ctr">
                      <a:solidFill>
                        <a:srgbClr val="701BCB"/>
                      </a:solidFill>
                      <a:prstDash val="solid"/>
                      <a:round/>
                      <a:headEnd type="none" w="med" len="med"/>
                      <a:tailEnd type="none" w="med" len="med"/>
                    </a:lnL>
                    <a:lnR w="9525" cap="flat" cmpd="sng" algn="ctr">
                      <a:solidFill>
                        <a:srgbClr val="701BCB"/>
                      </a:solidFill>
                      <a:prstDash val="solid"/>
                      <a:round/>
                      <a:headEnd type="none" w="med" len="med"/>
                      <a:tailEnd type="none" w="med" len="med"/>
                    </a:lnR>
                    <a:lnT w="12700" cap="flat" cmpd="sng" algn="ctr">
                      <a:solidFill>
                        <a:srgbClr val="701BCB"/>
                      </a:solidFill>
                      <a:prstDash val="solid"/>
                      <a:round/>
                      <a:headEnd type="none" w="med" len="med"/>
                      <a:tailEnd type="none" w="med" len="med"/>
                    </a:lnT>
                    <a:lnB w="12700" cap="flat" cmpd="sng" algn="ctr">
                      <a:solidFill>
                        <a:srgbClr val="8026CB"/>
                      </a:solidFill>
                      <a:prstDash val="solid"/>
                      <a:round/>
                      <a:headEnd type="none" w="med" len="med"/>
                      <a:tailEnd type="none" w="med" len="med"/>
                    </a:lnB>
                    <a:solidFill>
                      <a:srgbClr val="FFFFFF"/>
                    </a:solidFill>
                  </a:tcPr>
                </a:tc>
                <a:extLst>
                  <a:ext uri="{0D108BD9-81ED-4DB2-BD59-A6C34878D82A}">
                    <a16:rowId xmlns:a16="http://schemas.microsoft.com/office/drawing/2014/main" xmlns="" val="2998955"/>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90C8CA"/>
                      </a:solidFill>
                      <a:prstDash val="solid"/>
                      <a:round/>
                      <a:headEnd type="none" w="med" len="med"/>
                      <a:tailEnd type="none" w="med" len="med"/>
                    </a:lnL>
                    <a:lnR w="9525" cap="flat" cmpd="sng" algn="ctr">
                      <a:solidFill>
                        <a:srgbClr val="4012CB"/>
                      </a:solidFill>
                      <a:prstDash val="solid"/>
                      <a:round/>
                      <a:headEnd type="none" w="med" len="med"/>
                      <a:tailEnd type="none" w="med" len="med"/>
                    </a:lnR>
                    <a:lnT w="12700" cap="flat" cmpd="sng" algn="ctr">
                      <a:solidFill>
                        <a:srgbClr val="90C8CA"/>
                      </a:solidFill>
                      <a:prstDash val="solid"/>
                      <a:round/>
                      <a:headEnd type="none" w="med" len="med"/>
                      <a:tailEnd type="none" w="med" len="med"/>
                    </a:lnT>
                    <a:lnB w="9525" cap="flat" cmpd="sng" algn="ctr">
                      <a:solidFill>
                        <a:srgbClr val="90C8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4012CB"/>
                      </a:solidFill>
                      <a:prstDash val="solid"/>
                      <a:round/>
                      <a:headEnd type="none" w="med" len="med"/>
                      <a:tailEnd type="none" w="med" len="med"/>
                    </a:lnL>
                    <a:lnR w="9525" cap="flat" cmpd="sng" algn="ctr">
                      <a:solidFill>
                        <a:srgbClr val="9019CB"/>
                      </a:solidFill>
                      <a:prstDash val="solid"/>
                      <a:round/>
                      <a:headEnd type="none" w="med" len="med"/>
                      <a:tailEnd type="none" w="med" len="med"/>
                    </a:lnR>
                    <a:lnT w="12700" cap="flat" cmpd="sng" algn="ctr">
                      <a:solidFill>
                        <a:srgbClr val="4012CB"/>
                      </a:solidFill>
                      <a:prstDash val="solid"/>
                      <a:round/>
                      <a:headEnd type="none" w="med" len="med"/>
                      <a:tailEnd type="none" w="med" len="med"/>
                    </a:lnT>
                    <a:lnB w="9525" cap="flat" cmpd="sng" algn="ctr">
                      <a:solidFill>
                        <a:srgbClr val="4012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9019CB"/>
                      </a:solidFill>
                      <a:prstDash val="solid"/>
                      <a:round/>
                      <a:headEnd type="none" w="med" len="med"/>
                      <a:tailEnd type="none" w="med" len="med"/>
                    </a:lnL>
                    <a:lnR w="9525" cap="flat" cmpd="sng" algn="ctr">
                      <a:solidFill>
                        <a:srgbClr val="8026CB"/>
                      </a:solidFill>
                      <a:prstDash val="solid"/>
                      <a:round/>
                      <a:headEnd type="none" w="med" len="med"/>
                      <a:tailEnd type="none" w="med" len="med"/>
                    </a:lnR>
                    <a:lnT w="12700" cap="flat" cmpd="sng" algn="ctr">
                      <a:solidFill>
                        <a:srgbClr val="9019CB"/>
                      </a:solidFill>
                      <a:prstDash val="solid"/>
                      <a:round/>
                      <a:headEnd type="none" w="med" len="med"/>
                      <a:tailEnd type="none" w="med" len="med"/>
                    </a:lnT>
                    <a:lnB w="9525" cap="flat" cmpd="sng" algn="ctr">
                      <a:solidFill>
                        <a:srgbClr val="9019CB"/>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700</a:t>
                      </a:r>
                    </a:p>
                  </a:txBody>
                  <a:tcPr marL="121920" marR="121920" marT="60960" marB="60960" anchor="ctr">
                    <a:lnL w="9525" cap="flat" cmpd="sng" algn="ctr">
                      <a:solidFill>
                        <a:srgbClr val="8026CB"/>
                      </a:solidFill>
                      <a:prstDash val="solid"/>
                      <a:round/>
                      <a:headEnd type="none" w="med" len="med"/>
                      <a:tailEnd type="none" w="med" len="med"/>
                    </a:lnL>
                    <a:lnR w="9525" cap="flat" cmpd="sng" algn="ctr">
                      <a:solidFill>
                        <a:srgbClr val="8026CB"/>
                      </a:solidFill>
                      <a:prstDash val="solid"/>
                      <a:round/>
                      <a:headEnd type="none" w="med" len="med"/>
                      <a:tailEnd type="none" w="med" len="med"/>
                    </a:lnR>
                    <a:lnT w="12700" cap="flat" cmpd="sng" algn="ctr">
                      <a:solidFill>
                        <a:srgbClr val="8026CB"/>
                      </a:solidFill>
                      <a:prstDash val="solid"/>
                      <a:round/>
                      <a:headEnd type="none" w="med" len="med"/>
                      <a:tailEnd type="none" w="med" len="med"/>
                    </a:lnT>
                    <a:lnB w="9525" cap="flat" cmpd="sng" algn="ctr">
                      <a:solidFill>
                        <a:srgbClr val="8026CB"/>
                      </a:solidFill>
                      <a:prstDash val="solid"/>
                      <a:round/>
                      <a:headEnd type="none" w="med" len="med"/>
                      <a:tailEnd type="none" w="med" len="med"/>
                    </a:lnB>
                    <a:solidFill>
                      <a:srgbClr val="FFFFFF"/>
                    </a:solidFill>
                  </a:tcPr>
                </a:tc>
                <a:extLst>
                  <a:ext uri="{0D108BD9-81ED-4DB2-BD59-A6C34878D82A}">
                    <a16:rowId xmlns:a16="http://schemas.microsoft.com/office/drawing/2014/main" xmlns="" val="3721160735"/>
                  </a:ext>
                </a:extLst>
              </a:tr>
            </a:tbl>
          </a:graphicData>
        </a:graphic>
      </p:graphicFrame>
    </p:spTree>
    <p:extLst>
      <p:ext uri="{BB962C8B-B14F-4D97-AF65-F5344CB8AC3E}">
        <p14:creationId xmlns:p14="http://schemas.microsoft.com/office/powerpoint/2010/main" xmlns="" val="170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798589"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2174653149"/>
              </p:ext>
            </p:extLst>
          </p:nvPr>
        </p:nvGraphicFramePr>
        <p:xfrm>
          <a:off x="1228696"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863564" y="1808722"/>
            <a:ext cx="3004285" cy="2595647"/>
          </a:xfrm>
          <a:prstGeom prst="rect">
            <a:avLst/>
          </a:prstGeom>
        </p:spPr>
        <p:txBody>
          <a:bodyPr wrap="square">
            <a:spAutoFit/>
          </a:bodyPr>
          <a:lstStyle/>
          <a:p>
            <a:pPr algn="just"/>
            <a:r>
              <a:rPr lang="fr-FR" sz="2400" dirty="0">
                <a:solidFill>
                  <a:srgbClr val="0D0D0D"/>
                </a:solidFill>
                <a:latin typeface="Times New Roman" panose="02020603050405020304" pitchFamily="18" charset="0"/>
                <a:cs typeface="Times New Roman" panose="02020603050405020304" pitchFamily="18" charset="0"/>
              </a:rPr>
              <a:t>2. Obtenez les ventes d'Électronique et de Meubles en Europe pour les deux premiers trimestres de 2023. </a:t>
            </a:r>
            <a:r>
              <a:rPr lang="fr-FR" sz="2400" b="1" dirty="0">
                <a:solidFill>
                  <a:srgbClr val="FF0000"/>
                </a:solidFill>
                <a:latin typeface="Times New Roman" panose="02020603050405020304" pitchFamily="18" charset="0"/>
                <a:cs typeface="Times New Roman" panose="02020603050405020304" pitchFamily="18" charset="0"/>
              </a:rPr>
              <a:t>DICE</a:t>
            </a:r>
          </a:p>
          <a:p>
            <a:pPr algn="just"/>
            <a:endParaRPr lang="fr-FR" sz="1867" dirty="0">
              <a:solidFill>
                <a:srgbClr val="0D0D0D"/>
              </a:solidFill>
              <a:latin typeface="Times New Roman" panose="02020603050405020304" pitchFamily="18" charset="0"/>
              <a:cs typeface="Times New Roman" panose="02020603050405020304" pitchFamily="18" charset="0"/>
            </a:endParaRPr>
          </a:p>
        </p:txBody>
      </p:sp>
      <p:graphicFrame>
        <p:nvGraphicFramePr>
          <p:cNvPr id="6" name="Tableau 5">
            <a:extLst>
              <a:ext uri="{FF2B5EF4-FFF2-40B4-BE49-F238E27FC236}">
                <a16:creationId xmlns:a16="http://schemas.microsoft.com/office/drawing/2014/main" xmlns="" id="{AE932887-A92D-4068-9397-78D135D2061B}"/>
              </a:ext>
            </a:extLst>
          </p:cNvPr>
          <p:cNvGraphicFramePr>
            <a:graphicFrameLocks noGrp="1"/>
          </p:cNvGraphicFramePr>
          <p:nvPr/>
        </p:nvGraphicFramePr>
        <p:xfrm>
          <a:off x="1730744" y="4621843"/>
          <a:ext cx="9042400" cy="2057400"/>
        </p:xfrm>
        <a:graphic>
          <a:graphicData uri="http://schemas.openxmlformats.org/drawingml/2006/table">
            <a:tbl>
              <a:tblPr/>
              <a:tblGrid>
                <a:gridCol w="2260600">
                  <a:extLst>
                    <a:ext uri="{9D8B030D-6E8A-4147-A177-3AD203B41FA5}">
                      <a16:colId xmlns:a16="http://schemas.microsoft.com/office/drawing/2014/main" xmlns="" val="731129955"/>
                    </a:ext>
                  </a:extLst>
                </a:gridCol>
                <a:gridCol w="2260600">
                  <a:extLst>
                    <a:ext uri="{9D8B030D-6E8A-4147-A177-3AD203B41FA5}">
                      <a16:colId xmlns:a16="http://schemas.microsoft.com/office/drawing/2014/main" xmlns="" val="1131411372"/>
                    </a:ext>
                  </a:extLst>
                </a:gridCol>
                <a:gridCol w="2260600">
                  <a:extLst>
                    <a:ext uri="{9D8B030D-6E8A-4147-A177-3AD203B41FA5}">
                      <a16:colId xmlns:a16="http://schemas.microsoft.com/office/drawing/2014/main" xmlns="" val="1803317062"/>
                    </a:ext>
                  </a:extLst>
                </a:gridCol>
                <a:gridCol w="2260600">
                  <a:extLst>
                    <a:ext uri="{9D8B030D-6E8A-4147-A177-3AD203B41FA5}">
                      <a16:colId xmlns:a16="http://schemas.microsoft.com/office/drawing/2014/main" xmlns="" val="1525056791"/>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E08CA5"/>
                      </a:solidFill>
                      <a:prstDash val="solid"/>
                      <a:round/>
                      <a:headEnd type="none" w="med" len="med"/>
                      <a:tailEnd type="none" w="med" len="med"/>
                    </a:lnL>
                    <a:lnR w="9525" cap="flat" cmpd="sng" algn="ctr">
                      <a:solidFill>
                        <a:srgbClr val="A084A5"/>
                      </a:solidFill>
                      <a:prstDash val="solid"/>
                      <a:round/>
                      <a:headEnd type="none" w="med" len="med"/>
                      <a:tailEnd type="none" w="med" len="med"/>
                    </a:lnR>
                    <a:lnT w="9525" cap="flat" cmpd="sng" algn="ctr">
                      <a:solidFill>
                        <a:srgbClr val="E08CA5"/>
                      </a:solidFill>
                      <a:prstDash val="solid"/>
                      <a:round/>
                      <a:headEnd type="none" w="med" len="med"/>
                      <a:tailEnd type="none" w="med" len="med"/>
                    </a:lnT>
                    <a:lnB w="12700" cap="flat" cmpd="sng" algn="ctr">
                      <a:solidFill>
                        <a:srgbClr val="D081A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A084A5"/>
                      </a:solidFill>
                      <a:prstDash val="solid"/>
                      <a:round/>
                      <a:headEnd type="none" w="med" len="med"/>
                      <a:tailEnd type="none" w="med" len="med"/>
                    </a:lnL>
                    <a:lnR w="9525" cap="flat" cmpd="sng" algn="ctr">
                      <a:solidFill>
                        <a:srgbClr val="3097A5"/>
                      </a:solidFill>
                      <a:prstDash val="solid"/>
                      <a:round/>
                      <a:headEnd type="none" w="med" len="med"/>
                      <a:tailEnd type="none" w="med" len="med"/>
                    </a:lnR>
                    <a:lnT w="9525" cap="flat" cmpd="sng" algn="ctr">
                      <a:solidFill>
                        <a:srgbClr val="A084A5"/>
                      </a:solidFill>
                      <a:prstDash val="solid"/>
                      <a:round/>
                      <a:headEnd type="none" w="med" len="med"/>
                      <a:tailEnd type="none" w="med" len="med"/>
                    </a:lnT>
                    <a:lnB w="12700" cap="flat" cmpd="sng" algn="ctr">
                      <a:solidFill>
                        <a:srgbClr val="2098A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3097A5"/>
                      </a:solidFill>
                      <a:prstDash val="solid"/>
                      <a:round/>
                      <a:headEnd type="none" w="med" len="med"/>
                      <a:tailEnd type="none" w="med" len="med"/>
                    </a:lnL>
                    <a:lnR w="9525" cap="flat" cmpd="sng" algn="ctr">
                      <a:solidFill>
                        <a:srgbClr val="7090A5"/>
                      </a:solidFill>
                      <a:prstDash val="solid"/>
                      <a:round/>
                      <a:headEnd type="none" w="med" len="med"/>
                      <a:tailEnd type="none" w="med" len="med"/>
                    </a:lnR>
                    <a:lnT w="9525" cap="flat" cmpd="sng" algn="ctr">
                      <a:solidFill>
                        <a:srgbClr val="3097A5"/>
                      </a:solidFill>
                      <a:prstDash val="solid"/>
                      <a:round/>
                      <a:headEnd type="none" w="med" len="med"/>
                      <a:tailEnd type="none" w="med" len="med"/>
                    </a:lnT>
                    <a:lnB w="12700" cap="flat" cmpd="sng" algn="ctr">
                      <a:solidFill>
                        <a:srgbClr val="A09FA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7090A5"/>
                      </a:solidFill>
                      <a:prstDash val="solid"/>
                      <a:round/>
                      <a:headEnd type="none" w="med" len="med"/>
                      <a:tailEnd type="none" w="med" len="med"/>
                    </a:lnL>
                    <a:lnR w="9525" cap="flat" cmpd="sng" algn="ctr">
                      <a:solidFill>
                        <a:srgbClr val="7090A5"/>
                      </a:solidFill>
                      <a:prstDash val="solid"/>
                      <a:round/>
                      <a:headEnd type="none" w="med" len="med"/>
                      <a:tailEnd type="none" w="med" len="med"/>
                    </a:lnR>
                    <a:lnT w="9525" cap="flat" cmpd="sng" algn="ctr">
                      <a:solidFill>
                        <a:srgbClr val="7090A5"/>
                      </a:solidFill>
                      <a:prstDash val="solid"/>
                      <a:round/>
                      <a:headEnd type="none" w="med" len="med"/>
                      <a:tailEnd type="none" w="med" len="med"/>
                    </a:lnT>
                    <a:lnB w="12700" cap="flat" cmpd="sng" algn="ctr">
                      <a:solidFill>
                        <a:srgbClr val="6098A4"/>
                      </a:solidFill>
                      <a:prstDash val="solid"/>
                      <a:round/>
                      <a:headEnd type="none" w="med" len="med"/>
                      <a:tailEnd type="none" w="med" len="med"/>
                    </a:lnB>
                    <a:solidFill>
                      <a:srgbClr val="FFFFFF"/>
                    </a:solidFill>
                  </a:tcPr>
                </a:tc>
                <a:extLst>
                  <a:ext uri="{0D108BD9-81ED-4DB2-BD59-A6C34878D82A}">
                    <a16:rowId xmlns:a16="http://schemas.microsoft.com/office/drawing/2014/main" xmlns="" val="4146551723"/>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D081A5"/>
                      </a:solidFill>
                      <a:prstDash val="solid"/>
                      <a:round/>
                      <a:headEnd type="none" w="med" len="med"/>
                      <a:tailEnd type="none" w="med" len="med"/>
                    </a:lnL>
                    <a:lnR w="9525" cap="flat" cmpd="sng" algn="ctr">
                      <a:solidFill>
                        <a:srgbClr val="2098A5"/>
                      </a:solidFill>
                      <a:prstDash val="solid"/>
                      <a:round/>
                      <a:headEnd type="none" w="med" len="med"/>
                      <a:tailEnd type="none" w="med" len="med"/>
                    </a:lnR>
                    <a:lnT w="12700" cap="flat" cmpd="sng" algn="ctr">
                      <a:solidFill>
                        <a:srgbClr val="D081A5"/>
                      </a:solidFill>
                      <a:prstDash val="solid"/>
                      <a:round/>
                      <a:headEnd type="none" w="med" len="med"/>
                      <a:tailEnd type="none" w="med" len="med"/>
                    </a:lnT>
                    <a:lnB w="12700" cap="flat" cmpd="sng" algn="ctr">
                      <a:solidFill>
                        <a:srgbClr val="5092A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2098A5"/>
                      </a:solidFill>
                      <a:prstDash val="solid"/>
                      <a:round/>
                      <a:headEnd type="none" w="med" len="med"/>
                      <a:tailEnd type="none" w="med" len="med"/>
                    </a:lnL>
                    <a:lnR w="9525" cap="flat" cmpd="sng" algn="ctr">
                      <a:solidFill>
                        <a:srgbClr val="A09FA5"/>
                      </a:solidFill>
                      <a:prstDash val="solid"/>
                      <a:round/>
                      <a:headEnd type="none" w="med" len="med"/>
                      <a:tailEnd type="none" w="med" len="med"/>
                    </a:lnR>
                    <a:lnT w="12700" cap="flat" cmpd="sng" algn="ctr">
                      <a:solidFill>
                        <a:srgbClr val="2098A5"/>
                      </a:solidFill>
                      <a:prstDash val="solid"/>
                      <a:round/>
                      <a:headEnd type="none" w="med" len="med"/>
                      <a:tailEnd type="none" w="med" len="med"/>
                    </a:lnT>
                    <a:lnB w="12700" cap="flat" cmpd="sng" algn="ctr">
                      <a:solidFill>
                        <a:srgbClr val="409A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A09FA5"/>
                      </a:solidFill>
                      <a:prstDash val="solid"/>
                      <a:round/>
                      <a:headEnd type="none" w="med" len="med"/>
                      <a:tailEnd type="none" w="med" len="med"/>
                    </a:lnL>
                    <a:lnR w="9525" cap="flat" cmpd="sng" algn="ctr">
                      <a:solidFill>
                        <a:srgbClr val="6098A4"/>
                      </a:solidFill>
                      <a:prstDash val="solid"/>
                      <a:round/>
                      <a:headEnd type="none" w="med" len="med"/>
                      <a:tailEnd type="none" w="med" len="med"/>
                    </a:lnR>
                    <a:lnT w="12700" cap="flat" cmpd="sng" algn="ctr">
                      <a:solidFill>
                        <a:srgbClr val="A09FA5"/>
                      </a:solidFill>
                      <a:prstDash val="solid"/>
                      <a:round/>
                      <a:headEnd type="none" w="med" len="med"/>
                      <a:tailEnd type="none" w="med" len="med"/>
                    </a:lnT>
                    <a:lnB w="12700" cap="flat" cmpd="sng" algn="ctr">
                      <a:solidFill>
                        <a:srgbClr val="80A8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121920" marR="121920" marT="60960" marB="60960" anchor="ctr">
                    <a:lnL w="9525" cap="flat" cmpd="sng" algn="ctr">
                      <a:solidFill>
                        <a:srgbClr val="6098A4"/>
                      </a:solidFill>
                      <a:prstDash val="solid"/>
                      <a:round/>
                      <a:headEnd type="none" w="med" len="med"/>
                      <a:tailEnd type="none" w="med" len="med"/>
                    </a:lnL>
                    <a:lnR w="9525" cap="flat" cmpd="sng" algn="ctr">
                      <a:solidFill>
                        <a:srgbClr val="6098A4"/>
                      </a:solidFill>
                      <a:prstDash val="solid"/>
                      <a:round/>
                      <a:headEnd type="none" w="med" len="med"/>
                      <a:tailEnd type="none" w="med" len="med"/>
                    </a:lnR>
                    <a:lnT w="12700" cap="flat" cmpd="sng" algn="ctr">
                      <a:solidFill>
                        <a:srgbClr val="6098A4"/>
                      </a:solidFill>
                      <a:prstDash val="solid"/>
                      <a:round/>
                      <a:headEnd type="none" w="med" len="med"/>
                      <a:tailEnd type="none" w="med" len="med"/>
                    </a:lnT>
                    <a:lnB w="12700" cap="flat" cmpd="sng" algn="ctr">
                      <a:solidFill>
                        <a:srgbClr val="F0A4A4"/>
                      </a:solidFill>
                      <a:prstDash val="solid"/>
                      <a:round/>
                      <a:headEnd type="none" w="med" len="med"/>
                      <a:tailEnd type="none" w="med" len="med"/>
                    </a:lnB>
                    <a:solidFill>
                      <a:srgbClr val="FFFFFF"/>
                    </a:solidFill>
                  </a:tcPr>
                </a:tc>
                <a:extLst>
                  <a:ext uri="{0D108BD9-81ED-4DB2-BD59-A6C34878D82A}">
                    <a16:rowId xmlns:a16="http://schemas.microsoft.com/office/drawing/2014/main" xmlns="" val="1683456660"/>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5092A5"/>
                      </a:solidFill>
                      <a:prstDash val="solid"/>
                      <a:round/>
                      <a:headEnd type="none" w="med" len="med"/>
                      <a:tailEnd type="none" w="med" len="med"/>
                    </a:lnL>
                    <a:lnR w="9525" cap="flat" cmpd="sng" algn="ctr">
                      <a:solidFill>
                        <a:srgbClr val="409AA4"/>
                      </a:solidFill>
                      <a:prstDash val="solid"/>
                      <a:round/>
                      <a:headEnd type="none" w="med" len="med"/>
                      <a:tailEnd type="none" w="med" len="med"/>
                    </a:lnR>
                    <a:lnT w="12700" cap="flat" cmpd="sng" algn="ctr">
                      <a:solidFill>
                        <a:srgbClr val="5092A5"/>
                      </a:solidFill>
                      <a:prstDash val="solid"/>
                      <a:round/>
                      <a:headEnd type="none" w="med" len="med"/>
                      <a:tailEnd type="none" w="med" len="med"/>
                    </a:lnT>
                    <a:lnB w="12700" cap="flat" cmpd="sng" algn="ctr">
                      <a:solidFill>
                        <a:srgbClr val="709CA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409AA4"/>
                      </a:solidFill>
                      <a:prstDash val="solid"/>
                      <a:round/>
                      <a:headEnd type="none" w="med" len="med"/>
                      <a:tailEnd type="none" w="med" len="med"/>
                    </a:lnL>
                    <a:lnR w="9525" cap="flat" cmpd="sng" algn="ctr">
                      <a:solidFill>
                        <a:srgbClr val="80A8A4"/>
                      </a:solidFill>
                      <a:prstDash val="solid"/>
                      <a:round/>
                      <a:headEnd type="none" w="med" len="med"/>
                      <a:tailEnd type="none" w="med" len="med"/>
                    </a:lnR>
                    <a:lnT w="12700" cap="flat" cmpd="sng" algn="ctr">
                      <a:solidFill>
                        <a:srgbClr val="409AA4"/>
                      </a:solidFill>
                      <a:prstDash val="solid"/>
                      <a:round/>
                      <a:headEnd type="none" w="med" len="med"/>
                      <a:tailEnd type="none" w="med" len="med"/>
                    </a:lnT>
                    <a:lnB w="12700" cap="flat" cmpd="sng" algn="ctr">
                      <a:solidFill>
                        <a:srgbClr val="309B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80A8A4"/>
                      </a:solidFill>
                      <a:prstDash val="solid"/>
                      <a:round/>
                      <a:headEnd type="none" w="med" len="med"/>
                      <a:tailEnd type="none" w="med" len="med"/>
                    </a:lnL>
                    <a:lnR w="9525" cap="flat" cmpd="sng" algn="ctr">
                      <a:solidFill>
                        <a:srgbClr val="F0A4A4"/>
                      </a:solidFill>
                      <a:prstDash val="solid"/>
                      <a:round/>
                      <a:headEnd type="none" w="med" len="med"/>
                      <a:tailEnd type="none" w="med" len="med"/>
                    </a:lnR>
                    <a:lnT w="12700" cap="flat" cmpd="sng" algn="ctr">
                      <a:solidFill>
                        <a:srgbClr val="80A8A4"/>
                      </a:solidFill>
                      <a:prstDash val="solid"/>
                      <a:round/>
                      <a:headEnd type="none" w="med" len="med"/>
                      <a:tailEnd type="none" w="med" len="med"/>
                    </a:lnT>
                    <a:lnB w="12700" cap="flat" cmpd="sng" algn="ctr">
                      <a:solidFill>
                        <a:srgbClr val="50A8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121920" marR="121920" marT="60960" marB="60960" anchor="ctr">
                    <a:lnL w="9525" cap="flat" cmpd="sng" algn="ctr">
                      <a:solidFill>
                        <a:srgbClr val="F0A4A4"/>
                      </a:solidFill>
                      <a:prstDash val="solid"/>
                      <a:round/>
                      <a:headEnd type="none" w="med" len="med"/>
                      <a:tailEnd type="none" w="med" len="med"/>
                    </a:lnL>
                    <a:lnR w="9525" cap="flat" cmpd="sng" algn="ctr">
                      <a:solidFill>
                        <a:srgbClr val="F0A4A4"/>
                      </a:solidFill>
                      <a:prstDash val="solid"/>
                      <a:round/>
                      <a:headEnd type="none" w="med" len="med"/>
                      <a:tailEnd type="none" w="med" len="med"/>
                    </a:lnR>
                    <a:lnT w="12700" cap="flat" cmpd="sng" algn="ctr">
                      <a:solidFill>
                        <a:srgbClr val="F0A4A4"/>
                      </a:solidFill>
                      <a:prstDash val="solid"/>
                      <a:round/>
                      <a:headEnd type="none" w="med" len="med"/>
                      <a:tailEnd type="none" w="med" len="med"/>
                    </a:lnT>
                    <a:lnB w="12700" cap="flat" cmpd="sng" algn="ctr">
                      <a:solidFill>
                        <a:srgbClr val="A0A9A4"/>
                      </a:solidFill>
                      <a:prstDash val="solid"/>
                      <a:round/>
                      <a:headEnd type="none" w="med" len="med"/>
                      <a:tailEnd type="none" w="med" len="med"/>
                    </a:lnB>
                    <a:solidFill>
                      <a:srgbClr val="FFFFFF"/>
                    </a:solidFill>
                  </a:tcPr>
                </a:tc>
                <a:extLst>
                  <a:ext uri="{0D108BD9-81ED-4DB2-BD59-A6C34878D82A}">
                    <a16:rowId xmlns:a16="http://schemas.microsoft.com/office/drawing/2014/main" xmlns="" val="2028889613"/>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709CA5"/>
                      </a:solidFill>
                      <a:prstDash val="solid"/>
                      <a:round/>
                      <a:headEnd type="none" w="med" len="med"/>
                      <a:tailEnd type="none" w="med" len="med"/>
                    </a:lnL>
                    <a:lnR w="9525" cap="flat" cmpd="sng" algn="ctr">
                      <a:solidFill>
                        <a:srgbClr val="309BA4"/>
                      </a:solidFill>
                      <a:prstDash val="solid"/>
                      <a:round/>
                      <a:headEnd type="none" w="med" len="med"/>
                      <a:tailEnd type="none" w="med" len="med"/>
                    </a:lnR>
                    <a:lnT w="12700" cap="flat" cmpd="sng" algn="ctr">
                      <a:solidFill>
                        <a:srgbClr val="709CA5"/>
                      </a:solidFill>
                      <a:prstDash val="solid"/>
                      <a:round/>
                      <a:headEnd type="none" w="med" len="med"/>
                      <a:tailEnd type="none" w="med" len="med"/>
                    </a:lnT>
                    <a:lnB w="12700" cap="flat" cmpd="sng" algn="ctr">
                      <a:solidFill>
                        <a:srgbClr val="909AA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309BA4"/>
                      </a:solidFill>
                      <a:prstDash val="solid"/>
                      <a:round/>
                      <a:headEnd type="none" w="med" len="med"/>
                      <a:tailEnd type="none" w="med" len="med"/>
                    </a:lnL>
                    <a:lnR w="9525" cap="flat" cmpd="sng" algn="ctr">
                      <a:solidFill>
                        <a:srgbClr val="50A8A4"/>
                      </a:solidFill>
                      <a:prstDash val="solid"/>
                      <a:round/>
                      <a:headEnd type="none" w="med" len="med"/>
                      <a:tailEnd type="none" w="med" len="med"/>
                    </a:lnR>
                    <a:lnT w="12700" cap="flat" cmpd="sng" algn="ctr">
                      <a:solidFill>
                        <a:srgbClr val="309BA4"/>
                      </a:solidFill>
                      <a:prstDash val="solid"/>
                      <a:round/>
                      <a:headEnd type="none" w="med" len="med"/>
                      <a:tailEnd type="none" w="med" len="med"/>
                    </a:lnT>
                    <a:lnB w="12700" cap="flat" cmpd="sng" algn="ctr">
                      <a:solidFill>
                        <a:srgbClr val="F0A1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50A8A4"/>
                      </a:solidFill>
                      <a:prstDash val="solid"/>
                      <a:round/>
                      <a:headEnd type="none" w="med" len="med"/>
                      <a:tailEnd type="none" w="med" len="med"/>
                    </a:lnL>
                    <a:lnR w="9525" cap="flat" cmpd="sng" algn="ctr">
                      <a:solidFill>
                        <a:srgbClr val="A0A9A4"/>
                      </a:solidFill>
                      <a:prstDash val="solid"/>
                      <a:round/>
                      <a:headEnd type="none" w="med" len="med"/>
                      <a:tailEnd type="none" w="med" len="med"/>
                    </a:lnR>
                    <a:lnT w="12700" cap="flat" cmpd="sng" algn="ctr">
                      <a:solidFill>
                        <a:srgbClr val="50A8A4"/>
                      </a:solidFill>
                      <a:prstDash val="solid"/>
                      <a:round/>
                      <a:headEnd type="none" w="med" len="med"/>
                      <a:tailEnd type="none" w="med" len="med"/>
                    </a:lnT>
                    <a:lnB w="12700" cap="flat" cmpd="sng" algn="ctr">
                      <a:solidFill>
                        <a:srgbClr val="10B2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900</a:t>
                      </a:r>
                    </a:p>
                  </a:txBody>
                  <a:tcPr marL="121920" marR="121920" marT="60960" marB="60960" anchor="ctr">
                    <a:lnL w="9525" cap="flat" cmpd="sng" algn="ctr">
                      <a:solidFill>
                        <a:srgbClr val="A0A9A4"/>
                      </a:solidFill>
                      <a:prstDash val="solid"/>
                      <a:round/>
                      <a:headEnd type="none" w="med" len="med"/>
                      <a:tailEnd type="none" w="med" len="med"/>
                    </a:lnL>
                    <a:lnR w="9525" cap="flat" cmpd="sng" algn="ctr">
                      <a:solidFill>
                        <a:srgbClr val="A0A9A4"/>
                      </a:solidFill>
                      <a:prstDash val="solid"/>
                      <a:round/>
                      <a:headEnd type="none" w="med" len="med"/>
                      <a:tailEnd type="none" w="med" len="med"/>
                    </a:lnR>
                    <a:lnT w="12700" cap="flat" cmpd="sng" algn="ctr">
                      <a:solidFill>
                        <a:srgbClr val="A0A9A4"/>
                      </a:solidFill>
                      <a:prstDash val="solid"/>
                      <a:round/>
                      <a:headEnd type="none" w="med" len="med"/>
                      <a:tailEnd type="none" w="med" len="med"/>
                    </a:lnT>
                    <a:lnB w="12700" cap="flat" cmpd="sng" algn="ctr">
                      <a:solidFill>
                        <a:srgbClr val="40BBA4"/>
                      </a:solidFill>
                      <a:prstDash val="solid"/>
                      <a:round/>
                      <a:headEnd type="none" w="med" len="med"/>
                      <a:tailEnd type="none" w="med" len="med"/>
                    </a:lnB>
                    <a:solidFill>
                      <a:srgbClr val="FFFFFF"/>
                    </a:solidFill>
                  </a:tcPr>
                </a:tc>
                <a:extLst>
                  <a:ext uri="{0D108BD9-81ED-4DB2-BD59-A6C34878D82A}">
                    <a16:rowId xmlns:a16="http://schemas.microsoft.com/office/drawing/2014/main" xmlns="" val="225919312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909AA5"/>
                      </a:solidFill>
                      <a:prstDash val="solid"/>
                      <a:round/>
                      <a:headEnd type="none" w="med" len="med"/>
                      <a:tailEnd type="none" w="med" len="med"/>
                    </a:lnL>
                    <a:lnR w="9525" cap="flat" cmpd="sng" algn="ctr">
                      <a:solidFill>
                        <a:srgbClr val="F0A1A4"/>
                      </a:solidFill>
                      <a:prstDash val="solid"/>
                      <a:round/>
                      <a:headEnd type="none" w="med" len="med"/>
                      <a:tailEnd type="none" w="med" len="med"/>
                    </a:lnR>
                    <a:lnT w="12700" cap="flat" cmpd="sng" algn="ctr">
                      <a:solidFill>
                        <a:srgbClr val="909AA5"/>
                      </a:solidFill>
                      <a:prstDash val="solid"/>
                      <a:round/>
                      <a:headEnd type="none" w="med" len="med"/>
                      <a:tailEnd type="none" w="med" len="med"/>
                    </a:lnT>
                    <a:lnB w="9525" cap="flat" cmpd="sng" algn="ctr">
                      <a:solidFill>
                        <a:srgbClr val="909AA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F0A1A4"/>
                      </a:solidFill>
                      <a:prstDash val="solid"/>
                      <a:round/>
                      <a:headEnd type="none" w="med" len="med"/>
                      <a:tailEnd type="none" w="med" len="med"/>
                    </a:lnL>
                    <a:lnR w="9525" cap="flat" cmpd="sng" algn="ctr">
                      <a:solidFill>
                        <a:srgbClr val="10B2A4"/>
                      </a:solidFill>
                      <a:prstDash val="solid"/>
                      <a:round/>
                      <a:headEnd type="none" w="med" len="med"/>
                      <a:tailEnd type="none" w="med" len="med"/>
                    </a:lnR>
                    <a:lnT w="12700" cap="flat" cmpd="sng" algn="ctr">
                      <a:solidFill>
                        <a:srgbClr val="F0A1A4"/>
                      </a:solidFill>
                      <a:prstDash val="solid"/>
                      <a:round/>
                      <a:headEnd type="none" w="med" len="med"/>
                      <a:tailEnd type="none" w="med" len="med"/>
                    </a:lnT>
                    <a:lnB w="9525" cap="flat" cmpd="sng" algn="ctr">
                      <a:solidFill>
                        <a:srgbClr val="F0A1A4"/>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10B2A4"/>
                      </a:solidFill>
                      <a:prstDash val="solid"/>
                      <a:round/>
                      <a:headEnd type="none" w="med" len="med"/>
                      <a:tailEnd type="none" w="med" len="med"/>
                    </a:lnL>
                    <a:lnR w="9525" cap="flat" cmpd="sng" algn="ctr">
                      <a:solidFill>
                        <a:srgbClr val="40BBA4"/>
                      </a:solidFill>
                      <a:prstDash val="solid"/>
                      <a:round/>
                      <a:headEnd type="none" w="med" len="med"/>
                      <a:tailEnd type="none" w="med" len="med"/>
                    </a:lnR>
                    <a:lnT w="12700" cap="flat" cmpd="sng" algn="ctr">
                      <a:solidFill>
                        <a:srgbClr val="10B2A4"/>
                      </a:solidFill>
                      <a:prstDash val="solid"/>
                      <a:round/>
                      <a:headEnd type="none" w="med" len="med"/>
                      <a:tailEnd type="none" w="med" len="med"/>
                    </a:lnT>
                    <a:lnB w="9525" cap="flat" cmpd="sng" algn="ctr">
                      <a:solidFill>
                        <a:srgbClr val="10B2A4"/>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121920" marR="121920" marT="60960" marB="60960" anchor="ctr">
                    <a:lnL w="9525" cap="flat" cmpd="sng" algn="ctr">
                      <a:solidFill>
                        <a:srgbClr val="40BBA4"/>
                      </a:solidFill>
                      <a:prstDash val="solid"/>
                      <a:round/>
                      <a:headEnd type="none" w="med" len="med"/>
                      <a:tailEnd type="none" w="med" len="med"/>
                    </a:lnL>
                    <a:lnR w="9525" cap="flat" cmpd="sng" algn="ctr">
                      <a:solidFill>
                        <a:srgbClr val="40BBA4"/>
                      </a:solidFill>
                      <a:prstDash val="solid"/>
                      <a:round/>
                      <a:headEnd type="none" w="med" len="med"/>
                      <a:tailEnd type="none" w="med" len="med"/>
                    </a:lnR>
                    <a:lnT w="12700" cap="flat" cmpd="sng" algn="ctr">
                      <a:solidFill>
                        <a:srgbClr val="40BBA4"/>
                      </a:solidFill>
                      <a:prstDash val="solid"/>
                      <a:round/>
                      <a:headEnd type="none" w="med" len="med"/>
                      <a:tailEnd type="none" w="med" len="med"/>
                    </a:lnT>
                    <a:lnB w="9525" cap="flat" cmpd="sng" algn="ctr">
                      <a:solidFill>
                        <a:srgbClr val="40BBA4"/>
                      </a:solidFill>
                      <a:prstDash val="solid"/>
                      <a:round/>
                      <a:headEnd type="none" w="med" len="med"/>
                      <a:tailEnd type="none" w="med" len="med"/>
                    </a:lnB>
                    <a:solidFill>
                      <a:srgbClr val="FFFFFF"/>
                    </a:solidFill>
                  </a:tcPr>
                </a:tc>
                <a:extLst>
                  <a:ext uri="{0D108BD9-81ED-4DB2-BD59-A6C34878D82A}">
                    <a16:rowId xmlns:a16="http://schemas.microsoft.com/office/drawing/2014/main" xmlns="" val="2431977565"/>
                  </a:ext>
                </a:extLst>
              </a:tr>
            </a:tbl>
          </a:graphicData>
        </a:graphic>
      </p:graphicFrame>
    </p:spTree>
    <p:extLst>
      <p:ext uri="{BB962C8B-B14F-4D97-AF65-F5344CB8AC3E}">
        <p14:creationId xmlns:p14="http://schemas.microsoft.com/office/powerpoint/2010/main" xmlns="" val="424750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669801"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3750068013"/>
              </p:ext>
            </p:extLst>
          </p:nvPr>
        </p:nvGraphicFramePr>
        <p:xfrm>
          <a:off x="1099908"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487177" y="2503975"/>
            <a:ext cx="3506449" cy="1487651"/>
          </a:xfrm>
          <a:prstGeom prst="rect">
            <a:avLst/>
          </a:prstGeom>
        </p:spPr>
        <p:txBody>
          <a:bodyPr wrap="square">
            <a:spAutoFit/>
          </a:bodyPr>
          <a:lstStyle/>
          <a:p>
            <a:pPr algn="just"/>
            <a:r>
              <a:rPr lang="fr-FR" sz="2400" dirty="0">
                <a:solidFill>
                  <a:srgbClr val="0D0D0D"/>
                </a:solidFill>
                <a:latin typeface="Times New Roman" panose="02020603050405020304" pitchFamily="18" charset="0"/>
                <a:cs typeface="Times New Roman" panose="02020603050405020304" pitchFamily="18" charset="0"/>
              </a:rPr>
              <a:t>3. Affichez les ventes de Meubles pour tous les trimestres.  </a:t>
            </a:r>
            <a:r>
              <a:rPr lang="fr-FR" sz="2400" b="1" dirty="0">
                <a:solidFill>
                  <a:srgbClr val="FF0000"/>
                </a:solidFill>
                <a:latin typeface="Times New Roman" panose="02020603050405020304" pitchFamily="18" charset="0"/>
                <a:cs typeface="Times New Roman" panose="02020603050405020304" pitchFamily="18" charset="0"/>
              </a:rPr>
              <a:t>SLICE</a:t>
            </a:r>
          </a:p>
          <a:p>
            <a:pPr algn="just"/>
            <a:endParaRPr lang="fr-FR" sz="1867" dirty="0">
              <a:solidFill>
                <a:srgbClr val="0D0D0D"/>
              </a:solidFill>
              <a:latin typeface="Times New Roman" panose="02020603050405020304" pitchFamily="18" charset="0"/>
              <a:cs typeface="Times New Roman" panose="02020603050405020304" pitchFamily="18" charset="0"/>
            </a:endParaRPr>
          </a:p>
        </p:txBody>
      </p:sp>
      <p:graphicFrame>
        <p:nvGraphicFramePr>
          <p:cNvPr id="5" name="Tableau 4">
            <a:extLst>
              <a:ext uri="{FF2B5EF4-FFF2-40B4-BE49-F238E27FC236}">
                <a16:creationId xmlns:a16="http://schemas.microsoft.com/office/drawing/2014/main" xmlns="" id="{8869910A-C523-43CA-A458-200EFE58D06B}"/>
              </a:ext>
            </a:extLst>
          </p:cNvPr>
          <p:cNvGraphicFramePr>
            <a:graphicFrameLocks noGrp="1"/>
          </p:cNvGraphicFramePr>
          <p:nvPr/>
        </p:nvGraphicFramePr>
        <p:xfrm>
          <a:off x="1773275" y="4621843"/>
          <a:ext cx="9042400" cy="2057400"/>
        </p:xfrm>
        <a:graphic>
          <a:graphicData uri="http://schemas.openxmlformats.org/drawingml/2006/table">
            <a:tbl>
              <a:tblPr/>
              <a:tblGrid>
                <a:gridCol w="2260600">
                  <a:extLst>
                    <a:ext uri="{9D8B030D-6E8A-4147-A177-3AD203B41FA5}">
                      <a16:colId xmlns:a16="http://schemas.microsoft.com/office/drawing/2014/main" xmlns="" val="3777509781"/>
                    </a:ext>
                  </a:extLst>
                </a:gridCol>
                <a:gridCol w="2260600">
                  <a:extLst>
                    <a:ext uri="{9D8B030D-6E8A-4147-A177-3AD203B41FA5}">
                      <a16:colId xmlns:a16="http://schemas.microsoft.com/office/drawing/2014/main" xmlns="" val="1880960427"/>
                    </a:ext>
                  </a:extLst>
                </a:gridCol>
                <a:gridCol w="2260600">
                  <a:extLst>
                    <a:ext uri="{9D8B030D-6E8A-4147-A177-3AD203B41FA5}">
                      <a16:colId xmlns:a16="http://schemas.microsoft.com/office/drawing/2014/main" xmlns="" val="2463987828"/>
                    </a:ext>
                  </a:extLst>
                </a:gridCol>
                <a:gridCol w="2260600">
                  <a:extLst>
                    <a:ext uri="{9D8B030D-6E8A-4147-A177-3AD203B41FA5}">
                      <a16:colId xmlns:a16="http://schemas.microsoft.com/office/drawing/2014/main" xmlns="" val="1768909598"/>
                    </a:ext>
                  </a:extLst>
                </a:gridCol>
              </a:tblGrid>
              <a:tr h="406400">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E0B8CC"/>
                      </a:solidFill>
                      <a:prstDash val="solid"/>
                      <a:round/>
                      <a:headEnd type="none" w="med" len="med"/>
                      <a:tailEnd type="none" w="med" len="med"/>
                    </a:lnL>
                    <a:lnR w="9525" cap="flat" cmpd="sng" algn="ctr">
                      <a:solidFill>
                        <a:srgbClr val="10C5CC"/>
                      </a:solidFill>
                      <a:prstDash val="solid"/>
                      <a:round/>
                      <a:headEnd type="none" w="med" len="med"/>
                      <a:tailEnd type="none" w="med" len="med"/>
                    </a:lnR>
                    <a:lnT w="9525" cap="flat" cmpd="sng" algn="ctr">
                      <a:solidFill>
                        <a:srgbClr val="E0B8CC"/>
                      </a:solidFill>
                      <a:prstDash val="solid"/>
                      <a:round/>
                      <a:headEnd type="none" w="med" len="med"/>
                      <a:tailEnd type="none" w="med" len="med"/>
                    </a:lnT>
                    <a:lnB w="12700" cap="flat" cmpd="sng" algn="ctr">
                      <a:solidFill>
                        <a:srgbClr val="20C7CC"/>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10C5CC"/>
                      </a:solidFill>
                      <a:prstDash val="solid"/>
                      <a:round/>
                      <a:headEnd type="none" w="med" len="med"/>
                      <a:tailEnd type="none" w="med" len="med"/>
                    </a:lnL>
                    <a:lnR w="9525" cap="flat" cmpd="sng" algn="ctr">
                      <a:solidFill>
                        <a:srgbClr val="50DCCC"/>
                      </a:solidFill>
                      <a:prstDash val="solid"/>
                      <a:round/>
                      <a:headEnd type="none" w="med" len="med"/>
                      <a:tailEnd type="none" w="med" len="med"/>
                    </a:lnR>
                    <a:lnT w="9525" cap="flat" cmpd="sng" algn="ctr">
                      <a:solidFill>
                        <a:srgbClr val="10C5CC"/>
                      </a:solidFill>
                      <a:prstDash val="solid"/>
                      <a:round/>
                      <a:headEnd type="none" w="med" len="med"/>
                      <a:tailEnd type="none" w="med" len="med"/>
                    </a:lnT>
                    <a:lnB w="12700" cap="flat" cmpd="sng" algn="ctr">
                      <a:solidFill>
                        <a:srgbClr val="30E7CC"/>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50DCCC"/>
                      </a:solidFill>
                      <a:prstDash val="solid"/>
                      <a:round/>
                      <a:headEnd type="none" w="med" len="med"/>
                      <a:tailEnd type="none" w="med" len="med"/>
                    </a:lnL>
                    <a:lnR w="9525" cap="flat" cmpd="sng" algn="ctr">
                      <a:solidFill>
                        <a:srgbClr val="A0DDCC"/>
                      </a:solidFill>
                      <a:prstDash val="solid"/>
                      <a:round/>
                      <a:headEnd type="none" w="med" len="med"/>
                      <a:tailEnd type="none" w="med" len="med"/>
                    </a:lnR>
                    <a:lnT w="9525" cap="flat" cmpd="sng" algn="ctr">
                      <a:solidFill>
                        <a:srgbClr val="50DCCC"/>
                      </a:solidFill>
                      <a:prstDash val="solid"/>
                      <a:round/>
                      <a:headEnd type="none" w="med" len="med"/>
                      <a:tailEnd type="none" w="med" len="med"/>
                    </a:lnT>
                    <a:lnB w="12700" cap="flat" cmpd="sng" algn="ctr">
                      <a:solidFill>
                        <a:srgbClr val="A0ECCC"/>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A0DDCC"/>
                      </a:solidFill>
                      <a:prstDash val="solid"/>
                      <a:round/>
                      <a:headEnd type="none" w="med" len="med"/>
                      <a:tailEnd type="none" w="med" len="med"/>
                    </a:lnL>
                    <a:lnR w="9525" cap="flat" cmpd="sng" algn="ctr">
                      <a:solidFill>
                        <a:srgbClr val="A0DDCC"/>
                      </a:solidFill>
                      <a:prstDash val="solid"/>
                      <a:round/>
                      <a:headEnd type="none" w="med" len="med"/>
                      <a:tailEnd type="none" w="med" len="med"/>
                    </a:lnR>
                    <a:lnT w="9525" cap="flat" cmpd="sng" algn="ctr">
                      <a:solidFill>
                        <a:srgbClr val="A0DDCC"/>
                      </a:solidFill>
                      <a:prstDash val="solid"/>
                      <a:round/>
                      <a:headEnd type="none" w="med" len="med"/>
                      <a:tailEnd type="none" w="med" len="med"/>
                    </a:lnT>
                    <a:lnB w="12700" cap="flat" cmpd="sng" algn="ctr">
                      <a:solidFill>
                        <a:srgbClr val="60FFCC"/>
                      </a:solidFill>
                      <a:prstDash val="solid"/>
                      <a:round/>
                      <a:headEnd type="none" w="med" len="med"/>
                      <a:tailEnd type="none" w="med" len="med"/>
                    </a:lnB>
                    <a:solidFill>
                      <a:srgbClr val="FFFFFF"/>
                    </a:solidFill>
                  </a:tcPr>
                </a:tc>
                <a:extLst>
                  <a:ext uri="{0D108BD9-81ED-4DB2-BD59-A6C34878D82A}">
                    <a16:rowId xmlns:a16="http://schemas.microsoft.com/office/drawing/2014/main" xmlns="" val="1186281096"/>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20C7CC"/>
                      </a:solidFill>
                      <a:prstDash val="solid"/>
                      <a:round/>
                      <a:headEnd type="none" w="med" len="med"/>
                      <a:tailEnd type="none" w="med" len="med"/>
                    </a:lnL>
                    <a:lnR w="9525" cap="flat" cmpd="sng" algn="ctr">
                      <a:solidFill>
                        <a:srgbClr val="30E7CC"/>
                      </a:solidFill>
                      <a:prstDash val="solid"/>
                      <a:round/>
                      <a:headEnd type="none" w="med" len="med"/>
                      <a:tailEnd type="none" w="med" len="med"/>
                    </a:lnR>
                    <a:lnT w="12700" cap="flat" cmpd="sng" algn="ctr">
                      <a:solidFill>
                        <a:srgbClr val="20C7CC"/>
                      </a:solidFill>
                      <a:prstDash val="solid"/>
                      <a:round/>
                      <a:headEnd type="none" w="med" len="med"/>
                      <a:tailEnd type="none" w="med" len="med"/>
                    </a:lnT>
                    <a:lnB w="12700" cap="flat" cmpd="sng" algn="ctr">
                      <a:solidFill>
                        <a:srgbClr val="D0C8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30E7CC"/>
                      </a:solidFill>
                      <a:prstDash val="solid"/>
                      <a:round/>
                      <a:headEnd type="none" w="med" len="med"/>
                      <a:tailEnd type="none" w="med" len="med"/>
                    </a:lnL>
                    <a:lnR w="9525" cap="flat" cmpd="sng" algn="ctr">
                      <a:solidFill>
                        <a:srgbClr val="A0ECCC"/>
                      </a:solidFill>
                      <a:prstDash val="solid"/>
                      <a:round/>
                      <a:headEnd type="none" w="med" len="med"/>
                      <a:tailEnd type="none" w="med" len="med"/>
                    </a:lnR>
                    <a:lnT w="12700" cap="flat" cmpd="sng" algn="ctr">
                      <a:solidFill>
                        <a:srgbClr val="30E7CC"/>
                      </a:solidFill>
                      <a:prstDash val="solid"/>
                      <a:round/>
                      <a:headEnd type="none" w="med" len="med"/>
                      <a:tailEnd type="none" w="med" len="med"/>
                    </a:lnT>
                    <a:lnB w="12700" cap="flat" cmpd="sng" algn="ctr">
                      <a:solidFill>
                        <a:srgbClr val="90E4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A0ECCC"/>
                      </a:solidFill>
                      <a:prstDash val="solid"/>
                      <a:round/>
                      <a:headEnd type="none" w="med" len="med"/>
                      <a:tailEnd type="none" w="med" len="med"/>
                    </a:lnL>
                    <a:lnR w="9525" cap="flat" cmpd="sng" algn="ctr">
                      <a:solidFill>
                        <a:srgbClr val="60FFCC"/>
                      </a:solidFill>
                      <a:prstDash val="solid"/>
                      <a:round/>
                      <a:headEnd type="none" w="med" len="med"/>
                      <a:tailEnd type="none" w="med" len="med"/>
                    </a:lnR>
                    <a:lnT w="12700" cap="flat" cmpd="sng" algn="ctr">
                      <a:solidFill>
                        <a:srgbClr val="A0ECCC"/>
                      </a:solidFill>
                      <a:prstDash val="solid"/>
                      <a:round/>
                      <a:headEnd type="none" w="med" len="med"/>
                      <a:tailEnd type="none" w="med" len="med"/>
                    </a:lnT>
                    <a:lnB w="12700" cap="flat" cmpd="sng" algn="ctr">
                      <a:solidFill>
                        <a:srgbClr val="20FA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600</a:t>
                      </a:r>
                    </a:p>
                  </a:txBody>
                  <a:tcPr marL="121920" marR="121920" marT="60960" marB="60960" anchor="ctr">
                    <a:lnL w="9525" cap="flat" cmpd="sng" algn="ctr">
                      <a:solidFill>
                        <a:srgbClr val="60FFCC"/>
                      </a:solidFill>
                      <a:prstDash val="solid"/>
                      <a:round/>
                      <a:headEnd type="none" w="med" len="med"/>
                      <a:tailEnd type="none" w="med" len="med"/>
                    </a:lnL>
                    <a:lnR w="9525" cap="flat" cmpd="sng" algn="ctr">
                      <a:solidFill>
                        <a:srgbClr val="60FFCC"/>
                      </a:solidFill>
                      <a:prstDash val="solid"/>
                      <a:round/>
                      <a:headEnd type="none" w="med" len="med"/>
                      <a:tailEnd type="none" w="med" len="med"/>
                    </a:lnR>
                    <a:lnT w="12700" cap="flat" cmpd="sng" algn="ctr">
                      <a:solidFill>
                        <a:srgbClr val="60FFCC"/>
                      </a:solidFill>
                      <a:prstDash val="solid"/>
                      <a:round/>
                      <a:headEnd type="none" w="med" len="med"/>
                      <a:tailEnd type="none" w="med" len="med"/>
                    </a:lnT>
                    <a:lnB w="12700" cap="flat" cmpd="sng" algn="ctr">
                      <a:solidFill>
                        <a:srgbClr val="7004CD"/>
                      </a:solidFill>
                      <a:prstDash val="solid"/>
                      <a:round/>
                      <a:headEnd type="none" w="med" len="med"/>
                      <a:tailEnd type="none" w="med" len="med"/>
                    </a:lnB>
                    <a:solidFill>
                      <a:srgbClr val="FFFFFF"/>
                    </a:solidFill>
                  </a:tcPr>
                </a:tc>
                <a:extLst>
                  <a:ext uri="{0D108BD9-81ED-4DB2-BD59-A6C34878D82A}">
                    <a16:rowId xmlns:a16="http://schemas.microsoft.com/office/drawing/2014/main" xmlns="" val="1213533550"/>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D0C8CC"/>
                      </a:solidFill>
                      <a:prstDash val="solid"/>
                      <a:round/>
                      <a:headEnd type="none" w="med" len="med"/>
                      <a:tailEnd type="none" w="med" len="med"/>
                    </a:lnL>
                    <a:lnR w="9525" cap="flat" cmpd="sng" algn="ctr">
                      <a:solidFill>
                        <a:srgbClr val="90E4CC"/>
                      </a:solidFill>
                      <a:prstDash val="solid"/>
                      <a:round/>
                      <a:headEnd type="none" w="med" len="med"/>
                      <a:tailEnd type="none" w="med" len="med"/>
                    </a:lnR>
                    <a:lnT w="12700" cap="flat" cmpd="sng" algn="ctr">
                      <a:solidFill>
                        <a:srgbClr val="D0C8CC"/>
                      </a:solidFill>
                      <a:prstDash val="solid"/>
                      <a:round/>
                      <a:headEnd type="none" w="med" len="med"/>
                      <a:tailEnd type="none" w="med" len="med"/>
                    </a:lnT>
                    <a:lnB w="12700" cap="flat" cmpd="sng" algn="ctr">
                      <a:solidFill>
                        <a:srgbClr val="20D3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90E4CC"/>
                      </a:solidFill>
                      <a:prstDash val="solid"/>
                      <a:round/>
                      <a:headEnd type="none" w="med" len="med"/>
                      <a:tailEnd type="none" w="med" len="med"/>
                    </a:lnL>
                    <a:lnR w="9525" cap="flat" cmpd="sng" algn="ctr">
                      <a:solidFill>
                        <a:srgbClr val="20FACC"/>
                      </a:solidFill>
                      <a:prstDash val="solid"/>
                      <a:round/>
                      <a:headEnd type="none" w="med" len="med"/>
                      <a:tailEnd type="none" w="med" len="med"/>
                    </a:lnR>
                    <a:lnT w="12700" cap="flat" cmpd="sng" algn="ctr">
                      <a:solidFill>
                        <a:srgbClr val="90E4CC"/>
                      </a:solidFill>
                      <a:prstDash val="solid"/>
                      <a:round/>
                      <a:headEnd type="none" w="med" len="med"/>
                      <a:tailEnd type="none" w="med" len="med"/>
                    </a:lnT>
                    <a:lnB w="12700" cap="flat" cmpd="sng" algn="ctr">
                      <a:solidFill>
                        <a:srgbClr val="90F0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20FACC"/>
                      </a:solidFill>
                      <a:prstDash val="solid"/>
                      <a:round/>
                      <a:headEnd type="none" w="med" len="med"/>
                      <a:tailEnd type="none" w="med" len="med"/>
                    </a:lnL>
                    <a:lnR w="9525" cap="flat" cmpd="sng" algn="ctr">
                      <a:solidFill>
                        <a:srgbClr val="7004CD"/>
                      </a:solidFill>
                      <a:prstDash val="solid"/>
                      <a:round/>
                      <a:headEnd type="none" w="med" len="med"/>
                      <a:tailEnd type="none" w="med" len="med"/>
                    </a:lnR>
                    <a:lnT w="12700" cap="flat" cmpd="sng" algn="ctr">
                      <a:solidFill>
                        <a:srgbClr val="20FACC"/>
                      </a:solidFill>
                      <a:prstDash val="solid"/>
                      <a:round/>
                      <a:headEnd type="none" w="med" len="med"/>
                      <a:tailEnd type="none" w="med" len="med"/>
                    </a:lnT>
                    <a:lnB w="12700" cap="flat" cmpd="sng" algn="ctr">
                      <a:solidFill>
                        <a:srgbClr val="2003CD"/>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121920" marR="121920" marT="60960" marB="60960" anchor="ctr">
                    <a:lnL w="9525" cap="flat" cmpd="sng" algn="ctr">
                      <a:solidFill>
                        <a:srgbClr val="7004CD"/>
                      </a:solidFill>
                      <a:prstDash val="solid"/>
                      <a:round/>
                      <a:headEnd type="none" w="med" len="med"/>
                      <a:tailEnd type="none" w="med" len="med"/>
                    </a:lnL>
                    <a:lnR w="9525" cap="flat" cmpd="sng" algn="ctr">
                      <a:solidFill>
                        <a:srgbClr val="7004CD"/>
                      </a:solidFill>
                      <a:prstDash val="solid"/>
                      <a:round/>
                      <a:headEnd type="none" w="med" len="med"/>
                      <a:tailEnd type="none" w="med" len="med"/>
                    </a:lnR>
                    <a:lnT w="12700" cap="flat" cmpd="sng" algn="ctr">
                      <a:solidFill>
                        <a:srgbClr val="7004CD"/>
                      </a:solidFill>
                      <a:prstDash val="solid"/>
                      <a:round/>
                      <a:headEnd type="none" w="med" len="med"/>
                      <a:tailEnd type="none" w="med" len="med"/>
                    </a:lnT>
                    <a:lnB w="12700" cap="flat" cmpd="sng" algn="ctr">
                      <a:solidFill>
                        <a:srgbClr val="0011CD"/>
                      </a:solidFill>
                      <a:prstDash val="solid"/>
                      <a:round/>
                      <a:headEnd type="none" w="med" len="med"/>
                      <a:tailEnd type="none" w="med" len="med"/>
                    </a:lnB>
                    <a:solidFill>
                      <a:srgbClr val="FFFFFF"/>
                    </a:solidFill>
                  </a:tcPr>
                </a:tc>
                <a:extLst>
                  <a:ext uri="{0D108BD9-81ED-4DB2-BD59-A6C34878D82A}">
                    <a16:rowId xmlns:a16="http://schemas.microsoft.com/office/drawing/2014/main" xmlns="" val="4118483960"/>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20D3CC"/>
                      </a:solidFill>
                      <a:prstDash val="solid"/>
                      <a:round/>
                      <a:headEnd type="none" w="med" len="med"/>
                      <a:tailEnd type="none" w="med" len="med"/>
                    </a:lnL>
                    <a:lnR w="9525" cap="flat" cmpd="sng" algn="ctr">
                      <a:solidFill>
                        <a:srgbClr val="90F0CC"/>
                      </a:solidFill>
                      <a:prstDash val="solid"/>
                      <a:round/>
                      <a:headEnd type="none" w="med" len="med"/>
                      <a:tailEnd type="none" w="med" len="med"/>
                    </a:lnR>
                    <a:lnT w="12700" cap="flat" cmpd="sng" algn="ctr">
                      <a:solidFill>
                        <a:srgbClr val="20D3CC"/>
                      </a:solidFill>
                      <a:prstDash val="solid"/>
                      <a:round/>
                      <a:headEnd type="none" w="med" len="med"/>
                      <a:tailEnd type="none" w="med" len="med"/>
                    </a:lnT>
                    <a:lnB w="12700" cap="flat" cmpd="sng" algn="ctr">
                      <a:solidFill>
                        <a:srgbClr val="90E4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90F0CC"/>
                      </a:solidFill>
                      <a:prstDash val="solid"/>
                      <a:round/>
                      <a:headEnd type="none" w="med" len="med"/>
                      <a:tailEnd type="none" w="med" len="med"/>
                    </a:lnL>
                    <a:lnR w="9525" cap="flat" cmpd="sng" algn="ctr">
                      <a:solidFill>
                        <a:srgbClr val="2003CD"/>
                      </a:solidFill>
                      <a:prstDash val="solid"/>
                      <a:round/>
                      <a:headEnd type="none" w="med" len="med"/>
                      <a:tailEnd type="none" w="med" len="med"/>
                    </a:lnR>
                    <a:lnT w="12700" cap="flat" cmpd="sng" algn="ctr">
                      <a:solidFill>
                        <a:srgbClr val="90F0CC"/>
                      </a:solidFill>
                      <a:prstDash val="solid"/>
                      <a:round/>
                      <a:headEnd type="none" w="med" len="med"/>
                      <a:tailEnd type="none" w="med" len="med"/>
                    </a:lnT>
                    <a:lnB w="12700" cap="flat" cmpd="sng" algn="ctr">
                      <a:solidFill>
                        <a:srgbClr val="20FA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2003CD"/>
                      </a:solidFill>
                      <a:prstDash val="solid"/>
                      <a:round/>
                      <a:headEnd type="none" w="med" len="med"/>
                      <a:tailEnd type="none" w="med" len="med"/>
                    </a:lnL>
                    <a:lnR w="9525" cap="flat" cmpd="sng" algn="ctr">
                      <a:solidFill>
                        <a:srgbClr val="0011CD"/>
                      </a:solidFill>
                      <a:prstDash val="solid"/>
                      <a:round/>
                      <a:headEnd type="none" w="med" len="med"/>
                      <a:tailEnd type="none" w="med" len="med"/>
                    </a:lnR>
                    <a:lnT w="12700" cap="flat" cmpd="sng" algn="ctr">
                      <a:solidFill>
                        <a:srgbClr val="2003CD"/>
                      </a:solidFill>
                      <a:prstDash val="solid"/>
                      <a:round/>
                      <a:headEnd type="none" w="med" len="med"/>
                      <a:tailEnd type="none" w="med" len="med"/>
                    </a:lnT>
                    <a:lnB w="12700" cap="flat" cmpd="sng" algn="ctr">
                      <a:solidFill>
                        <a:srgbClr val="C00ECD"/>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650</a:t>
                      </a:r>
                    </a:p>
                  </a:txBody>
                  <a:tcPr marL="121920" marR="121920" marT="60960" marB="60960" anchor="ctr">
                    <a:lnL w="9525" cap="flat" cmpd="sng" algn="ctr">
                      <a:solidFill>
                        <a:srgbClr val="0011CD"/>
                      </a:solidFill>
                      <a:prstDash val="solid"/>
                      <a:round/>
                      <a:headEnd type="none" w="med" len="med"/>
                      <a:tailEnd type="none" w="med" len="med"/>
                    </a:lnL>
                    <a:lnR w="9525" cap="flat" cmpd="sng" algn="ctr">
                      <a:solidFill>
                        <a:srgbClr val="0011CD"/>
                      </a:solidFill>
                      <a:prstDash val="solid"/>
                      <a:round/>
                      <a:headEnd type="none" w="med" len="med"/>
                      <a:tailEnd type="none" w="med" len="med"/>
                    </a:lnR>
                    <a:lnT w="12700" cap="flat" cmpd="sng" algn="ctr">
                      <a:solidFill>
                        <a:srgbClr val="0011CD"/>
                      </a:solidFill>
                      <a:prstDash val="solid"/>
                      <a:round/>
                      <a:headEnd type="none" w="med" len="med"/>
                      <a:tailEnd type="none" w="med" len="med"/>
                    </a:lnT>
                    <a:lnB w="12700" cap="flat" cmpd="sng" algn="ctr">
                      <a:solidFill>
                        <a:srgbClr val="3023CD"/>
                      </a:solidFill>
                      <a:prstDash val="solid"/>
                      <a:round/>
                      <a:headEnd type="none" w="med" len="med"/>
                      <a:tailEnd type="none" w="med" len="med"/>
                    </a:lnB>
                    <a:solidFill>
                      <a:srgbClr val="FFFFFF"/>
                    </a:solidFill>
                  </a:tcPr>
                </a:tc>
                <a:extLst>
                  <a:ext uri="{0D108BD9-81ED-4DB2-BD59-A6C34878D82A}">
                    <a16:rowId xmlns:a16="http://schemas.microsoft.com/office/drawing/2014/main" xmlns="" val="763087983"/>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90E4CC"/>
                      </a:solidFill>
                      <a:prstDash val="solid"/>
                      <a:round/>
                      <a:headEnd type="none" w="med" len="med"/>
                      <a:tailEnd type="none" w="med" len="med"/>
                    </a:lnL>
                    <a:lnR w="9525" cap="flat" cmpd="sng" algn="ctr">
                      <a:solidFill>
                        <a:srgbClr val="20FACC"/>
                      </a:solidFill>
                      <a:prstDash val="solid"/>
                      <a:round/>
                      <a:headEnd type="none" w="med" len="med"/>
                      <a:tailEnd type="none" w="med" len="med"/>
                    </a:lnR>
                    <a:lnT w="12700" cap="flat" cmpd="sng" algn="ctr">
                      <a:solidFill>
                        <a:srgbClr val="90E4CC"/>
                      </a:solidFill>
                      <a:prstDash val="solid"/>
                      <a:round/>
                      <a:headEnd type="none" w="med" len="med"/>
                      <a:tailEnd type="none" w="med" len="med"/>
                    </a:lnT>
                    <a:lnB w="9525" cap="flat" cmpd="sng" algn="ctr">
                      <a:solidFill>
                        <a:srgbClr val="90E4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20FACC"/>
                      </a:solidFill>
                      <a:prstDash val="solid"/>
                      <a:round/>
                      <a:headEnd type="none" w="med" len="med"/>
                      <a:tailEnd type="none" w="med" len="med"/>
                    </a:lnL>
                    <a:lnR w="9525" cap="flat" cmpd="sng" algn="ctr">
                      <a:solidFill>
                        <a:srgbClr val="C00ECD"/>
                      </a:solidFill>
                      <a:prstDash val="solid"/>
                      <a:round/>
                      <a:headEnd type="none" w="med" len="med"/>
                      <a:tailEnd type="none" w="med" len="med"/>
                    </a:lnR>
                    <a:lnT w="12700" cap="flat" cmpd="sng" algn="ctr">
                      <a:solidFill>
                        <a:srgbClr val="20FACC"/>
                      </a:solidFill>
                      <a:prstDash val="solid"/>
                      <a:round/>
                      <a:headEnd type="none" w="med" len="med"/>
                      <a:tailEnd type="none" w="med" len="med"/>
                    </a:lnT>
                    <a:lnB w="9525" cap="flat" cmpd="sng" algn="ctr">
                      <a:solidFill>
                        <a:srgbClr val="20FACC"/>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C00ECD"/>
                      </a:solidFill>
                      <a:prstDash val="solid"/>
                      <a:round/>
                      <a:headEnd type="none" w="med" len="med"/>
                      <a:tailEnd type="none" w="med" len="med"/>
                    </a:lnL>
                    <a:lnR w="9525" cap="flat" cmpd="sng" algn="ctr">
                      <a:solidFill>
                        <a:srgbClr val="3023CD"/>
                      </a:solidFill>
                      <a:prstDash val="solid"/>
                      <a:round/>
                      <a:headEnd type="none" w="med" len="med"/>
                      <a:tailEnd type="none" w="med" len="med"/>
                    </a:lnR>
                    <a:lnT w="12700" cap="flat" cmpd="sng" algn="ctr">
                      <a:solidFill>
                        <a:srgbClr val="C00ECD"/>
                      </a:solidFill>
                      <a:prstDash val="solid"/>
                      <a:round/>
                      <a:headEnd type="none" w="med" len="med"/>
                      <a:tailEnd type="none" w="med" len="med"/>
                    </a:lnT>
                    <a:lnB w="9525" cap="flat" cmpd="sng" algn="ctr">
                      <a:solidFill>
                        <a:srgbClr val="C00ECD"/>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121920" marR="121920" marT="60960" marB="60960" anchor="ctr">
                    <a:lnL w="9525" cap="flat" cmpd="sng" algn="ctr">
                      <a:solidFill>
                        <a:srgbClr val="3023CD"/>
                      </a:solidFill>
                      <a:prstDash val="solid"/>
                      <a:round/>
                      <a:headEnd type="none" w="med" len="med"/>
                      <a:tailEnd type="none" w="med" len="med"/>
                    </a:lnL>
                    <a:lnR w="9525" cap="flat" cmpd="sng" algn="ctr">
                      <a:solidFill>
                        <a:srgbClr val="3023CD"/>
                      </a:solidFill>
                      <a:prstDash val="solid"/>
                      <a:round/>
                      <a:headEnd type="none" w="med" len="med"/>
                      <a:tailEnd type="none" w="med" len="med"/>
                    </a:lnR>
                    <a:lnT w="12700" cap="flat" cmpd="sng" algn="ctr">
                      <a:solidFill>
                        <a:srgbClr val="3023CD"/>
                      </a:solidFill>
                      <a:prstDash val="solid"/>
                      <a:round/>
                      <a:headEnd type="none" w="med" len="med"/>
                      <a:tailEnd type="none" w="med" len="med"/>
                    </a:lnT>
                    <a:lnB w="9525" cap="flat" cmpd="sng" algn="ctr">
                      <a:solidFill>
                        <a:srgbClr val="3023CD"/>
                      </a:solidFill>
                      <a:prstDash val="solid"/>
                      <a:round/>
                      <a:headEnd type="none" w="med" len="med"/>
                      <a:tailEnd type="none" w="med" len="med"/>
                    </a:lnB>
                    <a:solidFill>
                      <a:srgbClr val="FFFFFF"/>
                    </a:solidFill>
                  </a:tcPr>
                </a:tc>
                <a:extLst>
                  <a:ext uri="{0D108BD9-81ED-4DB2-BD59-A6C34878D82A}">
                    <a16:rowId xmlns:a16="http://schemas.microsoft.com/office/drawing/2014/main" xmlns="" val="2846902051"/>
                  </a:ext>
                </a:extLst>
              </a:tr>
            </a:tbl>
          </a:graphicData>
        </a:graphic>
      </p:graphicFrame>
    </p:spTree>
    <p:extLst>
      <p:ext uri="{BB962C8B-B14F-4D97-AF65-F5344CB8AC3E}">
        <p14:creationId xmlns:p14="http://schemas.microsoft.com/office/powerpoint/2010/main" xmlns="" val="225560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708438"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280532164"/>
              </p:ext>
            </p:extLst>
          </p:nvPr>
        </p:nvGraphicFramePr>
        <p:xfrm>
          <a:off x="1138545"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765638" y="2181329"/>
            <a:ext cx="3227988" cy="2226315"/>
          </a:xfrm>
          <a:prstGeom prst="rect">
            <a:avLst/>
          </a:prstGeom>
        </p:spPr>
        <p:txBody>
          <a:bodyPr wrap="square">
            <a:spAutoFit/>
          </a:bodyPr>
          <a:lstStyle/>
          <a:p>
            <a:pPr algn="just"/>
            <a:r>
              <a:rPr lang="fr-FR" sz="2400" dirty="0">
                <a:solidFill>
                  <a:srgbClr val="0D0D0D"/>
                </a:solidFill>
                <a:latin typeface="Times New Roman" panose="02020603050405020304" pitchFamily="18" charset="0"/>
                <a:cs typeface="Times New Roman" panose="02020603050405020304" pitchFamily="18" charset="0"/>
              </a:rPr>
              <a:t>4. Affichez les ventes de la catégorie Électronique en détaillant par trimestres. </a:t>
            </a:r>
          </a:p>
          <a:p>
            <a:pPr algn="just"/>
            <a:r>
              <a:rPr lang="fr-FR" sz="2400" b="1" dirty="0">
                <a:solidFill>
                  <a:srgbClr val="FF0000"/>
                </a:solidFill>
                <a:latin typeface="Times New Roman" panose="02020603050405020304" pitchFamily="18" charset="0"/>
                <a:cs typeface="Times New Roman" panose="02020603050405020304" pitchFamily="18" charset="0"/>
              </a:rPr>
              <a:t>DRILL DOWN</a:t>
            </a:r>
          </a:p>
          <a:p>
            <a:pPr algn="just"/>
            <a:endParaRPr lang="fr-FR" sz="1867" dirty="0">
              <a:solidFill>
                <a:srgbClr val="0D0D0D"/>
              </a:solidFill>
              <a:latin typeface="Times New Roman" panose="02020603050405020304" pitchFamily="18" charset="0"/>
              <a:cs typeface="Times New Roman" panose="02020603050405020304" pitchFamily="18" charset="0"/>
            </a:endParaRPr>
          </a:p>
        </p:txBody>
      </p:sp>
      <p:graphicFrame>
        <p:nvGraphicFramePr>
          <p:cNvPr id="6" name="Tableau 5">
            <a:extLst>
              <a:ext uri="{FF2B5EF4-FFF2-40B4-BE49-F238E27FC236}">
                <a16:creationId xmlns:a16="http://schemas.microsoft.com/office/drawing/2014/main" xmlns="" id="{3FF9EA05-6546-48DC-9521-F3B28214D6FC}"/>
              </a:ext>
            </a:extLst>
          </p:cNvPr>
          <p:cNvGraphicFramePr>
            <a:graphicFrameLocks noGrp="1"/>
          </p:cNvGraphicFramePr>
          <p:nvPr/>
        </p:nvGraphicFramePr>
        <p:xfrm>
          <a:off x="1574800" y="4628395"/>
          <a:ext cx="9042400" cy="2057400"/>
        </p:xfrm>
        <a:graphic>
          <a:graphicData uri="http://schemas.openxmlformats.org/drawingml/2006/table">
            <a:tbl>
              <a:tblPr/>
              <a:tblGrid>
                <a:gridCol w="2260600">
                  <a:extLst>
                    <a:ext uri="{9D8B030D-6E8A-4147-A177-3AD203B41FA5}">
                      <a16:colId xmlns:a16="http://schemas.microsoft.com/office/drawing/2014/main" xmlns="" val="3101293660"/>
                    </a:ext>
                  </a:extLst>
                </a:gridCol>
                <a:gridCol w="2260600">
                  <a:extLst>
                    <a:ext uri="{9D8B030D-6E8A-4147-A177-3AD203B41FA5}">
                      <a16:colId xmlns:a16="http://schemas.microsoft.com/office/drawing/2014/main" xmlns="" val="2660597886"/>
                    </a:ext>
                  </a:extLst>
                </a:gridCol>
                <a:gridCol w="2260600">
                  <a:extLst>
                    <a:ext uri="{9D8B030D-6E8A-4147-A177-3AD203B41FA5}">
                      <a16:colId xmlns:a16="http://schemas.microsoft.com/office/drawing/2014/main" xmlns="" val="1136785635"/>
                    </a:ext>
                  </a:extLst>
                </a:gridCol>
                <a:gridCol w="2260600">
                  <a:extLst>
                    <a:ext uri="{9D8B030D-6E8A-4147-A177-3AD203B41FA5}">
                      <a16:colId xmlns:a16="http://schemas.microsoft.com/office/drawing/2014/main" xmlns="" val="1270062308"/>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702AAA"/>
                      </a:solidFill>
                      <a:prstDash val="solid"/>
                      <a:round/>
                      <a:headEnd type="none" w="med" len="med"/>
                      <a:tailEnd type="none" w="med" len="med"/>
                    </a:lnL>
                    <a:lnR w="9525" cap="flat" cmpd="sng" algn="ctr">
                      <a:solidFill>
                        <a:srgbClr val="C037AA"/>
                      </a:solidFill>
                      <a:prstDash val="solid"/>
                      <a:round/>
                      <a:headEnd type="none" w="med" len="med"/>
                      <a:tailEnd type="none" w="med" len="med"/>
                    </a:lnR>
                    <a:lnT w="9525" cap="flat" cmpd="sng" algn="ctr">
                      <a:solidFill>
                        <a:srgbClr val="702AAA"/>
                      </a:solidFill>
                      <a:prstDash val="solid"/>
                      <a:round/>
                      <a:headEnd type="none" w="med" len="med"/>
                      <a:tailEnd type="none" w="med" len="med"/>
                    </a:lnT>
                    <a:lnB w="12700" cap="flat" cmpd="sng" algn="ctr">
                      <a:solidFill>
                        <a:srgbClr val="9049AA"/>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C037AA"/>
                      </a:solidFill>
                      <a:prstDash val="solid"/>
                      <a:round/>
                      <a:headEnd type="none" w="med" len="med"/>
                      <a:tailEnd type="none" w="med" len="med"/>
                    </a:lnL>
                    <a:lnR w="9525" cap="flat" cmpd="sng" algn="ctr">
                      <a:solidFill>
                        <a:srgbClr val="D04BAA"/>
                      </a:solidFill>
                      <a:prstDash val="solid"/>
                      <a:round/>
                      <a:headEnd type="none" w="med" len="med"/>
                      <a:tailEnd type="none" w="med" len="med"/>
                    </a:lnR>
                    <a:lnT w="9525" cap="flat" cmpd="sng" algn="ctr">
                      <a:solidFill>
                        <a:srgbClr val="C037AA"/>
                      </a:solidFill>
                      <a:prstDash val="solid"/>
                      <a:round/>
                      <a:headEnd type="none" w="med" len="med"/>
                      <a:tailEnd type="none" w="med" len="med"/>
                    </a:lnT>
                    <a:lnB w="12700" cap="flat" cmpd="sng" algn="ctr">
                      <a:solidFill>
                        <a:srgbClr val="6088AA"/>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D04BAA"/>
                      </a:solidFill>
                      <a:prstDash val="solid"/>
                      <a:round/>
                      <a:headEnd type="none" w="med" len="med"/>
                      <a:tailEnd type="none" w="med" len="med"/>
                    </a:lnL>
                    <a:lnR w="9525" cap="flat" cmpd="sng" algn="ctr">
                      <a:solidFill>
                        <a:srgbClr val="A069AA"/>
                      </a:solidFill>
                      <a:prstDash val="solid"/>
                      <a:round/>
                      <a:headEnd type="none" w="med" len="med"/>
                      <a:tailEnd type="none" w="med" len="med"/>
                    </a:lnR>
                    <a:lnT w="9525" cap="flat" cmpd="sng" algn="ctr">
                      <a:solidFill>
                        <a:srgbClr val="D04BAA"/>
                      </a:solidFill>
                      <a:prstDash val="solid"/>
                      <a:round/>
                      <a:headEnd type="none" w="med" len="med"/>
                      <a:tailEnd type="none" w="med" len="med"/>
                    </a:lnT>
                    <a:lnB w="12700" cap="flat" cmpd="sng" algn="ctr">
                      <a:solidFill>
                        <a:srgbClr val="0097AA"/>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A069AA"/>
                      </a:solidFill>
                      <a:prstDash val="solid"/>
                      <a:round/>
                      <a:headEnd type="none" w="med" len="med"/>
                      <a:tailEnd type="none" w="med" len="med"/>
                    </a:lnL>
                    <a:lnR w="9525" cap="flat" cmpd="sng" algn="ctr">
                      <a:solidFill>
                        <a:srgbClr val="A069AA"/>
                      </a:solidFill>
                      <a:prstDash val="solid"/>
                      <a:round/>
                      <a:headEnd type="none" w="med" len="med"/>
                      <a:tailEnd type="none" w="med" len="med"/>
                    </a:lnR>
                    <a:lnT w="9525" cap="flat" cmpd="sng" algn="ctr">
                      <a:solidFill>
                        <a:srgbClr val="A069AA"/>
                      </a:solidFill>
                      <a:prstDash val="solid"/>
                      <a:round/>
                      <a:headEnd type="none" w="med" len="med"/>
                      <a:tailEnd type="none" w="med" len="med"/>
                    </a:lnT>
                    <a:lnB w="12700" cap="flat" cmpd="sng" algn="ctr">
                      <a:solidFill>
                        <a:srgbClr val="A0C9AA"/>
                      </a:solidFill>
                      <a:prstDash val="solid"/>
                      <a:round/>
                      <a:headEnd type="none" w="med" len="med"/>
                      <a:tailEnd type="none" w="med" len="med"/>
                    </a:lnB>
                    <a:solidFill>
                      <a:srgbClr val="FFFFFF"/>
                    </a:solidFill>
                  </a:tcPr>
                </a:tc>
                <a:extLst>
                  <a:ext uri="{0D108BD9-81ED-4DB2-BD59-A6C34878D82A}">
                    <a16:rowId xmlns:a16="http://schemas.microsoft.com/office/drawing/2014/main" xmlns="" val="3940935663"/>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9049AA"/>
                      </a:solidFill>
                      <a:prstDash val="solid"/>
                      <a:round/>
                      <a:headEnd type="none" w="med" len="med"/>
                      <a:tailEnd type="none" w="med" len="med"/>
                    </a:lnL>
                    <a:lnR w="9525" cap="flat" cmpd="sng" algn="ctr">
                      <a:solidFill>
                        <a:srgbClr val="6088AA"/>
                      </a:solidFill>
                      <a:prstDash val="solid"/>
                      <a:round/>
                      <a:headEnd type="none" w="med" len="med"/>
                      <a:tailEnd type="none" w="med" len="med"/>
                    </a:lnR>
                    <a:lnT w="12700" cap="flat" cmpd="sng" algn="ctr">
                      <a:solidFill>
                        <a:srgbClr val="9049AA"/>
                      </a:solidFill>
                      <a:prstDash val="solid"/>
                      <a:round/>
                      <a:headEnd type="none" w="med" len="med"/>
                      <a:tailEnd type="none" w="med" len="med"/>
                    </a:lnT>
                    <a:lnB w="12700" cap="flat" cmpd="sng" algn="ctr">
                      <a:solidFill>
                        <a:srgbClr val="9049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6088AA"/>
                      </a:solidFill>
                      <a:prstDash val="solid"/>
                      <a:round/>
                      <a:headEnd type="none" w="med" len="med"/>
                      <a:tailEnd type="none" w="med" len="med"/>
                    </a:lnL>
                    <a:lnR w="9525" cap="flat" cmpd="sng" algn="ctr">
                      <a:solidFill>
                        <a:srgbClr val="0097AA"/>
                      </a:solidFill>
                      <a:prstDash val="solid"/>
                      <a:round/>
                      <a:headEnd type="none" w="med" len="med"/>
                      <a:tailEnd type="none" w="med" len="med"/>
                    </a:lnR>
                    <a:lnT w="12700" cap="flat" cmpd="sng" algn="ctr">
                      <a:solidFill>
                        <a:srgbClr val="6088AA"/>
                      </a:solidFill>
                      <a:prstDash val="solid"/>
                      <a:round/>
                      <a:headEnd type="none" w="med" len="med"/>
                      <a:tailEnd type="none" w="med" len="med"/>
                    </a:lnT>
                    <a:lnB w="12700" cap="flat" cmpd="sng" algn="ctr">
                      <a:solidFill>
                        <a:srgbClr val="C09A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0097AA"/>
                      </a:solidFill>
                      <a:prstDash val="solid"/>
                      <a:round/>
                      <a:headEnd type="none" w="med" len="med"/>
                      <a:tailEnd type="none" w="med" len="med"/>
                    </a:lnL>
                    <a:lnR w="9525" cap="flat" cmpd="sng" algn="ctr">
                      <a:solidFill>
                        <a:srgbClr val="A0C9AA"/>
                      </a:solidFill>
                      <a:prstDash val="solid"/>
                      <a:round/>
                      <a:headEnd type="none" w="med" len="med"/>
                      <a:tailEnd type="none" w="med" len="med"/>
                    </a:lnR>
                    <a:lnT w="12700" cap="flat" cmpd="sng" algn="ctr">
                      <a:solidFill>
                        <a:srgbClr val="0097AA"/>
                      </a:solidFill>
                      <a:prstDash val="solid"/>
                      <a:round/>
                      <a:headEnd type="none" w="med" len="med"/>
                      <a:tailEnd type="none" w="med" len="med"/>
                    </a:lnT>
                    <a:lnB w="12700" cap="flat" cmpd="sng" algn="ctr">
                      <a:solidFill>
                        <a:srgbClr val="B0CB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121920" marR="121920" marT="60960" marB="60960" anchor="ctr">
                    <a:lnL w="9525" cap="flat" cmpd="sng" algn="ctr">
                      <a:solidFill>
                        <a:srgbClr val="A0C9AA"/>
                      </a:solidFill>
                      <a:prstDash val="solid"/>
                      <a:round/>
                      <a:headEnd type="none" w="med" len="med"/>
                      <a:tailEnd type="none" w="med" len="med"/>
                    </a:lnL>
                    <a:lnR w="9525" cap="flat" cmpd="sng" algn="ctr">
                      <a:solidFill>
                        <a:srgbClr val="A0C9AA"/>
                      </a:solidFill>
                      <a:prstDash val="solid"/>
                      <a:round/>
                      <a:headEnd type="none" w="med" len="med"/>
                      <a:tailEnd type="none" w="med" len="med"/>
                    </a:lnR>
                    <a:lnT w="12700" cap="flat" cmpd="sng" algn="ctr">
                      <a:solidFill>
                        <a:srgbClr val="A0C9AA"/>
                      </a:solidFill>
                      <a:prstDash val="solid"/>
                      <a:round/>
                      <a:headEnd type="none" w="med" len="med"/>
                      <a:tailEnd type="none" w="med" len="med"/>
                    </a:lnT>
                    <a:lnB w="12700" cap="flat" cmpd="sng" algn="ctr">
                      <a:solidFill>
                        <a:srgbClr val="D0DBAA"/>
                      </a:solidFill>
                      <a:prstDash val="solid"/>
                      <a:round/>
                      <a:headEnd type="none" w="med" len="med"/>
                      <a:tailEnd type="none" w="med" len="med"/>
                    </a:lnB>
                    <a:solidFill>
                      <a:srgbClr val="FFFFFF"/>
                    </a:solidFill>
                  </a:tcPr>
                </a:tc>
                <a:extLst>
                  <a:ext uri="{0D108BD9-81ED-4DB2-BD59-A6C34878D82A}">
                    <a16:rowId xmlns:a16="http://schemas.microsoft.com/office/drawing/2014/main" xmlns="" val="149836648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9049AA"/>
                      </a:solidFill>
                      <a:prstDash val="solid"/>
                      <a:round/>
                      <a:headEnd type="none" w="med" len="med"/>
                      <a:tailEnd type="none" w="med" len="med"/>
                    </a:lnL>
                    <a:lnR w="9525" cap="flat" cmpd="sng" algn="ctr">
                      <a:solidFill>
                        <a:srgbClr val="C09AAA"/>
                      </a:solidFill>
                      <a:prstDash val="solid"/>
                      <a:round/>
                      <a:headEnd type="none" w="med" len="med"/>
                      <a:tailEnd type="none" w="med" len="med"/>
                    </a:lnR>
                    <a:lnT w="12700" cap="flat" cmpd="sng" algn="ctr">
                      <a:solidFill>
                        <a:srgbClr val="9049AA"/>
                      </a:solidFill>
                      <a:prstDash val="solid"/>
                      <a:round/>
                      <a:headEnd type="none" w="med" len="med"/>
                      <a:tailEnd type="none" w="med" len="med"/>
                    </a:lnT>
                    <a:lnB w="12700" cap="flat" cmpd="sng" algn="ctr">
                      <a:solidFill>
                        <a:srgbClr val="8071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C09AAA"/>
                      </a:solidFill>
                      <a:prstDash val="solid"/>
                      <a:round/>
                      <a:headEnd type="none" w="med" len="med"/>
                      <a:tailEnd type="none" w="med" len="med"/>
                    </a:lnL>
                    <a:lnR w="9525" cap="flat" cmpd="sng" algn="ctr">
                      <a:solidFill>
                        <a:srgbClr val="B0CBAA"/>
                      </a:solidFill>
                      <a:prstDash val="solid"/>
                      <a:round/>
                      <a:headEnd type="none" w="med" len="med"/>
                      <a:tailEnd type="none" w="med" len="med"/>
                    </a:lnR>
                    <a:lnT w="12700" cap="flat" cmpd="sng" algn="ctr">
                      <a:solidFill>
                        <a:srgbClr val="C09AAA"/>
                      </a:solidFill>
                      <a:prstDash val="solid"/>
                      <a:round/>
                      <a:headEnd type="none" w="med" len="med"/>
                      <a:tailEnd type="none" w="med" len="med"/>
                    </a:lnT>
                    <a:lnB w="12700" cap="flat" cmpd="sng" algn="ctr">
                      <a:solidFill>
                        <a:srgbClr val="50D7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B0CBAA"/>
                      </a:solidFill>
                      <a:prstDash val="solid"/>
                      <a:round/>
                      <a:headEnd type="none" w="med" len="med"/>
                      <a:tailEnd type="none" w="med" len="med"/>
                    </a:lnL>
                    <a:lnR w="9525" cap="flat" cmpd="sng" algn="ctr">
                      <a:solidFill>
                        <a:srgbClr val="D0DBAA"/>
                      </a:solidFill>
                      <a:prstDash val="solid"/>
                      <a:round/>
                      <a:headEnd type="none" w="med" len="med"/>
                      <a:tailEnd type="none" w="med" len="med"/>
                    </a:lnR>
                    <a:lnT w="12700" cap="flat" cmpd="sng" algn="ctr">
                      <a:solidFill>
                        <a:srgbClr val="B0CBAA"/>
                      </a:solidFill>
                      <a:prstDash val="solid"/>
                      <a:round/>
                      <a:headEnd type="none" w="med" len="med"/>
                      <a:tailEnd type="none" w="med" len="med"/>
                    </a:lnT>
                    <a:lnB w="12700" cap="flat" cmpd="sng" algn="ctr">
                      <a:solidFill>
                        <a:srgbClr val="F0E8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121920" marR="121920" marT="60960" marB="60960" anchor="ctr">
                    <a:lnL w="9525" cap="flat" cmpd="sng" algn="ctr">
                      <a:solidFill>
                        <a:srgbClr val="D0DBAA"/>
                      </a:solidFill>
                      <a:prstDash val="solid"/>
                      <a:round/>
                      <a:headEnd type="none" w="med" len="med"/>
                      <a:tailEnd type="none" w="med" len="med"/>
                    </a:lnL>
                    <a:lnR w="9525" cap="flat" cmpd="sng" algn="ctr">
                      <a:solidFill>
                        <a:srgbClr val="D0DBAA"/>
                      </a:solidFill>
                      <a:prstDash val="solid"/>
                      <a:round/>
                      <a:headEnd type="none" w="med" len="med"/>
                      <a:tailEnd type="none" w="med" len="med"/>
                    </a:lnR>
                    <a:lnT w="12700" cap="flat" cmpd="sng" algn="ctr">
                      <a:solidFill>
                        <a:srgbClr val="D0DBAA"/>
                      </a:solidFill>
                      <a:prstDash val="solid"/>
                      <a:round/>
                      <a:headEnd type="none" w="med" len="med"/>
                      <a:tailEnd type="none" w="med" len="med"/>
                    </a:lnT>
                    <a:lnB w="12700" cap="flat" cmpd="sng" algn="ctr">
                      <a:solidFill>
                        <a:srgbClr val="40DEAA"/>
                      </a:solidFill>
                      <a:prstDash val="solid"/>
                      <a:round/>
                      <a:headEnd type="none" w="med" len="med"/>
                      <a:tailEnd type="none" w="med" len="med"/>
                    </a:lnB>
                    <a:solidFill>
                      <a:srgbClr val="FFFFFF"/>
                    </a:solidFill>
                  </a:tcPr>
                </a:tc>
                <a:extLst>
                  <a:ext uri="{0D108BD9-81ED-4DB2-BD59-A6C34878D82A}">
                    <a16:rowId xmlns:a16="http://schemas.microsoft.com/office/drawing/2014/main" xmlns="" val="3837331345"/>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8071AA"/>
                      </a:solidFill>
                      <a:prstDash val="solid"/>
                      <a:round/>
                      <a:headEnd type="none" w="med" len="med"/>
                      <a:tailEnd type="none" w="med" len="med"/>
                    </a:lnL>
                    <a:lnR w="9525" cap="flat" cmpd="sng" algn="ctr">
                      <a:solidFill>
                        <a:srgbClr val="50D7AA"/>
                      </a:solidFill>
                      <a:prstDash val="solid"/>
                      <a:round/>
                      <a:headEnd type="none" w="med" len="med"/>
                      <a:tailEnd type="none" w="med" len="med"/>
                    </a:lnR>
                    <a:lnT w="12700" cap="flat" cmpd="sng" algn="ctr">
                      <a:solidFill>
                        <a:srgbClr val="8071AA"/>
                      </a:solidFill>
                      <a:prstDash val="solid"/>
                      <a:round/>
                      <a:headEnd type="none" w="med" len="med"/>
                      <a:tailEnd type="none" w="med" len="med"/>
                    </a:lnT>
                    <a:lnB w="12700" cap="flat" cmpd="sng" algn="ctr">
                      <a:solidFill>
                        <a:srgbClr val="A07E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50D7AA"/>
                      </a:solidFill>
                      <a:prstDash val="solid"/>
                      <a:round/>
                      <a:headEnd type="none" w="med" len="med"/>
                      <a:tailEnd type="none" w="med" len="med"/>
                    </a:lnL>
                    <a:lnR w="9525" cap="flat" cmpd="sng" algn="ctr">
                      <a:solidFill>
                        <a:srgbClr val="F0E8AA"/>
                      </a:solidFill>
                      <a:prstDash val="solid"/>
                      <a:round/>
                      <a:headEnd type="none" w="med" len="med"/>
                      <a:tailEnd type="none" w="med" len="med"/>
                    </a:lnR>
                    <a:lnT w="12700" cap="flat" cmpd="sng" algn="ctr">
                      <a:solidFill>
                        <a:srgbClr val="50D7AA"/>
                      </a:solidFill>
                      <a:prstDash val="solid"/>
                      <a:round/>
                      <a:headEnd type="none" w="med" len="med"/>
                      <a:tailEnd type="none" w="med" len="med"/>
                    </a:lnT>
                    <a:lnB w="12700" cap="flat" cmpd="sng" algn="ctr">
                      <a:solidFill>
                        <a:srgbClr val="50DD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F0E8AA"/>
                      </a:solidFill>
                      <a:prstDash val="solid"/>
                      <a:round/>
                      <a:headEnd type="none" w="med" len="med"/>
                      <a:tailEnd type="none" w="med" len="med"/>
                    </a:lnL>
                    <a:lnR w="9525" cap="flat" cmpd="sng" algn="ctr">
                      <a:solidFill>
                        <a:srgbClr val="40DEAA"/>
                      </a:solidFill>
                      <a:prstDash val="solid"/>
                      <a:round/>
                      <a:headEnd type="none" w="med" len="med"/>
                      <a:tailEnd type="none" w="med" len="med"/>
                    </a:lnR>
                    <a:lnT w="12700" cap="flat" cmpd="sng" algn="ctr">
                      <a:solidFill>
                        <a:srgbClr val="F0E8AA"/>
                      </a:solidFill>
                      <a:prstDash val="solid"/>
                      <a:round/>
                      <a:headEnd type="none" w="med" len="med"/>
                      <a:tailEnd type="none" w="med" len="med"/>
                    </a:lnT>
                    <a:lnB w="12700" cap="flat" cmpd="sng" algn="ctr">
                      <a:solidFill>
                        <a:srgbClr val="20E6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1200</a:t>
                      </a:r>
                    </a:p>
                  </a:txBody>
                  <a:tcPr marL="121920" marR="121920" marT="60960" marB="60960" anchor="ctr">
                    <a:lnL w="9525" cap="flat" cmpd="sng" algn="ctr">
                      <a:solidFill>
                        <a:srgbClr val="40DEAA"/>
                      </a:solidFill>
                      <a:prstDash val="solid"/>
                      <a:round/>
                      <a:headEnd type="none" w="med" len="med"/>
                      <a:tailEnd type="none" w="med" len="med"/>
                    </a:lnL>
                    <a:lnR w="9525" cap="flat" cmpd="sng" algn="ctr">
                      <a:solidFill>
                        <a:srgbClr val="40DEAA"/>
                      </a:solidFill>
                      <a:prstDash val="solid"/>
                      <a:round/>
                      <a:headEnd type="none" w="med" len="med"/>
                      <a:tailEnd type="none" w="med" len="med"/>
                    </a:lnR>
                    <a:lnT w="12700" cap="flat" cmpd="sng" algn="ctr">
                      <a:solidFill>
                        <a:srgbClr val="40DEAA"/>
                      </a:solidFill>
                      <a:prstDash val="solid"/>
                      <a:round/>
                      <a:headEnd type="none" w="med" len="med"/>
                      <a:tailEnd type="none" w="med" len="med"/>
                    </a:lnT>
                    <a:lnB w="12700" cap="flat" cmpd="sng" algn="ctr">
                      <a:solidFill>
                        <a:srgbClr val="30EBAA"/>
                      </a:solidFill>
                      <a:prstDash val="solid"/>
                      <a:round/>
                      <a:headEnd type="none" w="med" len="med"/>
                      <a:tailEnd type="none" w="med" len="med"/>
                    </a:lnB>
                    <a:solidFill>
                      <a:srgbClr val="FFFFFF"/>
                    </a:solidFill>
                  </a:tcPr>
                </a:tc>
                <a:extLst>
                  <a:ext uri="{0D108BD9-81ED-4DB2-BD59-A6C34878D82A}">
                    <a16:rowId xmlns:a16="http://schemas.microsoft.com/office/drawing/2014/main" xmlns="" val="2553925640"/>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A07EAA"/>
                      </a:solidFill>
                      <a:prstDash val="solid"/>
                      <a:round/>
                      <a:headEnd type="none" w="med" len="med"/>
                      <a:tailEnd type="none" w="med" len="med"/>
                    </a:lnL>
                    <a:lnR w="9525" cap="flat" cmpd="sng" algn="ctr">
                      <a:solidFill>
                        <a:srgbClr val="50DDAA"/>
                      </a:solidFill>
                      <a:prstDash val="solid"/>
                      <a:round/>
                      <a:headEnd type="none" w="med" len="med"/>
                      <a:tailEnd type="none" w="med" len="med"/>
                    </a:lnR>
                    <a:lnT w="12700" cap="flat" cmpd="sng" algn="ctr">
                      <a:solidFill>
                        <a:srgbClr val="A07EAA"/>
                      </a:solidFill>
                      <a:prstDash val="solid"/>
                      <a:round/>
                      <a:headEnd type="none" w="med" len="med"/>
                      <a:tailEnd type="none" w="med" len="med"/>
                    </a:lnT>
                    <a:lnB w="9525" cap="flat" cmpd="sng" algn="ctr">
                      <a:solidFill>
                        <a:srgbClr val="A07E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50DDAA"/>
                      </a:solidFill>
                      <a:prstDash val="solid"/>
                      <a:round/>
                      <a:headEnd type="none" w="med" len="med"/>
                      <a:tailEnd type="none" w="med" len="med"/>
                    </a:lnL>
                    <a:lnR w="9525" cap="flat" cmpd="sng" algn="ctr">
                      <a:solidFill>
                        <a:srgbClr val="20E6AA"/>
                      </a:solidFill>
                      <a:prstDash val="solid"/>
                      <a:round/>
                      <a:headEnd type="none" w="med" len="med"/>
                      <a:tailEnd type="none" w="med" len="med"/>
                    </a:lnR>
                    <a:lnT w="12700" cap="flat" cmpd="sng" algn="ctr">
                      <a:solidFill>
                        <a:srgbClr val="50DDAA"/>
                      </a:solidFill>
                      <a:prstDash val="solid"/>
                      <a:round/>
                      <a:headEnd type="none" w="med" len="med"/>
                      <a:tailEnd type="none" w="med" len="med"/>
                    </a:lnT>
                    <a:lnB w="9525" cap="flat" cmpd="sng" algn="ctr">
                      <a:solidFill>
                        <a:srgbClr val="50DDA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20E6AA"/>
                      </a:solidFill>
                      <a:prstDash val="solid"/>
                      <a:round/>
                      <a:headEnd type="none" w="med" len="med"/>
                      <a:tailEnd type="none" w="med" len="med"/>
                    </a:lnL>
                    <a:lnR w="9525" cap="flat" cmpd="sng" algn="ctr">
                      <a:solidFill>
                        <a:srgbClr val="30EBAA"/>
                      </a:solidFill>
                      <a:prstDash val="solid"/>
                      <a:round/>
                      <a:headEnd type="none" w="med" len="med"/>
                      <a:tailEnd type="none" w="med" len="med"/>
                    </a:lnR>
                    <a:lnT w="12700" cap="flat" cmpd="sng" algn="ctr">
                      <a:solidFill>
                        <a:srgbClr val="20E6AA"/>
                      </a:solidFill>
                      <a:prstDash val="solid"/>
                      <a:round/>
                      <a:headEnd type="none" w="med" len="med"/>
                      <a:tailEnd type="none" w="med" len="med"/>
                    </a:lnT>
                    <a:lnB w="9525" cap="flat" cmpd="sng" algn="ctr">
                      <a:solidFill>
                        <a:srgbClr val="20E6AA"/>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121920" marR="121920" marT="60960" marB="60960" anchor="ctr">
                    <a:lnL w="9525" cap="flat" cmpd="sng" algn="ctr">
                      <a:solidFill>
                        <a:srgbClr val="30EBAA"/>
                      </a:solidFill>
                      <a:prstDash val="solid"/>
                      <a:round/>
                      <a:headEnd type="none" w="med" len="med"/>
                      <a:tailEnd type="none" w="med" len="med"/>
                    </a:lnL>
                    <a:lnR w="9525" cap="flat" cmpd="sng" algn="ctr">
                      <a:solidFill>
                        <a:srgbClr val="30EBAA"/>
                      </a:solidFill>
                      <a:prstDash val="solid"/>
                      <a:round/>
                      <a:headEnd type="none" w="med" len="med"/>
                      <a:tailEnd type="none" w="med" len="med"/>
                    </a:lnR>
                    <a:lnT w="12700" cap="flat" cmpd="sng" algn="ctr">
                      <a:solidFill>
                        <a:srgbClr val="30EBAA"/>
                      </a:solidFill>
                      <a:prstDash val="solid"/>
                      <a:round/>
                      <a:headEnd type="none" w="med" len="med"/>
                      <a:tailEnd type="none" w="med" len="med"/>
                    </a:lnT>
                    <a:lnB w="9525" cap="flat" cmpd="sng" algn="ctr">
                      <a:solidFill>
                        <a:srgbClr val="30EBAA"/>
                      </a:solidFill>
                      <a:prstDash val="solid"/>
                      <a:round/>
                      <a:headEnd type="none" w="med" len="med"/>
                      <a:tailEnd type="none" w="med" len="med"/>
                    </a:lnB>
                    <a:solidFill>
                      <a:srgbClr val="FFFFFF"/>
                    </a:solidFill>
                  </a:tcPr>
                </a:tc>
                <a:extLst>
                  <a:ext uri="{0D108BD9-81ED-4DB2-BD59-A6C34878D82A}">
                    <a16:rowId xmlns:a16="http://schemas.microsoft.com/office/drawing/2014/main" xmlns="" val="2816452409"/>
                  </a:ext>
                </a:extLst>
              </a:tr>
            </a:tbl>
          </a:graphicData>
        </a:graphic>
      </p:graphicFrame>
    </p:spTree>
    <p:extLst>
      <p:ext uri="{BB962C8B-B14F-4D97-AF65-F5344CB8AC3E}">
        <p14:creationId xmlns:p14="http://schemas.microsoft.com/office/powerpoint/2010/main" xmlns="" val="287019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759953"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1375142"/>
              </p:ext>
            </p:extLst>
          </p:nvPr>
        </p:nvGraphicFramePr>
        <p:xfrm>
          <a:off x="1190060"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731876" y="2503975"/>
            <a:ext cx="3261750" cy="1159228"/>
          </a:xfrm>
          <a:prstGeom prst="rect">
            <a:avLst/>
          </a:prstGeom>
        </p:spPr>
        <p:txBody>
          <a:bodyPr wrap="square">
            <a:spAutoFit/>
          </a:bodyPr>
          <a:lstStyle/>
          <a:p>
            <a:pPr algn="just"/>
            <a:r>
              <a:rPr lang="fr-FR" sz="2667" dirty="0">
                <a:solidFill>
                  <a:srgbClr val="0D0D0D"/>
                </a:solidFill>
                <a:latin typeface="Times New Roman" panose="02020603050405020304" pitchFamily="18" charset="0"/>
                <a:cs typeface="Times New Roman" panose="02020603050405020304" pitchFamily="18" charset="0"/>
              </a:rPr>
              <a:t>5. </a:t>
            </a:r>
            <a:r>
              <a:rPr lang="fr-FR" sz="2133" dirty="0">
                <a:solidFill>
                  <a:srgbClr val="0D0D0D"/>
                </a:solidFill>
                <a:latin typeface="Times New Roman" panose="02020603050405020304" pitchFamily="18" charset="0"/>
                <a:cs typeface="Times New Roman" panose="02020603050405020304" pitchFamily="18" charset="0"/>
              </a:rPr>
              <a:t>Calculez les ventes totales par région. </a:t>
            </a:r>
            <a:r>
              <a:rPr lang="fr-FR" sz="2133" b="1" dirty="0">
                <a:solidFill>
                  <a:srgbClr val="FF0000"/>
                </a:solidFill>
                <a:latin typeface="Times New Roman" panose="02020603050405020304" pitchFamily="18" charset="0"/>
                <a:cs typeface="Times New Roman" panose="02020603050405020304" pitchFamily="18" charset="0"/>
              </a:rPr>
              <a:t>ROLL UP</a:t>
            </a:r>
          </a:p>
        </p:txBody>
      </p:sp>
      <p:graphicFrame>
        <p:nvGraphicFramePr>
          <p:cNvPr id="5" name="Tableau 4">
            <a:extLst>
              <a:ext uri="{FF2B5EF4-FFF2-40B4-BE49-F238E27FC236}">
                <a16:creationId xmlns:a16="http://schemas.microsoft.com/office/drawing/2014/main" xmlns="" id="{29B20137-7844-4C51-B755-A7147F30B05A}"/>
              </a:ext>
            </a:extLst>
          </p:cNvPr>
          <p:cNvGraphicFramePr>
            <a:graphicFrameLocks noGrp="1"/>
          </p:cNvGraphicFramePr>
          <p:nvPr/>
        </p:nvGraphicFramePr>
        <p:xfrm>
          <a:off x="1759099" y="4954652"/>
          <a:ext cx="9042400" cy="1234440"/>
        </p:xfrm>
        <a:graphic>
          <a:graphicData uri="http://schemas.openxmlformats.org/drawingml/2006/table">
            <a:tbl>
              <a:tblPr/>
              <a:tblGrid>
                <a:gridCol w="4521200">
                  <a:extLst>
                    <a:ext uri="{9D8B030D-6E8A-4147-A177-3AD203B41FA5}">
                      <a16:colId xmlns:a16="http://schemas.microsoft.com/office/drawing/2014/main" xmlns="" val="1638669386"/>
                    </a:ext>
                  </a:extLst>
                </a:gridCol>
                <a:gridCol w="4521200">
                  <a:extLst>
                    <a:ext uri="{9D8B030D-6E8A-4147-A177-3AD203B41FA5}">
                      <a16:colId xmlns:a16="http://schemas.microsoft.com/office/drawing/2014/main" xmlns="" val="1814239857"/>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D0D3B6"/>
                      </a:solidFill>
                      <a:prstDash val="solid"/>
                      <a:round/>
                      <a:headEnd type="none" w="med" len="med"/>
                      <a:tailEnd type="none" w="med" len="med"/>
                    </a:lnL>
                    <a:lnR w="9525" cap="flat" cmpd="sng" algn="ctr">
                      <a:solidFill>
                        <a:srgbClr val="10D0B6"/>
                      </a:solidFill>
                      <a:prstDash val="solid"/>
                      <a:round/>
                      <a:headEnd type="none" w="med" len="med"/>
                      <a:tailEnd type="none" w="med" len="med"/>
                    </a:lnR>
                    <a:lnT w="9525" cap="flat" cmpd="sng" algn="ctr">
                      <a:solidFill>
                        <a:srgbClr val="D0D3B6"/>
                      </a:solidFill>
                      <a:prstDash val="solid"/>
                      <a:round/>
                      <a:headEnd type="none" w="med" len="med"/>
                      <a:tailEnd type="none" w="med" len="med"/>
                    </a:lnT>
                    <a:lnB w="12700" cap="flat" cmpd="sng" algn="ctr">
                      <a:solidFill>
                        <a:srgbClr val="40CDB6"/>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 totales</a:t>
                      </a:r>
                    </a:p>
                  </a:txBody>
                  <a:tcPr marL="121920" marR="121920" marT="60960" marB="60960" anchor="b">
                    <a:lnL w="9525" cap="flat" cmpd="sng" algn="ctr">
                      <a:solidFill>
                        <a:srgbClr val="10D0B6"/>
                      </a:solidFill>
                      <a:prstDash val="solid"/>
                      <a:round/>
                      <a:headEnd type="none" w="med" len="med"/>
                      <a:tailEnd type="none" w="med" len="med"/>
                    </a:lnL>
                    <a:lnR w="9525" cap="flat" cmpd="sng" algn="ctr">
                      <a:solidFill>
                        <a:srgbClr val="10D0B6"/>
                      </a:solidFill>
                      <a:prstDash val="solid"/>
                      <a:round/>
                      <a:headEnd type="none" w="med" len="med"/>
                      <a:tailEnd type="none" w="med" len="med"/>
                    </a:lnR>
                    <a:lnT w="9525" cap="flat" cmpd="sng" algn="ctr">
                      <a:solidFill>
                        <a:srgbClr val="10D0B6"/>
                      </a:solidFill>
                      <a:prstDash val="solid"/>
                      <a:round/>
                      <a:headEnd type="none" w="med" len="med"/>
                      <a:tailEnd type="none" w="med" len="med"/>
                    </a:lnT>
                    <a:lnB w="12700" cap="flat" cmpd="sng" algn="ctr">
                      <a:solidFill>
                        <a:srgbClr val="40D9B6"/>
                      </a:solidFill>
                      <a:prstDash val="solid"/>
                      <a:round/>
                      <a:headEnd type="none" w="med" len="med"/>
                      <a:tailEnd type="none" w="med" len="med"/>
                    </a:lnB>
                    <a:solidFill>
                      <a:srgbClr val="FFFFFF"/>
                    </a:solidFill>
                  </a:tcPr>
                </a:tc>
                <a:extLst>
                  <a:ext uri="{0D108BD9-81ED-4DB2-BD59-A6C34878D82A}">
                    <a16:rowId xmlns:a16="http://schemas.microsoft.com/office/drawing/2014/main" xmlns="" val="4215608562"/>
                  </a:ext>
                </a:extLst>
              </a:tr>
              <a:tr h="406400">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40CDB6"/>
                      </a:solidFill>
                      <a:prstDash val="solid"/>
                      <a:round/>
                      <a:headEnd type="none" w="med" len="med"/>
                      <a:tailEnd type="none" w="med" len="med"/>
                    </a:lnL>
                    <a:lnR w="9525" cap="flat" cmpd="sng" algn="ctr">
                      <a:solidFill>
                        <a:srgbClr val="40D9B6"/>
                      </a:solidFill>
                      <a:prstDash val="solid"/>
                      <a:round/>
                      <a:headEnd type="none" w="med" len="med"/>
                      <a:tailEnd type="none" w="med" len="med"/>
                    </a:lnR>
                    <a:lnT w="12700" cap="flat" cmpd="sng" algn="ctr">
                      <a:solidFill>
                        <a:srgbClr val="40CDB6"/>
                      </a:solidFill>
                      <a:prstDash val="solid"/>
                      <a:round/>
                      <a:headEnd type="none" w="med" len="med"/>
                      <a:tailEnd type="none" w="med" len="med"/>
                    </a:lnT>
                    <a:lnB w="12700" cap="flat" cmpd="sng" algn="ctr">
                      <a:solidFill>
                        <a:srgbClr val="70DCB6"/>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3450</a:t>
                      </a:r>
                    </a:p>
                  </a:txBody>
                  <a:tcPr marL="121920" marR="121920" marT="60960" marB="60960" anchor="ctr">
                    <a:lnL w="9525" cap="flat" cmpd="sng" algn="ctr">
                      <a:solidFill>
                        <a:srgbClr val="40D9B6"/>
                      </a:solidFill>
                      <a:prstDash val="solid"/>
                      <a:round/>
                      <a:headEnd type="none" w="med" len="med"/>
                      <a:tailEnd type="none" w="med" len="med"/>
                    </a:lnL>
                    <a:lnR w="9525" cap="flat" cmpd="sng" algn="ctr">
                      <a:solidFill>
                        <a:srgbClr val="40D9B6"/>
                      </a:solidFill>
                      <a:prstDash val="solid"/>
                      <a:round/>
                      <a:headEnd type="none" w="med" len="med"/>
                      <a:tailEnd type="none" w="med" len="med"/>
                    </a:lnR>
                    <a:lnT w="12700" cap="flat" cmpd="sng" algn="ctr">
                      <a:solidFill>
                        <a:srgbClr val="40D9B6"/>
                      </a:solidFill>
                      <a:prstDash val="solid"/>
                      <a:round/>
                      <a:headEnd type="none" w="med" len="med"/>
                      <a:tailEnd type="none" w="med" len="med"/>
                    </a:lnT>
                    <a:lnB w="12700" cap="flat" cmpd="sng" algn="ctr">
                      <a:solidFill>
                        <a:srgbClr val="30DBB5"/>
                      </a:solidFill>
                      <a:prstDash val="solid"/>
                      <a:round/>
                      <a:headEnd type="none" w="med" len="med"/>
                      <a:tailEnd type="none" w="med" len="med"/>
                    </a:lnB>
                    <a:solidFill>
                      <a:srgbClr val="FFFFFF"/>
                    </a:solidFill>
                  </a:tcPr>
                </a:tc>
                <a:extLst>
                  <a:ext uri="{0D108BD9-81ED-4DB2-BD59-A6C34878D82A}">
                    <a16:rowId xmlns:a16="http://schemas.microsoft.com/office/drawing/2014/main" xmlns="" val="3012010756"/>
                  </a:ext>
                </a:extLst>
              </a:tr>
              <a:tr h="406400">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70DCB6"/>
                      </a:solidFill>
                      <a:prstDash val="solid"/>
                      <a:round/>
                      <a:headEnd type="none" w="med" len="med"/>
                      <a:tailEnd type="none" w="med" len="med"/>
                    </a:lnL>
                    <a:lnR w="9525" cap="flat" cmpd="sng" algn="ctr">
                      <a:solidFill>
                        <a:srgbClr val="30DBB5"/>
                      </a:solidFill>
                      <a:prstDash val="solid"/>
                      <a:round/>
                      <a:headEnd type="none" w="med" len="med"/>
                      <a:tailEnd type="none" w="med" len="med"/>
                    </a:lnR>
                    <a:lnT w="12700" cap="flat" cmpd="sng" algn="ctr">
                      <a:solidFill>
                        <a:srgbClr val="70DCB6"/>
                      </a:solidFill>
                      <a:prstDash val="solid"/>
                      <a:round/>
                      <a:headEnd type="none" w="med" len="med"/>
                      <a:tailEnd type="none" w="med" len="med"/>
                    </a:lnT>
                    <a:lnB w="9525" cap="flat" cmpd="sng" algn="ctr">
                      <a:solidFill>
                        <a:srgbClr val="70DCB6"/>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3150</a:t>
                      </a:r>
                    </a:p>
                  </a:txBody>
                  <a:tcPr marL="121920" marR="121920" marT="60960" marB="60960" anchor="ctr">
                    <a:lnL w="9525" cap="flat" cmpd="sng" algn="ctr">
                      <a:solidFill>
                        <a:srgbClr val="30DBB5"/>
                      </a:solidFill>
                      <a:prstDash val="solid"/>
                      <a:round/>
                      <a:headEnd type="none" w="med" len="med"/>
                      <a:tailEnd type="none" w="med" len="med"/>
                    </a:lnL>
                    <a:lnR w="9525" cap="flat" cmpd="sng" algn="ctr">
                      <a:solidFill>
                        <a:srgbClr val="30DBB5"/>
                      </a:solidFill>
                      <a:prstDash val="solid"/>
                      <a:round/>
                      <a:headEnd type="none" w="med" len="med"/>
                      <a:tailEnd type="none" w="med" len="med"/>
                    </a:lnR>
                    <a:lnT w="12700" cap="flat" cmpd="sng" algn="ctr">
                      <a:solidFill>
                        <a:srgbClr val="30DBB5"/>
                      </a:solidFill>
                      <a:prstDash val="solid"/>
                      <a:round/>
                      <a:headEnd type="none" w="med" len="med"/>
                      <a:tailEnd type="none" w="med" len="med"/>
                    </a:lnT>
                    <a:lnB w="9525" cap="flat" cmpd="sng" algn="ctr">
                      <a:solidFill>
                        <a:srgbClr val="30DBB5"/>
                      </a:solidFill>
                      <a:prstDash val="solid"/>
                      <a:round/>
                      <a:headEnd type="none" w="med" len="med"/>
                      <a:tailEnd type="none" w="med" len="med"/>
                    </a:lnB>
                    <a:solidFill>
                      <a:srgbClr val="FFFFFF"/>
                    </a:solidFill>
                  </a:tcPr>
                </a:tc>
                <a:extLst>
                  <a:ext uri="{0D108BD9-81ED-4DB2-BD59-A6C34878D82A}">
                    <a16:rowId xmlns:a16="http://schemas.microsoft.com/office/drawing/2014/main" xmlns="" val="2649578007"/>
                  </a:ext>
                </a:extLst>
              </a:tr>
            </a:tbl>
          </a:graphicData>
        </a:graphic>
      </p:graphicFrame>
    </p:spTree>
    <p:extLst>
      <p:ext uri="{BB962C8B-B14F-4D97-AF65-F5344CB8AC3E}">
        <p14:creationId xmlns:p14="http://schemas.microsoft.com/office/powerpoint/2010/main" xmlns="" val="338342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656922"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2792155730"/>
              </p:ext>
            </p:extLst>
          </p:nvPr>
        </p:nvGraphicFramePr>
        <p:xfrm>
          <a:off x="1087029"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590208" y="2503975"/>
            <a:ext cx="3403418" cy="830997"/>
          </a:xfrm>
          <a:prstGeom prst="rect">
            <a:avLst/>
          </a:prstGeom>
        </p:spPr>
        <p:txBody>
          <a:bodyPr wrap="square">
            <a:spAutoFit/>
          </a:bodyPr>
          <a:lstStyle/>
          <a:p>
            <a:pPr algn="just"/>
            <a:r>
              <a:rPr lang="fr-FR" sz="2667" dirty="0">
                <a:solidFill>
                  <a:srgbClr val="0D0D0D"/>
                </a:solidFill>
                <a:latin typeface="Times New Roman" panose="02020603050405020304" pitchFamily="18" charset="0"/>
                <a:cs typeface="Times New Roman" panose="02020603050405020304" pitchFamily="18" charset="0"/>
              </a:rPr>
              <a:t>6. </a:t>
            </a:r>
            <a:r>
              <a:rPr lang="fr-FR" sz="2133" dirty="0">
                <a:solidFill>
                  <a:srgbClr val="0D0D0D"/>
                </a:solidFill>
                <a:latin typeface="Times New Roman" panose="02020603050405020304" pitchFamily="18" charset="0"/>
                <a:cs typeface="Times New Roman" panose="02020603050405020304" pitchFamily="18" charset="0"/>
              </a:rPr>
              <a:t>Calculez les ventes totales par trimestre.</a:t>
            </a:r>
            <a:r>
              <a:rPr lang="fr-FR" sz="2133" b="1" dirty="0">
                <a:solidFill>
                  <a:srgbClr val="FF0000"/>
                </a:solidFill>
                <a:latin typeface="Times New Roman" panose="02020603050405020304" pitchFamily="18" charset="0"/>
                <a:cs typeface="Times New Roman" panose="02020603050405020304" pitchFamily="18" charset="0"/>
              </a:rPr>
              <a:t> ROLL UP</a:t>
            </a:r>
            <a:endParaRPr lang="fr-FR" sz="2133" dirty="0">
              <a:solidFill>
                <a:srgbClr val="0D0D0D"/>
              </a:solidFill>
              <a:latin typeface="Times New Roman" panose="02020603050405020304" pitchFamily="18" charset="0"/>
              <a:cs typeface="Times New Roman" panose="02020603050405020304" pitchFamily="18" charset="0"/>
            </a:endParaRPr>
          </a:p>
        </p:txBody>
      </p:sp>
      <p:graphicFrame>
        <p:nvGraphicFramePr>
          <p:cNvPr id="6" name="Tableau 5">
            <a:extLst>
              <a:ext uri="{FF2B5EF4-FFF2-40B4-BE49-F238E27FC236}">
                <a16:creationId xmlns:a16="http://schemas.microsoft.com/office/drawing/2014/main" xmlns="" id="{154FBF8B-2482-46BD-A0B0-E8DA59994C0B}"/>
              </a:ext>
            </a:extLst>
          </p:cNvPr>
          <p:cNvGraphicFramePr>
            <a:graphicFrameLocks noGrp="1"/>
          </p:cNvGraphicFramePr>
          <p:nvPr/>
        </p:nvGraphicFramePr>
        <p:xfrm>
          <a:off x="1787452" y="4966961"/>
          <a:ext cx="9042400" cy="1234440"/>
        </p:xfrm>
        <a:graphic>
          <a:graphicData uri="http://schemas.openxmlformats.org/drawingml/2006/table">
            <a:tbl>
              <a:tblPr/>
              <a:tblGrid>
                <a:gridCol w="4521200">
                  <a:extLst>
                    <a:ext uri="{9D8B030D-6E8A-4147-A177-3AD203B41FA5}">
                      <a16:colId xmlns:a16="http://schemas.microsoft.com/office/drawing/2014/main" xmlns="" val="3185869232"/>
                    </a:ext>
                  </a:extLst>
                </a:gridCol>
                <a:gridCol w="4521200">
                  <a:extLst>
                    <a:ext uri="{9D8B030D-6E8A-4147-A177-3AD203B41FA5}">
                      <a16:colId xmlns:a16="http://schemas.microsoft.com/office/drawing/2014/main" xmlns="" val="737775170"/>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D048BE"/>
                      </a:solidFill>
                      <a:prstDash val="solid"/>
                      <a:round/>
                      <a:headEnd type="none" w="med" len="med"/>
                      <a:tailEnd type="none" w="med" len="med"/>
                    </a:lnL>
                    <a:lnR w="9525" cap="flat" cmpd="sng" algn="ctr">
                      <a:solidFill>
                        <a:srgbClr val="2041BE"/>
                      </a:solidFill>
                      <a:prstDash val="solid"/>
                      <a:round/>
                      <a:headEnd type="none" w="med" len="med"/>
                      <a:tailEnd type="none" w="med" len="med"/>
                    </a:lnR>
                    <a:lnT w="9525" cap="flat" cmpd="sng" algn="ctr">
                      <a:solidFill>
                        <a:srgbClr val="D048BE"/>
                      </a:solidFill>
                      <a:prstDash val="solid"/>
                      <a:round/>
                      <a:headEnd type="none" w="med" len="med"/>
                      <a:tailEnd type="none" w="med" len="med"/>
                    </a:lnT>
                    <a:lnB w="12700" cap="flat" cmpd="sng" algn="ctr">
                      <a:solidFill>
                        <a:srgbClr val="9043BE"/>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 totales</a:t>
                      </a:r>
                    </a:p>
                  </a:txBody>
                  <a:tcPr marL="121920" marR="121920" marT="60960" marB="60960" anchor="b">
                    <a:lnL w="9525" cap="flat" cmpd="sng" algn="ctr">
                      <a:solidFill>
                        <a:srgbClr val="2041BE"/>
                      </a:solidFill>
                      <a:prstDash val="solid"/>
                      <a:round/>
                      <a:headEnd type="none" w="med" len="med"/>
                      <a:tailEnd type="none" w="med" len="med"/>
                    </a:lnL>
                    <a:lnR w="9525" cap="flat" cmpd="sng" algn="ctr">
                      <a:solidFill>
                        <a:srgbClr val="2041BE"/>
                      </a:solidFill>
                      <a:prstDash val="solid"/>
                      <a:round/>
                      <a:headEnd type="none" w="med" len="med"/>
                      <a:tailEnd type="none" w="med" len="med"/>
                    </a:lnR>
                    <a:lnT w="9525" cap="flat" cmpd="sng" algn="ctr">
                      <a:solidFill>
                        <a:srgbClr val="2041BE"/>
                      </a:solidFill>
                      <a:prstDash val="solid"/>
                      <a:round/>
                      <a:headEnd type="none" w="med" len="med"/>
                      <a:tailEnd type="none" w="med" len="med"/>
                    </a:lnT>
                    <a:lnB w="12700" cap="flat" cmpd="sng" algn="ctr">
                      <a:solidFill>
                        <a:srgbClr val="D054BE"/>
                      </a:solidFill>
                      <a:prstDash val="solid"/>
                      <a:round/>
                      <a:headEnd type="none" w="med" len="med"/>
                      <a:tailEnd type="none" w="med" len="med"/>
                    </a:lnB>
                    <a:solidFill>
                      <a:srgbClr val="FFFFFF"/>
                    </a:solidFill>
                  </a:tcPr>
                </a:tc>
                <a:extLst>
                  <a:ext uri="{0D108BD9-81ED-4DB2-BD59-A6C34878D82A}">
                    <a16:rowId xmlns:a16="http://schemas.microsoft.com/office/drawing/2014/main" xmlns="" val="1911099561"/>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9043BE"/>
                      </a:solidFill>
                      <a:prstDash val="solid"/>
                      <a:round/>
                      <a:headEnd type="none" w="med" len="med"/>
                      <a:tailEnd type="none" w="med" len="med"/>
                    </a:lnL>
                    <a:lnR w="9525" cap="flat" cmpd="sng" algn="ctr">
                      <a:solidFill>
                        <a:srgbClr val="D054BE"/>
                      </a:solidFill>
                      <a:prstDash val="solid"/>
                      <a:round/>
                      <a:headEnd type="none" w="med" len="med"/>
                      <a:tailEnd type="none" w="med" len="med"/>
                    </a:lnR>
                    <a:lnT w="12700" cap="flat" cmpd="sng" algn="ctr">
                      <a:solidFill>
                        <a:srgbClr val="9043BE"/>
                      </a:solidFill>
                      <a:prstDash val="solid"/>
                      <a:round/>
                      <a:headEnd type="none" w="med" len="med"/>
                      <a:tailEnd type="none" w="med" len="med"/>
                    </a:lnT>
                    <a:lnB w="12700" cap="flat" cmpd="sng" algn="ctr">
                      <a:solidFill>
                        <a:srgbClr val="C04CBE"/>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3100</a:t>
                      </a:r>
                    </a:p>
                  </a:txBody>
                  <a:tcPr marL="121920" marR="121920" marT="60960" marB="60960" anchor="ctr">
                    <a:lnL w="9525" cap="flat" cmpd="sng" algn="ctr">
                      <a:solidFill>
                        <a:srgbClr val="D054BE"/>
                      </a:solidFill>
                      <a:prstDash val="solid"/>
                      <a:round/>
                      <a:headEnd type="none" w="med" len="med"/>
                      <a:tailEnd type="none" w="med" len="med"/>
                    </a:lnL>
                    <a:lnR w="9525" cap="flat" cmpd="sng" algn="ctr">
                      <a:solidFill>
                        <a:srgbClr val="D054BE"/>
                      </a:solidFill>
                      <a:prstDash val="solid"/>
                      <a:round/>
                      <a:headEnd type="none" w="med" len="med"/>
                      <a:tailEnd type="none" w="med" len="med"/>
                    </a:lnR>
                    <a:lnT w="12700" cap="flat" cmpd="sng" algn="ctr">
                      <a:solidFill>
                        <a:srgbClr val="D054BE"/>
                      </a:solidFill>
                      <a:prstDash val="solid"/>
                      <a:round/>
                      <a:headEnd type="none" w="med" len="med"/>
                      <a:tailEnd type="none" w="med" len="med"/>
                    </a:lnT>
                    <a:lnB w="12700" cap="flat" cmpd="sng" algn="ctr">
                      <a:solidFill>
                        <a:srgbClr val="2059BE"/>
                      </a:solidFill>
                      <a:prstDash val="solid"/>
                      <a:round/>
                      <a:headEnd type="none" w="med" len="med"/>
                      <a:tailEnd type="none" w="med" len="med"/>
                    </a:lnB>
                    <a:solidFill>
                      <a:srgbClr val="FFFFFF"/>
                    </a:solidFill>
                  </a:tcPr>
                </a:tc>
                <a:extLst>
                  <a:ext uri="{0D108BD9-81ED-4DB2-BD59-A6C34878D82A}">
                    <a16:rowId xmlns:a16="http://schemas.microsoft.com/office/drawing/2014/main" xmlns="" val="120732172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C04CBE"/>
                      </a:solidFill>
                      <a:prstDash val="solid"/>
                      <a:round/>
                      <a:headEnd type="none" w="med" len="med"/>
                      <a:tailEnd type="none" w="med" len="med"/>
                    </a:lnL>
                    <a:lnR w="9525" cap="flat" cmpd="sng" algn="ctr">
                      <a:solidFill>
                        <a:srgbClr val="2059BE"/>
                      </a:solidFill>
                      <a:prstDash val="solid"/>
                      <a:round/>
                      <a:headEnd type="none" w="med" len="med"/>
                      <a:tailEnd type="none" w="med" len="med"/>
                    </a:lnR>
                    <a:lnT w="12700" cap="flat" cmpd="sng" algn="ctr">
                      <a:solidFill>
                        <a:srgbClr val="C04CBE"/>
                      </a:solidFill>
                      <a:prstDash val="solid"/>
                      <a:round/>
                      <a:headEnd type="none" w="med" len="med"/>
                      <a:tailEnd type="none" w="med" len="med"/>
                    </a:lnT>
                    <a:lnB w="9525" cap="flat" cmpd="sng" algn="ctr">
                      <a:solidFill>
                        <a:srgbClr val="C04CBE"/>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3500</a:t>
                      </a:r>
                    </a:p>
                  </a:txBody>
                  <a:tcPr marL="121920" marR="121920" marT="60960" marB="60960" anchor="ctr">
                    <a:lnL w="9525" cap="flat" cmpd="sng" algn="ctr">
                      <a:solidFill>
                        <a:srgbClr val="2059BE"/>
                      </a:solidFill>
                      <a:prstDash val="solid"/>
                      <a:round/>
                      <a:headEnd type="none" w="med" len="med"/>
                      <a:tailEnd type="none" w="med" len="med"/>
                    </a:lnL>
                    <a:lnR w="9525" cap="flat" cmpd="sng" algn="ctr">
                      <a:solidFill>
                        <a:srgbClr val="2059BE"/>
                      </a:solidFill>
                      <a:prstDash val="solid"/>
                      <a:round/>
                      <a:headEnd type="none" w="med" len="med"/>
                      <a:tailEnd type="none" w="med" len="med"/>
                    </a:lnR>
                    <a:lnT w="12700" cap="flat" cmpd="sng" algn="ctr">
                      <a:solidFill>
                        <a:srgbClr val="2059BE"/>
                      </a:solidFill>
                      <a:prstDash val="solid"/>
                      <a:round/>
                      <a:headEnd type="none" w="med" len="med"/>
                      <a:tailEnd type="none" w="med" len="med"/>
                    </a:lnT>
                    <a:lnB w="9525" cap="flat" cmpd="sng" algn="ctr">
                      <a:solidFill>
                        <a:srgbClr val="2059BE"/>
                      </a:solidFill>
                      <a:prstDash val="solid"/>
                      <a:round/>
                      <a:headEnd type="none" w="med" len="med"/>
                      <a:tailEnd type="none" w="med" len="med"/>
                    </a:lnB>
                    <a:solidFill>
                      <a:srgbClr val="FFFFFF"/>
                    </a:solidFill>
                  </a:tcPr>
                </a:tc>
                <a:extLst>
                  <a:ext uri="{0D108BD9-81ED-4DB2-BD59-A6C34878D82A}">
                    <a16:rowId xmlns:a16="http://schemas.microsoft.com/office/drawing/2014/main" xmlns="" val="118168650"/>
                  </a:ext>
                </a:extLst>
              </a:tr>
            </a:tbl>
          </a:graphicData>
        </a:graphic>
      </p:graphicFrame>
    </p:spTree>
    <p:extLst>
      <p:ext uri="{BB962C8B-B14F-4D97-AF65-F5344CB8AC3E}">
        <p14:creationId xmlns:p14="http://schemas.microsoft.com/office/powerpoint/2010/main" xmlns="" val="29032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811469"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1998705982"/>
              </p:ext>
            </p:extLst>
          </p:nvPr>
        </p:nvGraphicFramePr>
        <p:xfrm>
          <a:off x="1241576"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868669" y="1911546"/>
            <a:ext cx="3124957" cy="2143920"/>
          </a:xfrm>
          <a:prstGeom prst="rect">
            <a:avLst/>
          </a:prstGeom>
        </p:spPr>
        <p:txBody>
          <a:bodyPr wrap="square">
            <a:spAutoFit/>
          </a:bodyPr>
          <a:lstStyle/>
          <a:p>
            <a:pPr algn="just"/>
            <a:r>
              <a:rPr lang="fr-FR" sz="2667" dirty="0">
                <a:solidFill>
                  <a:srgbClr val="0D0D0D"/>
                </a:solidFill>
                <a:latin typeface="Times New Roman" panose="02020603050405020304" pitchFamily="18" charset="0"/>
                <a:cs typeface="Times New Roman" panose="02020603050405020304" pitchFamily="18" charset="0"/>
              </a:rPr>
              <a:t>7. </a:t>
            </a:r>
            <a:r>
              <a:rPr lang="fr-FR" sz="2133" dirty="0">
                <a:solidFill>
                  <a:srgbClr val="0D0D0D"/>
                </a:solidFill>
                <a:latin typeface="Times New Roman" panose="02020603050405020304" pitchFamily="18" charset="0"/>
                <a:cs typeface="Times New Roman" panose="02020603050405020304" pitchFamily="18" charset="0"/>
              </a:rPr>
              <a:t>Affichez les ventes pour l'Amérique du Nord pour tous les produits et tous les trimestres.</a:t>
            </a:r>
          </a:p>
          <a:p>
            <a:pPr algn="just"/>
            <a:r>
              <a:rPr lang="fr-FR" sz="2133" b="1" dirty="0">
                <a:solidFill>
                  <a:srgbClr val="FF0000"/>
                </a:solidFill>
                <a:latin typeface="Times New Roman" panose="02020603050405020304" pitchFamily="18" charset="0"/>
                <a:cs typeface="Times New Roman" panose="02020603050405020304" pitchFamily="18" charset="0"/>
              </a:rPr>
              <a:t>DICE</a:t>
            </a:r>
          </a:p>
          <a:p>
            <a:pPr algn="just"/>
            <a:endParaRPr lang="fr-FR" sz="2133" dirty="0">
              <a:solidFill>
                <a:srgbClr val="0D0D0D"/>
              </a:solidFill>
              <a:latin typeface="Times New Roman" panose="02020603050405020304" pitchFamily="18" charset="0"/>
              <a:cs typeface="Times New Roman" panose="02020603050405020304" pitchFamily="18" charset="0"/>
            </a:endParaRPr>
          </a:p>
        </p:txBody>
      </p:sp>
      <p:graphicFrame>
        <p:nvGraphicFramePr>
          <p:cNvPr id="5" name="Tableau 4">
            <a:extLst>
              <a:ext uri="{FF2B5EF4-FFF2-40B4-BE49-F238E27FC236}">
                <a16:creationId xmlns:a16="http://schemas.microsoft.com/office/drawing/2014/main" xmlns="" id="{FD9A95F2-B613-4A1B-9DC8-F1344FAFBA4C}"/>
              </a:ext>
            </a:extLst>
          </p:cNvPr>
          <p:cNvGraphicFramePr>
            <a:graphicFrameLocks noGrp="1"/>
          </p:cNvGraphicFramePr>
          <p:nvPr/>
        </p:nvGraphicFramePr>
        <p:xfrm>
          <a:off x="1872511" y="4631231"/>
          <a:ext cx="9042400" cy="2057400"/>
        </p:xfrm>
        <a:graphic>
          <a:graphicData uri="http://schemas.openxmlformats.org/drawingml/2006/table">
            <a:tbl>
              <a:tblPr/>
              <a:tblGrid>
                <a:gridCol w="2260600">
                  <a:extLst>
                    <a:ext uri="{9D8B030D-6E8A-4147-A177-3AD203B41FA5}">
                      <a16:colId xmlns:a16="http://schemas.microsoft.com/office/drawing/2014/main" xmlns="" val="566589973"/>
                    </a:ext>
                  </a:extLst>
                </a:gridCol>
                <a:gridCol w="2260600">
                  <a:extLst>
                    <a:ext uri="{9D8B030D-6E8A-4147-A177-3AD203B41FA5}">
                      <a16:colId xmlns:a16="http://schemas.microsoft.com/office/drawing/2014/main" xmlns="" val="3464749709"/>
                    </a:ext>
                  </a:extLst>
                </a:gridCol>
                <a:gridCol w="2260600">
                  <a:extLst>
                    <a:ext uri="{9D8B030D-6E8A-4147-A177-3AD203B41FA5}">
                      <a16:colId xmlns:a16="http://schemas.microsoft.com/office/drawing/2014/main" xmlns="" val="3478935159"/>
                    </a:ext>
                  </a:extLst>
                </a:gridCol>
                <a:gridCol w="2260600">
                  <a:extLst>
                    <a:ext uri="{9D8B030D-6E8A-4147-A177-3AD203B41FA5}">
                      <a16:colId xmlns:a16="http://schemas.microsoft.com/office/drawing/2014/main" xmlns="" val="3113268872"/>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1009CB"/>
                      </a:solidFill>
                      <a:prstDash val="solid"/>
                      <a:round/>
                      <a:headEnd type="none" w="med" len="med"/>
                      <a:tailEnd type="none" w="med" len="med"/>
                    </a:lnL>
                    <a:lnR w="9525" cap="flat" cmpd="sng" algn="ctr">
                      <a:solidFill>
                        <a:srgbClr val="B014CB"/>
                      </a:solidFill>
                      <a:prstDash val="solid"/>
                      <a:round/>
                      <a:headEnd type="none" w="med" len="med"/>
                      <a:tailEnd type="none" w="med" len="med"/>
                    </a:lnR>
                    <a:lnT w="9525" cap="flat" cmpd="sng" algn="ctr">
                      <a:solidFill>
                        <a:srgbClr val="1009CB"/>
                      </a:solidFill>
                      <a:prstDash val="solid"/>
                      <a:round/>
                      <a:headEnd type="none" w="med" len="med"/>
                      <a:tailEnd type="none" w="med" len="med"/>
                    </a:lnT>
                    <a:lnB w="12700" cap="flat" cmpd="sng" algn="ctr">
                      <a:solidFill>
                        <a:srgbClr val="5008CB"/>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B014CB"/>
                      </a:solidFill>
                      <a:prstDash val="solid"/>
                      <a:round/>
                      <a:headEnd type="none" w="med" len="med"/>
                      <a:tailEnd type="none" w="med" len="med"/>
                    </a:lnL>
                    <a:lnR w="9525" cap="flat" cmpd="sng" algn="ctr">
                      <a:solidFill>
                        <a:srgbClr val="E020CB"/>
                      </a:solidFill>
                      <a:prstDash val="solid"/>
                      <a:round/>
                      <a:headEnd type="none" w="med" len="med"/>
                      <a:tailEnd type="none" w="med" len="med"/>
                    </a:lnR>
                    <a:lnT w="9525" cap="flat" cmpd="sng" algn="ctr">
                      <a:solidFill>
                        <a:srgbClr val="B014CB"/>
                      </a:solidFill>
                      <a:prstDash val="solid"/>
                      <a:round/>
                      <a:headEnd type="none" w="med" len="med"/>
                      <a:tailEnd type="none" w="med" len="med"/>
                    </a:lnT>
                    <a:lnB w="12700" cap="flat" cmpd="sng" algn="ctr">
                      <a:solidFill>
                        <a:srgbClr val="A012CB"/>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E020CB"/>
                      </a:solidFill>
                      <a:prstDash val="solid"/>
                      <a:round/>
                      <a:headEnd type="none" w="med" len="med"/>
                      <a:tailEnd type="none" w="med" len="med"/>
                    </a:lnL>
                    <a:lnR w="9525" cap="flat" cmpd="sng" algn="ctr">
                      <a:solidFill>
                        <a:srgbClr val="902BCB"/>
                      </a:solidFill>
                      <a:prstDash val="solid"/>
                      <a:round/>
                      <a:headEnd type="none" w="med" len="med"/>
                      <a:tailEnd type="none" w="med" len="med"/>
                    </a:lnR>
                    <a:lnT w="9525" cap="flat" cmpd="sng" algn="ctr">
                      <a:solidFill>
                        <a:srgbClr val="E020CB"/>
                      </a:solidFill>
                      <a:prstDash val="solid"/>
                      <a:round/>
                      <a:headEnd type="none" w="med" len="med"/>
                      <a:tailEnd type="none" w="med" len="med"/>
                    </a:lnT>
                    <a:lnB w="12700" cap="flat" cmpd="sng" algn="ctr">
                      <a:solidFill>
                        <a:srgbClr val="2026CB"/>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902BCB"/>
                      </a:solidFill>
                      <a:prstDash val="solid"/>
                      <a:round/>
                      <a:headEnd type="none" w="med" len="med"/>
                      <a:tailEnd type="none" w="med" len="med"/>
                    </a:lnL>
                    <a:lnR w="9525" cap="flat" cmpd="sng" algn="ctr">
                      <a:solidFill>
                        <a:srgbClr val="902BCB"/>
                      </a:solidFill>
                      <a:prstDash val="solid"/>
                      <a:round/>
                      <a:headEnd type="none" w="med" len="med"/>
                      <a:tailEnd type="none" w="med" len="med"/>
                    </a:lnR>
                    <a:lnT w="9525" cap="flat" cmpd="sng" algn="ctr">
                      <a:solidFill>
                        <a:srgbClr val="902BCB"/>
                      </a:solidFill>
                      <a:prstDash val="solid"/>
                      <a:round/>
                      <a:headEnd type="none" w="med" len="med"/>
                      <a:tailEnd type="none" w="med" len="med"/>
                    </a:lnT>
                    <a:lnB w="12700" cap="flat" cmpd="sng" algn="ctr">
                      <a:solidFill>
                        <a:srgbClr val="9043CB"/>
                      </a:solidFill>
                      <a:prstDash val="solid"/>
                      <a:round/>
                      <a:headEnd type="none" w="med" len="med"/>
                      <a:tailEnd type="none" w="med" len="med"/>
                    </a:lnB>
                    <a:solidFill>
                      <a:srgbClr val="FFFFFF"/>
                    </a:solidFill>
                  </a:tcPr>
                </a:tc>
                <a:extLst>
                  <a:ext uri="{0D108BD9-81ED-4DB2-BD59-A6C34878D82A}">
                    <a16:rowId xmlns:a16="http://schemas.microsoft.com/office/drawing/2014/main" xmlns="" val="120786043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5008CB"/>
                      </a:solidFill>
                      <a:prstDash val="solid"/>
                      <a:round/>
                      <a:headEnd type="none" w="med" len="med"/>
                      <a:tailEnd type="none" w="med" len="med"/>
                    </a:lnL>
                    <a:lnR w="9525" cap="flat" cmpd="sng" algn="ctr">
                      <a:solidFill>
                        <a:srgbClr val="A012CB"/>
                      </a:solidFill>
                      <a:prstDash val="solid"/>
                      <a:round/>
                      <a:headEnd type="none" w="med" len="med"/>
                      <a:tailEnd type="none" w="med" len="med"/>
                    </a:lnR>
                    <a:lnT w="12700" cap="flat" cmpd="sng" algn="ctr">
                      <a:solidFill>
                        <a:srgbClr val="5008CB"/>
                      </a:solidFill>
                      <a:prstDash val="solid"/>
                      <a:round/>
                      <a:headEnd type="none" w="med" len="med"/>
                      <a:tailEnd type="none" w="med" len="med"/>
                    </a:lnT>
                    <a:lnB w="12700" cap="flat" cmpd="sng" algn="ctr">
                      <a:solidFill>
                        <a:srgbClr val="6016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A012CB"/>
                      </a:solidFill>
                      <a:prstDash val="solid"/>
                      <a:round/>
                      <a:headEnd type="none" w="med" len="med"/>
                      <a:tailEnd type="none" w="med" len="med"/>
                    </a:lnL>
                    <a:lnR w="9525" cap="flat" cmpd="sng" algn="ctr">
                      <a:solidFill>
                        <a:srgbClr val="2026CB"/>
                      </a:solidFill>
                      <a:prstDash val="solid"/>
                      <a:round/>
                      <a:headEnd type="none" w="med" len="med"/>
                      <a:tailEnd type="none" w="med" len="med"/>
                    </a:lnR>
                    <a:lnT w="12700" cap="flat" cmpd="sng" algn="ctr">
                      <a:solidFill>
                        <a:srgbClr val="A012CB"/>
                      </a:solidFill>
                      <a:prstDash val="solid"/>
                      <a:round/>
                      <a:headEnd type="none" w="med" len="med"/>
                      <a:tailEnd type="none" w="med" len="med"/>
                    </a:lnT>
                    <a:lnB w="12700" cap="flat" cmpd="sng" algn="ctr">
                      <a:solidFill>
                        <a:srgbClr val="B044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2026CB"/>
                      </a:solidFill>
                      <a:prstDash val="solid"/>
                      <a:round/>
                      <a:headEnd type="none" w="med" len="med"/>
                      <a:tailEnd type="none" w="med" len="med"/>
                    </a:lnL>
                    <a:lnR w="9525" cap="flat" cmpd="sng" algn="ctr">
                      <a:solidFill>
                        <a:srgbClr val="9043CB"/>
                      </a:solidFill>
                      <a:prstDash val="solid"/>
                      <a:round/>
                      <a:headEnd type="none" w="med" len="med"/>
                      <a:tailEnd type="none" w="med" len="med"/>
                    </a:lnR>
                    <a:lnT w="12700" cap="flat" cmpd="sng" algn="ctr">
                      <a:solidFill>
                        <a:srgbClr val="2026CB"/>
                      </a:solidFill>
                      <a:prstDash val="solid"/>
                      <a:round/>
                      <a:headEnd type="none" w="med" len="med"/>
                      <a:tailEnd type="none" w="med" len="med"/>
                    </a:lnT>
                    <a:lnB w="12700" cap="flat" cmpd="sng" algn="ctr">
                      <a:solidFill>
                        <a:srgbClr val="A0C4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121920" marR="121920" marT="60960" marB="60960" anchor="ctr">
                    <a:lnL w="9525" cap="flat" cmpd="sng" algn="ctr">
                      <a:solidFill>
                        <a:srgbClr val="9043CB"/>
                      </a:solidFill>
                      <a:prstDash val="solid"/>
                      <a:round/>
                      <a:headEnd type="none" w="med" len="med"/>
                      <a:tailEnd type="none" w="med" len="med"/>
                    </a:lnL>
                    <a:lnR w="9525" cap="flat" cmpd="sng" algn="ctr">
                      <a:solidFill>
                        <a:srgbClr val="9043CB"/>
                      </a:solidFill>
                      <a:prstDash val="solid"/>
                      <a:round/>
                      <a:headEnd type="none" w="med" len="med"/>
                      <a:tailEnd type="none" w="med" len="med"/>
                    </a:lnR>
                    <a:lnT w="12700" cap="flat" cmpd="sng" algn="ctr">
                      <a:solidFill>
                        <a:srgbClr val="9043CB"/>
                      </a:solidFill>
                      <a:prstDash val="solid"/>
                      <a:round/>
                      <a:headEnd type="none" w="med" len="med"/>
                      <a:tailEnd type="none" w="med" len="med"/>
                    </a:lnT>
                    <a:lnB w="12700" cap="flat" cmpd="sng" algn="ctr">
                      <a:solidFill>
                        <a:srgbClr val="F0E0CA"/>
                      </a:solidFill>
                      <a:prstDash val="solid"/>
                      <a:round/>
                      <a:headEnd type="none" w="med" len="med"/>
                      <a:tailEnd type="none" w="med" len="med"/>
                    </a:lnB>
                    <a:solidFill>
                      <a:srgbClr val="FFFFFF"/>
                    </a:solidFill>
                  </a:tcPr>
                </a:tc>
                <a:extLst>
                  <a:ext uri="{0D108BD9-81ED-4DB2-BD59-A6C34878D82A}">
                    <a16:rowId xmlns:a16="http://schemas.microsoft.com/office/drawing/2014/main" xmlns="" val="268807474"/>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6016CB"/>
                      </a:solidFill>
                      <a:prstDash val="solid"/>
                      <a:round/>
                      <a:headEnd type="none" w="med" len="med"/>
                      <a:tailEnd type="none" w="med" len="med"/>
                    </a:lnL>
                    <a:lnR w="9525" cap="flat" cmpd="sng" algn="ctr">
                      <a:solidFill>
                        <a:srgbClr val="B044CB"/>
                      </a:solidFill>
                      <a:prstDash val="solid"/>
                      <a:round/>
                      <a:headEnd type="none" w="med" len="med"/>
                      <a:tailEnd type="none" w="med" len="med"/>
                    </a:lnR>
                    <a:lnT w="12700" cap="flat" cmpd="sng" algn="ctr">
                      <a:solidFill>
                        <a:srgbClr val="6016CB"/>
                      </a:solidFill>
                      <a:prstDash val="solid"/>
                      <a:round/>
                      <a:headEnd type="none" w="med" len="med"/>
                      <a:tailEnd type="none" w="med" len="med"/>
                    </a:lnT>
                    <a:lnB w="12700" cap="flat" cmpd="sng" algn="ctr">
                      <a:solidFill>
                        <a:srgbClr val="1024CB"/>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B044CB"/>
                      </a:solidFill>
                      <a:prstDash val="solid"/>
                      <a:round/>
                      <a:headEnd type="none" w="med" len="med"/>
                      <a:tailEnd type="none" w="med" len="med"/>
                    </a:lnL>
                    <a:lnR w="9525" cap="flat" cmpd="sng" algn="ctr">
                      <a:solidFill>
                        <a:srgbClr val="A0C4CA"/>
                      </a:solidFill>
                      <a:prstDash val="solid"/>
                      <a:round/>
                      <a:headEnd type="none" w="med" len="med"/>
                      <a:tailEnd type="none" w="med" len="med"/>
                    </a:lnR>
                    <a:lnT w="12700" cap="flat" cmpd="sng" algn="ctr">
                      <a:solidFill>
                        <a:srgbClr val="B044CB"/>
                      </a:solidFill>
                      <a:prstDash val="solid"/>
                      <a:round/>
                      <a:headEnd type="none" w="med" len="med"/>
                      <a:tailEnd type="none" w="med" len="med"/>
                    </a:lnT>
                    <a:lnB w="12700" cap="flat" cmpd="sng" algn="ctr">
                      <a:solidFill>
                        <a:srgbClr val="009B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A0C4CA"/>
                      </a:solidFill>
                      <a:prstDash val="solid"/>
                      <a:round/>
                      <a:headEnd type="none" w="med" len="med"/>
                      <a:tailEnd type="none" w="med" len="med"/>
                    </a:lnL>
                    <a:lnR w="9525" cap="flat" cmpd="sng" algn="ctr">
                      <a:solidFill>
                        <a:srgbClr val="F0E0CA"/>
                      </a:solidFill>
                      <a:prstDash val="solid"/>
                      <a:round/>
                      <a:headEnd type="none" w="med" len="med"/>
                      <a:tailEnd type="none" w="med" len="med"/>
                    </a:lnR>
                    <a:lnT w="12700" cap="flat" cmpd="sng" algn="ctr">
                      <a:solidFill>
                        <a:srgbClr val="A0C4CA"/>
                      </a:solidFill>
                      <a:prstDash val="solid"/>
                      <a:round/>
                      <a:headEnd type="none" w="med" len="med"/>
                      <a:tailEnd type="none" w="med" len="med"/>
                    </a:lnT>
                    <a:lnB w="12700" cap="flat" cmpd="sng" algn="ctr">
                      <a:solidFill>
                        <a:srgbClr val="B0C9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600</a:t>
                      </a:r>
                    </a:p>
                  </a:txBody>
                  <a:tcPr marL="121920" marR="121920" marT="60960" marB="60960" anchor="ctr">
                    <a:lnL w="9525" cap="flat" cmpd="sng" algn="ctr">
                      <a:solidFill>
                        <a:srgbClr val="F0E0CA"/>
                      </a:solidFill>
                      <a:prstDash val="solid"/>
                      <a:round/>
                      <a:headEnd type="none" w="med" len="med"/>
                      <a:tailEnd type="none" w="med" len="med"/>
                    </a:lnL>
                    <a:lnR w="9525" cap="flat" cmpd="sng" algn="ctr">
                      <a:solidFill>
                        <a:srgbClr val="F0E0CA"/>
                      </a:solidFill>
                      <a:prstDash val="solid"/>
                      <a:round/>
                      <a:headEnd type="none" w="med" len="med"/>
                      <a:tailEnd type="none" w="med" len="med"/>
                    </a:lnR>
                    <a:lnT w="12700" cap="flat" cmpd="sng" algn="ctr">
                      <a:solidFill>
                        <a:srgbClr val="F0E0CA"/>
                      </a:solidFill>
                      <a:prstDash val="solid"/>
                      <a:round/>
                      <a:headEnd type="none" w="med" len="med"/>
                      <a:tailEnd type="none" w="med" len="med"/>
                    </a:lnT>
                    <a:lnB w="12700" cap="flat" cmpd="sng" algn="ctr">
                      <a:solidFill>
                        <a:srgbClr val="8008CB"/>
                      </a:solidFill>
                      <a:prstDash val="solid"/>
                      <a:round/>
                      <a:headEnd type="none" w="med" len="med"/>
                      <a:tailEnd type="none" w="med" len="med"/>
                    </a:lnB>
                    <a:solidFill>
                      <a:srgbClr val="FFFFFF"/>
                    </a:solidFill>
                  </a:tcPr>
                </a:tc>
                <a:extLst>
                  <a:ext uri="{0D108BD9-81ED-4DB2-BD59-A6C34878D82A}">
                    <a16:rowId xmlns:a16="http://schemas.microsoft.com/office/drawing/2014/main" xmlns="" val="2770366769"/>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1024CB"/>
                      </a:solidFill>
                      <a:prstDash val="solid"/>
                      <a:round/>
                      <a:headEnd type="none" w="med" len="med"/>
                      <a:tailEnd type="none" w="med" len="med"/>
                    </a:lnL>
                    <a:lnR w="9525" cap="flat" cmpd="sng" algn="ctr">
                      <a:solidFill>
                        <a:srgbClr val="009BCA"/>
                      </a:solidFill>
                      <a:prstDash val="solid"/>
                      <a:round/>
                      <a:headEnd type="none" w="med" len="med"/>
                      <a:tailEnd type="none" w="med" len="med"/>
                    </a:lnR>
                    <a:lnT w="12700" cap="flat" cmpd="sng" algn="ctr">
                      <a:solidFill>
                        <a:srgbClr val="1024CB"/>
                      </a:solidFill>
                      <a:prstDash val="solid"/>
                      <a:round/>
                      <a:headEnd type="none" w="med" len="med"/>
                      <a:tailEnd type="none" w="med" len="med"/>
                    </a:lnT>
                    <a:lnB w="12700" cap="flat" cmpd="sng" algn="ctr">
                      <a:solidFill>
                        <a:srgbClr val="C0AD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009BCA"/>
                      </a:solidFill>
                      <a:prstDash val="solid"/>
                      <a:round/>
                      <a:headEnd type="none" w="med" len="med"/>
                      <a:tailEnd type="none" w="med" len="med"/>
                    </a:lnL>
                    <a:lnR w="9525" cap="flat" cmpd="sng" algn="ctr">
                      <a:solidFill>
                        <a:srgbClr val="B0C9CA"/>
                      </a:solidFill>
                      <a:prstDash val="solid"/>
                      <a:round/>
                      <a:headEnd type="none" w="med" len="med"/>
                      <a:tailEnd type="none" w="med" len="med"/>
                    </a:lnR>
                    <a:lnT w="12700" cap="flat" cmpd="sng" algn="ctr">
                      <a:solidFill>
                        <a:srgbClr val="009BCA"/>
                      </a:solidFill>
                      <a:prstDash val="solid"/>
                      <a:round/>
                      <a:headEnd type="none" w="med" len="med"/>
                      <a:tailEnd type="none" w="med" len="med"/>
                    </a:lnT>
                    <a:lnB w="12700" cap="flat" cmpd="sng" algn="ctr">
                      <a:solidFill>
                        <a:srgbClr val="B0F3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B0C9CA"/>
                      </a:solidFill>
                      <a:prstDash val="solid"/>
                      <a:round/>
                      <a:headEnd type="none" w="med" len="med"/>
                      <a:tailEnd type="none" w="med" len="med"/>
                    </a:lnL>
                    <a:lnR w="9525" cap="flat" cmpd="sng" algn="ctr">
                      <a:solidFill>
                        <a:srgbClr val="8008CB"/>
                      </a:solidFill>
                      <a:prstDash val="solid"/>
                      <a:round/>
                      <a:headEnd type="none" w="med" len="med"/>
                      <a:tailEnd type="none" w="med" len="med"/>
                    </a:lnR>
                    <a:lnT w="12700" cap="flat" cmpd="sng" algn="ctr">
                      <a:solidFill>
                        <a:srgbClr val="B0C9CA"/>
                      </a:solidFill>
                      <a:prstDash val="solid"/>
                      <a:round/>
                      <a:headEnd type="none" w="med" len="med"/>
                      <a:tailEnd type="none" w="med" len="med"/>
                    </a:lnT>
                    <a:lnB w="12700" cap="flat" cmpd="sng" algn="ctr">
                      <a:solidFill>
                        <a:srgbClr val="90D4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1200</a:t>
                      </a:r>
                    </a:p>
                  </a:txBody>
                  <a:tcPr marL="121920" marR="121920" marT="60960" marB="60960" anchor="ctr">
                    <a:lnL w="9525" cap="flat" cmpd="sng" algn="ctr">
                      <a:solidFill>
                        <a:srgbClr val="8008CB"/>
                      </a:solidFill>
                      <a:prstDash val="solid"/>
                      <a:round/>
                      <a:headEnd type="none" w="med" len="med"/>
                      <a:tailEnd type="none" w="med" len="med"/>
                    </a:lnL>
                    <a:lnR w="9525" cap="flat" cmpd="sng" algn="ctr">
                      <a:solidFill>
                        <a:srgbClr val="8008CB"/>
                      </a:solidFill>
                      <a:prstDash val="solid"/>
                      <a:round/>
                      <a:headEnd type="none" w="med" len="med"/>
                      <a:tailEnd type="none" w="med" len="med"/>
                    </a:lnR>
                    <a:lnT w="12700" cap="flat" cmpd="sng" algn="ctr">
                      <a:solidFill>
                        <a:srgbClr val="8008CB"/>
                      </a:solidFill>
                      <a:prstDash val="solid"/>
                      <a:round/>
                      <a:headEnd type="none" w="med" len="med"/>
                      <a:tailEnd type="none" w="med" len="med"/>
                    </a:lnT>
                    <a:lnB w="12700" cap="flat" cmpd="sng" algn="ctr">
                      <a:solidFill>
                        <a:srgbClr val="F0E0CA"/>
                      </a:solidFill>
                      <a:prstDash val="solid"/>
                      <a:round/>
                      <a:headEnd type="none" w="med" len="med"/>
                      <a:tailEnd type="none" w="med" len="med"/>
                    </a:lnB>
                    <a:solidFill>
                      <a:srgbClr val="FFFFFF"/>
                    </a:solidFill>
                  </a:tcPr>
                </a:tc>
                <a:extLst>
                  <a:ext uri="{0D108BD9-81ED-4DB2-BD59-A6C34878D82A}">
                    <a16:rowId xmlns:a16="http://schemas.microsoft.com/office/drawing/2014/main" xmlns="" val="241380122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C0ADCA"/>
                      </a:solidFill>
                      <a:prstDash val="solid"/>
                      <a:round/>
                      <a:headEnd type="none" w="med" len="med"/>
                      <a:tailEnd type="none" w="med" len="med"/>
                    </a:lnL>
                    <a:lnR w="9525" cap="flat" cmpd="sng" algn="ctr">
                      <a:solidFill>
                        <a:srgbClr val="B0F3CA"/>
                      </a:solidFill>
                      <a:prstDash val="solid"/>
                      <a:round/>
                      <a:headEnd type="none" w="med" len="med"/>
                      <a:tailEnd type="none" w="med" len="med"/>
                    </a:lnR>
                    <a:lnT w="12700" cap="flat" cmpd="sng" algn="ctr">
                      <a:solidFill>
                        <a:srgbClr val="C0ADCA"/>
                      </a:solidFill>
                      <a:prstDash val="solid"/>
                      <a:round/>
                      <a:headEnd type="none" w="med" len="med"/>
                      <a:tailEnd type="none" w="med" len="med"/>
                    </a:lnT>
                    <a:lnB w="9525" cap="flat" cmpd="sng" algn="ctr">
                      <a:solidFill>
                        <a:srgbClr val="C0AD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B0F3CA"/>
                      </a:solidFill>
                      <a:prstDash val="solid"/>
                      <a:round/>
                      <a:headEnd type="none" w="med" len="med"/>
                      <a:tailEnd type="none" w="med" len="med"/>
                    </a:lnL>
                    <a:lnR w="9525" cap="flat" cmpd="sng" algn="ctr">
                      <a:solidFill>
                        <a:srgbClr val="90D4CA"/>
                      </a:solidFill>
                      <a:prstDash val="solid"/>
                      <a:round/>
                      <a:headEnd type="none" w="med" len="med"/>
                      <a:tailEnd type="none" w="med" len="med"/>
                    </a:lnR>
                    <a:lnT w="12700" cap="flat" cmpd="sng" algn="ctr">
                      <a:solidFill>
                        <a:srgbClr val="B0F3CA"/>
                      </a:solidFill>
                      <a:prstDash val="solid"/>
                      <a:round/>
                      <a:headEnd type="none" w="med" len="med"/>
                      <a:tailEnd type="none" w="med" len="med"/>
                    </a:lnT>
                    <a:lnB w="9525" cap="flat" cmpd="sng" algn="ctr">
                      <a:solidFill>
                        <a:srgbClr val="B0F3CA"/>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90D4CA"/>
                      </a:solidFill>
                      <a:prstDash val="solid"/>
                      <a:round/>
                      <a:headEnd type="none" w="med" len="med"/>
                      <a:tailEnd type="none" w="med" len="med"/>
                    </a:lnL>
                    <a:lnR w="9525" cap="flat" cmpd="sng" algn="ctr">
                      <a:solidFill>
                        <a:srgbClr val="F0E0CA"/>
                      </a:solidFill>
                      <a:prstDash val="solid"/>
                      <a:round/>
                      <a:headEnd type="none" w="med" len="med"/>
                      <a:tailEnd type="none" w="med" len="med"/>
                    </a:lnR>
                    <a:lnT w="12700" cap="flat" cmpd="sng" algn="ctr">
                      <a:solidFill>
                        <a:srgbClr val="90D4CA"/>
                      </a:solidFill>
                      <a:prstDash val="solid"/>
                      <a:round/>
                      <a:headEnd type="none" w="med" len="med"/>
                      <a:tailEnd type="none" w="med" len="med"/>
                    </a:lnT>
                    <a:lnB w="9525" cap="flat" cmpd="sng" algn="ctr">
                      <a:solidFill>
                        <a:srgbClr val="90D4CA"/>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121920" marR="121920" marT="60960" marB="60960" anchor="ctr">
                    <a:lnL w="9525" cap="flat" cmpd="sng" algn="ctr">
                      <a:solidFill>
                        <a:srgbClr val="F0E0CA"/>
                      </a:solidFill>
                      <a:prstDash val="solid"/>
                      <a:round/>
                      <a:headEnd type="none" w="med" len="med"/>
                      <a:tailEnd type="none" w="med" len="med"/>
                    </a:lnL>
                    <a:lnR w="9525" cap="flat" cmpd="sng" algn="ctr">
                      <a:solidFill>
                        <a:srgbClr val="F0E0CA"/>
                      </a:solidFill>
                      <a:prstDash val="solid"/>
                      <a:round/>
                      <a:headEnd type="none" w="med" len="med"/>
                      <a:tailEnd type="none" w="med" len="med"/>
                    </a:lnR>
                    <a:lnT w="12700" cap="flat" cmpd="sng" algn="ctr">
                      <a:solidFill>
                        <a:srgbClr val="F0E0CA"/>
                      </a:solidFill>
                      <a:prstDash val="solid"/>
                      <a:round/>
                      <a:headEnd type="none" w="med" len="med"/>
                      <a:tailEnd type="none" w="med" len="med"/>
                    </a:lnT>
                    <a:lnB w="9525" cap="flat" cmpd="sng" algn="ctr">
                      <a:solidFill>
                        <a:srgbClr val="F0E0CA"/>
                      </a:solidFill>
                      <a:prstDash val="solid"/>
                      <a:round/>
                      <a:headEnd type="none" w="med" len="med"/>
                      <a:tailEnd type="none" w="med" len="med"/>
                    </a:lnB>
                    <a:solidFill>
                      <a:srgbClr val="FFFFFF"/>
                    </a:solidFill>
                  </a:tcPr>
                </a:tc>
                <a:extLst>
                  <a:ext uri="{0D108BD9-81ED-4DB2-BD59-A6C34878D82A}">
                    <a16:rowId xmlns:a16="http://schemas.microsoft.com/office/drawing/2014/main" xmlns="" val="1730074496"/>
                  </a:ext>
                </a:extLst>
              </a:tr>
            </a:tbl>
          </a:graphicData>
        </a:graphic>
      </p:graphicFrame>
    </p:spTree>
    <p:extLst>
      <p:ext uri="{BB962C8B-B14F-4D97-AF65-F5344CB8AC3E}">
        <p14:creationId xmlns:p14="http://schemas.microsoft.com/office/powerpoint/2010/main" xmlns="" val="4174490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734195" y="0"/>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4259805893"/>
              </p:ext>
            </p:extLst>
          </p:nvPr>
        </p:nvGraphicFramePr>
        <p:xfrm>
          <a:off x="1164302" y="460344"/>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950817" y="1275756"/>
            <a:ext cx="3004172" cy="3128613"/>
          </a:xfrm>
          <a:prstGeom prst="rect">
            <a:avLst/>
          </a:prstGeom>
        </p:spPr>
        <p:txBody>
          <a:bodyPr wrap="square">
            <a:spAutoFit/>
          </a:bodyPr>
          <a:lstStyle/>
          <a:p>
            <a:pPr algn="just"/>
            <a:r>
              <a:rPr lang="fr-FR" sz="2667" dirty="0">
                <a:solidFill>
                  <a:srgbClr val="0D0D0D"/>
                </a:solidFill>
                <a:latin typeface="Times New Roman" panose="02020603050405020304" pitchFamily="18" charset="0"/>
                <a:cs typeface="Times New Roman" panose="02020603050405020304" pitchFamily="18" charset="0"/>
              </a:rPr>
              <a:t>8. </a:t>
            </a:r>
            <a:r>
              <a:rPr lang="fr-FR" sz="2133" dirty="0">
                <a:solidFill>
                  <a:srgbClr val="0D0D0D"/>
                </a:solidFill>
                <a:latin typeface="Times New Roman" panose="02020603050405020304" pitchFamily="18" charset="0"/>
                <a:cs typeface="Times New Roman" panose="02020603050405020304" pitchFamily="18" charset="0"/>
              </a:rPr>
              <a:t>Analysez les ventes d'Électronique pour l'année 2023 en Amérique du Nord et Europe, en détaillant les résultats par région. </a:t>
            </a:r>
            <a:r>
              <a:rPr lang="fr-FR" sz="2133" b="1" dirty="0">
                <a:solidFill>
                  <a:srgbClr val="FF0000"/>
                </a:solidFill>
                <a:latin typeface="Times New Roman" panose="02020603050405020304" pitchFamily="18" charset="0"/>
                <a:cs typeface="Times New Roman" panose="02020603050405020304" pitchFamily="18" charset="0"/>
              </a:rPr>
              <a:t>SLICE, DICE, DRILL DOWN</a:t>
            </a:r>
          </a:p>
          <a:p>
            <a:pPr algn="just"/>
            <a:endParaRPr lang="fr-FR" sz="2133" dirty="0">
              <a:solidFill>
                <a:srgbClr val="0D0D0D"/>
              </a:solidFill>
              <a:latin typeface="Times New Roman" panose="02020603050405020304" pitchFamily="18" charset="0"/>
              <a:cs typeface="Times New Roman" panose="02020603050405020304" pitchFamily="18" charset="0"/>
            </a:endParaRPr>
          </a:p>
        </p:txBody>
      </p:sp>
      <p:graphicFrame>
        <p:nvGraphicFramePr>
          <p:cNvPr id="6" name="Tableau 5">
            <a:extLst>
              <a:ext uri="{FF2B5EF4-FFF2-40B4-BE49-F238E27FC236}">
                <a16:creationId xmlns:a16="http://schemas.microsoft.com/office/drawing/2014/main" xmlns="" id="{C3AAB5EC-3B00-4055-B6EC-D54BF158D242}"/>
              </a:ext>
            </a:extLst>
          </p:cNvPr>
          <p:cNvGraphicFramePr>
            <a:graphicFrameLocks noGrp="1"/>
          </p:cNvGraphicFramePr>
          <p:nvPr/>
        </p:nvGraphicFramePr>
        <p:xfrm>
          <a:off x="1759097" y="4621843"/>
          <a:ext cx="9042400" cy="2057400"/>
        </p:xfrm>
        <a:graphic>
          <a:graphicData uri="http://schemas.openxmlformats.org/drawingml/2006/table">
            <a:tbl>
              <a:tblPr/>
              <a:tblGrid>
                <a:gridCol w="2260600">
                  <a:extLst>
                    <a:ext uri="{9D8B030D-6E8A-4147-A177-3AD203B41FA5}">
                      <a16:colId xmlns:a16="http://schemas.microsoft.com/office/drawing/2014/main" xmlns="" val="746442331"/>
                    </a:ext>
                  </a:extLst>
                </a:gridCol>
                <a:gridCol w="2260600">
                  <a:extLst>
                    <a:ext uri="{9D8B030D-6E8A-4147-A177-3AD203B41FA5}">
                      <a16:colId xmlns:a16="http://schemas.microsoft.com/office/drawing/2014/main" xmlns="" val="3271831157"/>
                    </a:ext>
                  </a:extLst>
                </a:gridCol>
                <a:gridCol w="2260600">
                  <a:extLst>
                    <a:ext uri="{9D8B030D-6E8A-4147-A177-3AD203B41FA5}">
                      <a16:colId xmlns:a16="http://schemas.microsoft.com/office/drawing/2014/main" xmlns="" val="2624485390"/>
                    </a:ext>
                  </a:extLst>
                </a:gridCol>
                <a:gridCol w="2260600">
                  <a:extLst>
                    <a:ext uri="{9D8B030D-6E8A-4147-A177-3AD203B41FA5}">
                      <a16:colId xmlns:a16="http://schemas.microsoft.com/office/drawing/2014/main" xmlns="" val="1767440738"/>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C0F1ED"/>
                      </a:solidFill>
                      <a:prstDash val="solid"/>
                      <a:round/>
                      <a:headEnd type="none" w="med" len="med"/>
                      <a:tailEnd type="none" w="med" len="med"/>
                    </a:lnL>
                    <a:lnR w="9525" cap="flat" cmpd="sng" algn="ctr">
                      <a:solidFill>
                        <a:srgbClr val="40F9ED"/>
                      </a:solidFill>
                      <a:prstDash val="solid"/>
                      <a:round/>
                      <a:headEnd type="none" w="med" len="med"/>
                      <a:tailEnd type="none" w="med" len="med"/>
                    </a:lnR>
                    <a:lnT w="9525" cap="flat" cmpd="sng" algn="ctr">
                      <a:solidFill>
                        <a:srgbClr val="C0F1ED"/>
                      </a:solidFill>
                      <a:prstDash val="solid"/>
                      <a:round/>
                      <a:headEnd type="none" w="med" len="med"/>
                      <a:tailEnd type="none" w="med" len="med"/>
                    </a:lnT>
                    <a:lnB w="12700" cap="flat" cmpd="sng" algn="ctr">
                      <a:solidFill>
                        <a:srgbClr val="80FBED"/>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40F9ED"/>
                      </a:solidFill>
                      <a:prstDash val="solid"/>
                      <a:round/>
                      <a:headEnd type="none" w="med" len="med"/>
                      <a:tailEnd type="none" w="med" len="med"/>
                    </a:lnL>
                    <a:lnR w="9525" cap="flat" cmpd="sng" algn="ctr">
                      <a:solidFill>
                        <a:srgbClr val="A00BEE"/>
                      </a:solidFill>
                      <a:prstDash val="solid"/>
                      <a:round/>
                      <a:headEnd type="none" w="med" len="med"/>
                      <a:tailEnd type="none" w="med" len="med"/>
                    </a:lnR>
                    <a:lnT w="9525" cap="flat" cmpd="sng" algn="ctr">
                      <a:solidFill>
                        <a:srgbClr val="40F9ED"/>
                      </a:solidFill>
                      <a:prstDash val="solid"/>
                      <a:round/>
                      <a:headEnd type="none" w="med" len="med"/>
                      <a:tailEnd type="none" w="med" len="med"/>
                    </a:lnT>
                    <a:lnB w="12700" cap="flat" cmpd="sng" algn="ctr">
                      <a:solidFill>
                        <a:srgbClr val="B056ED"/>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A00BEE"/>
                      </a:solidFill>
                      <a:prstDash val="solid"/>
                      <a:round/>
                      <a:headEnd type="none" w="med" len="med"/>
                      <a:tailEnd type="none" w="med" len="med"/>
                    </a:lnL>
                    <a:lnR w="9525" cap="flat" cmpd="sng" algn="ctr">
                      <a:solidFill>
                        <a:srgbClr val="3033EE"/>
                      </a:solidFill>
                      <a:prstDash val="solid"/>
                      <a:round/>
                      <a:headEnd type="none" w="med" len="med"/>
                      <a:tailEnd type="none" w="med" len="med"/>
                    </a:lnR>
                    <a:lnT w="9525" cap="flat" cmpd="sng" algn="ctr">
                      <a:solidFill>
                        <a:srgbClr val="A00BEE"/>
                      </a:solidFill>
                      <a:prstDash val="solid"/>
                      <a:round/>
                      <a:headEnd type="none" w="med" len="med"/>
                      <a:tailEnd type="none" w="med" len="med"/>
                    </a:lnT>
                    <a:lnB w="12700" cap="flat" cmpd="sng" algn="ctr">
                      <a:solidFill>
                        <a:srgbClr val="4060ED"/>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3033EE"/>
                      </a:solidFill>
                      <a:prstDash val="solid"/>
                      <a:round/>
                      <a:headEnd type="none" w="med" len="med"/>
                      <a:tailEnd type="none" w="med" len="med"/>
                    </a:lnL>
                    <a:lnR w="9525" cap="flat" cmpd="sng" algn="ctr">
                      <a:solidFill>
                        <a:srgbClr val="3033EE"/>
                      </a:solidFill>
                      <a:prstDash val="solid"/>
                      <a:round/>
                      <a:headEnd type="none" w="med" len="med"/>
                      <a:tailEnd type="none" w="med" len="med"/>
                    </a:lnR>
                    <a:lnT w="9525" cap="flat" cmpd="sng" algn="ctr">
                      <a:solidFill>
                        <a:srgbClr val="3033EE"/>
                      </a:solidFill>
                      <a:prstDash val="solid"/>
                      <a:round/>
                      <a:headEnd type="none" w="med" len="med"/>
                      <a:tailEnd type="none" w="med" len="med"/>
                    </a:lnT>
                    <a:lnB w="12700" cap="flat" cmpd="sng" algn="ctr">
                      <a:solidFill>
                        <a:srgbClr val="40F9ED"/>
                      </a:solidFill>
                      <a:prstDash val="solid"/>
                      <a:round/>
                      <a:headEnd type="none" w="med" len="med"/>
                      <a:tailEnd type="none" w="med" len="med"/>
                    </a:lnB>
                    <a:solidFill>
                      <a:srgbClr val="FFFFFF"/>
                    </a:solidFill>
                  </a:tcPr>
                </a:tc>
                <a:extLst>
                  <a:ext uri="{0D108BD9-81ED-4DB2-BD59-A6C34878D82A}">
                    <a16:rowId xmlns:a16="http://schemas.microsoft.com/office/drawing/2014/main" xmlns="" val="312387782"/>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80FBED"/>
                      </a:solidFill>
                      <a:prstDash val="solid"/>
                      <a:round/>
                      <a:headEnd type="none" w="med" len="med"/>
                      <a:tailEnd type="none" w="med" len="med"/>
                    </a:lnL>
                    <a:lnR w="9525" cap="flat" cmpd="sng" algn="ctr">
                      <a:solidFill>
                        <a:srgbClr val="B056ED"/>
                      </a:solidFill>
                      <a:prstDash val="solid"/>
                      <a:round/>
                      <a:headEnd type="none" w="med" len="med"/>
                      <a:tailEnd type="none" w="med" len="med"/>
                    </a:lnR>
                    <a:lnT w="12700" cap="flat" cmpd="sng" algn="ctr">
                      <a:solidFill>
                        <a:srgbClr val="80FBED"/>
                      </a:solidFill>
                      <a:prstDash val="solid"/>
                      <a:round/>
                      <a:headEnd type="none" w="med" len="med"/>
                      <a:tailEnd type="none" w="med" len="med"/>
                    </a:lnT>
                    <a:lnB w="12700" cap="flat" cmpd="sng" algn="ctr">
                      <a:solidFill>
                        <a:srgbClr val="D04EED"/>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B056ED"/>
                      </a:solidFill>
                      <a:prstDash val="solid"/>
                      <a:round/>
                      <a:headEnd type="none" w="med" len="med"/>
                      <a:tailEnd type="none" w="med" len="med"/>
                    </a:lnL>
                    <a:lnR w="9525" cap="flat" cmpd="sng" algn="ctr">
                      <a:solidFill>
                        <a:srgbClr val="4060ED"/>
                      </a:solidFill>
                      <a:prstDash val="solid"/>
                      <a:round/>
                      <a:headEnd type="none" w="med" len="med"/>
                      <a:tailEnd type="none" w="med" len="med"/>
                    </a:lnR>
                    <a:lnT w="12700" cap="flat" cmpd="sng" algn="ctr">
                      <a:solidFill>
                        <a:srgbClr val="B056ED"/>
                      </a:solidFill>
                      <a:prstDash val="solid"/>
                      <a:round/>
                      <a:headEnd type="none" w="med" len="med"/>
                      <a:tailEnd type="none" w="med" len="med"/>
                    </a:lnT>
                    <a:lnB w="12700" cap="flat" cmpd="sng" algn="ctr">
                      <a:solidFill>
                        <a:srgbClr val="30DFED"/>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4060ED"/>
                      </a:solidFill>
                      <a:prstDash val="solid"/>
                      <a:round/>
                      <a:headEnd type="none" w="med" len="med"/>
                      <a:tailEnd type="none" w="med" len="med"/>
                    </a:lnL>
                    <a:lnR w="9525" cap="flat" cmpd="sng" algn="ctr">
                      <a:solidFill>
                        <a:srgbClr val="40F9ED"/>
                      </a:solidFill>
                      <a:prstDash val="solid"/>
                      <a:round/>
                      <a:headEnd type="none" w="med" len="med"/>
                      <a:tailEnd type="none" w="med" len="med"/>
                    </a:lnR>
                    <a:lnT w="12700" cap="flat" cmpd="sng" algn="ctr">
                      <a:solidFill>
                        <a:srgbClr val="4060ED"/>
                      </a:solidFill>
                      <a:prstDash val="solid"/>
                      <a:round/>
                      <a:headEnd type="none" w="med" len="med"/>
                      <a:tailEnd type="none" w="med" len="med"/>
                    </a:lnT>
                    <a:lnB w="12700" cap="flat" cmpd="sng" algn="ctr">
                      <a:solidFill>
                        <a:srgbClr val="F0A9ED"/>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121920" marR="121920" marT="60960" marB="60960" anchor="ctr">
                    <a:lnL w="9525" cap="flat" cmpd="sng" algn="ctr">
                      <a:solidFill>
                        <a:srgbClr val="40F9ED"/>
                      </a:solidFill>
                      <a:prstDash val="solid"/>
                      <a:round/>
                      <a:headEnd type="none" w="med" len="med"/>
                      <a:tailEnd type="none" w="med" len="med"/>
                    </a:lnL>
                    <a:lnR w="9525" cap="flat" cmpd="sng" algn="ctr">
                      <a:solidFill>
                        <a:srgbClr val="40F9ED"/>
                      </a:solidFill>
                      <a:prstDash val="solid"/>
                      <a:round/>
                      <a:headEnd type="none" w="med" len="med"/>
                      <a:tailEnd type="none" w="med" len="med"/>
                    </a:lnR>
                    <a:lnT w="12700" cap="flat" cmpd="sng" algn="ctr">
                      <a:solidFill>
                        <a:srgbClr val="40F9ED"/>
                      </a:solidFill>
                      <a:prstDash val="solid"/>
                      <a:round/>
                      <a:headEnd type="none" w="med" len="med"/>
                      <a:tailEnd type="none" w="med" len="med"/>
                    </a:lnT>
                    <a:lnB w="12700" cap="flat" cmpd="sng" algn="ctr">
                      <a:solidFill>
                        <a:srgbClr val="800DEE"/>
                      </a:solidFill>
                      <a:prstDash val="solid"/>
                      <a:round/>
                      <a:headEnd type="none" w="med" len="med"/>
                      <a:tailEnd type="none" w="med" len="med"/>
                    </a:lnB>
                    <a:solidFill>
                      <a:srgbClr val="FFFFFF"/>
                    </a:solidFill>
                  </a:tcPr>
                </a:tc>
                <a:extLst>
                  <a:ext uri="{0D108BD9-81ED-4DB2-BD59-A6C34878D82A}">
                    <a16:rowId xmlns:a16="http://schemas.microsoft.com/office/drawing/2014/main" xmlns="" val="2410070434"/>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D04EED"/>
                      </a:solidFill>
                      <a:prstDash val="solid"/>
                      <a:round/>
                      <a:headEnd type="none" w="med" len="med"/>
                      <a:tailEnd type="none" w="med" len="med"/>
                    </a:lnL>
                    <a:lnR w="9525" cap="flat" cmpd="sng" algn="ctr">
                      <a:solidFill>
                        <a:srgbClr val="30DFED"/>
                      </a:solidFill>
                      <a:prstDash val="solid"/>
                      <a:round/>
                      <a:headEnd type="none" w="med" len="med"/>
                      <a:tailEnd type="none" w="med" len="med"/>
                    </a:lnR>
                    <a:lnT w="12700" cap="flat" cmpd="sng" algn="ctr">
                      <a:solidFill>
                        <a:srgbClr val="D04EED"/>
                      </a:solidFill>
                      <a:prstDash val="solid"/>
                      <a:round/>
                      <a:headEnd type="none" w="med" len="med"/>
                      <a:tailEnd type="none" w="med" len="med"/>
                    </a:lnT>
                    <a:lnB w="12700" cap="flat" cmpd="sng" algn="ctr">
                      <a:solidFill>
                        <a:srgbClr val="4019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30DFED"/>
                      </a:solidFill>
                      <a:prstDash val="solid"/>
                      <a:round/>
                      <a:headEnd type="none" w="med" len="med"/>
                      <a:tailEnd type="none" w="med" len="med"/>
                    </a:lnL>
                    <a:lnR w="9525" cap="flat" cmpd="sng" algn="ctr">
                      <a:solidFill>
                        <a:srgbClr val="F0A9ED"/>
                      </a:solidFill>
                      <a:prstDash val="solid"/>
                      <a:round/>
                      <a:headEnd type="none" w="med" len="med"/>
                      <a:tailEnd type="none" w="med" len="med"/>
                    </a:lnR>
                    <a:lnT w="12700" cap="flat" cmpd="sng" algn="ctr">
                      <a:solidFill>
                        <a:srgbClr val="30DFED"/>
                      </a:solidFill>
                      <a:prstDash val="solid"/>
                      <a:round/>
                      <a:headEnd type="none" w="med" len="med"/>
                      <a:tailEnd type="none" w="med" len="med"/>
                    </a:lnT>
                    <a:lnB w="12700" cap="flat" cmpd="sng" algn="ctr">
                      <a:solidFill>
                        <a:srgbClr val="905F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F0A9ED"/>
                      </a:solidFill>
                      <a:prstDash val="solid"/>
                      <a:round/>
                      <a:headEnd type="none" w="med" len="med"/>
                      <a:tailEnd type="none" w="med" len="med"/>
                    </a:lnL>
                    <a:lnR w="9525" cap="flat" cmpd="sng" algn="ctr">
                      <a:solidFill>
                        <a:srgbClr val="800DEE"/>
                      </a:solidFill>
                      <a:prstDash val="solid"/>
                      <a:round/>
                      <a:headEnd type="none" w="med" len="med"/>
                      <a:tailEnd type="none" w="med" len="med"/>
                    </a:lnR>
                    <a:lnT w="12700" cap="flat" cmpd="sng" algn="ctr">
                      <a:solidFill>
                        <a:srgbClr val="F0A9ED"/>
                      </a:solidFill>
                      <a:prstDash val="solid"/>
                      <a:round/>
                      <a:headEnd type="none" w="med" len="med"/>
                      <a:tailEnd type="none" w="med" len="med"/>
                    </a:lnT>
                    <a:lnB w="12700" cap="flat" cmpd="sng" algn="ctr">
                      <a:solidFill>
                        <a:srgbClr val="3074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121920" marR="121920" marT="60960" marB="60960" anchor="ctr">
                    <a:lnL w="9525" cap="flat" cmpd="sng" algn="ctr">
                      <a:solidFill>
                        <a:srgbClr val="800DEE"/>
                      </a:solidFill>
                      <a:prstDash val="solid"/>
                      <a:round/>
                      <a:headEnd type="none" w="med" len="med"/>
                      <a:tailEnd type="none" w="med" len="med"/>
                    </a:lnL>
                    <a:lnR w="9525" cap="flat" cmpd="sng" algn="ctr">
                      <a:solidFill>
                        <a:srgbClr val="800DEE"/>
                      </a:solidFill>
                      <a:prstDash val="solid"/>
                      <a:round/>
                      <a:headEnd type="none" w="med" len="med"/>
                      <a:tailEnd type="none" w="med" len="med"/>
                    </a:lnR>
                    <a:lnT w="12700" cap="flat" cmpd="sng" algn="ctr">
                      <a:solidFill>
                        <a:srgbClr val="800DEE"/>
                      </a:solidFill>
                      <a:prstDash val="solid"/>
                      <a:round/>
                      <a:headEnd type="none" w="med" len="med"/>
                      <a:tailEnd type="none" w="med" len="med"/>
                    </a:lnT>
                    <a:lnB w="12700" cap="flat" cmpd="sng" algn="ctr">
                      <a:solidFill>
                        <a:srgbClr val="90C5F0"/>
                      </a:solidFill>
                      <a:prstDash val="solid"/>
                      <a:round/>
                      <a:headEnd type="none" w="med" len="med"/>
                      <a:tailEnd type="none" w="med" len="med"/>
                    </a:lnB>
                    <a:solidFill>
                      <a:srgbClr val="FFFFFF"/>
                    </a:solidFill>
                  </a:tcPr>
                </a:tc>
                <a:extLst>
                  <a:ext uri="{0D108BD9-81ED-4DB2-BD59-A6C34878D82A}">
                    <a16:rowId xmlns:a16="http://schemas.microsoft.com/office/drawing/2014/main" xmlns="" val="3488054222"/>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4019F0"/>
                      </a:solidFill>
                      <a:prstDash val="solid"/>
                      <a:round/>
                      <a:headEnd type="none" w="med" len="med"/>
                      <a:tailEnd type="none" w="med" len="med"/>
                    </a:lnL>
                    <a:lnR w="9525" cap="flat" cmpd="sng" algn="ctr">
                      <a:solidFill>
                        <a:srgbClr val="905FF0"/>
                      </a:solidFill>
                      <a:prstDash val="solid"/>
                      <a:round/>
                      <a:headEnd type="none" w="med" len="med"/>
                      <a:tailEnd type="none" w="med" len="med"/>
                    </a:lnR>
                    <a:lnT w="12700" cap="flat" cmpd="sng" algn="ctr">
                      <a:solidFill>
                        <a:srgbClr val="4019F0"/>
                      </a:solidFill>
                      <a:prstDash val="solid"/>
                      <a:round/>
                      <a:headEnd type="none" w="med" len="med"/>
                      <a:tailEnd type="none" w="med" len="med"/>
                    </a:lnT>
                    <a:lnB w="12700" cap="flat" cmpd="sng" algn="ctr">
                      <a:solidFill>
                        <a:srgbClr val="501E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905FF0"/>
                      </a:solidFill>
                      <a:prstDash val="solid"/>
                      <a:round/>
                      <a:headEnd type="none" w="med" len="med"/>
                      <a:tailEnd type="none" w="med" len="med"/>
                    </a:lnL>
                    <a:lnR w="9525" cap="flat" cmpd="sng" algn="ctr">
                      <a:solidFill>
                        <a:srgbClr val="3074F0"/>
                      </a:solidFill>
                      <a:prstDash val="solid"/>
                      <a:round/>
                      <a:headEnd type="none" w="med" len="med"/>
                      <a:tailEnd type="none" w="med" len="med"/>
                    </a:lnR>
                    <a:lnT w="12700" cap="flat" cmpd="sng" algn="ctr">
                      <a:solidFill>
                        <a:srgbClr val="905FF0"/>
                      </a:solidFill>
                      <a:prstDash val="solid"/>
                      <a:round/>
                      <a:headEnd type="none" w="med" len="med"/>
                      <a:tailEnd type="none" w="med" len="med"/>
                    </a:lnT>
                    <a:lnB w="12700" cap="flat" cmpd="sng" algn="ctr">
                      <a:solidFill>
                        <a:srgbClr val="1064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3074F0"/>
                      </a:solidFill>
                      <a:prstDash val="solid"/>
                      <a:round/>
                      <a:headEnd type="none" w="med" len="med"/>
                      <a:tailEnd type="none" w="med" len="med"/>
                    </a:lnL>
                    <a:lnR w="9525" cap="flat" cmpd="sng" algn="ctr">
                      <a:solidFill>
                        <a:srgbClr val="90C5F0"/>
                      </a:solidFill>
                      <a:prstDash val="solid"/>
                      <a:round/>
                      <a:headEnd type="none" w="med" len="med"/>
                      <a:tailEnd type="none" w="med" len="med"/>
                    </a:lnR>
                    <a:lnT w="12700" cap="flat" cmpd="sng" algn="ctr">
                      <a:solidFill>
                        <a:srgbClr val="3074F0"/>
                      </a:solidFill>
                      <a:prstDash val="solid"/>
                      <a:round/>
                      <a:headEnd type="none" w="med" len="med"/>
                      <a:tailEnd type="none" w="med" len="med"/>
                    </a:lnT>
                    <a:lnB w="12700" cap="flat" cmpd="sng" algn="ctr">
                      <a:solidFill>
                        <a:srgbClr val="50C6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1200</a:t>
                      </a:r>
                    </a:p>
                  </a:txBody>
                  <a:tcPr marL="121920" marR="121920" marT="60960" marB="60960" anchor="ctr">
                    <a:lnL w="9525" cap="flat" cmpd="sng" algn="ctr">
                      <a:solidFill>
                        <a:srgbClr val="90C5F0"/>
                      </a:solidFill>
                      <a:prstDash val="solid"/>
                      <a:round/>
                      <a:headEnd type="none" w="med" len="med"/>
                      <a:tailEnd type="none" w="med" len="med"/>
                    </a:lnL>
                    <a:lnR w="9525" cap="flat" cmpd="sng" algn="ctr">
                      <a:solidFill>
                        <a:srgbClr val="90C5F0"/>
                      </a:solidFill>
                      <a:prstDash val="solid"/>
                      <a:round/>
                      <a:headEnd type="none" w="med" len="med"/>
                      <a:tailEnd type="none" w="med" len="med"/>
                    </a:lnR>
                    <a:lnT w="12700" cap="flat" cmpd="sng" algn="ctr">
                      <a:solidFill>
                        <a:srgbClr val="90C5F0"/>
                      </a:solidFill>
                      <a:prstDash val="solid"/>
                      <a:round/>
                      <a:headEnd type="none" w="med" len="med"/>
                      <a:tailEnd type="none" w="med" len="med"/>
                    </a:lnT>
                    <a:lnB w="12700" cap="flat" cmpd="sng" algn="ctr">
                      <a:solidFill>
                        <a:srgbClr val="100AF0"/>
                      </a:solidFill>
                      <a:prstDash val="solid"/>
                      <a:round/>
                      <a:headEnd type="none" w="med" len="med"/>
                      <a:tailEnd type="none" w="med" len="med"/>
                    </a:lnB>
                    <a:solidFill>
                      <a:srgbClr val="FFFFFF"/>
                    </a:solidFill>
                  </a:tcPr>
                </a:tc>
                <a:extLst>
                  <a:ext uri="{0D108BD9-81ED-4DB2-BD59-A6C34878D82A}">
                    <a16:rowId xmlns:a16="http://schemas.microsoft.com/office/drawing/2014/main" xmlns="" val="2345431117"/>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501EF0"/>
                      </a:solidFill>
                      <a:prstDash val="solid"/>
                      <a:round/>
                      <a:headEnd type="none" w="med" len="med"/>
                      <a:tailEnd type="none" w="med" len="med"/>
                    </a:lnL>
                    <a:lnR w="9525" cap="flat" cmpd="sng" algn="ctr">
                      <a:solidFill>
                        <a:srgbClr val="1064F0"/>
                      </a:solidFill>
                      <a:prstDash val="solid"/>
                      <a:round/>
                      <a:headEnd type="none" w="med" len="med"/>
                      <a:tailEnd type="none" w="med" len="med"/>
                    </a:lnR>
                    <a:lnT w="12700" cap="flat" cmpd="sng" algn="ctr">
                      <a:solidFill>
                        <a:srgbClr val="501EF0"/>
                      </a:solidFill>
                      <a:prstDash val="solid"/>
                      <a:round/>
                      <a:headEnd type="none" w="med" len="med"/>
                      <a:tailEnd type="none" w="med" len="med"/>
                    </a:lnT>
                    <a:lnB w="9525" cap="flat" cmpd="sng" algn="ctr">
                      <a:solidFill>
                        <a:srgbClr val="501E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121920" marR="121920" marT="60960" marB="60960" anchor="ctr">
                    <a:lnL w="9525" cap="flat" cmpd="sng" algn="ctr">
                      <a:solidFill>
                        <a:srgbClr val="1064F0"/>
                      </a:solidFill>
                      <a:prstDash val="solid"/>
                      <a:round/>
                      <a:headEnd type="none" w="med" len="med"/>
                      <a:tailEnd type="none" w="med" len="med"/>
                    </a:lnL>
                    <a:lnR w="9525" cap="flat" cmpd="sng" algn="ctr">
                      <a:solidFill>
                        <a:srgbClr val="50C6F0"/>
                      </a:solidFill>
                      <a:prstDash val="solid"/>
                      <a:round/>
                      <a:headEnd type="none" w="med" len="med"/>
                      <a:tailEnd type="none" w="med" len="med"/>
                    </a:lnR>
                    <a:lnT w="12700" cap="flat" cmpd="sng" algn="ctr">
                      <a:solidFill>
                        <a:srgbClr val="1064F0"/>
                      </a:solidFill>
                      <a:prstDash val="solid"/>
                      <a:round/>
                      <a:headEnd type="none" w="med" len="med"/>
                      <a:tailEnd type="none" w="med" len="med"/>
                    </a:lnT>
                    <a:lnB w="9525" cap="flat" cmpd="sng" algn="ctr">
                      <a:solidFill>
                        <a:srgbClr val="1064F0"/>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121920" marR="121920" marT="60960" marB="60960" anchor="ctr">
                    <a:lnL w="9525" cap="flat" cmpd="sng" algn="ctr">
                      <a:solidFill>
                        <a:srgbClr val="50C6F0"/>
                      </a:solidFill>
                      <a:prstDash val="solid"/>
                      <a:round/>
                      <a:headEnd type="none" w="med" len="med"/>
                      <a:tailEnd type="none" w="med" len="med"/>
                    </a:lnL>
                    <a:lnR w="9525" cap="flat" cmpd="sng" algn="ctr">
                      <a:solidFill>
                        <a:srgbClr val="100AF0"/>
                      </a:solidFill>
                      <a:prstDash val="solid"/>
                      <a:round/>
                      <a:headEnd type="none" w="med" len="med"/>
                      <a:tailEnd type="none" w="med" len="med"/>
                    </a:lnR>
                    <a:lnT w="12700" cap="flat" cmpd="sng" algn="ctr">
                      <a:solidFill>
                        <a:srgbClr val="50C6F0"/>
                      </a:solidFill>
                      <a:prstDash val="solid"/>
                      <a:round/>
                      <a:headEnd type="none" w="med" len="med"/>
                      <a:tailEnd type="none" w="med" len="med"/>
                    </a:lnT>
                    <a:lnB w="9525" cap="flat" cmpd="sng" algn="ctr">
                      <a:solidFill>
                        <a:srgbClr val="50C6F0"/>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121920" marR="121920" marT="60960" marB="60960" anchor="ctr">
                    <a:lnL w="9525" cap="flat" cmpd="sng" algn="ctr">
                      <a:solidFill>
                        <a:srgbClr val="100AF0"/>
                      </a:solidFill>
                      <a:prstDash val="solid"/>
                      <a:round/>
                      <a:headEnd type="none" w="med" len="med"/>
                      <a:tailEnd type="none" w="med" len="med"/>
                    </a:lnL>
                    <a:lnR w="9525" cap="flat" cmpd="sng" algn="ctr">
                      <a:solidFill>
                        <a:srgbClr val="100AF0"/>
                      </a:solidFill>
                      <a:prstDash val="solid"/>
                      <a:round/>
                      <a:headEnd type="none" w="med" len="med"/>
                      <a:tailEnd type="none" w="med" len="med"/>
                    </a:lnR>
                    <a:lnT w="12700" cap="flat" cmpd="sng" algn="ctr">
                      <a:solidFill>
                        <a:srgbClr val="100AF0"/>
                      </a:solidFill>
                      <a:prstDash val="solid"/>
                      <a:round/>
                      <a:headEnd type="none" w="med" len="med"/>
                      <a:tailEnd type="none" w="med" len="med"/>
                    </a:lnT>
                    <a:lnB w="9525" cap="flat" cmpd="sng" algn="ctr">
                      <a:solidFill>
                        <a:srgbClr val="100AF0"/>
                      </a:solidFill>
                      <a:prstDash val="solid"/>
                      <a:round/>
                      <a:headEnd type="none" w="med" len="med"/>
                      <a:tailEnd type="none" w="med" len="med"/>
                    </a:lnB>
                    <a:solidFill>
                      <a:srgbClr val="FFFFFF"/>
                    </a:solidFill>
                  </a:tcPr>
                </a:tc>
                <a:extLst>
                  <a:ext uri="{0D108BD9-81ED-4DB2-BD59-A6C34878D82A}">
                    <a16:rowId xmlns:a16="http://schemas.microsoft.com/office/drawing/2014/main" xmlns="" val="3349249099"/>
                  </a:ext>
                </a:extLst>
              </a:tr>
            </a:tbl>
          </a:graphicData>
        </a:graphic>
      </p:graphicFrame>
    </p:spTree>
    <p:extLst>
      <p:ext uri="{BB962C8B-B14F-4D97-AF65-F5344CB8AC3E}">
        <p14:creationId xmlns:p14="http://schemas.microsoft.com/office/powerpoint/2010/main" xmlns="" val="190810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5D95DAB0-3C72-44E5-BB09-D714A5D8141F}"/>
              </a:ext>
            </a:extLst>
          </p:cNvPr>
          <p:cNvSpPr txBox="1"/>
          <p:nvPr/>
        </p:nvSpPr>
        <p:spPr>
          <a:xfrm>
            <a:off x="708437" y="-13285"/>
            <a:ext cx="1356462" cy="461665"/>
          </a:xfrm>
          <a:prstGeom prst="rect">
            <a:avLst/>
          </a:prstGeom>
          <a:noFill/>
        </p:spPr>
        <p:txBody>
          <a:bodyPr wrap="none" rtlCol="0">
            <a:spAutoFit/>
          </a:bodyPr>
          <a:lstStyle/>
          <a:p>
            <a:r>
              <a:rPr lang="fr-FR" sz="2400" b="1" dirty="0">
                <a:solidFill>
                  <a:srgbClr val="FF0000"/>
                </a:solidFill>
                <a:latin typeface="Times New Roman" panose="02020603050405020304" pitchFamily="18" charset="0"/>
                <a:cs typeface="Times New Roman" panose="02020603050405020304" pitchFamily="18" charset="0"/>
              </a:rPr>
              <a:t>Solution </a:t>
            </a:r>
          </a:p>
        </p:txBody>
      </p:sp>
      <p:graphicFrame>
        <p:nvGraphicFramePr>
          <p:cNvPr id="3" name="Tableau 2">
            <a:extLst>
              <a:ext uri="{FF2B5EF4-FFF2-40B4-BE49-F238E27FC236}">
                <a16:creationId xmlns:a16="http://schemas.microsoft.com/office/drawing/2014/main" xmlns="" id="{F0690FE8-181B-4B35-BC18-4D70E2248B67}"/>
              </a:ext>
            </a:extLst>
          </p:cNvPr>
          <p:cNvGraphicFramePr>
            <a:graphicFrameLocks noGrp="1"/>
          </p:cNvGraphicFramePr>
          <p:nvPr>
            <p:extLst>
              <p:ext uri="{D42A27DB-BD31-4B8C-83A1-F6EECF244321}">
                <p14:modId xmlns:p14="http://schemas.microsoft.com/office/powerpoint/2010/main" xmlns="" val="1604710791"/>
              </p:ext>
            </p:extLst>
          </p:nvPr>
        </p:nvGraphicFramePr>
        <p:xfrm>
          <a:off x="1138544" y="447059"/>
          <a:ext cx="7196986" cy="3726550"/>
        </p:xfrm>
        <a:graphic>
          <a:graphicData uri="http://schemas.openxmlformats.org/drawingml/2006/table">
            <a:tbl>
              <a:tblPr/>
              <a:tblGrid>
                <a:gridCol w="1799247">
                  <a:extLst>
                    <a:ext uri="{9D8B030D-6E8A-4147-A177-3AD203B41FA5}">
                      <a16:colId xmlns:a16="http://schemas.microsoft.com/office/drawing/2014/main" xmlns="" val="3817588477"/>
                    </a:ext>
                  </a:extLst>
                </a:gridCol>
                <a:gridCol w="1799247">
                  <a:extLst>
                    <a:ext uri="{9D8B030D-6E8A-4147-A177-3AD203B41FA5}">
                      <a16:colId xmlns:a16="http://schemas.microsoft.com/office/drawing/2014/main" xmlns="" val="260086358"/>
                    </a:ext>
                  </a:extLst>
                </a:gridCol>
                <a:gridCol w="2036429">
                  <a:extLst>
                    <a:ext uri="{9D8B030D-6E8A-4147-A177-3AD203B41FA5}">
                      <a16:colId xmlns:a16="http://schemas.microsoft.com/office/drawing/2014/main" xmlns="" val="284669907"/>
                    </a:ext>
                  </a:extLst>
                </a:gridCol>
                <a:gridCol w="1562063">
                  <a:extLst>
                    <a:ext uri="{9D8B030D-6E8A-4147-A177-3AD203B41FA5}">
                      <a16:colId xmlns:a16="http://schemas.microsoft.com/office/drawing/2014/main" xmlns="" val="1760881332"/>
                    </a:ext>
                  </a:extLst>
                </a:gridCol>
              </a:tblGrid>
              <a:tr h="375099">
                <a:tc>
                  <a:txBody>
                    <a:bodyPr/>
                    <a:lstStyle/>
                    <a:p>
                      <a:pPr fontAlgn="b"/>
                      <a:r>
                        <a:rPr lang="fr-FR" sz="1900" b="1" dirty="0">
                          <a:effectLst/>
                          <a:latin typeface="Times New Roman" panose="02020603050405020304" pitchFamily="18" charset="0"/>
                          <a:cs typeface="Times New Roman" panose="02020603050405020304" pitchFamily="18" charset="0"/>
                        </a:rPr>
                        <a:t>Temps</a:t>
                      </a:r>
                    </a:p>
                  </a:txBody>
                  <a:tcPr marL="90620" marR="90620" marT="45309" marB="45309" anchor="b">
                    <a:lnL w="9525" cap="flat" cmpd="sng" algn="ctr">
                      <a:solidFill>
                        <a:srgbClr val="70FAF9"/>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70FAF9"/>
                      </a:solidFill>
                      <a:prstDash val="solid"/>
                      <a:round/>
                      <a:headEnd type="none" w="med" len="med"/>
                      <a:tailEnd type="none" w="med" len="med"/>
                    </a:lnT>
                    <a:lnB w="12700" cap="flat" cmpd="sng" algn="ctr">
                      <a:solidFill>
                        <a:srgbClr val="D0FAF9"/>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E005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90620" marR="90620" marT="45309" marB="45309" anchor="b">
                    <a:lnL w="9525" cap="flat" cmpd="sng" algn="ctr">
                      <a:solidFill>
                        <a:srgbClr val="E005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E005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90620" marR="90620" marT="45309" marB="45309" anchor="b">
                    <a:lnL w="9525" cap="flat" cmpd="sng" algn="ctr">
                      <a:solidFill>
                        <a:srgbClr val="100FFA"/>
                      </a:solidFill>
                      <a:prstDash val="solid"/>
                      <a:round/>
                      <a:headEnd type="none" w="med" len="med"/>
                      <a:tailEnd type="none" w="med" len="med"/>
                    </a:lnL>
                    <a:lnR w="9525" cap="flat" cmpd="sng" algn="ctr">
                      <a:solidFill>
                        <a:srgbClr val="100FFA"/>
                      </a:solidFill>
                      <a:prstDash val="solid"/>
                      <a:round/>
                      <a:headEnd type="none" w="med" len="med"/>
                      <a:tailEnd type="none" w="med" len="med"/>
                    </a:lnR>
                    <a:lnT w="9525" cap="flat" cmpd="sng" algn="ctr">
                      <a:solidFill>
                        <a:srgbClr val="100F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extLst>
                  <a:ext uri="{0D108BD9-81ED-4DB2-BD59-A6C34878D82A}">
                    <a16:rowId xmlns:a16="http://schemas.microsoft.com/office/drawing/2014/main" xmlns="" val="3875824366"/>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D0FAF9"/>
                      </a:solidFill>
                      <a:prstDash val="solid"/>
                      <a:round/>
                      <a:headEnd type="none" w="med" len="med"/>
                      <a:tailEnd type="none" w="med" len="med"/>
                    </a:lnL>
                    <a:lnR w="9525" cap="flat" cmpd="sng" algn="ctr">
                      <a:solidFill>
                        <a:srgbClr val="E008FA"/>
                      </a:solidFill>
                      <a:prstDash val="solid"/>
                      <a:round/>
                      <a:headEnd type="none" w="med" len="med"/>
                      <a:tailEnd type="none" w="med" len="med"/>
                    </a:lnR>
                    <a:lnT w="12700" cap="flat" cmpd="sng" algn="ctr">
                      <a:solidFill>
                        <a:srgbClr val="D0FAF9"/>
                      </a:solidFill>
                      <a:prstDash val="solid"/>
                      <a:round/>
                      <a:headEnd type="none" w="med" len="med"/>
                      <a:tailEnd type="none" w="med" len="med"/>
                    </a:lnT>
                    <a:lnB w="12700" cap="flat" cmpd="sng" algn="ctr">
                      <a:solidFill>
                        <a:srgbClr val="E00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7015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102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1000</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E01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501DFA"/>
                      </a:solidFill>
                      <a:prstDash val="solid"/>
                      <a:round/>
                      <a:headEnd type="none" w="med" len="med"/>
                      <a:tailEnd type="none" w="med" len="med"/>
                    </a:lnB>
                  </a:tcPr>
                </a:tc>
                <a:extLst>
                  <a:ext uri="{0D108BD9-81ED-4DB2-BD59-A6C34878D82A}">
                    <a16:rowId xmlns:a16="http://schemas.microsoft.com/office/drawing/2014/main" xmlns="" val="2175140969"/>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08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08FA"/>
                      </a:solidFill>
                      <a:prstDash val="solid"/>
                      <a:round/>
                      <a:headEnd type="none" w="med" len="med"/>
                      <a:tailEnd type="none" w="med" len="med"/>
                    </a:lnT>
                    <a:lnB w="12700" cap="flat" cmpd="sng" algn="ctr">
                      <a:solidFill>
                        <a:srgbClr val="E01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1024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4021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1024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1024FA"/>
                      </a:solidFill>
                      <a:prstDash val="solid"/>
                      <a:round/>
                      <a:headEnd type="none" w="med" len="med"/>
                      <a:tailEnd type="none" w="med" len="med"/>
                    </a:lnT>
                    <a:lnB w="12700" cap="flat" cmpd="sng" algn="ctr">
                      <a:solidFill>
                        <a:srgbClr val="902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800</a:t>
                      </a:r>
                    </a:p>
                  </a:txBody>
                  <a:tcPr marL="90620" marR="90620" marT="45309" marB="45309" anchor="ctr">
                    <a:lnL w="9525" cap="flat" cmpd="sng" algn="ctr">
                      <a:solidFill>
                        <a:srgbClr val="501DFA"/>
                      </a:solidFill>
                      <a:prstDash val="solid"/>
                      <a:round/>
                      <a:headEnd type="none" w="med" len="med"/>
                      <a:tailEnd type="none" w="med" len="med"/>
                    </a:lnL>
                    <a:lnR w="9525" cap="flat" cmpd="sng" algn="ctr">
                      <a:solidFill>
                        <a:srgbClr val="501DFA"/>
                      </a:solidFill>
                      <a:prstDash val="solid"/>
                      <a:round/>
                      <a:headEnd type="none" w="med" len="med"/>
                      <a:tailEnd type="none" w="med" len="med"/>
                    </a:lnR>
                    <a:lnT w="12700" cap="flat" cmpd="sng" algn="ctr">
                      <a:solidFill>
                        <a:srgbClr val="501DFA"/>
                      </a:solidFill>
                      <a:prstDash val="solid"/>
                      <a:round/>
                      <a:headEnd type="none" w="med" len="med"/>
                      <a:tailEnd type="none" w="med" len="med"/>
                    </a:lnT>
                    <a:lnB w="12700" cap="flat" cmpd="sng" algn="ctr">
                      <a:solidFill>
                        <a:srgbClr val="9031FA"/>
                      </a:solidFill>
                      <a:prstDash val="solid"/>
                      <a:round/>
                      <a:headEnd type="none" w="med" len="med"/>
                      <a:tailEnd type="none" w="med" len="med"/>
                    </a:lnB>
                  </a:tcPr>
                </a:tc>
                <a:extLst>
                  <a:ext uri="{0D108BD9-81ED-4DB2-BD59-A6C34878D82A}">
                    <a16:rowId xmlns:a16="http://schemas.microsoft.com/office/drawing/2014/main" xmlns="" val="3011535857"/>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E011FA"/>
                      </a:solidFill>
                      <a:prstDash val="solid"/>
                      <a:round/>
                      <a:headEnd type="none" w="med" len="med"/>
                      <a:tailEnd type="none" w="med" len="med"/>
                    </a:lnL>
                    <a:lnR w="9525" cap="flat" cmpd="sng" algn="ctr">
                      <a:solidFill>
                        <a:srgbClr val="4021FA"/>
                      </a:solidFill>
                      <a:prstDash val="solid"/>
                      <a:round/>
                      <a:headEnd type="none" w="med" len="med"/>
                      <a:tailEnd type="none" w="med" len="med"/>
                    </a:lnR>
                    <a:lnT w="12700" cap="flat" cmpd="sng" algn="ctr">
                      <a:solidFill>
                        <a:srgbClr val="E011FA"/>
                      </a:solidFill>
                      <a:prstDash val="solid"/>
                      <a:round/>
                      <a:headEnd type="none" w="med" len="med"/>
                      <a:tailEnd type="none" w="med" len="med"/>
                    </a:lnT>
                    <a:lnB w="12700" cap="flat" cmpd="sng" algn="ctr">
                      <a:solidFill>
                        <a:srgbClr val="7015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4021FA"/>
                      </a:solidFill>
                      <a:prstDash val="solid"/>
                      <a:round/>
                      <a:headEnd type="none" w="med" len="med"/>
                      <a:tailEnd type="none" w="med" len="med"/>
                    </a:lnL>
                    <a:lnR w="9525" cap="flat" cmpd="sng" algn="ctr">
                      <a:solidFill>
                        <a:srgbClr val="902EFA"/>
                      </a:solidFill>
                      <a:prstDash val="solid"/>
                      <a:round/>
                      <a:headEnd type="none" w="med" len="med"/>
                      <a:tailEnd type="none" w="med" len="med"/>
                    </a:lnR>
                    <a:lnT w="12700" cap="flat" cmpd="sng" algn="ctr">
                      <a:solidFill>
                        <a:srgbClr val="4021FA"/>
                      </a:solidFill>
                      <a:prstDash val="solid"/>
                      <a:round/>
                      <a:headEnd type="none" w="med" len="med"/>
                      <a:tailEnd type="none" w="med" len="med"/>
                    </a:lnT>
                    <a:lnB w="12700" cap="flat" cmpd="sng" algn="ctr">
                      <a:solidFill>
                        <a:srgbClr val="B02F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902E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2E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600</a:t>
                      </a:r>
                    </a:p>
                  </a:txBody>
                  <a:tcPr marL="90620" marR="90620" marT="45309" marB="45309" anchor="ctr">
                    <a:lnL w="9525" cap="flat" cmpd="sng" algn="ctr">
                      <a:solidFill>
                        <a:srgbClr val="9031FA"/>
                      </a:solidFill>
                      <a:prstDash val="solid"/>
                      <a:round/>
                      <a:headEnd type="none" w="med" len="med"/>
                      <a:tailEnd type="none" w="med" len="med"/>
                    </a:lnL>
                    <a:lnR w="9525" cap="flat" cmpd="sng" algn="ctr">
                      <a:solidFill>
                        <a:srgbClr val="9031FA"/>
                      </a:solidFill>
                      <a:prstDash val="solid"/>
                      <a:round/>
                      <a:headEnd type="none" w="med" len="med"/>
                      <a:tailEnd type="none" w="med" len="med"/>
                    </a:lnR>
                    <a:lnT w="12700" cap="flat" cmpd="sng" algn="ctr">
                      <a:solidFill>
                        <a:srgbClr val="9031FA"/>
                      </a:solidFill>
                      <a:prstDash val="solid"/>
                      <a:round/>
                      <a:headEnd type="none" w="med" len="med"/>
                      <a:tailEnd type="none" w="med" len="med"/>
                    </a:lnT>
                    <a:lnB w="12700" cap="flat" cmpd="sng" algn="ctr">
                      <a:solidFill>
                        <a:srgbClr val="1039FA"/>
                      </a:solidFill>
                      <a:prstDash val="solid"/>
                      <a:round/>
                      <a:headEnd type="none" w="med" len="med"/>
                      <a:tailEnd type="none" w="med" len="med"/>
                    </a:lnB>
                  </a:tcPr>
                </a:tc>
                <a:extLst>
                  <a:ext uri="{0D108BD9-81ED-4DB2-BD59-A6C34878D82A}">
                    <a16:rowId xmlns:a16="http://schemas.microsoft.com/office/drawing/2014/main" xmlns="" val="3611736594"/>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90620" marR="90620" marT="45309" marB="45309" anchor="ctr">
                    <a:lnL w="9525" cap="flat" cmpd="sng" algn="ctr">
                      <a:solidFill>
                        <a:srgbClr val="7015FA"/>
                      </a:solidFill>
                      <a:prstDash val="solid"/>
                      <a:round/>
                      <a:headEnd type="none" w="med" len="med"/>
                      <a:tailEnd type="none" w="med" len="med"/>
                    </a:lnL>
                    <a:lnR w="9525" cap="flat" cmpd="sng" algn="ctr">
                      <a:solidFill>
                        <a:srgbClr val="B02FFA"/>
                      </a:solidFill>
                      <a:prstDash val="solid"/>
                      <a:round/>
                      <a:headEnd type="none" w="med" len="med"/>
                      <a:tailEnd type="none" w="med" len="med"/>
                    </a:lnR>
                    <a:lnT w="12700" cap="flat" cmpd="sng" algn="ctr">
                      <a:solidFill>
                        <a:srgbClr val="7015FA"/>
                      </a:solidFill>
                      <a:prstDash val="solid"/>
                      <a:round/>
                      <a:headEnd type="none" w="med" len="med"/>
                      <a:tailEnd type="none" w="med" len="med"/>
                    </a:lnT>
                    <a:lnB w="12700" cap="flat" cmpd="sng" algn="ctr">
                      <a:solidFill>
                        <a:srgbClr val="3016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B02F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B02FFA"/>
                      </a:solidFill>
                      <a:prstDash val="solid"/>
                      <a:round/>
                      <a:headEnd type="none" w="med" len="med"/>
                      <a:tailEnd type="none" w="med" len="med"/>
                    </a:lnT>
                    <a:lnB w="12700" cap="flat" cmpd="sng" algn="ctr">
                      <a:solidFill>
                        <a:srgbClr val="403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700</a:t>
                      </a:r>
                    </a:p>
                  </a:txBody>
                  <a:tcPr marL="90620" marR="90620" marT="45309" marB="45309" anchor="ctr">
                    <a:lnL w="9525" cap="flat" cmpd="sng" algn="ctr">
                      <a:solidFill>
                        <a:srgbClr val="1039FA"/>
                      </a:solidFill>
                      <a:prstDash val="solid"/>
                      <a:round/>
                      <a:headEnd type="none" w="med" len="med"/>
                      <a:tailEnd type="none" w="med" len="med"/>
                    </a:lnL>
                    <a:lnR w="9525" cap="flat" cmpd="sng" algn="ctr">
                      <a:solidFill>
                        <a:srgbClr val="1039FA"/>
                      </a:solidFill>
                      <a:prstDash val="solid"/>
                      <a:round/>
                      <a:headEnd type="none" w="med" len="med"/>
                      <a:tailEnd type="none" w="med" len="med"/>
                    </a:lnR>
                    <a:lnT w="12700" cap="flat" cmpd="sng" algn="ctr">
                      <a:solidFill>
                        <a:srgbClr val="1039FA"/>
                      </a:solidFill>
                      <a:prstDash val="solid"/>
                      <a:round/>
                      <a:headEnd type="none" w="med" len="med"/>
                      <a:tailEnd type="none" w="med" len="med"/>
                    </a:lnT>
                    <a:lnB w="12700" cap="flat" cmpd="sng" algn="ctr">
                      <a:solidFill>
                        <a:srgbClr val="8041FA"/>
                      </a:solidFill>
                      <a:prstDash val="solid"/>
                      <a:round/>
                      <a:headEnd type="none" w="med" len="med"/>
                      <a:tailEnd type="none" w="med" len="med"/>
                    </a:lnB>
                  </a:tcPr>
                </a:tc>
                <a:extLst>
                  <a:ext uri="{0D108BD9-81ED-4DB2-BD59-A6C34878D82A}">
                    <a16:rowId xmlns:a16="http://schemas.microsoft.com/office/drawing/2014/main" xmlns="" val="550736971"/>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3016FA"/>
                      </a:solidFill>
                      <a:prstDash val="solid"/>
                      <a:round/>
                      <a:headEnd type="none" w="med" len="med"/>
                      <a:tailEnd type="none" w="med" len="med"/>
                    </a:lnL>
                    <a:lnR w="9525" cap="flat" cmpd="sng" algn="ctr">
                      <a:solidFill>
                        <a:srgbClr val="4033FA"/>
                      </a:solidFill>
                      <a:prstDash val="solid"/>
                      <a:round/>
                      <a:headEnd type="none" w="med" len="med"/>
                      <a:tailEnd type="none" w="med" len="med"/>
                    </a:lnR>
                    <a:lnT w="12700" cap="flat" cmpd="sng" algn="ctr">
                      <a:solidFill>
                        <a:srgbClr val="3016FA"/>
                      </a:solidFill>
                      <a:prstDash val="solid"/>
                      <a:round/>
                      <a:headEnd type="none" w="med" len="med"/>
                      <a:tailEnd type="none" w="med" len="med"/>
                    </a:lnT>
                    <a:lnB w="12700" cap="flat" cmpd="sng" algn="ctr">
                      <a:solidFill>
                        <a:srgbClr val="4027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4033FA"/>
                      </a:solidFill>
                      <a:prstDash val="solid"/>
                      <a:round/>
                      <a:headEnd type="none" w="med" len="med"/>
                      <a:tailEnd type="none" w="med" len="med"/>
                    </a:lnL>
                    <a:lnR w="9525" cap="flat" cmpd="sng" algn="ctr">
                      <a:solidFill>
                        <a:srgbClr val="803EFA"/>
                      </a:solidFill>
                      <a:prstDash val="solid"/>
                      <a:round/>
                      <a:headEnd type="none" w="med" len="med"/>
                      <a:tailEnd type="none" w="med" len="med"/>
                    </a:lnR>
                    <a:lnT w="12700" cap="flat" cmpd="sng" algn="ctr">
                      <a:solidFill>
                        <a:srgbClr val="4033FA"/>
                      </a:solidFill>
                      <a:prstDash val="solid"/>
                      <a:round/>
                      <a:headEnd type="none" w="med" len="med"/>
                      <a:tailEnd type="none" w="med" len="med"/>
                    </a:lnT>
                    <a:lnB w="12700" cap="flat" cmpd="sng" algn="ctr">
                      <a:solidFill>
                        <a:srgbClr val="2038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3EFA"/>
                      </a:solidFill>
                      <a:prstDash val="solid"/>
                      <a:round/>
                      <a:headEnd type="none" w="med" len="med"/>
                      <a:tailEnd type="none" w="med" len="med"/>
                    </a:lnT>
                    <a:lnB w="12700" cap="flat" cmpd="sng" algn="ctr">
                      <a:solidFill>
                        <a:srgbClr val="6043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1200</a:t>
                      </a:r>
                    </a:p>
                  </a:txBody>
                  <a:tcPr marL="90620" marR="90620" marT="45309" marB="45309" anchor="ctr">
                    <a:lnL w="9525" cap="flat" cmpd="sng" algn="ctr">
                      <a:solidFill>
                        <a:srgbClr val="8041FA"/>
                      </a:solidFill>
                      <a:prstDash val="solid"/>
                      <a:round/>
                      <a:headEnd type="none" w="med" len="med"/>
                      <a:tailEnd type="none" w="med" len="med"/>
                    </a:lnL>
                    <a:lnR w="9525" cap="flat" cmpd="sng" algn="ctr">
                      <a:solidFill>
                        <a:srgbClr val="8041FA"/>
                      </a:solidFill>
                      <a:prstDash val="solid"/>
                      <a:round/>
                      <a:headEnd type="none" w="med" len="med"/>
                      <a:tailEnd type="none" w="med" len="med"/>
                    </a:lnR>
                    <a:lnT w="12700" cap="flat" cmpd="sng" algn="ctr">
                      <a:solidFill>
                        <a:srgbClr val="8041FA"/>
                      </a:solidFill>
                      <a:prstDash val="solid"/>
                      <a:round/>
                      <a:headEnd type="none" w="med" len="med"/>
                      <a:tailEnd type="none" w="med" len="med"/>
                    </a:lnT>
                    <a:lnB w="12700" cap="flat" cmpd="sng" algn="ctr">
                      <a:solidFill>
                        <a:srgbClr val="5047FA"/>
                      </a:solidFill>
                      <a:prstDash val="solid"/>
                      <a:round/>
                      <a:headEnd type="none" w="med" len="med"/>
                      <a:tailEnd type="none" w="med" len="med"/>
                    </a:lnB>
                  </a:tcPr>
                </a:tc>
                <a:extLst>
                  <a:ext uri="{0D108BD9-81ED-4DB2-BD59-A6C34878D82A}">
                    <a16:rowId xmlns:a16="http://schemas.microsoft.com/office/drawing/2014/main" xmlns="" val="216788773"/>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4027FA"/>
                      </a:solidFill>
                      <a:prstDash val="solid"/>
                      <a:round/>
                      <a:headEnd type="none" w="med" len="med"/>
                      <a:tailEnd type="none" w="med" len="med"/>
                    </a:lnL>
                    <a:lnR w="9525" cap="flat" cmpd="sng" algn="ctr">
                      <a:solidFill>
                        <a:srgbClr val="2038FA"/>
                      </a:solidFill>
                      <a:prstDash val="solid"/>
                      <a:round/>
                      <a:headEnd type="none" w="med" len="med"/>
                      <a:tailEnd type="none" w="med" len="med"/>
                    </a:lnR>
                    <a:lnT w="12700" cap="flat" cmpd="sng" algn="ctr">
                      <a:solidFill>
                        <a:srgbClr val="4027FA"/>
                      </a:solidFill>
                      <a:prstDash val="solid"/>
                      <a:round/>
                      <a:headEnd type="none" w="med" len="med"/>
                      <a:tailEnd type="none" w="med" len="med"/>
                    </a:lnT>
                    <a:lnB w="12700" cap="flat" cmpd="sng" algn="ctr">
                      <a:solidFill>
                        <a:srgbClr val="2032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Électronique</a:t>
                      </a:r>
                    </a:p>
                  </a:txBody>
                  <a:tcPr marL="90620" marR="90620" marT="45309" marB="45309" anchor="ctr">
                    <a:lnL w="9525" cap="flat" cmpd="sng" algn="ctr">
                      <a:solidFill>
                        <a:srgbClr val="2038FA"/>
                      </a:solidFill>
                      <a:prstDash val="solid"/>
                      <a:round/>
                      <a:headEnd type="none" w="med" len="med"/>
                      <a:tailEnd type="none" w="med" len="med"/>
                    </a:lnL>
                    <a:lnR w="9525" cap="flat" cmpd="sng" algn="ctr">
                      <a:solidFill>
                        <a:srgbClr val="6043FA"/>
                      </a:solidFill>
                      <a:prstDash val="solid"/>
                      <a:round/>
                      <a:headEnd type="none" w="med" len="med"/>
                      <a:tailEnd type="none" w="med" len="med"/>
                    </a:lnR>
                    <a:lnT w="12700" cap="flat" cmpd="sng" algn="ctr">
                      <a:solidFill>
                        <a:srgbClr val="2038FA"/>
                      </a:solidFill>
                      <a:prstDash val="solid"/>
                      <a:round/>
                      <a:headEnd type="none" w="med" len="med"/>
                      <a:tailEnd type="none" w="med" len="med"/>
                    </a:lnT>
                    <a:lnB w="12700" cap="flat" cmpd="sng" algn="ctr">
                      <a:solidFill>
                        <a:srgbClr val="2041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6043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6043FA"/>
                      </a:solidFill>
                      <a:prstDash val="solid"/>
                      <a:round/>
                      <a:headEnd type="none" w="med" len="med"/>
                      <a:tailEnd type="none" w="med" len="med"/>
                    </a:lnT>
                    <a:lnB w="12700" cap="flat" cmpd="sng" algn="ctr">
                      <a:solidFill>
                        <a:srgbClr val="A04E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900</a:t>
                      </a:r>
                    </a:p>
                  </a:txBody>
                  <a:tcPr marL="90620" marR="90620" marT="45309" marB="45309" anchor="ctr">
                    <a:lnL w="9525" cap="flat" cmpd="sng" algn="ctr">
                      <a:solidFill>
                        <a:srgbClr val="5047FA"/>
                      </a:solidFill>
                      <a:prstDash val="solid"/>
                      <a:round/>
                      <a:headEnd type="none" w="med" len="med"/>
                      <a:tailEnd type="none" w="med" len="med"/>
                    </a:lnL>
                    <a:lnR w="9525" cap="flat" cmpd="sng" algn="ctr">
                      <a:solidFill>
                        <a:srgbClr val="5047FA"/>
                      </a:solidFill>
                      <a:prstDash val="solid"/>
                      <a:round/>
                      <a:headEnd type="none" w="med" len="med"/>
                      <a:tailEnd type="none" w="med" len="med"/>
                    </a:lnR>
                    <a:lnT w="12700" cap="flat" cmpd="sng" algn="ctr">
                      <a:solidFill>
                        <a:srgbClr val="5047FA"/>
                      </a:solidFill>
                      <a:prstDash val="solid"/>
                      <a:round/>
                      <a:headEnd type="none" w="med" len="med"/>
                      <a:tailEnd type="none" w="med" len="med"/>
                    </a:lnT>
                    <a:lnB w="12700" cap="flat" cmpd="sng" algn="ctr">
                      <a:solidFill>
                        <a:srgbClr val="8056FA"/>
                      </a:solidFill>
                      <a:prstDash val="solid"/>
                      <a:round/>
                      <a:headEnd type="none" w="med" len="med"/>
                      <a:tailEnd type="none" w="med" len="med"/>
                    </a:lnB>
                  </a:tcPr>
                </a:tc>
                <a:extLst>
                  <a:ext uri="{0D108BD9-81ED-4DB2-BD59-A6C34878D82A}">
                    <a16:rowId xmlns:a16="http://schemas.microsoft.com/office/drawing/2014/main" xmlns="" val="4268774950"/>
                  </a:ext>
                </a:extLst>
              </a:tr>
              <a:tr h="456415">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2032FA"/>
                      </a:solidFill>
                      <a:prstDash val="solid"/>
                      <a:round/>
                      <a:headEnd type="none" w="med" len="med"/>
                      <a:tailEnd type="none" w="med" len="med"/>
                    </a:lnL>
                    <a:lnR w="9525" cap="flat" cmpd="sng" algn="ctr">
                      <a:solidFill>
                        <a:srgbClr val="2041FA"/>
                      </a:solidFill>
                      <a:prstDash val="solid"/>
                      <a:round/>
                      <a:headEnd type="none" w="med" len="med"/>
                      <a:tailEnd type="none" w="med" len="med"/>
                    </a:lnR>
                    <a:lnT w="12700" cap="flat" cmpd="sng" algn="ctr">
                      <a:solidFill>
                        <a:srgbClr val="2032FA"/>
                      </a:solidFill>
                      <a:prstDash val="solid"/>
                      <a:round/>
                      <a:headEnd type="none" w="med" len="med"/>
                      <a:tailEnd type="none" w="med" len="med"/>
                    </a:lnT>
                    <a:lnB w="12700"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2041FA"/>
                      </a:solidFill>
                      <a:prstDash val="solid"/>
                      <a:round/>
                      <a:headEnd type="none" w="med" len="med"/>
                      <a:tailEnd type="none" w="med" len="med"/>
                    </a:lnL>
                    <a:lnR w="9525" cap="flat" cmpd="sng" algn="ctr">
                      <a:solidFill>
                        <a:srgbClr val="A04EFA"/>
                      </a:solidFill>
                      <a:prstDash val="solid"/>
                      <a:round/>
                      <a:headEnd type="none" w="med" len="med"/>
                      <a:tailEnd type="none" w="med" len="med"/>
                    </a:lnR>
                    <a:lnT w="12700" cap="flat" cmpd="sng" algn="ctr">
                      <a:solidFill>
                        <a:srgbClr val="2041FA"/>
                      </a:solidFill>
                      <a:prstDash val="solid"/>
                      <a:round/>
                      <a:headEnd type="none" w="med" len="med"/>
                      <a:tailEnd type="none" w="med" len="med"/>
                    </a:lnT>
                    <a:lnB w="12700"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90620" marR="90620" marT="45309" marB="45309" anchor="ctr">
                    <a:lnL w="9525" cap="flat" cmpd="sng" algn="ctr">
                      <a:solidFill>
                        <a:srgbClr val="A04E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A04EFA"/>
                      </a:solidFill>
                      <a:prstDash val="solid"/>
                      <a:round/>
                      <a:headEnd type="none" w="med" len="med"/>
                      <a:tailEnd type="none" w="med" len="med"/>
                    </a:lnT>
                    <a:lnB w="12700"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90620" marR="90620" marT="45309" marB="45309" anchor="ctr">
                    <a:lnL w="9525" cap="flat" cmpd="sng" algn="ctr">
                      <a:solidFill>
                        <a:srgbClr val="8056FA"/>
                      </a:solidFill>
                      <a:prstDash val="solid"/>
                      <a:round/>
                      <a:headEnd type="none" w="med" len="med"/>
                      <a:tailEnd type="none" w="med" len="med"/>
                    </a:lnL>
                    <a:lnR w="9525" cap="flat" cmpd="sng" algn="ctr">
                      <a:solidFill>
                        <a:srgbClr val="8056FA"/>
                      </a:solidFill>
                      <a:prstDash val="solid"/>
                      <a:round/>
                      <a:headEnd type="none" w="med" len="med"/>
                      <a:tailEnd type="none" w="med" len="med"/>
                    </a:lnR>
                    <a:lnT w="12700" cap="flat" cmpd="sng" algn="ctr">
                      <a:solidFill>
                        <a:srgbClr val="8056FA"/>
                      </a:solidFill>
                      <a:prstDash val="solid"/>
                      <a:round/>
                      <a:headEnd type="none" w="med" len="med"/>
                      <a:tailEnd type="none" w="med" len="med"/>
                    </a:lnT>
                    <a:lnB w="12700"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2650363007"/>
                  </a:ext>
                </a:extLst>
              </a:tr>
              <a:tr h="375099">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90620" marR="90620" marT="45309" marB="45309" anchor="ctr">
                    <a:lnL w="9525" cap="flat" cmpd="sng" algn="ctr">
                      <a:solidFill>
                        <a:srgbClr val="803EFA"/>
                      </a:solidFill>
                      <a:prstDash val="solid"/>
                      <a:round/>
                      <a:headEnd type="none" w="med" len="med"/>
                      <a:tailEnd type="none" w="med" len="med"/>
                    </a:lnL>
                    <a:lnR w="9525" cap="flat" cmpd="sng" algn="ctr">
                      <a:solidFill>
                        <a:srgbClr val="1054FA"/>
                      </a:solidFill>
                      <a:prstDash val="solid"/>
                      <a:round/>
                      <a:headEnd type="none" w="med" len="med"/>
                      <a:tailEnd type="none" w="med" len="med"/>
                    </a:lnR>
                    <a:lnT w="12700" cap="flat" cmpd="sng" algn="ctr">
                      <a:solidFill>
                        <a:srgbClr val="803EFA"/>
                      </a:solidFill>
                      <a:prstDash val="solid"/>
                      <a:round/>
                      <a:headEnd type="none" w="med" len="med"/>
                      <a:tailEnd type="none" w="med" len="med"/>
                    </a:lnT>
                    <a:lnB w="9525" cap="flat" cmpd="sng" algn="ctr">
                      <a:solidFill>
                        <a:srgbClr val="803E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90620" marR="90620" marT="45309" marB="45309" anchor="ctr">
                    <a:lnL w="9525" cap="flat" cmpd="sng" algn="ctr">
                      <a:solidFill>
                        <a:srgbClr val="1054FA"/>
                      </a:solidFill>
                      <a:prstDash val="solid"/>
                      <a:round/>
                      <a:headEnd type="none" w="med" len="med"/>
                      <a:tailEnd type="none" w="med" len="med"/>
                    </a:lnL>
                    <a:lnR w="9525" cap="flat" cmpd="sng" algn="ctr">
                      <a:solidFill>
                        <a:srgbClr val="2050FA"/>
                      </a:solidFill>
                      <a:prstDash val="solid"/>
                      <a:round/>
                      <a:headEnd type="none" w="med" len="med"/>
                      <a:tailEnd type="none" w="med" len="med"/>
                    </a:lnR>
                    <a:lnT w="12700" cap="flat" cmpd="sng" algn="ctr">
                      <a:solidFill>
                        <a:srgbClr val="1054FA"/>
                      </a:solidFill>
                      <a:prstDash val="solid"/>
                      <a:round/>
                      <a:headEnd type="none" w="med" len="med"/>
                      <a:tailEnd type="none" w="med" len="med"/>
                    </a:lnT>
                    <a:lnB w="9525" cap="flat" cmpd="sng" algn="ctr">
                      <a:solidFill>
                        <a:srgbClr val="1054FA"/>
                      </a:solidFill>
                      <a:prstDash val="solid"/>
                      <a:round/>
                      <a:headEnd type="none" w="med" len="med"/>
                      <a:tailEnd type="none" w="med" len="med"/>
                    </a:lnB>
                  </a:tcPr>
                </a:tc>
                <a:tc>
                  <a:txBody>
                    <a:bodyPr/>
                    <a:lstStyle/>
                    <a:p>
                      <a:pPr fontAlgn="base"/>
                      <a:r>
                        <a:rPr lang="fr-FR" sz="1900">
                          <a:effectLst/>
                          <a:latin typeface="Times New Roman" panose="02020603050405020304" pitchFamily="18" charset="0"/>
                          <a:cs typeface="Times New Roman" panose="02020603050405020304" pitchFamily="18" charset="0"/>
                        </a:rPr>
                        <a:t>Europe</a:t>
                      </a:r>
                    </a:p>
                  </a:txBody>
                  <a:tcPr marL="90620" marR="90620" marT="45309" marB="45309" anchor="ctr">
                    <a:lnL w="9525" cap="flat" cmpd="sng" algn="ctr">
                      <a:solidFill>
                        <a:srgbClr val="205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2050FA"/>
                      </a:solidFill>
                      <a:prstDash val="solid"/>
                      <a:round/>
                      <a:headEnd type="none" w="med" len="med"/>
                      <a:tailEnd type="none" w="med" len="med"/>
                    </a:lnT>
                    <a:lnB w="9525" cap="flat" cmpd="sng" algn="ctr">
                      <a:solidFill>
                        <a:srgbClr val="2050FA"/>
                      </a:solidFill>
                      <a:prstDash val="solid"/>
                      <a:round/>
                      <a:headEnd type="none" w="med" len="med"/>
                      <a:tailEnd type="none" w="med" len="med"/>
                    </a:lnB>
                  </a:tcPr>
                </a:tc>
                <a:tc>
                  <a:txBody>
                    <a:bodyPr/>
                    <a:lstStyle/>
                    <a:p>
                      <a:pPr fontAlgn="base"/>
                      <a:r>
                        <a:rPr lang="fr-FR" sz="1900" dirty="0">
                          <a:effectLst/>
                          <a:latin typeface="Times New Roman" panose="02020603050405020304" pitchFamily="18" charset="0"/>
                          <a:cs typeface="Times New Roman" panose="02020603050405020304" pitchFamily="18" charset="0"/>
                        </a:rPr>
                        <a:t>750</a:t>
                      </a:r>
                    </a:p>
                  </a:txBody>
                  <a:tcPr marL="90620" marR="90620" marT="45309" marB="45309" anchor="ctr">
                    <a:lnL w="9525" cap="flat" cmpd="sng" algn="ctr">
                      <a:solidFill>
                        <a:srgbClr val="1060FA"/>
                      </a:solidFill>
                      <a:prstDash val="solid"/>
                      <a:round/>
                      <a:headEnd type="none" w="med" len="med"/>
                      <a:tailEnd type="none" w="med" len="med"/>
                    </a:lnL>
                    <a:lnR w="9525" cap="flat" cmpd="sng" algn="ctr">
                      <a:solidFill>
                        <a:srgbClr val="1060FA"/>
                      </a:solidFill>
                      <a:prstDash val="solid"/>
                      <a:round/>
                      <a:headEnd type="none" w="med" len="med"/>
                      <a:tailEnd type="none" w="med" len="med"/>
                    </a:lnR>
                    <a:lnT w="12700" cap="flat" cmpd="sng" algn="ctr">
                      <a:solidFill>
                        <a:srgbClr val="1060FA"/>
                      </a:solidFill>
                      <a:prstDash val="solid"/>
                      <a:round/>
                      <a:headEnd type="none" w="med" len="med"/>
                      <a:tailEnd type="none" w="med" len="med"/>
                    </a:lnT>
                    <a:lnB w="9525" cap="flat" cmpd="sng" algn="ctr">
                      <a:solidFill>
                        <a:srgbClr val="1060FA"/>
                      </a:solidFill>
                      <a:prstDash val="solid"/>
                      <a:round/>
                      <a:headEnd type="none" w="med" len="med"/>
                      <a:tailEnd type="none" w="med" len="med"/>
                    </a:lnB>
                  </a:tcPr>
                </a:tc>
                <a:extLst>
                  <a:ext uri="{0D108BD9-81ED-4DB2-BD59-A6C34878D82A}">
                    <a16:rowId xmlns:a16="http://schemas.microsoft.com/office/drawing/2014/main" xmlns="" val="1778959664"/>
                  </a:ext>
                </a:extLst>
              </a:tr>
            </a:tbl>
          </a:graphicData>
        </a:graphic>
      </p:graphicFrame>
      <p:sp>
        <p:nvSpPr>
          <p:cNvPr id="4" name="Rectangle 3">
            <a:extLst>
              <a:ext uri="{FF2B5EF4-FFF2-40B4-BE49-F238E27FC236}">
                <a16:creationId xmlns:a16="http://schemas.microsoft.com/office/drawing/2014/main" xmlns="" id="{0A42CC63-F3B1-42BA-A85F-3380D244DCA5}"/>
              </a:ext>
            </a:extLst>
          </p:cNvPr>
          <p:cNvSpPr/>
          <p:nvPr/>
        </p:nvSpPr>
        <p:spPr>
          <a:xfrm>
            <a:off x="8765637" y="1536462"/>
            <a:ext cx="3227989" cy="3785075"/>
          </a:xfrm>
          <a:prstGeom prst="rect">
            <a:avLst/>
          </a:prstGeom>
        </p:spPr>
        <p:txBody>
          <a:bodyPr wrap="square">
            <a:spAutoFit/>
          </a:bodyPr>
          <a:lstStyle/>
          <a:p>
            <a:pPr algn="just"/>
            <a:r>
              <a:rPr lang="fr-FR" sz="2667" dirty="0">
                <a:solidFill>
                  <a:srgbClr val="0D0D0D"/>
                </a:solidFill>
                <a:latin typeface="Times New Roman" panose="02020603050405020304" pitchFamily="18" charset="0"/>
                <a:cs typeface="Times New Roman" panose="02020603050405020304" pitchFamily="18" charset="0"/>
              </a:rPr>
              <a:t>9. </a:t>
            </a:r>
            <a:r>
              <a:rPr lang="fr-FR" sz="2133" dirty="0">
                <a:solidFill>
                  <a:srgbClr val="0D0D0D"/>
                </a:solidFill>
                <a:latin typeface="Times New Roman" panose="02020603050405020304" pitchFamily="18" charset="0"/>
                <a:cs typeface="Times New Roman" panose="02020603050405020304" pitchFamily="18" charset="0"/>
              </a:rPr>
              <a:t>Analysez les ventes de Meubles en Amérique du Nord pour les deux premiers trimestres de 2023, détaillant les résultats par trimestre.</a:t>
            </a:r>
          </a:p>
          <a:p>
            <a:pPr algn="just"/>
            <a:r>
              <a:rPr lang="fr-FR" sz="2133" dirty="0">
                <a:solidFill>
                  <a:srgbClr val="0D0D0D"/>
                </a:solidFill>
                <a:latin typeface="Times New Roman" panose="02020603050405020304" pitchFamily="18" charset="0"/>
                <a:cs typeface="Times New Roman" panose="02020603050405020304" pitchFamily="18" charset="0"/>
              </a:rPr>
              <a:t> </a:t>
            </a:r>
            <a:r>
              <a:rPr lang="fr-FR" sz="2133" b="1" dirty="0">
                <a:solidFill>
                  <a:srgbClr val="FF0000"/>
                </a:solidFill>
                <a:latin typeface="Times New Roman" panose="02020603050405020304" pitchFamily="18" charset="0"/>
                <a:cs typeface="Times New Roman" panose="02020603050405020304" pitchFamily="18" charset="0"/>
              </a:rPr>
              <a:t>SLICE, DICE, DRILL DOWN</a:t>
            </a:r>
          </a:p>
          <a:p>
            <a:pPr algn="just"/>
            <a:endParaRPr lang="fr-FR" sz="2133" dirty="0">
              <a:solidFill>
                <a:srgbClr val="0D0D0D"/>
              </a:solidFill>
              <a:latin typeface="Times New Roman" panose="02020603050405020304" pitchFamily="18" charset="0"/>
              <a:cs typeface="Times New Roman" panose="02020603050405020304" pitchFamily="18" charset="0"/>
            </a:endParaRPr>
          </a:p>
          <a:p>
            <a:pPr algn="just"/>
            <a:endParaRPr lang="fr-FR" sz="2133" b="1" dirty="0">
              <a:solidFill>
                <a:srgbClr val="FF0000"/>
              </a:solidFill>
              <a:latin typeface="Times New Roman" panose="02020603050405020304" pitchFamily="18" charset="0"/>
              <a:cs typeface="Times New Roman" panose="02020603050405020304" pitchFamily="18" charset="0"/>
            </a:endParaRPr>
          </a:p>
          <a:p>
            <a:pPr algn="just"/>
            <a:endParaRPr lang="fr-FR" sz="2133" dirty="0">
              <a:solidFill>
                <a:srgbClr val="0D0D0D"/>
              </a:solidFill>
              <a:latin typeface="Times New Roman" panose="02020603050405020304" pitchFamily="18" charset="0"/>
              <a:cs typeface="Times New Roman" panose="02020603050405020304" pitchFamily="18" charset="0"/>
            </a:endParaRPr>
          </a:p>
        </p:txBody>
      </p:sp>
      <p:graphicFrame>
        <p:nvGraphicFramePr>
          <p:cNvPr id="5" name="Tableau 4">
            <a:extLst>
              <a:ext uri="{FF2B5EF4-FFF2-40B4-BE49-F238E27FC236}">
                <a16:creationId xmlns:a16="http://schemas.microsoft.com/office/drawing/2014/main" xmlns="" id="{BB407F9E-1010-4B43-95FA-9DD0E2B87EBB}"/>
              </a:ext>
            </a:extLst>
          </p:cNvPr>
          <p:cNvGraphicFramePr>
            <a:graphicFrameLocks noGrp="1"/>
          </p:cNvGraphicFramePr>
          <p:nvPr/>
        </p:nvGraphicFramePr>
        <p:xfrm>
          <a:off x="1559249" y="5176501"/>
          <a:ext cx="9042400" cy="1234440"/>
        </p:xfrm>
        <a:graphic>
          <a:graphicData uri="http://schemas.openxmlformats.org/drawingml/2006/table">
            <a:tbl>
              <a:tblPr/>
              <a:tblGrid>
                <a:gridCol w="2260600">
                  <a:extLst>
                    <a:ext uri="{9D8B030D-6E8A-4147-A177-3AD203B41FA5}">
                      <a16:colId xmlns:a16="http://schemas.microsoft.com/office/drawing/2014/main" xmlns="" val="1661787789"/>
                    </a:ext>
                  </a:extLst>
                </a:gridCol>
                <a:gridCol w="2260600">
                  <a:extLst>
                    <a:ext uri="{9D8B030D-6E8A-4147-A177-3AD203B41FA5}">
                      <a16:colId xmlns:a16="http://schemas.microsoft.com/office/drawing/2014/main" xmlns="" val="3432573953"/>
                    </a:ext>
                  </a:extLst>
                </a:gridCol>
                <a:gridCol w="2260600">
                  <a:extLst>
                    <a:ext uri="{9D8B030D-6E8A-4147-A177-3AD203B41FA5}">
                      <a16:colId xmlns:a16="http://schemas.microsoft.com/office/drawing/2014/main" xmlns="" val="2388584100"/>
                    </a:ext>
                  </a:extLst>
                </a:gridCol>
                <a:gridCol w="2260600">
                  <a:extLst>
                    <a:ext uri="{9D8B030D-6E8A-4147-A177-3AD203B41FA5}">
                      <a16:colId xmlns:a16="http://schemas.microsoft.com/office/drawing/2014/main" xmlns="" val="2177723600"/>
                    </a:ext>
                  </a:extLst>
                </a:gridCol>
              </a:tblGrid>
              <a:tr h="406400">
                <a:tc>
                  <a:txBody>
                    <a:bodyPr/>
                    <a:lstStyle/>
                    <a:p>
                      <a:pPr fontAlgn="b"/>
                      <a:r>
                        <a:rPr lang="fr-FR" sz="1900" b="1">
                          <a:effectLst/>
                          <a:latin typeface="Times New Roman" panose="02020603050405020304" pitchFamily="18" charset="0"/>
                          <a:cs typeface="Times New Roman" panose="02020603050405020304" pitchFamily="18" charset="0"/>
                        </a:rPr>
                        <a:t>Temps</a:t>
                      </a:r>
                    </a:p>
                  </a:txBody>
                  <a:tcPr marL="121920" marR="121920" marT="60960" marB="60960" anchor="b">
                    <a:lnL w="9525" cap="flat" cmpd="sng" algn="ctr">
                      <a:solidFill>
                        <a:srgbClr val="E09DB5"/>
                      </a:solidFill>
                      <a:prstDash val="solid"/>
                      <a:round/>
                      <a:headEnd type="none" w="med" len="med"/>
                      <a:tailEnd type="none" w="med" len="med"/>
                    </a:lnL>
                    <a:lnR w="9525" cap="flat" cmpd="sng" algn="ctr">
                      <a:solidFill>
                        <a:srgbClr val="C096B5"/>
                      </a:solidFill>
                      <a:prstDash val="solid"/>
                      <a:round/>
                      <a:headEnd type="none" w="med" len="med"/>
                      <a:tailEnd type="none" w="med" len="med"/>
                    </a:lnR>
                    <a:lnT w="9525" cap="flat" cmpd="sng" algn="ctr">
                      <a:solidFill>
                        <a:srgbClr val="E09DB5"/>
                      </a:solidFill>
                      <a:prstDash val="solid"/>
                      <a:round/>
                      <a:headEnd type="none" w="med" len="med"/>
                      <a:tailEnd type="none" w="med" len="med"/>
                    </a:lnT>
                    <a:lnB w="12700" cap="flat" cmpd="sng" algn="ctr">
                      <a:solidFill>
                        <a:srgbClr val="7095B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Produit</a:t>
                      </a:r>
                    </a:p>
                  </a:txBody>
                  <a:tcPr marL="121920" marR="121920" marT="60960" marB="60960" anchor="b">
                    <a:lnL w="9525" cap="flat" cmpd="sng" algn="ctr">
                      <a:solidFill>
                        <a:srgbClr val="C096B5"/>
                      </a:solidFill>
                      <a:prstDash val="solid"/>
                      <a:round/>
                      <a:headEnd type="none" w="med" len="med"/>
                      <a:tailEnd type="none" w="med" len="med"/>
                    </a:lnL>
                    <a:lnR w="9525" cap="flat" cmpd="sng" algn="ctr">
                      <a:solidFill>
                        <a:srgbClr val="D0A4B5"/>
                      </a:solidFill>
                      <a:prstDash val="solid"/>
                      <a:round/>
                      <a:headEnd type="none" w="med" len="med"/>
                      <a:tailEnd type="none" w="med" len="med"/>
                    </a:lnR>
                    <a:lnT w="9525" cap="flat" cmpd="sng" algn="ctr">
                      <a:solidFill>
                        <a:srgbClr val="C096B5"/>
                      </a:solidFill>
                      <a:prstDash val="solid"/>
                      <a:round/>
                      <a:headEnd type="none" w="med" len="med"/>
                      <a:tailEnd type="none" w="med" len="med"/>
                    </a:lnT>
                    <a:lnB w="12700" cap="flat" cmpd="sng" algn="ctr">
                      <a:solidFill>
                        <a:srgbClr val="C0A8B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Région</a:t>
                      </a:r>
                    </a:p>
                  </a:txBody>
                  <a:tcPr marL="121920" marR="121920" marT="60960" marB="60960" anchor="b">
                    <a:lnL w="9525" cap="flat" cmpd="sng" algn="ctr">
                      <a:solidFill>
                        <a:srgbClr val="D0A4B5"/>
                      </a:solidFill>
                      <a:prstDash val="solid"/>
                      <a:round/>
                      <a:headEnd type="none" w="med" len="med"/>
                      <a:tailEnd type="none" w="med" len="med"/>
                    </a:lnL>
                    <a:lnR w="9525" cap="flat" cmpd="sng" algn="ctr">
                      <a:solidFill>
                        <a:srgbClr val="E0A6B5"/>
                      </a:solidFill>
                      <a:prstDash val="solid"/>
                      <a:round/>
                      <a:headEnd type="none" w="med" len="med"/>
                      <a:tailEnd type="none" w="med" len="med"/>
                    </a:lnR>
                    <a:lnT w="9525" cap="flat" cmpd="sng" algn="ctr">
                      <a:solidFill>
                        <a:srgbClr val="D0A4B5"/>
                      </a:solidFill>
                      <a:prstDash val="solid"/>
                      <a:round/>
                      <a:headEnd type="none" w="med" len="med"/>
                      <a:tailEnd type="none" w="med" len="med"/>
                    </a:lnT>
                    <a:lnB w="12700" cap="flat" cmpd="sng" algn="ctr">
                      <a:solidFill>
                        <a:srgbClr val="30B1B5"/>
                      </a:solidFill>
                      <a:prstDash val="solid"/>
                      <a:round/>
                      <a:headEnd type="none" w="med" len="med"/>
                      <a:tailEnd type="none" w="med" len="med"/>
                    </a:lnB>
                    <a:solidFill>
                      <a:srgbClr val="FFFFFF"/>
                    </a:solidFill>
                  </a:tcPr>
                </a:tc>
                <a:tc>
                  <a:txBody>
                    <a:bodyPr/>
                    <a:lstStyle/>
                    <a:p>
                      <a:pPr fontAlgn="b"/>
                      <a:r>
                        <a:rPr lang="fr-FR" sz="1900" b="1">
                          <a:effectLst/>
                          <a:latin typeface="Times New Roman" panose="02020603050405020304" pitchFamily="18" charset="0"/>
                          <a:cs typeface="Times New Roman" panose="02020603050405020304" pitchFamily="18" charset="0"/>
                        </a:rPr>
                        <a:t>Ventes</a:t>
                      </a:r>
                    </a:p>
                  </a:txBody>
                  <a:tcPr marL="121920" marR="121920" marT="60960" marB="60960" anchor="b">
                    <a:lnL w="9525" cap="flat" cmpd="sng" algn="ctr">
                      <a:solidFill>
                        <a:srgbClr val="E0A6B5"/>
                      </a:solidFill>
                      <a:prstDash val="solid"/>
                      <a:round/>
                      <a:headEnd type="none" w="med" len="med"/>
                      <a:tailEnd type="none" w="med" len="med"/>
                    </a:lnL>
                    <a:lnR w="9525" cap="flat" cmpd="sng" algn="ctr">
                      <a:solidFill>
                        <a:srgbClr val="E0A6B5"/>
                      </a:solidFill>
                      <a:prstDash val="solid"/>
                      <a:round/>
                      <a:headEnd type="none" w="med" len="med"/>
                      <a:tailEnd type="none" w="med" len="med"/>
                    </a:lnR>
                    <a:lnT w="9525" cap="flat" cmpd="sng" algn="ctr">
                      <a:solidFill>
                        <a:srgbClr val="E0A6B5"/>
                      </a:solidFill>
                      <a:prstDash val="solid"/>
                      <a:round/>
                      <a:headEnd type="none" w="med" len="med"/>
                      <a:tailEnd type="none" w="med" len="med"/>
                    </a:lnT>
                    <a:lnB w="12700" cap="flat" cmpd="sng" algn="ctr">
                      <a:solidFill>
                        <a:srgbClr val="E0B8B5"/>
                      </a:solidFill>
                      <a:prstDash val="solid"/>
                      <a:round/>
                      <a:headEnd type="none" w="med" len="med"/>
                      <a:tailEnd type="none" w="med" len="med"/>
                    </a:lnB>
                    <a:solidFill>
                      <a:srgbClr val="FFFFFF"/>
                    </a:solidFill>
                  </a:tcPr>
                </a:tc>
                <a:extLst>
                  <a:ext uri="{0D108BD9-81ED-4DB2-BD59-A6C34878D82A}">
                    <a16:rowId xmlns:a16="http://schemas.microsoft.com/office/drawing/2014/main" xmlns="" val="899669287"/>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2023-S1</a:t>
                      </a:r>
                    </a:p>
                  </a:txBody>
                  <a:tcPr marL="121920" marR="121920" marT="60960" marB="60960" anchor="ctr">
                    <a:lnL w="9525" cap="flat" cmpd="sng" algn="ctr">
                      <a:solidFill>
                        <a:srgbClr val="7095B5"/>
                      </a:solidFill>
                      <a:prstDash val="solid"/>
                      <a:round/>
                      <a:headEnd type="none" w="med" len="med"/>
                      <a:tailEnd type="none" w="med" len="med"/>
                    </a:lnL>
                    <a:lnR w="9525" cap="flat" cmpd="sng" algn="ctr">
                      <a:solidFill>
                        <a:srgbClr val="C0A8B5"/>
                      </a:solidFill>
                      <a:prstDash val="solid"/>
                      <a:round/>
                      <a:headEnd type="none" w="med" len="med"/>
                      <a:tailEnd type="none" w="med" len="med"/>
                    </a:lnR>
                    <a:lnT w="12700" cap="flat" cmpd="sng" algn="ctr">
                      <a:solidFill>
                        <a:srgbClr val="7095B5"/>
                      </a:solidFill>
                      <a:prstDash val="solid"/>
                      <a:round/>
                      <a:headEnd type="none" w="med" len="med"/>
                      <a:tailEnd type="none" w="med" len="med"/>
                    </a:lnT>
                    <a:lnB w="12700" cap="flat" cmpd="sng" algn="ctr">
                      <a:solidFill>
                        <a:srgbClr val="00A2B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C0A8B5"/>
                      </a:solidFill>
                      <a:prstDash val="solid"/>
                      <a:round/>
                      <a:headEnd type="none" w="med" len="med"/>
                      <a:tailEnd type="none" w="med" len="med"/>
                    </a:lnL>
                    <a:lnR w="9525" cap="flat" cmpd="sng" algn="ctr">
                      <a:solidFill>
                        <a:srgbClr val="30B1B5"/>
                      </a:solidFill>
                      <a:prstDash val="solid"/>
                      <a:round/>
                      <a:headEnd type="none" w="med" len="med"/>
                      <a:tailEnd type="none" w="med" len="med"/>
                    </a:lnR>
                    <a:lnT w="12700" cap="flat" cmpd="sng" algn="ctr">
                      <a:solidFill>
                        <a:srgbClr val="C0A8B5"/>
                      </a:solidFill>
                      <a:prstDash val="solid"/>
                      <a:round/>
                      <a:headEnd type="none" w="med" len="med"/>
                      <a:tailEnd type="none" w="med" len="med"/>
                    </a:lnT>
                    <a:lnB w="12700" cap="flat" cmpd="sng" algn="ctr">
                      <a:solidFill>
                        <a:srgbClr val="E0AFB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30B1B5"/>
                      </a:solidFill>
                      <a:prstDash val="solid"/>
                      <a:round/>
                      <a:headEnd type="none" w="med" len="med"/>
                      <a:tailEnd type="none" w="med" len="med"/>
                    </a:lnL>
                    <a:lnR w="9525" cap="flat" cmpd="sng" algn="ctr">
                      <a:solidFill>
                        <a:srgbClr val="E0B8B5"/>
                      </a:solidFill>
                      <a:prstDash val="solid"/>
                      <a:round/>
                      <a:headEnd type="none" w="med" len="med"/>
                      <a:tailEnd type="none" w="med" len="med"/>
                    </a:lnR>
                    <a:lnT w="12700" cap="flat" cmpd="sng" algn="ctr">
                      <a:solidFill>
                        <a:srgbClr val="30B1B5"/>
                      </a:solidFill>
                      <a:prstDash val="solid"/>
                      <a:round/>
                      <a:headEnd type="none" w="med" len="med"/>
                      <a:tailEnd type="none" w="med" len="med"/>
                    </a:lnT>
                    <a:lnB w="12700" cap="flat" cmpd="sng" algn="ctr">
                      <a:solidFill>
                        <a:srgbClr val="20BBB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600</a:t>
                      </a:r>
                    </a:p>
                  </a:txBody>
                  <a:tcPr marL="121920" marR="121920" marT="60960" marB="60960" anchor="ctr">
                    <a:lnL w="9525" cap="flat" cmpd="sng" algn="ctr">
                      <a:solidFill>
                        <a:srgbClr val="E0B8B5"/>
                      </a:solidFill>
                      <a:prstDash val="solid"/>
                      <a:round/>
                      <a:headEnd type="none" w="med" len="med"/>
                      <a:tailEnd type="none" w="med" len="med"/>
                    </a:lnL>
                    <a:lnR w="9525" cap="flat" cmpd="sng" algn="ctr">
                      <a:solidFill>
                        <a:srgbClr val="E0B8B5"/>
                      </a:solidFill>
                      <a:prstDash val="solid"/>
                      <a:round/>
                      <a:headEnd type="none" w="med" len="med"/>
                      <a:tailEnd type="none" w="med" len="med"/>
                    </a:lnR>
                    <a:lnT w="12700" cap="flat" cmpd="sng" algn="ctr">
                      <a:solidFill>
                        <a:srgbClr val="E0B8B5"/>
                      </a:solidFill>
                      <a:prstDash val="solid"/>
                      <a:round/>
                      <a:headEnd type="none" w="med" len="med"/>
                      <a:tailEnd type="none" w="med" len="med"/>
                    </a:lnT>
                    <a:lnB w="12700" cap="flat" cmpd="sng" algn="ctr">
                      <a:solidFill>
                        <a:srgbClr val="10BDB4"/>
                      </a:solidFill>
                      <a:prstDash val="solid"/>
                      <a:round/>
                      <a:headEnd type="none" w="med" len="med"/>
                      <a:tailEnd type="none" w="med" len="med"/>
                    </a:lnB>
                    <a:solidFill>
                      <a:srgbClr val="FFFFFF"/>
                    </a:solidFill>
                  </a:tcPr>
                </a:tc>
                <a:extLst>
                  <a:ext uri="{0D108BD9-81ED-4DB2-BD59-A6C34878D82A}">
                    <a16:rowId xmlns:a16="http://schemas.microsoft.com/office/drawing/2014/main" xmlns="" val="1959347698"/>
                  </a:ext>
                </a:extLst>
              </a:tr>
              <a:tr h="406400">
                <a:tc>
                  <a:txBody>
                    <a:bodyPr/>
                    <a:lstStyle/>
                    <a:p>
                      <a:pPr fontAlgn="base"/>
                      <a:r>
                        <a:rPr lang="fr-FR" sz="1900" dirty="0">
                          <a:effectLst/>
                          <a:latin typeface="Times New Roman" panose="02020603050405020304" pitchFamily="18" charset="0"/>
                          <a:cs typeface="Times New Roman" panose="02020603050405020304" pitchFamily="18" charset="0"/>
                        </a:rPr>
                        <a:t>2023-S2</a:t>
                      </a:r>
                    </a:p>
                  </a:txBody>
                  <a:tcPr marL="121920" marR="121920" marT="60960" marB="60960" anchor="ctr">
                    <a:lnL w="9525" cap="flat" cmpd="sng" algn="ctr">
                      <a:solidFill>
                        <a:srgbClr val="00A2B5"/>
                      </a:solidFill>
                      <a:prstDash val="solid"/>
                      <a:round/>
                      <a:headEnd type="none" w="med" len="med"/>
                      <a:tailEnd type="none" w="med" len="med"/>
                    </a:lnL>
                    <a:lnR w="9525" cap="flat" cmpd="sng" algn="ctr">
                      <a:solidFill>
                        <a:srgbClr val="E0AFB5"/>
                      </a:solidFill>
                      <a:prstDash val="solid"/>
                      <a:round/>
                      <a:headEnd type="none" w="med" len="med"/>
                      <a:tailEnd type="none" w="med" len="med"/>
                    </a:lnR>
                    <a:lnT w="12700" cap="flat" cmpd="sng" algn="ctr">
                      <a:solidFill>
                        <a:srgbClr val="00A2B5"/>
                      </a:solidFill>
                      <a:prstDash val="solid"/>
                      <a:round/>
                      <a:headEnd type="none" w="med" len="med"/>
                      <a:tailEnd type="none" w="med" len="med"/>
                    </a:lnT>
                    <a:lnB w="9525" cap="flat" cmpd="sng" algn="ctr">
                      <a:solidFill>
                        <a:srgbClr val="00A2B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Meubles</a:t>
                      </a:r>
                    </a:p>
                  </a:txBody>
                  <a:tcPr marL="121920" marR="121920" marT="60960" marB="60960" anchor="ctr">
                    <a:lnL w="9525" cap="flat" cmpd="sng" algn="ctr">
                      <a:solidFill>
                        <a:srgbClr val="E0AFB5"/>
                      </a:solidFill>
                      <a:prstDash val="solid"/>
                      <a:round/>
                      <a:headEnd type="none" w="med" len="med"/>
                      <a:tailEnd type="none" w="med" len="med"/>
                    </a:lnL>
                    <a:lnR w="9525" cap="flat" cmpd="sng" algn="ctr">
                      <a:solidFill>
                        <a:srgbClr val="20BBB5"/>
                      </a:solidFill>
                      <a:prstDash val="solid"/>
                      <a:round/>
                      <a:headEnd type="none" w="med" len="med"/>
                      <a:tailEnd type="none" w="med" len="med"/>
                    </a:lnR>
                    <a:lnT w="12700" cap="flat" cmpd="sng" algn="ctr">
                      <a:solidFill>
                        <a:srgbClr val="E0AFB5"/>
                      </a:solidFill>
                      <a:prstDash val="solid"/>
                      <a:round/>
                      <a:headEnd type="none" w="med" len="med"/>
                      <a:tailEnd type="none" w="med" len="med"/>
                    </a:lnT>
                    <a:lnB w="9525" cap="flat" cmpd="sng" algn="ctr">
                      <a:solidFill>
                        <a:srgbClr val="E0AFB5"/>
                      </a:solidFill>
                      <a:prstDash val="solid"/>
                      <a:round/>
                      <a:headEnd type="none" w="med" len="med"/>
                      <a:tailEnd type="none" w="med" len="med"/>
                    </a:lnB>
                    <a:solidFill>
                      <a:srgbClr val="FFFFFF"/>
                    </a:solidFill>
                  </a:tcPr>
                </a:tc>
                <a:tc>
                  <a:txBody>
                    <a:bodyPr/>
                    <a:lstStyle/>
                    <a:p>
                      <a:pPr fontAlgn="base"/>
                      <a:r>
                        <a:rPr lang="fr-FR" sz="1900">
                          <a:effectLst/>
                          <a:latin typeface="Times New Roman" panose="02020603050405020304" pitchFamily="18" charset="0"/>
                          <a:cs typeface="Times New Roman" panose="02020603050405020304" pitchFamily="18" charset="0"/>
                        </a:rPr>
                        <a:t>Amérique du Nord</a:t>
                      </a:r>
                    </a:p>
                  </a:txBody>
                  <a:tcPr marL="121920" marR="121920" marT="60960" marB="60960" anchor="ctr">
                    <a:lnL w="9525" cap="flat" cmpd="sng" algn="ctr">
                      <a:solidFill>
                        <a:srgbClr val="20BBB5"/>
                      </a:solidFill>
                      <a:prstDash val="solid"/>
                      <a:round/>
                      <a:headEnd type="none" w="med" len="med"/>
                      <a:tailEnd type="none" w="med" len="med"/>
                    </a:lnL>
                    <a:lnR w="9525" cap="flat" cmpd="sng" algn="ctr">
                      <a:solidFill>
                        <a:srgbClr val="10BDB4"/>
                      </a:solidFill>
                      <a:prstDash val="solid"/>
                      <a:round/>
                      <a:headEnd type="none" w="med" len="med"/>
                      <a:tailEnd type="none" w="med" len="med"/>
                    </a:lnR>
                    <a:lnT w="12700" cap="flat" cmpd="sng" algn="ctr">
                      <a:solidFill>
                        <a:srgbClr val="20BBB5"/>
                      </a:solidFill>
                      <a:prstDash val="solid"/>
                      <a:round/>
                      <a:headEnd type="none" w="med" len="med"/>
                      <a:tailEnd type="none" w="med" len="med"/>
                    </a:lnT>
                    <a:lnB w="9525" cap="flat" cmpd="sng" algn="ctr">
                      <a:solidFill>
                        <a:srgbClr val="20BBB5"/>
                      </a:solidFill>
                      <a:prstDash val="solid"/>
                      <a:round/>
                      <a:headEnd type="none" w="med" len="med"/>
                      <a:tailEnd type="none" w="med" len="med"/>
                    </a:lnB>
                    <a:solidFill>
                      <a:srgbClr val="FFFFFF"/>
                    </a:solidFill>
                  </a:tcPr>
                </a:tc>
                <a:tc>
                  <a:txBody>
                    <a:bodyPr/>
                    <a:lstStyle/>
                    <a:p>
                      <a:pPr fontAlgn="base"/>
                      <a:r>
                        <a:rPr lang="fr-FR" sz="1900" dirty="0">
                          <a:effectLst/>
                          <a:latin typeface="Times New Roman" panose="02020603050405020304" pitchFamily="18" charset="0"/>
                          <a:cs typeface="Times New Roman" panose="02020603050405020304" pitchFamily="18" charset="0"/>
                        </a:rPr>
                        <a:t>650</a:t>
                      </a:r>
                    </a:p>
                  </a:txBody>
                  <a:tcPr marL="121920" marR="121920" marT="60960" marB="60960" anchor="ctr">
                    <a:lnL w="9525" cap="flat" cmpd="sng" algn="ctr">
                      <a:solidFill>
                        <a:srgbClr val="10BDB4"/>
                      </a:solidFill>
                      <a:prstDash val="solid"/>
                      <a:round/>
                      <a:headEnd type="none" w="med" len="med"/>
                      <a:tailEnd type="none" w="med" len="med"/>
                    </a:lnL>
                    <a:lnR w="9525" cap="flat" cmpd="sng" algn="ctr">
                      <a:solidFill>
                        <a:srgbClr val="10BDB4"/>
                      </a:solidFill>
                      <a:prstDash val="solid"/>
                      <a:round/>
                      <a:headEnd type="none" w="med" len="med"/>
                      <a:tailEnd type="none" w="med" len="med"/>
                    </a:lnR>
                    <a:lnT w="12700" cap="flat" cmpd="sng" algn="ctr">
                      <a:solidFill>
                        <a:srgbClr val="10BDB4"/>
                      </a:solidFill>
                      <a:prstDash val="solid"/>
                      <a:round/>
                      <a:headEnd type="none" w="med" len="med"/>
                      <a:tailEnd type="none" w="med" len="med"/>
                    </a:lnT>
                    <a:lnB w="9525" cap="flat" cmpd="sng" algn="ctr">
                      <a:solidFill>
                        <a:srgbClr val="10BDB4"/>
                      </a:solidFill>
                      <a:prstDash val="solid"/>
                      <a:round/>
                      <a:headEnd type="none" w="med" len="med"/>
                      <a:tailEnd type="none" w="med" len="med"/>
                    </a:lnB>
                    <a:solidFill>
                      <a:srgbClr val="FFFFFF"/>
                    </a:solidFill>
                  </a:tcPr>
                </a:tc>
                <a:extLst>
                  <a:ext uri="{0D108BD9-81ED-4DB2-BD59-A6C34878D82A}">
                    <a16:rowId xmlns:a16="http://schemas.microsoft.com/office/drawing/2014/main" xmlns="" val="2052787999"/>
                  </a:ext>
                </a:extLst>
              </a:tr>
            </a:tbl>
          </a:graphicData>
        </a:graphic>
      </p:graphicFrame>
    </p:spTree>
    <p:extLst>
      <p:ext uri="{BB962C8B-B14F-4D97-AF65-F5344CB8AC3E}">
        <p14:creationId xmlns:p14="http://schemas.microsoft.com/office/powerpoint/2010/main" xmlns="" val="18603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282967" cy="584775"/>
          </a:xfrm>
          <a:prstGeom prst="rect">
            <a:avLst/>
          </a:prstGeom>
          <a:noFill/>
        </p:spPr>
        <p:txBody>
          <a:bodyPr wrap="none" rtlCol="0">
            <a:spAutoFit/>
          </a:bodyPr>
          <a:lstStyle/>
          <a:p>
            <a:r>
              <a:rPr lang="fr-FR" sz="3200" b="1" dirty="0"/>
              <a:t>Types de Modèles OLAP</a:t>
            </a:r>
            <a:endParaRPr lang="fr-FR" b="1" dirty="0"/>
          </a:p>
        </p:txBody>
      </p:sp>
      <p:pic>
        <p:nvPicPr>
          <p:cNvPr id="4" name="Picture 3">
            <a:extLst>
              <a:ext uri="{FF2B5EF4-FFF2-40B4-BE49-F238E27FC236}">
                <a16:creationId xmlns:a16="http://schemas.microsoft.com/office/drawing/2014/main" xmlns="" id="{AB05F304-7A6C-2E45-A170-EA4C952834FB}"/>
              </a:ext>
            </a:extLst>
          </p:cNvPr>
          <p:cNvPicPr>
            <a:picLocks noChangeAspect="1"/>
          </p:cNvPicPr>
          <p:nvPr/>
        </p:nvPicPr>
        <p:blipFill>
          <a:blip r:embed="rId2"/>
          <a:stretch>
            <a:fillRect/>
          </a:stretch>
        </p:blipFill>
        <p:spPr>
          <a:xfrm>
            <a:off x="2144767" y="1923475"/>
            <a:ext cx="7902465" cy="3744632"/>
          </a:xfrm>
          <a:prstGeom prst="rect">
            <a:avLst/>
          </a:prstGeom>
        </p:spPr>
      </p:pic>
    </p:spTree>
    <p:extLst>
      <p:ext uri="{BB962C8B-B14F-4D97-AF65-F5344CB8AC3E}">
        <p14:creationId xmlns:p14="http://schemas.microsoft.com/office/powerpoint/2010/main" xmlns="" val="4200283508"/>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643066" cy="584775"/>
          </a:xfrm>
          <a:prstGeom prst="rect">
            <a:avLst/>
          </a:prstGeom>
          <a:noFill/>
        </p:spPr>
        <p:txBody>
          <a:bodyPr wrap="none" rtlCol="0">
            <a:spAutoFit/>
          </a:bodyPr>
          <a:lstStyle/>
          <a:p>
            <a:r>
              <a:rPr lang="fr-FR" sz="3200" b="1" dirty="0"/>
              <a:t>ROLAP (</a:t>
            </a:r>
            <a:r>
              <a:rPr lang="fr-FR" sz="3200" b="1" dirty="0" err="1"/>
              <a:t>Relational</a:t>
            </a:r>
            <a:r>
              <a:rPr lang="fr-FR" sz="3200" b="1" dirty="0"/>
              <a:t> OLAP) :</a:t>
            </a:r>
            <a:endParaRPr lang="fr-FR" b="1" dirty="0"/>
          </a:p>
        </p:txBody>
      </p:sp>
      <p:sp>
        <p:nvSpPr>
          <p:cNvPr id="5" name="TextBox 4">
            <a:extLst>
              <a:ext uri="{FF2B5EF4-FFF2-40B4-BE49-F238E27FC236}">
                <a16:creationId xmlns:a16="http://schemas.microsoft.com/office/drawing/2014/main" xmlns="" id="{BFEAF210-B9D3-074F-8DE3-65E41DF20BEA}"/>
              </a:ext>
            </a:extLst>
          </p:cNvPr>
          <p:cNvSpPr txBox="1"/>
          <p:nvPr/>
        </p:nvSpPr>
        <p:spPr>
          <a:xfrm>
            <a:off x="1143001" y="1869598"/>
            <a:ext cx="10555940" cy="1420902"/>
          </a:xfrm>
          <a:prstGeom prst="rect">
            <a:avLst/>
          </a:prstGeom>
          <a:noFill/>
        </p:spPr>
        <p:txBody>
          <a:bodyPr wrap="square">
            <a:spAutoFit/>
          </a:bodyPr>
          <a:lstStyle/>
          <a:p>
            <a:pPr algn="just">
              <a:lnSpc>
                <a:spcPct val="150000"/>
              </a:lnSpc>
            </a:pPr>
            <a:r>
              <a:rPr lang="fr-FR" sz="2000" dirty="0"/>
              <a:t>Dans le </a:t>
            </a:r>
            <a:r>
              <a:rPr lang="fr-FR" sz="2000" dirty="0" err="1"/>
              <a:t>Relational</a:t>
            </a:r>
            <a:r>
              <a:rPr lang="fr-FR" sz="2000" dirty="0"/>
              <a:t> OLAP les données sont stockées dans une base de données relationnelle. Un moteur OLAP permet de simuler le fonctionnement d'un </a:t>
            </a:r>
            <a:r>
              <a:rPr lang="fr-FR" sz="2000" dirty="0" err="1"/>
              <a:t>hypercube</a:t>
            </a:r>
            <a:r>
              <a:rPr lang="fr-FR" sz="2000" dirty="0"/>
              <a:t>. Cela permet une facilité dans la mise à jour des données. </a:t>
            </a:r>
          </a:p>
        </p:txBody>
      </p:sp>
      <p:graphicFrame>
        <p:nvGraphicFramePr>
          <p:cNvPr id="6" name="Tableau 4">
            <a:extLst>
              <a:ext uri="{FF2B5EF4-FFF2-40B4-BE49-F238E27FC236}">
                <a16:creationId xmlns:a16="http://schemas.microsoft.com/office/drawing/2014/main" xmlns="" id="{0ABDC71C-5220-B042-A5C6-66C3B64ED5E0}"/>
              </a:ext>
            </a:extLst>
          </p:cNvPr>
          <p:cNvGraphicFramePr>
            <a:graphicFrameLocks noGrp="1"/>
          </p:cNvGraphicFramePr>
          <p:nvPr>
            <p:extLst>
              <p:ext uri="{D42A27DB-BD31-4B8C-83A1-F6EECF244321}">
                <p14:modId xmlns:p14="http://schemas.microsoft.com/office/powerpoint/2010/main" xmlns="" val="3130326962"/>
              </p:ext>
            </p:extLst>
          </p:nvPr>
        </p:nvGraphicFramePr>
        <p:xfrm>
          <a:off x="3048000" y="4143422"/>
          <a:ext cx="6096000" cy="16510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1473253399"/>
                    </a:ext>
                  </a:extLst>
                </a:gridCol>
                <a:gridCol w="3048000">
                  <a:extLst>
                    <a:ext uri="{9D8B030D-6E8A-4147-A177-3AD203B41FA5}">
                      <a16:colId xmlns:a16="http://schemas.microsoft.com/office/drawing/2014/main" xmlns="" val="3318250539"/>
                    </a:ext>
                  </a:extLst>
                </a:gridCol>
              </a:tblGrid>
              <a:tr h="370840">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Avantages </a:t>
                      </a:r>
                    </a:p>
                  </a:txBody>
                  <a:tcPr/>
                </a:tc>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Inconvénients</a:t>
                      </a:r>
                    </a:p>
                  </a:txBody>
                  <a:tcPr/>
                </a:tc>
                <a:extLst>
                  <a:ext uri="{0D108BD9-81ED-4DB2-BD59-A6C34878D82A}">
                    <a16:rowId xmlns:a16="http://schemas.microsoft.com/office/drawing/2014/main" xmlns="" val="495294892"/>
                  </a:ext>
                </a:extLst>
              </a:tr>
              <a:tr h="370840">
                <a:tc>
                  <a:txBody>
                    <a:bodyPr/>
                    <a:lstStyle/>
                    <a:p>
                      <a:pPr algn="just"/>
                      <a:r>
                        <a:rPr lang="fr-FR" sz="12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Possibilité d’exploiter directement les SGBDR déjà en place. </a:t>
                      </a:r>
                    </a:p>
                    <a:p>
                      <a:pPr algn="just"/>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algn="just"/>
                      <a:r>
                        <a:rPr lang="fr-FR" sz="12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Dépendance du langage SQL qui est limité est souvent inflexible grammaticalement.</a:t>
                      </a:r>
                    </a:p>
                    <a:p>
                      <a:pPr algn="just"/>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1903038836"/>
                  </a:ext>
                </a:extLst>
              </a:tr>
              <a:tr h="370840">
                <a:tc>
                  <a:txBody>
                    <a:bodyPr/>
                    <a:lstStyle/>
                    <a:p>
                      <a:pPr algn="just"/>
                      <a:r>
                        <a:rPr lang="fr-FR" sz="12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Capacité à gérer des volumes de données très importants </a:t>
                      </a:r>
                    </a:p>
                    <a:p>
                      <a:pPr algn="just"/>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algn="just"/>
                      <a:r>
                        <a:rPr lang="fr-FR" sz="1200" b="0" i="0" u="none" strike="noStrike" kern="1200" baseline="0" dirty="0">
                          <a:solidFill>
                            <a:schemeClr val="dk1"/>
                          </a:solidFill>
                          <a:latin typeface="Times New Roman" panose="02020603050405020304" pitchFamily="18" charset="0"/>
                          <a:ea typeface="Tahoma" panose="020B0604030504040204" pitchFamily="34" charset="0"/>
                          <a:cs typeface="Times New Roman" panose="02020603050405020304" pitchFamily="18" charset="0"/>
                        </a:rPr>
                        <a:t>Reformatage des données extraites avant de pouvoir effectuer une requête.</a:t>
                      </a:r>
                    </a:p>
                    <a:p>
                      <a:pPr algn="just"/>
                      <a:endParaRPr lang="fr-FR" sz="12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3104923076"/>
                  </a:ext>
                </a:extLst>
              </a:tr>
            </a:tbl>
          </a:graphicData>
        </a:graphic>
      </p:graphicFrame>
    </p:spTree>
    <p:extLst>
      <p:ext uri="{BB962C8B-B14F-4D97-AF65-F5344CB8AC3E}">
        <p14:creationId xmlns:p14="http://schemas.microsoft.com/office/powerpoint/2010/main" xmlns="" val="213683376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5982728" cy="584775"/>
          </a:xfrm>
          <a:prstGeom prst="rect">
            <a:avLst/>
          </a:prstGeom>
          <a:noFill/>
        </p:spPr>
        <p:txBody>
          <a:bodyPr wrap="none" rtlCol="0">
            <a:spAutoFit/>
          </a:bodyPr>
          <a:lstStyle/>
          <a:p>
            <a:r>
              <a:rPr lang="fr-FR" sz="3200" b="1" dirty="0"/>
              <a:t>MOLAP (</a:t>
            </a:r>
            <a:r>
              <a:rPr lang="fr-FR" sz="3200" b="1" dirty="0" err="1"/>
              <a:t>Multidimensional</a:t>
            </a:r>
            <a:r>
              <a:rPr lang="fr-FR" sz="3200" b="1" dirty="0"/>
              <a:t> OLAP) :</a:t>
            </a:r>
            <a:endParaRPr lang="fr-FR" b="1" dirty="0"/>
          </a:p>
        </p:txBody>
      </p:sp>
      <p:sp>
        <p:nvSpPr>
          <p:cNvPr id="3" name="TextBox 2">
            <a:extLst>
              <a:ext uri="{FF2B5EF4-FFF2-40B4-BE49-F238E27FC236}">
                <a16:creationId xmlns:a16="http://schemas.microsoft.com/office/drawing/2014/main" xmlns="" id="{47B7A4D8-4624-F940-B047-56114D79D032}"/>
              </a:ext>
            </a:extLst>
          </p:cNvPr>
          <p:cNvSpPr txBox="1"/>
          <p:nvPr/>
        </p:nvSpPr>
        <p:spPr>
          <a:xfrm>
            <a:off x="1143001" y="1647093"/>
            <a:ext cx="10623175" cy="1882567"/>
          </a:xfrm>
          <a:prstGeom prst="rect">
            <a:avLst/>
          </a:prstGeom>
          <a:noFill/>
        </p:spPr>
        <p:txBody>
          <a:bodyPr wrap="square">
            <a:spAutoFit/>
          </a:bodyPr>
          <a:lstStyle/>
          <a:p>
            <a:pPr algn="just">
              <a:lnSpc>
                <a:spcPct val="150000"/>
              </a:lnSpc>
            </a:pPr>
            <a:r>
              <a:rPr lang="fr-FR" sz="2000" dirty="0"/>
              <a:t>Le </a:t>
            </a:r>
            <a:r>
              <a:rPr lang="fr-FR" sz="2000" dirty="0" err="1"/>
              <a:t>Multidimensional</a:t>
            </a:r>
            <a:r>
              <a:rPr lang="fr-FR" sz="2000" dirty="0"/>
              <a:t> OLAP consiste à utiliser un système multidimensionnelle pur, qui gère des structures multidimensionnelles natives. Elles utilisent des tableaux à n dimensions. L'accès aux données se fait directement dans le cube. Cela permet une rapidité d'accès à l'information mais augmente le temps de mise à jour. </a:t>
            </a:r>
          </a:p>
        </p:txBody>
      </p:sp>
      <p:graphicFrame>
        <p:nvGraphicFramePr>
          <p:cNvPr id="6" name="Tableau 4">
            <a:extLst>
              <a:ext uri="{FF2B5EF4-FFF2-40B4-BE49-F238E27FC236}">
                <a16:creationId xmlns:a16="http://schemas.microsoft.com/office/drawing/2014/main" xmlns="" id="{3F65618E-0F53-504F-98E8-44489D1C274A}"/>
              </a:ext>
            </a:extLst>
          </p:cNvPr>
          <p:cNvGraphicFramePr>
            <a:graphicFrameLocks noGrp="1"/>
          </p:cNvGraphicFramePr>
          <p:nvPr>
            <p:extLst>
              <p:ext uri="{D42A27DB-BD31-4B8C-83A1-F6EECF244321}">
                <p14:modId xmlns:p14="http://schemas.microsoft.com/office/powerpoint/2010/main" xmlns="" val="1190127018"/>
              </p:ext>
            </p:extLst>
          </p:nvPr>
        </p:nvGraphicFramePr>
        <p:xfrm>
          <a:off x="3048000" y="3986860"/>
          <a:ext cx="6096000" cy="1986280"/>
        </p:xfrm>
        <a:graphic>
          <a:graphicData uri="http://schemas.openxmlformats.org/drawingml/2006/table">
            <a:tbl>
              <a:tblPr firstRow="1" bandRow="1">
                <a:tableStyleId>{5C22544A-7EE6-4342-B048-85BDC9FD1C3A}</a:tableStyleId>
              </a:tblPr>
              <a:tblGrid>
                <a:gridCol w="3069265">
                  <a:extLst>
                    <a:ext uri="{9D8B030D-6E8A-4147-A177-3AD203B41FA5}">
                      <a16:colId xmlns:a16="http://schemas.microsoft.com/office/drawing/2014/main" xmlns="" val="1473253399"/>
                    </a:ext>
                  </a:extLst>
                </a:gridCol>
                <a:gridCol w="3026735">
                  <a:extLst>
                    <a:ext uri="{9D8B030D-6E8A-4147-A177-3AD203B41FA5}">
                      <a16:colId xmlns:a16="http://schemas.microsoft.com/office/drawing/2014/main" xmlns="" val="3318250539"/>
                    </a:ext>
                  </a:extLst>
                </a:gridCol>
              </a:tblGrid>
              <a:tr h="370840">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Avantages </a:t>
                      </a:r>
                    </a:p>
                  </a:txBody>
                  <a:tcPr/>
                </a:tc>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Inconvénients</a:t>
                      </a:r>
                    </a:p>
                  </a:txBody>
                  <a:tcPr/>
                </a:tc>
                <a:extLst>
                  <a:ext uri="{0D108BD9-81ED-4DB2-BD59-A6C34878D82A}">
                    <a16:rowId xmlns:a16="http://schemas.microsoft.com/office/drawing/2014/main" xmlns="" val="495294892"/>
                  </a:ext>
                </a:extLst>
              </a:tr>
              <a:tr h="370840">
                <a:tc>
                  <a:txBody>
                    <a:bodyPr/>
                    <a:lstStyle/>
                    <a:p>
                      <a:pPr algn="just"/>
                      <a:r>
                        <a:rPr lang="fr-FR" sz="1200" b="0" i="0" kern="1200" dirty="0">
                          <a:solidFill>
                            <a:schemeClr val="dk1"/>
                          </a:solidFill>
                          <a:effectLst/>
                          <a:latin typeface="Times New Roman" panose="02020603050405020304" pitchFamily="18" charset="0"/>
                          <a:ea typeface="+mn-ea"/>
                          <a:cs typeface="Times New Roman" panose="02020603050405020304" pitchFamily="18" charset="0"/>
                        </a:rPr>
                        <a:t>OLAP peut effectuer des calculs complexes</a:t>
                      </a:r>
                      <a:endParaRPr lang="fr-FR" sz="10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algn="just"/>
                      <a:r>
                        <a:rPr lang="fr-FR" sz="1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Les bases de données de type M-OLAP restent limitées dans leur capacité à gérer d’importants volumes de données.</a:t>
                      </a:r>
                    </a:p>
                    <a:p>
                      <a:pPr algn="just"/>
                      <a:endParaRPr lang="fr-FR" sz="10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1903038836"/>
                  </a:ext>
                </a:extLst>
              </a:tr>
              <a:tr h="370840">
                <a:tc>
                  <a:txBody>
                    <a:bodyPr/>
                    <a:lstStyle/>
                    <a:p>
                      <a:pPr algn="just"/>
                      <a:endParaRPr lang="fr-FR" sz="10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algn="just"/>
                      <a:r>
                        <a:rPr lang="fr-FR" sz="1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Les MOLAP sont souvent des systèmes propriétaires, nécessitant un apprentissage complet et un déploiement de la part des responsables informatiques.</a:t>
                      </a:r>
                      <a:endParaRPr lang="fr-FR" sz="10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3104923076"/>
                  </a:ext>
                </a:extLst>
              </a:tr>
            </a:tbl>
          </a:graphicData>
        </a:graphic>
      </p:graphicFrame>
    </p:spTree>
    <p:extLst>
      <p:ext uri="{BB962C8B-B14F-4D97-AF65-F5344CB8AC3E}">
        <p14:creationId xmlns:p14="http://schemas.microsoft.com/office/powerpoint/2010/main" xmlns="" val="141971104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D0892BD-88EE-A949-83DE-2E8988CF2F08}"/>
              </a:ext>
            </a:extLst>
          </p:cNvPr>
          <p:cNvSpPr txBox="1"/>
          <p:nvPr/>
        </p:nvSpPr>
        <p:spPr>
          <a:xfrm>
            <a:off x="1143001" y="605118"/>
            <a:ext cx="4028667" cy="584775"/>
          </a:xfrm>
          <a:prstGeom prst="rect">
            <a:avLst/>
          </a:prstGeom>
          <a:noFill/>
        </p:spPr>
        <p:txBody>
          <a:bodyPr wrap="none" rtlCol="0">
            <a:spAutoFit/>
          </a:bodyPr>
          <a:lstStyle/>
          <a:p>
            <a:r>
              <a:rPr lang="fr-FR" sz="3200" b="1" dirty="0"/>
              <a:t>HOLAP (</a:t>
            </a:r>
            <a:r>
              <a:rPr lang="fr-FR" sz="3200" b="1" dirty="0" err="1"/>
              <a:t>Hybrid</a:t>
            </a:r>
            <a:r>
              <a:rPr lang="fr-FR" sz="3200" b="1" dirty="0"/>
              <a:t> OLAP) :</a:t>
            </a:r>
            <a:endParaRPr lang="fr-FR" b="1" dirty="0"/>
          </a:p>
        </p:txBody>
      </p:sp>
      <p:sp>
        <p:nvSpPr>
          <p:cNvPr id="4" name="TextBox 3">
            <a:extLst>
              <a:ext uri="{FF2B5EF4-FFF2-40B4-BE49-F238E27FC236}">
                <a16:creationId xmlns:a16="http://schemas.microsoft.com/office/drawing/2014/main" xmlns="" id="{915E511F-1D50-DB40-AD16-ECDA7C9617AA}"/>
              </a:ext>
            </a:extLst>
          </p:cNvPr>
          <p:cNvSpPr txBox="1"/>
          <p:nvPr/>
        </p:nvSpPr>
        <p:spPr>
          <a:xfrm>
            <a:off x="1143001" y="1638766"/>
            <a:ext cx="10623175" cy="1420902"/>
          </a:xfrm>
          <a:prstGeom prst="rect">
            <a:avLst/>
          </a:prstGeom>
          <a:noFill/>
        </p:spPr>
        <p:txBody>
          <a:bodyPr wrap="square">
            <a:spAutoFit/>
          </a:bodyPr>
          <a:lstStyle/>
          <a:p>
            <a:pPr algn="just">
              <a:lnSpc>
                <a:spcPct val="150000"/>
              </a:lnSpc>
            </a:pPr>
            <a:r>
              <a:rPr lang="fr-FR" sz="2000" dirty="0"/>
              <a:t>HOLAP (</a:t>
            </a:r>
            <a:r>
              <a:rPr lang="fr-FR" sz="2000" dirty="0" err="1"/>
              <a:t>Hybrid</a:t>
            </a:r>
            <a:r>
              <a:rPr lang="fr-FR" sz="2000" dirty="0"/>
              <a:t> OLAP) est un hybride entre ROLAP ET HOLAP. Les parties tables de faits et tables de dimensions sont stockées dans une base relationnelle standard tandis que le reste des données (les calculs) sont stockées dans une base multidimensionnelle.</a:t>
            </a:r>
          </a:p>
        </p:txBody>
      </p:sp>
      <p:graphicFrame>
        <p:nvGraphicFramePr>
          <p:cNvPr id="7" name="Tableau 4">
            <a:extLst>
              <a:ext uri="{FF2B5EF4-FFF2-40B4-BE49-F238E27FC236}">
                <a16:creationId xmlns:a16="http://schemas.microsoft.com/office/drawing/2014/main" xmlns="" id="{A66E1785-181B-A147-B0BE-425511CC3743}"/>
              </a:ext>
            </a:extLst>
          </p:cNvPr>
          <p:cNvGraphicFramePr>
            <a:graphicFrameLocks noGrp="1"/>
          </p:cNvGraphicFramePr>
          <p:nvPr>
            <p:extLst>
              <p:ext uri="{D42A27DB-BD31-4B8C-83A1-F6EECF244321}">
                <p14:modId xmlns:p14="http://schemas.microsoft.com/office/powerpoint/2010/main" xmlns="" val="1448478022"/>
              </p:ext>
            </p:extLst>
          </p:nvPr>
        </p:nvGraphicFramePr>
        <p:xfrm>
          <a:off x="3048000" y="4027063"/>
          <a:ext cx="6096000" cy="1574800"/>
        </p:xfrm>
        <a:graphic>
          <a:graphicData uri="http://schemas.openxmlformats.org/drawingml/2006/table">
            <a:tbl>
              <a:tblPr firstRow="1" bandRow="1">
                <a:tableStyleId>{5C22544A-7EE6-4342-B048-85BDC9FD1C3A}</a:tableStyleId>
              </a:tblPr>
              <a:tblGrid>
                <a:gridCol w="3069265">
                  <a:extLst>
                    <a:ext uri="{9D8B030D-6E8A-4147-A177-3AD203B41FA5}">
                      <a16:colId xmlns:a16="http://schemas.microsoft.com/office/drawing/2014/main" xmlns="" val="1473253399"/>
                    </a:ext>
                  </a:extLst>
                </a:gridCol>
                <a:gridCol w="3026735">
                  <a:extLst>
                    <a:ext uri="{9D8B030D-6E8A-4147-A177-3AD203B41FA5}">
                      <a16:colId xmlns:a16="http://schemas.microsoft.com/office/drawing/2014/main" xmlns="" val="3318250539"/>
                    </a:ext>
                  </a:extLst>
                </a:gridCol>
              </a:tblGrid>
              <a:tr h="370840">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Avantages </a:t>
                      </a:r>
                    </a:p>
                  </a:txBody>
                  <a:tcPr/>
                </a:tc>
                <a:tc>
                  <a:txBody>
                    <a:bodyPr/>
                    <a:lstStyle/>
                    <a:p>
                      <a:pPr algn="ctr"/>
                      <a:r>
                        <a:rPr lang="fr-FR" sz="1600" dirty="0">
                          <a:solidFill>
                            <a:schemeClr val="tx1">
                              <a:lumMod val="85000"/>
                              <a:lumOff val="15000"/>
                            </a:schemeClr>
                          </a:solidFill>
                          <a:latin typeface="Tahoma" panose="020B0604030504040204" pitchFamily="34" charset="0"/>
                          <a:ea typeface="Tahoma" panose="020B0604030504040204" pitchFamily="34" charset="0"/>
                          <a:cs typeface="Tahoma" panose="020B0604030504040204" pitchFamily="34" charset="0"/>
                        </a:rPr>
                        <a:t>Inconvénients</a:t>
                      </a:r>
                    </a:p>
                  </a:txBody>
                  <a:tcPr/>
                </a:tc>
                <a:extLst>
                  <a:ext uri="{0D108BD9-81ED-4DB2-BD59-A6C34878D82A}">
                    <a16:rowId xmlns:a16="http://schemas.microsoft.com/office/drawing/2014/main" xmlns="" val="495294892"/>
                  </a:ext>
                </a:extLst>
              </a:tr>
              <a:tr h="370840">
                <a:tc>
                  <a:txBody>
                    <a:bodyPr/>
                    <a:lstStyle/>
                    <a:p>
                      <a:pPr algn="just"/>
                      <a:r>
                        <a:rPr lang="fr-FR" sz="1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Stocker de plus grandes quantités de données.</a:t>
                      </a:r>
                    </a:p>
                  </a:txBody>
                  <a:tcPr/>
                </a:tc>
                <a:tc>
                  <a:txBody>
                    <a:bodyPr/>
                    <a:lstStyle/>
                    <a:p>
                      <a:pPr algn="just"/>
                      <a:r>
                        <a:rPr lang="fr-FR" sz="1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le caractère hybride des systèmes HOLAP implique qu’ils partagent les faiblesses du MOLAP et du ROLAP</a:t>
                      </a:r>
                      <a:endParaRPr lang="fr-FR" sz="7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1903038836"/>
                  </a:ext>
                </a:extLst>
              </a:tr>
              <a:tr h="370840">
                <a:tc>
                  <a:txBody>
                    <a:bodyPr/>
                    <a:lstStyle/>
                    <a:p>
                      <a:pPr algn="just"/>
                      <a:r>
                        <a:rPr lang="fr-FR" sz="1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Offrir une flexibilité pour l’accès aux sources de données.</a:t>
                      </a:r>
                    </a:p>
                    <a:p>
                      <a:pPr algn="just"/>
                      <a:endParaRPr lang="fr-FR" sz="700" dirty="0">
                        <a:latin typeface="Times New Roman" panose="02020603050405020304" pitchFamily="18" charset="0"/>
                        <a:ea typeface="Tahoma" panose="020B0604030504040204" pitchFamily="34" charset="0"/>
                        <a:cs typeface="Times New Roman" panose="02020603050405020304" pitchFamily="18" charset="0"/>
                      </a:endParaRPr>
                    </a:p>
                  </a:txBody>
                  <a:tcPr/>
                </a:tc>
                <a:tc>
                  <a:txBody>
                    <a:bodyPr/>
                    <a:lstStyle/>
                    <a:p>
                      <a:pPr algn="just"/>
                      <a:endParaRPr lang="fr-FR" sz="700" dirty="0">
                        <a:latin typeface="Times New Roman" panose="02020603050405020304" pitchFamily="18" charset="0"/>
                        <a:ea typeface="Tahoma" panose="020B0604030504040204" pitchFamily="34" charset="0"/>
                        <a:cs typeface="Times New Roman" panose="02020603050405020304" pitchFamily="18" charset="0"/>
                      </a:endParaRPr>
                    </a:p>
                  </a:txBody>
                  <a:tcPr/>
                </a:tc>
                <a:extLst>
                  <a:ext uri="{0D108BD9-81ED-4DB2-BD59-A6C34878D82A}">
                    <a16:rowId xmlns:a16="http://schemas.microsoft.com/office/drawing/2014/main" xmlns="" val="3104923076"/>
                  </a:ext>
                </a:extLst>
              </a:tr>
            </a:tbl>
          </a:graphicData>
        </a:graphic>
      </p:graphicFrame>
    </p:spTree>
    <p:extLst>
      <p:ext uri="{BB962C8B-B14F-4D97-AF65-F5344CB8AC3E}">
        <p14:creationId xmlns:p14="http://schemas.microsoft.com/office/powerpoint/2010/main" xmlns="" val="3048527203"/>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{0214B7F2-CABB-8641-943C-56DBF3709574}tf10001072</Template>
  <TotalTime>885</TotalTime>
  <Words>13739</Words>
  <Application>Microsoft Office PowerPoint</Application>
  <PresentationFormat>Personnalisé</PresentationFormat>
  <Paragraphs>1612</Paragraphs>
  <Slides>237</Slides>
  <Notes>41</Notes>
  <HiddenSlides>0</HiddenSlides>
  <MMClips>0</MMClips>
  <ScaleCrop>false</ScaleCrop>
  <HeadingPairs>
    <vt:vector size="4" baseType="variant">
      <vt:variant>
        <vt:lpstr>Thème</vt:lpstr>
      </vt:variant>
      <vt:variant>
        <vt:i4>1</vt:i4>
      </vt:variant>
      <vt:variant>
        <vt:lpstr>Titres des diapositives</vt:lpstr>
      </vt:variant>
      <vt:variant>
        <vt:i4>237</vt:i4>
      </vt:variant>
    </vt:vector>
  </HeadingPairs>
  <TitlesOfParts>
    <vt:vector size="238" baseType="lpstr">
      <vt:lpstr>Crop</vt:lpstr>
      <vt:lpstr>Business Intelligence Principe Technique et outils</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SYSTÈME D’INFORMATION DÉCISIONNEL</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Diapositive 53</vt:lpstr>
      <vt:lpstr>Diapositive 54</vt:lpstr>
      <vt:lpstr>Diapositive 55</vt:lpstr>
      <vt:lpstr>Diapositive 56</vt:lpstr>
      <vt:lpstr>Diapositive 57</vt:lpstr>
      <vt:lpstr>Diapositive 58</vt:lpstr>
      <vt:lpstr>Diapositive 59</vt:lpstr>
      <vt:lpstr>Diapositive 60</vt:lpstr>
      <vt:lpstr>Diapositive 61</vt:lpstr>
      <vt:lpstr>Diapositive 62</vt:lpstr>
      <vt:lpstr>Diapositive 63</vt:lpstr>
      <vt:lpstr>Diapositive 64</vt:lpstr>
      <vt:lpstr>Diapositive 65</vt:lpstr>
      <vt:lpstr>Diapositive 66</vt:lpstr>
      <vt:lpstr>Diapositive 67</vt:lpstr>
      <vt:lpstr>Diapositive 68</vt:lpstr>
      <vt:lpstr>Diapositive 69</vt:lpstr>
      <vt:lpstr>Diapositive 70</vt:lpstr>
      <vt:lpstr>Diapositive 71</vt:lpstr>
      <vt:lpstr>Diapositive 72</vt:lpstr>
      <vt:lpstr>Diapositive 73</vt:lpstr>
      <vt:lpstr>Diapositive 74</vt:lpstr>
      <vt:lpstr>Diapositive 75</vt:lpstr>
      <vt:lpstr>Diapositive 76</vt:lpstr>
      <vt:lpstr>Diapositive 77</vt:lpstr>
      <vt:lpstr>Diapositive 78</vt:lpstr>
      <vt:lpstr>Diapositive 79</vt:lpstr>
      <vt:lpstr>Diapositive 80</vt:lpstr>
      <vt:lpstr>Entrepôt de données</vt:lpstr>
      <vt:lpstr>Diapositive 82</vt:lpstr>
      <vt:lpstr>Diapositive 83</vt:lpstr>
      <vt:lpstr>Diapositive 84</vt:lpstr>
      <vt:lpstr>Diapositive 85</vt:lpstr>
      <vt:lpstr>Diapositive 86</vt:lpstr>
      <vt:lpstr>Diapositive 87</vt:lpstr>
      <vt:lpstr>Diapositive 88</vt:lpstr>
      <vt:lpstr>Diapositive 89</vt:lpstr>
      <vt:lpstr>Diapositive 90</vt:lpstr>
      <vt:lpstr>Diapositive 91</vt:lpstr>
      <vt:lpstr>Diapositive 92</vt:lpstr>
      <vt:lpstr>Diapositive 93</vt:lpstr>
      <vt:lpstr>Diapositive 94</vt:lpstr>
      <vt:lpstr>Diapositive 95</vt:lpstr>
      <vt:lpstr>Diapositive 96</vt:lpstr>
      <vt:lpstr>Diapositive 97</vt:lpstr>
      <vt:lpstr>Diapositive 98</vt:lpstr>
      <vt:lpstr>Diapositive 99</vt:lpstr>
      <vt:lpstr>Diapositive 100</vt:lpstr>
      <vt:lpstr>Diapositive 101</vt:lpstr>
      <vt:lpstr>Diapositive 102</vt:lpstr>
      <vt:lpstr>Diapositive 103</vt:lpstr>
      <vt:lpstr>Diapositive 104</vt:lpstr>
      <vt:lpstr>Diapositive 105</vt:lpstr>
      <vt:lpstr>Diapositive 106</vt:lpstr>
      <vt:lpstr>Diapositive 107</vt:lpstr>
      <vt:lpstr>Diapositive 108</vt:lpstr>
      <vt:lpstr>Diapositive 109</vt:lpstr>
      <vt:lpstr>Diapositive 110</vt:lpstr>
      <vt:lpstr>Diapositive 111</vt:lpstr>
      <vt:lpstr>Diapositive 112</vt:lpstr>
      <vt:lpstr>Diapositive 113</vt:lpstr>
      <vt:lpstr>Diapositive 114</vt:lpstr>
      <vt:lpstr>Diapositive 115</vt:lpstr>
      <vt:lpstr>Diapositive 116</vt:lpstr>
      <vt:lpstr>Diapositive 117</vt:lpstr>
      <vt:lpstr>Diapositive 118</vt:lpstr>
      <vt:lpstr>Diapositive 119</vt:lpstr>
      <vt:lpstr>Diapositive 120</vt:lpstr>
      <vt:lpstr>Diapositive 121</vt:lpstr>
      <vt:lpstr>Diapositive 122</vt:lpstr>
      <vt:lpstr>Diapositive 123</vt:lpstr>
      <vt:lpstr>Diapositive 124</vt:lpstr>
      <vt:lpstr>Diapositive 125</vt:lpstr>
      <vt:lpstr>Diapositive 126</vt:lpstr>
      <vt:lpstr>Diapositive 127</vt:lpstr>
      <vt:lpstr>Diapositive 128</vt:lpstr>
      <vt:lpstr>Diapositive 129</vt:lpstr>
      <vt:lpstr>Diapositive 130</vt:lpstr>
      <vt:lpstr>ETL Formation TALEND</vt:lpstr>
      <vt:lpstr>Diapositive 132</vt:lpstr>
      <vt:lpstr>Introduction</vt:lpstr>
      <vt:lpstr>Introduction</vt:lpstr>
      <vt:lpstr>Introduction</vt:lpstr>
      <vt:lpstr>Type d’eTL</vt:lpstr>
      <vt:lpstr>Fonctionnement des processus ETL</vt:lpstr>
      <vt:lpstr>Fonctionnement des processus ETL</vt:lpstr>
      <vt:lpstr>Fonctionnement des processus ETL</vt:lpstr>
      <vt:lpstr>Fonctionnement des processus ETL</vt:lpstr>
      <vt:lpstr>Fonctionnement des processus ETL</vt:lpstr>
      <vt:lpstr>Fonctionnement des processus ETL</vt:lpstr>
      <vt:lpstr>Fonctionnement des processus ETL</vt:lpstr>
      <vt:lpstr>Fonctionnement des processus ETL</vt:lpstr>
      <vt:lpstr>Fonctionnement des processus ETL</vt:lpstr>
      <vt:lpstr>Fonctionnement des processus ETL</vt:lpstr>
      <vt:lpstr>Intégration décisonnelle</vt:lpstr>
      <vt:lpstr>Intégration décisonnelle</vt:lpstr>
      <vt:lpstr> Présentation de Talend Open Studio </vt:lpstr>
      <vt:lpstr> Présentation de Talend Open Studio </vt:lpstr>
      <vt:lpstr>terminologie</vt:lpstr>
      <vt:lpstr>terminologie</vt:lpstr>
      <vt:lpstr>terminologie</vt:lpstr>
      <vt:lpstr>terminologie</vt:lpstr>
      <vt:lpstr>terminologie</vt:lpstr>
      <vt:lpstr>Interface TOS</vt:lpstr>
      <vt:lpstr>Interface TOS</vt:lpstr>
      <vt:lpstr>Interface TOS</vt:lpstr>
      <vt:lpstr>Interface TOS</vt:lpstr>
      <vt:lpstr>Interface TOS</vt:lpstr>
      <vt:lpstr>Interface TOS</vt:lpstr>
      <vt:lpstr>Interface TOS</vt:lpstr>
      <vt:lpstr> Présentation de Talend Open Studio </vt:lpstr>
      <vt:lpstr>Présentation de Talend Open Studio  Business Model</vt:lpstr>
      <vt:lpstr>Présentation de Talend Open Studio  Business Model</vt:lpstr>
      <vt:lpstr>Présentation de Talend Open Studio  Business Model</vt:lpstr>
      <vt:lpstr>Présentation de Talend Open Studio  Business Model</vt:lpstr>
      <vt:lpstr>Présentation de Talend Open Studio  metadata manager</vt:lpstr>
      <vt:lpstr>Présentation de Talend Open Studio  metadata manager</vt:lpstr>
      <vt:lpstr>Présentation de Talend Open Studio  metadata manager</vt:lpstr>
      <vt:lpstr>Présentation de Talend Open Studio  metadata manager</vt:lpstr>
      <vt:lpstr>Présentation de Talend Open Studio  JOB DESIGNER</vt:lpstr>
      <vt:lpstr>Présentation de Talend Open Studio  JOB DESIGNER</vt:lpstr>
      <vt:lpstr>Présentation de Talend Open Studio  JOB DESIGNER</vt:lpstr>
      <vt:lpstr>Présentation de Talend Open Studio  JOB DESIGNER</vt:lpstr>
      <vt:lpstr>Liste des composants les plus utilisés</vt:lpstr>
      <vt:lpstr>Diapositive 177</vt:lpstr>
      <vt:lpstr>Diapositive 178</vt:lpstr>
      <vt:lpstr>Diapositive 179</vt:lpstr>
      <vt:lpstr>Diapositive 180</vt:lpstr>
      <vt:lpstr>Connexion entre les composants (ROW)  </vt:lpstr>
      <vt:lpstr>Connexion entre les composants (ROW)  </vt:lpstr>
      <vt:lpstr>Connexion entre les composants (ROW)  </vt:lpstr>
      <vt:lpstr>Connexion entre les composants (ROW)  </vt:lpstr>
      <vt:lpstr>Exemple</vt:lpstr>
      <vt:lpstr>Conclusion</vt:lpstr>
      <vt:lpstr>CUBE OLAP</vt:lpstr>
      <vt:lpstr>Diapositive 188</vt:lpstr>
      <vt:lpstr>Diapositive 189</vt:lpstr>
      <vt:lpstr>Diapositive 190</vt:lpstr>
      <vt:lpstr>Diapositive 191</vt:lpstr>
      <vt:lpstr>Diapositive 192</vt:lpstr>
      <vt:lpstr>Diapositive 193</vt:lpstr>
      <vt:lpstr>Diapositive 194</vt:lpstr>
      <vt:lpstr>Diapositive 195</vt:lpstr>
      <vt:lpstr>Diapositive 196</vt:lpstr>
      <vt:lpstr>Diapositive 197</vt:lpstr>
      <vt:lpstr>Diapositive 198</vt:lpstr>
      <vt:lpstr>Diapositive 199</vt:lpstr>
      <vt:lpstr>Diapositive 200</vt:lpstr>
      <vt:lpstr>Diapositive 201</vt:lpstr>
      <vt:lpstr>Diapositive 202</vt:lpstr>
      <vt:lpstr>Diapositive 203</vt:lpstr>
      <vt:lpstr>Diapositive 204</vt:lpstr>
      <vt:lpstr>Diapositive 205</vt:lpstr>
      <vt:lpstr>Diapositive 206</vt:lpstr>
      <vt:lpstr>Diapositive 207</vt:lpstr>
      <vt:lpstr>Diapositive 208</vt:lpstr>
      <vt:lpstr>Diapositive 209</vt:lpstr>
      <vt:lpstr>Diapositive 210</vt:lpstr>
      <vt:lpstr>Diapositive 211</vt:lpstr>
      <vt:lpstr>Diapositive 212</vt:lpstr>
      <vt:lpstr>Diapositive 213</vt:lpstr>
      <vt:lpstr>Diapositive 214</vt:lpstr>
      <vt:lpstr>Diapositive 215</vt:lpstr>
      <vt:lpstr>Diapositive 216</vt:lpstr>
      <vt:lpstr>Diapositive 217</vt:lpstr>
      <vt:lpstr>Diapositive 218</vt:lpstr>
      <vt:lpstr>Diapositive 219</vt:lpstr>
      <vt:lpstr>Diapositive 220</vt:lpstr>
      <vt:lpstr>Diapositive 221</vt:lpstr>
      <vt:lpstr>Diapositive 222</vt:lpstr>
      <vt:lpstr>Diapositive 223</vt:lpstr>
      <vt:lpstr>Diapositive 224</vt:lpstr>
      <vt:lpstr>Diapositive 225</vt:lpstr>
      <vt:lpstr>Diapositive 226</vt:lpstr>
      <vt:lpstr>Diapositive 227</vt:lpstr>
      <vt:lpstr>Diapositive 228</vt:lpstr>
      <vt:lpstr>Diapositive 229</vt:lpstr>
      <vt:lpstr>Diapositive 230</vt:lpstr>
      <vt:lpstr>Diapositive 231</vt:lpstr>
      <vt:lpstr>Diapositive 232</vt:lpstr>
      <vt:lpstr>Diapositive 233</vt:lpstr>
      <vt:lpstr>Diapositive 234</vt:lpstr>
      <vt:lpstr>Diapositive 235</vt:lpstr>
      <vt:lpstr>Diapositive 236</vt:lpstr>
      <vt:lpstr>Diapositive 237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Business Intelligence</dc:title>
  <dc:creator>Microsoft Office User</dc:creator>
  <cp:lastModifiedBy>user</cp:lastModifiedBy>
  <cp:revision>56</cp:revision>
  <dcterms:created xsi:type="dcterms:W3CDTF">2024-02-12T08:24:40Z</dcterms:created>
  <dcterms:modified xsi:type="dcterms:W3CDTF">2024-11-30T17:31:52Z</dcterms:modified>
</cp:coreProperties>
</file>