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notesSlides/notesSlide96.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slides/slide55.xml" ContentType="application/vnd.openxmlformats-officedocument.presentationml.slide+xml"/>
  <Override PartName="/ppt/theme/theme2.xml" ContentType="application/vnd.openxmlformats-officedocument.theme+xml"/>
  <Override PartName="/ppt/notesSlides/notesSlide57.xml" ContentType="application/vnd.openxmlformats-officedocument.presentationml.notesSlide+xml"/>
  <Override PartName="/ppt/notesSlides/notesSlide102.xml" ContentType="application/vnd.openxmlformats-officedocument.presentationml.notesSlide+xml"/>
  <Override PartName="/ppt/notesSlides/notesSlide113.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notesSlides/notesSlide69.xml" ContentType="application/vnd.openxmlformats-officedocument.presentationml.notes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Override PartName="/ppt/notesSlides/notesSlide83.xml" ContentType="application/vnd.openxmlformats-officedocument.presentationml.notesSlide+xml"/>
  <Override PartName="/ppt/notesSlides/notesSlide110.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notesSlides/notesSlide90.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notesSlides/notesSlide10.xml" ContentType="application/vnd.openxmlformats-officedocument.presentationml.notesSlide+xml"/>
  <Override PartName="/ppt/notesSlides/notesSlide108.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88.xml" ContentType="application/vnd.openxmlformats-officedocument.presentationml.notesSlide+xml"/>
  <Override PartName="/ppt/notesSlides/notesSlide104.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95.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notesSlides/notesSlide89.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notesSlides/notesSlide78.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Default Extension="fntdata" ContentType="application/x-fontdata"/>
  <Override PartName="/ppt/notesSlides/notesSlide34.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slides/slide129.xml" ContentType="application/vnd.openxmlformats-officedocument.presentationml.slide+xml"/>
  <Override PartName="/ppt/notesSlides/notesSlide12.xml" ContentType="application/vnd.openxmlformats-officedocument.presentationml.notes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slides/slide51.xml" ContentType="application/vnd.openxmlformats-officedocument.presentationml.slide+xml"/>
  <Override PartName="/ppt/notesSlides/notesSlide5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32"/>
  </p:notesMasterIdLst>
  <p:sldIdLst>
    <p:sldId id="540" r:id="rId2"/>
    <p:sldId id="256" r:id="rId3"/>
    <p:sldId id="417" r:id="rId4"/>
    <p:sldId id="419" r:id="rId5"/>
    <p:sldId id="330" r:id="rId6"/>
    <p:sldId id="288" r:id="rId7"/>
    <p:sldId id="418" r:id="rId8"/>
    <p:sldId id="420" r:id="rId9"/>
    <p:sldId id="292" r:id="rId10"/>
    <p:sldId id="293" r:id="rId11"/>
    <p:sldId id="421" r:id="rId12"/>
    <p:sldId id="422" r:id="rId13"/>
    <p:sldId id="423" r:id="rId14"/>
    <p:sldId id="295" r:id="rId15"/>
    <p:sldId id="424" r:id="rId16"/>
    <p:sldId id="425" r:id="rId17"/>
    <p:sldId id="426" r:id="rId18"/>
    <p:sldId id="427" r:id="rId19"/>
    <p:sldId id="428" r:id="rId20"/>
    <p:sldId id="429" r:id="rId21"/>
    <p:sldId id="430" r:id="rId22"/>
    <p:sldId id="431" r:id="rId23"/>
    <p:sldId id="432" r:id="rId24"/>
    <p:sldId id="433" r:id="rId25"/>
    <p:sldId id="434" r:id="rId26"/>
    <p:sldId id="435" r:id="rId27"/>
    <p:sldId id="436" r:id="rId28"/>
    <p:sldId id="437" r:id="rId29"/>
    <p:sldId id="438" r:id="rId30"/>
    <p:sldId id="439" r:id="rId31"/>
    <p:sldId id="440" r:id="rId32"/>
    <p:sldId id="441" r:id="rId33"/>
    <p:sldId id="442" r:id="rId34"/>
    <p:sldId id="443" r:id="rId35"/>
    <p:sldId id="444" r:id="rId36"/>
    <p:sldId id="445" r:id="rId37"/>
    <p:sldId id="446" r:id="rId38"/>
    <p:sldId id="447" r:id="rId39"/>
    <p:sldId id="448" r:id="rId40"/>
    <p:sldId id="449" r:id="rId41"/>
    <p:sldId id="450" r:id="rId42"/>
    <p:sldId id="451" r:id="rId43"/>
    <p:sldId id="452" r:id="rId44"/>
    <p:sldId id="453" r:id="rId45"/>
    <p:sldId id="454" r:id="rId46"/>
    <p:sldId id="455" r:id="rId47"/>
    <p:sldId id="456" r:id="rId48"/>
    <p:sldId id="457" r:id="rId49"/>
    <p:sldId id="458" r:id="rId50"/>
    <p:sldId id="459" r:id="rId51"/>
    <p:sldId id="460" r:id="rId52"/>
    <p:sldId id="461" r:id="rId53"/>
    <p:sldId id="462" r:id="rId54"/>
    <p:sldId id="463" r:id="rId55"/>
    <p:sldId id="464" r:id="rId56"/>
    <p:sldId id="465" r:id="rId57"/>
    <p:sldId id="466" r:id="rId58"/>
    <p:sldId id="467" r:id="rId59"/>
    <p:sldId id="468" r:id="rId60"/>
    <p:sldId id="469" r:id="rId61"/>
    <p:sldId id="470" r:id="rId62"/>
    <p:sldId id="471" r:id="rId63"/>
    <p:sldId id="472" r:id="rId64"/>
    <p:sldId id="473" r:id="rId65"/>
    <p:sldId id="474" r:id="rId66"/>
    <p:sldId id="475" r:id="rId67"/>
    <p:sldId id="476" r:id="rId68"/>
    <p:sldId id="477" r:id="rId69"/>
    <p:sldId id="478" r:id="rId70"/>
    <p:sldId id="479" r:id="rId71"/>
    <p:sldId id="480" r:id="rId72"/>
    <p:sldId id="481" r:id="rId73"/>
    <p:sldId id="482" r:id="rId74"/>
    <p:sldId id="483" r:id="rId75"/>
    <p:sldId id="484" r:id="rId76"/>
    <p:sldId id="485" r:id="rId77"/>
    <p:sldId id="486" r:id="rId78"/>
    <p:sldId id="487" r:id="rId79"/>
    <p:sldId id="488" r:id="rId80"/>
    <p:sldId id="489" r:id="rId81"/>
    <p:sldId id="490" r:id="rId82"/>
    <p:sldId id="491" r:id="rId83"/>
    <p:sldId id="492" r:id="rId84"/>
    <p:sldId id="493" r:id="rId85"/>
    <p:sldId id="494" r:id="rId86"/>
    <p:sldId id="495" r:id="rId87"/>
    <p:sldId id="496" r:id="rId88"/>
    <p:sldId id="497" r:id="rId89"/>
    <p:sldId id="498" r:id="rId90"/>
    <p:sldId id="499" r:id="rId91"/>
    <p:sldId id="500" r:id="rId92"/>
    <p:sldId id="501" r:id="rId93"/>
    <p:sldId id="502" r:id="rId94"/>
    <p:sldId id="503" r:id="rId95"/>
    <p:sldId id="504" r:id="rId96"/>
    <p:sldId id="505" r:id="rId97"/>
    <p:sldId id="506" r:id="rId98"/>
    <p:sldId id="507" r:id="rId99"/>
    <p:sldId id="508" r:id="rId100"/>
    <p:sldId id="509" r:id="rId101"/>
    <p:sldId id="510" r:id="rId102"/>
    <p:sldId id="511" r:id="rId103"/>
    <p:sldId id="512" r:id="rId104"/>
    <p:sldId id="513" r:id="rId105"/>
    <p:sldId id="514" r:id="rId106"/>
    <p:sldId id="515" r:id="rId107"/>
    <p:sldId id="516" r:id="rId108"/>
    <p:sldId id="517" r:id="rId109"/>
    <p:sldId id="518" r:id="rId110"/>
    <p:sldId id="519" r:id="rId111"/>
    <p:sldId id="520" r:id="rId112"/>
    <p:sldId id="521" r:id="rId113"/>
    <p:sldId id="522" r:id="rId114"/>
    <p:sldId id="523" r:id="rId115"/>
    <p:sldId id="524" r:id="rId116"/>
    <p:sldId id="525" r:id="rId117"/>
    <p:sldId id="526" r:id="rId118"/>
    <p:sldId id="527" r:id="rId119"/>
    <p:sldId id="528" r:id="rId120"/>
    <p:sldId id="529" r:id="rId121"/>
    <p:sldId id="530" r:id="rId122"/>
    <p:sldId id="531" r:id="rId123"/>
    <p:sldId id="532" r:id="rId124"/>
    <p:sldId id="533" r:id="rId125"/>
    <p:sldId id="534" r:id="rId126"/>
    <p:sldId id="535" r:id="rId127"/>
    <p:sldId id="536" r:id="rId128"/>
    <p:sldId id="537" r:id="rId129"/>
    <p:sldId id="538" r:id="rId130"/>
    <p:sldId id="539" r:id="rId131"/>
  </p:sldIdLst>
  <p:sldSz cx="9144000" cy="5143500" type="screen16x9"/>
  <p:notesSz cx="6858000" cy="9144000"/>
  <p:embeddedFontLst>
    <p:embeddedFont>
      <p:font typeface="Barlow SemiBold" charset="0"/>
      <p:regular r:id="rId133"/>
      <p:bold r:id="rId134"/>
      <p:italic r:id="rId135"/>
      <p:boldItalic r:id="rId136"/>
    </p:embeddedFont>
    <p:embeddedFont>
      <p:font typeface="Barlow Light" charset="0"/>
      <p:regular r:id="rId137"/>
      <p:bold r:id="rId138"/>
      <p:italic r:id="rId139"/>
      <p:boldItalic r:id="rId140"/>
    </p:embeddedFont>
    <p:embeddedFont>
      <p:font typeface="Palatino Linotype" pitchFamily="18" charset="0"/>
      <p:regular r:id="rId141"/>
      <p:bold r:id="rId142"/>
      <p:italic r:id="rId143"/>
      <p:boldItalic r:id="rId144"/>
    </p:embeddedFont>
    <p:embeddedFont>
      <p:font typeface="Cambria Math" pitchFamily="18" charset="0"/>
      <p:regular r:id="rId145"/>
    </p:embeddedFont>
    <p:embeddedFont>
      <p:font typeface="Calibri" pitchFamily="34" charset="0"/>
      <p:regular r:id="rId146"/>
      <p:bold r:id="rId147"/>
      <p:italic r:id="rId148"/>
      <p:boldItalic r:id="rId1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D7AEECF4-432E-4D26-AA6D-92A1E89D1F9B}">
  <a:tblStyle styleId="{D7AEECF4-432E-4D26-AA6D-92A1E89D1F9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9631B5-78F2-41C9-869B-9F39066F8104}" styleName="Style moyen 3 - Accentuation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Style moyen 3 - Accentuation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Style moyen 3 - Accentuation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Style clair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74"/>
  </p:normalViewPr>
  <p:slideViewPr>
    <p:cSldViewPr>
      <p:cViewPr varScale="1">
        <p:scale>
          <a:sx n="85" d="100"/>
          <a:sy n="85" d="100"/>
        </p:scale>
        <p:origin x="-736" y="-76"/>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1.fntdata"/><Relationship Id="rId138" Type="http://schemas.openxmlformats.org/officeDocument/2006/relationships/font" Target="fonts/font6.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font" Target="fonts/font12.fntdata"/><Relationship Id="rId149" Type="http://schemas.openxmlformats.org/officeDocument/2006/relationships/font" Target="fonts/font17.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2.fntdata"/><Relationship Id="rId139" Type="http://schemas.openxmlformats.org/officeDocument/2006/relationships/font" Target="fonts/font7.fntdata"/><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notesMaster" Target="notesMasters/notesMaster1.xml"/><Relationship Id="rId140" Type="http://schemas.openxmlformats.org/officeDocument/2006/relationships/font" Target="fonts/font8.fntdata"/><Relationship Id="rId145" Type="http://schemas.openxmlformats.org/officeDocument/2006/relationships/font" Target="fonts/font13.fntdata"/><Relationship Id="rId15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font" Target="fonts/font3.fntdata"/><Relationship Id="rId143" Type="http://schemas.openxmlformats.org/officeDocument/2006/relationships/font" Target="fonts/font11.fntdata"/><Relationship Id="rId148" Type="http://schemas.openxmlformats.org/officeDocument/2006/relationships/font" Target="fonts/font16.fntdata"/><Relationship Id="rId15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9.fntdata"/><Relationship Id="rId146"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font" Target="fonts/font4.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0.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769877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717355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180938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952724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37887812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551938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065069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808798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5191464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7278004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396578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065444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3926629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8004957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32588142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8227559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5633175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5468996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5733816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015702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9335870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2526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4201880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5707615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1598726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38345665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1699607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694085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39342577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0729296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5602452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41489020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36079152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3788773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35737346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4041587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7173553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1809389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6494731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24013671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3031736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19130693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10072365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9209443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87004388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44017374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0843216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8021033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9465014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34456351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235545753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325946353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25250880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107683530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284260192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4048093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176472443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95594892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71735539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1809389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k</a:t>
            </a:r>
            <a:r>
              <a:rPr lang="en-US" dirty="0"/>
              <a:t> : Le </a:t>
            </a:r>
            <a:r>
              <a:rPr lang="en-US" dirty="0" err="1"/>
              <a:t>nombre</a:t>
            </a:r>
            <a:r>
              <a:rPr lang="en-US" dirty="0"/>
              <a:t> de </a:t>
            </a:r>
            <a:r>
              <a:rPr lang="en-US" dirty="0" err="1"/>
              <a:t>voisins</a:t>
            </a:r>
            <a:r>
              <a:rPr lang="en-US" dirty="0"/>
              <a:t> à </a:t>
            </a:r>
            <a:r>
              <a:rPr lang="en-US" dirty="0" err="1"/>
              <a:t>considérer</a:t>
            </a:r>
            <a:r>
              <a:rPr lang="en-US" dirty="0"/>
              <a:t>.</a:t>
            </a:r>
            <a:endParaRPr lang="fr-FR" dirty="0"/>
          </a:p>
        </p:txBody>
      </p:sp>
    </p:spTree>
    <p:extLst>
      <p:ext uri="{BB962C8B-B14F-4D97-AF65-F5344CB8AC3E}">
        <p14:creationId xmlns="" xmlns:p14="http://schemas.microsoft.com/office/powerpoint/2010/main" val="295039408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a:extLst>
            <a:ext uri="{FF2B5EF4-FFF2-40B4-BE49-F238E27FC236}">
              <a16:creationId xmlns="" xmlns:a16="http://schemas.microsoft.com/office/drawing/2014/main" id="{1B36CDD4-7C88-A4D1-761B-3C0D90D1914F}"/>
            </a:ext>
          </a:extLst>
        </p:cNvPr>
        <p:cNvGrpSpPr/>
        <p:nvPr/>
      </p:nvGrpSpPr>
      <p:grpSpPr>
        <a:xfrm>
          <a:off x="0" y="0"/>
          <a:ext cx="0" cy="0"/>
          <a:chOff x="0" y="0"/>
          <a:chExt cx="0" cy="0"/>
        </a:xfrm>
      </p:grpSpPr>
      <p:sp>
        <p:nvSpPr>
          <p:cNvPr id="547" name="Google Shape;547;p:notes">
            <a:extLst>
              <a:ext uri="{FF2B5EF4-FFF2-40B4-BE49-F238E27FC236}">
                <a16:creationId xmlns="" xmlns:a16="http://schemas.microsoft.com/office/drawing/2014/main" id="{5CBB7DF8-B3C8-0C69-9047-A22A5AE987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a:extLst>
              <a:ext uri="{FF2B5EF4-FFF2-40B4-BE49-F238E27FC236}">
                <a16:creationId xmlns="" xmlns:a16="http://schemas.microsoft.com/office/drawing/2014/main" id="{031C8434-3B00-4145-E1E1-67CDC79D4E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326835255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a:extLst>
            <a:ext uri="{FF2B5EF4-FFF2-40B4-BE49-F238E27FC236}">
              <a16:creationId xmlns="" xmlns:a16="http://schemas.microsoft.com/office/drawing/2014/main" id="{CA6DDF3E-5F17-5684-0641-9ED39E150FEA}"/>
            </a:ext>
          </a:extLst>
        </p:cNvPr>
        <p:cNvGrpSpPr/>
        <p:nvPr/>
      </p:nvGrpSpPr>
      <p:grpSpPr>
        <a:xfrm>
          <a:off x="0" y="0"/>
          <a:ext cx="0" cy="0"/>
          <a:chOff x="0" y="0"/>
          <a:chExt cx="0" cy="0"/>
        </a:xfrm>
      </p:grpSpPr>
      <p:sp>
        <p:nvSpPr>
          <p:cNvPr id="547" name="Google Shape;547;p:notes">
            <a:extLst>
              <a:ext uri="{FF2B5EF4-FFF2-40B4-BE49-F238E27FC236}">
                <a16:creationId xmlns="" xmlns:a16="http://schemas.microsoft.com/office/drawing/2014/main" id="{5BBCFECF-4BC1-5613-0578-1D227F28E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a:extLst>
              <a:ext uri="{FF2B5EF4-FFF2-40B4-BE49-F238E27FC236}">
                <a16:creationId xmlns="" xmlns:a16="http://schemas.microsoft.com/office/drawing/2014/main" id="{1454C514-86B6-FA3C-03F3-5EF1A702D1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399313337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87004388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44017374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25266651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303729392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85009160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63425483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17843035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67465704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1452277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56978736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69630271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2760679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427867297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99267736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71735539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18093893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357182187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87004388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44017374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25266651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303729392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85009160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364286476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63425483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67465704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69630271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2760679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99267736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74989904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395171121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36583819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409634951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93598794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42794777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40452993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92845475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448398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225" y="0"/>
            <a:ext cx="9144224" cy="5143512"/>
            <a:chOff x="-225" y="0"/>
            <a:chExt cx="9144224" cy="5143512"/>
          </a:xfrm>
        </p:grpSpPr>
        <p:sp>
          <p:nvSpPr>
            <p:cNvPr id="11" name="Google Shape;11;p2"/>
            <p:cNvSpPr/>
            <p:nvPr/>
          </p:nvSpPr>
          <p:spPr>
            <a:xfrm>
              <a:off x="0" y="0"/>
              <a:ext cx="61002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75" y="1541675"/>
              <a:ext cx="6870000" cy="2060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 name="Google Shape;13;p2"/>
            <p:cNvGrpSpPr/>
            <p:nvPr/>
          </p:nvGrpSpPr>
          <p:grpSpPr>
            <a:xfrm>
              <a:off x="8477595" y="4477088"/>
              <a:ext cx="666403" cy="666424"/>
              <a:chOff x="7996345" y="980275"/>
              <a:chExt cx="666403" cy="666424"/>
            </a:xfrm>
          </p:grpSpPr>
          <p:sp>
            <p:nvSpPr>
              <p:cNvPr id="14" name="Google Shape;14;p2"/>
              <p:cNvSpPr/>
              <p:nvPr/>
            </p:nvSpPr>
            <p:spPr>
              <a:xfrm>
                <a:off x="7996345" y="980275"/>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198672" y="980275"/>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400998" y="980275"/>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996345" y="1182617"/>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198672" y="1182617"/>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400998" y="1182617"/>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996345" y="1384958"/>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198672" y="1384958"/>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400998" y="1384958"/>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996345" y="1587299"/>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198672" y="1587299"/>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400998" y="1587299"/>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603324" y="980275"/>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603324" y="1182617"/>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603324" y="1384958"/>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603349" y="1587299"/>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7042555" y="1541664"/>
              <a:ext cx="730045" cy="2060087"/>
              <a:chOff x="7022220" y="1541675"/>
              <a:chExt cx="666403" cy="1880499"/>
            </a:xfrm>
          </p:grpSpPr>
          <p:sp>
            <p:nvSpPr>
              <p:cNvPr id="31" name="Google Shape;31;p2"/>
              <p:cNvSpPr/>
              <p:nvPr/>
            </p:nvSpPr>
            <p:spPr>
              <a:xfrm>
                <a:off x="7022220" y="1541675"/>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24547" y="1541675"/>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7426873" y="1541675"/>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7022220" y="1744017"/>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7224547" y="1744017"/>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7426873" y="1744017"/>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022220" y="1946358"/>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7224547" y="1946358"/>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7426873" y="1946358"/>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7022220" y="2148699"/>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7224547" y="2148699"/>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7426873" y="2148699"/>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7629199" y="1541675"/>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7629199" y="1744017"/>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7629199" y="1946358"/>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7629224" y="2148699"/>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7022220" y="2351050"/>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7224547" y="2351050"/>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7426873" y="2351050"/>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7022220" y="2553392"/>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7224547" y="2553392"/>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7426873" y="2553392"/>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022220" y="27557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7224547" y="27557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7426873" y="27557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7022220" y="29580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7224547" y="29580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7426873" y="29580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7629199" y="2351050"/>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7629199" y="2553392"/>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7629199" y="27557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7629224" y="29580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7022220" y="31604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7224547" y="31604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7426873" y="31604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7022220" y="33627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7224547" y="33627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7426873" y="33627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7629199" y="31604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7629224" y="33627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2"/>
            <p:cNvGrpSpPr/>
            <p:nvPr/>
          </p:nvGrpSpPr>
          <p:grpSpPr>
            <a:xfrm>
              <a:off x="-225" y="2008293"/>
              <a:ext cx="301775" cy="1126923"/>
              <a:chOff x="-225" y="1987280"/>
              <a:chExt cx="318900" cy="1190873"/>
            </a:xfrm>
          </p:grpSpPr>
          <p:sp>
            <p:nvSpPr>
              <p:cNvPr id="72" name="Google Shape;72;p2"/>
              <p:cNvSpPr/>
              <p:nvPr/>
            </p:nvSpPr>
            <p:spPr>
              <a:xfrm>
                <a:off x="-175" y="1987280"/>
                <a:ext cx="318794" cy="116648"/>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75" y="2255817"/>
                <a:ext cx="318794" cy="116648"/>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75" y="2524353"/>
                <a:ext cx="318794" cy="116648"/>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225" y="2792878"/>
                <a:ext cx="318900" cy="11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225" y="3061453"/>
                <a:ext cx="318900" cy="11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2"/>
            <p:cNvGrpSpPr/>
            <p:nvPr/>
          </p:nvGrpSpPr>
          <p:grpSpPr>
            <a:xfrm>
              <a:off x="8842175" y="668859"/>
              <a:ext cx="301822" cy="872807"/>
              <a:chOff x="-225" y="2255817"/>
              <a:chExt cx="318950" cy="922336"/>
            </a:xfrm>
          </p:grpSpPr>
          <p:sp>
            <p:nvSpPr>
              <p:cNvPr id="78" name="Google Shape;78;p2"/>
              <p:cNvSpPr/>
              <p:nvPr/>
            </p:nvSpPr>
            <p:spPr>
              <a:xfrm>
                <a:off x="-175" y="2255817"/>
                <a:ext cx="318900" cy="11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175" y="2524353"/>
                <a:ext cx="318900" cy="11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225" y="2792878"/>
                <a:ext cx="318900" cy="11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225" y="3061453"/>
                <a:ext cx="318900" cy="11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2"/>
            <p:cNvGrpSpPr/>
            <p:nvPr/>
          </p:nvGrpSpPr>
          <p:grpSpPr>
            <a:xfrm>
              <a:off x="5798375" y="4270684"/>
              <a:ext cx="301822" cy="872807"/>
              <a:chOff x="1611209" y="2255817"/>
              <a:chExt cx="318950" cy="922336"/>
            </a:xfrm>
          </p:grpSpPr>
          <p:sp>
            <p:nvSpPr>
              <p:cNvPr id="83" name="Google Shape;83;p2"/>
              <p:cNvSpPr/>
              <p:nvPr/>
            </p:nvSpPr>
            <p:spPr>
              <a:xfrm>
                <a:off x="1611259" y="2255817"/>
                <a:ext cx="318900" cy="11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1611259" y="2524353"/>
                <a:ext cx="318900" cy="11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1611209" y="2792878"/>
                <a:ext cx="318900" cy="11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1611209" y="3061453"/>
                <a:ext cx="318900" cy="11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2"/>
            <p:cNvGrpSpPr/>
            <p:nvPr/>
          </p:nvGrpSpPr>
          <p:grpSpPr>
            <a:xfrm>
              <a:off x="685795" y="0"/>
              <a:ext cx="666403" cy="666424"/>
              <a:chOff x="7996345" y="980275"/>
              <a:chExt cx="666403" cy="666424"/>
            </a:xfrm>
          </p:grpSpPr>
          <p:sp>
            <p:nvSpPr>
              <p:cNvPr id="88" name="Google Shape;88;p2"/>
              <p:cNvSpPr/>
              <p:nvPr/>
            </p:nvSpPr>
            <p:spPr>
              <a:xfrm>
                <a:off x="7996345" y="980275"/>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8198672" y="980275"/>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8400998" y="980275"/>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7996345" y="1182617"/>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8198672" y="1182617"/>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8400998" y="1182617"/>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7996345" y="1384958"/>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8198672" y="1384958"/>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8400998" y="1384958"/>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7996345" y="1587299"/>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8198672" y="1587299"/>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8400998" y="1587299"/>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8603324" y="980275"/>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8603324" y="1182617"/>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8603324" y="1384958"/>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8603349" y="1587299"/>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 name="Google Shape;104;p2"/>
          <p:cNvSpPr txBox="1">
            <a:spLocks noGrp="1"/>
          </p:cNvSpPr>
          <p:nvPr>
            <p:ph type="ctrTitle"/>
          </p:nvPr>
        </p:nvSpPr>
        <p:spPr>
          <a:xfrm>
            <a:off x="685800" y="1541675"/>
            <a:ext cx="5740200" cy="2060100"/>
          </a:xfrm>
          <a:prstGeom prst="rect">
            <a:avLst/>
          </a:prstGeom>
        </p:spPr>
        <p:txBody>
          <a:bodyPr spcFirstLastPara="1" wrap="square" lIns="0" tIns="0" rIns="0" bIns="0"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56"/>
        <p:cNvGrpSpPr/>
        <p:nvPr/>
      </p:nvGrpSpPr>
      <p:grpSpPr>
        <a:xfrm>
          <a:off x="0" y="0"/>
          <a:ext cx="0" cy="0"/>
          <a:chOff x="0" y="0"/>
          <a:chExt cx="0" cy="0"/>
        </a:xfrm>
      </p:grpSpPr>
      <p:grpSp>
        <p:nvGrpSpPr>
          <p:cNvPr id="257" name="Google Shape;257;p5"/>
          <p:cNvGrpSpPr/>
          <p:nvPr/>
        </p:nvGrpSpPr>
        <p:grpSpPr>
          <a:xfrm>
            <a:off x="-207" y="0"/>
            <a:ext cx="9158157" cy="5149835"/>
            <a:chOff x="-207" y="0"/>
            <a:chExt cx="9158157" cy="5149835"/>
          </a:xfrm>
        </p:grpSpPr>
        <p:sp>
          <p:nvSpPr>
            <p:cNvPr id="258" name="Google Shape;258;p5"/>
            <p:cNvSpPr/>
            <p:nvPr/>
          </p:nvSpPr>
          <p:spPr>
            <a:xfrm>
              <a:off x="8504250" y="4489800"/>
              <a:ext cx="653700" cy="653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5"/>
            <p:cNvSpPr/>
            <p:nvPr/>
          </p:nvSpPr>
          <p:spPr>
            <a:xfrm>
              <a:off x="0" y="0"/>
              <a:ext cx="6537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5"/>
            <p:cNvSpPr/>
            <p:nvPr/>
          </p:nvSpPr>
          <p:spPr>
            <a:xfrm>
              <a:off x="322375" y="664300"/>
              <a:ext cx="8181900" cy="653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1" name="Google Shape;261;p5"/>
            <p:cNvGrpSpPr/>
            <p:nvPr/>
          </p:nvGrpSpPr>
          <p:grpSpPr>
            <a:xfrm>
              <a:off x="-207" y="664293"/>
              <a:ext cx="155867" cy="653721"/>
              <a:chOff x="5385375" y="498300"/>
              <a:chExt cx="802200" cy="556500"/>
            </a:xfrm>
          </p:grpSpPr>
          <p:sp>
            <p:nvSpPr>
              <p:cNvPr id="262" name="Google Shape;262;p5"/>
              <p:cNvSpPr/>
              <p:nvPr/>
            </p:nvSpPr>
            <p:spPr>
              <a:xfrm>
                <a:off x="5385375" y="498300"/>
                <a:ext cx="802200" cy="99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5"/>
              <p:cNvSpPr/>
              <p:nvPr/>
            </p:nvSpPr>
            <p:spPr>
              <a:xfrm>
                <a:off x="5385375" y="726900"/>
                <a:ext cx="802200" cy="99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5"/>
              <p:cNvSpPr/>
              <p:nvPr/>
            </p:nvSpPr>
            <p:spPr>
              <a:xfrm>
                <a:off x="5385375" y="955500"/>
                <a:ext cx="802200" cy="99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5" name="Google Shape;265;p5"/>
            <p:cNvGrpSpPr/>
            <p:nvPr/>
          </p:nvGrpSpPr>
          <p:grpSpPr>
            <a:xfrm>
              <a:off x="322384" y="4483463"/>
              <a:ext cx="666347" cy="666373"/>
              <a:chOff x="7134700" y="414375"/>
              <a:chExt cx="501919" cy="501900"/>
            </a:xfrm>
          </p:grpSpPr>
          <p:sp>
            <p:nvSpPr>
              <p:cNvPr id="266" name="Google Shape;266;p5"/>
              <p:cNvSpPr/>
              <p:nvPr/>
            </p:nvSpPr>
            <p:spPr>
              <a:xfrm>
                <a:off x="71347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5"/>
              <p:cNvSpPr/>
              <p:nvPr/>
            </p:nvSpPr>
            <p:spPr>
              <a:xfrm>
                <a:off x="72871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5"/>
              <p:cNvSpPr/>
              <p:nvPr/>
            </p:nvSpPr>
            <p:spPr>
              <a:xfrm>
                <a:off x="74395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5"/>
              <p:cNvSpPr/>
              <p:nvPr/>
            </p:nvSpPr>
            <p:spPr>
              <a:xfrm>
                <a:off x="71347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5"/>
              <p:cNvSpPr/>
              <p:nvPr/>
            </p:nvSpPr>
            <p:spPr>
              <a:xfrm>
                <a:off x="72871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5"/>
              <p:cNvSpPr/>
              <p:nvPr/>
            </p:nvSpPr>
            <p:spPr>
              <a:xfrm>
                <a:off x="74395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5"/>
              <p:cNvSpPr/>
              <p:nvPr/>
            </p:nvSpPr>
            <p:spPr>
              <a:xfrm>
                <a:off x="71347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5"/>
              <p:cNvSpPr/>
              <p:nvPr/>
            </p:nvSpPr>
            <p:spPr>
              <a:xfrm>
                <a:off x="72871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5"/>
              <p:cNvSpPr/>
              <p:nvPr/>
            </p:nvSpPr>
            <p:spPr>
              <a:xfrm>
                <a:off x="74395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5"/>
              <p:cNvSpPr/>
              <p:nvPr/>
            </p:nvSpPr>
            <p:spPr>
              <a:xfrm>
                <a:off x="7134700"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5"/>
              <p:cNvSpPr/>
              <p:nvPr/>
            </p:nvSpPr>
            <p:spPr>
              <a:xfrm>
                <a:off x="7287100"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5"/>
              <p:cNvSpPr/>
              <p:nvPr/>
            </p:nvSpPr>
            <p:spPr>
              <a:xfrm>
                <a:off x="7439500"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5"/>
              <p:cNvSpPr/>
              <p:nvPr/>
            </p:nvSpPr>
            <p:spPr>
              <a:xfrm>
                <a:off x="75919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5"/>
              <p:cNvSpPr/>
              <p:nvPr/>
            </p:nvSpPr>
            <p:spPr>
              <a:xfrm>
                <a:off x="75919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5"/>
              <p:cNvSpPr/>
              <p:nvPr/>
            </p:nvSpPr>
            <p:spPr>
              <a:xfrm>
                <a:off x="75919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5"/>
              <p:cNvSpPr/>
              <p:nvPr/>
            </p:nvSpPr>
            <p:spPr>
              <a:xfrm>
                <a:off x="7591919"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 name="Google Shape;282;p5"/>
            <p:cNvGrpSpPr/>
            <p:nvPr/>
          </p:nvGrpSpPr>
          <p:grpSpPr>
            <a:xfrm>
              <a:off x="8832384" y="670955"/>
              <a:ext cx="311815" cy="653721"/>
              <a:chOff x="5385375" y="498300"/>
              <a:chExt cx="802200" cy="556500"/>
            </a:xfrm>
          </p:grpSpPr>
          <p:sp>
            <p:nvSpPr>
              <p:cNvPr id="283" name="Google Shape;283;p5"/>
              <p:cNvSpPr/>
              <p:nvPr/>
            </p:nvSpPr>
            <p:spPr>
              <a:xfrm>
                <a:off x="5385375" y="4983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5"/>
              <p:cNvSpPr/>
              <p:nvPr/>
            </p:nvSpPr>
            <p:spPr>
              <a:xfrm>
                <a:off x="5385375" y="7269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5"/>
              <p:cNvSpPr/>
              <p:nvPr/>
            </p:nvSpPr>
            <p:spPr>
              <a:xfrm>
                <a:off x="5385375" y="9555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86" name="Google Shape;286;p5"/>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287" name="Google Shape;287;p5"/>
          <p:cNvSpPr txBox="1">
            <a:spLocks noGrp="1"/>
          </p:cNvSpPr>
          <p:nvPr>
            <p:ph type="body" idx="1"/>
          </p:nvPr>
        </p:nvSpPr>
        <p:spPr>
          <a:xfrm>
            <a:off x="1199775" y="1599700"/>
            <a:ext cx="6650700" cy="2886000"/>
          </a:xfrm>
          <a:prstGeom prst="rect">
            <a:avLst/>
          </a:prstGeom>
        </p:spPr>
        <p:txBody>
          <a:bodyPr spcFirstLastPara="1" wrap="square" lIns="0" tIns="0" rIns="0" bIns="0" anchor="t" anchorCtr="0">
            <a:noAutofit/>
          </a:bodyPr>
          <a:lstStyle>
            <a:lvl1pPr marL="457200" lvl="0" indent="-381000" rtl="0">
              <a:spcBef>
                <a:spcPts val="600"/>
              </a:spcBef>
              <a:spcAft>
                <a:spcPts val="0"/>
              </a:spcAft>
              <a:buSzPts val="24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81000" rtl="0">
              <a:spcBef>
                <a:spcPts val="0"/>
              </a:spcBef>
              <a:spcAft>
                <a:spcPts val="0"/>
              </a:spcAft>
              <a:buSzPts val="2400"/>
              <a:buChar char="▫"/>
              <a:defRPr/>
            </a:lvl4pPr>
            <a:lvl5pPr marL="2286000" lvl="4" indent="-381000" rtl="0">
              <a:spcBef>
                <a:spcPts val="0"/>
              </a:spcBef>
              <a:spcAft>
                <a:spcPts val="0"/>
              </a:spcAft>
              <a:buSzPts val="2400"/>
              <a:buChar char="▫"/>
              <a:defRPr/>
            </a:lvl5pPr>
            <a:lvl6pPr marL="2743200" lvl="5" indent="-381000" rtl="0">
              <a:spcBef>
                <a:spcPts val="0"/>
              </a:spcBef>
              <a:spcAft>
                <a:spcPts val="0"/>
              </a:spcAft>
              <a:buSzPts val="2400"/>
              <a:buChar char="▫"/>
              <a:defRPr/>
            </a:lvl6pPr>
            <a:lvl7pPr marL="3200400" lvl="6" indent="-381000" rtl="0">
              <a:spcBef>
                <a:spcPts val="0"/>
              </a:spcBef>
              <a:spcAft>
                <a:spcPts val="0"/>
              </a:spcAft>
              <a:buSzPts val="2400"/>
              <a:buChar char="▫"/>
              <a:defRPr/>
            </a:lvl7pPr>
            <a:lvl8pPr marL="3657600" lvl="7" indent="-381000" rtl="0">
              <a:spcBef>
                <a:spcPts val="0"/>
              </a:spcBef>
              <a:spcAft>
                <a:spcPts val="0"/>
              </a:spcAft>
              <a:buSzPts val="2400"/>
              <a:buChar char="▫"/>
              <a:defRPr/>
            </a:lvl8pPr>
            <a:lvl9pPr marL="4114800" lvl="8" indent="-381000" rtl="0">
              <a:spcBef>
                <a:spcPts val="0"/>
              </a:spcBef>
              <a:spcAft>
                <a:spcPts val="0"/>
              </a:spcAft>
              <a:buSzPts val="2400"/>
              <a:buChar char="▫"/>
              <a:defRPr/>
            </a:lvl9pPr>
          </a:lstStyle>
          <a:p>
            <a:endParaRPr/>
          </a:p>
        </p:txBody>
      </p:sp>
      <p:sp>
        <p:nvSpPr>
          <p:cNvPr id="288" name="Google Shape;288;p5"/>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321"/>
        <p:cNvGrpSpPr/>
        <p:nvPr/>
      </p:nvGrpSpPr>
      <p:grpSpPr>
        <a:xfrm>
          <a:off x="0" y="0"/>
          <a:ext cx="0" cy="0"/>
          <a:chOff x="0" y="0"/>
          <a:chExt cx="0" cy="0"/>
        </a:xfrm>
      </p:grpSpPr>
      <p:grpSp>
        <p:nvGrpSpPr>
          <p:cNvPr id="322" name="Google Shape;322;p7"/>
          <p:cNvGrpSpPr/>
          <p:nvPr/>
        </p:nvGrpSpPr>
        <p:grpSpPr>
          <a:xfrm>
            <a:off x="-207" y="0"/>
            <a:ext cx="9158157" cy="5149835"/>
            <a:chOff x="-207" y="0"/>
            <a:chExt cx="9158157" cy="5149835"/>
          </a:xfrm>
        </p:grpSpPr>
        <p:sp>
          <p:nvSpPr>
            <p:cNvPr id="323" name="Google Shape;323;p7"/>
            <p:cNvSpPr/>
            <p:nvPr/>
          </p:nvSpPr>
          <p:spPr>
            <a:xfrm>
              <a:off x="8504250" y="4489800"/>
              <a:ext cx="653700" cy="653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a:off x="0" y="0"/>
              <a:ext cx="6537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a:off x="322375" y="664300"/>
              <a:ext cx="8181900" cy="653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6" name="Google Shape;326;p7"/>
            <p:cNvGrpSpPr/>
            <p:nvPr/>
          </p:nvGrpSpPr>
          <p:grpSpPr>
            <a:xfrm>
              <a:off x="-207" y="664293"/>
              <a:ext cx="155867" cy="653721"/>
              <a:chOff x="5385375" y="498300"/>
              <a:chExt cx="802200" cy="556500"/>
            </a:xfrm>
          </p:grpSpPr>
          <p:sp>
            <p:nvSpPr>
              <p:cNvPr id="327" name="Google Shape;327;p7"/>
              <p:cNvSpPr/>
              <p:nvPr/>
            </p:nvSpPr>
            <p:spPr>
              <a:xfrm>
                <a:off x="5385375" y="498300"/>
                <a:ext cx="802200" cy="99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7"/>
              <p:cNvSpPr/>
              <p:nvPr/>
            </p:nvSpPr>
            <p:spPr>
              <a:xfrm>
                <a:off x="5385375" y="726900"/>
                <a:ext cx="802200" cy="99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5385375" y="955500"/>
                <a:ext cx="802200" cy="99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0" name="Google Shape;330;p7"/>
            <p:cNvGrpSpPr/>
            <p:nvPr/>
          </p:nvGrpSpPr>
          <p:grpSpPr>
            <a:xfrm>
              <a:off x="322384" y="4483463"/>
              <a:ext cx="666347" cy="666373"/>
              <a:chOff x="7134700" y="414375"/>
              <a:chExt cx="501919" cy="501900"/>
            </a:xfrm>
          </p:grpSpPr>
          <p:sp>
            <p:nvSpPr>
              <p:cNvPr id="331" name="Google Shape;331;p7"/>
              <p:cNvSpPr/>
              <p:nvPr/>
            </p:nvSpPr>
            <p:spPr>
              <a:xfrm>
                <a:off x="71347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7"/>
              <p:cNvSpPr/>
              <p:nvPr/>
            </p:nvSpPr>
            <p:spPr>
              <a:xfrm>
                <a:off x="72871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7"/>
              <p:cNvSpPr/>
              <p:nvPr/>
            </p:nvSpPr>
            <p:spPr>
              <a:xfrm>
                <a:off x="74395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7"/>
              <p:cNvSpPr/>
              <p:nvPr/>
            </p:nvSpPr>
            <p:spPr>
              <a:xfrm>
                <a:off x="71347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7"/>
              <p:cNvSpPr/>
              <p:nvPr/>
            </p:nvSpPr>
            <p:spPr>
              <a:xfrm>
                <a:off x="72871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7"/>
              <p:cNvSpPr/>
              <p:nvPr/>
            </p:nvSpPr>
            <p:spPr>
              <a:xfrm>
                <a:off x="74395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71347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72871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7"/>
              <p:cNvSpPr/>
              <p:nvPr/>
            </p:nvSpPr>
            <p:spPr>
              <a:xfrm>
                <a:off x="74395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7"/>
              <p:cNvSpPr/>
              <p:nvPr/>
            </p:nvSpPr>
            <p:spPr>
              <a:xfrm>
                <a:off x="7134700"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7"/>
              <p:cNvSpPr/>
              <p:nvPr/>
            </p:nvSpPr>
            <p:spPr>
              <a:xfrm>
                <a:off x="7287100"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7"/>
              <p:cNvSpPr/>
              <p:nvPr/>
            </p:nvSpPr>
            <p:spPr>
              <a:xfrm>
                <a:off x="7439500"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75919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75919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75919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7591919"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 name="Google Shape;347;p7"/>
            <p:cNvGrpSpPr/>
            <p:nvPr/>
          </p:nvGrpSpPr>
          <p:grpSpPr>
            <a:xfrm>
              <a:off x="8832384" y="670955"/>
              <a:ext cx="311815" cy="653721"/>
              <a:chOff x="5385375" y="498300"/>
              <a:chExt cx="802200" cy="556500"/>
            </a:xfrm>
          </p:grpSpPr>
          <p:sp>
            <p:nvSpPr>
              <p:cNvPr id="348" name="Google Shape;348;p7"/>
              <p:cNvSpPr/>
              <p:nvPr/>
            </p:nvSpPr>
            <p:spPr>
              <a:xfrm>
                <a:off x="5385375" y="4983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7"/>
              <p:cNvSpPr/>
              <p:nvPr/>
            </p:nvSpPr>
            <p:spPr>
              <a:xfrm>
                <a:off x="5385375" y="7269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5385375" y="9555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51" name="Google Shape;351;p7"/>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352" name="Google Shape;352;p7"/>
          <p:cNvSpPr txBox="1">
            <a:spLocks noGrp="1"/>
          </p:cNvSpPr>
          <p:nvPr>
            <p:ph type="body" idx="1"/>
          </p:nvPr>
        </p:nvSpPr>
        <p:spPr>
          <a:xfrm>
            <a:off x="1172650" y="1599700"/>
            <a:ext cx="3447300" cy="2890200"/>
          </a:xfrm>
          <a:prstGeom prst="rect">
            <a:avLst/>
          </a:prstGeom>
        </p:spPr>
        <p:txBody>
          <a:bodyPr spcFirstLastPara="1" wrap="square" lIns="0" tIns="0" rIns="0" bIns="0" anchor="t" anchorCtr="0">
            <a:noAutofit/>
          </a:bodyPr>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353" name="Google Shape;353;p7"/>
          <p:cNvSpPr txBox="1">
            <a:spLocks noGrp="1"/>
          </p:cNvSpPr>
          <p:nvPr>
            <p:ph type="body" idx="2"/>
          </p:nvPr>
        </p:nvSpPr>
        <p:spPr>
          <a:xfrm>
            <a:off x="5056888" y="1599700"/>
            <a:ext cx="3447300" cy="2890200"/>
          </a:xfrm>
          <a:prstGeom prst="rect">
            <a:avLst/>
          </a:prstGeom>
        </p:spPr>
        <p:txBody>
          <a:bodyPr spcFirstLastPara="1" wrap="square" lIns="0" tIns="0" rIns="0" bIns="0" anchor="t" anchorCtr="0">
            <a:noAutofit/>
          </a:bodyPr>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354" name="Google Shape;354;p7"/>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2"/>
        <p:cNvGrpSpPr/>
        <p:nvPr/>
      </p:nvGrpSpPr>
      <p:grpSpPr>
        <a:xfrm>
          <a:off x="0" y="0"/>
          <a:ext cx="0" cy="0"/>
          <a:chOff x="0" y="0"/>
          <a:chExt cx="0" cy="0"/>
        </a:xfrm>
      </p:grpSpPr>
      <p:sp>
        <p:nvSpPr>
          <p:cNvPr id="423" name="Google Shape;423;p10"/>
          <p:cNvSpPr/>
          <p:nvPr/>
        </p:nvSpPr>
        <p:spPr>
          <a:xfrm>
            <a:off x="8504250" y="4489800"/>
            <a:ext cx="653700" cy="653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0"/>
          <p:cNvSpPr/>
          <p:nvPr/>
        </p:nvSpPr>
        <p:spPr>
          <a:xfrm>
            <a:off x="0" y="0"/>
            <a:ext cx="6537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0"/>
          <p:cNvSpPr/>
          <p:nvPr/>
        </p:nvSpPr>
        <p:spPr>
          <a:xfrm>
            <a:off x="322375" y="4489799"/>
            <a:ext cx="7524000" cy="33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6" name="Google Shape;426;p10"/>
          <p:cNvGrpSpPr/>
          <p:nvPr/>
        </p:nvGrpSpPr>
        <p:grpSpPr>
          <a:xfrm>
            <a:off x="-207" y="664293"/>
            <a:ext cx="155867" cy="653721"/>
            <a:chOff x="5385375" y="498300"/>
            <a:chExt cx="802200" cy="556500"/>
          </a:xfrm>
        </p:grpSpPr>
        <p:sp>
          <p:nvSpPr>
            <p:cNvPr id="427" name="Google Shape;427;p10"/>
            <p:cNvSpPr/>
            <p:nvPr/>
          </p:nvSpPr>
          <p:spPr>
            <a:xfrm>
              <a:off x="5385375" y="498300"/>
              <a:ext cx="802200" cy="9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0"/>
            <p:cNvSpPr/>
            <p:nvPr/>
          </p:nvSpPr>
          <p:spPr>
            <a:xfrm>
              <a:off x="5385375" y="726900"/>
              <a:ext cx="802200" cy="9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0"/>
            <p:cNvSpPr/>
            <p:nvPr/>
          </p:nvSpPr>
          <p:spPr>
            <a:xfrm>
              <a:off x="5385375" y="955500"/>
              <a:ext cx="802200" cy="9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0" name="Google Shape;430;p10"/>
          <p:cNvGrpSpPr/>
          <p:nvPr/>
        </p:nvGrpSpPr>
        <p:grpSpPr>
          <a:xfrm>
            <a:off x="322384" y="657975"/>
            <a:ext cx="666347" cy="666373"/>
            <a:chOff x="7134700" y="414375"/>
            <a:chExt cx="501919" cy="501900"/>
          </a:xfrm>
        </p:grpSpPr>
        <p:sp>
          <p:nvSpPr>
            <p:cNvPr id="431" name="Google Shape;431;p10"/>
            <p:cNvSpPr/>
            <p:nvPr/>
          </p:nvSpPr>
          <p:spPr>
            <a:xfrm>
              <a:off x="7134700" y="4143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0"/>
            <p:cNvSpPr/>
            <p:nvPr/>
          </p:nvSpPr>
          <p:spPr>
            <a:xfrm>
              <a:off x="7287100" y="4143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0"/>
            <p:cNvSpPr/>
            <p:nvPr/>
          </p:nvSpPr>
          <p:spPr>
            <a:xfrm>
              <a:off x="7439500" y="4143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0"/>
            <p:cNvSpPr/>
            <p:nvPr/>
          </p:nvSpPr>
          <p:spPr>
            <a:xfrm>
              <a:off x="7134700" y="5667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0"/>
            <p:cNvSpPr/>
            <p:nvPr/>
          </p:nvSpPr>
          <p:spPr>
            <a:xfrm>
              <a:off x="7287100" y="5667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0"/>
            <p:cNvSpPr/>
            <p:nvPr/>
          </p:nvSpPr>
          <p:spPr>
            <a:xfrm>
              <a:off x="7439500" y="5667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0"/>
            <p:cNvSpPr/>
            <p:nvPr/>
          </p:nvSpPr>
          <p:spPr>
            <a:xfrm>
              <a:off x="7134700" y="7191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0"/>
            <p:cNvSpPr/>
            <p:nvPr/>
          </p:nvSpPr>
          <p:spPr>
            <a:xfrm>
              <a:off x="7287100" y="7191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0"/>
            <p:cNvSpPr/>
            <p:nvPr/>
          </p:nvSpPr>
          <p:spPr>
            <a:xfrm>
              <a:off x="7439500" y="7191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0"/>
            <p:cNvSpPr/>
            <p:nvPr/>
          </p:nvSpPr>
          <p:spPr>
            <a:xfrm>
              <a:off x="7134700" y="8715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0"/>
            <p:cNvSpPr/>
            <p:nvPr/>
          </p:nvSpPr>
          <p:spPr>
            <a:xfrm>
              <a:off x="7287100" y="8715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0"/>
            <p:cNvSpPr/>
            <p:nvPr/>
          </p:nvSpPr>
          <p:spPr>
            <a:xfrm>
              <a:off x="7439500" y="8715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0"/>
            <p:cNvSpPr/>
            <p:nvPr/>
          </p:nvSpPr>
          <p:spPr>
            <a:xfrm>
              <a:off x="7591900" y="4143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0"/>
            <p:cNvSpPr/>
            <p:nvPr/>
          </p:nvSpPr>
          <p:spPr>
            <a:xfrm>
              <a:off x="7591900" y="5667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0"/>
            <p:cNvSpPr/>
            <p:nvPr/>
          </p:nvSpPr>
          <p:spPr>
            <a:xfrm>
              <a:off x="7591900" y="7191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0"/>
            <p:cNvSpPr/>
            <p:nvPr/>
          </p:nvSpPr>
          <p:spPr>
            <a:xfrm>
              <a:off x="7591919" y="8715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 name="Google Shape;447;p10"/>
          <p:cNvGrpSpPr/>
          <p:nvPr/>
        </p:nvGrpSpPr>
        <p:grpSpPr>
          <a:xfrm>
            <a:off x="8832384" y="670955"/>
            <a:ext cx="311815" cy="653721"/>
            <a:chOff x="5385375" y="498300"/>
            <a:chExt cx="802200" cy="556500"/>
          </a:xfrm>
        </p:grpSpPr>
        <p:sp>
          <p:nvSpPr>
            <p:cNvPr id="448" name="Google Shape;448;p10"/>
            <p:cNvSpPr/>
            <p:nvPr/>
          </p:nvSpPr>
          <p:spPr>
            <a:xfrm>
              <a:off x="5385375" y="4983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0"/>
            <p:cNvSpPr/>
            <p:nvPr/>
          </p:nvSpPr>
          <p:spPr>
            <a:xfrm>
              <a:off x="5385375" y="7269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0"/>
            <p:cNvSpPr/>
            <p:nvPr/>
          </p:nvSpPr>
          <p:spPr>
            <a:xfrm>
              <a:off x="5385375" y="9555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1" name="Google Shape;451;p10"/>
          <p:cNvSpPr txBox="1">
            <a:spLocks noGrp="1"/>
          </p:cNvSpPr>
          <p:nvPr>
            <p:ph type="body" idx="1"/>
          </p:nvPr>
        </p:nvSpPr>
        <p:spPr>
          <a:xfrm>
            <a:off x="650725" y="4489800"/>
            <a:ext cx="7195800" cy="331200"/>
          </a:xfrm>
          <a:prstGeom prst="rect">
            <a:avLst/>
          </a:prstGeom>
        </p:spPr>
        <p:txBody>
          <a:bodyPr spcFirstLastPara="1" wrap="square" lIns="0" tIns="0" rIns="0" bIns="0" anchor="ctr" anchorCtr="0">
            <a:noAutofit/>
          </a:bodyPr>
          <a:lstStyle>
            <a:lvl1pPr marL="457200" lvl="0" indent="-228600" rtl="0">
              <a:spcBef>
                <a:spcPts val="360"/>
              </a:spcBef>
              <a:spcAft>
                <a:spcPts val="0"/>
              </a:spcAft>
              <a:buSzPts val="1400"/>
              <a:buNone/>
              <a:defRPr sz="1400"/>
            </a:lvl1pPr>
          </a:lstStyle>
          <a:p>
            <a:endParaRPr/>
          </a:p>
        </p:txBody>
      </p:sp>
      <p:sp>
        <p:nvSpPr>
          <p:cNvPr id="452" name="Google Shape;452;p10"/>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61100" y="664300"/>
            <a:ext cx="7843200" cy="653700"/>
          </a:xfrm>
          <a:prstGeom prst="rect">
            <a:avLst/>
          </a:prstGeom>
          <a:noFill/>
          <a:ln>
            <a:noFill/>
          </a:ln>
        </p:spPr>
        <p:txBody>
          <a:bodyPr spcFirstLastPara="1" wrap="square" lIns="0" tIns="0" rIns="0" bIns="0" anchor="ctr" anchorCtr="0">
            <a:noAutofit/>
          </a:bodyPr>
          <a:lstStyle>
            <a:lvl1pPr lvl="0"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1pPr>
            <a:lvl2pPr lvl="1"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2pPr>
            <a:lvl3pPr lvl="2"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3pPr>
            <a:lvl4pPr lvl="3"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4pPr>
            <a:lvl5pPr lvl="4"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5pPr>
            <a:lvl6pPr lvl="5"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6pPr>
            <a:lvl7pPr lvl="6"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7pPr>
            <a:lvl8pPr lvl="7"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8pPr>
            <a:lvl9pPr lvl="8"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9pPr>
          </a:lstStyle>
          <a:p>
            <a:endParaRPr/>
          </a:p>
        </p:txBody>
      </p:sp>
      <p:sp>
        <p:nvSpPr>
          <p:cNvPr id="7" name="Google Shape;7;p1"/>
          <p:cNvSpPr txBox="1">
            <a:spLocks noGrp="1"/>
          </p:cNvSpPr>
          <p:nvPr>
            <p:ph type="body" idx="1"/>
          </p:nvPr>
        </p:nvSpPr>
        <p:spPr>
          <a:xfrm>
            <a:off x="1314800" y="1599700"/>
            <a:ext cx="7189500" cy="2886000"/>
          </a:xfrm>
          <a:prstGeom prst="rect">
            <a:avLst/>
          </a:prstGeom>
          <a:noFill/>
          <a:ln>
            <a:noFill/>
          </a:ln>
        </p:spPr>
        <p:txBody>
          <a:bodyPr spcFirstLastPara="1" wrap="square" lIns="0" tIns="0" rIns="0" bIns="0" anchor="t" anchorCtr="0">
            <a:noAutofit/>
          </a:bodyPr>
          <a:lstStyle>
            <a:lvl1pPr marL="457200" lvl="0" indent="-381000" rtl="0">
              <a:lnSpc>
                <a:spcPct val="115000"/>
              </a:lnSpc>
              <a:spcBef>
                <a:spcPts val="60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1pPr>
            <a:lvl2pPr marL="914400" lvl="1" indent="-381000" rtl="0">
              <a:lnSpc>
                <a:spcPct val="115000"/>
              </a:lnSpc>
              <a:spcBef>
                <a:spcPts val="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2pPr>
            <a:lvl3pPr marL="1371600" lvl="2" indent="-381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3pPr>
            <a:lvl4pPr marL="1828800" lvl="3" indent="-381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4pPr>
            <a:lvl5pPr marL="2286000" lvl="4" indent="-381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5pPr>
            <a:lvl6pPr marL="2743200" lvl="5" indent="-381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6pPr>
            <a:lvl7pPr marL="3200400" lvl="6" indent="-381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7pPr>
            <a:lvl8pPr marL="3657600" lvl="7" indent="-381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8pPr>
            <a:lvl9pPr marL="4114800" lvl="8" indent="-381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9pPr>
          </a:lstStyle>
          <a:p>
            <a:endParaRPr/>
          </a:p>
        </p:txBody>
      </p:sp>
      <p:sp>
        <p:nvSpPr>
          <p:cNvPr id="8" name="Google Shape;8;p1"/>
          <p:cNvSpPr txBox="1">
            <a:spLocks noGrp="1"/>
          </p:cNvSpPr>
          <p:nvPr>
            <p:ph type="sldNum" idx="12"/>
          </p:nvPr>
        </p:nvSpPr>
        <p:spPr>
          <a:xfrm>
            <a:off x="8504254" y="4489800"/>
            <a:ext cx="653700" cy="653700"/>
          </a:xfrm>
          <a:prstGeom prst="rect">
            <a:avLst/>
          </a:prstGeom>
          <a:noFill/>
          <a:ln>
            <a:noFill/>
          </a:ln>
        </p:spPr>
        <p:txBody>
          <a:bodyPr spcFirstLastPara="1" wrap="square" lIns="0" tIns="0" rIns="0" bIns="0" anchor="ctr" anchorCtr="0">
            <a:noAutofit/>
          </a:bodyPr>
          <a:lstStyle>
            <a:lvl1pPr lvl="0" algn="ctr" rtl="0">
              <a:buNone/>
              <a:defRPr sz="1300">
                <a:solidFill>
                  <a:schemeClr val="accent1"/>
                </a:solidFill>
                <a:latin typeface="Barlow Light"/>
                <a:ea typeface="Barlow Light"/>
                <a:cs typeface="Barlow Light"/>
                <a:sym typeface="Barlow Light"/>
              </a:defRPr>
            </a:lvl1pPr>
            <a:lvl2pPr lvl="1" algn="ctr" rtl="0">
              <a:buNone/>
              <a:defRPr sz="1300">
                <a:solidFill>
                  <a:schemeClr val="accent1"/>
                </a:solidFill>
                <a:latin typeface="Barlow Light"/>
                <a:ea typeface="Barlow Light"/>
                <a:cs typeface="Barlow Light"/>
                <a:sym typeface="Barlow Light"/>
              </a:defRPr>
            </a:lvl2pPr>
            <a:lvl3pPr lvl="2" algn="ctr" rtl="0">
              <a:buNone/>
              <a:defRPr sz="1300">
                <a:solidFill>
                  <a:schemeClr val="accent1"/>
                </a:solidFill>
                <a:latin typeface="Barlow Light"/>
                <a:ea typeface="Barlow Light"/>
                <a:cs typeface="Barlow Light"/>
                <a:sym typeface="Barlow Light"/>
              </a:defRPr>
            </a:lvl3pPr>
            <a:lvl4pPr lvl="3" algn="ctr" rtl="0">
              <a:buNone/>
              <a:defRPr sz="1300">
                <a:solidFill>
                  <a:schemeClr val="accent1"/>
                </a:solidFill>
                <a:latin typeface="Barlow Light"/>
                <a:ea typeface="Barlow Light"/>
                <a:cs typeface="Barlow Light"/>
                <a:sym typeface="Barlow Light"/>
              </a:defRPr>
            </a:lvl4pPr>
            <a:lvl5pPr lvl="4" algn="ctr" rtl="0">
              <a:buNone/>
              <a:defRPr sz="1300">
                <a:solidFill>
                  <a:schemeClr val="accent1"/>
                </a:solidFill>
                <a:latin typeface="Barlow Light"/>
                <a:ea typeface="Barlow Light"/>
                <a:cs typeface="Barlow Light"/>
                <a:sym typeface="Barlow Light"/>
              </a:defRPr>
            </a:lvl5pPr>
            <a:lvl6pPr lvl="5" algn="ctr" rtl="0">
              <a:buNone/>
              <a:defRPr sz="1300">
                <a:solidFill>
                  <a:schemeClr val="accent1"/>
                </a:solidFill>
                <a:latin typeface="Barlow Light"/>
                <a:ea typeface="Barlow Light"/>
                <a:cs typeface="Barlow Light"/>
                <a:sym typeface="Barlow Light"/>
              </a:defRPr>
            </a:lvl6pPr>
            <a:lvl7pPr lvl="6" algn="ctr" rtl="0">
              <a:buNone/>
              <a:defRPr sz="1300">
                <a:solidFill>
                  <a:schemeClr val="accent1"/>
                </a:solidFill>
                <a:latin typeface="Barlow Light"/>
                <a:ea typeface="Barlow Light"/>
                <a:cs typeface="Barlow Light"/>
                <a:sym typeface="Barlow Light"/>
              </a:defRPr>
            </a:lvl7pPr>
            <a:lvl8pPr lvl="7" algn="ctr" rtl="0">
              <a:buNone/>
              <a:defRPr sz="1300">
                <a:solidFill>
                  <a:schemeClr val="accent1"/>
                </a:solidFill>
                <a:latin typeface="Barlow Light"/>
                <a:ea typeface="Barlow Light"/>
                <a:cs typeface="Barlow Light"/>
                <a:sym typeface="Barlow Light"/>
              </a:defRPr>
            </a:lvl8pPr>
            <a:lvl9pPr lvl="8" algn="ctr" rtl="0">
              <a:buNone/>
              <a:defRPr sz="1300">
                <a:solidFill>
                  <a:schemeClr val="accent1"/>
                </a:solidFill>
                <a:latin typeface="Barlow Light"/>
                <a:ea typeface="Barlow Light"/>
                <a:cs typeface="Barlow Light"/>
                <a:sym typeface="Barlow Light"/>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6"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hyperlink" Target="https://mrmint.fr/apprentissage-supervise-machine-learning" TargetMode="External"/><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13"/>
          <p:cNvSpPr txBox="1">
            <a:spLocks noGrp="1"/>
          </p:cNvSpPr>
          <p:nvPr>
            <p:ph type="ctrTitle"/>
          </p:nvPr>
        </p:nvSpPr>
        <p:spPr>
          <a:xfrm>
            <a:off x="1547664" y="-92546"/>
            <a:ext cx="5884216" cy="2060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smtClean="0"/>
              <a:t>Machine Mining</a:t>
            </a:r>
            <a:endParaRPr dirty="0"/>
          </a:p>
        </p:txBody>
      </p:sp>
      <p:sp>
        <p:nvSpPr>
          <p:cNvPr id="3" name="Google Shape;516;p13"/>
          <p:cNvSpPr txBox="1">
            <a:spLocks/>
          </p:cNvSpPr>
          <p:nvPr/>
        </p:nvSpPr>
        <p:spPr>
          <a:xfrm>
            <a:off x="971600" y="1563638"/>
            <a:ext cx="5740200" cy="2060100"/>
          </a:xfrm>
          <a:prstGeom prst="rect">
            <a:avLst/>
          </a:prstGeom>
          <a:noFill/>
          <a:ln>
            <a:noFill/>
          </a:ln>
        </p:spPr>
        <p:txBody>
          <a:bodyPr spcFirstLastPara="1" wrap="square" lIns="0" tIns="0" rIns="0" bIns="0" anchor="ctr" anchorCtr="0">
            <a:noAutofit/>
          </a:bodyPr>
          <a:lstStyle/>
          <a:p>
            <a:pPr lvl="0">
              <a:lnSpc>
                <a:spcPct val="90000"/>
              </a:lnSpc>
              <a:buClr>
                <a:schemeClr val="lt1"/>
              </a:buClr>
              <a:buSzPts val="4800"/>
            </a:pPr>
            <a:r>
              <a:rPr lang="fr-FR" sz="1800" b="1" dirty="0" smtClean="0">
                <a:solidFill>
                  <a:schemeClr val="lt1"/>
                </a:solidFill>
                <a:latin typeface="Barlow SemiBold"/>
                <a:ea typeface="Barlow SemiBold"/>
                <a:cs typeface="Barlow SemiBold"/>
                <a:sym typeface="Barlow SemiBold"/>
              </a:rPr>
              <a:t>Prof. Mostafa </a:t>
            </a:r>
            <a:r>
              <a:rPr lang="fr-FR" sz="1800" b="1" dirty="0" err="1" smtClean="0">
                <a:solidFill>
                  <a:schemeClr val="lt1"/>
                </a:solidFill>
                <a:latin typeface="Barlow SemiBold"/>
                <a:ea typeface="Barlow SemiBold"/>
                <a:cs typeface="Barlow SemiBold"/>
                <a:sym typeface="Barlow SemiBold"/>
              </a:rPr>
              <a:t>Ezziyyani</a:t>
            </a:r>
            <a:endParaRPr lang="fr-FR" sz="1800" b="1" dirty="0" smtClean="0">
              <a:solidFill>
                <a:schemeClr val="lt1"/>
              </a:solidFill>
              <a:latin typeface="Barlow SemiBold"/>
              <a:ea typeface="Barlow SemiBold"/>
              <a:cs typeface="Barlow SemiBold"/>
              <a:sym typeface="Barlow SemiBold"/>
            </a:endParaRPr>
          </a:p>
          <a:p>
            <a:pPr lvl="0">
              <a:lnSpc>
                <a:spcPct val="90000"/>
              </a:lnSpc>
              <a:buClr>
                <a:schemeClr val="lt1"/>
              </a:buClr>
              <a:buSzPts val="4800"/>
            </a:pPr>
            <a:r>
              <a:rPr lang="fr-FR" sz="1800" dirty="0" smtClean="0">
                <a:solidFill>
                  <a:schemeClr val="lt1"/>
                </a:solidFill>
                <a:latin typeface="Barlow SemiBold"/>
                <a:ea typeface="Barlow SemiBold"/>
                <a:cs typeface="Barlow SemiBold"/>
                <a:sym typeface="Barlow SemiBold"/>
              </a:rPr>
              <a:t>Faculté des Sciences et Techniques de Tanger</a:t>
            </a:r>
          </a:p>
          <a:p>
            <a:pPr lvl="0">
              <a:lnSpc>
                <a:spcPct val="90000"/>
              </a:lnSpc>
              <a:buClr>
                <a:schemeClr val="lt1"/>
              </a:buClr>
              <a:buSzPts val="4800"/>
            </a:pPr>
            <a:r>
              <a:rPr lang="fr-FR" sz="1800" dirty="0" smtClean="0">
                <a:solidFill>
                  <a:schemeClr val="lt1"/>
                </a:solidFill>
                <a:latin typeface="Barlow SemiBold"/>
                <a:ea typeface="Barlow SemiBold"/>
                <a:cs typeface="Barlow SemiBold"/>
                <a:sym typeface="Barlow SemiBold"/>
              </a:rPr>
              <a:t>Département Génie Informatique</a:t>
            </a:r>
            <a:endParaRPr kumimoji="0" lang="fr-FR" sz="1800" b="0" i="0" u="none" strike="noStrike" kern="0" cap="none" spc="0" normalizeH="0" baseline="0" noProof="0" dirty="0">
              <a:ln>
                <a:noFill/>
              </a:ln>
              <a:solidFill>
                <a:schemeClr val="lt1"/>
              </a:solidFill>
              <a:effectLst/>
              <a:uLnTx/>
              <a:uFillTx/>
              <a:latin typeface="Barlow SemiBold"/>
              <a:ea typeface="Barlow SemiBold"/>
              <a:cs typeface="Barlow SemiBold"/>
              <a:sym typeface="Barlow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13"/>
          <p:cNvSpPr txBox="1">
            <a:spLocks noGrp="1"/>
          </p:cNvSpPr>
          <p:nvPr>
            <p:ph type="ctrTitle"/>
          </p:nvPr>
        </p:nvSpPr>
        <p:spPr>
          <a:xfrm>
            <a:off x="685800" y="1541675"/>
            <a:ext cx="5740200" cy="2060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Arbre de décision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200" b="1" dirty="0"/>
              <a:t>Arbre de décision: Définition</a:t>
            </a:r>
            <a:endParaRPr sz="3200" b="1" dirty="0"/>
          </a:p>
        </p:txBody>
      </p:sp>
      <p:sp>
        <p:nvSpPr>
          <p:cNvPr id="551" name="Google Shape;551;p18"/>
          <p:cNvSpPr txBox="1">
            <a:spLocks noGrp="1"/>
          </p:cNvSpPr>
          <p:nvPr>
            <p:ph type="body" idx="1"/>
          </p:nvPr>
        </p:nvSpPr>
        <p:spPr>
          <a:xfrm>
            <a:off x="1199774" y="1995686"/>
            <a:ext cx="6900617" cy="2490014"/>
          </a:xfrm>
          <a:prstGeom prst="rect">
            <a:avLst/>
          </a:prstGeom>
          <a:ln>
            <a:solidFill>
              <a:schemeClr val="accent1"/>
            </a:solid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spcFirstLastPara="1" wrap="square" lIns="0" tIns="0" rIns="0" bIns="0" anchor="ctr" anchorCtr="0">
            <a:noAutofit/>
          </a:bodyPr>
          <a:lstStyle/>
          <a:p>
            <a:pPr lvl="0" algn="ctr">
              <a:spcBef>
                <a:spcPts val="1200"/>
              </a:spcBef>
              <a:spcAft>
                <a:spcPts val="1200"/>
              </a:spcAft>
              <a:buNone/>
            </a:pPr>
            <a:r>
              <a:rPr lang="fr-FR" dirty="0">
                <a:effectLst/>
                <a:latin typeface="Barlow Light" panose="020B0604020202020204" charset="0"/>
              </a:rPr>
              <a:t>Les arbres de décision sont des r</a:t>
            </a:r>
            <a:r>
              <a:rPr lang="fr-FR" dirty="0">
                <a:latin typeface="Barlow Light" panose="020B0604020202020204" charset="0"/>
              </a:rPr>
              <a:t>è</a:t>
            </a:r>
            <a:r>
              <a:rPr lang="fr-FR" dirty="0">
                <a:effectLst/>
                <a:latin typeface="Barlow Light" panose="020B0604020202020204" charset="0"/>
              </a:rPr>
              <a:t>gles de classification qui basent leur décision sur une suite de tests associ</a:t>
            </a:r>
            <a:r>
              <a:rPr lang="fr-FR" dirty="0">
                <a:latin typeface="Barlow Light" panose="020B0604020202020204" charset="0"/>
              </a:rPr>
              <a:t>é</a:t>
            </a:r>
            <a:r>
              <a:rPr lang="fr-FR" dirty="0">
                <a:effectLst/>
                <a:latin typeface="Barlow Light" panose="020B0604020202020204" charset="0"/>
              </a:rPr>
              <a:t>s aux attributs, les tests étant organis</a:t>
            </a:r>
            <a:r>
              <a:rPr lang="fr-FR" dirty="0">
                <a:latin typeface="Barlow Light" panose="020B0604020202020204" charset="0"/>
              </a:rPr>
              <a:t>é</a:t>
            </a:r>
            <a:r>
              <a:rPr lang="fr-FR" dirty="0">
                <a:effectLst/>
                <a:latin typeface="Barlow Light" panose="020B0604020202020204" charset="0"/>
              </a:rPr>
              <a:t>s de mani</a:t>
            </a:r>
            <a:r>
              <a:rPr lang="fr-FR" dirty="0">
                <a:latin typeface="Barlow Light" panose="020B0604020202020204" charset="0"/>
              </a:rPr>
              <a:t>è</a:t>
            </a:r>
            <a:r>
              <a:rPr lang="fr-FR" dirty="0">
                <a:effectLst/>
                <a:latin typeface="Barlow Light" panose="020B0604020202020204" charset="0"/>
              </a:rPr>
              <a:t>re arborescente.</a:t>
            </a:r>
            <a:endParaRPr sz="2800" dirty="0">
              <a:latin typeface="Barlow Light" panose="020B0604020202020204" charset="0"/>
            </a:endParaRP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3</a:t>
            </a:fld>
            <a:endParaRPr/>
          </a:p>
        </p:txBody>
      </p:sp>
    </p:spTree>
    <p:extLst>
      <p:ext uri="{BB962C8B-B14F-4D97-AF65-F5344CB8AC3E}">
        <p14:creationId xmlns="" xmlns:p14="http://schemas.microsoft.com/office/powerpoint/2010/main" val="2669595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200" b="1" dirty="0"/>
              <a:t>Arbre de décision: Principe</a:t>
            </a:r>
            <a:endParaRPr sz="3200" b="1" dirty="0"/>
          </a:p>
        </p:txBody>
      </p:sp>
      <p:sp>
        <p:nvSpPr>
          <p:cNvPr id="551" name="Google Shape;551;p18"/>
          <p:cNvSpPr txBox="1">
            <a:spLocks noGrp="1"/>
          </p:cNvSpPr>
          <p:nvPr>
            <p:ph type="body" idx="1"/>
          </p:nvPr>
        </p:nvSpPr>
        <p:spPr>
          <a:xfrm>
            <a:off x="1043608" y="1491630"/>
            <a:ext cx="7344816" cy="3456384"/>
          </a:xfrm>
          <a:prstGeom prst="rect">
            <a:avLst/>
          </a:prstGeom>
          <a:ln>
            <a:solidFill>
              <a:schemeClr val="bg1"/>
            </a:solidFill>
          </a:ln>
          <a:effectLst/>
        </p:spPr>
        <p:style>
          <a:lnRef idx="2">
            <a:schemeClr val="dk1"/>
          </a:lnRef>
          <a:fillRef idx="1">
            <a:schemeClr val="lt1"/>
          </a:fillRef>
          <a:effectRef idx="0">
            <a:schemeClr val="dk1"/>
          </a:effectRef>
          <a:fontRef idx="minor">
            <a:schemeClr val="dk1"/>
          </a:fontRef>
        </p:style>
        <p:txBody>
          <a:bodyPr spcFirstLastPara="1" wrap="square" lIns="0" tIns="0" rIns="0" bIns="0" anchor="ctr" anchorCtr="0">
            <a:noAutofit/>
          </a:bodyPr>
          <a:lstStyle/>
          <a:p>
            <a:pPr marL="76200" indent="0">
              <a:spcBef>
                <a:spcPts val="0"/>
              </a:spcBef>
              <a:buNone/>
            </a:pPr>
            <a:r>
              <a:rPr lang="fr-FR" b="1" dirty="0"/>
              <a:t>Prédire</a:t>
            </a:r>
            <a:r>
              <a:rPr lang="fr-FR" dirty="0"/>
              <a:t> la valeur d’un </a:t>
            </a:r>
            <a:r>
              <a:rPr lang="fr-FR" b="1" dirty="0"/>
              <a:t>attribut</a:t>
            </a:r>
            <a:r>
              <a:rPr lang="fr-FR" dirty="0"/>
              <a:t>(variable cible) à partir d’un </a:t>
            </a:r>
            <a:r>
              <a:rPr lang="fr-FR" b="1" dirty="0"/>
              <a:t>ensemble de valeurs d’attributs </a:t>
            </a:r>
            <a:r>
              <a:rPr lang="fr-FR" dirty="0"/>
              <a:t>(variables prédictives).</a:t>
            </a:r>
          </a:p>
          <a:p>
            <a:pPr>
              <a:spcBef>
                <a:spcPts val="0"/>
              </a:spcBef>
            </a:pPr>
            <a:r>
              <a:rPr lang="fr-FR" dirty="0"/>
              <a:t>Une méthode simple, supervisée, et très connue de classification et de prédiction.</a:t>
            </a:r>
          </a:p>
          <a:p>
            <a:pPr>
              <a:spcBef>
                <a:spcPts val="0"/>
              </a:spcBef>
            </a:pPr>
            <a:r>
              <a:rPr lang="fr-FR" dirty="0"/>
              <a:t>Un arbre est équivalent à un ensemble de règles de décision : un modèle facile à comprendre.</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4</a:t>
            </a:fld>
            <a:endParaRPr/>
          </a:p>
        </p:txBody>
      </p:sp>
    </p:spTree>
    <p:extLst>
      <p:ext uri="{BB962C8B-B14F-4D97-AF65-F5344CB8AC3E}">
        <p14:creationId xmlns="" xmlns:p14="http://schemas.microsoft.com/office/powerpoint/2010/main" val="4024531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idx="1"/>
          </p:nvPr>
        </p:nvSpPr>
        <p:spPr/>
        <p:txBody>
          <a:bodyPr/>
          <a:lstStyle/>
          <a:p>
            <a:r>
              <a:rPr lang="en" sz="2400" b="1" dirty="0"/>
              <a:t>Exemple : </a:t>
            </a:r>
            <a:r>
              <a:rPr lang="fr-FR" sz="2400" b="1" dirty="0"/>
              <a:t>Prêt bancaire</a:t>
            </a:r>
            <a:endParaRPr lang="fr-FR" sz="2400" dirty="0"/>
          </a:p>
        </p:txBody>
      </p:sp>
      <p:sp>
        <p:nvSpPr>
          <p:cNvPr id="3" name="Espace réservé du numéro de diapositive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5</a:t>
            </a:fld>
            <a:endParaRPr lang="fr-FR"/>
          </a:p>
        </p:txBody>
      </p:sp>
      <p:pic>
        <p:nvPicPr>
          <p:cNvPr id="6" name="Image 5">
            <a:extLst>
              <a:ext uri="{FF2B5EF4-FFF2-40B4-BE49-F238E27FC236}">
                <a16:creationId xmlns="" xmlns:a16="http://schemas.microsoft.com/office/drawing/2014/main" id="{46123B9E-2CAA-4BFC-BB1A-6251BFF7491A}"/>
              </a:ext>
            </a:extLst>
          </p:cNvPr>
          <p:cNvPicPr>
            <a:picLocks noChangeAspect="1"/>
          </p:cNvPicPr>
          <p:nvPr/>
        </p:nvPicPr>
        <p:blipFill>
          <a:blip r:embed="rId2"/>
          <a:stretch>
            <a:fillRect/>
          </a:stretch>
        </p:blipFill>
        <p:spPr>
          <a:xfrm>
            <a:off x="1907704" y="195486"/>
            <a:ext cx="5472608" cy="42863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200" b="1" dirty="0"/>
              <a:t>Arbre de décision: vocabulaire</a:t>
            </a:r>
            <a:endParaRPr sz="3200" b="1" dirty="0"/>
          </a:p>
        </p:txBody>
      </p:sp>
      <p:sp>
        <p:nvSpPr>
          <p:cNvPr id="551" name="Google Shape;551;p18"/>
          <p:cNvSpPr txBox="1">
            <a:spLocks noGrp="1"/>
          </p:cNvSpPr>
          <p:nvPr>
            <p:ph type="body" idx="1"/>
          </p:nvPr>
        </p:nvSpPr>
        <p:spPr>
          <a:xfrm>
            <a:off x="1043608" y="1491630"/>
            <a:ext cx="7344816" cy="3456384"/>
          </a:xfrm>
          <a:prstGeom prst="rect">
            <a:avLst/>
          </a:prstGeom>
          <a:ln>
            <a:solidFill>
              <a:schemeClr val="bg1"/>
            </a:solidFill>
          </a:ln>
          <a:effectLst/>
        </p:spPr>
        <p:style>
          <a:lnRef idx="2">
            <a:schemeClr val="dk1"/>
          </a:lnRef>
          <a:fillRef idx="1">
            <a:schemeClr val="lt1"/>
          </a:fillRef>
          <a:effectRef idx="0">
            <a:schemeClr val="dk1"/>
          </a:effectRef>
          <a:fontRef idx="minor">
            <a:schemeClr val="dk1"/>
          </a:fontRef>
        </p:style>
        <p:txBody>
          <a:bodyPr spcFirstLastPara="1" wrap="square" lIns="0" tIns="0" rIns="0" bIns="0" anchor="ctr" anchorCtr="0">
            <a:noAutofit/>
          </a:bodyPr>
          <a:lstStyle/>
          <a:p>
            <a:pPr marL="76200" indent="0">
              <a:spcBef>
                <a:spcPts val="0"/>
              </a:spcBef>
              <a:buNone/>
            </a:pPr>
            <a:r>
              <a:rPr lang="fr-FR" dirty="0"/>
              <a:t>L’ensemble des nœuds se divise en trois catégories :</a:t>
            </a:r>
          </a:p>
          <a:p>
            <a:pPr>
              <a:spcBef>
                <a:spcPts val="0"/>
              </a:spcBef>
            </a:pPr>
            <a:r>
              <a:rPr lang="fr-FR" b="1" dirty="0"/>
              <a:t>Nœud </a:t>
            </a:r>
            <a:r>
              <a:rPr lang="fr-FR" b="1" i="1" dirty="0"/>
              <a:t>racine</a:t>
            </a:r>
            <a:r>
              <a:rPr lang="fr-FR" i="1" dirty="0"/>
              <a:t>:</a:t>
            </a:r>
            <a:r>
              <a:rPr lang="fr-FR" dirty="0"/>
              <a:t> l’accès à l’arbre se fait par ce nœud</a:t>
            </a:r>
          </a:p>
          <a:p>
            <a:pPr>
              <a:spcBef>
                <a:spcPts val="0"/>
              </a:spcBef>
            </a:pPr>
            <a:r>
              <a:rPr lang="fr-FR" b="1" dirty="0"/>
              <a:t>Nœuds </a:t>
            </a:r>
            <a:r>
              <a:rPr lang="fr-FR" b="1" i="1" dirty="0"/>
              <a:t>internes</a:t>
            </a:r>
            <a:r>
              <a:rPr lang="fr-FR" b="1" dirty="0"/>
              <a:t> </a:t>
            </a:r>
            <a:r>
              <a:rPr lang="fr-FR" dirty="0"/>
              <a:t>: les nœuds qui ont des descendants (ou </a:t>
            </a:r>
            <a:r>
              <a:rPr lang="fr-FR" i="1" dirty="0"/>
              <a:t>enfants</a:t>
            </a:r>
            <a:r>
              <a:rPr lang="fr-FR" dirty="0"/>
              <a:t>), qui sont à leur tour des nœuds</a:t>
            </a:r>
          </a:p>
          <a:p>
            <a:pPr>
              <a:spcBef>
                <a:spcPts val="0"/>
              </a:spcBef>
            </a:pPr>
            <a:r>
              <a:rPr lang="fr-FR" b="1" dirty="0"/>
              <a:t>Nœuds </a:t>
            </a:r>
            <a:r>
              <a:rPr lang="fr-FR" b="1" i="1" dirty="0"/>
              <a:t>terminaux</a:t>
            </a:r>
            <a:r>
              <a:rPr lang="fr-FR" b="1" dirty="0"/>
              <a:t> </a:t>
            </a:r>
            <a:r>
              <a:rPr lang="fr-FR" dirty="0"/>
              <a:t>(ou </a:t>
            </a:r>
            <a:r>
              <a:rPr lang="fr-FR" i="1" dirty="0"/>
              <a:t>feuilles</a:t>
            </a:r>
            <a:r>
              <a:rPr lang="fr-FR" dirty="0"/>
              <a:t>) : nœuds qui n’ont pas de descendant.</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idx="1"/>
          </p:nvPr>
        </p:nvSpPr>
        <p:spPr/>
        <p:txBody>
          <a:bodyPr/>
          <a:lstStyle/>
          <a:p>
            <a:r>
              <a:rPr lang="en" sz="2400" b="1" dirty="0"/>
              <a:t>Arbre de décision: </a:t>
            </a:r>
            <a:r>
              <a:rPr lang="fr-FR" sz="2400" b="1" dirty="0"/>
              <a:t>Exemple</a:t>
            </a:r>
            <a:endParaRPr lang="fr-FR" sz="2400" dirty="0"/>
          </a:p>
        </p:txBody>
      </p:sp>
      <p:sp>
        <p:nvSpPr>
          <p:cNvPr id="3" name="Espace réservé du numéro de diapositive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7</a:t>
            </a:fld>
            <a:endParaRPr lang="fr-FR"/>
          </a:p>
        </p:txBody>
      </p:sp>
      <p:pic>
        <p:nvPicPr>
          <p:cNvPr id="5" name="Image 4">
            <a:extLst>
              <a:ext uri="{FF2B5EF4-FFF2-40B4-BE49-F238E27FC236}">
                <a16:creationId xmlns="" xmlns:a16="http://schemas.microsoft.com/office/drawing/2014/main" id="{2BFD8F49-8637-4196-B975-8C9C63CF14E0}"/>
              </a:ext>
            </a:extLst>
          </p:cNvPr>
          <p:cNvPicPr>
            <a:picLocks noChangeAspect="1"/>
          </p:cNvPicPr>
          <p:nvPr/>
        </p:nvPicPr>
        <p:blipFill>
          <a:blip r:embed="rId2"/>
          <a:stretch>
            <a:fillRect/>
          </a:stretch>
        </p:blipFill>
        <p:spPr>
          <a:xfrm>
            <a:off x="1047750" y="-20537"/>
            <a:ext cx="7048500" cy="4510338"/>
          </a:xfrm>
          <a:prstGeom prst="rect">
            <a:avLst/>
          </a:prstGeom>
        </p:spPr>
      </p:pic>
    </p:spTree>
    <p:extLst>
      <p:ext uri="{BB962C8B-B14F-4D97-AF65-F5344CB8AC3E}">
        <p14:creationId xmlns="" xmlns:p14="http://schemas.microsoft.com/office/powerpoint/2010/main" val="2875687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idx="1"/>
          </p:nvPr>
        </p:nvSpPr>
        <p:spPr/>
        <p:txBody>
          <a:bodyPr/>
          <a:lstStyle/>
          <a:p>
            <a:r>
              <a:rPr lang="en" sz="2400" b="1" dirty="0"/>
              <a:t>Arbre de décision: </a:t>
            </a:r>
            <a:r>
              <a:rPr lang="fr-FR" sz="2400" b="1" dirty="0"/>
              <a:t>Exemple</a:t>
            </a:r>
            <a:endParaRPr lang="fr-FR" sz="2400" dirty="0"/>
          </a:p>
        </p:txBody>
      </p:sp>
      <p:sp>
        <p:nvSpPr>
          <p:cNvPr id="3" name="Espace réservé du numéro de diapositive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8</a:t>
            </a:fld>
            <a:endParaRPr lang="fr-FR"/>
          </a:p>
        </p:txBody>
      </p:sp>
      <p:pic>
        <p:nvPicPr>
          <p:cNvPr id="6" name="Image 5">
            <a:extLst>
              <a:ext uri="{FF2B5EF4-FFF2-40B4-BE49-F238E27FC236}">
                <a16:creationId xmlns="" xmlns:a16="http://schemas.microsoft.com/office/drawing/2014/main" id="{6DB63E8F-1E87-4152-9791-3DA208FC5F3C}"/>
              </a:ext>
            </a:extLst>
          </p:cNvPr>
          <p:cNvPicPr>
            <a:picLocks noChangeAspect="1"/>
          </p:cNvPicPr>
          <p:nvPr/>
        </p:nvPicPr>
        <p:blipFill>
          <a:blip r:embed="rId2"/>
          <a:stretch>
            <a:fillRect/>
          </a:stretch>
        </p:blipFill>
        <p:spPr>
          <a:xfrm>
            <a:off x="1115616" y="195486"/>
            <a:ext cx="7128792" cy="4024089"/>
          </a:xfrm>
          <a:prstGeom prst="rect">
            <a:avLst/>
          </a:prstGeom>
        </p:spPr>
      </p:pic>
    </p:spTree>
    <p:extLst>
      <p:ext uri="{BB962C8B-B14F-4D97-AF65-F5344CB8AC3E}">
        <p14:creationId xmlns="" xmlns:p14="http://schemas.microsoft.com/office/powerpoint/2010/main" val="2014980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Arbre de décision: induction</a:t>
            </a:r>
          </a:p>
        </p:txBody>
      </p:sp>
      <p:sp>
        <p:nvSpPr>
          <p:cNvPr id="551" name="Google Shape;551;p18"/>
          <p:cNvSpPr txBox="1">
            <a:spLocks noGrp="1"/>
          </p:cNvSpPr>
          <p:nvPr>
            <p:ph type="body" idx="1"/>
          </p:nvPr>
        </p:nvSpPr>
        <p:spPr>
          <a:xfrm>
            <a:off x="971600" y="1275606"/>
            <a:ext cx="7532654" cy="4019668"/>
          </a:xfrm>
          <a:prstGeom prst="rect">
            <a:avLst/>
          </a:prstGeom>
        </p:spPr>
        <p:txBody>
          <a:bodyPr spcFirstLastPara="1" wrap="square" lIns="0" tIns="0" rIns="0" bIns="0" anchor="t" anchorCtr="0">
            <a:noAutofit/>
          </a:bodyPr>
          <a:lstStyle/>
          <a:p>
            <a:pPr marL="76200" lvl="0" indent="0">
              <a:spcBef>
                <a:spcPts val="0"/>
              </a:spcBef>
              <a:buNone/>
            </a:pPr>
            <a:r>
              <a:rPr lang="fr-FR" sz="1600" dirty="0">
                <a:latin typeface="Palatino Linotype" panose="02040502050505030304" pitchFamily="18" charset="0"/>
              </a:rPr>
              <a:t>Construction de l’arbre en découpant successivement les données en fonction des variables prédictives.</a:t>
            </a:r>
          </a:p>
          <a:p>
            <a:pPr lvl="0">
              <a:spcBef>
                <a:spcPts val="0"/>
              </a:spcBef>
              <a:buFont typeface="Wingdings" panose="05000000000000000000" pitchFamily="2" charset="2"/>
              <a:buChar char="§"/>
            </a:pPr>
            <a:r>
              <a:rPr lang="fr-FR" sz="1600" dirty="0">
                <a:latin typeface="Palatino Linotype" panose="02040502050505030304" pitchFamily="18" charset="0"/>
              </a:rPr>
              <a:t>Soit </a:t>
            </a:r>
            <a:r>
              <a:rPr lang="fr-FR" sz="1600" b="1" i="1" dirty="0">
                <a:latin typeface="Palatino Linotype" panose="02040502050505030304" pitchFamily="18" charset="0"/>
              </a:rPr>
              <a:t>D</a:t>
            </a:r>
            <a:r>
              <a:rPr lang="fr-FR" sz="1600" dirty="0">
                <a:latin typeface="Palatino Linotype" panose="02040502050505030304" pitchFamily="18" charset="0"/>
              </a:rPr>
              <a:t> l’ensemble d’enregistrements (données d’apprentissage) qui amène au nœud </a:t>
            </a:r>
            <a:r>
              <a:rPr lang="fr-FR" sz="1600" b="1" i="1" dirty="0">
                <a:latin typeface="Palatino Linotype" panose="02040502050505030304" pitchFamily="18" charset="0"/>
              </a:rPr>
              <a:t>t</a:t>
            </a:r>
            <a:r>
              <a:rPr lang="fr-FR" sz="1600" dirty="0">
                <a:latin typeface="Palatino Linotype" panose="02040502050505030304" pitchFamily="18" charset="0"/>
              </a:rPr>
              <a:t>. </a:t>
            </a:r>
          </a:p>
          <a:p>
            <a:pPr lvl="0">
              <a:spcBef>
                <a:spcPts val="0"/>
              </a:spcBef>
              <a:buFont typeface="Wingdings" panose="05000000000000000000" pitchFamily="2" charset="2"/>
              <a:buChar char="§"/>
            </a:pPr>
            <a:r>
              <a:rPr lang="fr-FR" sz="1600" dirty="0">
                <a:latin typeface="Palatino Linotype" panose="02040502050505030304" pitchFamily="18" charset="0"/>
              </a:rPr>
              <a:t>Algorithme générique : Segmenter(</a:t>
            </a:r>
            <a:r>
              <a:rPr lang="fr-FR" sz="1600" b="1" i="1" dirty="0">
                <a:latin typeface="Palatino Linotype" panose="02040502050505030304" pitchFamily="18" charset="0"/>
              </a:rPr>
              <a:t>D</a:t>
            </a:r>
            <a:r>
              <a:rPr lang="fr-FR" sz="1600" dirty="0">
                <a:latin typeface="Palatino Linotype" panose="02040502050505030304" pitchFamily="18" charset="0"/>
              </a:rPr>
              <a:t>)</a:t>
            </a:r>
          </a:p>
          <a:p>
            <a:pPr lvl="1">
              <a:buFont typeface="Palatino Linotype" panose="02040502050505030304" pitchFamily="18" charset="0"/>
              <a:buChar char="▪"/>
            </a:pPr>
            <a:r>
              <a:rPr lang="fr-FR" sz="1600" dirty="0">
                <a:latin typeface="Palatino Linotype" panose="02040502050505030304" pitchFamily="18" charset="0"/>
              </a:rPr>
              <a:t>Si tous les enregistrements de </a:t>
            </a:r>
            <a:r>
              <a:rPr lang="fr-FR" sz="1600" b="1" i="1" dirty="0">
                <a:latin typeface="Palatino Linotype" panose="02040502050505030304" pitchFamily="18" charset="0"/>
              </a:rPr>
              <a:t>D</a:t>
            </a:r>
            <a:r>
              <a:rPr lang="fr-FR" sz="1600" dirty="0">
                <a:latin typeface="Palatino Linotype" panose="02040502050505030304" pitchFamily="18" charset="0"/>
              </a:rPr>
              <a:t> appartiennent à la même classe de variable à prédire </a:t>
            </a:r>
            <a:r>
              <a:rPr lang="fr-FR" sz="1600" b="1" i="1" dirty="0">
                <a:latin typeface="Palatino Linotype" panose="02040502050505030304" pitchFamily="18" charset="0"/>
              </a:rPr>
              <a:t>y</a:t>
            </a:r>
            <a:r>
              <a:rPr lang="fr-FR" sz="1600" dirty="0">
                <a:latin typeface="Palatino Linotype" panose="02040502050505030304" pitchFamily="18" charset="0"/>
              </a:rPr>
              <a:t> alors </a:t>
            </a:r>
            <a:r>
              <a:rPr lang="fr-FR" sz="1600" b="1" i="1" dirty="0">
                <a:latin typeface="Palatino Linotype" panose="02040502050505030304" pitchFamily="18" charset="0"/>
              </a:rPr>
              <a:t>t</a:t>
            </a:r>
            <a:r>
              <a:rPr lang="fr-FR" sz="1600" dirty="0">
                <a:latin typeface="Palatino Linotype" panose="02040502050505030304" pitchFamily="18" charset="0"/>
              </a:rPr>
              <a:t> est une feuille labelisée comme </a:t>
            </a:r>
            <a:r>
              <a:rPr lang="fr-FR" sz="1600" b="1" i="1" dirty="0" err="1">
                <a:latin typeface="Palatino Linotype" panose="02040502050505030304" pitchFamily="18" charset="0"/>
              </a:rPr>
              <a:t>yt</a:t>
            </a:r>
            <a:r>
              <a:rPr lang="fr-FR" sz="1600" dirty="0">
                <a:latin typeface="Palatino Linotype" panose="02040502050505030304" pitchFamily="18" charset="0"/>
              </a:rPr>
              <a:t> </a:t>
            </a:r>
          </a:p>
          <a:p>
            <a:pPr lvl="1">
              <a:buFont typeface="Palatino Linotype" panose="02040502050505030304" pitchFamily="18" charset="0"/>
              <a:buChar char="▪"/>
            </a:pPr>
            <a:r>
              <a:rPr lang="fr-FR" sz="1600" dirty="0">
                <a:latin typeface="Palatino Linotype" panose="02040502050505030304" pitchFamily="18" charset="0"/>
              </a:rPr>
              <a:t>Si </a:t>
            </a:r>
            <a:r>
              <a:rPr lang="fr-FR" sz="1600" b="1" i="1" dirty="0">
                <a:latin typeface="Palatino Linotype" panose="02040502050505030304" pitchFamily="18" charset="0"/>
              </a:rPr>
              <a:t>D</a:t>
            </a:r>
            <a:r>
              <a:rPr lang="fr-FR" sz="1600" dirty="0">
                <a:latin typeface="Palatino Linotype" panose="02040502050505030304" pitchFamily="18" charset="0"/>
              </a:rPr>
              <a:t> contient des enregistrements appartenant à plusieurs classes :</a:t>
            </a:r>
          </a:p>
          <a:p>
            <a:pPr lvl="2">
              <a:buFont typeface="Arial" panose="020B0604020202020204" pitchFamily="34" charset="0"/>
              <a:buChar char="•"/>
            </a:pPr>
            <a:r>
              <a:rPr lang="fr-FR" sz="1600" dirty="0">
                <a:latin typeface="Palatino Linotype" panose="02040502050505030304" pitchFamily="18" charset="0"/>
              </a:rPr>
              <a:t>Pour chaque attribut prédictif </a:t>
            </a:r>
            <a:r>
              <a:rPr lang="fr-FR" sz="1600" b="1" i="1" dirty="0">
                <a:latin typeface="Palatino Linotype" panose="02040502050505030304" pitchFamily="18" charset="0"/>
              </a:rPr>
              <a:t>A</a:t>
            </a:r>
            <a:r>
              <a:rPr lang="fr-FR" sz="1600" dirty="0">
                <a:latin typeface="Palatino Linotype" panose="02040502050505030304" pitchFamily="18" charset="0"/>
              </a:rPr>
              <a:t>, </a:t>
            </a:r>
            <a:r>
              <a:rPr lang="fr-FR" sz="1600" dirty="0">
                <a:solidFill>
                  <a:schemeClr val="accent2"/>
                </a:solidFill>
                <a:latin typeface="Palatino Linotype" panose="02040502050505030304" pitchFamily="18" charset="0"/>
              </a:rPr>
              <a:t>évaluer la qualité de découpage selon </a:t>
            </a:r>
            <a:r>
              <a:rPr lang="fr-FR" sz="1600" b="1" i="1" dirty="0">
                <a:solidFill>
                  <a:schemeClr val="accent2"/>
                </a:solidFill>
                <a:latin typeface="Palatino Linotype" panose="02040502050505030304" pitchFamily="18" charset="0"/>
              </a:rPr>
              <a:t>A</a:t>
            </a:r>
            <a:r>
              <a:rPr lang="fr-FR" sz="1600" dirty="0">
                <a:solidFill>
                  <a:schemeClr val="accent2"/>
                </a:solidFill>
                <a:latin typeface="Palatino Linotype" panose="02040502050505030304" pitchFamily="18" charset="0"/>
              </a:rPr>
              <a:t>.</a:t>
            </a:r>
            <a:r>
              <a:rPr lang="fr-FR" sz="1600" dirty="0">
                <a:latin typeface="Palatino Linotype" panose="02040502050505030304" pitchFamily="18" charset="0"/>
              </a:rPr>
              <a:t> </a:t>
            </a:r>
          </a:p>
          <a:p>
            <a:pPr lvl="2">
              <a:buFont typeface="Arial" panose="020B0604020202020204" pitchFamily="34" charset="0"/>
              <a:buChar char="•"/>
            </a:pPr>
            <a:r>
              <a:rPr lang="fr-FR" sz="1600" dirty="0">
                <a:latin typeface="Palatino Linotype" panose="02040502050505030304" pitchFamily="18" charset="0"/>
              </a:rPr>
              <a:t>Utiliser l’attribut donnant la meilleure découpe pour découper l’ensemble de données en sous ensembles. </a:t>
            </a:r>
          </a:p>
          <a:p>
            <a:pPr lvl="2">
              <a:buFont typeface="Arial" panose="020B0604020202020204" pitchFamily="34" charset="0"/>
              <a:buChar char="•"/>
            </a:pPr>
            <a:r>
              <a:rPr lang="fr-FR" sz="1600" dirty="0">
                <a:latin typeface="Palatino Linotype" panose="02040502050505030304" pitchFamily="18" charset="0"/>
              </a:rPr>
              <a:t>Appliquer la procédure de manière récursive sur les sous ensembles obtenus.</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Arbre de décision: induction</a:t>
            </a:r>
          </a:p>
        </p:txBody>
      </p:sp>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marL="76200" lvl="0" indent="0">
              <a:buNone/>
            </a:pPr>
            <a:r>
              <a:rPr lang="fr-FR" sz="2000" dirty="0"/>
              <a:t>Problèmes fondamentaux pour construire l’arbre</a:t>
            </a:r>
          </a:p>
          <a:p>
            <a:pPr lvl="0">
              <a:buFont typeface="Wingdings" panose="05000000000000000000" pitchFamily="2" charset="2"/>
              <a:buChar char="§"/>
            </a:pPr>
            <a:r>
              <a:rPr lang="fr-FR" sz="2000" dirty="0"/>
              <a:t>Choix de l’attribut discriminant.</a:t>
            </a:r>
          </a:p>
          <a:p>
            <a:pPr lvl="0">
              <a:buFont typeface="Wingdings" panose="05000000000000000000" pitchFamily="2" charset="2"/>
              <a:buChar char="§"/>
            </a:pPr>
            <a:r>
              <a:rPr lang="fr-FR" sz="2000" dirty="0"/>
              <a:t>Affectation d’un label à une feuille.</a:t>
            </a:r>
          </a:p>
          <a:p>
            <a:pPr lvl="0">
              <a:buFont typeface="Wingdings" panose="05000000000000000000" pitchFamily="2" charset="2"/>
              <a:buChar char="§"/>
            </a:pPr>
            <a:r>
              <a:rPr lang="fr-FR" sz="2000" dirty="0"/>
              <a:t>Arrêt de la procédure de segmentation (i.e. profondeur de l’arbre). Si un arbre est trop profond, il est trop complexe et trop adapté à l’ensemble d’apprentissage, i.e. pas assez généraliste.</a:t>
            </a:r>
          </a:p>
          <a:p>
            <a:pPr lvl="0">
              <a:buFont typeface="Wingdings" panose="05000000000000000000" pitchFamily="2" charset="2"/>
              <a:buChar char="§"/>
            </a:pPr>
            <a:r>
              <a:rPr lang="fr-FR" sz="2000" dirty="0"/>
              <a:t>Choix des bornes de discrétisation (i.e. comment découper les valeurs d’un attribut continu).</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Arbre de décision: Construction</a:t>
            </a:r>
          </a:p>
        </p:txBody>
      </p:sp>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marL="76200" lvl="0" indent="0">
              <a:buNone/>
            </a:pPr>
            <a:r>
              <a:rPr lang="fr-FR" sz="2000" b="1" u="sng" dirty="0">
                <a:solidFill>
                  <a:schemeClr val="accent2"/>
                </a:solidFill>
                <a:effectLst>
                  <a:outerShdw blurRad="38100" dist="38100" dir="2700000" algn="tl">
                    <a:srgbClr val="000000">
                      <a:alpha val="43137"/>
                    </a:srgbClr>
                  </a:outerShdw>
                </a:effectLst>
              </a:rPr>
              <a:t>Pureté d’un nœud</a:t>
            </a:r>
            <a:r>
              <a:rPr lang="fr-FR" sz="2000" b="1" dirty="0"/>
              <a:t> </a:t>
            </a:r>
          </a:p>
          <a:p>
            <a:pPr lvl="0">
              <a:buFont typeface="Wingdings" panose="05000000000000000000" pitchFamily="2" charset="2"/>
              <a:buChar char="§"/>
            </a:pPr>
            <a:r>
              <a:rPr lang="fr-FR" sz="2000" dirty="0"/>
              <a:t>Un nœud est </a:t>
            </a:r>
            <a:r>
              <a:rPr lang="fr-FR" sz="2000" b="1" dirty="0"/>
              <a:t>pur</a:t>
            </a:r>
            <a:r>
              <a:rPr lang="fr-FR" sz="2000" dirty="0"/>
              <a:t> si tous les individus associés appartiennent à la même classe.</a:t>
            </a:r>
          </a:p>
          <a:p>
            <a:pPr lvl="0">
              <a:buFont typeface="Wingdings" panose="05000000000000000000" pitchFamily="2" charset="2"/>
              <a:buChar char="§"/>
            </a:pPr>
            <a:endParaRPr lang="fr-FR" sz="2000" dirty="0"/>
          </a:p>
          <a:p>
            <a:pPr marL="76200" lvl="0" indent="0">
              <a:buNone/>
            </a:pPr>
            <a:r>
              <a:rPr lang="fr-FR" sz="2000" b="1" dirty="0">
                <a:solidFill>
                  <a:schemeClr val="tx1"/>
                </a:solidFill>
              </a:rPr>
              <a:t>Exemple:</a:t>
            </a:r>
          </a:p>
          <a:p>
            <a:pPr lvl="0">
              <a:buFont typeface="Wingdings" panose="05000000000000000000" pitchFamily="2" charset="2"/>
              <a:buChar char="§"/>
            </a:pPr>
            <a:r>
              <a:rPr lang="fr-FR" sz="2000" dirty="0"/>
              <a:t>Construire un arbre de décision qui classe et détermine les caractéristiques des clients qui consultent leurs comptes sur internet.</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11</a:t>
            </a:fld>
            <a:endParaRPr/>
          </a:p>
        </p:txBody>
      </p:sp>
    </p:spTree>
    <p:extLst>
      <p:ext uri="{BB962C8B-B14F-4D97-AF65-F5344CB8AC3E}">
        <p14:creationId xmlns="" xmlns:p14="http://schemas.microsoft.com/office/powerpoint/2010/main" val="206938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C669408-9903-48CE-A82A-0CD7267D20E3}"/>
              </a:ext>
            </a:extLst>
          </p:cNvPr>
          <p:cNvSpPr>
            <a:spLocks noGrp="1"/>
          </p:cNvSpPr>
          <p:nvPr>
            <p:ph type="title"/>
          </p:nvPr>
        </p:nvSpPr>
        <p:spPr/>
        <p:txBody>
          <a:bodyPr/>
          <a:lstStyle/>
          <a:p>
            <a:r>
              <a:rPr lang="en" sz="2800" b="1" dirty="0"/>
              <a:t>Arbre de décision: Construction</a:t>
            </a:r>
            <a:endParaRPr lang="fr-FR" dirty="0"/>
          </a:p>
        </p:txBody>
      </p:sp>
      <p:sp>
        <p:nvSpPr>
          <p:cNvPr id="3" name="Espace réservé du texte 2">
            <a:extLst>
              <a:ext uri="{FF2B5EF4-FFF2-40B4-BE49-F238E27FC236}">
                <a16:creationId xmlns="" xmlns:a16="http://schemas.microsoft.com/office/drawing/2014/main" id="{F0EB5C62-570B-4128-B96D-FF9F05938035}"/>
              </a:ext>
            </a:extLst>
          </p:cNvPr>
          <p:cNvSpPr>
            <a:spLocks noGrp="1"/>
          </p:cNvSpPr>
          <p:nvPr>
            <p:ph type="body" idx="1"/>
          </p:nvPr>
        </p:nvSpPr>
        <p:spPr>
          <a:xfrm>
            <a:off x="1155273" y="3592133"/>
            <a:ext cx="3447300" cy="1774134"/>
          </a:xfrm>
        </p:spPr>
        <p:txBody>
          <a:bodyPr/>
          <a:lstStyle/>
          <a:p>
            <a:pPr>
              <a:buFont typeface="Wingdings" panose="05000000000000000000" pitchFamily="2" charset="2"/>
              <a:buChar char="§"/>
            </a:pPr>
            <a:r>
              <a:rPr lang="fr-FR" sz="1800" dirty="0"/>
              <a:t>M: moyenne des montants sur le compte</a:t>
            </a:r>
          </a:p>
          <a:p>
            <a:pPr>
              <a:buFont typeface="Wingdings" panose="05000000000000000000" pitchFamily="2" charset="2"/>
              <a:buChar char="§"/>
            </a:pPr>
            <a:r>
              <a:rPr lang="fr-FR" sz="1800" dirty="0"/>
              <a:t>A: âge du client</a:t>
            </a:r>
          </a:p>
          <a:p>
            <a:pPr>
              <a:buFont typeface="Wingdings" panose="05000000000000000000" pitchFamily="2" charset="2"/>
              <a:buChar char="§"/>
            </a:pPr>
            <a:r>
              <a:rPr lang="fr-FR" sz="1800" dirty="0"/>
              <a:t>R: lieu de résidence du client</a:t>
            </a:r>
          </a:p>
        </p:txBody>
      </p:sp>
      <p:sp>
        <p:nvSpPr>
          <p:cNvPr id="4" name="Espace réservé du texte 3">
            <a:extLst>
              <a:ext uri="{FF2B5EF4-FFF2-40B4-BE49-F238E27FC236}">
                <a16:creationId xmlns="" xmlns:a16="http://schemas.microsoft.com/office/drawing/2014/main" id="{6323EC54-5E8C-4C74-96AF-53859ED2ED95}"/>
              </a:ext>
            </a:extLst>
          </p:cNvPr>
          <p:cNvSpPr>
            <a:spLocks noGrp="1"/>
          </p:cNvSpPr>
          <p:nvPr>
            <p:ph type="body" idx="2"/>
          </p:nvPr>
        </p:nvSpPr>
        <p:spPr>
          <a:xfrm>
            <a:off x="4932040" y="3617862"/>
            <a:ext cx="3447300" cy="1774134"/>
          </a:xfrm>
        </p:spPr>
        <p:txBody>
          <a:bodyPr/>
          <a:lstStyle/>
          <a:p>
            <a:pPr>
              <a:buFont typeface="Wingdings" panose="05000000000000000000" pitchFamily="2" charset="2"/>
              <a:buChar char="§"/>
            </a:pPr>
            <a:r>
              <a:rPr lang="fr-FR" sz="1800" dirty="0"/>
              <a:t>E: le client fait des études supérieures ?</a:t>
            </a:r>
          </a:p>
          <a:p>
            <a:pPr>
              <a:buFont typeface="Wingdings" panose="05000000000000000000" pitchFamily="2" charset="2"/>
              <a:buChar char="§"/>
            </a:pPr>
            <a:r>
              <a:rPr lang="fr-FR" sz="1800" dirty="0"/>
              <a:t>I: le client consulte ses comptes sur Internet ?</a:t>
            </a:r>
          </a:p>
        </p:txBody>
      </p:sp>
      <p:sp>
        <p:nvSpPr>
          <p:cNvPr id="5" name="Espace réservé du numéro de diapositive 4">
            <a:extLst>
              <a:ext uri="{FF2B5EF4-FFF2-40B4-BE49-F238E27FC236}">
                <a16:creationId xmlns="" xmlns:a16="http://schemas.microsoft.com/office/drawing/2014/main" id="{21396CEA-A05B-4543-9F75-2D8A8B0BEFA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12</a:t>
            </a:fld>
            <a:endParaRPr lang="fr-FR"/>
          </a:p>
        </p:txBody>
      </p:sp>
      <p:pic>
        <p:nvPicPr>
          <p:cNvPr id="7" name="Image 6">
            <a:extLst>
              <a:ext uri="{FF2B5EF4-FFF2-40B4-BE49-F238E27FC236}">
                <a16:creationId xmlns="" xmlns:a16="http://schemas.microsoft.com/office/drawing/2014/main" id="{6738881F-2692-4111-8E8C-A62BB26321BE}"/>
              </a:ext>
            </a:extLst>
          </p:cNvPr>
          <p:cNvPicPr>
            <a:picLocks noChangeAspect="1"/>
          </p:cNvPicPr>
          <p:nvPr/>
        </p:nvPicPr>
        <p:blipFill>
          <a:blip r:embed="rId2"/>
          <a:stretch>
            <a:fillRect/>
          </a:stretch>
        </p:blipFill>
        <p:spPr>
          <a:xfrm>
            <a:off x="899592" y="1315804"/>
            <a:ext cx="7583308" cy="2304255"/>
          </a:xfrm>
          <a:prstGeom prst="rect">
            <a:avLst/>
          </a:prstGeom>
        </p:spPr>
      </p:pic>
    </p:spTree>
    <p:extLst>
      <p:ext uri="{BB962C8B-B14F-4D97-AF65-F5344CB8AC3E}">
        <p14:creationId xmlns="" xmlns:p14="http://schemas.microsoft.com/office/powerpoint/2010/main" val="3107325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Arbre de décision: Construction</a:t>
            </a:r>
          </a:p>
        </p:txBody>
      </p:sp>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Construction descendante.</a:t>
            </a:r>
          </a:p>
          <a:p>
            <a:pPr lvl="0">
              <a:buFont typeface="Wingdings" panose="05000000000000000000" pitchFamily="2" charset="2"/>
              <a:buChar char="§"/>
            </a:pPr>
            <a:r>
              <a:rPr lang="fr-FR" sz="2000" dirty="0"/>
              <a:t>Au début, tous les individus sont regroupés.</a:t>
            </a:r>
          </a:p>
          <a:p>
            <a:pPr lvl="0">
              <a:buFont typeface="Wingdings" panose="05000000000000000000" pitchFamily="2" charset="2"/>
              <a:buChar char="§"/>
            </a:pPr>
            <a:r>
              <a:rPr lang="fr-FR" sz="2000" dirty="0"/>
              <a:t>Est-ce que le nœud initial est un nœud terminal ou est-ce qu’on peut construire un test sur une variable qui permettra de mieux discriminer les individus ? </a:t>
            </a:r>
          </a:p>
          <a:p>
            <a:pPr lvl="0">
              <a:buFont typeface="Wingdings" panose="05000000000000000000" pitchFamily="2" charset="2"/>
              <a:buChar char="§"/>
            </a:pPr>
            <a:r>
              <a:rPr lang="fr-FR" sz="2000" dirty="0"/>
              <a:t>Quatre constructions possibles suivant les variables Montant (M), Age(A), Résidence (R), et Etudes (E).</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13</a:t>
            </a:fld>
            <a:endParaRPr/>
          </a:p>
        </p:txBody>
      </p:sp>
    </p:spTree>
    <p:extLst>
      <p:ext uri="{BB962C8B-B14F-4D97-AF65-F5344CB8AC3E}">
        <p14:creationId xmlns="" xmlns:p14="http://schemas.microsoft.com/office/powerpoint/2010/main" val="2846235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Arbre de décision: Construction</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14</a:t>
            </a:fld>
            <a:endParaRPr/>
          </a:p>
        </p:txBody>
      </p:sp>
      <p:pic>
        <p:nvPicPr>
          <p:cNvPr id="3" name="Image 2">
            <a:extLst>
              <a:ext uri="{FF2B5EF4-FFF2-40B4-BE49-F238E27FC236}">
                <a16:creationId xmlns="" xmlns:a16="http://schemas.microsoft.com/office/drawing/2014/main" id="{261520EE-26FC-4140-9732-516CF704E7E9}"/>
              </a:ext>
            </a:extLst>
          </p:cNvPr>
          <p:cNvPicPr>
            <a:picLocks noChangeAspect="1"/>
          </p:cNvPicPr>
          <p:nvPr/>
        </p:nvPicPr>
        <p:blipFill>
          <a:blip r:embed="rId3"/>
          <a:stretch>
            <a:fillRect/>
          </a:stretch>
        </p:blipFill>
        <p:spPr>
          <a:xfrm>
            <a:off x="1187624" y="1419622"/>
            <a:ext cx="7153275" cy="3600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Arbre de décision: Construction</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15</a:t>
            </a:fld>
            <a:endParaRPr/>
          </a:p>
        </p:txBody>
      </p:sp>
      <p:pic>
        <p:nvPicPr>
          <p:cNvPr id="4" name="Image 3">
            <a:extLst>
              <a:ext uri="{FF2B5EF4-FFF2-40B4-BE49-F238E27FC236}">
                <a16:creationId xmlns="" xmlns:a16="http://schemas.microsoft.com/office/drawing/2014/main" id="{D364CA0D-46FD-47BD-9407-35091B96F7C1}"/>
              </a:ext>
            </a:extLst>
          </p:cNvPr>
          <p:cNvPicPr>
            <a:picLocks noChangeAspect="1"/>
          </p:cNvPicPr>
          <p:nvPr/>
        </p:nvPicPr>
        <p:blipFill>
          <a:blip r:embed="rId3"/>
          <a:stretch>
            <a:fillRect/>
          </a:stretch>
        </p:blipFill>
        <p:spPr>
          <a:xfrm>
            <a:off x="1105991" y="1318000"/>
            <a:ext cx="7210425" cy="3630014"/>
          </a:xfrm>
          <a:prstGeom prst="rect">
            <a:avLst/>
          </a:prstGeom>
        </p:spPr>
      </p:pic>
    </p:spTree>
    <p:extLst>
      <p:ext uri="{BB962C8B-B14F-4D97-AF65-F5344CB8AC3E}">
        <p14:creationId xmlns="" xmlns:p14="http://schemas.microsoft.com/office/powerpoint/2010/main" val="770891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Arbre de décision: Construction</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16</a:t>
            </a:fld>
            <a:endParaRPr/>
          </a:p>
        </p:txBody>
      </p:sp>
      <p:pic>
        <p:nvPicPr>
          <p:cNvPr id="3" name="Image 2">
            <a:extLst>
              <a:ext uri="{FF2B5EF4-FFF2-40B4-BE49-F238E27FC236}">
                <a16:creationId xmlns="" xmlns:a16="http://schemas.microsoft.com/office/drawing/2014/main" id="{097489D4-151D-4A80-B0D4-BDDDF504EFA6}"/>
              </a:ext>
            </a:extLst>
          </p:cNvPr>
          <p:cNvPicPr>
            <a:picLocks noChangeAspect="1"/>
          </p:cNvPicPr>
          <p:nvPr/>
        </p:nvPicPr>
        <p:blipFill>
          <a:blip r:embed="rId3"/>
          <a:stretch>
            <a:fillRect/>
          </a:stretch>
        </p:blipFill>
        <p:spPr>
          <a:xfrm>
            <a:off x="1144091" y="1420341"/>
            <a:ext cx="7172325" cy="3527673"/>
          </a:xfrm>
          <a:prstGeom prst="rect">
            <a:avLst/>
          </a:prstGeom>
        </p:spPr>
      </p:pic>
    </p:spTree>
    <p:extLst>
      <p:ext uri="{BB962C8B-B14F-4D97-AF65-F5344CB8AC3E}">
        <p14:creationId xmlns="" xmlns:p14="http://schemas.microsoft.com/office/powerpoint/2010/main" val="1445792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Arbre de décision: Construction</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17</a:t>
            </a:fld>
            <a:endParaRPr/>
          </a:p>
        </p:txBody>
      </p:sp>
      <p:pic>
        <p:nvPicPr>
          <p:cNvPr id="4" name="Image 3">
            <a:extLst>
              <a:ext uri="{FF2B5EF4-FFF2-40B4-BE49-F238E27FC236}">
                <a16:creationId xmlns="" xmlns:a16="http://schemas.microsoft.com/office/drawing/2014/main" id="{5BB7C748-7FC8-48B9-AEFA-CE07EABFEB64}"/>
              </a:ext>
            </a:extLst>
          </p:cNvPr>
          <p:cNvPicPr>
            <a:picLocks noChangeAspect="1"/>
          </p:cNvPicPr>
          <p:nvPr/>
        </p:nvPicPr>
        <p:blipFill>
          <a:blip r:embed="rId3"/>
          <a:stretch>
            <a:fillRect/>
          </a:stretch>
        </p:blipFill>
        <p:spPr>
          <a:xfrm>
            <a:off x="1153616" y="1367383"/>
            <a:ext cx="7162800" cy="3580631"/>
          </a:xfrm>
          <a:prstGeom prst="rect">
            <a:avLst/>
          </a:prstGeom>
        </p:spPr>
      </p:pic>
    </p:spTree>
    <p:extLst>
      <p:ext uri="{BB962C8B-B14F-4D97-AF65-F5344CB8AC3E}">
        <p14:creationId xmlns="" xmlns:p14="http://schemas.microsoft.com/office/powerpoint/2010/main" val="4044056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B5F33AF-FEA2-4931-9EF1-B2FEA6DE12E6}"/>
              </a:ext>
            </a:extLst>
          </p:cNvPr>
          <p:cNvSpPr>
            <a:spLocks noGrp="1"/>
          </p:cNvSpPr>
          <p:nvPr>
            <p:ph type="title"/>
          </p:nvPr>
        </p:nvSpPr>
        <p:spPr/>
        <p:txBody>
          <a:bodyPr/>
          <a:lstStyle/>
          <a:p>
            <a:r>
              <a:rPr lang="en" sz="2800" b="1" dirty="0"/>
              <a:t>Arbre de décision: Construction</a:t>
            </a:r>
            <a:endParaRPr lang="fr-FR" dirty="0"/>
          </a:p>
        </p:txBody>
      </p:sp>
      <p:sp>
        <p:nvSpPr>
          <p:cNvPr id="3" name="Espace réservé du texte 2">
            <a:extLst>
              <a:ext uri="{FF2B5EF4-FFF2-40B4-BE49-F238E27FC236}">
                <a16:creationId xmlns="" xmlns:a16="http://schemas.microsoft.com/office/drawing/2014/main" id="{4DCD4FCE-C422-4120-89CE-5EF86FB8E99F}"/>
              </a:ext>
            </a:extLst>
          </p:cNvPr>
          <p:cNvSpPr>
            <a:spLocks noGrp="1"/>
          </p:cNvSpPr>
          <p:nvPr>
            <p:ph type="body" idx="1"/>
          </p:nvPr>
        </p:nvSpPr>
        <p:spPr>
          <a:xfrm>
            <a:off x="899592" y="1347614"/>
            <a:ext cx="3960440" cy="4572450"/>
          </a:xfrm>
        </p:spPr>
        <p:txBody>
          <a:bodyPr/>
          <a:lstStyle/>
          <a:p>
            <a:pPr marL="101600" indent="0" algn="just">
              <a:buNone/>
            </a:pPr>
            <a:r>
              <a:rPr lang="fr-FR" sz="1800" dirty="0"/>
              <a:t>Quel test choisir ?</a:t>
            </a:r>
          </a:p>
          <a:p>
            <a:pPr algn="just">
              <a:buFont typeface="Wingdings" panose="05000000000000000000" pitchFamily="2" charset="2"/>
              <a:buChar char="§"/>
            </a:pPr>
            <a:r>
              <a:rPr lang="fr-FR" sz="1800" dirty="0"/>
              <a:t>Un test est intéressant s’il permet une bonne discrimination.</a:t>
            </a:r>
          </a:p>
          <a:p>
            <a:pPr algn="just">
              <a:buFont typeface="Wingdings" panose="05000000000000000000" pitchFamily="2" charset="2"/>
              <a:buChar char="§"/>
            </a:pPr>
            <a:r>
              <a:rPr lang="fr-FR" sz="1800" dirty="0"/>
              <a:t>Sur R, aucune discrimination sur aucune branche : on ne gagne rien avec ce test !</a:t>
            </a:r>
          </a:p>
          <a:p>
            <a:pPr algn="just">
              <a:buFont typeface="Wingdings" panose="05000000000000000000" pitchFamily="2" charset="2"/>
              <a:buChar char="§"/>
            </a:pPr>
            <a:r>
              <a:rPr lang="fr-FR" sz="1800" dirty="0"/>
              <a:t>Sur A, deux nœuds sur trois sont purs.</a:t>
            </a:r>
          </a:p>
          <a:p>
            <a:pPr algn="just">
              <a:buFont typeface="Wingdings" panose="05000000000000000000" pitchFamily="2" charset="2"/>
              <a:buChar char="§"/>
            </a:pPr>
            <a:r>
              <a:rPr lang="fr-FR" sz="1800" dirty="0"/>
              <a:t>Comment  écrire cela de manière algorithmique et mathématique ?</a:t>
            </a:r>
          </a:p>
        </p:txBody>
      </p:sp>
      <p:sp>
        <p:nvSpPr>
          <p:cNvPr id="5" name="Espace réservé du numéro de diapositive 4">
            <a:extLst>
              <a:ext uri="{FF2B5EF4-FFF2-40B4-BE49-F238E27FC236}">
                <a16:creationId xmlns="" xmlns:a16="http://schemas.microsoft.com/office/drawing/2014/main" id="{8386D06D-9904-42FB-BA2C-FD7B4B236D6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18</a:t>
            </a:fld>
            <a:endParaRPr lang="fr-FR"/>
          </a:p>
        </p:txBody>
      </p:sp>
      <p:pic>
        <p:nvPicPr>
          <p:cNvPr id="7" name="Image 6">
            <a:extLst>
              <a:ext uri="{FF2B5EF4-FFF2-40B4-BE49-F238E27FC236}">
                <a16:creationId xmlns="" xmlns:a16="http://schemas.microsoft.com/office/drawing/2014/main" id="{05376A52-AFC8-4F9C-B3B9-F6B05AFBB0A1}"/>
              </a:ext>
            </a:extLst>
          </p:cNvPr>
          <p:cNvPicPr>
            <a:picLocks noChangeAspect="1"/>
          </p:cNvPicPr>
          <p:nvPr/>
        </p:nvPicPr>
        <p:blipFill>
          <a:blip r:embed="rId2"/>
          <a:stretch>
            <a:fillRect/>
          </a:stretch>
        </p:blipFill>
        <p:spPr>
          <a:xfrm>
            <a:off x="5164414" y="2139702"/>
            <a:ext cx="3672408" cy="1901823"/>
          </a:xfrm>
          <a:prstGeom prst="rect">
            <a:avLst/>
          </a:prstGeom>
        </p:spPr>
      </p:pic>
    </p:spTree>
    <p:extLst>
      <p:ext uri="{BB962C8B-B14F-4D97-AF65-F5344CB8AC3E}">
        <p14:creationId xmlns="" xmlns:p14="http://schemas.microsoft.com/office/powerpoint/2010/main" val="105889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Arbre de décision: Construction</a:t>
            </a:r>
          </a:p>
        </p:txBody>
      </p:sp>
      <p:sp>
        <p:nvSpPr>
          <p:cNvPr id="551" name="Google Shape;551;p18"/>
          <p:cNvSpPr txBox="1">
            <a:spLocks noGrp="1"/>
          </p:cNvSpPr>
          <p:nvPr>
            <p:ph type="body" idx="1"/>
          </p:nvPr>
        </p:nvSpPr>
        <p:spPr>
          <a:xfrm>
            <a:off x="971600" y="1728192"/>
            <a:ext cx="7532654" cy="3507854"/>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On a besoin de comparer les différents choix possibles.</a:t>
            </a:r>
          </a:p>
          <a:p>
            <a:pPr lvl="0">
              <a:buFont typeface="Wingdings" panose="05000000000000000000" pitchFamily="2" charset="2"/>
              <a:buChar char="§"/>
            </a:pPr>
            <a:r>
              <a:rPr lang="fr-FR" sz="2000" dirty="0"/>
              <a:t>Introduire des fonctions permettant de mesurer le degré de désordre dans les différentes classes (pureté d’un nœud)</a:t>
            </a:r>
          </a:p>
          <a:p>
            <a:pPr lvl="0">
              <a:buFont typeface="Wingdings" panose="05000000000000000000" pitchFamily="2" charset="2"/>
              <a:buChar char="§"/>
            </a:pPr>
            <a:r>
              <a:rPr lang="fr-FR" sz="2000" dirty="0"/>
              <a:t>Propriétés des fonctions (degré de désordre) :</a:t>
            </a:r>
          </a:p>
          <a:p>
            <a:pPr lvl="1">
              <a:buFont typeface="Arial" panose="020B0604020202020204" pitchFamily="34" charset="0"/>
              <a:buChar char="•"/>
            </a:pPr>
            <a:r>
              <a:rPr lang="fr-FR" sz="2000" dirty="0"/>
              <a:t>Le minimum est atteint lorsque tous les nœuds sont purs.</a:t>
            </a:r>
          </a:p>
          <a:p>
            <a:pPr lvl="1">
              <a:buFont typeface="Arial" panose="020B0604020202020204" pitchFamily="34" charset="0"/>
              <a:buChar char="•"/>
            </a:pPr>
            <a:r>
              <a:rPr lang="fr-FR" sz="2000" dirty="0"/>
              <a:t>Le maximum est atteint lorsque les individus sont équirépartis entre les classes.</a:t>
            </a:r>
          </a:p>
          <a:p>
            <a:pPr lvl="0">
              <a:buFont typeface="Wingdings" panose="05000000000000000000" pitchFamily="2" charset="2"/>
              <a:buChar char="§"/>
            </a:pPr>
            <a:r>
              <a:rPr lang="fr-FR" sz="2000" dirty="0"/>
              <a:t>Exemples de fonctions :Indice de Gini, Entropie,…</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19</a:t>
            </a:fld>
            <a:endParaRPr/>
          </a:p>
        </p:txBody>
      </p:sp>
    </p:spTree>
    <p:extLst>
      <p:ext uri="{BB962C8B-B14F-4D97-AF65-F5344CB8AC3E}">
        <p14:creationId xmlns="" xmlns:p14="http://schemas.microsoft.com/office/powerpoint/2010/main" val="2598091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Choix de l’attribut discriminant</a:t>
            </a:r>
            <a:endParaRPr lang="en" sz="3200" b="1" dirty="0"/>
          </a:p>
        </p:txBody>
      </p:sp>
      <p:sp>
        <p:nvSpPr>
          <p:cNvPr id="551" name="Google Shape;551;p18"/>
          <p:cNvSpPr txBox="1">
            <a:spLocks noGrp="1"/>
          </p:cNvSpPr>
          <p:nvPr>
            <p:ph type="body" idx="1"/>
          </p:nvPr>
        </p:nvSpPr>
        <p:spPr>
          <a:xfrm>
            <a:off x="971600" y="1728192"/>
            <a:ext cx="7532654" cy="3507854"/>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Comment spécifier la condition de test ?</a:t>
            </a:r>
          </a:p>
          <a:p>
            <a:pPr marL="533400" lvl="0" indent="-457200">
              <a:buFont typeface="+mj-lt"/>
              <a:buAutoNum type="arabicPeriod"/>
            </a:pPr>
            <a:r>
              <a:rPr lang="fr-FR" sz="2000" dirty="0"/>
              <a:t>Dépend du type d’attribut </a:t>
            </a:r>
          </a:p>
          <a:p>
            <a:pPr lvl="1">
              <a:buFont typeface="Arial" panose="020B0604020202020204" pitchFamily="34" charset="0"/>
              <a:buChar char="•"/>
            </a:pPr>
            <a:r>
              <a:rPr lang="fr-FR" sz="2000" dirty="0"/>
              <a:t>Nominal</a:t>
            </a:r>
          </a:p>
          <a:p>
            <a:pPr lvl="1">
              <a:buFont typeface="Arial" panose="020B0604020202020204" pitchFamily="34" charset="0"/>
              <a:buChar char="•"/>
            </a:pPr>
            <a:r>
              <a:rPr lang="fr-FR" sz="2000" dirty="0"/>
              <a:t>Ordinal</a:t>
            </a:r>
          </a:p>
          <a:p>
            <a:pPr lvl="1">
              <a:buFont typeface="Arial" panose="020B0604020202020204" pitchFamily="34" charset="0"/>
              <a:buChar char="•"/>
            </a:pPr>
            <a:r>
              <a:rPr lang="fr-FR" sz="2000" dirty="0"/>
              <a:t>Continu</a:t>
            </a:r>
          </a:p>
          <a:p>
            <a:pPr marL="533400" lvl="0" indent="-457200">
              <a:buFont typeface="+mj-lt"/>
              <a:buAutoNum type="arabicPeriod"/>
            </a:pPr>
            <a:r>
              <a:rPr lang="fr-FR" sz="2000" dirty="0"/>
              <a:t>Dépend du nombre de façon de diviser </a:t>
            </a:r>
          </a:p>
          <a:p>
            <a:pPr lvl="1">
              <a:buFont typeface="Arial" panose="020B0604020202020204" pitchFamily="34" charset="0"/>
              <a:buChar char="•"/>
            </a:pPr>
            <a:r>
              <a:rPr lang="fr-FR" sz="2000" dirty="0"/>
              <a:t>Division en 2</a:t>
            </a:r>
          </a:p>
          <a:p>
            <a:pPr lvl="1">
              <a:buFont typeface="Arial" panose="020B0604020202020204" pitchFamily="34" charset="0"/>
              <a:buChar char="•"/>
            </a:pPr>
            <a:r>
              <a:rPr lang="fr-FR" sz="2000" dirty="0"/>
              <a:t>Division en n</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20</a:t>
            </a:fld>
            <a:endParaRPr/>
          </a:p>
        </p:txBody>
      </p:sp>
    </p:spTree>
    <p:extLst>
      <p:ext uri="{BB962C8B-B14F-4D97-AF65-F5344CB8AC3E}">
        <p14:creationId xmlns="" xmlns:p14="http://schemas.microsoft.com/office/powerpoint/2010/main" val="1236532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Attribut nominal / Ordinal</a:t>
            </a:r>
            <a:endParaRPr lang="en" sz="3200" b="1" dirty="0"/>
          </a:p>
        </p:txBody>
      </p:sp>
      <p:sp>
        <p:nvSpPr>
          <p:cNvPr id="551" name="Google Shape;551;p18"/>
          <p:cNvSpPr txBox="1">
            <a:spLocks noGrp="1"/>
          </p:cNvSpPr>
          <p:nvPr>
            <p:ph type="body" idx="1"/>
          </p:nvPr>
        </p:nvSpPr>
        <p:spPr>
          <a:xfrm>
            <a:off x="971600" y="1419622"/>
            <a:ext cx="7632848" cy="3507854"/>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b="1" dirty="0"/>
              <a:t>Division multiple </a:t>
            </a:r>
            <a:r>
              <a:rPr lang="fr-FR" sz="2000" dirty="0"/>
              <a:t>: autant de partitions que de valeurs distinctes.</a:t>
            </a:r>
          </a:p>
          <a:p>
            <a:pPr lvl="0">
              <a:buFont typeface="Wingdings" panose="05000000000000000000" pitchFamily="2" charset="2"/>
              <a:buChar char="§"/>
            </a:pPr>
            <a:endParaRPr lang="fr-FR" sz="2000" dirty="0"/>
          </a:p>
          <a:p>
            <a:pPr lvl="0">
              <a:buFont typeface="Wingdings" panose="05000000000000000000" pitchFamily="2" charset="2"/>
              <a:buChar char="§"/>
            </a:pPr>
            <a:endParaRPr lang="fr-FR" sz="2000" dirty="0"/>
          </a:p>
          <a:p>
            <a:pPr lvl="0">
              <a:buFont typeface="Wingdings" panose="05000000000000000000" pitchFamily="2" charset="2"/>
              <a:buChar char="§"/>
            </a:pPr>
            <a:r>
              <a:rPr lang="fr-FR" sz="2000" b="1" dirty="0"/>
              <a:t>Division binaire </a:t>
            </a:r>
            <a:r>
              <a:rPr lang="fr-FR" sz="2000" dirty="0"/>
              <a:t>: Division des valeurs en deux sous-ensembles ⇒ Trouver le partitionnement optimal.</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21</a:t>
            </a:fld>
            <a:endParaRPr/>
          </a:p>
        </p:txBody>
      </p:sp>
      <p:pic>
        <p:nvPicPr>
          <p:cNvPr id="7" name="Image 6">
            <a:extLst>
              <a:ext uri="{FF2B5EF4-FFF2-40B4-BE49-F238E27FC236}">
                <a16:creationId xmlns="" xmlns:a16="http://schemas.microsoft.com/office/drawing/2014/main" id="{294FEAD6-336E-481E-B245-81E50E441169}"/>
              </a:ext>
            </a:extLst>
          </p:cNvPr>
          <p:cNvPicPr>
            <a:picLocks noChangeAspect="1"/>
          </p:cNvPicPr>
          <p:nvPr/>
        </p:nvPicPr>
        <p:blipFill>
          <a:blip r:embed="rId3"/>
          <a:stretch>
            <a:fillRect/>
          </a:stretch>
        </p:blipFill>
        <p:spPr>
          <a:xfrm>
            <a:off x="3563888" y="1851670"/>
            <a:ext cx="1936799" cy="971351"/>
          </a:xfrm>
          <a:prstGeom prst="rect">
            <a:avLst/>
          </a:prstGeom>
        </p:spPr>
      </p:pic>
      <p:pic>
        <p:nvPicPr>
          <p:cNvPr id="11" name="Image 10">
            <a:extLst>
              <a:ext uri="{FF2B5EF4-FFF2-40B4-BE49-F238E27FC236}">
                <a16:creationId xmlns="" xmlns:a16="http://schemas.microsoft.com/office/drawing/2014/main" id="{A8B10F31-F6F3-4A55-A8FF-86BE6DD6B446}"/>
              </a:ext>
            </a:extLst>
          </p:cNvPr>
          <p:cNvPicPr>
            <a:picLocks noChangeAspect="1"/>
          </p:cNvPicPr>
          <p:nvPr/>
        </p:nvPicPr>
        <p:blipFill>
          <a:blip r:embed="rId4"/>
          <a:stretch>
            <a:fillRect/>
          </a:stretch>
        </p:blipFill>
        <p:spPr>
          <a:xfrm>
            <a:off x="1331640" y="3680175"/>
            <a:ext cx="2066925" cy="1247301"/>
          </a:xfrm>
          <a:prstGeom prst="rect">
            <a:avLst/>
          </a:prstGeom>
        </p:spPr>
      </p:pic>
      <p:pic>
        <p:nvPicPr>
          <p:cNvPr id="13" name="Image 12">
            <a:extLst>
              <a:ext uri="{FF2B5EF4-FFF2-40B4-BE49-F238E27FC236}">
                <a16:creationId xmlns="" xmlns:a16="http://schemas.microsoft.com/office/drawing/2014/main" id="{217C34EC-6C69-4A66-868F-C5162EF87668}"/>
              </a:ext>
            </a:extLst>
          </p:cNvPr>
          <p:cNvPicPr>
            <a:picLocks noChangeAspect="1"/>
          </p:cNvPicPr>
          <p:nvPr/>
        </p:nvPicPr>
        <p:blipFill>
          <a:blip r:embed="rId5"/>
          <a:stretch>
            <a:fillRect/>
          </a:stretch>
        </p:blipFill>
        <p:spPr>
          <a:xfrm>
            <a:off x="4313659" y="3717199"/>
            <a:ext cx="1914525" cy="1086799"/>
          </a:xfrm>
          <a:prstGeom prst="rect">
            <a:avLst/>
          </a:prstGeom>
        </p:spPr>
      </p:pic>
      <p:pic>
        <p:nvPicPr>
          <p:cNvPr id="15" name="Image 14">
            <a:extLst>
              <a:ext uri="{FF2B5EF4-FFF2-40B4-BE49-F238E27FC236}">
                <a16:creationId xmlns="" xmlns:a16="http://schemas.microsoft.com/office/drawing/2014/main" id="{FED8792D-82D1-44BC-AA88-E7FBB662AFB8}"/>
              </a:ext>
            </a:extLst>
          </p:cNvPr>
          <p:cNvPicPr>
            <a:picLocks noChangeAspect="1"/>
          </p:cNvPicPr>
          <p:nvPr/>
        </p:nvPicPr>
        <p:blipFill>
          <a:blip r:embed="rId6"/>
          <a:stretch>
            <a:fillRect/>
          </a:stretch>
        </p:blipFill>
        <p:spPr>
          <a:xfrm>
            <a:off x="7092280" y="3717199"/>
            <a:ext cx="2057400" cy="1014791"/>
          </a:xfrm>
          <a:prstGeom prst="rect">
            <a:avLst/>
          </a:prstGeom>
        </p:spPr>
      </p:pic>
      <p:sp>
        <p:nvSpPr>
          <p:cNvPr id="16" name="ZoneTexte 15">
            <a:extLst>
              <a:ext uri="{FF2B5EF4-FFF2-40B4-BE49-F238E27FC236}">
                <a16:creationId xmlns="" xmlns:a16="http://schemas.microsoft.com/office/drawing/2014/main" id="{D3214D0F-DE87-491A-876C-17EDE8A69FED}"/>
              </a:ext>
            </a:extLst>
          </p:cNvPr>
          <p:cNvSpPr txBox="1"/>
          <p:nvPr/>
        </p:nvSpPr>
        <p:spPr>
          <a:xfrm>
            <a:off x="3637936" y="4149936"/>
            <a:ext cx="576064" cy="307777"/>
          </a:xfrm>
          <a:prstGeom prst="rect">
            <a:avLst/>
          </a:prstGeom>
          <a:noFill/>
        </p:spPr>
        <p:txBody>
          <a:bodyPr wrap="square" rtlCol="0">
            <a:spAutoFit/>
          </a:bodyPr>
          <a:lstStyle/>
          <a:p>
            <a:r>
              <a:rPr lang="fr-FR" b="1" dirty="0">
                <a:solidFill>
                  <a:schemeClr val="accent2"/>
                </a:solidFill>
              </a:rPr>
              <a:t>OU</a:t>
            </a:r>
          </a:p>
        </p:txBody>
      </p:sp>
      <p:sp>
        <p:nvSpPr>
          <p:cNvPr id="17" name="ZoneTexte 16">
            <a:extLst>
              <a:ext uri="{FF2B5EF4-FFF2-40B4-BE49-F238E27FC236}">
                <a16:creationId xmlns="" xmlns:a16="http://schemas.microsoft.com/office/drawing/2014/main" id="{ED7E5E55-0CAD-4596-9720-2D548752ABE7}"/>
              </a:ext>
            </a:extLst>
          </p:cNvPr>
          <p:cNvSpPr txBox="1"/>
          <p:nvPr/>
        </p:nvSpPr>
        <p:spPr>
          <a:xfrm>
            <a:off x="6392664" y="4137460"/>
            <a:ext cx="576064" cy="307777"/>
          </a:xfrm>
          <a:prstGeom prst="rect">
            <a:avLst/>
          </a:prstGeom>
          <a:noFill/>
        </p:spPr>
        <p:txBody>
          <a:bodyPr wrap="square" rtlCol="0">
            <a:spAutoFit/>
          </a:bodyPr>
          <a:lstStyle/>
          <a:p>
            <a:r>
              <a:rPr lang="fr-FR" b="1" dirty="0">
                <a:solidFill>
                  <a:schemeClr val="accent2"/>
                </a:solidFill>
              </a:rPr>
              <a:t>OU</a:t>
            </a:r>
          </a:p>
        </p:txBody>
      </p:sp>
    </p:spTree>
    <p:extLst>
      <p:ext uri="{BB962C8B-B14F-4D97-AF65-F5344CB8AC3E}">
        <p14:creationId xmlns="" xmlns:p14="http://schemas.microsoft.com/office/powerpoint/2010/main" val="3006049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Attribut continu</a:t>
            </a:r>
            <a:endParaRPr lang="en" sz="3200" b="1" dirty="0"/>
          </a:p>
        </p:txBody>
      </p:sp>
      <p:sp>
        <p:nvSpPr>
          <p:cNvPr id="551" name="Google Shape;551;p18"/>
          <p:cNvSpPr txBox="1">
            <a:spLocks noGrp="1"/>
          </p:cNvSpPr>
          <p:nvPr>
            <p:ph type="body" idx="1"/>
          </p:nvPr>
        </p:nvSpPr>
        <p:spPr>
          <a:xfrm>
            <a:off x="971600" y="1563638"/>
            <a:ext cx="7632848" cy="3363838"/>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Différentes manières de discrétiser :</a:t>
            </a:r>
          </a:p>
          <a:p>
            <a:pPr lvl="1">
              <a:buFont typeface="Arial" panose="020B0604020202020204" pitchFamily="34" charset="0"/>
              <a:buChar char="•"/>
            </a:pPr>
            <a:r>
              <a:rPr lang="fr-FR" sz="2000" dirty="0"/>
              <a:t>Discrétisation pour former un attribut ordinal.</a:t>
            </a:r>
          </a:p>
          <a:p>
            <a:pPr lvl="1">
              <a:buFont typeface="Arial" panose="020B0604020202020204" pitchFamily="34" charset="0"/>
              <a:buChar char="•"/>
            </a:pPr>
            <a:r>
              <a:rPr lang="fr-FR" sz="2000" dirty="0"/>
              <a:t>Décision binaire</a:t>
            </a:r>
          </a:p>
          <a:p>
            <a:pPr lvl="0">
              <a:buFont typeface="Wingdings" panose="05000000000000000000" pitchFamily="2" charset="2"/>
              <a:buChar char="§"/>
            </a:pPr>
            <a:endParaRPr lang="fr-FR" sz="2000"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22</a:t>
            </a:fld>
            <a:endParaRPr/>
          </a:p>
        </p:txBody>
      </p:sp>
      <p:pic>
        <p:nvPicPr>
          <p:cNvPr id="3" name="Image 2">
            <a:extLst>
              <a:ext uri="{FF2B5EF4-FFF2-40B4-BE49-F238E27FC236}">
                <a16:creationId xmlns="" xmlns:a16="http://schemas.microsoft.com/office/drawing/2014/main" id="{D4B3CAD0-19DC-4C95-8861-7BEBBF466E61}"/>
              </a:ext>
            </a:extLst>
          </p:cNvPr>
          <p:cNvPicPr>
            <a:picLocks noChangeAspect="1"/>
          </p:cNvPicPr>
          <p:nvPr/>
        </p:nvPicPr>
        <p:blipFill>
          <a:blip r:embed="rId3"/>
          <a:stretch>
            <a:fillRect/>
          </a:stretch>
        </p:blipFill>
        <p:spPr>
          <a:xfrm>
            <a:off x="1763687" y="2682812"/>
            <a:ext cx="5976665" cy="2460687"/>
          </a:xfrm>
          <a:prstGeom prst="rect">
            <a:avLst/>
          </a:prstGeom>
        </p:spPr>
      </p:pic>
    </p:spTree>
    <p:extLst>
      <p:ext uri="{BB962C8B-B14F-4D97-AF65-F5344CB8AC3E}">
        <p14:creationId xmlns="" xmlns:p14="http://schemas.microsoft.com/office/powerpoint/2010/main" val="23246513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Choix de l’attribut discriminant</a:t>
            </a:r>
            <a:endParaRPr lang="en" sz="3200" b="1" dirty="0"/>
          </a:p>
        </p:txBody>
      </p:sp>
      <p:sp>
        <p:nvSpPr>
          <p:cNvPr id="551" name="Google Shape;551;p18"/>
          <p:cNvSpPr txBox="1">
            <a:spLocks noGrp="1"/>
          </p:cNvSpPr>
          <p:nvPr>
            <p:ph type="body" idx="1"/>
          </p:nvPr>
        </p:nvSpPr>
        <p:spPr>
          <a:xfrm>
            <a:off x="971600" y="1440160"/>
            <a:ext cx="7532654" cy="3507854"/>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1900" dirty="0"/>
              <a:t>On privilégie les nœuds avec des distributions homogènes.</a:t>
            </a:r>
          </a:p>
          <a:p>
            <a:pPr lvl="0">
              <a:buFont typeface="Wingdings" panose="05000000000000000000" pitchFamily="2" charset="2"/>
              <a:buChar char="§"/>
            </a:pPr>
            <a:endParaRPr lang="fr-FR" sz="1900" dirty="0"/>
          </a:p>
          <a:p>
            <a:pPr lvl="0">
              <a:buFont typeface="Wingdings" panose="05000000000000000000" pitchFamily="2" charset="2"/>
              <a:buChar char="§"/>
            </a:pPr>
            <a:endParaRPr lang="fr-FR" sz="1900" dirty="0"/>
          </a:p>
          <a:p>
            <a:pPr lvl="0">
              <a:buFont typeface="Wingdings" panose="05000000000000000000" pitchFamily="2" charset="2"/>
              <a:buChar char="§"/>
            </a:pPr>
            <a:endParaRPr lang="fr-FR" sz="1900" dirty="0"/>
          </a:p>
          <a:p>
            <a:pPr lvl="0">
              <a:buFont typeface="Wingdings" panose="05000000000000000000" pitchFamily="2" charset="2"/>
              <a:buChar char="§"/>
            </a:pPr>
            <a:endParaRPr lang="fr-FR" sz="1900" dirty="0"/>
          </a:p>
          <a:p>
            <a:pPr lvl="0">
              <a:buFont typeface="Wingdings" panose="05000000000000000000" pitchFamily="2" charset="2"/>
              <a:buChar char="§"/>
            </a:pPr>
            <a:r>
              <a:rPr lang="fr-FR" sz="1900" dirty="0"/>
              <a:t>Mesure du désordre d’un nœud:</a:t>
            </a:r>
          </a:p>
          <a:p>
            <a:pPr lvl="1">
              <a:buFont typeface="Arial" panose="020B0604020202020204" pitchFamily="34" charset="0"/>
              <a:buChar char="•"/>
            </a:pPr>
            <a:r>
              <a:rPr lang="fr-FR" sz="1900" dirty="0"/>
              <a:t>Indice de Gini</a:t>
            </a:r>
          </a:p>
          <a:p>
            <a:pPr lvl="1">
              <a:buFont typeface="Arial" panose="020B0604020202020204" pitchFamily="34" charset="0"/>
              <a:buChar char="•"/>
            </a:pPr>
            <a:r>
              <a:rPr lang="fr-FR" sz="1900" dirty="0"/>
              <a:t>Entropie</a:t>
            </a:r>
          </a:p>
          <a:p>
            <a:pPr lvl="1">
              <a:buFont typeface="Arial" panose="020B0604020202020204" pitchFamily="34" charset="0"/>
              <a:buChar char="•"/>
            </a:pPr>
            <a:r>
              <a:rPr lang="fr-FR" sz="1900" dirty="0"/>
              <a:t>Taux de classification</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23</a:t>
            </a:fld>
            <a:endParaRPr/>
          </a:p>
        </p:txBody>
      </p:sp>
      <p:sp>
        <p:nvSpPr>
          <p:cNvPr id="2" name="ZoneTexte 1">
            <a:extLst>
              <a:ext uri="{FF2B5EF4-FFF2-40B4-BE49-F238E27FC236}">
                <a16:creationId xmlns="" xmlns:a16="http://schemas.microsoft.com/office/drawing/2014/main" id="{47A92538-3AB8-47AA-8266-DA4BF2A20CF1}"/>
              </a:ext>
            </a:extLst>
          </p:cNvPr>
          <p:cNvSpPr txBox="1"/>
          <p:nvPr/>
        </p:nvSpPr>
        <p:spPr>
          <a:xfrm>
            <a:off x="2771800" y="1954003"/>
            <a:ext cx="720080" cy="584775"/>
          </a:xfrm>
          <a:prstGeom prst="rect">
            <a:avLst/>
          </a:prstGeom>
          <a:noFill/>
          <a:ln>
            <a:solidFill>
              <a:schemeClr val="accent1"/>
            </a:solidFill>
          </a:ln>
        </p:spPr>
        <p:txBody>
          <a:bodyPr wrap="square" rtlCol="0">
            <a:spAutoFit/>
          </a:bodyPr>
          <a:lstStyle/>
          <a:p>
            <a:r>
              <a:rPr lang="fr-FR" sz="1600" b="1" dirty="0">
                <a:solidFill>
                  <a:schemeClr val="tx2">
                    <a:lumMod val="25000"/>
                  </a:schemeClr>
                </a:solidFill>
              </a:rPr>
              <a:t>C0: 5</a:t>
            </a:r>
          </a:p>
          <a:p>
            <a:r>
              <a:rPr lang="fr-FR" sz="1600" b="1" dirty="0">
                <a:solidFill>
                  <a:schemeClr val="tx2">
                    <a:lumMod val="25000"/>
                  </a:schemeClr>
                </a:solidFill>
              </a:rPr>
              <a:t>C1: 5</a:t>
            </a:r>
          </a:p>
        </p:txBody>
      </p:sp>
      <p:sp>
        <p:nvSpPr>
          <p:cNvPr id="3" name="ZoneTexte 2">
            <a:extLst>
              <a:ext uri="{FF2B5EF4-FFF2-40B4-BE49-F238E27FC236}">
                <a16:creationId xmlns="" xmlns:a16="http://schemas.microsoft.com/office/drawing/2014/main" id="{E516533A-6F25-4E13-A026-83D2FEDBE260}"/>
              </a:ext>
            </a:extLst>
          </p:cNvPr>
          <p:cNvSpPr txBox="1"/>
          <p:nvPr/>
        </p:nvSpPr>
        <p:spPr>
          <a:xfrm>
            <a:off x="5652122" y="1954002"/>
            <a:ext cx="720080" cy="584775"/>
          </a:xfrm>
          <a:prstGeom prst="rect">
            <a:avLst/>
          </a:prstGeom>
          <a:noFill/>
          <a:ln>
            <a:solidFill>
              <a:schemeClr val="accent1"/>
            </a:solidFill>
          </a:ln>
        </p:spPr>
        <p:txBody>
          <a:bodyPr wrap="square" rtlCol="0">
            <a:spAutoFit/>
          </a:bodyPr>
          <a:lstStyle/>
          <a:p>
            <a:r>
              <a:rPr lang="fr-FR" sz="1600" b="1" dirty="0">
                <a:solidFill>
                  <a:schemeClr val="tx2">
                    <a:lumMod val="25000"/>
                  </a:schemeClr>
                </a:solidFill>
              </a:rPr>
              <a:t>C0: 9</a:t>
            </a:r>
          </a:p>
          <a:p>
            <a:r>
              <a:rPr lang="fr-FR" sz="1600" b="1" dirty="0">
                <a:solidFill>
                  <a:schemeClr val="tx2">
                    <a:lumMod val="25000"/>
                  </a:schemeClr>
                </a:solidFill>
              </a:rPr>
              <a:t>C1</a:t>
            </a:r>
            <a:r>
              <a:rPr lang="fr-FR" sz="1600" b="1">
                <a:solidFill>
                  <a:schemeClr val="tx2">
                    <a:lumMod val="25000"/>
                  </a:schemeClr>
                </a:solidFill>
              </a:rPr>
              <a:t>: 1</a:t>
            </a:r>
            <a:endParaRPr lang="fr-FR" sz="1600" b="1" dirty="0">
              <a:solidFill>
                <a:schemeClr val="tx2">
                  <a:lumMod val="25000"/>
                </a:schemeClr>
              </a:solidFill>
            </a:endParaRPr>
          </a:p>
        </p:txBody>
      </p:sp>
      <p:sp>
        <p:nvSpPr>
          <p:cNvPr id="4" name="ZoneTexte 3">
            <a:extLst>
              <a:ext uri="{FF2B5EF4-FFF2-40B4-BE49-F238E27FC236}">
                <a16:creationId xmlns="" xmlns:a16="http://schemas.microsoft.com/office/drawing/2014/main" id="{D02A47C5-469F-4FBD-B9F1-6A5DA1824D44}"/>
              </a:ext>
            </a:extLst>
          </p:cNvPr>
          <p:cNvSpPr txBox="1"/>
          <p:nvPr/>
        </p:nvSpPr>
        <p:spPr>
          <a:xfrm>
            <a:off x="2339752" y="2563039"/>
            <a:ext cx="1805828" cy="584775"/>
          </a:xfrm>
          <a:prstGeom prst="rect">
            <a:avLst/>
          </a:prstGeom>
          <a:noFill/>
        </p:spPr>
        <p:txBody>
          <a:bodyPr wrap="square" rtlCol="0">
            <a:spAutoFit/>
          </a:bodyPr>
          <a:lstStyle/>
          <a:p>
            <a:r>
              <a:rPr lang="fr-FR" sz="1600" i="1" dirty="0">
                <a:solidFill>
                  <a:schemeClr val="dk1"/>
                </a:solidFill>
                <a:latin typeface="Barlow Light"/>
                <a:sym typeface="Barlow Light"/>
              </a:rPr>
              <a:t>Non homogène</a:t>
            </a:r>
          </a:p>
          <a:p>
            <a:r>
              <a:rPr lang="fr-FR" sz="1600" i="1" dirty="0">
                <a:solidFill>
                  <a:schemeClr val="dk1"/>
                </a:solidFill>
                <a:latin typeface="Barlow Light"/>
                <a:sym typeface="Barlow Light"/>
              </a:rPr>
              <a:t>Impureté forte</a:t>
            </a:r>
          </a:p>
        </p:txBody>
      </p:sp>
      <p:sp>
        <p:nvSpPr>
          <p:cNvPr id="5" name="ZoneTexte 4">
            <a:extLst>
              <a:ext uri="{FF2B5EF4-FFF2-40B4-BE49-F238E27FC236}">
                <a16:creationId xmlns="" xmlns:a16="http://schemas.microsoft.com/office/drawing/2014/main" id="{C83D6006-6BE6-48C4-A119-BDB8FD0DF703}"/>
              </a:ext>
            </a:extLst>
          </p:cNvPr>
          <p:cNvSpPr txBox="1"/>
          <p:nvPr/>
        </p:nvSpPr>
        <p:spPr>
          <a:xfrm>
            <a:off x="5389152" y="2563039"/>
            <a:ext cx="1805828" cy="584775"/>
          </a:xfrm>
          <a:prstGeom prst="rect">
            <a:avLst/>
          </a:prstGeom>
          <a:noFill/>
        </p:spPr>
        <p:txBody>
          <a:bodyPr wrap="square" rtlCol="0">
            <a:spAutoFit/>
          </a:bodyPr>
          <a:lstStyle/>
          <a:p>
            <a:r>
              <a:rPr lang="fr-FR" sz="1600" i="1" dirty="0">
                <a:solidFill>
                  <a:schemeClr val="dk1"/>
                </a:solidFill>
                <a:latin typeface="Barlow Light"/>
                <a:sym typeface="Barlow Light"/>
              </a:rPr>
              <a:t>Homogène</a:t>
            </a:r>
          </a:p>
          <a:p>
            <a:r>
              <a:rPr lang="fr-FR" sz="1600" i="1" dirty="0">
                <a:solidFill>
                  <a:schemeClr val="dk1"/>
                </a:solidFill>
                <a:latin typeface="Barlow Light"/>
                <a:sym typeface="Barlow Light"/>
              </a:rPr>
              <a:t>Impureté faible</a:t>
            </a:r>
          </a:p>
        </p:txBody>
      </p:sp>
    </p:spTree>
    <p:extLst>
      <p:ext uri="{BB962C8B-B14F-4D97-AF65-F5344CB8AC3E}">
        <p14:creationId xmlns="" xmlns:p14="http://schemas.microsoft.com/office/powerpoint/2010/main" val="1382980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Mesure du désordre : GINI</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491630"/>
                <a:ext cx="7532654" cy="3507854"/>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1800" dirty="0"/>
                  <a:t>Pour un nœud </a:t>
                </a:r>
                <a:r>
                  <a:rPr lang="fr-FR" sz="1800" b="1" i="1" dirty="0"/>
                  <a:t>t</a:t>
                </a:r>
                <a:r>
                  <a:rPr lang="fr-FR" sz="1800" dirty="0"/>
                  <a:t> donné : Dépend du type d’attribut.</a:t>
                </a:r>
              </a:p>
              <a:p>
                <a:pPr lvl="0">
                  <a:buFont typeface="Wingdings" panose="05000000000000000000" pitchFamily="2" charset="2"/>
                  <a:buChar char="§"/>
                </a:pPr>
                <a:endParaRPr lang="fr-FR" sz="1800" dirty="0"/>
              </a:p>
              <a:p>
                <a:pPr marL="76200" lvl="0" indent="0">
                  <a:buNone/>
                </a:pPr>
                <a:endParaRPr lang="fr-FR" sz="1800" dirty="0"/>
              </a:p>
              <a:p>
                <a:pPr marL="76200" lvl="0" indent="0">
                  <a:buNone/>
                </a:pPr>
                <a:endParaRPr lang="fr-FR" sz="1800" dirty="0"/>
              </a:p>
              <a:p>
                <a:pPr lvl="0">
                  <a:buFont typeface="Wingdings" panose="05000000000000000000" pitchFamily="2" charset="2"/>
                  <a:buChar char="§"/>
                </a:pPr>
                <a:r>
                  <a:rPr lang="fr-FR" sz="1800" dirty="0"/>
                  <a:t>Avec </a:t>
                </a:r>
                <a:r>
                  <a:rPr lang="fr-FR" sz="1800" i="1" dirty="0"/>
                  <a:t>p(</a:t>
                </a:r>
                <a:r>
                  <a:rPr lang="fr-FR" sz="1800" i="1" dirty="0" err="1"/>
                  <a:t>j|t</a:t>
                </a:r>
                <a:r>
                  <a:rPr lang="fr-FR" sz="1800" i="1" dirty="0"/>
                  <a:t>) </a:t>
                </a:r>
                <a:r>
                  <a:rPr lang="fr-FR" sz="1800" dirty="0"/>
                  <a:t>la fréquence relative de la classe j au nœud t.</a:t>
                </a:r>
              </a:p>
              <a:p>
                <a:pPr lvl="1">
                  <a:buFont typeface="Wingdings" panose="05000000000000000000" pitchFamily="2" charset="2"/>
                  <a:buChar char="§"/>
                </a:pPr>
                <a:r>
                  <a:rPr lang="fr-FR" sz="1800" dirty="0"/>
                  <a:t>Maximum : </a:t>
                </a:r>
                <a14:m>
                  <m:oMath xmlns:m="http://schemas.openxmlformats.org/officeDocument/2006/math">
                    <m:r>
                      <a:rPr lang="fr-FR" sz="1800" i="1" smtClean="0">
                        <a:effectLst/>
                        <a:latin typeface="Cambria Math" panose="02040503050406030204" pitchFamily="18" charset="0"/>
                        <a:ea typeface="Calibri" panose="020F0502020204030204" pitchFamily="34" charset="0"/>
                        <a:cs typeface="Cambria Math" panose="02040503050406030204" pitchFamily="18" charset="0"/>
                      </a:rPr>
                      <m:t>1−</m:t>
                    </m:r>
                    <m:f>
                      <m:fPr>
                        <m:ctrlPr>
                          <a:rPr lang="fr-FR" sz="1800" i="1">
                            <a:effectLst/>
                            <a:latin typeface="Cambria Math" panose="02040503050406030204" pitchFamily="18" charset="0"/>
                          </a:rPr>
                        </m:ctrlPr>
                      </m:fPr>
                      <m:num>
                        <m:r>
                          <a:rPr lang="fr-FR" sz="1800">
                            <a:effectLst/>
                            <a:latin typeface="Cambria Math" panose="02040503050406030204" pitchFamily="18" charset="0"/>
                            <a:ea typeface="Calibri" panose="020F0502020204030204" pitchFamily="34" charset="0"/>
                            <a:cs typeface="Cambria Math" panose="02040503050406030204" pitchFamily="18" charset="0"/>
                          </a:rPr>
                          <m:t>1</m:t>
                        </m:r>
                      </m:num>
                      <m:den>
                        <m:sSub>
                          <m:sSubPr>
                            <m:ctrlPr>
                              <a:rPr lang="fr-FR"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fr-FR" sz="18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den>
                    </m:f>
                  </m:oMath>
                </a14:m>
                <a:r>
                  <a:rPr lang="fr-FR" sz="1800" dirty="0"/>
                  <a:t>  quand tous les enregistrements sont distribués de manière égale parmi toutes les classes.</a:t>
                </a:r>
              </a:p>
              <a:p>
                <a:pPr lvl="1">
                  <a:buFont typeface="Wingdings" panose="05000000000000000000" pitchFamily="2" charset="2"/>
                  <a:buChar char="§"/>
                </a:pPr>
                <a:r>
                  <a:rPr lang="fr-FR" sz="1800" dirty="0"/>
                  <a:t>Minimum : 0.0 quand tous les enregistrements appartiennent à une classe.</a:t>
                </a:r>
              </a:p>
              <a:p>
                <a:pPr lvl="0">
                  <a:buFont typeface="Wingdings" panose="05000000000000000000" pitchFamily="2" charset="2"/>
                  <a:buChar char="§"/>
                </a:pPr>
                <a:endParaRPr lang="fr-FR" sz="18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491630"/>
                <a:ext cx="7532654" cy="3507854"/>
              </a:xfrm>
              <a:prstGeom prst="rect">
                <a:avLst/>
              </a:prstGeom>
              <a:blipFill>
                <a:blip r:embed="rId3"/>
                <a:stretch>
                  <a:fillRect l="-1214" t="-1565" r="-2346"/>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24</a:t>
            </a:fld>
            <a:endParaRPr/>
          </a:p>
        </p:txBody>
      </p:sp>
      <p:pic>
        <p:nvPicPr>
          <p:cNvPr id="3" name="Image 2">
            <a:extLst>
              <a:ext uri="{FF2B5EF4-FFF2-40B4-BE49-F238E27FC236}">
                <a16:creationId xmlns="" xmlns:a16="http://schemas.microsoft.com/office/drawing/2014/main" id="{03240645-295B-468E-B578-D43071CF16CB}"/>
              </a:ext>
            </a:extLst>
          </p:cNvPr>
          <p:cNvPicPr>
            <a:picLocks noChangeAspect="1"/>
          </p:cNvPicPr>
          <p:nvPr/>
        </p:nvPicPr>
        <p:blipFill>
          <a:blip r:embed="rId4"/>
          <a:stretch>
            <a:fillRect/>
          </a:stretch>
        </p:blipFill>
        <p:spPr>
          <a:xfrm>
            <a:off x="2987824" y="2070547"/>
            <a:ext cx="2925431" cy="789235"/>
          </a:xfrm>
          <a:prstGeom prst="rect">
            <a:avLst/>
          </a:prstGeom>
        </p:spPr>
      </p:pic>
    </p:spTree>
    <p:extLst>
      <p:ext uri="{BB962C8B-B14F-4D97-AF65-F5344CB8AC3E}">
        <p14:creationId xmlns="" xmlns:p14="http://schemas.microsoft.com/office/powerpoint/2010/main" val="3168099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Mesure du désordre : GINI</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25</a:t>
            </a:fld>
            <a:endParaRPr/>
          </a:p>
        </p:txBody>
      </p:sp>
      <p:pic>
        <p:nvPicPr>
          <p:cNvPr id="6" name="Image 5">
            <a:extLst>
              <a:ext uri="{FF2B5EF4-FFF2-40B4-BE49-F238E27FC236}">
                <a16:creationId xmlns="" xmlns:a16="http://schemas.microsoft.com/office/drawing/2014/main" id="{B66D68B4-1750-4279-955C-2C9C4567D624}"/>
              </a:ext>
            </a:extLst>
          </p:cNvPr>
          <p:cNvPicPr>
            <a:picLocks noChangeAspect="1"/>
          </p:cNvPicPr>
          <p:nvPr/>
        </p:nvPicPr>
        <p:blipFill>
          <a:blip r:embed="rId3"/>
          <a:stretch>
            <a:fillRect/>
          </a:stretch>
        </p:blipFill>
        <p:spPr>
          <a:xfrm>
            <a:off x="1691680" y="1556112"/>
            <a:ext cx="6039312" cy="3103870"/>
          </a:xfrm>
          <a:prstGeom prst="rect">
            <a:avLst/>
          </a:prstGeom>
        </p:spPr>
      </p:pic>
    </p:spTree>
    <p:extLst>
      <p:ext uri="{BB962C8B-B14F-4D97-AF65-F5344CB8AC3E}">
        <p14:creationId xmlns="" xmlns:p14="http://schemas.microsoft.com/office/powerpoint/2010/main" val="35173282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Mesure du désordre : Gain de GINI</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491630"/>
                <a:ext cx="7532654" cy="3507854"/>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1800" dirty="0"/>
                  <a:t>Utilisé dans les algorithmes CART, SPLIQ et SPRINT.</a:t>
                </a:r>
              </a:p>
              <a:p>
                <a:pPr lvl="0">
                  <a:buFont typeface="Wingdings" panose="05000000000000000000" pitchFamily="2" charset="2"/>
                  <a:buChar char="§"/>
                </a:pPr>
                <a:r>
                  <a:rPr lang="fr-FR" sz="1800" dirty="0"/>
                  <a:t>Calculer le </a:t>
                </a:r>
                <a:r>
                  <a:rPr lang="fr-FR" sz="1800" b="1" dirty="0"/>
                  <a:t>Gain de Gini </a:t>
                </a:r>
                <a:r>
                  <a:rPr lang="fr-FR" sz="1800" dirty="0"/>
                  <a:t>et choisir le nœud qui a le plus petit Gain,</a:t>
                </a:r>
              </a:p>
              <a:p>
                <a:pPr lvl="0">
                  <a:buFont typeface="Wingdings" panose="05000000000000000000" pitchFamily="2" charset="2"/>
                  <a:buChar char="§"/>
                </a:pPr>
                <a:r>
                  <a:rPr lang="fr-FR" sz="1800" dirty="0"/>
                  <a:t>Quand un nœud </a:t>
                </a:r>
                <a:r>
                  <a:rPr lang="fr-FR" sz="1800" b="1" i="1" dirty="0"/>
                  <a:t>p</a:t>
                </a:r>
                <a:r>
                  <a:rPr lang="fr-FR" sz="1800" dirty="0"/>
                  <a:t> est divisé en </a:t>
                </a:r>
                <a:r>
                  <a:rPr lang="fr-FR" sz="1800" b="1" i="1" dirty="0"/>
                  <a:t>k</a:t>
                </a:r>
                <a:r>
                  <a:rPr lang="fr-FR" sz="1800" dirty="0"/>
                  <a:t> partitions, la qualité de la division est calculée par </a:t>
                </a:r>
              </a:p>
              <a:p>
                <a:pPr marL="76200" lvl="0" indent="0">
                  <a:buNone/>
                </a:pPr>
                <a14:m>
                  <m:oMathPara xmlns:m="http://schemas.openxmlformats.org/officeDocument/2006/math">
                    <m:oMathParaPr>
                      <m:jc m:val="centerGroup"/>
                    </m:oMathParaPr>
                    <m:oMath xmlns:m="http://schemas.openxmlformats.org/officeDocument/2006/math">
                      <m:sSub>
                        <m:sSubPr>
                          <m:ctrlPr>
                            <a:rPr lang="fr-FR" sz="2000" i="1" smtClean="0">
                              <a:effectLst/>
                              <a:latin typeface="Cambria Math" panose="02040503050406030204" pitchFamily="18" charset="0"/>
                              <a:cs typeface="Cambria Math" panose="02040503050406030204" pitchFamily="18" charset="0"/>
                            </a:rPr>
                          </m:ctrlPr>
                        </m:sSubPr>
                        <m:e>
                          <m:r>
                            <a:rPr lang="fr-FR" sz="2000" i="1">
                              <a:effectLst/>
                              <a:latin typeface="Cambria Math" panose="02040503050406030204" pitchFamily="18" charset="0"/>
                              <a:ea typeface="Calibri" panose="020F0502020204030204" pitchFamily="34" charset="0"/>
                              <a:cs typeface="Cambria Math" panose="02040503050406030204" pitchFamily="18" charset="0"/>
                            </a:rPr>
                            <m:t>𝐺𝑎𝑖𝑛</m:t>
                          </m:r>
                          <m:r>
                            <a:rPr lang="fr-FR" sz="2000" i="1">
                              <a:effectLst/>
                              <a:latin typeface="Cambria Math" panose="02040503050406030204" pitchFamily="18" charset="0"/>
                              <a:ea typeface="Calibri" panose="020F0502020204030204" pitchFamily="34" charset="0"/>
                              <a:cs typeface="Cambria Math" panose="02040503050406030204" pitchFamily="18" charset="0"/>
                            </a:rPr>
                            <m:t> </m:t>
                          </m:r>
                          <m:r>
                            <a:rPr lang="fr-FR" sz="2000" i="1">
                              <a:effectLst/>
                              <a:latin typeface="Cambria Math" panose="02040503050406030204" pitchFamily="18" charset="0"/>
                              <a:ea typeface="Calibri" panose="020F0502020204030204" pitchFamily="34" charset="0"/>
                              <a:cs typeface="Cambria Math" panose="02040503050406030204" pitchFamily="18" charset="0"/>
                            </a:rPr>
                            <m:t>𝑑𝑒</m:t>
                          </m:r>
                          <m:r>
                            <a:rPr lang="fr-FR" sz="2000" i="1">
                              <a:effectLst/>
                              <a:latin typeface="Cambria Math" panose="02040503050406030204" pitchFamily="18" charset="0"/>
                              <a:ea typeface="Calibri" panose="020F0502020204030204" pitchFamily="34" charset="0"/>
                              <a:cs typeface="Cambria Math" panose="02040503050406030204" pitchFamily="18" charset="0"/>
                            </a:rPr>
                            <m:t> </m:t>
                          </m:r>
                          <m:r>
                            <a:rPr lang="fr-FR" sz="2000" i="1">
                              <a:effectLst/>
                              <a:latin typeface="Cambria Math" panose="02040503050406030204" pitchFamily="18" charset="0"/>
                              <a:ea typeface="Calibri" panose="020F0502020204030204" pitchFamily="34" charset="0"/>
                              <a:cs typeface="Cambria Math" panose="02040503050406030204" pitchFamily="18" charset="0"/>
                            </a:rPr>
                            <m:t>𝐺𝐼𝑁𝐼</m:t>
                          </m:r>
                        </m:e>
                        <m:sub>
                          <m:r>
                            <a:rPr lang="fr-FR" sz="2000" i="1">
                              <a:effectLst/>
                              <a:latin typeface="Cambria Math" panose="02040503050406030204" pitchFamily="18" charset="0"/>
                              <a:ea typeface="Calibri" panose="020F0502020204030204" pitchFamily="34" charset="0"/>
                              <a:cs typeface="Cambria Math" panose="02040503050406030204" pitchFamily="18" charset="0"/>
                            </a:rPr>
                            <m:t>𝑝</m:t>
                          </m:r>
                        </m:sub>
                      </m:sSub>
                      <m:r>
                        <a:rPr lang="fr-FR" sz="2000" i="1">
                          <a:effectLst/>
                          <a:latin typeface="Cambria Math" panose="02040503050406030204" pitchFamily="18" charset="0"/>
                          <a:ea typeface="Calibri" panose="020F0502020204030204" pitchFamily="34" charset="0"/>
                          <a:cs typeface="Cambria Math" panose="02040503050406030204" pitchFamily="18" charset="0"/>
                        </a:rPr>
                        <m:t>=</m:t>
                      </m:r>
                      <m:nary>
                        <m:naryPr>
                          <m:chr m:val="∑"/>
                          <m:limLoc m:val="undOvr"/>
                          <m:ctrlPr>
                            <a:rPr lang="fr-FR" sz="2000" i="1">
                              <a:effectLst/>
                              <a:latin typeface="Cambria Math" panose="02040503050406030204" pitchFamily="18" charset="0"/>
                              <a:cs typeface="Cambria Math" panose="02040503050406030204" pitchFamily="18" charset="0"/>
                            </a:rPr>
                          </m:ctrlPr>
                        </m:naryPr>
                        <m:sub>
                          <m:r>
                            <a:rPr lang="fr-FR" sz="2000" i="1">
                              <a:effectLst/>
                              <a:latin typeface="Cambria Math" panose="02040503050406030204" pitchFamily="18" charset="0"/>
                              <a:ea typeface="Calibri" panose="020F0502020204030204" pitchFamily="34" charset="0"/>
                              <a:cs typeface="Cambria Math" panose="02040503050406030204" pitchFamily="18" charset="0"/>
                            </a:rPr>
                            <m:t>𝑖</m:t>
                          </m:r>
                          <m:r>
                            <a:rPr lang="fr-FR" sz="2000" i="1">
                              <a:effectLst/>
                              <a:latin typeface="Cambria Math" panose="02040503050406030204" pitchFamily="18" charset="0"/>
                              <a:ea typeface="Calibri" panose="020F0502020204030204" pitchFamily="34" charset="0"/>
                              <a:cs typeface="Cambria Math" panose="02040503050406030204" pitchFamily="18" charset="0"/>
                            </a:rPr>
                            <m:t>=1</m:t>
                          </m:r>
                        </m:sub>
                        <m:sup>
                          <m:r>
                            <a:rPr lang="fr-FR" sz="2000" i="1">
                              <a:effectLst/>
                              <a:latin typeface="Cambria Math" panose="02040503050406030204" pitchFamily="18" charset="0"/>
                              <a:ea typeface="Calibri" panose="020F0502020204030204" pitchFamily="34" charset="0"/>
                              <a:cs typeface="Cambria Math" panose="02040503050406030204" pitchFamily="18" charset="0"/>
                            </a:rPr>
                            <m:t>𝑘</m:t>
                          </m:r>
                        </m:sup>
                        <m:e>
                          <m:f>
                            <m:fPr>
                              <m:ctrlPr>
                                <a:rPr lang="fr-FR" sz="2000" i="1">
                                  <a:effectLst/>
                                  <a:latin typeface="Cambria Math" panose="02040503050406030204" pitchFamily="18" charset="0"/>
                                  <a:cs typeface="Cambria Math" panose="02040503050406030204" pitchFamily="18" charset="0"/>
                                </a:rPr>
                              </m:ctrlPr>
                            </m:fPr>
                            <m:num>
                              <m:sSub>
                                <m:sSubPr>
                                  <m:ctrlPr>
                                    <a:rPr lang="fr-FR" sz="2000" i="1">
                                      <a:effectLst/>
                                      <a:latin typeface="Cambria Math" panose="02040503050406030204" pitchFamily="18" charset="0"/>
                                      <a:cs typeface="Cambria Math" panose="02040503050406030204" pitchFamily="18" charset="0"/>
                                    </a:rPr>
                                  </m:ctrlPr>
                                </m:sSubPr>
                                <m:e>
                                  <m:r>
                                    <a:rPr lang="fr-FR" sz="2000" i="1">
                                      <a:effectLst/>
                                      <a:latin typeface="Cambria Math" panose="02040503050406030204" pitchFamily="18" charset="0"/>
                                      <a:ea typeface="Calibri" panose="020F0502020204030204" pitchFamily="34" charset="0"/>
                                      <a:cs typeface="Cambria Math" panose="02040503050406030204" pitchFamily="18" charset="0"/>
                                    </a:rPr>
                                    <m:t>𝑛</m:t>
                                  </m:r>
                                </m:e>
                                <m:sub>
                                  <m:r>
                                    <a:rPr lang="fr-FR" sz="2000" i="1">
                                      <a:effectLst/>
                                      <a:latin typeface="Cambria Math" panose="02040503050406030204" pitchFamily="18" charset="0"/>
                                      <a:ea typeface="Calibri" panose="020F0502020204030204" pitchFamily="34" charset="0"/>
                                      <a:cs typeface="Cambria Math" panose="02040503050406030204" pitchFamily="18" charset="0"/>
                                    </a:rPr>
                                    <m:t>𝑖</m:t>
                                  </m:r>
                                </m:sub>
                              </m:sSub>
                            </m:num>
                            <m:den>
                              <m:r>
                                <a:rPr lang="fr-FR" sz="2000" i="1">
                                  <a:effectLst/>
                                  <a:latin typeface="Cambria Math" panose="02040503050406030204" pitchFamily="18" charset="0"/>
                                  <a:ea typeface="Calibri" panose="020F0502020204030204" pitchFamily="34" charset="0"/>
                                  <a:cs typeface="Cambria Math" panose="02040503050406030204" pitchFamily="18" charset="0"/>
                                </a:rPr>
                                <m:t>𝑛</m:t>
                              </m:r>
                            </m:den>
                          </m:f>
                        </m:e>
                      </m:nary>
                      <m:r>
                        <a:rPr lang="fr-FR" sz="2000" i="1">
                          <a:effectLst/>
                          <a:latin typeface="Cambria Math" panose="02040503050406030204" pitchFamily="18" charset="0"/>
                          <a:ea typeface="Calibri" panose="020F0502020204030204" pitchFamily="34" charset="0"/>
                          <a:cs typeface="Cambria Math" panose="02040503050406030204" pitchFamily="18" charset="0"/>
                        </a:rPr>
                        <m:t>𝐺𝐼𝑁𝐼</m:t>
                      </m:r>
                      <m:r>
                        <a:rPr lang="fr-FR" sz="2000" i="1">
                          <a:effectLst/>
                          <a:latin typeface="Cambria Math" panose="02040503050406030204" pitchFamily="18" charset="0"/>
                          <a:ea typeface="Calibri" panose="020F0502020204030204" pitchFamily="34" charset="0"/>
                          <a:cs typeface="Cambria Math" panose="02040503050406030204" pitchFamily="18" charset="0"/>
                        </a:rPr>
                        <m:t>(</m:t>
                      </m:r>
                      <m:r>
                        <a:rPr lang="fr-FR" sz="2000" i="1">
                          <a:effectLst/>
                          <a:latin typeface="Cambria Math" panose="02040503050406030204" pitchFamily="18" charset="0"/>
                          <a:ea typeface="Calibri" panose="020F0502020204030204" pitchFamily="34" charset="0"/>
                          <a:cs typeface="Cambria Math" panose="02040503050406030204" pitchFamily="18" charset="0"/>
                        </a:rPr>
                        <m:t>𝑖</m:t>
                      </m:r>
                      <m:r>
                        <a:rPr lang="fr-FR" sz="2000" i="1">
                          <a:effectLst/>
                          <a:latin typeface="Cambria Math" panose="02040503050406030204" pitchFamily="18" charset="0"/>
                          <a:ea typeface="Calibri" panose="020F0502020204030204" pitchFamily="34" charset="0"/>
                          <a:cs typeface="Cambria Math" panose="02040503050406030204" pitchFamily="18" charset="0"/>
                        </a:rPr>
                        <m:t>)</m:t>
                      </m:r>
                    </m:oMath>
                  </m:oMathPara>
                </a14:m>
                <a:endParaRPr lang="fr-FR" sz="2000" dirty="0"/>
              </a:p>
              <a:p>
                <a:pPr lvl="0">
                  <a:buFont typeface="Wingdings" panose="05000000000000000000" pitchFamily="2" charset="2"/>
                  <a:buChar char="§"/>
                </a:pPr>
                <a:r>
                  <a:rPr lang="fr-FR" sz="1800" dirty="0"/>
                  <a:t>Avec:</a:t>
                </a:r>
              </a:p>
              <a:p>
                <a:pPr lvl="1">
                  <a:buFont typeface="Arial" panose="020B0604020202020204" pitchFamily="34" charset="0"/>
                  <a:buChar char="•"/>
                </a:pPr>
                <a14:m>
                  <m:oMath xmlns:m="http://schemas.openxmlformats.org/officeDocument/2006/math">
                    <m:sSub>
                      <m:sSubPr>
                        <m:ctrlPr>
                          <a:rPr lang="fr-FR" sz="1800" i="1" smtClean="0">
                            <a:effectLst/>
                            <a:latin typeface="Cambria Math" panose="02040503050406030204" pitchFamily="18" charset="0"/>
                          </a:rPr>
                        </m:ctrlPr>
                      </m:sSubPr>
                      <m:e>
                        <m:r>
                          <a:rPr lang="fr-FR" sz="1800" i="1">
                            <a:effectLst/>
                            <a:latin typeface="Cambria Math" panose="02040503050406030204" pitchFamily="18" charset="0"/>
                            <a:ea typeface="Calibri" panose="020F0502020204030204" pitchFamily="34" charset="0"/>
                            <a:cs typeface="Arial" panose="020B0604020202020204" pitchFamily="34" charset="0"/>
                          </a:rPr>
                          <m:t>𝑛</m:t>
                        </m:r>
                      </m:e>
                      <m:sub>
                        <m:r>
                          <a:rPr lang="fr-FR" sz="1800" i="1">
                            <a:effectLst/>
                            <a:latin typeface="Cambria Math" panose="02040503050406030204" pitchFamily="18" charset="0"/>
                            <a:ea typeface="Calibri" panose="020F0502020204030204" pitchFamily="34" charset="0"/>
                            <a:cs typeface="Arial" panose="020B0604020202020204" pitchFamily="34" charset="0"/>
                          </a:rPr>
                          <m:t>𝑖</m:t>
                        </m:r>
                      </m:sub>
                    </m:sSub>
                  </m:oMath>
                </a14:m>
                <a:r>
                  <a:rPr lang="fr-FR" sz="1800" dirty="0"/>
                  <a:t>: nombre d’enregistrements au nœud </a:t>
                </a:r>
                <a:r>
                  <a:rPr lang="fr-FR" sz="1800" b="1" i="1" dirty="0"/>
                  <a:t>i</a:t>
                </a:r>
                <a:r>
                  <a:rPr lang="fr-FR" sz="1800" dirty="0"/>
                  <a:t>.</a:t>
                </a:r>
              </a:p>
              <a:p>
                <a:pPr lvl="1">
                  <a:buFont typeface="Arial" panose="020B0604020202020204" pitchFamily="34" charset="0"/>
                  <a:buChar char="•"/>
                </a:pPr>
                <a:r>
                  <a:rPr lang="fr-FR" sz="1800" dirty="0"/>
                  <a:t>n: nombre d’enregistrements au nœud </a:t>
                </a:r>
                <a:r>
                  <a:rPr lang="fr-FR" sz="1800" b="1" i="1" dirty="0"/>
                  <a:t>p</a:t>
                </a:r>
                <a:r>
                  <a:rPr lang="fr-FR" sz="1800" dirty="0"/>
                  <a:t>.</a:t>
                </a:r>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491630"/>
                <a:ext cx="7532654" cy="3507854"/>
              </a:xfrm>
              <a:prstGeom prst="rect">
                <a:avLst/>
              </a:prstGeom>
              <a:blipFill>
                <a:blip r:embed="rId3"/>
                <a:stretch>
                  <a:fillRect l="-1214" t="-1565" b="-4522"/>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26</a:t>
            </a:fld>
            <a:endParaRPr/>
          </a:p>
        </p:txBody>
      </p:sp>
    </p:spTree>
    <p:extLst>
      <p:ext uri="{BB962C8B-B14F-4D97-AF65-F5344CB8AC3E}">
        <p14:creationId xmlns="" xmlns:p14="http://schemas.microsoft.com/office/powerpoint/2010/main" val="1973987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Attributs binaires : indice de Gini</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27</a:t>
            </a:fld>
            <a:endParaRPr/>
          </a:p>
        </p:txBody>
      </p:sp>
      <p:pic>
        <p:nvPicPr>
          <p:cNvPr id="3" name="Image 2">
            <a:extLst>
              <a:ext uri="{FF2B5EF4-FFF2-40B4-BE49-F238E27FC236}">
                <a16:creationId xmlns="" xmlns:a16="http://schemas.microsoft.com/office/drawing/2014/main" id="{34873F0C-7519-4E85-BB77-E66BD37F9B92}"/>
              </a:ext>
            </a:extLst>
          </p:cNvPr>
          <p:cNvPicPr>
            <a:picLocks noChangeAspect="1"/>
          </p:cNvPicPr>
          <p:nvPr/>
        </p:nvPicPr>
        <p:blipFill>
          <a:blip r:embed="rId3"/>
          <a:stretch>
            <a:fillRect/>
          </a:stretch>
        </p:blipFill>
        <p:spPr>
          <a:xfrm>
            <a:off x="2987824" y="1491630"/>
            <a:ext cx="2776897" cy="1420738"/>
          </a:xfrm>
          <a:prstGeom prst="rect">
            <a:avLst/>
          </a:prstGeom>
        </p:spPr>
      </p:pic>
      <p:graphicFrame>
        <p:nvGraphicFramePr>
          <p:cNvPr id="4" name="Tableau 4">
            <a:extLst>
              <a:ext uri="{FF2B5EF4-FFF2-40B4-BE49-F238E27FC236}">
                <a16:creationId xmlns="" xmlns:a16="http://schemas.microsoft.com/office/drawing/2014/main" id="{6B97AA76-748D-4E11-BC1A-1BA229D39C51}"/>
              </a:ext>
            </a:extLst>
          </p:cNvPr>
          <p:cNvGraphicFramePr>
            <a:graphicFrameLocks noGrp="1"/>
          </p:cNvGraphicFramePr>
          <p:nvPr>
            <p:extLst>
              <p:ext uri="{D42A27DB-BD31-4B8C-83A1-F6EECF244321}">
                <p14:modId xmlns="" xmlns:p14="http://schemas.microsoft.com/office/powerpoint/2010/main" val="2429360232"/>
              </p:ext>
            </p:extLst>
          </p:nvPr>
        </p:nvGraphicFramePr>
        <p:xfrm>
          <a:off x="3851920" y="3366680"/>
          <a:ext cx="1440160" cy="1483360"/>
        </p:xfrm>
        <a:graphic>
          <a:graphicData uri="http://schemas.openxmlformats.org/drawingml/2006/table">
            <a:tbl>
              <a:tblPr firstRow="1" bandRow="1">
                <a:tableStyleId>{D7AEECF4-432E-4D26-AA6D-92A1E89D1F9B}</a:tableStyleId>
              </a:tblPr>
              <a:tblGrid>
                <a:gridCol w="469582">
                  <a:extLst>
                    <a:ext uri="{9D8B030D-6E8A-4147-A177-3AD203B41FA5}">
                      <a16:colId xmlns="" xmlns:a16="http://schemas.microsoft.com/office/drawing/2014/main" val="1810775092"/>
                    </a:ext>
                  </a:extLst>
                </a:gridCol>
                <a:gridCol w="485289">
                  <a:extLst>
                    <a:ext uri="{9D8B030D-6E8A-4147-A177-3AD203B41FA5}">
                      <a16:colId xmlns="" xmlns:a16="http://schemas.microsoft.com/office/drawing/2014/main" val="2305690228"/>
                    </a:ext>
                  </a:extLst>
                </a:gridCol>
                <a:gridCol w="485289">
                  <a:extLst>
                    <a:ext uri="{9D8B030D-6E8A-4147-A177-3AD203B41FA5}">
                      <a16:colId xmlns="" xmlns:a16="http://schemas.microsoft.com/office/drawing/2014/main" val="1162828447"/>
                    </a:ext>
                  </a:extLst>
                </a:gridCol>
              </a:tblGrid>
              <a:tr h="370840">
                <a:tc>
                  <a:txBody>
                    <a:bodyPr/>
                    <a:lstStyle/>
                    <a:p>
                      <a:pPr algn="ctr"/>
                      <a:endParaRPr lang="fr-FR" sz="1600" b="1">
                        <a:latin typeface="Barlow Light" panose="020B0604020202020204" charset="0"/>
                      </a:endParaRPr>
                    </a:p>
                  </a:txBody>
                  <a:tcPr/>
                </a:tc>
                <a:tc>
                  <a:txBody>
                    <a:bodyPr/>
                    <a:lstStyle/>
                    <a:p>
                      <a:pPr algn="ctr"/>
                      <a:r>
                        <a:rPr lang="fr-FR" sz="1600" b="1" dirty="0">
                          <a:latin typeface="Barlow Light" panose="020B0604020202020204" charset="0"/>
                        </a:rPr>
                        <a:t>N1</a:t>
                      </a:r>
                    </a:p>
                  </a:txBody>
                  <a:tcPr/>
                </a:tc>
                <a:tc>
                  <a:txBody>
                    <a:bodyPr/>
                    <a:lstStyle/>
                    <a:p>
                      <a:pPr algn="ctr"/>
                      <a:r>
                        <a:rPr lang="fr-FR" sz="1600" b="1" dirty="0">
                          <a:latin typeface="Barlow Light" panose="020B0604020202020204" charset="0"/>
                        </a:rPr>
                        <a:t>N2</a:t>
                      </a:r>
                    </a:p>
                  </a:txBody>
                  <a:tcPr/>
                </a:tc>
                <a:extLst>
                  <a:ext uri="{0D108BD9-81ED-4DB2-BD59-A6C34878D82A}">
                    <a16:rowId xmlns="" xmlns:a16="http://schemas.microsoft.com/office/drawing/2014/main" val="784287024"/>
                  </a:ext>
                </a:extLst>
              </a:tr>
              <a:tr h="370840">
                <a:tc>
                  <a:txBody>
                    <a:bodyPr/>
                    <a:lstStyle/>
                    <a:p>
                      <a:pPr algn="ctr"/>
                      <a:r>
                        <a:rPr lang="fr-FR" sz="1600" b="1" dirty="0">
                          <a:latin typeface="Barlow Light" panose="020B0604020202020204" charset="0"/>
                        </a:rPr>
                        <a:t>C1</a:t>
                      </a:r>
                    </a:p>
                  </a:txBody>
                  <a:tcPr/>
                </a:tc>
                <a:tc>
                  <a:txBody>
                    <a:bodyPr/>
                    <a:lstStyle/>
                    <a:p>
                      <a:pPr algn="ctr"/>
                      <a:r>
                        <a:rPr lang="fr-FR" sz="1600" b="1" dirty="0">
                          <a:latin typeface="Barlow Light" panose="020B0604020202020204" charset="0"/>
                        </a:rPr>
                        <a:t>5</a:t>
                      </a:r>
                    </a:p>
                  </a:txBody>
                  <a:tcPr/>
                </a:tc>
                <a:tc>
                  <a:txBody>
                    <a:bodyPr/>
                    <a:lstStyle/>
                    <a:p>
                      <a:pPr algn="ctr"/>
                      <a:r>
                        <a:rPr lang="fr-FR" sz="1600" b="1" dirty="0">
                          <a:latin typeface="Barlow Light" panose="020B0604020202020204" charset="0"/>
                        </a:rPr>
                        <a:t>1</a:t>
                      </a:r>
                    </a:p>
                  </a:txBody>
                  <a:tcPr/>
                </a:tc>
                <a:extLst>
                  <a:ext uri="{0D108BD9-81ED-4DB2-BD59-A6C34878D82A}">
                    <a16:rowId xmlns="" xmlns:a16="http://schemas.microsoft.com/office/drawing/2014/main" val="2078977749"/>
                  </a:ext>
                </a:extLst>
              </a:tr>
              <a:tr h="370840">
                <a:tc>
                  <a:txBody>
                    <a:bodyPr/>
                    <a:lstStyle/>
                    <a:p>
                      <a:pPr algn="ctr"/>
                      <a:r>
                        <a:rPr lang="fr-FR" sz="1600" b="1" dirty="0">
                          <a:latin typeface="Barlow Light" panose="020B0604020202020204" charset="0"/>
                        </a:rPr>
                        <a:t>C2</a:t>
                      </a:r>
                    </a:p>
                  </a:txBody>
                  <a:tcPr/>
                </a:tc>
                <a:tc>
                  <a:txBody>
                    <a:bodyPr/>
                    <a:lstStyle/>
                    <a:p>
                      <a:pPr algn="ctr"/>
                      <a:r>
                        <a:rPr lang="fr-FR" sz="1600" b="1" dirty="0">
                          <a:latin typeface="Barlow Light" panose="020B0604020202020204" charset="0"/>
                        </a:rPr>
                        <a:t>2</a:t>
                      </a:r>
                    </a:p>
                  </a:txBody>
                  <a:tcPr/>
                </a:tc>
                <a:tc>
                  <a:txBody>
                    <a:bodyPr/>
                    <a:lstStyle/>
                    <a:p>
                      <a:pPr algn="ctr"/>
                      <a:r>
                        <a:rPr lang="fr-FR" sz="1600" b="1" dirty="0">
                          <a:latin typeface="Barlow Light" panose="020B0604020202020204" charset="0"/>
                        </a:rPr>
                        <a:t>4</a:t>
                      </a:r>
                    </a:p>
                  </a:txBody>
                  <a:tcPr/>
                </a:tc>
                <a:extLst>
                  <a:ext uri="{0D108BD9-81ED-4DB2-BD59-A6C34878D82A}">
                    <a16:rowId xmlns="" xmlns:a16="http://schemas.microsoft.com/office/drawing/2014/main" val="1680427869"/>
                  </a:ext>
                </a:extLst>
              </a:tr>
              <a:tr h="370840">
                <a:tc gridSpan="3">
                  <a:txBody>
                    <a:bodyPr/>
                    <a:lstStyle/>
                    <a:p>
                      <a:pPr algn="ctr"/>
                      <a:r>
                        <a:rPr lang="fr-FR" sz="1600" b="1" dirty="0">
                          <a:latin typeface="Barlow Light" panose="020B0604020202020204" charset="0"/>
                        </a:rPr>
                        <a:t>Gain= 0,37</a:t>
                      </a:r>
                    </a:p>
                  </a:txBody>
                  <a:tcPr/>
                </a:tc>
                <a:tc hMerge="1">
                  <a:txBody>
                    <a:bodyPr/>
                    <a:lstStyle/>
                    <a:p>
                      <a:pPr algn="ctr"/>
                      <a:endParaRPr lang="fr-FR" sz="1600" b="1" dirty="0">
                        <a:latin typeface="Barlow Light" panose="020B0604020202020204" charset="0"/>
                      </a:endParaRPr>
                    </a:p>
                  </a:txBody>
                  <a:tcPr/>
                </a:tc>
                <a:tc hMerge="1">
                  <a:txBody>
                    <a:bodyPr/>
                    <a:lstStyle/>
                    <a:p>
                      <a:pPr algn="ctr"/>
                      <a:endParaRPr lang="fr-FR" sz="1600" b="1" dirty="0">
                        <a:latin typeface="Barlow Light" panose="020B0604020202020204" charset="0"/>
                      </a:endParaRPr>
                    </a:p>
                  </a:txBody>
                  <a:tcPr/>
                </a:tc>
                <a:extLst>
                  <a:ext uri="{0D108BD9-81ED-4DB2-BD59-A6C34878D82A}">
                    <a16:rowId xmlns="" xmlns:a16="http://schemas.microsoft.com/office/drawing/2014/main" val="1249126144"/>
                  </a:ext>
                </a:extLst>
              </a:tr>
            </a:tbl>
          </a:graphicData>
        </a:graphic>
      </p:graphicFrame>
      <mc:AlternateContent xmlns:mc="http://schemas.openxmlformats.org/markup-compatibility/2006">
        <mc:Choice xmlns="" xmlns:a14="http://schemas.microsoft.com/office/drawing/2010/main" Requires="a14">
          <p:sp>
            <p:nvSpPr>
              <p:cNvPr id="5" name="ZoneTexte 4">
                <a:extLst>
                  <a:ext uri="{FF2B5EF4-FFF2-40B4-BE49-F238E27FC236}">
                    <a16:creationId xmlns:a16="http://schemas.microsoft.com/office/drawing/2014/main" id="{41BBCB92-77F8-434F-86DF-6A7A4DDE5C91}"/>
                  </a:ext>
                </a:extLst>
              </p:cNvPr>
              <p:cNvSpPr txBox="1"/>
              <p:nvPr/>
            </p:nvSpPr>
            <p:spPr>
              <a:xfrm>
                <a:off x="1077647" y="3465045"/>
                <a:ext cx="2304256" cy="1384995"/>
              </a:xfrm>
              <a:prstGeom prst="rect">
                <a:avLst/>
              </a:prstGeom>
              <a:noFill/>
            </p:spPr>
            <p:txBody>
              <a:bodyPr wrap="square" rtlCol="0">
                <a:spAutoFit/>
              </a:bodyPr>
              <a:lstStyle/>
              <a:p>
                <a:r>
                  <a:rPr lang="fr-FR" b="1" dirty="0">
                    <a:solidFill>
                      <a:schemeClr val="accent3">
                        <a:lumMod val="50000"/>
                      </a:schemeClr>
                    </a:solidFill>
                  </a:rPr>
                  <a:t>Gini(N1)</a:t>
                </a:r>
                <a:r>
                  <a:rPr lang="fr-FR" b="1" dirty="0"/>
                  <a:t>= 1-</a:t>
                </a:r>
                <a14:m>
                  <m:oMath xmlns:m="http://schemas.openxmlformats.org/officeDocument/2006/math">
                    <m:sSup>
                      <m:sSupPr>
                        <m:ctrlPr>
                          <a:rPr lang="fr-FR" b="1" i="1" smtClean="0">
                            <a:latin typeface="Cambria Math" panose="02040503050406030204" pitchFamily="18" charset="0"/>
                          </a:rPr>
                        </m:ctrlPr>
                      </m:sSupPr>
                      <m:e>
                        <m:r>
                          <m:rPr>
                            <m:nor/>
                          </m:rPr>
                          <a:rPr lang="fr-FR" b="1" dirty="0"/>
                          <m:t>(5/7)</m:t>
                        </m:r>
                      </m:e>
                      <m:sup>
                        <m:r>
                          <a:rPr lang="fr-FR" b="1" i="1" smtClean="0">
                            <a:latin typeface="Cambria Math" panose="02040503050406030204" pitchFamily="18" charset="0"/>
                          </a:rPr>
                          <m:t>𝟐</m:t>
                        </m:r>
                      </m:sup>
                    </m:sSup>
                    <m:r>
                      <a:rPr lang="fr-FR" b="1" i="1" smtClean="0">
                        <a:latin typeface="Cambria Math" panose="02040503050406030204" pitchFamily="18" charset="0"/>
                      </a:rPr>
                      <m:t> −</m:t>
                    </m:r>
                    <m:sSup>
                      <m:sSupPr>
                        <m:ctrlPr>
                          <a:rPr lang="fr-FR" b="1" i="1">
                            <a:latin typeface="Cambria Math" panose="02040503050406030204" pitchFamily="18" charset="0"/>
                          </a:rPr>
                        </m:ctrlPr>
                      </m:sSupPr>
                      <m:e>
                        <m:r>
                          <m:rPr>
                            <m:nor/>
                          </m:rPr>
                          <a:rPr lang="fr-FR" b="1" dirty="0"/>
                          <m:t>(</m:t>
                        </m:r>
                        <m:r>
                          <m:rPr>
                            <m:nor/>
                          </m:rPr>
                          <a:rPr lang="fr-FR" b="1" i="0" dirty="0" smtClean="0"/>
                          <m:t>2</m:t>
                        </m:r>
                        <m:r>
                          <m:rPr>
                            <m:nor/>
                          </m:rPr>
                          <a:rPr lang="fr-FR" b="1" dirty="0"/>
                          <m:t>/7)</m:t>
                        </m:r>
                      </m:e>
                      <m:sup>
                        <m:r>
                          <a:rPr lang="fr-FR" b="1" i="1">
                            <a:latin typeface="Cambria Math" panose="02040503050406030204" pitchFamily="18" charset="0"/>
                          </a:rPr>
                          <m:t>𝟐</m:t>
                        </m:r>
                      </m:sup>
                    </m:sSup>
                  </m:oMath>
                </a14:m>
                <a:endParaRPr lang="fr-FR" b="1" dirty="0"/>
              </a:p>
              <a:p>
                <a:r>
                  <a:rPr lang="fr-FR" b="1" dirty="0"/>
                  <a:t>             = 0,42</a:t>
                </a:r>
              </a:p>
              <a:p>
                <a:endParaRPr lang="fr-FR" b="1" dirty="0"/>
              </a:p>
              <a:p>
                <a:r>
                  <a:rPr lang="fr-FR" b="1" dirty="0">
                    <a:solidFill>
                      <a:schemeClr val="accent3">
                        <a:lumMod val="50000"/>
                      </a:schemeClr>
                    </a:solidFill>
                  </a:rPr>
                  <a:t>Gini(N2)</a:t>
                </a:r>
                <a:r>
                  <a:rPr lang="fr-FR" b="1" dirty="0"/>
                  <a:t>= 1-</a:t>
                </a:r>
                <a14:m>
                  <m:oMath xmlns:m="http://schemas.openxmlformats.org/officeDocument/2006/math">
                    <m:sSup>
                      <m:sSupPr>
                        <m:ctrlPr>
                          <a:rPr lang="fr-FR" b="1" i="1" smtClean="0">
                            <a:latin typeface="Cambria Math" panose="02040503050406030204" pitchFamily="18" charset="0"/>
                          </a:rPr>
                        </m:ctrlPr>
                      </m:sSupPr>
                      <m:e>
                        <m:r>
                          <m:rPr>
                            <m:nor/>
                          </m:rPr>
                          <a:rPr lang="fr-FR" b="1" dirty="0"/>
                          <m:t>(</m:t>
                        </m:r>
                        <m:r>
                          <m:rPr>
                            <m:nor/>
                          </m:rPr>
                          <a:rPr lang="fr-FR" b="1" i="0" dirty="0" smtClean="0"/>
                          <m:t>1</m:t>
                        </m:r>
                        <m:r>
                          <m:rPr>
                            <m:nor/>
                          </m:rPr>
                          <a:rPr lang="fr-FR" b="1" dirty="0"/>
                          <m:t>/</m:t>
                        </m:r>
                        <m:r>
                          <m:rPr>
                            <m:nor/>
                          </m:rPr>
                          <a:rPr lang="fr-FR" b="1" i="0" dirty="0" smtClean="0"/>
                          <m:t>5</m:t>
                        </m:r>
                        <m:r>
                          <m:rPr>
                            <m:nor/>
                          </m:rPr>
                          <a:rPr lang="fr-FR" b="1" dirty="0"/>
                          <m:t>)</m:t>
                        </m:r>
                      </m:e>
                      <m:sup>
                        <m:r>
                          <a:rPr lang="fr-FR" b="1" i="1" smtClean="0">
                            <a:latin typeface="Cambria Math" panose="02040503050406030204" pitchFamily="18" charset="0"/>
                          </a:rPr>
                          <m:t>𝟐</m:t>
                        </m:r>
                      </m:sup>
                    </m:sSup>
                    <m:r>
                      <a:rPr lang="fr-FR" b="1" i="1" smtClean="0">
                        <a:latin typeface="Cambria Math" panose="02040503050406030204" pitchFamily="18" charset="0"/>
                      </a:rPr>
                      <m:t> −</m:t>
                    </m:r>
                    <m:sSup>
                      <m:sSupPr>
                        <m:ctrlPr>
                          <a:rPr lang="fr-FR" b="1" i="1">
                            <a:latin typeface="Cambria Math" panose="02040503050406030204" pitchFamily="18" charset="0"/>
                          </a:rPr>
                        </m:ctrlPr>
                      </m:sSupPr>
                      <m:e>
                        <m:r>
                          <m:rPr>
                            <m:nor/>
                          </m:rPr>
                          <a:rPr lang="fr-FR" b="1" dirty="0"/>
                          <m:t>(</m:t>
                        </m:r>
                        <m:r>
                          <m:rPr>
                            <m:nor/>
                          </m:rPr>
                          <a:rPr lang="fr-FR" b="1" i="0" dirty="0" smtClean="0"/>
                          <m:t>4</m:t>
                        </m:r>
                        <m:r>
                          <m:rPr>
                            <m:nor/>
                          </m:rPr>
                          <a:rPr lang="fr-FR" b="1" dirty="0"/>
                          <m:t>/</m:t>
                        </m:r>
                        <m:r>
                          <m:rPr>
                            <m:nor/>
                          </m:rPr>
                          <a:rPr lang="fr-FR" b="1" i="0" dirty="0" smtClean="0"/>
                          <m:t>5</m:t>
                        </m:r>
                        <m:r>
                          <m:rPr>
                            <m:nor/>
                          </m:rPr>
                          <a:rPr lang="fr-FR" b="1" dirty="0"/>
                          <m:t>)</m:t>
                        </m:r>
                      </m:e>
                      <m:sup>
                        <m:r>
                          <a:rPr lang="fr-FR" b="1" i="1">
                            <a:latin typeface="Cambria Math" panose="02040503050406030204" pitchFamily="18" charset="0"/>
                          </a:rPr>
                          <m:t>𝟐</m:t>
                        </m:r>
                      </m:sup>
                    </m:sSup>
                  </m:oMath>
                </a14:m>
                <a:endParaRPr lang="fr-FR" b="1" dirty="0"/>
              </a:p>
              <a:p>
                <a:r>
                  <a:rPr lang="fr-FR" b="1" dirty="0"/>
                  <a:t>             = 0,32</a:t>
                </a:r>
              </a:p>
              <a:p>
                <a:endParaRPr lang="fr-FR" b="1" dirty="0"/>
              </a:p>
            </p:txBody>
          </p:sp>
        </mc:Choice>
        <mc:Fallback>
          <p:sp>
            <p:nvSpPr>
              <p:cNvPr id="5" name="ZoneTexte 4">
                <a:extLst>
                  <a:ext uri="{FF2B5EF4-FFF2-40B4-BE49-F238E27FC236}">
                    <a16:creationId xmlns:a14="http://schemas.microsoft.com/office/drawing/2010/main" xmlns="" xmlns:a16="http://schemas.microsoft.com/office/drawing/2014/main" id="{41BBCB92-77F8-434F-86DF-6A7A4DDE5C91}"/>
                  </a:ext>
                </a:extLst>
              </p:cNvPr>
              <p:cNvSpPr txBox="1">
                <a:spLocks noRot="1" noChangeAspect="1" noMove="1" noResize="1" noEditPoints="1" noAdjustHandles="1" noChangeArrowheads="1" noChangeShapeType="1" noTextEdit="1"/>
              </p:cNvSpPr>
              <p:nvPr/>
            </p:nvSpPr>
            <p:spPr>
              <a:xfrm>
                <a:off x="1077647" y="3465045"/>
                <a:ext cx="2304256" cy="1384995"/>
              </a:xfrm>
              <a:prstGeom prst="rect">
                <a:avLst/>
              </a:prstGeom>
              <a:blipFill>
                <a:blip r:embed="rId4"/>
                <a:stretch>
                  <a:fillRect l="-794"/>
                </a:stretch>
              </a:blipFill>
            </p:spPr>
            <p:txBody>
              <a:bodyPr/>
              <a:lstStyle/>
              <a:p>
                <a:r>
                  <a:rPr lang="fr-FR">
                    <a:noFill/>
                  </a:rPr>
                  <a:t> </a:t>
                </a:r>
              </a:p>
            </p:txBody>
          </p:sp>
        </mc:Fallback>
      </mc:AlternateContent>
      <p:sp>
        <p:nvSpPr>
          <p:cNvPr id="7" name="ZoneTexte 6">
            <a:extLst>
              <a:ext uri="{FF2B5EF4-FFF2-40B4-BE49-F238E27FC236}">
                <a16:creationId xmlns="" xmlns:a16="http://schemas.microsoft.com/office/drawing/2014/main" id="{09935B80-0DF6-47C2-9CDD-E2462ABCC843}"/>
              </a:ext>
            </a:extLst>
          </p:cNvPr>
          <p:cNvSpPr txBox="1"/>
          <p:nvPr/>
        </p:nvSpPr>
        <p:spPr>
          <a:xfrm>
            <a:off x="5800067" y="3456169"/>
            <a:ext cx="2704187" cy="738664"/>
          </a:xfrm>
          <a:prstGeom prst="rect">
            <a:avLst/>
          </a:prstGeom>
          <a:noFill/>
        </p:spPr>
        <p:txBody>
          <a:bodyPr wrap="square" rtlCol="0">
            <a:spAutoFit/>
          </a:bodyPr>
          <a:lstStyle/>
          <a:p>
            <a:r>
              <a:rPr lang="fr-FR" b="1" dirty="0" err="1">
                <a:solidFill>
                  <a:schemeClr val="accent3">
                    <a:lumMod val="50000"/>
                  </a:schemeClr>
                </a:solidFill>
              </a:rPr>
              <a:t>Gain_de_GINI</a:t>
            </a:r>
            <a:r>
              <a:rPr lang="fr-FR" b="1" dirty="0">
                <a:solidFill>
                  <a:schemeClr val="accent3">
                    <a:lumMod val="50000"/>
                  </a:schemeClr>
                </a:solidFill>
              </a:rPr>
              <a:t>(B)</a:t>
            </a:r>
          </a:p>
          <a:p>
            <a:r>
              <a:rPr lang="fr-FR" b="1" dirty="0"/>
              <a:t>   = (7/12)*0,42 + (5/12)*0,32</a:t>
            </a:r>
          </a:p>
          <a:p>
            <a:r>
              <a:rPr lang="fr-FR" b="1" dirty="0"/>
              <a:t>   </a:t>
            </a:r>
            <a:r>
              <a:rPr lang="fr-FR" b="1"/>
              <a:t>= 0,37</a:t>
            </a:r>
            <a:endParaRPr lang="fr-FR" b="1" dirty="0"/>
          </a:p>
        </p:txBody>
      </p:sp>
    </p:spTree>
    <p:extLst>
      <p:ext uri="{BB962C8B-B14F-4D97-AF65-F5344CB8AC3E}">
        <p14:creationId xmlns="" xmlns:p14="http://schemas.microsoft.com/office/powerpoint/2010/main" val="3173707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Attributs catégoriques : indice de Gini</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28</a:t>
            </a:fld>
            <a:endParaRPr/>
          </a:p>
        </p:txBody>
      </p:sp>
      <p:pic>
        <p:nvPicPr>
          <p:cNvPr id="6" name="Image 5">
            <a:extLst>
              <a:ext uri="{FF2B5EF4-FFF2-40B4-BE49-F238E27FC236}">
                <a16:creationId xmlns="" xmlns:a16="http://schemas.microsoft.com/office/drawing/2014/main" id="{30A9089D-E25A-41B6-A3A8-E4C1A49DC6A8}"/>
              </a:ext>
            </a:extLst>
          </p:cNvPr>
          <p:cNvPicPr>
            <a:picLocks noChangeAspect="1"/>
          </p:cNvPicPr>
          <p:nvPr/>
        </p:nvPicPr>
        <p:blipFill>
          <a:blip r:embed="rId3"/>
          <a:stretch>
            <a:fillRect/>
          </a:stretch>
        </p:blipFill>
        <p:spPr>
          <a:xfrm>
            <a:off x="1331640" y="1949076"/>
            <a:ext cx="6984775" cy="2638898"/>
          </a:xfrm>
          <a:prstGeom prst="rect">
            <a:avLst/>
          </a:prstGeom>
        </p:spPr>
      </p:pic>
    </p:spTree>
    <p:extLst>
      <p:ext uri="{BB962C8B-B14F-4D97-AF65-F5344CB8AC3E}">
        <p14:creationId xmlns="" xmlns:p14="http://schemas.microsoft.com/office/powerpoint/2010/main" val="38544059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Attributs continus : indice de Gini</a:t>
            </a:r>
            <a:endParaRPr lang="en" sz="3200" b="1" dirty="0"/>
          </a:p>
        </p:txBody>
      </p:sp>
      <p:sp>
        <p:nvSpPr>
          <p:cNvPr id="551" name="Google Shape;551;p18"/>
          <p:cNvSpPr txBox="1">
            <a:spLocks noGrp="1"/>
          </p:cNvSpPr>
          <p:nvPr>
            <p:ph type="body" idx="1"/>
          </p:nvPr>
        </p:nvSpPr>
        <p:spPr>
          <a:xfrm>
            <a:off x="971600" y="1491630"/>
            <a:ext cx="7532654" cy="3507854"/>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1800" dirty="0"/>
              <a:t>Pour chaque attribut:</a:t>
            </a:r>
          </a:p>
          <a:p>
            <a:pPr lvl="1">
              <a:buFont typeface="Arial" panose="020B0604020202020204" pitchFamily="34" charset="0"/>
              <a:buChar char="•"/>
            </a:pPr>
            <a:r>
              <a:rPr lang="fr-FR" sz="1800" dirty="0"/>
              <a:t>Trier les attributs par valeurs</a:t>
            </a:r>
          </a:p>
          <a:p>
            <a:pPr lvl="1">
              <a:buFont typeface="Arial" panose="020B0604020202020204" pitchFamily="34" charset="0"/>
              <a:buChar char="•"/>
            </a:pPr>
            <a:r>
              <a:rPr lang="fr-FR" sz="1800" dirty="0"/>
              <a:t>Scanner linéairement les valeurs , en calculant l’indice de Gini</a:t>
            </a:r>
          </a:p>
          <a:p>
            <a:pPr lvl="1">
              <a:buFont typeface="Arial" panose="020B0604020202020204" pitchFamily="34" charset="0"/>
              <a:buChar char="•"/>
            </a:pPr>
            <a:r>
              <a:rPr lang="fr-FR" sz="1800" dirty="0"/>
              <a:t>Choisir la position qui a le plus petit indice de Gini</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29</a:t>
            </a:fld>
            <a:endParaRPr/>
          </a:p>
        </p:txBody>
      </p:sp>
      <p:pic>
        <p:nvPicPr>
          <p:cNvPr id="3" name="Image 2">
            <a:extLst>
              <a:ext uri="{FF2B5EF4-FFF2-40B4-BE49-F238E27FC236}">
                <a16:creationId xmlns="" xmlns:a16="http://schemas.microsoft.com/office/drawing/2014/main" id="{0E0EAE99-027D-4A5B-B659-D85A2D4FE569}"/>
              </a:ext>
            </a:extLst>
          </p:cNvPr>
          <p:cNvPicPr>
            <a:picLocks noChangeAspect="1"/>
          </p:cNvPicPr>
          <p:nvPr/>
        </p:nvPicPr>
        <p:blipFill>
          <a:blip r:embed="rId3"/>
          <a:stretch>
            <a:fillRect/>
          </a:stretch>
        </p:blipFill>
        <p:spPr>
          <a:xfrm>
            <a:off x="1187625" y="2864025"/>
            <a:ext cx="7200800" cy="2279475"/>
          </a:xfrm>
          <a:prstGeom prst="rect">
            <a:avLst/>
          </a:prstGeom>
        </p:spPr>
      </p:pic>
    </p:spTree>
    <p:extLst>
      <p:ext uri="{BB962C8B-B14F-4D97-AF65-F5344CB8AC3E}">
        <p14:creationId xmlns="" xmlns:p14="http://schemas.microsoft.com/office/powerpoint/2010/main" val="37947929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Mesure du désordre : Entropie</a:t>
            </a:r>
            <a:endParaRPr lang="en" sz="3200" b="1" dirty="0"/>
          </a:p>
        </p:txBody>
      </p:sp>
      <p:sp>
        <p:nvSpPr>
          <p:cNvPr id="551" name="Google Shape;551;p18"/>
          <p:cNvSpPr txBox="1">
            <a:spLocks noGrp="1"/>
          </p:cNvSpPr>
          <p:nvPr>
            <p:ph type="body" idx="1"/>
          </p:nvPr>
        </p:nvSpPr>
        <p:spPr>
          <a:xfrm>
            <a:off x="971600" y="1491630"/>
            <a:ext cx="7532654" cy="3507854"/>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1800" dirty="0"/>
              <a:t>Calculer l’Entropie à un nœud </a:t>
            </a:r>
            <a:r>
              <a:rPr lang="fr-FR" sz="1800" b="1" i="1" dirty="0"/>
              <a:t>t</a:t>
            </a:r>
            <a:r>
              <a:rPr lang="fr-FR" sz="1800" dirty="0"/>
              <a:t>:</a:t>
            </a:r>
          </a:p>
          <a:p>
            <a:pPr marL="76200" lvl="0" indent="0">
              <a:buNone/>
            </a:pPr>
            <a:endParaRPr lang="fr-FR" sz="1800" dirty="0"/>
          </a:p>
          <a:p>
            <a:pPr marL="76200" lvl="0" indent="0">
              <a:buNone/>
            </a:pPr>
            <a:endParaRPr lang="fr-FR" sz="1800" dirty="0"/>
          </a:p>
          <a:p>
            <a:pPr lvl="0">
              <a:buFont typeface="Wingdings" panose="05000000000000000000" pitchFamily="2" charset="2"/>
              <a:buChar char="§"/>
            </a:pPr>
            <a:r>
              <a:rPr lang="fr-FR" sz="1800" dirty="0"/>
              <a:t>Calculer le Gain d’entropie à un nœud </a:t>
            </a:r>
            <a:r>
              <a:rPr lang="fr-FR" sz="1800" b="1" i="1" dirty="0"/>
              <a:t>t</a:t>
            </a:r>
          </a:p>
          <a:p>
            <a:pPr lvl="0">
              <a:buFont typeface="Wingdings" panose="05000000000000000000" pitchFamily="2" charset="2"/>
              <a:buChar char="§"/>
            </a:pPr>
            <a:endParaRPr lang="fr-FR" sz="1800" b="1" i="1" dirty="0"/>
          </a:p>
          <a:p>
            <a:pPr lvl="0">
              <a:buFont typeface="Wingdings" panose="05000000000000000000" pitchFamily="2" charset="2"/>
              <a:buChar char="§"/>
            </a:pPr>
            <a:endParaRPr lang="fr-FR" sz="1800" dirty="0">
              <a:latin typeface="Barlow Light" panose="020B0604020202020204" charset="0"/>
            </a:endParaRPr>
          </a:p>
          <a:p>
            <a:pPr lvl="0">
              <a:buFont typeface="Wingdings" panose="05000000000000000000" pitchFamily="2" charset="2"/>
              <a:buChar char="§"/>
            </a:pPr>
            <a:r>
              <a:rPr lang="fr-FR" sz="1800" dirty="0">
                <a:latin typeface="Barlow Light" panose="020B0604020202020204" charset="0"/>
              </a:rPr>
              <a:t>Sélectionner l’attribut </a:t>
            </a:r>
            <a:r>
              <a:rPr lang="fr-FR" sz="1800" b="1" i="1" dirty="0">
                <a:latin typeface="Barlow Light" panose="020B0604020202020204" charset="0"/>
              </a:rPr>
              <a:t>A</a:t>
            </a:r>
            <a:r>
              <a:rPr lang="fr-FR" sz="1800" dirty="0">
                <a:latin typeface="Barlow Light" panose="020B0604020202020204" charset="0"/>
              </a:rPr>
              <a:t> ayant le meilleur Gain </a:t>
            </a:r>
            <a:r>
              <a:rPr lang="fr-FR" sz="1800" kern="0" dirty="0">
                <a:latin typeface="Barlow Light" panose="020B0604020202020204" charset="0"/>
              </a:rPr>
              <a:t>d'entropie</a:t>
            </a:r>
            <a:r>
              <a:rPr lang="fr-FR" sz="1800" dirty="0">
                <a:latin typeface="Barlow Light" panose="020B0604020202020204" charset="0"/>
              </a:rPr>
              <a:t> dans l’ensemble de données </a:t>
            </a:r>
            <a:r>
              <a:rPr lang="fr-FR" sz="1800" i="1" dirty="0">
                <a:latin typeface="Barlow Light" panose="020B0604020202020204" charset="0"/>
              </a:rPr>
              <a:t>S.</a:t>
            </a:r>
          </a:p>
          <a:p>
            <a:pPr lvl="0">
              <a:buFont typeface="Wingdings" panose="05000000000000000000" pitchFamily="2" charset="2"/>
              <a:buChar char="§"/>
            </a:pPr>
            <a:endParaRPr lang="fr-FR" sz="1800"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30</a:t>
            </a:fld>
            <a:endParaRPr/>
          </a:p>
        </p:txBody>
      </p:sp>
      <mc:AlternateContent xmlns:mc="http://schemas.openxmlformats.org/markup-compatibility/2006">
        <mc:Choice xmlns="" xmlns:a14="http://schemas.microsoft.com/office/drawing/2010/main" Requires="a14">
          <p:sp>
            <p:nvSpPr>
              <p:cNvPr id="13" name="ZoneTexte 12">
                <a:extLst>
                  <a:ext uri="{FF2B5EF4-FFF2-40B4-BE49-F238E27FC236}">
                    <a16:creationId xmlns:a16="http://schemas.microsoft.com/office/drawing/2014/main" id="{590E61B8-6A25-412F-BEE3-C003B9E99BE8}"/>
                  </a:ext>
                </a:extLst>
              </p:cNvPr>
              <p:cNvSpPr txBox="1"/>
              <p:nvPr/>
            </p:nvSpPr>
            <p:spPr>
              <a:xfrm>
                <a:off x="2195736" y="1838859"/>
                <a:ext cx="4577316" cy="876907"/>
              </a:xfrm>
              <a:prstGeom prst="rect">
                <a:avLst/>
              </a:prstGeom>
              <a:noFill/>
            </p:spPr>
            <p:txBody>
              <a:bodyPr wrap="square">
                <a:spAutoFit/>
              </a:bodyPr>
              <a:lstStyle/>
              <a:p>
                <a:pPr marL="76200" lvl="0" indent="0">
                  <a:buNone/>
                </a:pPr>
                <a14:m>
                  <m:oMathPara xmlns:m="http://schemas.openxmlformats.org/officeDocument/2006/math">
                    <m:oMathParaPr>
                      <m:jc m:val="centerGroup"/>
                    </m:oMathParaPr>
                    <m:oMath xmlns:m="http://schemas.openxmlformats.org/officeDocument/2006/math">
                      <m:r>
                        <a:rPr lang="fr-FR" sz="1800" b="0" i="1" smtClean="0">
                          <a:effectLst/>
                          <a:latin typeface="Cambria Math" panose="02040503050406030204" pitchFamily="18" charset="0"/>
                          <a:cs typeface="Cambria Math" panose="02040503050406030204" pitchFamily="18" charset="0"/>
                        </a:rPr>
                        <m:t>𝐸𝑛𝑡𝑟𝑜𝑝𝑖𝑒</m:t>
                      </m:r>
                      <m:d>
                        <m:dPr>
                          <m:ctrlPr>
                            <a:rPr lang="fr-FR" sz="1800" b="0" i="1" smtClean="0">
                              <a:effectLst/>
                              <a:latin typeface="Cambria Math" panose="02040503050406030204" pitchFamily="18" charset="0"/>
                              <a:cs typeface="Cambria Math" panose="02040503050406030204" pitchFamily="18" charset="0"/>
                            </a:rPr>
                          </m:ctrlPr>
                        </m:dPr>
                        <m:e>
                          <m:r>
                            <a:rPr lang="fr-FR" sz="1800" b="0" i="1" smtClean="0">
                              <a:effectLst/>
                              <a:latin typeface="Cambria Math" panose="02040503050406030204" pitchFamily="18" charset="0"/>
                              <a:cs typeface="Cambria Math" panose="02040503050406030204" pitchFamily="18" charset="0"/>
                            </a:rPr>
                            <m:t>𝑡</m:t>
                          </m:r>
                        </m:e>
                      </m:d>
                      <m:r>
                        <a:rPr lang="fr-FR" sz="1800" i="1">
                          <a:effectLst/>
                          <a:latin typeface="Cambria Math" panose="02040503050406030204" pitchFamily="18" charset="0"/>
                          <a:ea typeface="Calibri" panose="020F0502020204030204" pitchFamily="34" charset="0"/>
                          <a:cs typeface="Cambria Math" panose="02040503050406030204" pitchFamily="18" charset="0"/>
                        </a:rPr>
                        <m:t>=</m:t>
                      </m:r>
                      <m:r>
                        <a:rPr lang="fr-FR" sz="1800" b="0" i="1" smtClean="0">
                          <a:effectLst/>
                          <a:latin typeface="Cambria Math" panose="02040503050406030204" pitchFamily="18" charset="0"/>
                          <a:ea typeface="Calibri" panose="020F0502020204030204" pitchFamily="34" charset="0"/>
                          <a:cs typeface="Cambria Math" panose="02040503050406030204" pitchFamily="18" charset="0"/>
                        </a:rPr>
                        <m:t>−</m:t>
                      </m:r>
                      <m:nary>
                        <m:naryPr>
                          <m:chr m:val="∑"/>
                          <m:limLoc m:val="undOvr"/>
                          <m:ctrlPr>
                            <a:rPr lang="fr-FR" sz="1800" i="1">
                              <a:effectLst/>
                              <a:latin typeface="Cambria Math" panose="02040503050406030204" pitchFamily="18" charset="0"/>
                              <a:cs typeface="Cambria Math" panose="02040503050406030204" pitchFamily="18" charset="0"/>
                            </a:rPr>
                          </m:ctrlPr>
                        </m:naryPr>
                        <m:sub>
                          <m:r>
                            <a:rPr lang="fr-FR" sz="1800" i="1">
                              <a:effectLst/>
                              <a:latin typeface="Cambria Math" panose="02040503050406030204" pitchFamily="18" charset="0"/>
                              <a:ea typeface="Calibri" panose="020F0502020204030204" pitchFamily="34" charset="0"/>
                              <a:cs typeface="Cambria Math" panose="02040503050406030204" pitchFamily="18" charset="0"/>
                            </a:rPr>
                            <m:t>𝑖</m:t>
                          </m:r>
                          <m:r>
                            <a:rPr lang="fr-FR" sz="1800" i="1">
                              <a:effectLst/>
                              <a:latin typeface="Cambria Math" panose="02040503050406030204" pitchFamily="18" charset="0"/>
                              <a:ea typeface="Calibri" panose="020F0502020204030204" pitchFamily="34" charset="0"/>
                              <a:cs typeface="Cambria Math" panose="02040503050406030204" pitchFamily="18" charset="0"/>
                            </a:rPr>
                            <m:t>=1</m:t>
                          </m:r>
                        </m:sub>
                        <m:sup>
                          <m:r>
                            <a:rPr lang="fr-FR" sz="1800" i="1">
                              <a:effectLst/>
                              <a:latin typeface="Cambria Math" panose="02040503050406030204" pitchFamily="18" charset="0"/>
                              <a:ea typeface="Calibri" panose="020F0502020204030204" pitchFamily="34" charset="0"/>
                              <a:cs typeface="Cambria Math" panose="02040503050406030204" pitchFamily="18" charset="0"/>
                            </a:rPr>
                            <m:t>𝑘</m:t>
                          </m:r>
                        </m:sup>
                        <m:e>
                          <m:r>
                            <a:rPr lang="fr-FR" sz="1800" b="0" i="1" smtClean="0">
                              <a:latin typeface="Cambria Math" panose="02040503050406030204" pitchFamily="18" charset="0"/>
                              <a:cs typeface="Cambria Math" panose="02040503050406030204" pitchFamily="18" charset="0"/>
                            </a:rPr>
                            <m:t>𝑝</m:t>
                          </m:r>
                          <m:r>
                            <a:rPr lang="fr-FR" sz="1800" b="0" i="1" smtClean="0">
                              <a:latin typeface="Cambria Math" panose="02040503050406030204" pitchFamily="18" charset="0"/>
                              <a:cs typeface="Cambria Math" panose="02040503050406030204" pitchFamily="18" charset="0"/>
                            </a:rPr>
                            <m:t>(</m:t>
                          </m:r>
                          <m:r>
                            <a:rPr lang="fr-FR" sz="1800" b="0" i="1" smtClean="0">
                              <a:latin typeface="Cambria Math" panose="02040503050406030204" pitchFamily="18" charset="0"/>
                              <a:cs typeface="Cambria Math" panose="02040503050406030204" pitchFamily="18" charset="0"/>
                            </a:rPr>
                            <m:t>𝑗</m:t>
                          </m:r>
                          <m:r>
                            <a:rPr lang="fr-FR" sz="1800" b="0" i="1" smtClean="0">
                              <a:latin typeface="Cambria Math" panose="02040503050406030204" pitchFamily="18" charset="0"/>
                              <a:cs typeface="Cambria Math" panose="02040503050406030204" pitchFamily="18" charset="0"/>
                            </a:rPr>
                            <m:t>|</m:t>
                          </m:r>
                          <m:r>
                            <a:rPr lang="fr-FR" sz="1800" b="0" i="1" smtClean="0">
                              <a:latin typeface="Cambria Math" panose="02040503050406030204" pitchFamily="18" charset="0"/>
                              <a:cs typeface="Cambria Math" panose="02040503050406030204" pitchFamily="18" charset="0"/>
                            </a:rPr>
                            <m:t>𝑡</m:t>
                          </m:r>
                          <m:r>
                            <a:rPr lang="fr-FR" sz="1800" b="0" i="1" smtClean="0">
                              <a:latin typeface="Cambria Math" panose="02040503050406030204" pitchFamily="18" charset="0"/>
                              <a:cs typeface="Cambria Math" panose="02040503050406030204" pitchFamily="18" charset="0"/>
                            </a:rPr>
                            <m:t>)</m:t>
                          </m:r>
                          <m:func>
                            <m:funcPr>
                              <m:ctrlPr>
                                <a:rPr lang="fr-FR" sz="1800" b="0" i="1" smtClean="0">
                                  <a:latin typeface="Cambria Math" panose="02040503050406030204" pitchFamily="18" charset="0"/>
                                  <a:cs typeface="Cambria Math" panose="02040503050406030204" pitchFamily="18" charset="0"/>
                                </a:rPr>
                              </m:ctrlPr>
                            </m:funcPr>
                            <m:fName>
                              <m:sSub>
                                <m:sSubPr>
                                  <m:ctrlPr>
                                    <a:rPr lang="fr-FR" sz="1800" b="0" i="1" smtClean="0">
                                      <a:latin typeface="Cambria Math" panose="02040503050406030204" pitchFamily="18" charset="0"/>
                                      <a:cs typeface="Cambria Math" panose="02040503050406030204" pitchFamily="18" charset="0"/>
                                    </a:rPr>
                                  </m:ctrlPr>
                                </m:sSubPr>
                                <m:e>
                                  <m:r>
                                    <m:rPr>
                                      <m:sty m:val="p"/>
                                    </m:rPr>
                                    <a:rPr lang="fr-FR" sz="1800" b="0" i="0" smtClean="0">
                                      <a:latin typeface="Cambria Math" panose="02040503050406030204" pitchFamily="18" charset="0"/>
                                      <a:cs typeface="Cambria Math" panose="02040503050406030204" pitchFamily="18" charset="0"/>
                                    </a:rPr>
                                    <m:t>log</m:t>
                                  </m:r>
                                </m:e>
                                <m:sub>
                                  <m:r>
                                    <a:rPr lang="fr-FR" sz="1800" b="0" i="1" smtClean="0">
                                      <a:latin typeface="Cambria Math" panose="02040503050406030204" pitchFamily="18" charset="0"/>
                                      <a:cs typeface="Cambria Math" panose="02040503050406030204" pitchFamily="18" charset="0"/>
                                    </a:rPr>
                                    <m:t>2</m:t>
                                  </m:r>
                                </m:sub>
                              </m:sSub>
                            </m:fName>
                            <m:e>
                              <m:r>
                                <a:rPr lang="fr-FR" sz="1800" i="1">
                                  <a:latin typeface="Cambria Math" panose="02040503050406030204" pitchFamily="18" charset="0"/>
                                  <a:cs typeface="Cambria Math" panose="02040503050406030204" pitchFamily="18" charset="0"/>
                                </a:rPr>
                                <m:t>𝑝</m:t>
                              </m:r>
                              <m:r>
                                <a:rPr lang="fr-FR" sz="1800" i="1">
                                  <a:latin typeface="Cambria Math" panose="02040503050406030204" pitchFamily="18" charset="0"/>
                                  <a:cs typeface="Cambria Math" panose="02040503050406030204" pitchFamily="18" charset="0"/>
                                </a:rPr>
                                <m:t>(</m:t>
                              </m:r>
                              <m:r>
                                <a:rPr lang="fr-FR" sz="1800" i="1">
                                  <a:latin typeface="Cambria Math" panose="02040503050406030204" pitchFamily="18" charset="0"/>
                                  <a:cs typeface="Cambria Math" panose="02040503050406030204" pitchFamily="18" charset="0"/>
                                </a:rPr>
                                <m:t>𝑗</m:t>
                              </m:r>
                              <m:r>
                                <a:rPr lang="fr-FR" sz="1800" i="1">
                                  <a:latin typeface="Cambria Math" panose="02040503050406030204" pitchFamily="18" charset="0"/>
                                  <a:cs typeface="Cambria Math" panose="02040503050406030204" pitchFamily="18" charset="0"/>
                                </a:rPr>
                                <m:t>|</m:t>
                              </m:r>
                              <m:r>
                                <a:rPr lang="fr-FR" sz="1800" i="1">
                                  <a:latin typeface="Cambria Math" panose="02040503050406030204" pitchFamily="18" charset="0"/>
                                  <a:cs typeface="Cambria Math" panose="02040503050406030204" pitchFamily="18" charset="0"/>
                                </a:rPr>
                                <m:t>𝑡</m:t>
                              </m:r>
                              <m:r>
                                <a:rPr lang="fr-FR" sz="1800" i="1">
                                  <a:latin typeface="Cambria Math" panose="02040503050406030204" pitchFamily="18" charset="0"/>
                                  <a:cs typeface="Cambria Math" panose="02040503050406030204" pitchFamily="18" charset="0"/>
                                </a:rPr>
                                <m:t>)</m:t>
                              </m:r>
                            </m:e>
                          </m:func>
                          <m:r>
                            <a:rPr lang="fr-FR" sz="1800" i="1" smtClean="0">
                              <a:effectLst/>
                              <a:latin typeface="Cambria Math" panose="02040503050406030204" pitchFamily="18" charset="0"/>
                              <a:cs typeface="Cambria Math" panose="02040503050406030204" pitchFamily="18" charset="0"/>
                            </a:rPr>
                            <m:t> </m:t>
                          </m:r>
                        </m:e>
                      </m:nary>
                    </m:oMath>
                  </m:oMathPara>
                </a14:m>
                <a:endParaRPr lang="fr-FR" sz="1800" dirty="0"/>
              </a:p>
            </p:txBody>
          </p:sp>
        </mc:Choice>
        <mc:Fallback>
          <p:sp>
            <p:nvSpPr>
              <p:cNvPr id="13" name="ZoneTexte 12">
                <a:extLst>
                  <a:ext uri="{FF2B5EF4-FFF2-40B4-BE49-F238E27FC236}">
                    <a16:creationId xmlns:a14="http://schemas.microsoft.com/office/drawing/2010/main" xmlns="" xmlns:a16="http://schemas.microsoft.com/office/drawing/2014/main" id="{590E61B8-6A25-412F-BEE3-C003B9E99BE8}"/>
                  </a:ext>
                </a:extLst>
              </p:cNvPr>
              <p:cNvSpPr txBox="1">
                <a:spLocks noRot="1" noChangeAspect="1" noMove="1" noResize="1" noEditPoints="1" noAdjustHandles="1" noChangeArrowheads="1" noChangeShapeType="1" noTextEdit="1"/>
              </p:cNvSpPr>
              <p:nvPr/>
            </p:nvSpPr>
            <p:spPr>
              <a:xfrm>
                <a:off x="2195736" y="1838859"/>
                <a:ext cx="4577316" cy="876907"/>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mc:Choice xmlns="" xmlns:a14="http://schemas.microsoft.com/office/drawing/2010/main" Requires="a14">
          <p:sp>
            <p:nvSpPr>
              <p:cNvPr id="9" name="ZoneTexte 8">
                <a:extLst>
                  <a:ext uri="{FF2B5EF4-FFF2-40B4-BE49-F238E27FC236}">
                    <a16:creationId xmlns:a16="http://schemas.microsoft.com/office/drawing/2014/main" id="{0D9EAD11-B8CF-46C8-AB2C-4779C234552F}"/>
                  </a:ext>
                </a:extLst>
              </p:cNvPr>
              <p:cNvSpPr txBox="1"/>
              <p:nvPr/>
            </p:nvSpPr>
            <p:spPr>
              <a:xfrm>
                <a:off x="2051720" y="3260288"/>
                <a:ext cx="6768752" cy="391582"/>
              </a:xfrm>
              <a:prstGeom prst="rect">
                <a:avLst/>
              </a:prstGeom>
              <a:noFill/>
            </p:spPr>
            <p:txBody>
              <a:bodyPr wrap="square">
                <a:spAutoFit/>
              </a:bodyPr>
              <a:lstStyle/>
              <a:p>
                <a:pPr marL="76200" lvl="0" indent="0">
                  <a:buNone/>
                </a:pPr>
                <a:r>
                  <a:rPr lang="fr-FR" sz="1800" b="0" i="1" dirty="0">
                    <a:effectLst/>
                    <a:latin typeface="Cambria Math" panose="02040503050406030204" pitchFamily="18" charset="0"/>
                    <a:ea typeface="Cambria Math" panose="02040503050406030204" pitchFamily="18" charset="0"/>
                    <a:cs typeface="Cambria Math" panose="02040503050406030204" pitchFamily="18" charset="0"/>
                  </a:rPr>
                  <a:t>Gain d’Entropie</a:t>
                </a:r>
                <a14:m>
                  <m:oMath xmlns:m="http://schemas.openxmlformats.org/officeDocument/2006/math">
                    <m:d>
                      <m:dPr>
                        <m:ctrlPr>
                          <a:rPr lang="fr-FR" sz="1800" b="0" i="1" smtClean="0">
                            <a:effectLst/>
                            <a:latin typeface="Cambria Math" panose="02040503050406030204" pitchFamily="18" charset="0"/>
                            <a:ea typeface="Cambria Math" panose="02040503050406030204" pitchFamily="18" charset="0"/>
                            <a:cs typeface="Cambria Math" panose="02040503050406030204" pitchFamily="18" charset="0"/>
                          </a:rPr>
                        </m:ctrlPr>
                      </m:dPr>
                      <m:e>
                        <m:r>
                          <a:rPr lang="fr-FR" sz="1800" b="0" i="1" smtClean="0">
                            <a:effectLst/>
                            <a:latin typeface="Cambria Math" panose="02040503050406030204" pitchFamily="18" charset="0"/>
                            <a:ea typeface="Cambria Math" panose="02040503050406030204" pitchFamily="18" charset="0"/>
                            <a:cs typeface="Cambria Math" panose="02040503050406030204" pitchFamily="18" charset="0"/>
                          </a:rPr>
                          <m:t>𝑡</m:t>
                        </m:r>
                      </m:e>
                    </m:d>
                    <m:r>
                      <a:rPr lang="fr-FR" sz="1800" i="1">
                        <a:effectLst/>
                        <a:latin typeface="Cambria Math" panose="02040503050406030204" pitchFamily="18" charset="0"/>
                        <a:ea typeface="Calibri" panose="020F0502020204030204" pitchFamily="34" charset="0"/>
                        <a:cs typeface="Cambria Math" panose="02040503050406030204" pitchFamily="18" charset="0"/>
                      </a:rPr>
                      <m:t>=</m:t>
                    </m:r>
                    <m:r>
                      <a:rPr lang="fr-FR" sz="1800" b="0" i="1" smtClean="0">
                        <a:effectLst/>
                        <a:latin typeface="Cambria Math" panose="02040503050406030204" pitchFamily="18" charset="0"/>
                        <a:ea typeface="Calibri" panose="020F0502020204030204" pitchFamily="34" charset="0"/>
                        <a:cs typeface="Cambria Math" panose="02040503050406030204" pitchFamily="18" charset="0"/>
                      </a:rPr>
                      <m:t>𝐸𝑛𝑡𝑟𝑜𝑝𝑖𝑒</m:t>
                    </m:r>
                    <m:r>
                      <a:rPr lang="fr-FR" sz="1800" b="0" i="1" smtClean="0">
                        <a:effectLst/>
                        <a:latin typeface="Cambria Math" panose="02040503050406030204" pitchFamily="18" charset="0"/>
                        <a:ea typeface="Calibri" panose="020F0502020204030204" pitchFamily="34" charset="0"/>
                        <a:cs typeface="Cambria Math" panose="02040503050406030204" pitchFamily="18" charset="0"/>
                      </a:rPr>
                      <m:t>(</m:t>
                    </m:r>
                    <m:r>
                      <a:rPr lang="fr-FR" sz="1800" b="0" i="1" smtClean="0">
                        <a:effectLst/>
                        <a:latin typeface="Cambria Math" panose="02040503050406030204" pitchFamily="18" charset="0"/>
                        <a:ea typeface="Calibri" panose="020F0502020204030204" pitchFamily="34" charset="0"/>
                        <a:cs typeface="Cambria Math" panose="02040503050406030204" pitchFamily="18" charset="0"/>
                      </a:rPr>
                      <m:t>𝑆</m:t>
                    </m:r>
                    <m:r>
                      <a:rPr lang="fr-FR" sz="1800" b="0" i="1" smtClean="0">
                        <a:effectLst/>
                        <a:latin typeface="Cambria Math" panose="02040503050406030204" pitchFamily="18" charset="0"/>
                        <a:ea typeface="Calibri" panose="020F0502020204030204" pitchFamily="34" charset="0"/>
                        <a:cs typeface="Cambria Math" panose="02040503050406030204" pitchFamily="18" charset="0"/>
                      </a:rPr>
                      <m:t>)−</m:t>
                    </m:r>
                    <m:nary>
                      <m:naryPr>
                        <m:chr m:val="∑"/>
                        <m:limLoc m:val="undOvr"/>
                        <m:ctrlPr>
                          <a:rPr lang="fr-FR" sz="1800" i="1">
                            <a:effectLst/>
                            <a:latin typeface="Cambria Math" panose="02040503050406030204" pitchFamily="18" charset="0"/>
                            <a:cs typeface="Cambria Math" panose="02040503050406030204" pitchFamily="18" charset="0"/>
                          </a:rPr>
                        </m:ctrlPr>
                      </m:naryPr>
                      <m:sub>
                        <m:r>
                          <a:rPr lang="fr-FR" sz="1800" i="1">
                            <a:effectLst/>
                            <a:latin typeface="Cambria Math" panose="02040503050406030204" pitchFamily="18" charset="0"/>
                            <a:ea typeface="Calibri" panose="020F0502020204030204" pitchFamily="34" charset="0"/>
                            <a:cs typeface="Cambria Math" panose="02040503050406030204" pitchFamily="18" charset="0"/>
                          </a:rPr>
                          <m:t>𝑖</m:t>
                        </m:r>
                        <m:r>
                          <a:rPr lang="fr-FR" sz="1800" i="1">
                            <a:effectLst/>
                            <a:latin typeface="Cambria Math" panose="02040503050406030204" pitchFamily="18" charset="0"/>
                            <a:ea typeface="Calibri" panose="020F0502020204030204" pitchFamily="34" charset="0"/>
                            <a:cs typeface="Cambria Math" panose="02040503050406030204" pitchFamily="18" charset="0"/>
                          </a:rPr>
                          <m:t>=1</m:t>
                        </m:r>
                      </m:sub>
                      <m:sup>
                        <m:r>
                          <a:rPr lang="fr-FR" sz="1800" i="1">
                            <a:effectLst/>
                            <a:latin typeface="Cambria Math" panose="02040503050406030204" pitchFamily="18" charset="0"/>
                            <a:ea typeface="Calibri" panose="020F0502020204030204" pitchFamily="34" charset="0"/>
                            <a:cs typeface="Cambria Math" panose="02040503050406030204" pitchFamily="18" charset="0"/>
                          </a:rPr>
                          <m:t>𝑘</m:t>
                        </m:r>
                      </m:sup>
                      <m:e>
                        <m:r>
                          <a:rPr lang="fr-FR" sz="1800" b="0" i="1" smtClean="0">
                            <a:latin typeface="Cambria Math" panose="02040503050406030204" pitchFamily="18" charset="0"/>
                            <a:cs typeface="Cambria Math" panose="02040503050406030204" pitchFamily="18" charset="0"/>
                          </a:rPr>
                          <m:t>𝑝</m:t>
                        </m:r>
                        <m:d>
                          <m:dPr>
                            <m:ctrlPr>
                              <a:rPr lang="fr-FR" sz="1800" b="0" i="1" smtClean="0">
                                <a:latin typeface="Cambria Math" panose="02040503050406030204" pitchFamily="18" charset="0"/>
                                <a:cs typeface="Cambria Math" panose="02040503050406030204" pitchFamily="18" charset="0"/>
                              </a:rPr>
                            </m:ctrlPr>
                          </m:dPr>
                          <m:e>
                            <m:r>
                              <a:rPr lang="fr-FR" sz="1800" b="0" i="1" smtClean="0">
                                <a:latin typeface="Cambria Math" panose="02040503050406030204" pitchFamily="18" charset="0"/>
                                <a:cs typeface="Cambria Math" panose="02040503050406030204" pitchFamily="18" charset="0"/>
                              </a:rPr>
                              <m:t>𝑗</m:t>
                            </m:r>
                          </m:e>
                          <m:e>
                            <m:r>
                              <a:rPr lang="fr-FR" sz="1800" b="0" i="1" smtClean="0">
                                <a:latin typeface="Cambria Math" panose="02040503050406030204" pitchFamily="18" charset="0"/>
                                <a:cs typeface="Cambria Math" panose="02040503050406030204" pitchFamily="18" charset="0"/>
                              </a:rPr>
                              <m:t>𝑡</m:t>
                            </m:r>
                          </m:e>
                        </m:d>
                        <m:r>
                          <a:rPr lang="fr-FR" sz="1800" b="0" i="1" smtClean="0">
                            <a:latin typeface="Cambria Math" panose="02040503050406030204" pitchFamily="18" charset="0"/>
                            <a:cs typeface="Cambria Math" panose="02040503050406030204" pitchFamily="18" charset="0"/>
                          </a:rPr>
                          <m:t>𝐸𝑛𝑡𝑟𝑜𝑝𝑖𝑒</m:t>
                        </m:r>
                        <m:r>
                          <a:rPr lang="fr-FR" sz="1800" b="0" i="1" smtClean="0">
                            <a:latin typeface="Cambria Math" panose="02040503050406030204" pitchFamily="18" charset="0"/>
                            <a:cs typeface="Cambria Math" panose="02040503050406030204" pitchFamily="18" charset="0"/>
                          </a:rPr>
                          <m:t>(</m:t>
                        </m:r>
                        <m:sSub>
                          <m:sSubPr>
                            <m:ctrlPr>
                              <a:rPr lang="fr-FR" sz="1800" b="0" i="1" smtClean="0">
                                <a:latin typeface="Cambria Math" panose="02040503050406030204" pitchFamily="18" charset="0"/>
                              </a:rPr>
                            </m:ctrlPr>
                          </m:sSubPr>
                          <m:e>
                            <m:r>
                              <a:rPr lang="fr-FR" sz="1800" b="0" i="1" smtClean="0">
                                <a:latin typeface="Cambria Math" panose="02040503050406030204" pitchFamily="18" charset="0"/>
                              </a:rPr>
                              <m:t>𝑡</m:t>
                            </m:r>
                          </m:e>
                          <m:sub>
                            <m:r>
                              <a:rPr lang="fr-FR" sz="1800" b="0" i="1" smtClean="0">
                                <a:latin typeface="Cambria Math" panose="02040503050406030204" pitchFamily="18" charset="0"/>
                              </a:rPr>
                              <m:t>𝑖</m:t>
                            </m:r>
                          </m:sub>
                        </m:sSub>
                        <m:r>
                          <a:rPr lang="fr-FR" sz="1800" b="0" i="1" smtClean="0">
                            <a:latin typeface="Cambria Math" panose="02040503050406030204" pitchFamily="18" charset="0"/>
                            <a:cs typeface="Cambria Math" panose="02040503050406030204" pitchFamily="18" charset="0"/>
                          </a:rPr>
                          <m:t>)</m:t>
                        </m:r>
                        <m:r>
                          <a:rPr lang="fr-FR" sz="1800" i="1" smtClean="0">
                            <a:effectLst/>
                            <a:latin typeface="Cambria Math" panose="02040503050406030204" pitchFamily="18" charset="0"/>
                            <a:cs typeface="Cambria Math" panose="02040503050406030204" pitchFamily="18" charset="0"/>
                          </a:rPr>
                          <m:t> </m:t>
                        </m:r>
                      </m:e>
                    </m:nary>
                  </m:oMath>
                </a14:m>
                <a:endParaRPr lang="fr-FR" sz="1800" dirty="0"/>
              </a:p>
            </p:txBody>
          </p:sp>
        </mc:Choice>
        <mc:Fallback>
          <p:sp>
            <p:nvSpPr>
              <p:cNvPr id="9" name="ZoneTexte 8">
                <a:extLst>
                  <a:ext uri="{FF2B5EF4-FFF2-40B4-BE49-F238E27FC236}">
                    <a16:creationId xmlns:a14="http://schemas.microsoft.com/office/drawing/2010/main" xmlns="" xmlns:a16="http://schemas.microsoft.com/office/drawing/2014/main" id="{0D9EAD11-B8CF-46C8-AB2C-4779C234552F}"/>
                  </a:ext>
                </a:extLst>
              </p:cNvPr>
              <p:cNvSpPr txBox="1">
                <a:spLocks noRot="1" noChangeAspect="1" noMove="1" noResize="1" noEditPoints="1" noAdjustHandles="1" noChangeArrowheads="1" noChangeShapeType="1" noTextEdit="1"/>
              </p:cNvSpPr>
              <p:nvPr/>
            </p:nvSpPr>
            <p:spPr>
              <a:xfrm>
                <a:off x="2051720" y="3260288"/>
                <a:ext cx="6768752" cy="391582"/>
              </a:xfrm>
              <a:prstGeom prst="rect">
                <a:avLst/>
              </a:prstGeom>
              <a:blipFill>
                <a:blip r:embed="rId4"/>
                <a:stretch>
                  <a:fillRect t="-107813" b="-176563"/>
                </a:stretch>
              </a:blipFill>
            </p:spPr>
            <p:txBody>
              <a:bodyPr/>
              <a:lstStyle/>
              <a:p>
                <a:r>
                  <a:rPr lang="fr-FR">
                    <a:noFill/>
                  </a:rPr>
                  <a:t> </a:t>
                </a:r>
              </a:p>
            </p:txBody>
          </p:sp>
        </mc:Fallback>
      </mc:AlternateContent>
    </p:spTree>
    <p:extLst>
      <p:ext uri="{BB962C8B-B14F-4D97-AF65-F5344CB8AC3E}">
        <p14:creationId xmlns="" xmlns:p14="http://schemas.microsoft.com/office/powerpoint/2010/main" val="1507668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Mesure du désordre : Entropie</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31</a:t>
            </a:fld>
            <a:endParaRPr/>
          </a:p>
        </p:txBody>
      </p:sp>
      <p:pic>
        <p:nvPicPr>
          <p:cNvPr id="5" name="Image 4">
            <a:extLst>
              <a:ext uri="{FF2B5EF4-FFF2-40B4-BE49-F238E27FC236}">
                <a16:creationId xmlns="" xmlns:a16="http://schemas.microsoft.com/office/drawing/2014/main" id="{DB9F0D2D-2689-4D82-853F-D2C5A6F8128C}"/>
              </a:ext>
            </a:extLst>
          </p:cNvPr>
          <p:cNvPicPr>
            <a:picLocks noChangeAspect="1"/>
          </p:cNvPicPr>
          <p:nvPr/>
        </p:nvPicPr>
        <p:blipFill>
          <a:blip r:embed="rId3"/>
          <a:stretch>
            <a:fillRect/>
          </a:stretch>
        </p:blipFill>
        <p:spPr>
          <a:xfrm>
            <a:off x="1403648" y="1464734"/>
            <a:ext cx="6552728" cy="3411271"/>
          </a:xfrm>
          <a:prstGeom prst="rect">
            <a:avLst/>
          </a:prstGeom>
        </p:spPr>
      </p:pic>
    </p:spTree>
    <p:extLst>
      <p:ext uri="{BB962C8B-B14F-4D97-AF65-F5344CB8AC3E}">
        <p14:creationId xmlns="" xmlns:p14="http://schemas.microsoft.com/office/powerpoint/2010/main" val="224668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Retour sur l’exemple</a:t>
            </a:r>
            <a:endParaRPr lang="en" sz="3200" b="1" dirty="0"/>
          </a:p>
        </p:txBody>
      </p:sp>
      <p:sp>
        <p:nvSpPr>
          <p:cNvPr id="551" name="Google Shape;551;p18"/>
          <p:cNvSpPr txBox="1">
            <a:spLocks noGrp="1"/>
          </p:cNvSpPr>
          <p:nvPr>
            <p:ph type="body" idx="1"/>
          </p:nvPr>
        </p:nvSpPr>
        <p:spPr>
          <a:xfrm>
            <a:off x="971600" y="1440160"/>
            <a:ext cx="7532654" cy="3507854"/>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1900" dirty="0"/>
              <a:t>Tester sur la variable Montant (M) : on considère le nœud 0, (3,5) avec comme fonction l’entropie.</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32</a:t>
            </a:fld>
            <a:endParaRPr/>
          </a:p>
        </p:txBody>
      </p:sp>
      <p:pic>
        <p:nvPicPr>
          <p:cNvPr id="7" name="Image 6">
            <a:extLst>
              <a:ext uri="{FF2B5EF4-FFF2-40B4-BE49-F238E27FC236}">
                <a16:creationId xmlns="" xmlns:a16="http://schemas.microsoft.com/office/drawing/2014/main" id="{9BDE6B9B-CF7F-4D7C-A9A6-912782456BB9}"/>
              </a:ext>
            </a:extLst>
          </p:cNvPr>
          <p:cNvPicPr>
            <a:picLocks noChangeAspect="1"/>
          </p:cNvPicPr>
          <p:nvPr/>
        </p:nvPicPr>
        <p:blipFill>
          <a:blip r:embed="rId3"/>
          <a:stretch>
            <a:fillRect/>
          </a:stretch>
        </p:blipFill>
        <p:spPr>
          <a:xfrm>
            <a:off x="1366837" y="2211710"/>
            <a:ext cx="6589539" cy="2858464"/>
          </a:xfrm>
          <a:prstGeom prst="rect">
            <a:avLst/>
          </a:prstGeom>
        </p:spPr>
      </p:pic>
    </p:spTree>
    <p:extLst>
      <p:ext uri="{BB962C8B-B14F-4D97-AF65-F5344CB8AC3E}">
        <p14:creationId xmlns="" xmlns:p14="http://schemas.microsoft.com/office/powerpoint/2010/main" val="17362086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Retour sur l’exemple</a:t>
            </a:r>
            <a:endParaRPr lang="en" sz="3200" b="1" dirty="0"/>
          </a:p>
        </p:txBody>
      </p:sp>
      <p:sp>
        <p:nvSpPr>
          <p:cNvPr id="551" name="Google Shape;551;p18"/>
          <p:cNvSpPr txBox="1">
            <a:spLocks noGrp="1"/>
          </p:cNvSpPr>
          <p:nvPr>
            <p:ph type="body" idx="1"/>
          </p:nvPr>
        </p:nvSpPr>
        <p:spPr>
          <a:xfrm>
            <a:off x="971600" y="1440160"/>
            <a:ext cx="7532654" cy="3507854"/>
          </a:xfrm>
          <a:prstGeom prst="rect">
            <a:avLst/>
          </a:prstGeom>
        </p:spPr>
        <p:txBody>
          <a:bodyPr spcFirstLastPara="1" wrap="square" lIns="0" tIns="0" rIns="0" bIns="0" anchor="t" anchorCtr="0">
            <a:noAutofit/>
          </a:bodyPr>
          <a:lstStyle/>
          <a:p>
            <a:pPr marL="76200" lvl="0" indent="0">
              <a:buNone/>
            </a:pPr>
            <a:r>
              <a:rPr lang="fr-FR" sz="2000" dirty="0"/>
              <a:t>Gain(0, M) =Entropie(0)−(3/8*E(Faible) +3/8*E(Moyen) +2/8*E(Elevé))</a:t>
            </a:r>
          </a:p>
          <a:p>
            <a:pPr marL="76200" lvl="0" indent="0">
              <a:buNone/>
            </a:pPr>
            <a:endParaRPr lang="fr-FR" sz="2000" dirty="0"/>
          </a:p>
          <a:p>
            <a:pPr marL="76200" lvl="0" indent="0">
              <a:buNone/>
            </a:pPr>
            <a:r>
              <a:rPr lang="fr-FR" sz="2000" dirty="0"/>
              <a:t>Entropie(Faible) =−(1/3)*log(1/3)−(2/3)*log(2/3)= 0.64</a:t>
            </a:r>
          </a:p>
          <a:p>
            <a:pPr marL="76200" lvl="0" indent="0">
              <a:buNone/>
            </a:pPr>
            <a:r>
              <a:rPr lang="fr-FR" sz="2000" dirty="0"/>
              <a:t>Entropie(Moyen) =−(2/3)*log(2/3)−(1/3)*log(1/3)= 0.64</a:t>
            </a:r>
          </a:p>
          <a:p>
            <a:pPr marL="76200" lvl="0" indent="0">
              <a:buNone/>
            </a:pPr>
            <a:r>
              <a:rPr lang="fr-FR" sz="2000" dirty="0"/>
              <a:t>Entropie(Elevé) =−(2/2)*log(2/2)= 0</a:t>
            </a:r>
          </a:p>
          <a:p>
            <a:pPr marL="76200" lvl="0" indent="0">
              <a:buNone/>
            </a:pPr>
            <a:endParaRPr lang="fr-FR" sz="2000" dirty="0"/>
          </a:p>
          <a:p>
            <a:pPr marL="76200" lvl="0" indent="0">
              <a:buNone/>
            </a:pPr>
            <a:r>
              <a:rPr lang="fr-FR" sz="2000" dirty="0"/>
              <a:t>Gain(0, M) =Entropie(0)−0.48</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33</a:t>
            </a:fld>
            <a:endParaRPr/>
          </a:p>
        </p:txBody>
      </p:sp>
    </p:spTree>
    <p:extLst>
      <p:ext uri="{BB962C8B-B14F-4D97-AF65-F5344CB8AC3E}">
        <p14:creationId xmlns="" xmlns:p14="http://schemas.microsoft.com/office/powerpoint/2010/main" val="26472275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Retour sur l’exemple</a:t>
            </a:r>
            <a:endParaRPr lang="en" sz="3200" b="1" dirty="0"/>
          </a:p>
        </p:txBody>
      </p:sp>
      <p:sp>
        <p:nvSpPr>
          <p:cNvPr id="551" name="Google Shape;551;p18"/>
          <p:cNvSpPr txBox="1">
            <a:spLocks noGrp="1"/>
          </p:cNvSpPr>
          <p:nvPr>
            <p:ph type="body" idx="1"/>
          </p:nvPr>
        </p:nvSpPr>
        <p:spPr>
          <a:xfrm>
            <a:off x="971600" y="1440160"/>
            <a:ext cx="7532654" cy="3507854"/>
          </a:xfrm>
          <a:prstGeom prst="rect">
            <a:avLst/>
          </a:prstGeom>
        </p:spPr>
        <p:txBody>
          <a:bodyPr spcFirstLastPara="1" wrap="square" lIns="0" tIns="0" rIns="0" bIns="0" anchor="t" anchorCtr="0">
            <a:noAutofit/>
          </a:bodyPr>
          <a:lstStyle/>
          <a:p>
            <a:pPr lvl="0">
              <a:buFont typeface="Wingdings" panose="05000000000000000000" pitchFamily="2" charset="2"/>
              <a:buChar char="§"/>
            </a:pPr>
            <a:endParaRPr lang="fr-FR" sz="1900" dirty="0"/>
          </a:p>
          <a:p>
            <a:pPr lvl="0">
              <a:buFont typeface="Wingdings" panose="05000000000000000000" pitchFamily="2" charset="2"/>
              <a:buChar char="§"/>
            </a:pPr>
            <a:endParaRPr lang="fr-FR" sz="1900" dirty="0"/>
          </a:p>
          <a:p>
            <a:pPr lvl="0">
              <a:buFont typeface="Wingdings" panose="05000000000000000000" pitchFamily="2" charset="2"/>
              <a:buChar char="§"/>
            </a:pPr>
            <a:endParaRPr lang="fr-FR" sz="1900" dirty="0"/>
          </a:p>
          <a:p>
            <a:pPr lvl="0">
              <a:buFont typeface="Wingdings" panose="05000000000000000000" pitchFamily="2" charset="2"/>
              <a:buChar char="§"/>
            </a:pPr>
            <a:endParaRPr lang="fr-FR" sz="1900" dirty="0"/>
          </a:p>
          <a:p>
            <a:pPr lvl="0">
              <a:buFont typeface="Wingdings" panose="05000000000000000000" pitchFamily="2" charset="2"/>
              <a:buChar char="§"/>
            </a:pPr>
            <a:endParaRPr lang="fr-FR" sz="1900" dirty="0"/>
          </a:p>
          <a:p>
            <a:pPr lvl="0">
              <a:buFont typeface="Wingdings" panose="05000000000000000000" pitchFamily="2" charset="2"/>
              <a:buChar char="§"/>
            </a:pPr>
            <a:endParaRPr lang="fr-FR" sz="1900" dirty="0"/>
          </a:p>
          <a:p>
            <a:pPr lvl="0">
              <a:buFont typeface="Wingdings" panose="05000000000000000000" pitchFamily="2" charset="2"/>
              <a:buChar char="§"/>
            </a:pPr>
            <a:r>
              <a:rPr lang="fr-FR" sz="1900" dirty="0"/>
              <a:t>Choix de l’attribut âge (A)</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34</a:t>
            </a:fld>
            <a:endParaRPr/>
          </a:p>
        </p:txBody>
      </p:sp>
      <p:pic>
        <p:nvPicPr>
          <p:cNvPr id="3" name="Image 2">
            <a:extLst>
              <a:ext uri="{FF2B5EF4-FFF2-40B4-BE49-F238E27FC236}">
                <a16:creationId xmlns="" xmlns:a16="http://schemas.microsoft.com/office/drawing/2014/main" id="{DFD4F4CE-6048-4AF0-99CE-5A432B9DED97}"/>
              </a:ext>
            </a:extLst>
          </p:cNvPr>
          <p:cNvPicPr>
            <a:picLocks noChangeAspect="1"/>
          </p:cNvPicPr>
          <p:nvPr/>
        </p:nvPicPr>
        <p:blipFill>
          <a:blip r:embed="rId3"/>
          <a:stretch>
            <a:fillRect/>
          </a:stretch>
        </p:blipFill>
        <p:spPr>
          <a:xfrm>
            <a:off x="1543050" y="1804987"/>
            <a:ext cx="6053286" cy="1852771"/>
          </a:xfrm>
          <a:prstGeom prst="rect">
            <a:avLst/>
          </a:prstGeom>
        </p:spPr>
      </p:pic>
    </p:spTree>
    <p:extLst>
      <p:ext uri="{BB962C8B-B14F-4D97-AF65-F5344CB8AC3E}">
        <p14:creationId xmlns="" xmlns:p14="http://schemas.microsoft.com/office/powerpoint/2010/main" val="5853606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Retour sur l’exemple</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35</a:t>
            </a:fld>
            <a:endParaRPr/>
          </a:p>
        </p:txBody>
      </p:sp>
      <p:pic>
        <p:nvPicPr>
          <p:cNvPr id="6" name="Image 5">
            <a:extLst>
              <a:ext uri="{FF2B5EF4-FFF2-40B4-BE49-F238E27FC236}">
                <a16:creationId xmlns="" xmlns:a16="http://schemas.microsoft.com/office/drawing/2014/main" id="{6E3C98F5-70F8-469A-95EF-C509DDFB126D}"/>
              </a:ext>
            </a:extLst>
          </p:cNvPr>
          <p:cNvPicPr>
            <a:picLocks noChangeAspect="1"/>
          </p:cNvPicPr>
          <p:nvPr/>
        </p:nvPicPr>
        <p:blipFill>
          <a:blip r:embed="rId3"/>
          <a:stretch>
            <a:fillRect/>
          </a:stretch>
        </p:blipFill>
        <p:spPr>
          <a:xfrm>
            <a:off x="1701387" y="1419622"/>
            <a:ext cx="6399005" cy="3723878"/>
          </a:xfrm>
          <a:prstGeom prst="rect">
            <a:avLst/>
          </a:prstGeom>
        </p:spPr>
      </p:pic>
    </p:spTree>
    <p:extLst>
      <p:ext uri="{BB962C8B-B14F-4D97-AF65-F5344CB8AC3E}">
        <p14:creationId xmlns="" xmlns:p14="http://schemas.microsoft.com/office/powerpoint/2010/main" val="3265669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Suite de la construction</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36</a:t>
            </a:fld>
            <a:endParaRPr/>
          </a:p>
        </p:txBody>
      </p:sp>
      <p:pic>
        <p:nvPicPr>
          <p:cNvPr id="3" name="Image 2">
            <a:extLst>
              <a:ext uri="{FF2B5EF4-FFF2-40B4-BE49-F238E27FC236}">
                <a16:creationId xmlns="" xmlns:a16="http://schemas.microsoft.com/office/drawing/2014/main" id="{0BC67853-993F-49CF-B0E6-F999987BF535}"/>
              </a:ext>
            </a:extLst>
          </p:cNvPr>
          <p:cNvPicPr>
            <a:picLocks noChangeAspect="1"/>
          </p:cNvPicPr>
          <p:nvPr/>
        </p:nvPicPr>
        <p:blipFill>
          <a:blip r:embed="rId3"/>
          <a:stretch>
            <a:fillRect/>
          </a:stretch>
        </p:blipFill>
        <p:spPr>
          <a:xfrm>
            <a:off x="1763688" y="1318000"/>
            <a:ext cx="5472607" cy="3825500"/>
          </a:xfrm>
          <a:prstGeom prst="rect">
            <a:avLst/>
          </a:prstGeom>
        </p:spPr>
      </p:pic>
    </p:spTree>
    <p:extLst>
      <p:ext uri="{BB962C8B-B14F-4D97-AF65-F5344CB8AC3E}">
        <p14:creationId xmlns="" xmlns:p14="http://schemas.microsoft.com/office/powerpoint/2010/main" val="21556776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Suite de la construction</a:t>
            </a:r>
            <a:endParaRPr lang="en" sz="3200" b="1" dirty="0"/>
          </a:p>
        </p:txBody>
      </p:sp>
      <p:sp>
        <p:nvSpPr>
          <p:cNvPr id="551" name="Google Shape;551;p18"/>
          <p:cNvSpPr txBox="1">
            <a:spLocks noGrp="1"/>
          </p:cNvSpPr>
          <p:nvPr>
            <p:ph type="body" idx="1"/>
          </p:nvPr>
        </p:nvSpPr>
        <p:spPr>
          <a:xfrm>
            <a:off x="971600" y="1440160"/>
            <a:ext cx="7532654" cy="3507854"/>
          </a:xfrm>
          <a:prstGeom prst="rect">
            <a:avLst/>
          </a:prstGeom>
        </p:spPr>
        <p:txBody>
          <a:bodyPr spcFirstLastPara="1" wrap="square" lIns="0" tIns="0" rIns="0" bIns="0" anchor="t" anchorCtr="0">
            <a:noAutofit/>
          </a:bodyPr>
          <a:lstStyle/>
          <a:p>
            <a:pPr lvl="0">
              <a:buFont typeface="Wingdings" panose="05000000000000000000" pitchFamily="2" charset="2"/>
              <a:buChar char="§"/>
            </a:pPr>
            <a:endParaRPr lang="fr-FR" sz="1900" dirty="0"/>
          </a:p>
          <a:p>
            <a:pPr lvl="0">
              <a:buFont typeface="Wingdings" panose="05000000000000000000" pitchFamily="2" charset="2"/>
              <a:buChar char="§"/>
            </a:pPr>
            <a:endParaRPr lang="fr-FR" sz="1900" dirty="0"/>
          </a:p>
          <a:p>
            <a:pPr lvl="0">
              <a:buFont typeface="Wingdings" panose="05000000000000000000" pitchFamily="2" charset="2"/>
              <a:buChar char="§"/>
            </a:pPr>
            <a:endParaRPr lang="fr-FR" sz="1900" dirty="0"/>
          </a:p>
          <a:p>
            <a:pPr lvl="0">
              <a:buFont typeface="Wingdings" panose="05000000000000000000" pitchFamily="2" charset="2"/>
              <a:buChar char="§"/>
            </a:pPr>
            <a:endParaRPr lang="fr-FR" sz="1900" dirty="0"/>
          </a:p>
          <a:p>
            <a:pPr lvl="0">
              <a:buFont typeface="Wingdings" panose="05000000000000000000" pitchFamily="2" charset="2"/>
              <a:buChar char="§"/>
            </a:pPr>
            <a:endParaRPr lang="fr-FR" sz="1900" dirty="0"/>
          </a:p>
          <a:p>
            <a:pPr lvl="0">
              <a:buFont typeface="Wingdings" panose="05000000000000000000" pitchFamily="2" charset="2"/>
              <a:buChar char="§"/>
            </a:pPr>
            <a:endParaRPr lang="fr-FR" sz="1900" dirty="0"/>
          </a:p>
          <a:p>
            <a:pPr lvl="0">
              <a:buFont typeface="Wingdings" panose="05000000000000000000" pitchFamily="2" charset="2"/>
              <a:buChar char="§"/>
            </a:pPr>
            <a:r>
              <a:rPr lang="fr-FR" sz="1900" dirty="0"/>
              <a:t>Quel test choisir ?</a:t>
            </a:r>
          </a:p>
          <a:p>
            <a:pPr lvl="0">
              <a:buFont typeface="Wingdings" panose="05000000000000000000" pitchFamily="2" charset="2"/>
              <a:buChar char="§"/>
            </a:pPr>
            <a:r>
              <a:rPr lang="fr-FR" sz="1900" dirty="0"/>
              <a:t>Calcul du gain pour chaque test.</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37</a:t>
            </a:fld>
            <a:endParaRPr/>
          </a:p>
        </p:txBody>
      </p:sp>
      <p:pic>
        <p:nvPicPr>
          <p:cNvPr id="4" name="Image 3">
            <a:extLst>
              <a:ext uri="{FF2B5EF4-FFF2-40B4-BE49-F238E27FC236}">
                <a16:creationId xmlns="" xmlns:a16="http://schemas.microsoft.com/office/drawing/2014/main" id="{1D0ABD82-4FE8-41CB-8CCF-BEAF348EB40D}"/>
              </a:ext>
            </a:extLst>
          </p:cNvPr>
          <p:cNvPicPr>
            <a:picLocks noChangeAspect="1"/>
          </p:cNvPicPr>
          <p:nvPr/>
        </p:nvPicPr>
        <p:blipFill>
          <a:blip r:embed="rId3"/>
          <a:stretch>
            <a:fillRect/>
          </a:stretch>
        </p:blipFill>
        <p:spPr>
          <a:xfrm>
            <a:off x="2123728" y="1856333"/>
            <a:ext cx="5146193" cy="1430834"/>
          </a:xfrm>
          <a:prstGeom prst="rect">
            <a:avLst/>
          </a:prstGeom>
        </p:spPr>
      </p:pic>
    </p:spTree>
    <p:extLst>
      <p:ext uri="{BB962C8B-B14F-4D97-AF65-F5344CB8AC3E}">
        <p14:creationId xmlns="" xmlns:p14="http://schemas.microsoft.com/office/powerpoint/2010/main" val="8904566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Suite de la construction</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38</a:t>
            </a:fld>
            <a:endParaRPr/>
          </a:p>
        </p:txBody>
      </p:sp>
      <p:pic>
        <p:nvPicPr>
          <p:cNvPr id="6" name="Image 5">
            <a:extLst>
              <a:ext uri="{FF2B5EF4-FFF2-40B4-BE49-F238E27FC236}">
                <a16:creationId xmlns="" xmlns:a16="http://schemas.microsoft.com/office/drawing/2014/main" id="{FDF1FF68-86B5-4F24-B5D4-6F27CFE23535}"/>
              </a:ext>
            </a:extLst>
          </p:cNvPr>
          <p:cNvPicPr>
            <a:picLocks noChangeAspect="1"/>
          </p:cNvPicPr>
          <p:nvPr/>
        </p:nvPicPr>
        <p:blipFill>
          <a:blip r:embed="rId3"/>
          <a:stretch>
            <a:fillRect/>
          </a:stretch>
        </p:blipFill>
        <p:spPr>
          <a:xfrm>
            <a:off x="1547664" y="1306477"/>
            <a:ext cx="6336704" cy="3815444"/>
          </a:xfrm>
          <a:prstGeom prst="rect">
            <a:avLst/>
          </a:prstGeom>
        </p:spPr>
      </p:pic>
    </p:spTree>
    <p:extLst>
      <p:ext uri="{BB962C8B-B14F-4D97-AF65-F5344CB8AC3E}">
        <p14:creationId xmlns="" xmlns:p14="http://schemas.microsoft.com/office/powerpoint/2010/main" val="41694491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467544" y="664300"/>
            <a:ext cx="8087364" cy="653700"/>
          </a:xfrm>
          <a:prstGeom prst="rect">
            <a:avLst/>
          </a:prstGeom>
        </p:spPr>
        <p:txBody>
          <a:bodyPr spcFirstLastPara="1" wrap="square" lIns="0" tIns="0" rIns="0" bIns="0" anchor="ctr" anchorCtr="0">
            <a:noAutofit/>
          </a:bodyPr>
          <a:lstStyle/>
          <a:p>
            <a:r>
              <a:rPr lang="fr-FR" sz="2800" b="1" dirty="0"/>
              <a:t>Apprentissage des arbres de décision : Généralités</a:t>
            </a:r>
            <a:endParaRPr lang="en" sz="2800" b="1" dirty="0"/>
          </a:p>
        </p:txBody>
      </p:sp>
      <p:sp>
        <p:nvSpPr>
          <p:cNvPr id="551" name="Google Shape;551;p18"/>
          <p:cNvSpPr txBox="1">
            <a:spLocks noGrp="1"/>
          </p:cNvSpPr>
          <p:nvPr>
            <p:ph type="body" idx="1"/>
          </p:nvPr>
        </p:nvSpPr>
        <p:spPr>
          <a:xfrm>
            <a:off x="971600" y="1635646"/>
            <a:ext cx="7532654" cy="3363838"/>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Arbre de décision parfait, i.e. tous les exemples sont bien classifiés =&gt; n’existe pas toujours.</a:t>
            </a:r>
          </a:p>
          <a:p>
            <a:pPr lvl="0">
              <a:buFont typeface="Wingdings" panose="05000000000000000000" pitchFamily="2" charset="2"/>
              <a:buChar char="§"/>
            </a:pPr>
            <a:r>
              <a:rPr lang="fr-FR" sz="2000" dirty="0"/>
              <a:t>Le meilleur arbre est l’arbre le plus petit parfait.  </a:t>
            </a:r>
          </a:p>
          <a:p>
            <a:pPr lvl="0">
              <a:buFont typeface="Wingdings" panose="05000000000000000000" pitchFamily="2" charset="2"/>
              <a:buChar char="§"/>
            </a:pPr>
            <a:r>
              <a:rPr lang="fr-FR" sz="2000" dirty="0"/>
              <a:t>L’objectif est d’obtenir l’arbre le plus petit possible (facilitant la recherche) tout en établissant un compromis entre les taux d’erreur sur l’ensemble d’apprentissage et sur l’ensemble de test afin de pouvoir généraliser.</a:t>
            </a:r>
          </a:p>
          <a:p>
            <a:pPr marL="76200" lvl="0" indent="0">
              <a:buNone/>
            </a:pPr>
            <a:endParaRPr lang="fr-FR" sz="2000" dirty="0"/>
          </a:p>
          <a:p>
            <a:pPr marL="76200" lvl="0" indent="0">
              <a:buNone/>
            </a:pPr>
            <a:endParaRPr lang="fr-FR" sz="2000" dirty="0"/>
          </a:p>
          <a:p>
            <a:pPr lvl="0">
              <a:buFont typeface="Wingdings" panose="05000000000000000000" pitchFamily="2" charset="2"/>
              <a:buChar char="§"/>
            </a:pPr>
            <a:endParaRPr lang="fr-FR" sz="2000"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39</a:t>
            </a:fld>
            <a:endParaRPr/>
          </a:p>
        </p:txBody>
      </p:sp>
    </p:spTree>
    <p:extLst>
      <p:ext uri="{BB962C8B-B14F-4D97-AF65-F5344CB8AC3E}">
        <p14:creationId xmlns="" xmlns:p14="http://schemas.microsoft.com/office/powerpoint/2010/main" val="36759648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83568" y="664300"/>
            <a:ext cx="7871340" cy="653700"/>
          </a:xfrm>
          <a:prstGeom prst="rect">
            <a:avLst/>
          </a:prstGeom>
        </p:spPr>
        <p:txBody>
          <a:bodyPr spcFirstLastPara="1" wrap="square" lIns="0" tIns="0" rIns="0" bIns="0" anchor="ctr" anchorCtr="0">
            <a:noAutofit/>
          </a:bodyPr>
          <a:lstStyle/>
          <a:p>
            <a:r>
              <a:rPr lang="fr-FR" sz="3200" b="1" dirty="0"/>
              <a:t>Algorithmes ID3 </a:t>
            </a:r>
            <a:endParaRPr lang="en" sz="3200" b="1" dirty="0"/>
          </a:p>
        </p:txBody>
      </p:sp>
      <p:sp>
        <p:nvSpPr>
          <p:cNvPr id="551" name="Google Shape;551;p18"/>
          <p:cNvSpPr txBox="1">
            <a:spLocks noGrp="1"/>
          </p:cNvSpPr>
          <p:nvPr>
            <p:ph type="body" idx="1"/>
          </p:nvPr>
        </p:nvSpPr>
        <p:spPr>
          <a:xfrm>
            <a:off x="971600" y="1635646"/>
            <a:ext cx="7532654" cy="3363838"/>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ID3  considère  en  entrée  un  ensemble  d’attributs </a:t>
            </a:r>
            <a:r>
              <a:rPr lang="fr-FR" sz="2000" b="1" i="1" dirty="0"/>
              <a:t>A</a:t>
            </a:r>
            <a:r>
              <a:rPr lang="fr-FR" sz="2000" dirty="0"/>
              <a:t>,  un attribut cible </a:t>
            </a:r>
            <a:r>
              <a:rPr lang="fr-FR" sz="2000" b="1" i="1" dirty="0"/>
              <a:t>c</a:t>
            </a:r>
            <a:r>
              <a:rPr lang="fr-FR" sz="2000" dirty="0"/>
              <a:t> (appelés classe) et un ensemble d’échantillons </a:t>
            </a:r>
            <a:r>
              <a:rPr lang="fr-FR" sz="2000" b="1" i="1" dirty="0"/>
              <a:t>E</a:t>
            </a:r>
            <a:r>
              <a:rPr lang="fr-FR" sz="2000" dirty="0"/>
              <a:t>. </a:t>
            </a:r>
          </a:p>
          <a:p>
            <a:pPr lvl="0">
              <a:buFont typeface="Wingdings" panose="05000000000000000000" pitchFamily="2" charset="2"/>
              <a:buChar char="§"/>
            </a:pPr>
            <a:r>
              <a:rPr lang="fr-FR" sz="2000" dirty="0"/>
              <a:t>ID3 fonctionne exclusivement avec des attributs qualitatifs.</a:t>
            </a:r>
          </a:p>
          <a:p>
            <a:pPr lvl="0">
              <a:buFont typeface="Wingdings" panose="05000000000000000000" pitchFamily="2" charset="2"/>
              <a:buChar char="§"/>
            </a:pPr>
            <a:r>
              <a:rPr lang="fr-FR" sz="2000" dirty="0"/>
              <a:t>A chaque étape de la récursion, il détermine l’attribut qui maximise le gain d’informations. </a:t>
            </a:r>
          </a:p>
          <a:p>
            <a:pPr lvl="0">
              <a:buFont typeface="Wingdings" panose="05000000000000000000" pitchFamily="2" charset="2"/>
              <a:buChar char="§"/>
            </a:pPr>
            <a:r>
              <a:rPr lang="fr-FR" sz="2000" dirty="0"/>
              <a:t>Cet attribut est  alors  retenu  pour  la  branche  en  cours  puisqu’il  permet  de  classer  plus  facilement l’ensemble des données à ce niveau de l’arbre.</a:t>
            </a:r>
          </a:p>
          <a:p>
            <a:pPr marL="76200" lvl="0" indent="0">
              <a:buNone/>
            </a:pPr>
            <a:endParaRPr lang="fr-FR" sz="2000" dirty="0"/>
          </a:p>
          <a:p>
            <a:pPr lvl="0">
              <a:buFont typeface="Wingdings" panose="05000000000000000000" pitchFamily="2" charset="2"/>
              <a:buChar char="§"/>
            </a:pPr>
            <a:endParaRPr lang="fr-FR" sz="2000"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40</a:t>
            </a:fld>
            <a:endParaRPr/>
          </a:p>
        </p:txBody>
      </p:sp>
    </p:spTree>
    <p:extLst>
      <p:ext uri="{BB962C8B-B14F-4D97-AF65-F5344CB8AC3E}">
        <p14:creationId xmlns="" xmlns:p14="http://schemas.microsoft.com/office/powerpoint/2010/main" val="873984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83568" y="664300"/>
            <a:ext cx="7871340" cy="653700"/>
          </a:xfrm>
          <a:prstGeom prst="rect">
            <a:avLst/>
          </a:prstGeom>
        </p:spPr>
        <p:txBody>
          <a:bodyPr spcFirstLastPara="1" wrap="square" lIns="0" tIns="0" rIns="0" bIns="0" anchor="ctr" anchorCtr="0">
            <a:noAutofit/>
          </a:bodyPr>
          <a:lstStyle/>
          <a:p>
            <a:r>
              <a:rPr lang="fr-FR" sz="3200" b="1" dirty="0"/>
              <a:t>Algorithmes C4.5 </a:t>
            </a:r>
            <a:endParaRPr lang="en" sz="3200" b="1" dirty="0"/>
          </a:p>
        </p:txBody>
      </p:sp>
      <p:sp>
        <p:nvSpPr>
          <p:cNvPr id="551" name="Google Shape;551;p18"/>
          <p:cNvSpPr txBox="1">
            <a:spLocks noGrp="1"/>
          </p:cNvSpPr>
          <p:nvPr>
            <p:ph type="body" idx="1"/>
          </p:nvPr>
        </p:nvSpPr>
        <p:spPr>
          <a:xfrm>
            <a:off x="971600" y="1635646"/>
            <a:ext cx="7532654" cy="3363838"/>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Amélioration de l’algorithme ID3.</a:t>
            </a:r>
          </a:p>
          <a:p>
            <a:pPr lvl="0">
              <a:buFont typeface="Wingdings" panose="05000000000000000000" pitchFamily="2" charset="2"/>
              <a:buChar char="§"/>
            </a:pPr>
            <a:r>
              <a:rPr lang="fr-FR" sz="2000" dirty="0"/>
              <a:t>Permet de traiter des attributs quantitatifs. </a:t>
            </a:r>
          </a:p>
          <a:p>
            <a:pPr lvl="0">
              <a:buFont typeface="Wingdings" panose="05000000000000000000" pitchFamily="2" charset="2"/>
              <a:buChar char="§"/>
            </a:pPr>
            <a:r>
              <a:rPr lang="fr-FR" sz="2000" dirty="0"/>
              <a:t>C4.5 utilise la fonction du gain d’entropie pour le choix des attributs à considérer à chaque niveau de l’arbre. </a:t>
            </a:r>
          </a:p>
          <a:p>
            <a:pPr lvl="0">
              <a:buFont typeface="Wingdings" panose="05000000000000000000" pitchFamily="2" charset="2"/>
              <a:buChar char="§"/>
            </a:pPr>
            <a:r>
              <a:rPr lang="fr-FR" sz="2000" dirty="0"/>
              <a:t>C4.5 a été amélioré sous l’appellation C5, qui permet une rapidité d’exécution et une efficacité d’utilisation de la mémoire plus  élevée. </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41</a:t>
            </a:fld>
            <a:endParaRPr/>
          </a:p>
        </p:txBody>
      </p:sp>
    </p:spTree>
    <p:extLst>
      <p:ext uri="{BB962C8B-B14F-4D97-AF65-F5344CB8AC3E}">
        <p14:creationId xmlns="" xmlns:p14="http://schemas.microsoft.com/office/powerpoint/2010/main" val="9948072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83568" y="664300"/>
            <a:ext cx="7871340" cy="653700"/>
          </a:xfrm>
          <a:prstGeom prst="rect">
            <a:avLst/>
          </a:prstGeom>
        </p:spPr>
        <p:txBody>
          <a:bodyPr spcFirstLastPara="1" wrap="square" lIns="0" tIns="0" rIns="0" bIns="0" anchor="ctr" anchorCtr="0">
            <a:noAutofit/>
          </a:bodyPr>
          <a:lstStyle/>
          <a:p>
            <a:r>
              <a:rPr lang="fr-FR" sz="3200" b="1" dirty="0"/>
              <a:t>Algorithmes CART </a:t>
            </a:r>
            <a:endParaRPr lang="en" sz="3200" b="1" dirty="0"/>
          </a:p>
        </p:txBody>
      </p:sp>
      <p:sp>
        <p:nvSpPr>
          <p:cNvPr id="551" name="Google Shape;551;p18"/>
          <p:cNvSpPr txBox="1">
            <a:spLocks noGrp="1"/>
          </p:cNvSpPr>
          <p:nvPr>
            <p:ph type="body" idx="1"/>
          </p:nvPr>
        </p:nvSpPr>
        <p:spPr>
          <a:xfrm>
            <a:off x="971600" y="1635646"/>
            <a:ext cx="7532654" cy="3363838"/>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CART (Classification And </a:t>
            </a:r>
            <a:r>
              <a:rPr lang="fr-FR" sz="2000" dirty="0" err="1"/>
              <a:t>Regression</a:t>
            </a:r>
            <a:r>
              <a:rPr lang="fr-FR" sz="2000" dirty="0"/>
              <a:t> </a:t>
            </a:r>
            <a:r>
              <a:rPr lang="fr-FR" sz="2000" dirty="0" err="1"/>
              <a:t>Trees</a:t>
            </a:r>
            <a:r>
              <a:rPr lang="fr-FR" sz="2000" dirty="0"/>
              <a:t>) permet la construction d’un arbre de décision.</a:t>
            </a:r>
          </a:p>
          <a:p>
            <a:pPr lvl="0">
              <a:buFont typeface="Wingdings" panose="05000000000000000000" pitchFamily="2" charset="2"/>
              <a:buChar char="§"/>
            </a:pPr>
            <a:r>
              <a:rPr lang="fr-FR" sz="2000" dirty="0"/>
              <a:t>CART pose seulement de questions-test binaires (arbres binaires).</a:t>
            </a:r>
          </a:p>
          <a:p>
            <a:pPr lvl="0">
              <a:buFont typeface="Wingdings" panose="05000000000000000000" pitchFamily="2" charset="2"/>
              <a:buChar char="§"/>
            </a:pPr>
            <a:r>
              <a:rPr lang="fr-FR" sz="2000" dirty="0"/>
              <a:t>Il utilise la fonction GINI et fonctionne aussi pour des attributs aux valeurs continues.</a:t>
            </a:r>
          </a:p>
          <a:p>
            <a:pPr lvl="0">
              <a:buFont typeface="Wingdings" panose="05000000000000000000" pitchFamily="2" charset="2"/>
              <a:buChar char="§"/>
            </a:pPr>
            <a:r>
              <a:rPr lang="fr-FR" sz="2000" dirty="0"/>
              <a:t>CART cherche tous les attributs et tous les seuils pour trouver celui qui donne la meilleure homogénéité du découpage.</a:t>
            </a:r>
          </a:p>
          <a:p>
            <a:pPr lvl="0">
              <a:buFont typeface="Wingdings" panose="05000000000000000000" pitchFamily="2" charset="2"/>
              <a:buChar char="§"/>
            </a:pPr>
            <a:endParaRPr lang="fr-FR" sz="2000"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42</a:t>
            </a:fld>
            <a:endParaRPr/>
          </a:p>
        </p:txBody>
      </p:sp>
    </p:spTree>
    <p:extLst>
      <p:ext uri="{BB962C8B-B14F-4D97-AF65-F5344CB8AC3E}">
        <p14:creationId xmlns="" xmlns:p14="http://schemas.microsoft.com/office/powerpoint/2010/main" val="7160077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83568" y="664300"/>
            <a:ext cx="7871340" cy="653700"/>
          </a:xfrm>
          <a:prstGeom prst="rect">
            <a:avLst/>
          </a:prstGeom>
        </p:spPr>
        <p:txBody>
          <a:bodyPr spcFirstLastPara="1" wrap="square" lIns="0" tIns="0" rIns="0" bIns="0" anchor="ctr" anchorCtr="0">
            <a:noAutofit/>
          </a:bodyPr>
          <a:lstStyle/>
          <a:p>
            <a:r>
              <a:rPr lang="fr-FR" sz="3200" b="1" dirty="0"/>
              <a:t>Surapprentissage</a:t>
            </a:r>
            <a:endParaRPr lang="en" sz="3200" b="1" dirty="0"/>
          </a:p>
        </p:txBody>
      </p:sp>
      <p:sp>
        <p:nvSpPr>
          <p:cNvPr id="551" name="Google Shape;551;p18"/>
          <p:cNvSpPr txBox="1">
            <a:spLocks noGrp="1"/>
          </p:cNvSpPr>
          <p:nvPr>
            <p:ph type="body" idx="1"/>
          </p:nvPr>
        </p:nvSpPr>
        <p:spPr>
          <a:xfrm>
            <a:off x="971600" y="1635646"/>
            <a:ext cx="7532654" cy="3363838"/>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Dans le cas extrême où l'arbre a autant de feuilles qu'il y a d'individus dans la population (d'enregistrements dans le jeu de données).</a:t>
            </a:r>
          </a:p>
          <a:p>
            <a:pPr lvl="0">
              <a:buFont typeface="Wingdings" panose="05000000000000000000" pitchFamily="2" charset="2"/>
              <a:buChar char="§"/>
            </a:pPr>
            <a:r>
              <a:rPr lang="fr-FR" sz="2000" dirty="0"/>
              <a:t>L'arbre ne commet alors aucune erreur sur cet échantillon puisqu'il en épouse toutes les caractéristiques, mais il </a:t>
            </a:r>
            <a:r>
              <a:rPr lang="fr-FR" sz="2000" b="1" dirty="0"/>
              <a:t>n'est pas généralisabl</a:t>
            </a:r>
            <a:r>
              <a:rPr lang="fr-FR" sz="2000" dirty="0"/>
              <a:t>e à un autre échantillon. </a:t>
            </a:r>
          </a:p>
          <a:p>
            <a:pPr lvl="0">
              <a:buFont typeface="Wingdings" panose="05000000000000000000" pitchFamily="2" charset="2"/>
              <a:buChar char="§"/>
            </a:pPr>
            <a:r>
              <a:rPr lang="fr-FR" sz="2000" dirty="0"/>
              <a:t>Ce problème, nommé surapprentissage ou surajustement (</a:t>
            </a:r>
            <a:r>
              <a:rPr lang="fr-FR" sz="2000" dirty="0" err="1"/>
              <a:t>overfitting</a:t>
            </a:r>
            <a:r>
              <a:rPr lang="fr-FR" sz="2000" dirty="0"/>
              <a:t>).</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43</a:t>
            </a:fld>
            <a:endParaRPr/>
          </a:p>
        </p:txBody>
      </p:sp>
    </p:spTree>
    <p:extLst>
      <p:ext uri="{BB962C8B-B14F-4D97-AF65-F5344CB8AC3E}">
        <p14:creationId xmlns="" xmlns:p14="http://schemas.microsoft.com/office/powerpoint/2010/main" val="25442165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83568" y="664300"/>
            <a:ext cx="7871340" cy="653700"/>
          </a:xfrm>
          <a:prstGeom prst="rect">
            <a:avLst/>
          </a:prstGeom>
        </p:spPr>
        <p:txBody>
          <a:bodyPr spcFirstLastPara="1" wrap="square" lIns="0" tIns="0" rIns="0" bIns="0" anchor="ctr" anchorCtr="0">
            <a:noAutofit/>
          </a:bodyPr>
          <a:lstStyle/>
          <a:p>
            <a:r>
              <a:rPr lang="fr-FR" sz="3200" b="1" dirty="0"/>
              <a:t>Surapprentissage</a:t>
            </a:r>
            <a:endParaRPr lang="en" sz="3200" b="1" dirty="0"/>
          </a:p>
        </p:txBody>
      </p:sp>
      <p:sp>
        <p:nvSpPr>
          <p:cNvPr id="551" name="Google Shape;551;p18"/>
          <p:cNvSpPr txBox="1">
            <a:spLocks noGrp="1"/>
          </p:cNvSpPr>
          <p:nvPr>
            <p:ph type="body" idx="1"/>
          </p:nvPr>
        </p:nvSpPr>
        <p:spPr>
          <a:xfrm>
            <a:off x="971600" y="1635646"/>
            <a:ext cx="7532654" cy="3363838"/>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Veiller à construire un arbre qui soit le plus petit possible en assurant la meilleure performance possible. </a:t>
            </a:r>
          </a:p>
          <a:p>
            <a:pPr lvl="0">
              <a:buFont typeface="Wingdings" panose="05000000000000000000" pitchFamily="2" charset="2"/>
              <a:buChar char="§"/>
            </a:pPr>
            <a:r>
              <a:rPr lang="fr-FR" sz="2000" dirty="0"/>
              <a:t>Plus un arbre sera petit, plus il sera stable dans ses prévisions futures.</a:t>
            </a:r>
          </a:p>
          <a:p>
            <a:pPr lvl="0">
              <a:buFont typeface="Wingdings" panose="05000000000000000000" pitchFamily="2" charset="2"/>
              <a:buChar char="§"/>
            </a:pPr>
            <a:r>
              <a:rPr lang="fr-FR" sz="2000" dirty="0"/>
              <a:t>Pour éviter le sur-apprentissage (créer un arbre avec une grande profondeur), on peut utiliser la technique d’élagage:</a:t>
            </a:r>
          </a:p>
          <a:p>
            <a:pPr lvl="1">
              <a:buFont typeface="Wingdings" panose="05000000000000000000" pitchFamily="2" charset="2"/>
              <a:buChar char="§"/>
            </a:pPr>
            <a:r>
              <a:rPr lang="fr-FR" sz="2000" dirty="0"/>
              <a:t>Le pré-élagage</a:t>
            </a:r>
          </a:p>
          <a:p>
            <a:pPr lvl="1">
              <a:buFont typeface="Wingdings" panose="05000000000000000000" pitchFamily="2" charset="2"/>
              <a:buChar char="§"/>
            </a:pPr>
            <a:r>
              <a:rPr lang="fr-FR" sz="2000" dirty="0"/>
              <a:t>Le post-élagage</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44</a:t>
            </a:fld>
            <a:endParaRPr/>
          </a:p>
        </p:txBody>
      </p:sp>
    </p:spTree>
    <p:extLst>
      <p:ext uri="{BB962C8B-B14F-4D97-AF65-F5344CB8AC3E}">
        <p14:creationId xmlns="" xmlns:p14="http://schemas.microsoft.com/office/powerpoint/2010/main" val="38150754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83568" y="664300"/>
            <a:ext cx="7871340" cy="653700"/>
          </a:xfrm>
          <a:prstGeom prst="rect">
            <a:avLst/>
          </a:prstGeom>
        </p:spPr>
        <p:txBody>
          <a:bodyPr spcFirstLastPara="1" wrap="square" lIns="0" tIns="0" rIns="0" bIns="0" anchor="ctr" anchorCtr="0">
            <a:noAutofit/>
          </a:bodyPr>
          <a:lstStyle/>
          <a:p>
            <a:r>
              <a:rPr lang="fr-FR" sz="3200" b="1" dirty="0"/>
              <a:t>Le pré-élagage</a:t>
            </a:r>
          </a:p>
        </p:txBody>
      </p:sp>
      <p:sp>
        <p:nvSpPr>
          <p:cNvPr id="551" name="Google Shape;551;p18"/>
          <p:cNvSpPr txBox="1">
            <a:spLocks noGrp="1"/>
          </p:cNvSpPr>
          <p:nvPr>
            <p:ph type="body" idx="1"/>
          </p:nvPr>
        </p:nvSpPr>
        <p:spPr>
          <a:xfrm>
            <a:off x="971600" y="1635646"/>
            <a:ext cx="7532654" cy="3363838"/>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Consiste à proposer des critères d’arrêt lors de la phase d’expansion. </a:t>
            </a:r>
          </a:p>
          <a:p>
            <a:pPr lvl="0">
              <a:buFont typeface="Wingdings" panose="05000000000000000000" pitchFamily="2" charset="2"/>
              <a:buChar char="§"/>
            </a:pPr>
            <a:r>
              <a:rPr lang="fr-FR" sz="2000" dirty="0"/>
              <a:t>Lorsque le groupe est d’effectif trop faible, ou lorsque l'homogénéité d'un sous-ensemble a atteint un niveau suffisant, on considère qu’il n’est plus nécessaire de séparer l'échantillon. </a:t>
            </a:r>
          </a:p>
          <a:p>
            <a:pPr lvl="0">
              <a:buFont typeface="Wingdings" panose="05000000000000000000" pitchFamily="2" charset="2"/>
              <a:buChar char="§"/>
            </a:pPr>
            <a:r>
              <a:rPr lang="fr-FR" sz="2000" dirty="0"/>
              <a:t>Un autre critère souvent rencontré dans ce cadre est l’utilisation d’un test statistique. </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45</a:t>
            </a:fld>
            <a:endParaRPr/>
          </a:p>
        </p:txBody>
      </p:sp>
    </p:spTree>
    <p:extLst>
      <p:ext uri="{BB962C8B-B14F-4D97-AF65-F5344CB8AC3E}">
        <p14:creationId xmlns="" xmlns:p14="http://schemas.microsoft.com/office/powerpoint/2010/main" val="16020562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83568" y="664300"/>
            <a:ext cx="7871340" cy="653700"/>
          </a:xfrm>
          <a:prstGeom prst="rect">
            <a:avLst/>
          </a:prstGeom>
        </p:spPr>
        <p:txBody>
          <a:bodyPr spcFirstLastPara="1" wrap="square" lIns="0" tIns="0" rIns="0" bIns="0" anchor="ctr" anchorCtr="0">
            <a:noAutofit/>
          </a:bodyPr>
          <a:lstStyle/>
          <a:p>
            <a:r>
              <a:rPr lang="fr-FR" sz="3200" b="1" dirty="0"/>
              <a:t>Le post-élagage</a:t>
            </a:r>
          </a:p>
        </p:txBody>
      </p:sp>
      <p:sp>
        <p:nvSpPr>
          <p:cNvPr id="551" name="Google Shape;551;p18"/>
          <p:cNvSpPr txBox="1">
            <a:spLocks noGrp="1"/>
          </p:cNvSpPr>
          <p:nvPr>
            <p:ph type="body" idx="1"/>
          </p:nvPr>
        </p:nvSpPr>
        <p:spPr>
          <a:xfrm>
            <a:off x="971600" y="1491630"/>
            <a:ext cx="7532654" cy="365187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1800" dirty="0"/>
              <a:t>Consiste à construire l’arbre en deux temps : </a:t>
            </a:r>
          </a:p>
          <a:p>
            <a:pPr lvl="1">
              <a:buFont typeface="Arial" panose="020B0604020202020204" pitchFamily="34" charset="0"/>
              <a:buChar char="•"/>
            </a:pPr>
            <a:r>
              <a:rPr lang="fr-FR" sz="1800" dirty="0"/>
              <a:t>Construire d'abord l’arbre dont les feuilles sont le plus homogènes possibles. </a:t>
            </a:r>
          </a:p>
          <a:p>
            <a:pPr lvl="1">
              <a:buFont typeface="Arial" panose="020B0604020202020204" pitchFamily="34" charset="0"/>
              <a:buChar char="•"/>
            </a:pPr>
            <a:r>
              <a:rPr lang="fr-FR" sz="1800" dirty="0"/>
              <a:t>Puis réduire l’arbre, </a:t>
            </a:r>
            <a:r>
              <a:rPr lang="fr-FR" sz="1800" dirty="0" err="1"/>
              <a:t>ie</a:t>
            </a:r>
            <a:r>
              <a:rPr lang="fr-FR" sz="1800" dirty="0"/>
              <a:t>. éliminer les branches qui n’améliorent pas la performance de l’arbre.</a:t>
            </a:r>
          </a:p>
          <a:p>
            <a:pPr lvl="0">
              <a:buFont typeface="Wingdings" panose="05000000000000000000" pitchFamily="2" charset="2"/>
              <a:buChar char="§"/>
            </a:pPr>
            <a:r>
              <a:rPr lang="fr-FR" sz="1800" dirty="0"/>
              <a:t>Selon les cas, cette seconde portion des données est désignée par le terme d’échantillon de validation ou échantillon de test, introduisant une confusion avec l’échantillon utilisé pour mesurer les performances des modèles.</a:t>
            </a:r>
          </a:p>
          <a:p>
            <a:pPr lvl="0">
              <a:buFont typeface="Wingdings" panose="05000000000000000000" pitchFamily="2" charset="2"/>
              <a:buChar char="§"/>
            </a:pPr>
            <a:r>
              <a:rPr lang="fr-FR" sz="1800" dirty="0"/>
              <a:t>Le terme d'échantillon d’élagage permet de le désigner sans ambiguïté </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46</a:t>
            </a:fld>
            <a:endParaRPr/>
          </a:p>
        </p:txBody>
      </p:sp>
    </p:spTree>
    <p:extLst>
      <p:ext uri="{BB962C8B-B14F-4D97-AF65-F5344CB8AC3E}">
        <p14:creationId xmlns="" xmlns:p14="http://schemas.microsoft.com/office/powerpoint/2010/main" val="10483618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13"/>
          <p:cNvSpPr txBox="1">
            <a:spLocks noGrp="1"/>
          </p:cNvSpPr>
          <p:nvPr>
            <p:ph type="ctrTitle"/>
          </p:nvPr>
        </p:nvSpPr>
        <p:spPr>
          <a:xfrm>
            <a:off x="685800" y="1541675"/>
            <a:ext cx="5740200" cy="2060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K-Means</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200" b="1" dirty="0"/>
              <a:t>Clustering: Définition</a:t>
            </a:r>
            <a:endParaRPr sz="3200" b="1" dirty="0"/>
          </a:p>
        </p:txBody>
      </p:sp>
      <p:sp>
        <p:nvSpPr>
          <p:cNvPr id="551" name="Google Shape;551;p18"/>
          <p:cNvSpPr txBox="1">
            <a:spLocks noGrp="1"/>
          </p:cNvSpPr>
          <p:nvPr>
            <p:ph type="body" idx="1"/>
          </p:nvPr>
        </p:nvSpPr>
        <p:spPr>
          <a:xfrm>
            <a:off x="1043608" y="1707654"/>
            <a:ext cx="7380000" cy="2952000"/>
          </a:xfrm>
          <a:prstGeom prst="rect">
            <a:avLst/>
          </a:prstGeom>
          <a:ln>
            <a:solidFill>
              <a:schemeClr val="accent1"/>
            </a:solid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spcFirstLastPara="1" wrap="square" lIns="0" tIns="0" rIns="0" bIns="0" anchor="ctr" anchorCtr="0">
            <a:noAutofit/>
          </a:bodyPr>
          <a:lstStyle/>
          <a:p>
            <a:pPr lvl="0" algn="ctr">
              <a:spcBef>
                <a:spcPts val="1200"/>
              </a:spcBef>
              <a:buNone/>
            </a:pPr>
            <a:r>
              <a:rPr lang="fr-FR" dirty="0"/>
              <a:t>Le clustering est une méthode d’apprentissage </a:t>
            </a:r>
            <a:r>
              <a:rPr lang="fr-FR" b="1" dirty="0"/>
              <a:t>non supervisé</a:t>
            </a:r>
            <a:r>
              <a:rPr lang="fr-FR" dirty="0"/>
              <a:t>. La mise en cluster consiste à diviser un ensemble de données en un certain nombre de </a:t>
            </a:r>
            <a:r>
              <a:rPr lang="fr-FR" b="1" dirty="0"/>
              <a:t>groupes</a:t>
            </a:r>
            <a:r>
              <a:rPr lang="fr-FR" dirty="0"/>
              <a:t>, de sorte que les ensembles de données appartenant aux mêmes groupes se </a:t>
            </a:r>
            <a:r>
              <a:rPr lang="fr-FR" b="1" dirty="0"/>
              <a:t>ressemblent</a:t>
            </a:r>
            <a:r>
              <a:rPr lang="fr-FR" dirty="0"/>
              <a:t> davantage que ceux d’autres groupes.</a:t>
            </a:r>
            <a:endParaRPr sz="2800" b="1" dirty="0">
              <a:latin typeface="Barlow Light" panose="020B0604020202020204" charset="0"/>
            </a:endParaRP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48</a:t>
            </a:fld>
            <a:endParaRPr/>
          </a:p>
        </p:txBody>
      </p:sp>
    </p:spTree>
    <p:extLst>
      <p:ext uri="{BB962C8B-B14F-4D97-AF65-F5344CB8AC3E}">
        <p14:creationId xmlns="" xmlns:p14="http://schemas.microsoft.com/office/powerpoint/2010/main" val="26695959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200" b="1" dirty="0"/>
              <a:t>Apprentissage non-supervisé</a:t>
            </a:r>
            <a:endParaRPr sz="3200" b="1" dirty="0"/>
          </a:p>
        </p:txBody>
      </p:sp>
      <p:sp>
        <p:nvSpPr>
          <p:cNvPr id="551" name="Google Shape;551;p18"/>
          <p:cNvSpPr txBox="1">
            <a:spLocks noGrp="1"/>
          </p:cNvSpPr>
          <p:nvPr>
            <p:ph type="body" idx="1"/>
          </p:nvPr>
        </p:nvSpPr>
        <p:spPr>
          <a:xfrm>
            <a:off x="1182274" y="1779662"/>
            <a:ext cx="6779452" cy="2404154"/>
          </a:xfrm>
          <a:prstGeom prst="rect">
            <a:avLst/>
          </a:prstGeom>
          <a:ln>
            <a:solidFill>
              <a:schemeClr val="bg1"/>
            </a:solidFill>
          </a:ln>
          <a:effectLst/>
        </p:spPr>
        <p:style>
          <a:lnRef idx="2">
            <a:schemeClr val="dk1"/>
          </a:lnRef>
          <a:fillRef idx="1">
            <a:schemeClr val="lt1"/>
          </a:fillRef>
          <a:effectRef idx="0">
            <a:schemeClr val="dk1"/>
          </a:effectRef>
          <a:fontRef idx="minor">
            <a:schemeClr val="dk1"/>
          </a:fontRef>
        </p:style>
        <p:txBody>
          <a:bodyPr spcFirstLastPara="1" wrap="square" lIns="0" tIns="0" rIns="0" bIns="0" anchor="ctr" anchorCtr="0">
            <a:noAutofit/>
          </a:bodyPr>
          <a:lstStyle/>
          <a:p>
            <a:pPr>
              <a:spcBef>
                <a:spcPts val="0"/>
              </a:spcBef>
              <a:buFont typeface="Wingdings" panose="05000000000000000000" pitchFamily="2" charset="2"/>
              <a:buChar char="§"/>
            </a:pPr>
            <a:r>
              <a:rPr lang="fr-FR" sz="2200" dirty="0"/>
              <a:t>Dans l’apprentissage non supervisé, l’apprentissage par la machine se fait de façon totalement autonome. </a:t>
            </a:r>
          </a:p>
          <a:p>
            <a:pPr>
              <a:spcBef>
                <a:spcPts val="0"/>
              </a:spcBef>
              <a:buFont typeface="Wingdings" panose="05000000000000000000" pitchFamily="2" charset="2"/>
              <a:buChar char="§"/>
            </a:pPr>
            <a:r>
              <a:rPr lang="fr-FR" sz="2200" dirty="0"/>
              <a:t>Des données sont alors communiquées à la machine sans lui fournir les exemples de résultats attendus en sortie.</a:t>
            </a:r>
            <a:endParaRPr lang="fr-FR" sz="2200" b="1" dirty="0">
              <a:solidFill>
                <a:schemeClr val="accent4"/>
              </a:solidFill>
            </a:endParaRP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49</a:t>
            </a:fld>
            <a:endParaRPr/>
          </a:p>
        </p:txBody>
      </p:sp>
    </p:spTree>
    <p:extLst>
      <p:ext uri="{BB962C8B-B14F-4D97-AF65-F5344CB8AC3E}">
        <p14:creationId xmlns="" xmlns:p14="http://schemas.microsoft.com/office/powerpoint/2010/main" val="40245319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A2938A4-079E-4F5C-9754-5ACB0CFE14A4}"/>
              </a:ext>
            </a:extLst>
          </p:cNvPr>
          <p:cNvSpPr>
            <a:spLocks noGrp="1"/>
          </p:cNvSpPr>
          <p:nvPr>
            <p:ph type="title"/>
          </p:nvPr>
        </p:nvSpPr>
        <p:spPr/>
        <p:txBody>
          <a:bodyPr/>
          <a:lstStyle/>
          <a:p>
            <a:r>
              <a:rPr lang="en" sz="3200" b="1" dirty="0"/>
              <a:t>Apprentissage non-supervisé</a:t>
            </a:r>
            <a:endParaRPr lang="fr-FR" sz="2800" dirty="0"/>
          </a:p>
        </p:txBody>
      </p:sp>
      <p:sp>
        <p:nvSpPr>
          <p:cNvPr id="3" name="Espace réservé du texte 2">
            <a:extLst>
              <a:ext uri="{FF2B5EF4-FFF2-40B4-BE49-F238E27FC236}">
                <a16:creationId xmlns="" xmlns:a16="http://schemas.microsoft.com/office/drawing/2014/main" id="{57EFF35F-B31A-4A74-8D02-709084726A9F}"/>
              </a:ext>
            </a:extLst>
          </p:cNvPr>
          <p:cNvSpPr>
            <a:spLocks noGrp="1"/>
          </p:cNvSpPr>
          <p:nvPr>
            <p:ph type="body" idx="1"/>
          </p:nvPr>
        </p:nvSpPr>
        <p:spPr>
          <a:xfrm>
            <a:off x="1199774" y="1599700"/>
            <a:ext cx="6900618" cy="3348314"/>
          </a:xfrm>
        </p:spPr>
        <p:txBody>
          <a:bodyPr/>
          <a:lstStyle/>
          <a:p>
            <a:pPr>
              <a:buFont typeface="Wingdings" panose="05000000000000000000" pitchFamily="2" charset="2"/>
              <a:buChar char="§"/>
            </a:pPr>
            <a:r>
              <a:rPr lang="fr-FR" sz="2000" dirty="0"/>
              <a:t>En apprentissage non supervisé, les données sont représentées comme suit :</a:t>
            </a:r>
          </a:p>
          <a:p>
            <a:pPr>
              <a:buFont typeface="Wingdings" panose="05000000000000000000" pitchFamily="2" charset="2"/>
              <a:buChar char="§"/>
            </a:pPr>
            <a:endParaRPr lang="fr-FR" sz="2000" dirty="0"/>
          </a:p>
          <a:p>
            <a:pPr>
              <a:buFont typeface="Wingdings" panose="05000000000000000000" pitchFamily="2" charset="2"/>
              <a:buChar char="§"/>
            </a:pPr>
            <a:endParaRPr lang="fr-FR" sz="2000" dirty="0"/>
          </a:p>
          <a:p>
            <a:pPr>
              <a:buFont typeface="Wingdings" panose="05000000000000000000" pitchFamily="2" charset="2"/>
              <a:buChar char="§"/>
            </a:pPr>
            <a:endParaRPr lang="fr-FR" sz="2000" dirty="0"/>
          </a:p>
          <a:p>
            <a:pPr>
              <a:buFont typeface="Wingdings" panose="05000000000000000000" pitchFamily="2" charset="2"/>
              <a:buChar char="§"/>
            </a:pPr>
            <a:endParaRPr lang="fr-FR" sz="2000" dirty="0"/>
          </a:p>
          <a:p>
            <a:pPr>
              <a:buFont typeface="Wingdings" panose="05000000000000000000" pitchFamily="2" charset="2"/>
              <a:buChar char="§"/>
            </a:pPr>
            <a:r>
              <a:rPr lang="fr-FR" sz="2000" dirty="0"/>
              <a:t>Chaque ligne représente un individu (une instance)</a:t>
            </a:r>
          </a:p>
          <a:p>
            <a:pPr>
              <a:buFont typeface="Wingdings" panose="05000000000000000000" pitchFamily="2" charset="2"/>
              <a:buChar char="§"/>
            </a:pPr>
            <a:endParaRPr lang="fr-FR" sz="2000" dirty="0"/>
          </a:p>
          <a:p>
            <a:pPr>
              <a:buFont typeface="Wingdings" panose="05000000000000000000" pitchFamily="2" charset="2"/>
              <a:buChar char="§"/>
            </a:pPr>
            <a:endParaRPr lang="fr-FR" sz="2000" dirty="0"/>
          </a:p>
        </p:txBody>
      </p:sp>
      <p:sp>
        <p:nvSpPr>
          <p:cNvPr id="4" name="Espace réservé du numéro de diapositive 3">
            <a:extLst>
              <a:ext uri="{FF2B5EF4-FFF2-40B4-BE49-F238E27FC236}">
                <a16:creationId xmlns="" xmlns:a16="http://schemas.microsoft.com/office/drawing/2014/main" id="{AE8CBCBB-2084-4CA6-A5D0-3B965D8A0A1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50</a:t>
            </a:fld>
            <a:endParaRPr lang="fr-FR"/>
          </a:p>
        </p:txBody>
      </p:sp>
      <p:pic>
        <p:nvPicPr>
          <p:cNvPr id="6" name="Image 5">
            <a:extLst>
              <a:ext uri="{FF2B5EF4-FFF2-40B4-BE49-F238E27FC236}">
                <a16:creationId xmlns="" xmlns:a16="http://schemas.microsoft.com/office/drawing/2014/main" id="{293709B2-D438-45C5-B368-AF215F7D976C}"/>
              </a:ext>
            </a:extLst>
          </p:cNvPr>
          <p:cNvPicPr>
            <a:picLocks noChangeAspect="1"/>
          </p:cNvPicPr>
          <p:nvPr/>
        </p:nvPicPr>
        <p:blipFill>
          <a:blip r:embed="rId2"/>
          <a:stretch>
            <a:fillRect/>
          </a:stretch>
        </p:blipFill>
        <p:spPr>
          <a:xfrm>
            <a:off x="2699792" y="2499742"/>
            <a:ext cx="3065314" cy="1378446"/>
          </a:xfrm>
          <a:prstGeom prst="rect">
            <a:avLst/>
          </a:prstGeom>
        </p:spPr>
      </p:pic>
    </p:spTree>
    <p:extLst>
      <p:ext uri="{BB962C8B-B14F-4D97-AF65-F5344CB8AC3E}">
        <p14:creationId xmlns="" xmlns:p14="http://schemas.microsoft.com/office/powerpoint/2010/main" val="33750041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A2938A4-079E-4F5C-9754-5ACB0CFE14A4}"/>
              </a:ext>
            </a:extLst>
          </p:cNvPr>
          <p:cNvSpPr>
            <a:spLocks noGrp="1"/>
          </p:cNvSpPr>
          <p:nvPr>
            <p:ph type="title"/>
          </p:nvPr>
        </p:nvSpPr>
        <p:spPr/>
        <p:txBody>
          <a:bodyPr/>
          <a:lstStyle/>
          <a:p>
            <a:r>
              <a:rPr lang="fr-FR" sz="3200" b="1" dirty="0"/>
              <a:t>Clustering: Définition</a:t>
            </a:r>
            <a:endParaRPr lang="fr-FR" sz="2800" dirty="0"/>
          </a:p>
        </p:txBody>
      </p:sp>
      <p:sp>
        <p:nvSpPr>
          <p:cNvPr id="3" name="Espace réservé du texte 2">
            <a:extLst>
              <a:ext uri="{FF2B5EF4-FFF2-40B4-BE49-F238E27FC236}">
                <a16:creationId xmlns="" xmlns:a16="http://schemas.microsoft.com/office/drawing/2014/main" id="{57EFF35F-B31A-4A74-8D02-709084726A9F}"/>
              </a:ext>
            </a:extLst>
          </p:cNvPr>
          <p:cNvSpPr>
            <a:spLocks noGrp="1"/>
          </p:cNvSpPr>
          <p:nvPr>
            <p:ph type="body" idx="1"/>
          </p:nvPr>
        </p:nvSpPr>
        <p:spPr>
          <a:xfrm>
            <a:off x="1199774" y="1599700"/>
            <a:ext cx="6900618" cy="3348314"/>
          </a:xfrm>
        </p:spPr>
        <p:txBody>
          <a:bodyPr/>
          <a:lstStyle/>
          <a:p>
            <a:pPr>
              <a:spcBef>
                <a:spcPts val="2400"/>
              </a:spcBef>
              <a:buFont typeface="Wingdings" panose="05000000000000000000" pitchFamily="2" charset="2"/>
              <a:buChar char="§"/>
            </a:pPr>
            <a:r>
              <a:rPr lang="fr-FR" sz="2200" dirty="0"/>
              <a:t>Le clustering va </a:t>
            </a:r>
            <a:r>
              <a:rPr lang="fr-FR" sz="2200" b="1" dirty="0"/>
              <a:t>regrouper</a:t>
            </a:r>
            <a:r>
              <a:rPr lang="fr-FR" sz="2200" dirty="0"/>
              <a:t> en plusieurs familles (</a:t>
            </a:r>
            <a:r>
              <a:rPr lang="fr-FR" sz="2200" b="1" dirty="0"/>
              <a:t>clusters</a:t>
            </a:r>
            <a:r>
              <a:rPr lang="fr-FR" sz="2200" dirty="0"/>
              <a:t>) les individus/objets en fonction de leurs </a:t>
            </a:r>
            <a:r>
              <a:rPr lang="fr-FR" sz="2200" b="1" dirty="0"/>
              <a:t>caractéristiques</a:t>
            </a:r>
            <a:r>
              <a:rPr lang="fr-FR" sz="2200" dirty="0"/>
              <a:t>. </a:t>
            </a:r>
          </a:p>
          <a:p>
            <a:pPr>
              <a:spcBef>
                <a:spcPts val="2400"/>
              </a:spcBef>
              <a:buFont typeface="Wingdings" panose="05000000000000000000" pitchFamily="2" charset="2"/>
              <a:buChar char="§"/>
            </a:pPr>
            <a:r>
              <a:rPr lang="fr-FR" sz="2200" dirty="0"/>
              <a:t>Les individus se trouvant dans un </a:t>
            </a:r>
            <a:r>
              <a:rPr lang="fr-FR" sz="2200" b="1" dirty="0"/>
              <a:t>même</a:t>
            </a:r>
            <a:r>
              <a:rPr lang="fr-FR" sz="2200" dirty="0"/>
              <a:t> cluster sont </a:t>
            </a:r>
            <a:r>
              <a:rPr lang="fr-FR" sz="2200" b="1" dirty="0"/>
              <a:t>similaires</a:t>
            </a:r>
            <a:r>
              <a:rPr lang="fr-FR" sz="2200" dirty="0"/>
              <a:t> et les données se trouvant dans un autre cluster ne le sont pas.</a:t>
            </a:r>
          </a:p>
        </p:txBody>
      </p:sp>
      <p:sp>
        <p:nvSpPr>
          <p:cNvPr id="4" name="Espace réservé du numéro de diapositive 3">
            <a:extLst>
              <a:ext uri="{FF2B5EF4-FFF2-40B4-BE49-F238E27FC236}">
                <a16:creationId xmlns="" xmlns:a16="http://schemas.microsoft.com/office/drawing/2014/main" id="{AE8CBCBB-2084-4CA6-A5D0-3B965D8A0A1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51</a:t>
            </a:fld>
            <a:endParaRPr lang="fr-FR"/>
          </a:p>
        </p:txBody>
      </p:sp>
    </p:spTree>
    <p:extLst>
      <p:ext uri="{BB962C8B-B14F-4D97-AF65-F5344CB8AC3E}">
        <p14:creationId xmlns="" xmlns:p14="http://schemas.microsoft.com/office/powerpoint/2010/main" val="33138564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A2938A4-079E-4F5C-9754-5ACB0CFE14A4}"/>
              </a:ext>
            </a:extLst>
          </p:cNvPr>
          <p:cNvSpPr>
            <a:spLocks noGrp="1"/>
          </p:cNvSpPr>
          <p:nvPr>
            <p:ph type="title"/>
          </p:nvPr>
        </p:nvSpPr>
        <p:spPr/>
        <p:txBody>
          <a:bodyPr/>
          <a:lstStyle/>
          <a:p>
            <a:r>
              <a:rPr lang="fr-FR" sz="2800" b="1" dirty="0"/>
              <a:t>Clustering : domaines d’applications</a:t>
            </a:r>
            <a:endParaRPr lang="fr-FR" dirty="0"/>
          </a:p>
        </p:txBody>
      </p:sp>
      <p:sp>
        <p:nvSpPr>
          <p:cNvPr id="3" name="Espace réservé du texte 2">
            <a:extLst>
              <a:ext uri="{FF2B5EF4-FFF2-40B4-BE49-F238E27FC236}">
                <a16:creationId xmlns="" xmlns:a16="http://schemas.microsoft.com/office/drawing/2014/main" id="{57EFF35F-B31A-4A74-8D02-709084726A9F}"/>
              </a:ext>
            </a:extLst>
          </p:cNvPr>
          <p:cNvSpPr>
            <a:spLocks noGrp="1"/>
          </p:cNvSpPr>
          <p:nvPr>
            <p:ph type="body" idx="1"/>
          </p:nvPr>
        </p:nvSpPr>
        <p:spPr>
          <a:xfrm>
            <a:off x="1199774" y="1923678"/>
            <a:ext cx="6900618" cy="3024336"/>
          </a:xfrm>
        </p:spPr>
        <p:txBody>
          <a:bodyPr/>
          <a:lstStyle/>
          <a:p>
            <a:pPr>
              <a:buFont typeface="Wingdings" panose="05000000000000000000" pitchFamily="2" charset="2"/>
              <a:buChar char="§"/>
            </a:pPr>
            <a:r>
              <a:rPr lang="fr-FR" sz="2000" dirty="0" err="1"/>
              <a:t>Text</a:t>
            </a:r>
            <a:r>
              <a:rPr lang="fr-FR" sz="2000" dirty="0"/>
              <a:t> </a:t>
            </a:r>
            <a:r>
              <a:rPr lang="fr-FR" sz="2000" dirty="0" err="1"/>
              <a:t>mining</a:t>
            </a:r>
            <a:r>
              <a:rPr lang="fr-FR" sz="2000" dirty="0"/>
              <a:t> : textes proches, dossiers automatiques.</a:t>
            </a:r>
          </a:p>
          <a:p>
            <a:pPr>
              <a:buFont typeface="Wingdings" panose="05000000000000000000" pitchFamily="2" charset="2"/>
              <a:buChar char="§"/>
            </a:pPr>
            <a:r>
              <a:rPr lang="fr-FR" sz="2000" dirty="0"/>
              <a:t>Web </a:t>
            </a:r>
            <a:r>
              <a:rPr lang="fr-FR" sz="2000" dirty="0" err="1"/>
              <a:t>mining</a:t>
            </a:r>
            <a:r>
              <a:rPr lang="fr-FR" sz="2000" dirty="0"/>
              <a:t> : pages web proches</a:t>
            </a:r>
          </a:p>
          <a:p>
            <a:pPr>
              <a:buFont typeface="Wingdings" panose="05000000000000000000" pitchFamily="2" charset="2"/>
              <a:buChar char="§"/>
            </a:pPr>
            <a:r>
              <a:rPr lang="fr-FR" sz="2000" dirty="0" err="1"/>
              <a:t>BioInformatique</a:t>
            </a:r>
            <a:r>
              <a:rPr lang="fr-FR" sz="2000" dirty="0"/>
              <a:t> : gènes ressemblants</a:t>
            </a:r>
          </a:p>
          <a:p>
            <a:pPr>
              <a:buFont typeface="Wingdings" panose="05000000000000000000" pitchFamily="2" charset="2"/>
              <a:buChar char="§"/>
            </a:pPr>
            <a:r>
              <a:rPr lang="fr-FR" sz="2000" dirty="0"/>
              <a:t>Marketing : segmentation de la clientèle</a:t>
            </a:r>
          </a:p>
          <a:p>
            <a:pPr>
              <a:buFont typeface="Wingdings" panose="05000000000000000000" pitchFamily="2" charset="2"/>
              <a:buChar char="§"/>
            </a:pPr>
            <a:r>
              <a:rPr lang="fr-FR" sz="2000" dirty="0"/>
              <a:t>Web lot </a:t>
            </a:r>
            <a:r>
              <a:rPr lang="fr-FR" sz="2000" dirty="0" err="1"/>
              <a:t>analysis</a:t>
            </a:r>
            <a:r>
              <a:rPr lang="fr-FR" sz="2000" dirty="0"/>
              <a:t> : profils utilisateurs</a:t>
            </a:r>
          </a:p>
          <a:p>
            <a:pPr>
              <a:buFont typeface="Wingdings" panose="05000000000000000000" pitchFamily="2" charset="2"/>
              <a:buChar char="§"/>
            </a:pPr>
            <a:r>
              <a:rPr lang="fr-FR" sz="2000" i="1" dirty="0">
                <a:solidFill>
                  <a:schemeClr val="accent6">
                    <a:lumMod val="50000"/>
                  </a:schemeClr>
                </a:solidFill>
                <a:latin typeface="Cambria Math" panose="02040503050406030204" pitchFamily="18" charset="0"/>
                <a:ea typeface="Cambria Math" panose="02040503050406030204" pitchFamily="18" charset="0"/>
              </a:rPr>
              <a:t>…</a:t>
            </a:r>
          </a:p>
        </p:txBody>
      </p:sp>
      <p:sp>
        <p:nvSpPr>
          <p:cNvPr id="4" name="Espace réservé du numéro de diapositive 3">
            <a:extLst>
              <a:ext uri="{FF2B5EF4-FFF2-40B4-BE49-F238E27FC236}">
                <a16:creationId xmlns="" xmlns:a16="http://schemas.microsoft.com/office/drawing/2014/main" id="{AE8CBCBB-2084-4CA6-A5D0-3B965D8A0A1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52</a:t>
            </a:fld>
            <a:endParaRPr lang="fr-FR"/>
          </a:p>
        </p:txBody>
      </p:sp>
    </p:spTree>
    <p:extLst>
      <p:ext uri="{BB962C8B-B14F-4D97-AF65-F5344CB8AC3E}">
        <p14:creationId xmlns="" xmlns:p14="http://schemas.microsoft.com/office/powerpoint/2010/main" val="2015625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Clustering : les différentes méthodes</a:t>
            </a:r>
            <a:endParaRPr lang="en" sz="3200" b="1" dirty="0"/>
          </a:p>
        </p:txBody>
      </p:sp>
      <p:sp>
        <p:nvSpPr>
          <p:cNvPr id="551" name="Google Shape;551;p18"/>
          <p:cNvSpPr txBox="1">
            <a:spLocks noGrp="1"/>
          </p:cNvSpPr>
          <p:nvPr>
            <p:ph type="body" idx="1"/>
          </p:nvPr>
        </p:nvSpPr>
        <p:spPr>
          <a:xfrm>
            <a:off x="971600" y="1635646"/>
            <a:ext cx="7532654" cy="3312368"/>
          </a:xfrm>
          <a:prstGeom prst="rect">
            <a:avLst/>
          </a:prstGeom>
        </p:spPr>
        <p:txBody>
          <a:bodyPr spcFirstLastPara="1" wrap="square" lIns="0" tIns="0" rIns="0" bIns="0" anchor="t" anchorCtr="0">
            <a:noAutofit/>
          </a:bodyPr>
          <a:lstStyle/>
          <a:p>
            <a:pPr lvl="0">
              <a:spcBef>
                <a:spcPts val="0"/>
              </a:spcBef>
              <a:buFont typeface="Wingdings" panose="05000000000000000000" pitchFamily="2" charset="2"/>
              <a:buChar char="§"/>
            </a:pPr>
            <a:r>
              <a:rPr lang="fr-FR" sz="2000" b="1" u="sng" dirty="0">
                <a:solidFill>
                  <a:schemeClr val="accent4"/>
                </a:solidFill>
                <a:latin typeface="Barlow Light" panose="020B0604020202020204" charset="0"/>
              </a:rPr>
              <a:t>Par partitionnement</a:t>
            </a:r>
            <a:r>
              <a:rPr lang="fr-FR" sz="2000" dirty="0">
                <a:latin typeface="Barlow Light" panose="020B0604020202020204" charset="0"/>
              </a:rPr>
              <a:t>: Deux classes sont toujours disjointes.</a:t>
            </a:r>
          </a:p>
          <a:p>
            <a:pPr marL="533400" lvl="1" indent="0">
              <a:buNone/>
            </a:pPr>
            <a:r>
              <a:rPr lang="fr-FR" sz="2000" b="1" dirty="0">
                <a:latin typeface="Barlow Light" panose="020B0604020202020204" charset="0"/>
              </a:rPr>
              <a:t>Principe</a:t>
            </a:r>
            <a:r>
              <a:rPr lang="fr-FR" sz="2000" dirty="0">
                <a:latin typeface="Barlow Light" panose="020B0604020202020204" charset="0"/>
              </a:rPr>
              <a:t> : partitionnement des objets et évaluation des partitions.</a:t>
            </a:r>
          </a:p>
          <a:p>
            <a:pPr lvl="0">
              <a:spcBef>
                <a:spcPts val="0"/>
              </a:spcBef>
              <a:buFont typeface="Wingdings" panose="05000000000000000000" pitchFamily="2" charset="2"/>
              <a:buChar char="§"/>
            </a:pPr>
            <a:r>
              <a:rPr lang="fr-FR" sz="2000" b="1" u="sng" dirty="0">
                <a:solidFill>
                  <a:schemeClr val="accent4"/>
                </a:solidFill>
                <a:latin typeface="Barlow Light" panose="020B0604020202020204" charset="0"/>
              </a:rPr>
              <a:t>Hiérarchiques</a:t>
            </a:r>
            <a:r>
              <a:rPr lang="fr-FR" sz="2000" b="1" u="sng" dirty="0">
                <a:latin typeface="Barlow Light" panose="020B0604020202020204" charset="0"/>
              </a:rPr>
              <a:t>:</a:t>
            </a:r>
            <a:r>
              <a:rPr lang="fr-FR" sz="2000" dirty="0">
                <a:latin typeface="Barlow Light" panose="020B0604020202020204" charset="0"/>
              </a:rPr>
              <a:t> Deux classes sont disjointes ou l’une contient l’autre. </a:t>
            </a:r>
          </a:p>
          <a:p>
            <a:pPr marL="533400" lvl="1" indent="0">
              <a:buNone/>
            </a:pPr>
            <a:r>
              <a:rPr lang="fr-FR" sz="2000" b="1" dirty="0">
                <a:latin typeface="Barlow Light" panose="020B0604020202020204" charset="0"/>
              </a:rPr>
              <a:t>Principe</a:t>
            </a:r>
            <a:r>
              <a:rPr lang="fr-FR" sz="2000" dirty="0">
                <a:latin typeface="Barlow Light" panose="020B0604020202020204" charset="0"/>
              </a:rPr>
              <a:t> : décomposition hiérarchique d’ensembles d’objets.</a:t>
            </a:r>
          </a:p>
          <a:p>
            <a:pPr lvl="0">
              <a:spcBef>
                <a:spcPts val="0"/>
              </a:spcBef>
              <a:buFont typeface="Wingdings" panose="05000000000000000000" pitchFamily="2" charset="2"/>
              <a:buChar char="§"/>
            </a:pPr>
            <a:r>
              <a:rPr lang="fr-FR" sz="2000" b="1" u="sng" dirty="0">
                <a:solidFill>
                  <a:schemeClr val="accent4"/>
                </a:solidFill>
                <a:latin typeface="Barlow Light" panose="020B0604020202020204" charset="0"/>
              </a:rPr>
              <a:t>Par Densité:</a:t>
            </a:r>
            <a:r>
              <a:rPr lang="fr-FR" sz="2000" dirty="0">
                <a:latin typeface="Barlow Light" panose="020B0604020202020204" charset="0"/>
              </a:rPr>
              <a:t> Principe : se base sur une fonction de densité ou de connectivité</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Clustering : par partitionnement</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54</a:t>
            </a:fld>
            <a:endParaRPr/>
          </a:p>
        </p:txBody>
      </p:sp>
      <p:pic>
        <p:nvPicPr>
          <p:cNvPr id="5" name="Image 4">
            <a:extLst>
              <a:ext uri="{FF2B5EF4-FFF2-40B4-BE49-F238E27FC236}">
                <a16:creationId xmlns="" xmlns:a16="http://schemas.microsoft.com/office/drawing/2014/main" id="{5B40BED6-EC39-482C-AC2F-2617B4B015FD}"/>
              </a:ext>
            </a:extLst>
          </p:cNvPr>
          <p:cNvPicPr>
            <a:picLocks noChangeAspect="1"/>
          </p:cNvPicPr>
          <p:nvPr/>
        </p:nvPicPr>
        <p:blipFill>
          <a:blip r:embed="rId3"/>
          <a:stretch>
            <a:fillRect/>
          </a:stretch>
        </p:blipFill>
        <p:spPr>
          <a:xfrm>
            <a:off x="1547664" y="1314450"/>
            <a:ext cx="5695950" cy="3829050"/>
          </a:xfrm>
          <a:prstGeom prst="rect">
            <a:avLst/>
          </a:prstGeom>
        </p:spPr>
      </p:pic>
    </p:spTree>
    <p:extLst>
      <p:ext uri="{BB962C8B-B14F-4D97-AF65-F5344CB8AC3E}">
        <p14:creationId xmlns="" xmlns:p14="http://schemas.microsoft.com/office/powerpoint/2010/main" val="4510729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Clustering : hiérarchique</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55</a:t>
            </a:fld>
            <a:endParaRPr/>
          </a:p>
        </p:txBody>
      </p:sp>
      <p:pic>
        <p:nvPicPr>
          <p:cNvPr id="3" name="Image 2">
            <a:extLst>
              <a:ext uri="{FF2B5EF4-FFF2-40B4-BE49-F238E27FC236}">
                <a16:creationId xmlns="" xmlns:a16="http://schemas.microsoft.com/office/drawing/2014/main" id="{2844882D-21FF-41EA-BE3A-1093A1A56A28}"/>
              </a:ext>
            </a:extLst>
          </p:cNvPr>
          <p:cNvPicPr>
            <a:picLocks noChangeAspect="1"/>
          </p:cNvPicPr>
          <p:nvPr/>
        </p:nvPicPr>
        <p:blipFill>
          <a:blip r:embed="rId3"/>
          <a:stretch>
            <a:fillRect/>
          </a:stretch>
        </p:blipFill>
        <p:spPr>
          <a:xfrm>
            <a:off x="1691680" y="1318000"/>
            <a:ext cx="5832648" cy="3819770"/>
          </a:xfrm>
          <a:prstGeom prst="rect">
            <a:avLst/>
          </a:prstGeom>
        </p:spPr>
      </p:pic>
    </p:spTree>
    <p:extLst>
      <p:ext uri="{BB962C8B-B14F-4D97-AF65-F5344CB8AC3E}">
        <p14:creationId xmlns="" xmlns:p14="http://schemas.microsoft.com/office/powerpoint/2010/main" val="7287026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200" b="1" dirty="0"/>
              <a:t>K-means: Définition</a:t>
            </a:r>
            <a:endParaRPr sz="3200" b="1" dirty="0"/>
          </a:p>
        </p:txBody>
      </p:sp>
      <p:sp>
        <p:nvSpPr>
          <p:cNvPr id="551" name="Google Shape;551;p18"/>
          <p:cNvSpPr txBox="1">
            <a:spLocks noGrp="1"/>
          </p:cNvSpPr>
          <p:nvPr>
            <p:ph type="body" idx="1"/>
          </p:nvPr>
        </p:nvSpPr>
        <p:spPr>
          <a:xfrm>
            <a:off x="1043608" y="1707654"/>
            <a:ext cx="7380000" cy="2952000"/>
          </a:xfrm>
          <a:prstGeom prst="rect">
            <a:avLst/>
          </a:prstGeom>
          <a:ln>
            <a:solidFill>
              <a:schemeClr val="accent1"/>
            </a:solid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spcFirstLastPara="1" wrap="square" lIns="0" tIns="0" rIns="0" bIns="0" anchor="ctr" anchorCtr="0">
            <a:noAutofit/>
          </a:bodyPr>
          <a:lstStyle/>
          <a:p>
            <a:pPr lvl="0" algn="ctr">
              <a:spcBef>
                <a:spcPts val="1200"/>
              </a:spcBef>
              <a:buNone/>
            </a:pPr>
            <a:r>
              <a:rPr lang="fr-FR" b="1" dirty="0"/>
              <a:t>K-</a:t>
            </a:r>
            <a:r>
              <a:rPr lang="fr-FR" b="1" dirty="0" err="1"/>
              <a:t>means</a:t>
            </a:r>
            <a:r>
              <a:rPr lang="fr-FR" dirty="0"/>
              <a:t> est un algorithme </a:t>
            </a:r>
            <a:r>
              <a:rPr lang="fr-FR" b="1" dirty="0"/>
              <a:t>non supervisé </a:t>
            </a:r>
            <a:r>
              <a:rPr lang="fr-FR" dirty="0"/>
              <a:t>de clustering </a:t>
            </a:r>
            <a:r>
              <a:rPr lang="fr-FR" b="1" dirty="0"/>
              <a:t>non hiérarchique</a:t>
            </a:r>
            <a:r>
              <a:rPr lang="fr-FR" dirty="0"/>
              <a:t>. </a:t>
            </a:r>
          </a:p>
          <a:p>
            <a:pPr lvl="0" algn="ctr">
              <a:spcBef>
                <a:spcPts val="1200"/>
              </a:spcBef>
              <a:buNone/>
            </a:pPr>
            <a:r>
              <a:rPr lang="fr-FR" dirty="0"/>
              <a:t>Il permet de regrouper en </a:t>
            </a:r>
            <a:r>
              <a:rPr lang="fr-FR" b="1" dirty="0"/>
              <a:t>K</a:t>
            </a:r>
            <a:r>
              <a:rPr lang="fr-FR" dirty="0"/>
              <a:t> clusters distincts les observations du data set.</a:t>
            </a:r>
            <a:endParaRPr sz="2800" b="1" dirty="0">
              <a:latin typeface="Barlow Light" panose="020B0604020202020204" charset="0"/>
            </a:endParaRP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56</a:t>
            </a:fld>
            <a:endParaRPr/>
          </a:p>
        </p:txBody>
      </p:sp>
    </p:spTree>
    <p:extLst>
      <p:ext uri="{BB962C8B-B14F-4D97-AF65-F5344CB8AC3E}">
        <p14:creationId xmlns="" xmlns:p14="http://schemas.microsoft.com/office/powerpoint/2010/main" val="25455553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K-means: Définition</a:t>
            </a:r>
          </a:p>
        </p:txBody>
      </p:sp>
      <p:sp>
        <p:nvSpPr>
          <p:cNvPr id="551" name="Google Shape;551;p18"/>
          <p:cNvSpPr txBox="1">
            <a:spLocks noGrp="1"/>
          </p:cNvSpPr>
          <p:nvPr>
            <p:ph type="body" idx="1"/>
          </p:nvPr>
        </p:nvSpPr>
        <p:spPr>
          <a:xfrm>
            <a:off x="971600" y="1851670"/>
            <a:ext cx="7272808" cy="3096344"/>
          </a:xfrm>
          <a:prstGeom prst="rect">
            <a:avLst/>
          </a:prstGeom>
        </p:spPr>
        <p:txBody>
          <a:bodyPr spcFirstLastPara="1" wrap="square" lIns="0" tIns="0" rIns="0" bIns="0" anchor="t" anchorCtr="0">
            <a:noAutofit/>
          </a:bodyPr>
          <a:lstStyle/>
          <a:p>
            <a:pPr lvl="0">
              <a:spcBef>
                <a:spcPts val="0"/>
              </a:spcBef>
              <a:buFont typeface="Wingdings" panose="05000000000000000000" pitchFamily="2" charset="2"/>
              <a:buChar char="§"/>
            </a:pPr>
            <a:r>
              <a:rPr lang="fr-FR" sz="2200" dirty="0">
                <a:latin typeface="Barlow Light" panose="020B0604020202020204" charset="0"/>
              </a:rPr>
              <a:t>Les données similaires se retrouveront  dans un même cluster. </a:t>
            </a:r>
          </a:p>
          <a:p>
            <a:pPr lvl="0">
              <a:spcBef>
                <a:spcPts val="0"/>
              </a:spcBef>
              <a:buFont typeface="Wingdings" panose="05000000000000000000" pitchFamily="2" charset="2"/>
              <a:buChar char="§"/>
            </a:pPr>
            <a:r>
              <a:rPr lang="fr-FR" sz="2200" dirty="0">
                <a:latin typeface="Barlow Light" panose="020B0604020202020204" charset="0"/>
              </a:rPr>
              <a:t>Une observation ne peut se retrouver que dans un cluster à la fois (exclusivité d’appartenance). </a:t>
            </a:r>
          </a:p>
          <a:p>
            <a:pPr lvl="0">
              <a:spcBef>
                <a:spcPts val="0"/>
              </a:spcBef>
              <a:buFont typeface="Wingdings" panose="05000000000000000000" pitchFamily="2" charset="2"/>
              <a:buChar char="§"/>
            </a:pPr>
            <a:r>
              <a:rPr lang="fr-FR" sz="2200" dirty="0">
                <a:latin typeface="Barlow Light" panose="020B0604020202020204" charset="0"/>
              </a:rPr>
              <a:t>Une même observation ne pourra appartenir à deux clusters différents.</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57</a:t>
            </a:fld>
            <a:endParaRPr/>
          </a:p>
        </p:txBody>
      </p:sp>
    </p:spTree>
    <p:extLst>
      <p:ext uri="{BB962C8B-B14F-4D97-AF65-F5344CB8AC3E}">
        <p14:creationId xmlns="" xmlns:p14="http://schemas.microsoft.com/office/powerpoint/2010/main" val="30742783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Notion de similarité</a:t>
            </a:r>
            <a:endParaRPr lang="en" sz="3200" b="1" dirty="0"/>
          </a:p>
        </p:txBody>
      </p:sp>
      <p:sp>
        <p:nvSpPr>
          <p:cNvPr id="551" name="Google Shape;551;p18"/>
          <p:cNvSpPr txBox="1">
            <a:spLocks noGrp="1"/>
          </p:cNvSpPr>
          <p:nvPr>
            <p:ph type="body" idx="1"/>
          </p:nvPr>
        </p:nvSpPr>
        <p:spPr>
          <a:xfrm>
            <a:off x="971600" y="1779662"/>
            <a:ext cx="7128792" cy="3168352"/>
          </a:xfrm>
          <a:prstGeom prst="rect">
            <a:avLst/>
          </a:prstGeom>
        </p:spPr>
        <p:txBody>
          <a:bodyPr spcFirstLastPara="1" wrap="square" lIns="0" tIns="0" rIns="0" bIns="0" anchor="t" anchorCtr="0">
            <a:noAutofit/>
          </a:bodyPr>
          <a:lstStyle/>
          <a:p>
            <a:pPr lvl="0">
              <a:spcBef>
                <a:spcPts val="0"/>
              </a:spcBef>
              <a:buFont typeface="Wingdings" panose="05000000000000000000" pitchFamily="2" charset="2"/>
              <a:buChar char="§"/>
            </a:pPr>
            <a:r>
              <a:rPr lang="fr-FR" sz="2200" dirty="0">
                <a:latin typeface="Barlow Light" panose="020B0604020202020204" charset="0"/>
              </a:rPr>
              <a:t>Pour regrouper un jeu de données en K cluster distincts, K-</a:t>
            </a:r>
            <a:r>
              <a:rPr lang="fr-FR" sz="2200" dirty="0" err="1">
                <a:latin typeface="Barlow Light" panose="020B0604020202020204" charset="0"/>
              </a:rPr>
              <a:t>Means</a:t>
            </a:r>
            <a:r>
              <a:rPr lang="fr-FR" sz="2200" dirty="0">
                <a:latin typeface="Barlow Light" panose="020B0604020202020204" charset="0"/>
              </a:rPr>
              <a:t> a besoin d’un moyen pour comparer le </a:t>
            </a:r>
            <a:r>
              <a:rPr lang="fr-FR" sz="2200" b="1" dirty="0">
                <a:solidFill>
                  <a:schemeClr val="accent4"/>
                </a:solidFill>
                <a:latin typeface="Barlow Light" panose="020B0604020202020204" charset="0"/>
              </a:rPr>
              <a:t>degré de similarité</a:t>
            </a:r>
            <a:r>
              <a:rPr lang="fr-FR" sz="2200" dirty="0">
                <a:latin typeface="Barlow Light" panose="020B0604020202020204" charset="0"/>
              </a:rPr>
              <a:t> entre les différentes observations. </a:t>
            </a:r>
          </a:p>
          <a:p>
            <a:pPr lvl="0">
              <a:spcBef>
                <a:spcPts val="0"/>
              </a:spcBef>
              <a:buFont typeface="Wingdings" panose="05000000000000000000" pitchFamily="2" charset="2"/>
              <a:buChar char="§"/>
            </a:pPr>
            <a:r>
              <a:rPr lang="fr-FR" sz="2200" dirty="0">
                <a:latin typeface="Barlow Light" panose="020B0604020202020204" charset="0"/>
              </a:rPr>
              <a:t>Deux données qui se </a:t>
            </a:r>
            <a:r>
              <a:rPr lang="fr-FR" sz="2200" b="1" dirty="0">
                <a:latin typeface="Barlow Light" panose="020B0604020202020204" charset="0"/>
              </a:rPr>
              <a:t>ressemblent</a:t>
            </a:r>
            <a:r>
              <a:rPr lang="fr-FR" sz="2200" dirty="0">
                <a:latin typeface="Barlow Light" panose="020B0604020202020204" charset="0"/>
              </a:rPr>
              <a:t>, auront une distance de </a:t>
            </a:r>
            <a:r>
              <a:rPr lang="fr-FR" sz="2200" b="1" dirty="0">
                <a:latin typeface="Barlow Light" panose="020B0604020202020204" charset="0"/>
              </a:rPr>
              <a:t>dissimilarité</a:t>
            </a:r>
            <a:r>
              <a:rPr lang="fr-FR" sz="2200" dirty="0">
                <a:latin typeface="Barlow Light" panose="020B0604020202020204" charset="0"/>
              </a:rPr>
              <a:t> </a:t>
            </a:r>
            <a:r>
              <a:rPr lang="fr-FR" sz="2200" b="1" dirty="0">
                <a:latin typeface="Barlow Light" panose="020B0604020202020204" charset="0"/>
              </a:rPr>
              <a:t>réduite</a:t>
            </a:r>
            <a:r>
              <a:rPr lang="fr-FR" sz="2200" dirty="0">
                <a:latin typeface="Barlow Light" panose="020B0604020202020204" charset="0"/>
              </a:rPr>
              <a:t>, alors que deux objets </a:t>
            </a:r>
            <a:r>
              <a:rPr lang="fr-FR" sz="2200" b="1" dirty="0">
                <a:latin typeface="Barlow Light" panose="020B0604020202020204" charset="0"/>
              </a:rPr>
              <a:t>différents</a:t>
            </a:r>
            <a:r>
              <a:rPr lang="fr-FR" sz="2200" dirty="0">
                <a:latin typeface="Barlow Light" panose="020B0604020202020204" charset="0"/>
              </a:rPr>
              <a:t> auront une distance de séparation plus </a:t>
            </a:r>
            <a:r>
              <a:rPr lang="fr-FR" sz="2200" b="1" dirty="0">
                <a:latin typeface="Barlow Light" panose="020B0604020202020204" charset="0"/>
              </a:rPr>
              <a:t>grande</a:t>
            </a:r>
            <a:r>
              <a:rPr lang="fr-FR" sz="2200" dirty="0">
                <a:latin typeface="Barlow Light" panose="020B0604020202020204" charset="0"/>
              </a:rPr>
              <a:t>.</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58</a:t>
            </a:fld>
            <a:endParaRPr/>
          </a:p>
        </p:txBody>
      </p:sp>
    </p:spTree>
    <p:extLst>
      <p:ext uri="{BB962C8B-B14F-4D97-AF65-F5344CB8AC3E}">
        <p14:creationId xmlns="" xmlns:p14="http://schemas.microsoft.com/office/powerpoint/2010/main" val="16670229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Notion de similarité</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59</a:t>
            </a:fld>
            <a:endParaRPr/>
          </a:p>
        </p:txBody>
      </p:sp>
      <p:pic>
        <p:nvPicPr>
          <p:cNvPr id="44" name="Image 43">
            <a:extLst>
              <a:ext uri="{FF2B5EF4-FFF2-40B4-BE49-F238E27FC236}">
                <a16:creationId xmlns="" xmlns:a16="http://schemas.microsoft.com/office/drawing/2014/main" id="{0FD3210B-677C-4205-882E-3A1E52FD27AB}"/>
              </a:ext>
            </a:extLst>
          </p:cNvPr>
          <p:cNvPicPr>
            <a:picLocks noChangeAspect="1"/>
          </p:cNvPicPr>
          <p:nvPr/>
        </p:nvPicPr>
        <p:blipFill>
          <a:blip r:embed="rId3"/>
          <a:stretch>
            <a:fillRect/>
          </a:stretch>
        </p:blipFill>
        <p:spPr>
          <a:xfrm>
            <a:off x="1475656" y="1491630"/>
            <a:ext cx="6486525" cy="3651870"/>
          </a:xfrm>
          <a:prstGeom prst="rect">
            <a:avLst/>
          </a:prstGeom>
        </p:spPr>
      </p:pic>
    </p:spTree>
    <p:extLst>
      <p:ext uri="{BB962C8B-B14F-4D97-AF65-F5344CB8AC3E}">
        <p14:creationId xmlns="" xmlns:p14="http://schemas.microsoft.com/office/powerpoint/2010/main" val="9590905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La distance euclidienne</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Distance qui calcule la racine carrée de la somme des différences carrées entre les coordonnées de deux points.</a:t>
                </a:r>
              </a:p>
              <a:p>
                <a:pPr lvl="0">
                  <a:buFont typeface="Wingdings" panose="05000000000000000000" pitchFamily="2" charset="2"/>
                  <a:buChar char="§"/>
                </a:pPr>
                <a:r>
                  <a:rPr lang="fr-FR" sz="2000" dirty="0"/>
                  <a:t>Soit une matrice </a:t>
                </a:r>
                <a:r>
                  <a:rPr lang="fr-FR" sz="2000" i="1" dirty="0">
                    <a:latin typeface="Cambria Math" panose="02040503050406030204" pitchFamily="18" charset="0"/>
                    <a:ea typeface="Cambria Math" panose="02040503050406030204" pitchFamily="18" charset="0"/>
                  </a:rPr>
                  <a:t>X</a:t>
                </a:r>
                <a:r>
                  <a:rPr lang="fr-FR" sz="2000" dirty="0"/>
                  <a:t> à </a:t>
                </a:r>
                <a:r>
                  <a:rPr lang="fr-FR" sz="2000" i="1" dirty="0">
                    <a:latin typeface="Cambria Math" panose="02040503050406030204" pitchFamily="18" charset="0"/>
                    <a:ea typeface="Cambria Math" panose="02040503050406030204" pitchFamily="18" charset="0"/>
                  </a:rPr>
                  <a:t>n</a:t>
                </a:r>
                <a:r>
                  <a:rPr lang="fr-FR" sz="2000" dirty="0"/>
                  <a:t> variables quantitatives. Dans l’espace vectoriel </a:t>
                </a:r>
                <a14:m>
                  <m:oMath xmlns:m="http://schemas.openxmlformats.org/officeDocument/2006/math">
                    <m:sSup>
                      <m:sSupPr>
                        <m:ctrlPr>
                          <a:rPr lang="fr-FR" sz="2000" i="1" smtClean="0">
                            <a:latin typeface="Cambria Math" panose="02040503050406030204" pitchFamily="18" charset="0"/>
                          </a:rPr>
                        </m:ctrlPr>
                      </m:sSupPr>
                      <m:e>
                        <m:r>
                          <a:rPr lang="fr-FR" sz="2000" b="0" i="1" smtClean="0">
                            <a:latin typeface="Cambria Math" panose="02040503050406030204" pitchFamily="18" charset="0"/>
                          </a:rPr>
                          <m:t>𝐸</m:t>
                        </m:r>
                      </m:e>
                      <m:sup>
                        <m:r>
                          <a:rPr lang="fr-FR" sz="2000" b="0" i="1" smtClean="0">
                            <a:latin typeface="Cambria Math" panose="02040503050406030204" pitchFamily="18" charset="0"/>
                          </a:rPr>
                          <m:t>𝑛</m:t>
                        </m:r>
                      </m:sup>
                    </m:sSup>
                  </m:oMath>
                </a14:m>
                <a:r>
                  <a:rPr lang="fr-FR" sz="2000" dirty="0"/>
                  <a:t>. La distance euclidienne d entre deux observations </a:t>
                </a:r>
                <a14:m>
                  <m:oMath xmlns:m="http://schemas.openxmlformats.org/officeDocument/2006/math">
                    <m:sSub>
                      <m:sSubPr>
                        <m:ctrlPr>
                          <a:rPr lang="fr-FR" sz="2000" i="1" smtClean="0">
                            <a:latin typeface="Cambria Math" panose="02040503050406030204" pitchFamily="18" charset="0"/>
                          </a:rPr>
                        </m:ctrlPr>
                      </m:sSubPr>
                      <m:e>
                        <m:r>
                          <a:rPr lang="fr-FR" sz="2000" b="0" i="1" smtClean="0">
                            <a:latin typeface="Cambria Math" panose="02040503050406030204" pitchFamily="18" charset="0"/>
                          </a:rPr>
                          <m:t>𝑥</m:t>
                        </m:r>
                      </m:e>
                      <m:sub>
                        <m:r>
                          <a:rPr lang="fr-FR" sz="2000" b="0" i="1" smtClean="0">
                            <a:latin typeface="Cambria Math" panose="02040503050406030204" pitchFamily="18" charset="0"/>
                          </a:rPr>
                          <m:t>1</m:t>
                        </m:r>
                      </m:sub>
                    </m:sSub>
                  </m:oMath>
                </a14:m>
                <a:r>
                  <a:rPr lang="fr-FR" sz="2000" dirty="0"/>
                  <a:t>et </a:t>
                </a:r>
                <a14:m>
                  <m:oMath xmlns:m="http://schemas.openxmlformats.org/officeDocument/2006/math">
                    <m:sSub>
                      <m:sSubPr>
                        <m:ctrlPr>
                          <a:rPr lang="fr-FR" sz="2000" i="1">
                            <a:latin typeface="Cambria Math" panose="02040503050406030204" pitchFamily="18" charset="0"/>
                          </a:rPr>
                        </m:ctrlPr>
                      </m:sSubPr>
                      <m:e>
                        <m:r>
                          <a:rPr lang="fr-FR" sz="2000" i="1">
                            <a:latin typeface="Cambria Math" panose="02040503050406030204" pitchFamily="18" charset="0"/>
                          </a:rPr>
                          <m:t>𝑥</m:t>
                        </m:r>
                      </m:e>
                      <m:sub>
                        <m:r>
                          <a:rPr lang="fr-FR" sz="2000" b="0" i="1" smtClean="0">
                            <a:latin typeface="Cambria Math" panose="02040503050406030204" pitchFamily="18" charset="0"/>
                          </a:rPr>
                          <m:t>2</m:t>
                        </m:r>
                      </m:sub>
                    </m:sSub>
                  </m:oMath>
                </a14:m>
                <a:r>
                  <a:rPr lang="fr-FR" sz="2000" dirty="0"/>
                  <a:t> se calcule comme suit :</a:t>
                </a:r>
              </a:p>
              <a:p>
                <a:pPr marL="76200" lvl="0" indent="0">
                  <a:buNone/>
                </a:pPr>
                <a14:m>
                  <m:oMathPara xmlns:m="http://schemas.openxmlformats.org/officeDocument/2006/math">
                    <m:oMathParaPr>
                      <m:jc m:val="centerGroup"/>
                    </m:oMathParaPr>
                    <m:oMath xmlns:m="http://schemas.openxmlformats.org/officeDocument/2006/math">
                      <m:sSub>
                        <m:sSubPr>
                          <m:ctrlPr>
                            <a:rPr lang="fr-FR" sz="2000" i="1" smtClean="0">
                              <a:latin typeface="Cambria Math" panose="02040503050406030204" pitchFamily="18" charset="0"/>
                            </a:rPr>
                          </m:ctrlPr>
                        </m:sSubPr>
                        <m:e>
                          <m:r>
                            <a:rPr lang="fr-FR" sz="2000" b="0" i="1" smtClean="0">
                              <a:latin typeface="Cambria Math" panose="02040503050406030204" pitchFamily="18" charset="0"/>
                            </a:rPr>
                            <m:t>𝐷</m:t>
                          </m:r>
                        </m:e>
                        <m:sub>
                          <m:r>
                            <a:rPr lang="fr-FR" sz="2000" b="0" i="1" smtClean="0">
                              <a:latin typeface="Cambria Math" panose="02040503050406030204" pitchFamily="18" charset="0"/>
                            </a:rPr>
                            <m:t>𝑒</m:t>
                          </m:r>
                        </m:sub>
                      </m:sSub>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𝑥</m:t>
                          </m:r>
                          <m:r>
                            <a:rPr lang="fr-FR" sz="2000" b="0" i="1" smtClean="0">
                              <a:latin typeface="Cambria Math" panose="02040503050406030204" pitchFamily="18" charset="0"/>
                            </a:rPr>
                            <m:t>,</m:t>
                          </m:r>
                          <m:r>
                            <a:rPr lang="fr-FR" sz="2000" b="0" i="1" smtClean="0">
                              <a:latin typeface="Cambria Math" panose="02040503050406030204" pitchFamily="18" charset="0"/>
                            </a:rPr>
                            <m:t>𝑦</m:t>
                          </m:r>
                        </m:e>
                      </m:d>
                      <m:r>
                        <a:rPr lang="fr-FR" sz="2000" b="0" i="1" smtClean="0">
                          <a:latin typeface="Cambria Math" panose="02040503050406030204" pitchFamily="18" charset="0"/>
                        </a:rPr>
                        <m:t>= </m:t>
                      </m:r>
                      <m:rad>
                        <m:radPr>
                          <m:degHide m:val="on"/>
                          <m:ctrlPr>
                            <a:rPr lang="fr-FR" sz="2000" b="0" i="1" smtClean="0">
                              <a:latin typeface="Cambria Math" panose="02040503050406030204" pitchFamily="18" charset="0"/>
                            </a:rPr>
                          </m:ctrlPr>
                        </m:radPr>
                        <m:deg/>
                        <m:e>
                          <m:nary>
                            <m:naryPr>
                              <m:chr m:val="∑"/>
                              <m:limLoc m:val="subSup"/>
                              <m:ctrlPr>
                                <a:rPr lang="fr-FR" sz="2000" b="0" i="1" smtClean="0">
                                  <a:latin typeface="Cambria Math" panose="02040503050406030204" pitchFamily="18" charset="0"/>
                                </a:rPr>
                              </m:ctrlPr>
                            </m:naryPr>
                            <m:sub>
                              <m:r>
                                <m:rPr>
                                  <m:brk m:alnAt="25"/>
                                </m:rPr>
                                <a:rPr lang="fr-FR" sz="2000" b="0" i="1" smtClean="0">
                                  <a:latin typeface="Cambria Math" panose="02040503050406030204" pitchFamily="18" charset="0"/>
                                </a:rPr>
                                <m:t>𝑗</m:t>
                              </m:r>
                              <m:r>
                                <a:rPr lang="fr-FR" sz="2000" b="0" i="1" smtClean="0">
                                  <a:latin typeface="Cambria Math" panose="02040503050406030204" pitchFamily="18" charset="0"/>
                                </a:rPr>
                                <m:t>=1</m:t>
                              </m:r>
                            </m:sub>
                            <m:sup>
                              <m:r>
                                <a:rPr lang="fr-FR" sz="2000" b="0" i="1" smtClean="0">
                                  <a:latin typeface="Cambria Math" panose="02040503050406030204" pitchFamily="18" charset="0"/>
                                </a:rPr>
                                <m:t>𝑛</m:t>
                              </m:r>
                            </m:sup>
                            <m:e>
                              <m:sSup>
                                <m:sSupPr>
                                  <m:ctrlPr>
                                    <a:rPr lang="fr-FR" sz="2000" b="0" i="1" smtClean="0">
                                      <a:latin typeface="Cambria Math" panose="02040503050406030204" pitchFamily="18" charset="0"/>
                                    </a:rPr>
                                  </m:ctrlPr>
                                </m:sSupPr>
                                <m:e>
                                  <m:r>
                                    <a:rPr lang="fr-FR" sz="2000" i="1">
                                      <a:latin typeface="Cambria Math" panose="02040503050406030204" pitchFamily="18" charset="0"/>
                                    </a:rPr>
                                    <m:t>(</m:t>
                                  </m:r>
                                  <m:sSub>
                                    <m:sSubPr>
                                      <m:ctrlPr>
                                        <a:rPr lang="fr-FR" sz="2000" i="1">
                                          <a:latin typeface="Cambria Math" panose="02040503050406030204" pitchFamily="18" charset="0"/>
                                        </a:rPr>
                                      </m:ctrlPr>
                                    </m:sSubPr>
                                    <m:e>
                                      <m:r>
                                        <a:rPr lang="fr-FR" sz="2000" b="0" i="1" smtClean="0">
                                          <a:latin typeface="Cambria Math" panose="02040503050406030204" pitchFamily="18" charset="0"/>
                                        </a:rPr>
                                        <m:t>𝑥</m:t>
                                      </m:r>
                                    </m:e>
                                    <m:sub>
                                      <m:r>
                                        <a:rPr lang="fr-FR" sz="2000" b="0" i="1" smtClean="0">
                                          <a:latin typeface="Cambria Math" panose="02040503050406030204" pitchFamily="18" charset="0"/>
                                        </a:rPr>
                                        <m:t>𝑗</m:t>
                                      </m:r>
                                    </m:sub>
                                  </m:sSub>
                                  <m:r>
                                    <a:rPr lang="fr-FR" sz="2000" i="1">
                                      <a:latin typeface="Cambria Math" panose="02040503050406030204" pitchFamily="18" charset="0"/>
                                    </a:rPr>
                                    <m:t> − </m:t>
                                  </m:r>
                                  <m:sSub>
                                    <m:sSubPr>
                                      <m:ctrlPr>
                                        <a:rPr lang="fr-FR" sz="2000" i="1">
                                          <a:latin typeface="Cambria Math" panose="02040503050406030204" pitchFamily="18" charset="0"/>
                                        </a:rPr>
                                      </m:ctrlPr>
                                    </m:sSubPr>
                                    <m:e>
                                      <m:r>
                                        <a:rPr lang="fr-FR" sz="2000" b="0" i="1" smtClean="0">
                                          <a:latin typeface="Cambria Math" panose="02040503050406030204" pitchFamily="18" charset="0"/>
                                        </a:rPr>
                                        <m:t>𝑦</m:t>
                                      </m:r>
                                    </m:e>
                                    <m:sub>
                                      <m:r>
                                        <a:rPr lang="fr-FR" sz="2000" b="0" i="1" smtClean="0">
                                          <a:latin typeface="Cambria Math" panose="02040503050406030204" pitchFamily="18" charset="0"/>
                                        </a:rPr>
                                        <m:t>𝑗</m:t>
                                      </m:r>
                                    </m:sub>
                                  </m:sSub>
                                  <m:r>
                                    <a:rPr lang="fr-FR" sz="2000" i="1">
                                      <a:latin typeface="Cambria Math" panose="02040503050406030204" pitchFamily="18" charset="0"/>
                                    </a:rPr>
                                    <m:t>)</m:t>
                                  </m:r>
                                </m:e>
                                <m:sup>
                                  <m:r>
                                    <a:rPr lang="fr-FR" sz="2000" b="0" i="1" smtClean="0">
                                      <a:latin typeface="Cambria Math" panose="02040503050406030204" pitchFamily="18" charset="0"/>
                                    </a:rPr>
                                    <m:t>2</m:t>
                                  </m:r>
                                </m:sup>
                              </m:sSup>
                            </m:e>
                          </m:nary>
                        </m:e>
                      </m:rad>
                    </m:oMath>
                  </m:oMathPara>
                </a14:m>
                <a:endParaRPr lang="fr-FR" sz="2000" dirty="0"/>
              </a:p>
              <a:p>
                <a:pPr lvl="0">
                  <a:buFont typeface="Wingdings" panose="05000000000000000000" pitchFamily="2" charset="2"/>
                  <a:buChar char="§"/>
                </a:pPr>
                <a:endParaRPr lang="fr-FR" sz="2000" dirty="0"/>
              </a:p>
              <a:p>
                <a:pPr marL="76200" lvl="0" indent="0">
                  <a:buNone/>
                </a:pPr>
                <a:endParaRPr lang="fr-FR" sz="20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635646"/>
                <a:ext cx="7532654" cy="3291830"/>
              </a:xfrm>
              <a:prstGeom prst="rect">
                <a:avLst/>
              </a:prstGeom>
              <a:blipFill>
                <a:blip r:embed="rId3"/>
                <a:stretch>
                  <a:fillRect l="-1214" t="-556" r="-890"/>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60</a:t>
            </a:fld>
            <a:endParaRPr/>
          </a:p>
        </p:txBody>
      </p:sp>
    </p:spTree>
    <p:extLst>
      <p:ext uri="{BB962C8B-B14F-4D97-AF65-F5344CB8AC3E}">
        <p14:creationId xmlns="" xmlns:p14="http://schemas.microsoft.com/office/powerpoint/2010/main" val="39642774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La distance Manhattan </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la distance de Manhattan: est la distance parcourue entre deux nœuds du réseau en utilisant les déplacements horizontaux et verticaux du réseau. </a:t>
                </a:r>
              </a:p>
              <a:p>
                <a:pPr lvl="0">
                  <a:buFont typeface="Wingdings" panose="05000000000000000000" pitchFamily="2" charset="2"/>
                  <a:buChar char="§"/>
                </a:pPr>
                <a:r>
                  <a:rPr lang="fr-FR" sz="2000" dirty="0"/>
                  <a:t>Elle calcule la somme des valeurs absolues des différences entre les coordonnées de deux points :</a:t>
                </a:r>
              </a:p>
              <a:p>
                <a:pPr marL="76200" lvl="0" indent="0">
                  <a:buNone/>
                </a:pPr>
                <a14:m>
                  <m:oMathPara xmlns:m="http://schemas.openxmlformats.org/officeDocument/2006/math">
                    <m:oMathParaPr>
                      <m:jc m:val="centerGroup"/>
                    </m:oMathParaPr>
                    <m:oMath xmlns:m="http://schemas.openxmlformats.org/officeDocument/2006/math">
                      <m:sSub>
                        <m:sSubPr>
                          <m:ctrlPr>
                            <a:rPr lang="fr-FR" sz="2000" i="1" smtClean="0">
                              <a:latin typeface="Cambria Math" panose="02040503050406030204" pitchFamily="18" charset="0"/>
                            </a:rPr>
                          </m:ctrlPr>
                        </m:sSubPr>
                        <m:e>
                          <m:r>
                            <a:rPr lang="fr-FR" sz="2000" b="0" i="1" smtClean="0">
                              <a:latin typeface="Cambria Math" panose="02040503050406030204" pitchFamily="18" charset="0"/>
                            </a:rPr>
                            <m:t>𝐷</m:t>
                          </m:r>
                        </m:e>
                        <m:sub>
                          <m:r>
                            <a:rPr lang="fr-FR" sz="2000" b="0" i="1" smtClean="0">
                              <a:latin typeface="Cambria Math" panose="02040503050406030204" pitchFamily="18" charset="0"/>
                            </a:rPr>
                            <m:t>𝑚</m:t>
                          </m:r>
                        </m:sub>
                      </m:sSub>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𝑥</m:t>
                          </m:r>
                          <m:r>
                            <a:rPr lang="fr-FR" sz="2000" b="0" i="1" smtClean="0">
                              <a:latin typeface="Cambria Math" panose="02040503050406030204" pitchFamily="18" charset="0"/>
                            </a:rPr>
                            <m:t>,</m:t>
                          </m:r>
                          <m:r>
                            <a:rPr lang="fr-FR" sz="2000" b="0" i="1" smtClean="0">
                              <a:latin typeface="Cambria Math" panose="02040503050406030204" pitchFamily="18" charset="0"/>
                            </a:rPr>
                            <m:t>𝑦</m:t>
                          </m:r>
                        </m:e>
                      </m:d>
                      <m:r>
                        <a:rPr lang="fr-FR" sz="2000" b="0" i="1" smtClean="0">
                          <a:latin typeface="Cambria Math" panose="02040503050406030204" pitchFamily="18" charset="0"/>
                        </a:rPr>
                        <m:t>=</m:t>
                      </m:r>
                      <m:nary>
                        <m:naryPr>
                          <m:chr m:val="∑"/>
                          <m:limLoc m:val="subSup"/>
                          <m:ctrlPr>
                            <a:rPr lang="fr-FR" sz="2000" b="0" i="1" smtClean="0">
                              <a:latin typeface="Cambria Math" panose="02040503050406030204" pitchFamily="18" charset="0"/>
                            </a:rPr>
                          </m:ctrlPr>
                        </m:naryPr>
                        <m:sub>
                          <m:r>
                            <m:rPr>
                              <m:brk m:alnAt="25"/>
                            </m:rPr>
                            <a:rPr lang="fr-FR" sz="2000" b="0" i="1" smtClean="0">
                              <a:latin typeface="Cambria Math" panose="02040503050406030204" pitchFamily="18" charset="0"/>
                            </a:rPr>
                            <m:t>𝑗</m:t>
                          </m:r>
                          <m:r>
                            <a:rPr lang="fr-FR" sz="2000" b="0" i="1" smtClean="0">
                              <a:latin typeface="Cambria Math" panose="02040503050406030204" pitchFamily="18" charset="0"/>
                            </a:rPr>
                            <m:t>=1</m:t>
                          </m:r>
                        </m:sub>
                        <m:sup>
                          <m:r>
                            <a:rPr lang="fr-FR" sz="2000" b="0" i="1" smtClean="0">
                              <a:latin typeface="Cambria Math" panose="02040503050406030204" pitchFamily="18" charset="0"/>
                            </a:rPr>
                            <m:t>𝑛</m:t>
                          </m:r>
                        </m:sup>
                        <m:e>
                          <m:r>
                            <a:rPr lang="fr-FR" sz="2000" b="0" i="1" smtClean="0">
                              <a:latin typeface="Cambria Math" panose="02040503050406030204" pitchFamily="18" charset="0"/>
                            </a:rPr>
                            <m:t> </m:t>
                          </m:r>
                          <m:d>
                            <m:dPr>
                              <m:begChr m:val="|"/>
                              <m:endChr m:val="|"/>
                              <m:ctrlPr>
                                <a:rPr lang="fr-FR" sz="2000" b="0" i="1" smtClean="0">
                                  <a:latin typeface="Cambria Math" panose="02040503050406030204" pitchFamily="18" charset="0"/>
                                </a:rPr>
                              </m:ctrlPr>
                            </m:dPr>
                            <m:e>
                              <m:sSub>
                                <m:sSubPr>
                                  <m:ctrlPr>
                                    <a:rPr lang="fr-FR" sz="2000" b="0" i="1" smtClean="0">
                                      <a:latin typeface="Cambria Math" panose="02040503050406030204" pitchFamily="18" charset="0"/>
                                    </a:rPr>
                                  </m:ctrlPr>
                                </m:sSubPr>
                                <m:e>
                                  <m:r>
                                    <a:rPr lang="fr-FR" sz="2000" b="0" i="1" smtClean="0">
                                      <a:latin typeface="Cambria Math" panose="02040503050406030204" pitchFamily="18" charset="0"/>
                                    </a:rPr>
                                    <m:t>𝑥</m:t>
                                  </m:r>
                                </m:e>
                                <m:sub>
                                  <m:r>
                                    <a:rPr lang="fr-FR" sz="2000" b="0" i="1" smtClean="0">
                                      <a:latin typeface="Cambria Math" panose="02040503050406030204" pitchFamily="18" charset="0"/>
                                    </a:rPr>
                                    <m:t>𝑗</m:t>
                                  </m:r>
                                </m:sub>
                              </m:sSub>
                              <m:r>
                                <a:rPr lang="fr-FR" sz="2000" b="0" i="1" smtClean="0">
                                  <a:latin typeface="Cambria Math" panose="02040503050406030204" pitchFamily="18" charset="0"/>
                                </a:rPr>
                                <m:t> − </m:t>
                              </m:r>
                              <m:sSub>
                                <m:sSubPr>
                                  <m:ctrlPr>
                                    <a:rPr lang="fr-FR" sz="2000" b="0" i="1" smtClean="0">
                                      <a:latin typeface="Cambria Math" panose="02040503050406030204" pitchFamily="18" charset="0"/>
                                    </a:rPr>
                                  </m:ctrlPr>
                                </m:sSubPr>
                                <m:e>
                                  <m:r>
                                    <a:rPr lang="fr-FR" sz="2000" b="0" i="1" smtClean="0">
                                      <a:latin typeface="Cambria Math" panose="02040503050406030204" pitchFamily="18" charset="0"/>
                                    </a:rPr>
                                    <m:t>𝑦</m:t>
                                  </m:r>
                                </m:e>
                                <m:sub>
                                  <m:r>
                                    <a:rPr lang="fr-FR" sz="2000" b="0" i="1" smtClean="0">
                                      <a:latin typeface="Cambria Math" panose="02040503050406030204" pitchFamily="18" charset="0"/>
                                    </a:rPr>
                                    <m:t>𝑗</m:t>
                                  </m:r>
                                </m:sub>
                              </m:sSub>
                            </m:e>
                          </m:d>
                        </m:e>
                      </m:nary>
                    </m:oMath>
                  </m:oMathPara>
                </a14:m>
                <a:endParaRPr lang="fr-FR" sz="2000" dirty="0"/>
              </a:p>
              <a:p>
                <a:pPr marL="76200" lvl="0" indent="0">
                  <a:buNone/>
                </a:pPr>
                <a:endParaRPr lang="fr-FR" sz="2000" dirty="0"/>
              </a:p>
              <a:p>
                <a:pPr marL="76200" lvl="0" indent="0">
                  <a:buNone/>
                </a:pPr>
                <a:endParaRPr lang="fr-FR" sz="2000" dirty="0"/>
              </a:p>
              <a:p>
                <a:pPr marL="76200" lvl="0" indent="0">
                  <a:buNone/>
                </a:pPr>
                <a:endParaRPr lang="fr-FR" sz="2000" dirty="0"/>
              </a:p>
              <a:p>
                <a:pPr marL="76200" lvl="0" indent="0">
                  <a:buNone/>
                </a:pPr>
                <a:endParaRPr lang="fr-FR" sz="20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635646"/>
                <a:ext cx="7532654" cy="3291830"/>
              </a:xfrm>
              <a:prstGeom prst="rect">
                <a:avLst/>
              </a:prstGeom>
              <a:blipFill>
                <a:blip r:embed="rId3"/>
                <a:stretch>
                  <a:fillRect l="-1214" t="-556"/>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61</a:t>
            </a:fld>
            <a:endParaRPr/>
          </a:p>
        </p:txBody>
      </p:sp>
    </p:spTree>
    <p:extLst>
      <p:ext uri="{BB962C8B-B14F-4D97-AF65-F5344CB8AC3E}">
        <p14:creationId xmlns="" xmlns:p14="http://schemas.microsoft.com/office/powerpoint/2010/main" val="27710411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Choisir K : le nombre de clusters</a:t>
            </a:r>
            <a:endParaRPr lang="en" sz="3200" b="1" dirty="0"/>
          </a:p>
        </p:txBody>
      </p:sp>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Choisir un nombre de cluster K n’est pas forcément intuitif.</a:t>
            </a:r>
          </a:p>
          <a:p>
            <a:pPr lvl="0">
              <a:buFont typeface="Wingdings" panose="05000000000000000000" pitchFamily="2" charset="2"/>
              <a:buChar char="§"/>
            </a:pPr>
            <a:r>
              <a:rPr lang="fr-FR" sz="2000" dirty="0"/>
              <a:t>Un nombre K </a:t>
            </a:r>
            <a:r>
              <a:rPr lang="fr-FR" sz="2000" b="1" dirty="0"/>
              <a:t>grand</a:t>
            </a:r>
            <a:r>
              <a:rPr lang="fr-FR" sz="2000" dirty="0"/>
              <a:t> peut conduire à un partitionnement trop fragmenté des données. </a:t>
            </a:r>
          </a:p>
          <a:p>
            <a:pPr lvl="1">
              <a:buClr>
                <a:schemeClr val="accent4"/>
              </a:buClr>
              <a:buFont typeface="Barlow Light" panose="020B0604020202020204" charset="0"/>
              <a:buChar char="→"/>
            </a:pPr>
            <a:r>
              <a:rPr lang="fr-FR" sz="2000" dirty="0"/>
              <a:t>Empêchera de découvrir des patterns intéressants dans les données. </a:t>
            </a:r>
          </a:p>
          <a:p>
            <a:pPr lvl="0">
              <a:buFont typeface="Wingdings" panose="05000000000000000000" pitchFamily="2" charset="2"/>
              <a:buChar char="§"/>
            </a:pPr>
            <a:r>
              <a:rPr lang="fr-FR" sz="2000" dirty="0"/>
              <a:t>Un nombre de clusters trop petit, conduira à avoir, des cluster trop généralistes contenant beaucoup de données. </a:t>
            </a:r>
          </a:p>
          <a:p>
            <a:pPr lvl="1">
              <a:buClr>
                <a:schemeClr val="accent4"/>
              </a:buClr>
              <a:buFont typeface="Barlow Light" panose="020B0604020202020204" charset="0"/>
              <a:buChar char="→"/>
            </a:pPr>
            <a:r>
              <a:rPr lang="fr-FR" sz="2000" dirty="0"/>
              <a:t>Dans ce cas, on n’aura pas de patterns “fins” à découvrir.</a:t>
            </a:r>
          </a:p>
          <a:p>
            <a:pPr marL="76200" lvl="0" indent="0">
              <a:buNone/>
            </a:pPr>
            <a:endParaRPr lang="fr-FR" sz="2000" dirty="0"/>
          </a:p>
          <a:p>
            <a:pPr marL="76200" lvl="0" indent="0">
              <a:buNone/>
            </a:pPr>
            <a:endParaRPr lang="fr-FR" sz="2000" dirty="0"/>
          </a:p>
          <a:p>
            <a:pPr marL="76200" lvl="0" indent="0">
              <a:buNone/>
            </a:pPr>
            <a:endParaRPr lang="fr-FR" sz="2000" dirty="0"/>
          </a:p>
          <a:p>
            <a:pPr marL="76200" lvl="0" indent="0">
              <a:buNone/>
            </a:pPr>
            <a:endParaRPr lang="fr-FR" sz="2000"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62</a:t>
            </a:fld>
            <a:endParaRPr/>
          </a:p>
        </p:txBody>
      </p:sp>
    </p:spTree>
    <p:extLst>
      <p:ext uri="{BB962C8B-B14F-4D97-AF65-F5344CB8AC3E}">
        <p14:creationId xmlns="" xmlns:p14="http://schemas.microsoft.com/office/powerpoint/2010/main" val="9160109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Choisir K : le nombre de clusters</a:t>
            </a:r>
            <a:endParaRPr lang="en" sz="3200" b="1" dirty="0"/>
          </a:p>
        </p:txBody>
      </p:sp>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La méthode la plus usuelle est de lancer K-</a:t>
            </a:r>
            <a:r>
              <a:rPr lang="fr-FR" sz="2000" dirty="0" err="1"/>
              <a:t>Means</a:t>
            </a:r>
            <a:r>
              <a:rPr lang="fr-FR" sz="2000" dirty="0"/>
              <a:t> avec différentes valeurs de K et de calculer la </a:t>
            </a:r>
            <a:r>
              <a:rPr lang="fr-FR" sz="2000" b="1" dirty="0"/>
              <a:t>variance</a:t>
            </a:r>
            <a:r>
              <a:rPr lang="fr-FR" sz="2000" dirty="0"/>
              <a:t> des différents clusters.  </a:t>
            </a:r>
          </a:p>
          <a:p>
            <a:pPr lvl="0">
              <a:buFont typeface="Wingdings" panose="05000000000000000000" pitchFamily="2" charset="2"/>
              <a:buChar char="§"/>
            </a:pPr>
            <a:r>
              <a:rPr lang="fr-FR" sz="2000" dirty="0"/>
              <a:t>La variance est la somme des distances entre chaque </a:t>
            </a:r>
            <a:r>
              <a:rPr lang="fr-FR" sz="2000" dirty="0" err="1"/>
              <a:t>centroid</a:t>
            </a:r>
            <a:r>
              <a:rPr lang="fr-FR" sz="2000" dirty="0"/>
              <a:t> d’un cluster et les différentes observations inclues dans le même cluster. </a:t>
            </a:r>
          </a:p>
          <a:p>
            <a:pPr lvl="0">
              <a:buFont typeface="Wingdings" panose="05000000000000000000" pitchFamily="2" charset="2"/>
              <a:buChar char="§"/>
            </a:pPr>
            <a:r>
              <a:rPr lang="fr-FR" sz="2000" dirty="0"/>
              <a:t>Chercher à trouver un nombre de clusters K où les clusters retenus minimisent la distance entre leurs centres et les observations dans le même cluster (</a:t>
            </a:r>
            <a:r>
              <a:rPr lang="fr-FR" sz="2000" b="1" dirty="0"/>
              <a:t>distance </a:t>
            </a:r>
            <a:r>
              <a:rPr lang="fr-FR" sz="2000" b="1" dirty="0" err="1"/>
              <a:t>intra-classe</a:t>
            </a:r>
            <a:r>
              <a:rPr lang="fr-FR" sz="2000" dirty="0"/>
              <a:t>).</a:t>
            </a:r>
          </a:p>
          <a:p>
            <a:pPr marL="76200" lvl="0" indent="0">
              <a:buNone/>
            </a:pPr>
            <a:endParaRPr lang="fr-FR" sz="2000" dirty="0"/>
          </a:p>
          <a:p>
            <a:pPr marL="76200" lvl="0" indent="0">
              <a:buNone/>
            </a:pPr>
            <a:endParaRPr lang="fr-FR" sz="2000" dirty="0"/>
          </a:p>
          <a:p>
            <a:pPr marL="76200" lvl="0" indent="0">
              <a:buNone/>
            </a:pPr>
            <a:endParaRPr lang="fr-FR" sz="2000"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63</a:t>
            </a:fld>
            <a:endParaRPr/>
          </a:p>
        </p:txBody>
      </p:sp>
    </p:spTree>
    <p:extLst>
      <p:ext uri="{BB962C8B-B14F-4D97-AF65-F5344CB8AC3E}">
        <p14:creationId xmlns="" xmlns:p14="http://schemas.microsoft.com/office/powerpoint/2010/main" val="7408225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9028EF8-64A6-4DCC-BDD5-3F39D1FAE581}"/>
              </a:ext>
            </a:extLst>
          </p:cNvPr>
          <p:cNvSpPr>
            <a:spLocks noGrp="1"/>
          </p:cNvSpPr>
          <p:nvPr>
            <p:ph type="title"/>
          </p:nvPr>
        </p:nvSpPr>
        <p:spPr/>
        <p:txBody>
          <a:bodyPr/>
          <a:lstStyle/>
          <a:p>
            <a:r>
              <a:rPr lang="en" sz="2800" b="1" dirty="0"/>
              <a:t>K-means: Algorithme</a:t>
            </a:r>
            <a:endParaRPr lang="fr-FR" dirty="0"/>
          </a:p>
        </p:txBody>
      </p:sp>
      <p:sp>
        <p:nvSpPr>
          <p:cNvPr id="3" name="Espace réservé du texte 2">
            <a:extLst>
              <a:ext uri="{FF2B5EF4-FFF2-40B4-BE49-F238E27FC236}">
                <a16:creationId xmlns="" xmlns:a16="http://schemas.microsoft.com/office/drawing/2014/main" id="{E9B75F26-0B4A-4A81-B733-BCE731A7AEC2}"/>
              </a:ext>
            </a:extLst>
          </p:cNvPr>
          <p:cNvSpPr>
            <a:spLocks noGrp="1"/>
          </p:cNvSpPr>
          <p:nvPr>
            <p:ph type="body" idx="1"/>
          </p:nvPr>
        </p:nvSpPr>
        <p:spPr>
          <a:xfrm>
            <a:off x="1043608" y="1599700"/>
            <a:ext cx="7272807" cy="3348314"/>
          </a:xfrm>
        </p:spPr>
        <p:txBody>
          <a:bodyPr/>
          <a:lstStyle/>
          <a:p>
            <a:pPr marL="0" marR="0" lvl="0" indent="0" algn="l" defTabSz="914400" rtl="0" eaLnBrk="0" fontAlgn="base" latinLnBrk="0" hangingPunct="0">
              <a:lnSpc>
                <a:spcPct val="100000"/>
              </a:lnSpc>
              <a:spcBef>
                <a:spcPts val="300"/>
              </a:spcBef>
              <a:spcAft>
                <a:spcPct val="0"/>
              </a:spcAft>
              <a:buSzTx/>
              <a:buNone/>
              <a:tabLst/>
            </a:pPr>
            <a:r>
              <a:rPr kumimoji="0" lang="fr-FR" altLang="fr-FR" sz="1800" b="1" i="0" u="none" strike="noStrike" cap="none" normalizeH="0" baseline="0" dirty="0">
                <a:ln>
                  <a:noFill/>
                </a:ln>
                <a:solidFill>
                  <a:schemeClr val="accent6">
                    <a:lumMod val="75000"/>
                  </a:schemeClr>
                </a:solidFill>
                <a:effectLst/>
                <a:latin typeface="Palatino Linotype" panose="02040502050505030304" pitchFamily="18" charset="0"/>
              </a:rPr>
              <a:t>Entrée</a:t>
            </a:r>
          </a:p>
          <a:p>
            <a:pPr marL="342900" marR="0" lvl="0" indent="-342900" algn="l" defTabSz="914400" rtl="0" eaLnBrk="0" fontAlgn="base" latinLnBrk="0" hangingPunct="0">
              <a:lnSpc>
                <a:spcPct val="100000"/>
              </a:lnSpc>
              <a:spcBef>
                <a:spcPts val="300"/>
              </a:spcBef>
              <a:spcAft>
                <a:spcPct val="0"/>
              </a:spcAft>
              <a:buSzTx/>
              <a:buFont typeface="Arial" panose="020B0604020202020204" pitchFamily="34" charset="0"/>
              <a:buChar char="•"/>
              <a:tabLst/>
            </a:pPr>
            <a:r>
              <a:rPr lang="fr-FR" altLang="fr-FR" sz="1800" b="1" dirty="0">
                <a:solidFill>
                  <a:schemeClr val="tx1"/>
                </a:solidFill>
                <a:latin typeface="Palatino Linotype" panose="02040502050505030304" pitchFamily="18" charset="0"/>
              </a:rPr>
              <a:t>I: </a:t>
            </a:r>
            <a:r>
              <a:rPr kumimoji="0" lang="fr-FR" altLang="fr-FR" sz="1800" b="0" i="0" u="none" strike="noStrike" cap="none" normalizeH="0" baseline="0" dirty="0">
                <a:ln>
                  <a:noFill/>
                </a:ln>
                <a:solidFill>
                  <a:schemeClr val="tx1"/>
                </a:solidFill>
                <a:effectLst/>
                <a:latin typeface="Palatino Linotype" panose="02040502050505030304" pitchFamily="18" charset="0"/>
              </a:rPr>
              <a:t>Le Training Set (matrice de données)</a:t>
            </a:r>
          </a:p>
          <a:p>
            <a:pPr marL="0" indent="0" eaLnBrk="0" fontAlgn="base" hangingPunct="0">
              <a:lnSpc>
                <a:spcPct val="100000"/>
              </a:lnSpc>
              <a:spcBef>
                <a:spcPts val="300"/>
              </a:spcBef>
              <a:spcAft>
                <a:spcPct val="0"/>
              </a:spcAft>
              <a:buSzTx/>
              <a:buNone/>
            </a:pPr>
            <a:r>
              <a:rPr kumimoji="0" lang="fr-FR" altLang="fr-FR" sz="1800" b="1" i="0" u="none" strike="noStrike" cap="none" normalizeH="0" baseline="0" dirty="0">
                <a:ln>
                  <a:noFill/>
                </a:ln>
                <a:solidFill>
                  <a:schemeClr val="accent6">
                    <a:lumMod val="75000"/>
                  </a:schemeClr>
                </a:solidFill>
                <a:effectLst/>
                <a:latin typeface="Palatino Linotype" panose="02040502050505030304" pitchFamily="18" charset="0"/>
              </a:rPr>
              <a:t>Début</a:t>
            </a:r>
          </a:p>
          <a:p>
            <a:pPr marL="0" marR="0" lvl="0" indent="0" algn="l" defTabSz="914400" rtl="0" eaLnBrk="0" fontAlgn="base" latinLnBrk="0" hangingPunct="0">
              <a:lnSpc>
                <a:spcPct val="100000"/>
              </a:lnSpc>
              <a:spcBef>
                <a:spcPts val="300"/>
              </a:spcBef>
              <a:spcAft>
                <a:spcPct val="0"/>
              </a:spcAft>
              <a:buSzTx/>
              <a:buNone/>
              <a:tabLst/>
            </a:pPr>
            <a:r>
              <a:rPr kumimoji="0" lang="fr-FR" altLang="fr-FR" sz="1800" i="0" u="none" strike="noStrike" cap="none" normalizeH="0" baseline="0" dirty="0">
                <a:ln>
                  <a:noFill/>
                </a:ln>
                <a:solidFill>
                  <a:schemeClr val="tx1"/>
                </a:solidFill>
                <a:effectLst/>
                <a:latin typeface="Palatino Linotype" panose="02040502050505030304" pitchFamily="18" charset="0"/>
              </a:rPr>
              <a:t>choisir, au hasard, k centroïdes. Qui seront les centres des clusters de départ.</a:t>
            </a:r>
          </a:p>
          <a:p>
            <a:pPr marL="0" marR="0" lvl="0" indent="0" algn="l" defTabSz="914400" rtl="0" eaLnBrk="0" fontAlgn="base" latinLnBrk="0" hangingPunct="0">
              <a:lnSpc>
                <a:spcPct val="100000"/>
              </a:lnSpc>
              <a:spcBef>
                <a:spcPts val="300"/>
              </a:spcBef>
              <a:spcAft>
                <a:spcPct val="0"/>
              </a:spcAft>
              <a:buSzTx/>
              <a:buNone/>
              <a:tabLst/>
            </a:pPr>
            <a:r>
              <a:rPr kumimoji="0" lang="fr-FR" altLang="fr-FR" sz="1800" b="1" i="0" u="none" strike="noStrike" cap="none" normalizeH="0" baseline="0" dirty="0">
                <a:ln>
                  <a:noFill/>
                </a:ln>
                <a:solidFill>
                  <a:schemeClr val="tx1"/>
                </a:solidFill>
                <a:effectLst/>
                <a:latin typeface="Palatino Linotype" panose="02040502050505030304" pitchFamily="18" charset="0"/>
              </a:rPr>
              <a:t>pour chaque </a:t>
            </a:r>
            <a:r>
              <a:rPr kumimoji="0" lang="fr-FR" altLang="fr-FR" sz="1800" i="0" u="none" strike="noStrike" cap="none" normalizeH="0" baseline="0" dirty="0">
                <a:ln>
                  <a:noFill/>
                </a:ln>
                <a:solidFill>
                  <a:schemeClr val="tx1"/>
                </a:solidFill>
                <a:effectLst/>
                <a:latin typeface="Palatino Linotype" panose="02040502050505030304" pitchFamily="18" charset="0"/>
              </a:rPr>
              <a:t>centroïdes</a:t>
            </a:r>
            <a:endParaRPr kumimoji="0" lang="fr-FR" altLang="fr-FR" sz="1800" b="0" i="0" u="none" strike="noStrike" cap="none" normalizeH="0" baseline="0" dirty="0">
              <a:ln>
                <a:noFill/>
              </a:ln>
              <a:solidFill>
                <a:schemeClr val="tx1"/>
              </a:solidFill>
              <a:effectLst/>
              <a:latin typeface="Palatino Linotype" panose="02040502050505030304" pitchFamily="18" charset="0"/>
            </a:endParaRPr>
          </a:p>
          <a:p>
            <a:pPr marL="742950" lvl="1" indent="-285750" eaLnBrk="0" fontAlgn="base" hangingPunct="0">
              <a:lnSpc>
                <a:spcPct val="100000"/>
              </a:lnSpc>
              <a:spcBef>
                <a:spcPts val="300"/>
              </a:spcBef>
              <a:spcAft>
                <a:spcPct val="0"/>
              </a:spcAft>
              <a:buSzTx/>
              <a:buFont typeface="Wingdings" panose="05000000000000000000" pitchFamily="2" charset="2"/>
              <a:buChar char="§"/>
            </a:pPr>
            <a:r>
              <a:rPr kumimoji="0" lang="fr-FR" altLang="fr-FR" sz="1800" b="0" i="0" u="none" strike="noStrike" cap="none" normalizeH="0" baseline="0" dirty="0">
                <a:ln>
                  <a:noFill/>
                </a:ln>
                <a:solidFill>
                  <a:schemeClr val="tx1"/>
                </a:solidFill>
                <a:effectLst/>
                <a:latin typeface="Palatino Linotype" panose="02040502050505030304" pitchFamily="18" charset="0"/>
              </a:rPr>
              <a:t>Construire k clusters </a:t>
            </a:r>
          </a:p>
          <a:p>
            <a:pPr marL="742950" lvl="1" indent="-285750" eaLnBrk="0" fontAlgn="base" hangingPunct="0">
              <a:lnSpc>
                <a:spcPct val="100000"/>
              </a:lnSpc>
              <a:spcBef>
                <a:spcPts val="300"/>
              </a:spcBef>
              <a:spcAft>
                <a:spcPct val="0"/>
              </a:spcAft>
              <a:buSzTx/>
              <a:buFont typeface="Wingdings" panose="05000000000000000000" pitchFamily="2" charset="2"/>
              <a:buChar char="§"/>
            </a:pPr>
            <a:r>
              <a:rPr lang="fr-FR" altLang="fr-FR" sz="1800" dirty="0">
                <a:solidFill>
                  <a:schemeClr val="tx1"/>
                </a:solidFill>
                <a:latin typeface="Palatino Linotype" panose="02040502050505030304" pitchFamily="18" charset="0"/>
              </a:rPr>
              <a:t>Calculer les nouveaux centroïdes: calculer la moyenne</a:t>
            </a:r>
          </a:p>
          <a:p>
            <a:pPr marL="742950" lvl="1" indent="-285750" eaLnBrk="0" fontAlgn="base" hangingPunct="0">
              <a:lnSpc>
                <a:spcPct val="100000"/>
              </a:lnSpc>
              <a:spcBef>
                <a:spcPts val="300"/>
              </a:spcBef>
              <a:spcAft>
                <a:spcPct val="0"/>
              </a:spcAft>
              <a:buSzTx/>
              <a:buFont typeface="Wingdings" panose="05000000000000000000" pitchFamily="2" charset="2"/>
              <a:buChar char="§"/>
            </a:pPr>
            <a:r>
              <a:rPr kumimoji="0" lang="fr-FR" altLang="fr-FR" sz="1800" b="0" i="0" u="none" strike="noStrike" cap="none" normalizeH="0" baseline="0" dirty="0">
                <a:ln>
                  <a:noFill/>
                </a:ln>
                <a:solidFill>
                  <a:schemeClr val="tx1"/>
                </a:solidFill>
                <a:effectLst/>
                <a:latin typeface="Palatino Linotype" panose="02040502050505030304" pitchFamily="18" charset="0"/>
              </a:rPr>
              <a:t>Recommencer jusqu’à ce qu’à ce qu’il y ait convergence: les centroïdes ne changent pas après une mise à jour.</a:t>
            </a:r>
          </a:p>
          <a:p>
            <a:pPr marL="0" indent="0" eaLnBrk="0" fontAlgn="base" hangingPunct="0">
              <a:lnSpc>
                <a:spcPct val="100000"/>
              </a:lnSpc>
              <a:spcBef>
                <a:spcPts val="300"/>
              </a:spcBef>
              <a:spcAft>
                <a:spcPct val="0"/>
              </a:spcAft>
              <a:buSzTx/>
              <a:buNone/>
            </a:pPr>
            <a:r>
              <a:rPr kumimoji="0" lang="fr-FR" altLang="fr-FR" sz="1800" b="1" i="0" u="none" strike="noStrike" cap="none" normalizeH="0" baseline="0" dirty="0">
                <a:ln>
                  <a:noFill/>
                </a:ln>
                <a:solidFill>
                  <a:schemeClr val="accent6">
                    <a:lumMod val="75000"/>
                  </a:schemeClr>
                </a:solidFill>
                <a:effectLst/>
                <a:latin typeface="Palatino Linotype" panose="02040502050505030304" pitchFamily="18" charset="0"/>
              </a:rPr>
              <a:t>Fin Algorithme</a:t>
            </a:r>
          </a:p>
          <a:p>
            <a:pPr marL="0" marR="0" lvl="0" indent="0" algn="l" defTabSz="914400" rtl="0" eaLnBrk="0" fontAlgn="base" latinLnBrk="0" hangingPunct="0">
              <a:lnSpc>
                <a:spcPct val="100000"/>
              </a:lnSpc>
              <a:spcBef>
                <a:spcPts val="300"/>
              </a:spcBef>
              <a:spcAft>
                <a:spcPct val="0"/>
              </a:spcAft>
              <a:buSzTx/>
              <a:buNone/>
              <a:tabLst/>
            </a:pPr>
            <a:endParaRPr kumimoji="0" lang="fr-FR" altLang="fr-FR" sz="1800" b="0" i="0" u="none" strike="noStrike" cap="none" normalizeH="0" baseline="0" dirty="0">
              <a:ln>
                <a:noFill/>
              </a:ln>
              <a:solidFill>
                <a:schemeClr val="tx1"/>
              </a:solidFill>
              <a:effectLst/>
              <a:latin typeface="Palatino Linotype" panose="02040502050505030304" pitchFamily="18" charset="0"/>
            </a:endParaRPr>
          </a:p>
        </p:txBody>
      </p:sp>
      <p:sp>
        <p:nvSpPr>
          <p:cNvPr id="4" name="Espace réservé du numéro de diapositive 3">
            <a:extLst>
              <a:ext uri="{FF2B5EF4-FFF2-40B4-BE49-F238E27FC236}">
                <a16:creationId xmlns="" xmlns:a16="http://schemas.microsoft.com/office/drawing/2014/main" id="{DF48A964-C876-4511-B769-A17BC72BC21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64</a:t>
            </a:fld>
            <a:endParaRPr lang="fr-FR"/>
          </a:p>
        </p:txBody>
      </p:sp>
      <p:sp>
        <p:nvSpPr>
          <p:cNvPr id="6" name="AutoShape 2" descr="y">
            <a:extLst>
              <a:ext uri="{FF2B5EF4-FFF2-40B4-BE49-F238E27FC236}">
                <a16:creationId xmlns="" xmlns:a16="http://schemas.microsoft.com/office/drawing/2014/main" id="{00877846-4658-4B0B-BE41-A14F5E6F933D}"/>
              </a:ext>
            </a:extLst>
          </p:cNvPr>
          <p:cNvSpPr>
            <a:spLocks noChangeAspect="1" noChangeArrowheads="1"/>
          </p:cNvSpPr>
          <p:nvPr/>
        </p:nvSpPr>
        <p:spPr bwMode="auto">
          <a:xfrm>
            <a:off x="8905875" y="-274638"/>
            <a:ext cx="8572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 name="AutoShape 3" descr="K">
            <a:extLst>
              <a:ext uri="{FF2B5EF4-FFF2-40B4-BE49-F238E27FC236}">
                <a16:creationId xmlns="" xmlns:a16="http://schemas.microsoft.com/office/drawing/2014/main" id="{B4B6921A-068F-4CA0-98C5-99068D390FAF}"/>
              </a:ext>
            </a:extLst>
          </p:cNvPr>
          <p:cNvSpPr>
            <a:spLocks noChangeAspect="1" noChangeArrowheads="1"/>
          </p:cNvSpPr>
          <p:nvPr/>
        </p:nvSpPr>
        <p:spPr bwMode="auto">
          <a:xfrm>
            <a:off x="9629775" y="-274638"/>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8" name="AutoShape 4" descr="y">
            <a:extLst>
              <a:ext uri="{FF2B5EF4-FFF2-40B4-BE49-F238E27FC236}">
                <a16:creationId xmlns="" xmlns:a16="http://schemas.microsoft.com/office/drawing/2014/main" id="{3F7EB224-1BD9-4A63-8537-C36F247351F3}"/>
              </a:ext>
            </a:extLst>
          </p:cNvPr>
          <p:cNvSpPr>
            <a:spLocks noChangeAspect="1" noChangeArrowheads="1"/>
          </p:cNvSpPr>
          <p:nvPr/>
        </p:nvSpPr>
        <p:spPr bwMode="auto">
          <a:xfrm>
            <a:off x="7115175" y="0"/>
            <a:ext cx="8572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9" name="AutoShape 5" descr="K">
            <a:extLst>
              <a:ext uri="{FF2B5EF4-FFF2-40B4-BE49-F238E27FC236}">
                <a16:creationId xmlns="" xmlns:a16="http://schemas.microsoft.com/office/drawing/2014/main" id="{8497468E-34CD-478C-9884-81D7DCF62B69}"/>
              </a:ext>
            </a:extLst>
          </p:cNvPr>
          <p:cNvSpPr>
            <a:spLocks noChangeAspect="1" noChangeArrowheads="1"/>
          </p:cNvSpPr>
          <p:nvPr/>
        </p:nvSpPr>
        <p:spPr bwMode="auto">
          <a:xfrm>
            <a:off x="7839075" y="0"/>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 xmlns:p14="http://schemas.microsoft.com/office/powerpoint/2010/main" val="4131154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9028EF8-64A6-4DCC-BDD5-3F39D1FAE581}"/>
              </a:ext>
            </a:extLst>
          </p:cNvPr>
          <p:cNvSpPr>
            <a:spLocks noGrp="1"/>
          </p:cNvSpPr>
          <p:nvPr>
            <p:ph type="title"/>
          </p:nvPr>
        </p:nvSpPr>
        <p:spPr>
          <a:xfrm>
            <a:off x="661100" y="483518"/>
            <a:ext cx="9154208" cy="1033755"/>
          </a:xfrm>
        </p:spPr>
        <p:txBody>
          <a:bodyPr/>
          <a:lstStyle/>
          <a:p>
            <a:r>
              <a:rPr lang="en" sz="2800" b="1" dirty="0"/>
              <a:t>K-means: Algorithme</a:t>
            </a:r>
            <a:endParaRPr lang="fr-FR" dirty="0"/>
          </a:p>
        </p:txBody>
      </p:sp>
      <p:sp>
        <p:nvSpPr>
          <p:cNvPr id="4" name="Espace réservé du numéro de diapositive 3">
            <a:extLst>
              <a:ext uri="{FF2B5EF4-FFF2-40B4-BE49-F238E27FC236}">
                <a16:creationId xmlns="" xmlns:a16="http://schemas.microsoft.com/office/drawing/2014/main" id="{DF48A964-C876-4511-B769-A17BC72BC214}"/>
              </a:ext>
            </a:extLst>
          </p:cNvPr>
          <p:cNvSpPr>
            <a:spLocks noGrp="1"/>
          </p:cNvSpPr>
          <p:nvPr>
            <p:ph type="sldNum" idx="12"/>
          </p:nvPr>
        </p:nvSpPr>
        <p:spPr>
          <a:xfrm>
            <a:off x="8504253" y="4489799"/>
            <a:ext cx="762967" cy="1033755"/>
          </a:xfrm>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65</a:t>
            </a:fld>
            <a:endParaRPr lang="fr-FR"/>
          </a:p>
        </p:txBody>
      </p:sp>
      <p:sp>
        <p:nvSpPr>
          <p:cNvPr id="6" name="AutoShape 2" descr="y">
            <a:extLst>
              <a:ext uri="{FF2B5EF4-FFF2-40B4-BE49-F238E27FC236}">
                <a16:creationId xmlns="" xmlns:a16="http://schemas.microsoft.com/office/drawing/2014/main" id="{00877846-4658-4B0B-BE41-A14F5E6F933D}"/>
              </a:ext>
            </a:extLst>
          </p:cNvPr>
          <p:cNvSpPr>
            <a:spLocks noChangeAspect="1" noChangeArrowheads="1"/>
          </p:cNvSpPr>
          <p:nvPr/>
        </p:nvSpPr>
        <p:spPr bwMode="auto">
          <a:xfrm>
            <a:off x="8905875" y="-274639"/>
            <a:ext cx="135565" cy="180753"/>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 name="AutoShape 3" descr="K">
            <a:extLst>
              <a:ext uri="{FF2B5EF4-FFF2-40B4-BE49-F238E27FC236}">
                <a16:creationId xmlns="" xmlns:a16="http://schemas.microsoft.com/office/drawing/2014/main" id="{B4B6921A-068F-4CA0-98C5-99068D390FAF}"/>
              </a:ext>
            </a:extLst>
          </p:cNvPr>
          <p:cNvSpPr>
            <a:spLocks noChangeAspect="1" noChangeArrowheads="1"/>
          </p:cNvSpPr>
          <p:nvPr/>
        </p:nvSpPr>
        <p:spPr bwMode="auto">
          <a:xfrm>
            <a:off x="9629775" y="-274639"/>
            <a:ext cx="241004" cy="180753"/>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8" name="AutoShape 4" descr="y">
            <a:extLst>
              <a:ext uri="{FF2B5EF4-FFF2-40B4-BE49-F238E27FC236}">
                <a16:creationId xmlns="" xmlns:a16="http://schemas.microsoft.com/office/drawing/2014/main" id="{3F7EB224-1BD9-4A63-8537-C36F247351F3}"/>
              </a:ext>
            </a:extLst>
          </p:cNvPr>
          <p:cNvSpPr>
            <a:spLocks noChangeAspect="1" noChangeArrowheads="1"/>
          </p:cNvSpPr>
          <p:nvPr/>
        </p:nvSpPr>
        <p:spPr bwMode="auto">
          <a:xfrm>
            <a:off x="7115175" y="-1"/>
            <a:ext cx="135565" cy="180753"/>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9" name="AutoShape 5" descr="K">
            <a:extLst>
              <a:ext uri="{FF2B5EF4-FFF2-40B4-BE49-F238E27FC236}">
                <a16:creationId xmlns="" xmlns:a16="http://schemas.microsoft.com/office/drawing/2014/main" id="{8497468E-34CD-478C-9884-81D7DCF62B69}"/>
              </a:ext>
            </a:extLst>
          </p:cNvPr>
          <p:cNvSpPr>
            <a:spLocks noChangeAspect="1" noChangeArrowheads="1"/>
          </p:cNvSpPr>
          <p:nvPr/>
        </p:nvSpPr>
        <p:spPr bwMode="auto">
          <a:xfrm>
            <a:off x="7839075" y="-1"/>
            <a:ext cx="241004" cy="180753"/>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1" name="Rectangle : coins arrondis 10">
            <a:extLst>
              <a:ext uri="{FF2B5EF4-FFF2-40B4-BE49-F238E27FC236}">
                <a16:creationId xmlns="" xmlns:a16="http://schemas.microsoft.com/office/drawing/2014/main" id="{FA43994F-C296-4046-AA4E-ED7D4B868AEF}"/>
              </a:ext>
            </a:extLst>
          </p:cNvPr>
          <p:cNvSpPr/>
          <p:nvPr/>
        </p:nvSpPr>
        <p:spPr>
          <a:xfrm>
            <a:off x="2854458" y="1347614"/>
            <a:ext cx="903605" cy="486581"/>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b="1" dirty="0"/>
              <a:t>Début</a:t>
            </a:r>
          </a:p>
        </p:txBody>
      </p:sp>
      <p:sp>
        <p:nvSpPr>
          <p:cNvPr id="12" name="Rectangle : coins arrondis 11">
            <a:extLst>
              <a:ext uri="{FF2B5EF4-FFF2-40B4-BE49-F238E27FC236}">
                <a16:creationId xmlns="" xmlns:a16="http://schemas.microsoft.com/office/drawing/2014/main" id="{A32C2A76-6302-43B3-B573-260A3D48F01B}"/>
              </a:ext>
            </a:extLst>
          </p:cNvPr>
          <p:cNvSpPr/>
          <p:nvPr/>
        </p:nvSpPr>
        <p:spPr>
          <a:xfrm>
            <a:off x="7579636" y="3490734"/>
            <a:ext cx="903605" cy="486581"/>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b="1" dirty="0"/>
              <a:t>Fin</a:t>
            </a:r>
          </a:p>
        </p:txBody>
      </p:sp>
      <p:sp>
        <p:nvSpPr>
          <p:cNvPr id="13" name="Rectangle : avec coins arrondis en diagonale 12">
            <a:extLst>
              <a:ext uri="{FF2B5EF4-FFF2-40B4-BE49-F238E27FC236}">
                <a16:creationId xmlns="" xmlns:a16="http://schemas.microsoft.com/office/drawing/2014/main" id="{D8691150-88A2-4E81-8838-DF0B33F54666}"/>
              </a:ext>
            </a:extLst>
          </p:cNvPr>
          <p:cNvSpPr/>
          <p:nvPr/>
        </p:nvSpPr>
        <p:spPr>
          <a:xfrm>
            <a:off x="2534669" y="2041253"/>
            <a:ext cx="1543188" cy="667035"/>
          </a:xfrm>
          <a:prstGeom prst="round2Diag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fr-FR" b="1" dirty="0"/>
              <a:t>Nombre de cluster K</a:t>
            </a:r>
          </a:p>
        </p:txBody>
      </p:sp>
      <p:sp>
        <p:nvSpPr>
          <p:cNvPr id="14" name="Rectangle 13">
            <a:extLst>
              <a:ext uri="{FF2B5EF4-FFF2-40B4-BE49-F238E27FC236}">
                <a16:creationId xmlns="" xmlns:a16="http://schemas.microsoft.com/office/drawing/2014/main" id="{898415D8-168D-470B-BD77-1700C0F895B7}"/>
              </a:ext>
            </a:extLst>
          </p:cNvPr>
          <p:cNvSpPr/>
          <p:nvPr/>
        </p:nvSpPr>
        <p:spPr>
          <a:xfrm>
            <a:off x="2339753" y="2923935"/>
            <a:ext cx="1933019" cy="50405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b="1" dirty="0"/>
              <a:t>Identifier </a:t>
            </a:r>
            <a:r>
              <a:rPr lang="fr-FR" b="1" dirty="0" err="1"/>
              <a:t>Centroid</a:t>
            </a:r>
            <a:endParaRPr lang="fr-FR" b="1" dirty="0"/>
          </a:p>
        </p:txBody>
      </p:sp>
      <p:sp>
        <p:nvSpPr>
          <p:cNvPr id="15" name="Rectangle 14">
            <a:extLst>
              <a:ext uri="{FF2B5EF4-FFF2-40B4-BE49-F238E27FC236}">
                <a16:creationId xmlns="" xmlns:a16="http://schemas.microsoft.com/office/drawing/2014/main" id="{4661303B-D22E-41A0-8F4B-C730F9B2B433}"/>
              </a:ext>
            </a:extLst>
          </p:cNvPr>
          <p:cNvSpPr/>
          <p:nvPr/>
        </p:nvSpPr>
        <p:spPr>
          <a:xfrm>
            <a:off x="2339752" y="3644015"/>
            <a:ext cx="1933019" cy="50405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b="1" dirty="0"/>
              <a:t>Distance entre objets et centres</a:t>
            </a:r>
          </a:p>
        </p:txBody>
      </p:sp>
      <p:sp>
        <p:nvSpPr>
          <p:cNvPr id="16" name="Rectangle 15">
            <a:extLst>
              <a:ext uri="{FF2B5EF4-FFF2-40B4-BE49-F238E27FC236}">
                <a16:creationId xmlns="" xmlns:a16="http://schemas.microsoft.com/office/drawing/2014/main" id="{FA0DFC44-DF87-403F-A876-E59D835CD410}"/>
              </a:ext>
            </a:extLst>
          </p:cNvPr>
          <p:cNvSpPr/>
          <p:nvPr/>
        </p:nvSpPr>
        <p:spPr>
          <a:xfrm>
            <a:off x="2339752" y="4364095"/>
            <a:ext cx="1933019" cy="50405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b="1" dirty="0"/>
              <a:t>Grouper selon la distance minimale</a:t>
            </a:r>
          </a:p>
        </p:txBody>
      </p:sp>
      <p:sp>
        <p:nvSpPr>
          <p:cNvPr id="17" name="Losange 16">
            <a:extLst>
              <a:ext uri="{FF2B5EF4-FFF2-40B4-BE49-F238E27FC236}">
                <a16:creationId xmlns="" xmlns:a16="http://schemas.microsoft.com/office/drawing/2014/main" id="{2AFA4B43-C751-4F9E-B10E-CA56EE713BF4}"/>
              </a:ext>
            </a:extLst>
          </p:cNvPr>
          <p:cNvSpPr/>
          <p:nvPr/>
        </p:nvSpPr>
        <p:spPr>
          <a:xfrm>
            <a:off x="5180783" y="3103955"/>
            <a:ext cx="1391047" cy="126014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b="1" dirty="0"/>
              <a:t>Objet change groupe ?</a:t>
            </a:r>
          </a:p>
        </p:txBody>
      </p:sp>
      <p:cxnSp>
        <p:nvCxnSpPr>
          <p:cNvPr id="19" name="Connecteur droit avec flèche 18">
            <a:extLst>
              <a:ext uri="{FF2B5EF4-FFF2-40B4-BE49-F238E27FC236}">
                <a16:creationId xmlns="" xmlns:a16="http://schemas.microsoft.com/office/drawing/2014/main" id="{2458BF29-1B63-4179-A7D6-02A92394C58D}"/>
              </a:ext>
            </a:extLst>
          </p:cNvPr>
          <p:cNvCxnSpPr>
            <a:cxnSpLocks/>
            <a:stCxn id="11" idx="2"/>
            <a:endCxn id="13" idx="3"/>
          </p:cNvCxnSpPr>
          <p:nvPr/>
        </p:nvCxnSpPr>
        <p:spPr>
          <a:xfrm>
            <a:off x="3306261" y="1834195"/>
            <a:ext cx="2" cy="2070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Connecteur droit avec flèche 20">
            <a:extLst>
              <a:ext uri="{FF2B5EF4-FFF2-40B4-BE49-F238E27FC236}">
                <a16:creationId xmlns="" xmlns:a16="http://schemas.microsoft.com/office/drawing/2014/main" id="{1DC52750-7F6C-464E-856B-A5FABF57BFB4}"/>
              </a:ext>
            </a:extLst>
          </p:cNvPr>
          <p:cNvCxnSpPr>
            <a:cxnSpLocks/>
            <a:stCxn id="13" idx="1"/>
            <a:endCxn id="14" idx="0"/>
          </p:cNvCxnSpPr>
          <p:nvPr/>
        </p:nvCxnSpPr>
        <p:spPr>
          <a:xfrm>
            <a:off x="3306263" y="2708288"/>
            <a:ext cx="0" cy="2156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Connecteur droit avec flèche 28">
            <a:extLst>
              <a:ext uri="{FF2B5EF4-FFF2-40B4-BE49-F238E27FC236}">
                <a16:creationId xmlns="" xmlns:a16="http://schemas.microsoft.com/office/drawing/2014/main" id="{6931C728-5160-4AAD-ACE0-6B4476C0C9BE}"/>
              </a:ext>
            </a:extLst>
          </p:cNvPr>
          <p:cNvCxnSpPr>
            <a:stCxn id="14" idx="2"/>
            <a:endCxn id="15" idx="0"/>
          </p:cNvCxnSpPr>
          <p:nvPr/>
        </p:nvCxnSpPr>
        <p:spPr>
          <a:xfrm flipH="1">
            <a:off x="3306262" y="3427992"/>
            <a:ext cx="1" cy="2160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Connecteur droit avec flèche 30">
            <a:extLst>
              <a:ext uri="{FF2B5EF4-FFF2-40B4-BE49-F238E27FC236}">
                <a16:creationId xmlns="" xmlns:a16="http://schemas.microsoft.com/office/drawing/2014/main" id="{637D3967-1F81-478F-817E-BA89A4C54775}"/>
              </a:ext>
            </a:extLst>
          </p:cNvPr>
          <p:cNvCxnSpPr>
            <a:stCxn id="15" idx="2"/>
            <a:endCxn id="16" idx="0"/>
          </p:cNvCxnSpPr>
          <p:nvPr/>
        </p:nvCxnSpPr>
        <p:spPr>
          <a:xfrm>
            <a:off x="3306262" y="4148072"/>
            <a:ext cx="0" cy="2160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Connecteur : en angle 32">
            <a:extLst>
              <a:ext uri="{FF2B5EF4-FFF2-40B4-BE49-F238E27FC236}">
                <a16:creationId xmlns="" xmlns:a16="http://schemas.microsoft.com/office/drawing/2014/main" id="{49C84897-C156-4A63-A166-7B91B129B579}"/>
              </a:ext>
            </a:extLst>
          </p:cNvPr>
          <p:cNvCxnSpPr>
            <a:cxnSpLocks/>
            <a:stCxn id="16" idx="2"/>
            <a:endCxn id="17" idx="2"/>
          </p:cNvCxnSpPr>
          <p:nvPr/>
        </p:nvCxnSpPr>
        <p:spPr>
          <a:xfrm rot="5400000" flipH="1" flipV="1">
            <a:off x="4339255" y="3331101"/>
            <a:ext cx="504057" cy="2570045"/>
          </a:xfrm>
          <a:prstGeom prst="bentConnector3">
            <a:avLst>
              <a:gd name="adj1" fmla="val -45352"/>
            </a:avLst>
          </a:prstGeom>
          <a:ln>
            <a:tailEnd type="triangle"/>
          </a:ln>
        </p:spPr>
        <p:style>
          <a:lnRef idx="1">
            <a:schemeClr val="dk1"/>
          </a:lnRef>
          <a:fillRef idx="0">
            <a:schemeClr val="dk1"/>
          </a:fillRef>
          <a:effectRef idx="0">
            <a:schemeClr val="dk1"/>
          </a:effectRef>
          <a:fontRef idx="minor">
            <a:schemeClr val="tx1"/>
          </a:fontRef>
        </p:style>
      </p:cxnSp>
      <p:cxnSp>
        <p:nvCxnSpPr>
          <p:cNvPr id="43" name="Connecteur : en angle 42">
            <a:extLst>
              <a:ext uri="{FF2B5EF4-FFF2-40B4-BE49-F238E27FC236}">
                <a16:creationId xmlns="" xmlns:a16="http://schemas.microsoft.com/office/drawing/2014/main" id="{166A5BA3-93A4-4CE2-B3BF-09F46E8AFCFF}"/>
              </a:ext>
            </a:extLst>
          </p:cNvPr>
          <p:cNvCxnSpPr>
            <a:cxnSpLocks/>
            <a:stCxn id="17" idx="0"/>
          </p:cNvCxnSpPr>
          <p:nvPr/>
        </p:nvCxnSpPr>
        <p:spPr>
          <a:xfrm rot="16200000" flipV="1">
            <a:off x="4442158" y="1669805"/>
            <a:ext cx="298253" cy="257004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6" name="Connecteur droit avec flèche 45">
            <a:extLst>
              <a:ext uri="{FF2B5EF4-FFF2-40B4-BE49-F238E27FC236}">
                <a16:creationId xmlns="" xmlns:a16="http://schemas.microsoft.com/office/drawing/2014/main" id="{24E7C7E1-17F6-4099-B52E-D0034F635208}"/>
              </a:ext>
            </a:extLst>
          </p:cNvPr>
          <p:cNvCxnSpPr>
            <a:stCxn id="17" idx="3"/>
            <a:endCxn id="12" idx="1"/>
          </p:cNvCxnSpPr>
          <p:nvPr/>
        </p:nvCxnSpPr>
        <p:spPr>
          <a:xfrm>
            <a:off x="6571830" y="3734025"/>
            <a:ext cx="100780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ZoneTexte 47">
            <a:extLst>
              <a:ext uri="{FF2B5EF4-FFF2-40B4-BE49-F238E27FC236}">
                <a16:creationId xmlns="" xmlns:a16="http://schemas.microsoft.com/office/drawing/2014/main" id="{057F4A14-E1A9-4927-8317-6DAF45E0D962}"/>
              </a:ext>
            </a:extLst>
          </p:cNvPr>
          <p:cNvSpPr txBox="1"/>
          <p:nvPr/>
        </p:nvSpPr>
        <p:spPr>
          <a:xfrm>
            <a:off x="6536674" y="3472339"/>
            <a:ext cx="742975" cy="307777"/>
          </a:xfrm>
          <a:prstGeom prst="rect">
            <a:avLst/>
          </a:prstGeom>
          <a:noFill/>
        </p:spPr>
        <p:txBody>
          <a:bodyPr wrap="square" rtlCol="0">
            <a:spAutoFit/>
          </a:bodyPr>
          <a:lstStyle/>
          <a:p>
            <a:r>
              <a:rPr lang="fr-FR" dirty="0"/>
              <a:t>Non</a:t>
            </a:r>
          </a:p>
        </p:txBody>
      </p:sp>
      <p:sp>
        <p:nvSpPr>
          <p:cNvPr id="49" name="ZoneTexte 48">
            <a:extLst>
              <a:ext uri="{FF2B5EF4-FFF2-40B4-BE49-F238E27FC236}">
                <a16:creationId xmlns="" xmlns:a16="http://schemas.microsoft.com/office/drawing/2014/main" id="{81B51A91-7CEC-41D3-A7A0-9F9659E33117}"/>
              </a:ext>
            </a:extLst>
          </p:cNvPr>
          <p:cNvSpPr txBox="1"/>
          <p:nvPr/>
        </p:nvSpPr>
        <p:spPr>
          <a:xfrm>
            <a:off x="5436099" y="2816111"/>
            <a:ext cx="711193" cy="307777"/>
          </a:xfrm>
          <a:prstGeom prst="rect">
            <a:avLst/>
          </a:prstGeom>
          <a:noFill/>
        </p:spPr>
        <p:txBody>
          <a:bodyPr wrap="square" rtlCol="0">
            <a:spAutoFit/>
          </a:bodyPr>
          <a:lstStyle/>
          <a:p>
            <a:r>
              <a:rPr lang="fr-FR" dirty="0"/>
              <a:t>Oui</a:t>
            </a:r>
          </a:p>
        </p:txBody>
      </p:sp>
    </p:spTree>
    <p:extLst>
      <p:ext uri="{BB962C8B-B14F-4D97-AF65-F5344CB8AC3E}">
        <p14:creationId xmlns="" xmlns:p14="http://schemas.microsoft.com/office/powerpoint/2010/main" val="4016833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K-means: Exemple</a:t>
            </a:r>
          </a:p>
        </p:txBody>
      </p:sp>
      <p:sp>
        <p:nvSpPr>
          <p:cNvPr id="551" name="Google Shape;551;p18"/>
          <p:cNvSpPr txBox="1">
            <a:spLocks noGrp="1"/>
          </p:cNvSpPr>
          <p:nvPr>
            <p:ph type="body" idx="1"/>
          </p:nvPr>
        </p:nvSpPr>
        <p:spPr>
          <a:xfrm>
            <a:off x="6948264" y="2580615"/>
            <a:ext cx="1296143" cy="504056"/>
          </a:xfrm>
          <a:prstGeom prst="rect">
            <a:avLst/>
          </a:prstGeom>
        </p:spPr>
        <p:txBody>
          <a:bodyPr spcFirstLastPara="1" wrap="square" lIns="0" tIns="0" rIns="0" bIns="0" anchor="t" anchorCtr="0">
            <a:noAutofit/>
          </a:bodyPr>
          <a:lstStyle/>
          <a:p>
            <a:pPr lvl="0">
              <a:spcBef>
                <a:spcPts val="0"/>
              </a:spcBef>
              <a:buFont typeface="Wingdings" panose="05000000000000000000" pitchFamily="2" charset="2"/>
              <a:buChar char="§"/>
            </a:pPr>
            <a:r>
              <a:rPr lang="fr-FR" sz="2200" dirty="0">
                <a:latin typeface="Barlow Light" panose="020B0604020202020204" charset="0"/>
              </a:rPr>
              <a:t>K=2</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66</a:t>
            </a:fld>
            <a:endParaRPr/>
          </a:p>
        </p:txBody>
      </p:sp>
      <p:graphicFrame>
        <p:nvGraphicFramePr>
          <p:cNvPr id="6" name="Google Shape;628;p25">
            <a:extLst>
              <a:ext uri="{FF2B5EF4-FFF2-40B4-BE49-F238E27FC236}">
                <a16:creationId xmlns="" xmlns:a16="http://schemas.microsoft.com/office/drawing/2014/main" id="{DC748163-C8A0-4BE2-9E99-4EF672466665}"/>
              </a:ext>
            </a:extLst>
          </p:cNvPr>
          <p:cNvGraphicFramePr/>
          <p:nvPr>
            <p:extLst>
              <p:ext uri="{D42A27DB-BD31-4B8C-83A1-F6EECF244321}">
                <p14:modId xmlns="" xmlns:p14="http://schemas.microsoft.com/office/powerpoint/2010/main" val="3321363330"/>
              </p:ext>
            </p:extLst>
          </p:nvPr>
        </p:nvGraphicFramePr>
        <p:xfrm>
          <a:off x="1259632" y="1419622"/>
          <a:ext cx="5040561" cy="3628788"/>
        </p:xfrm>
        <a:graphic>
          <a:graphicData uri="http://schemas.openxmlformats.org/drawingml/2006/table">
            <a:tbl>
              <a:tblPr>
                <a:noFill/>
                <a:tableStyleId>{D7AEECF4-432E-4D26-AA6D-92A1E89D1F9B}</a:tableStyleId>
              </a:tblPr>
              <a:tblGrid>
                <a:gridCol w="1680187">
                  <a:extLst>
                    <a:ext uri="{9D8B030D-6E8A-4147-A177-3AD203B41FA5}">
                      <a16:colId xmlns="" xmlns:a16="http://schemas.microsoft.com/office/drawing/2014/main" val="20000"/>
                    </a:ext>
                  </a:extLst>
                </a:gridCol>
                <a:gridCol w="1680187">
                  <a:extLst>
                    <a:ext uri="{9D8B030D-6E8A-4147-A177-3AD203B41FA5}">
                      <a16:colId xmlns="" xmlns:a16="http://schemas.microsoft.com/office/drawing/2014/main" val="1434858139"/>
                    </a:ext>
                  </a:extLst>
                </a:gridCol>
                <a:gridCol w="1680187">
                  <a:extLst>
                    <a:ext uri="{9D8B030D-6E8A-4147-A177-3AD203B41FA5}">
                      <a16:colId xmlns="" xmlns:a16="http://schemas.microsoft.com/office/drawing/2014/main" val="3050101062"/>
                    </a:ext>
                  </a:extLst>
                </a:gridCol>
              </a:tblGrid>
              <a:tr h="491420">
                <a:tc>
                  <a:txBody>
                    <a:bodyPr/>
                    <a:lstStyle/>
                    <a:p>
                      <a:pPr marL="0" lvl="0" indent="0" algn="ctr" rtl="0">
                        <a:spcBef>
                          <a:spcPts val="0"/>
                        </a:spcBef>
                        <a:spcAft>
                          <a:spcPts val="0"/>
                        </a:spcAft>
                        <a:buNone/>
                      </a:pPr>
                      <a:r>
                        <a:rPr lang="fr-FR" sz="1800" b="1" i="0" u="none" strike="noStrike" cap="none" dirty="0">
                          <a:solidFill>
                            <a:schemeClr val="accent1"/>
                          </a:solidFill>
                          <a:latin typeface="Barlow Light"/>
                          <a:ea typeface="Barlow Light"/>
                          <a:cs typeface="Arial"/>
                          <a:sym typeface="Barlow Light"/>
                        </a:rPr>
                        <a:t>ID</a:t>
                      </a:r>
                    </a:p>
                  </a:txBody>
                  <a:tcPr marL="91425" marR="91425" marT="68575" marB="68575"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fr-FR" sz="1800" b="1" i="0" u="none" strike="noStrike" cap="none" dirty="0">
                          <a:solidFill>
                            <a:schemeClr val="accent1"/>
                          </a:solidFill>
                          <a:latin typeface="Barlow Light"/>
                          <a:ea typeface="Barlow Light"/>
                          <a:cs typeface="Arial"/>
                          <a:sym typeface="Barlow Light"/>
                        </a:rPr>
                        <a:t>Attribut 1</a:t>
                      </a:r>
                    </a:p>
                  </a:txBody>
                  <a:tcPr marL="91425" marR="91425" marT="68575" marB="68575"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fr-FR" sz="1800" b="1" i="0" u="none" strike="noStrike" cap="none" dirty="0">
                          <a:solidFill>
                            <a:schemeClr val="accent1"/>
                          </a:solidFill>
                          <a:latin typeface="Barlow Light"/>
                          <a:ea typeface="Barlow Light"/>
                          <a:cs typeface="Arial"/>
                          <a:sym typeface="Barlow Light"/>
                        </a:rPr>
                        <a:t>Attribut 2</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 xmlns:a16="http://schemas.microsoft.com/office/drawing/2014/main" val="10000"/>
                  </a:ext>
                </a:extLst>
              </a:tr>
              <a:tr h="42513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1800" b="0" i="0" u="none" strike="noStrike" cap="none" dirty="0">
                          <a:solidFill>
                            <a:srgbClr val="000000"/>
                          </a:solidFill>
                          <a:latin typeface="Barlow Light" panose="020B0604020202020204" charset="0"/>
                          <a:cs typeface="Arial"/>
                          <a:sym typeface="Arial"/>
                        </a:rPr>
                        <a:t>1</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1800" b="0" i="0" u="none" strike="noStrike" cap="none" dirty="0">
                          <a:solidFill>
                            <a:srgbClr val="000000"/>
                          </a:solidFill>
                          <a:latin typeface="Barlow Light" panose="020B0604020202020204" charset="0"/>
                          <a:cs typeface="Arial"/>
                          <a:sym typeface="Arial"/>
                        </a:rPr>
                        <a:t>1</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algn="ctr"/>
                      <a:r>
                        <a:rPr lang="fr-FR" sz="1800" dirty="0">
                          <a:latin typeface="Barlow Light" panose="020B0604020202020204" charset="0"/>
                        </a:rPr>
                        <a:t>1</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 xmlns:a16="http://schemas.microsoft.com/office/drawing/2014/main" val="10001"/>
                  </a:ext>
                </a:extLst>
              </a:tr>
              <a:tr h="45203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1800" b="0" i="0" u="none" strike="noStrike" cap="none" dirty="0">
                          <a:solidFill>
                            <a:srgbClr val="000000"/>
                          </a:solidFill>
                          <a:latin typeface="Barlow Light" panose="020B0604020202020204" charset="0"/>
                          <a:cs typeface="Arial"/>
                          <a:sym typeface="Arial"/>
                        </a:rPr>
                        <a:t>2</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1800" b="0" i="0" u="none" strike="noStrike" cap="none" dirty="0">
                          <a:solidFill>
                            <a:srgbClr val="000000"/>
                          </a:solidFill>
                          <a:latin typeface="Barlow Light" panose="020B0604020202020204" charset="0"/>
                          <a:cs typeface="Arial"/>
                          <a:sym typeface="Arial"/>
                        </a:rPr>
                        <a:t>1,5</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algn="ctr"/>
                      <a:r>
                        <a:rPr lang="fr-FR" sz="1800" dirty="0">
                          <a:latin typeface="Barlow Light" panose="020B0604020202020204" charset="0"/>
                        </a:rPr>
                        <a:t>2</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 xmlns:a16="http://schemas.microsoft.com/office/drawing/2014/main" val="10002"/>
                  </a:ext>
                </a:extLst>
              </a:tr>
              <a:tr h="452039">
                <a:tc>
                  <a:txBody>
                    <a:bodyPr/>
                    <a:lstStyle/>
                    <a:p>
                      <a:pPr algn="ctr"/>
                      <a:r>
                        <a:rPr lang="fr-FR" sz="1800" b="0" i="0" u="none" strike="noStrike" cap="none" dirty="0">
                          <a:solidFill>
                            <a:srgbClr val="000000"/>
                          </a:solidFill>
                          <a:latin typeface="Barlow Light" panose="020B0604020202020204" charset="0"/>
                          <a:cs typeface="Arial"/>
                          <a:sym typeface="Arial"/>
                        </a:rPr>
                        <a:t>3</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algn="ctr"/>
                      <a:r>
                        <a:rPr lang="fr-FR" sz="1800" b="0" i="0" u="none" strike="noStrike" cap="none" dirty="0">
                          <a:solidFill>
                            <a:srgbClr val="000000"/>
                          </a:solidFill>
                          <a:latin typeface="Barlow Light" panose="020B0604020202020204" charset="0"/>
                          <a:cs typeface="Arial"/>
                          <a:sym typeface="Arial"/>
                        </a:rPr>
                        <a:t>3</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algn="ctr"/>
                      <a:r>
                        <a:rPr lang="fr-FR" sz="1800" dirty="0">
                          <a:latin typeface="Barlow Light" panose="020B0604020202020204" charset="0"/>
                        </a:rPr>
                        <a:t>4</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 xmlns:a16="http://schemas.microsoft.com/office/drawing/2014/main" val="3963550826"/>
                  </a:ext>
                </a:extLst>
              </a:tr>
              <a:tr h="452039">
                <a:tc>
                  <a:txBody>
                    <a:bodyPr/>
                    <a:lstStyle/>
                    <a:p>
                      <a:pPr algn="ctr"/>
                      <a:r>
                        <a:rPr lang="fr-FR" sz="1800" b="0" i="0" u="none" strike="noStrike" cap="none" dirty="0">
                          <a:solidFill>
                            <a:srgbClr val="000000"/>
                          </a:solidFill>
                          <a:latin typeface="Barlow Light" panose="020B0604020202020204" charset="0"/>
                          <a:cs typeface="Arial"/>
                          <a:sym typeface="Arial"/>
                        </a:rPr>
                        <a:t>4</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algn="ctr"/>
                      <a:r>
                        <a:rPr lang="fr-FR" sz="1800" b="0" i="0" u="none" strike="noStrike" cap="none" dirty="0">
                          <a:solidFill>
                            <a:srgbClr val="000000"/>
                          </a:solidFill>
                          <a:latin typeface="Barlow Light" panose="020B0604020202020204" charset="0"/>
                          <a:cs typeface="Arial"/>
                          <a:sym typeface="Arial"/>
                        </a:rPr>
                        <a:t>5</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algn="ctr"/>
                      <a:r>
                        <a:rPr lang="fr-FR" sz="1800" dirty="0">
                          <a:latin typeface="Barlow Light" panose="020B0604020202020204" charset="0"/>
                        </a:rPr>
                        <a:t>7</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 xmlns:a16="http://schemas.microsoft.com/office/drawing/2014/main" val="2019394116"/>
                  </a:ext>
                </a:extLst>
              </a:tr>
              <a:tr h="452039">
                <a:tc>
                  <a:txBody>
                    <a:bodyPr/>
                    <a:lstStyle/>
                    <a:p>
                      <a:pPr algn="ctr"/>
                      <a:r>
                        <a:rPr lang="fr-FR" sz="1800" b="0" i="0" u="none" strike="noStrike" cap="none" dirty="0">
                          <a:solidFill>
                            <a:srgbClr val="000000"/>
                          </a:solidFill>
                          <a:latin typeface="Barlow Light" panose="020B0604020202020204" charset="0"/>
                          <a:cs typeface="Arial"/>
                          <a:sym typeface="Arial"/>
                        </a:rPr>
                        <a:t>5</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algn="ctr"/>
                      <a:r>
                        <a:rPr lang="fr-FR" sz="1800" b="0" i="0" u="none" strike="noStrike" cap="none" dirty="0">
                          <a:solidFill>
                            <a:srgbClr val="000000"/>
                          </a:solidFill>
                          <a:latin typeface="Barlow Light" panose="020B0604020202020204" charset="0"/>
                          <a:cs typeface="Arial"/>
                          <a:sym typeface="Arial"/>
                        </a:rPr>
                        <a:t>3,5</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algn="ctr"/>
                      <a:r>
                        <a:rPr lang="fr-FR" sz="1800" dirty="0">
                          <a:latin typeface="Barlow Light" panose="020B0604020202020204" charset="0"/>
                        </a:rPr>
                        <a:t>5</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 xmlns:a16="http://schemas.microsoft.com/office/drawing/2014/main" val="2499520044"/>
                  </a:ext>
                </a:extLst>
              </a:tr>
              <a:tr h="452039">
                <a:tc>
                  <a:txBody>
                    <a:bodyPr/>
                    <a:lstStyle/>
                    <a:p>
                      <a:pPr algn="ctr"/>
                      <a:r>
                        <a:rPr lang="fr-FR" sz="1800" b="0" i="0" u="none" strike="noStrike" cap="none" dirty="0">
                          <a:solidFill>
                            <a:srgbClr val="000000"/>
                          </a:solidFill>
                          <a:latin typeface="Barlow Light" panose="020B0604020202020204" charset="0"/>
                          <a:cs typeface="Arial"/>
                          <a:sym typeface="Arial"/>
                        </a:rPr>
                        <a:t>6</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algn="ctr"/>
                      <a:r>
                        <a:rPr lang="fr-FR" sz="1800" b="0" i="0" u="none" strike="noStrike" cap="none" dirty="0">
                          <a:solidFill>
                            <a:srgbClr val="000000"/>
                          </a:solidFill>
                          <a:latin typeface="Barlow Light" panose="020B0604020202020204" charset="0"/>
                          <a:cs typeface="Arial"/>
                          <a:sym typeface="Arial"/>
                        </a:rPr>
                        <a:t>4,5</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algn="ctr"/>
                      <a:r>
                        <a:rPr lang="fr-FR" sz="1800" dirty="0">
                          <a:latin typeface="Barlow Light" panose="020B0604020202020204" charset="0"/>
                        </a:rPr>
                        <a:t>5</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 xmlns:a16="http://schemas.microsoft.com/office/drawing/2014/main" val="2545497132"/>
                  </a:ext>
                </a:extLst>
              </a:tr>
              <a:tr h="452039">
                <a:tc>
                  <a:txBody>
                    <a:bodyPr/>
                    <a:lstStyle/>
                    <a:p>
                      <a:pPr algn="ctr"/>
                      <a:r>
                        <a:rPr lang="fr-FR" sz="1800" b="0" i="0" u="none" strike="noStrike" cap="none" dirty="0">
                          <a:solidFill>
                            <a:srgbClr val="000000"/>
                          </a:solidFill>
                          <a:latin typeface="Barlow Light" panose="020B0604020202020204" charset="0"/>
                          <a:cs typeface="Arial"/>
                          <a:sym typeface="Arial"/>
                        </a:rPr>
                        <a:t>7</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pPr algn="ctr"/>
                      <a:r>
                        <a:rPr lang="fr-FR" sz="1800" b="0" i="0" u="none" strike="noStrike" cap="none" dirty="0">
                          <a:solidFill>
                            <a:srgbClr val="000000"/>
                          </a:solidFill>
                          <a:latin typeface="Barlow Light" panose="020B0604020202020204" charset="0"/>
                          <a:cs typeface="Arial"/>
                          <a:sym typeface="Arial"/>
                        </a:rPr>
                        <a:t>3,5</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pPr algn="ctr"/>
                      <a:r>
                        <a:rPr lang="fr-FR" sz="1800" dirty="0">
                          <a:latin typeface="Barlow Light" panose="020B0604020202020204" charset="0"/>
                        </a:rPr>
                        <a:t>4,5</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 xmlns:a16="http://schemas.microsoft.com/office/drawing/2014/main" val="2157523028"/>
                  </a:ext>
                </a:extLst>
              </a:tr>
            </a:tbl>
          </a:graphicData>
        </a:graphic>
      </p:graphicFrame>
    </p:spTree>
    <p:extLst>
      <p:ext uri="{BB962C8B-B14F-4D97-AF65-F5344CB8AC3E}">
        <p14:creationId xmlns="" xmlns:p14="http://schemas.microsoft.com/office/powerpoint/2010/main" val="10995487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K-means: Itération 1</a:t>
            </a:r>
          </a:p>
        </p:txBody>
      </p:sp>
      <p:sp>
        <p:nvSpPr>
          <p:cNvPr id="551" name="Google Shape;551;p18"/>
          <p:cNvSpPr txBox="1">
            <a:spLocks noGrp="1"/>
          </p:cNvSpPr>
          <p:nvPr>
            <p:ph type="body" idx="1"/>
          </p:nvPr>
        </p:nvSpPr>
        <p:spPr>
          <a:xfrm>
            <a:off x="971600" y="1635646"/>
            <a:ext cx="7272808" cy="3507854"/>
          </a:xfrm>
          <a:prstGeom prst="rect">
            <a:avLst/>
          </a:prstGeom>
        </p:spPr>
        <p:txBody>
          <a:bodyPr spcFirstLastPara="1" wrap="square" lIns="0" tIns="0" rIns="0" bIns="0" anchor="t" anchorCtr="0">
            <a:noAutofit/>
          </a:bodyPr>
          <a:lstStyle/>
          <a:p>
            <a:pPr lvl="0">
              <a:spcBef>
                <a:spcPts val="0"/>
              </a:spcBef>
              <a:buFont typeface="Wingdings" panose="05000000000000000000" pitchFamily="2" charset="2"/>
              <a:buChar char="§"/>
            </a:pPr>
            <a:r>
              <a:rPr lang="fr-FR" sz="2200" b="1" u="sng" dirty="0">
                <a:effectLst>
                  <a:outerShdw blurRad="38100" dist="38100" dir="2700000" algn="tl">
                    <a:srgbClr val="000000">
                      <a:alpha val="43137"/>
                    </a:srgbClr>
                  </a:outerShdw>
                </a:effectLst>
                <a:latin typeface="Barlow Light" panose="020B0604020202020204" charset="0"/>
              </a:rPr>
              <a:t>Etape 1:</a:t>
            </a:r>
            <a:r>
              <a:rPr lang="fr-FR" sz="2200" b="1" dirty="0">
                <a:effectLst>
                  <a:outerShdw blurRad="38100" dist="38100" dir="2700000" algn="tl">
                    <a:srgbClr val="000000">
                      <a:alpha val="43137"/>
                    </a:srgbClr>
                  </a:outerShdw>
                </a:effectLst>
                <a:latin typeface="Barlow Light" panose="020B0604020202020204" charset="0"/>
              </a:rPr>
              <a:t> </a:t>
            </a:r>
            <a:r>
              <a:rPr lang="fr-FR" sz="2200" dirty="0">
                <a:latin typeface="Barlow Light" panose="020B0604020202020204" charset="0"/>
              </a:rPr>
              <a:t>nous choisissons aléatoirement les deux </a:t>
            </a:r>
            <a:r>
              <a:rPr lang="fr-FR" sz="2200" dirty="0" err="1">
                <a:latin typeface="Barlow Light" panose="020B0604020202020204" charset="0"/>
              </a:rPr>
              <a:t>centroids</a:t>
            </a:r>
            <a:r>
              <a:rPr lang="fr-FR" sz="2200" dirty="0">
                <a:latin typeface="Barlow Light" panose="020B0604020202020204" charset="0"/>
              </a:rPr>
              <a:t> suivants pour les deux clusters.</a:t>
            </a: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a:spcBef>
                <a:spcPts val="0"/>
              </a:spcBef>
              <a:buFont typeface="Wingdings" panose="05000000000000000000" pitchFamily="2" charset="2"/>
              <a:buChar char="§"/>
            </a:pPr>
            <a:r>
              <a:rPr lang="fr-FR" sz="2200" dirty="0">
                <a:latin typeface="Barlow Light" panose="020B0604020202020204" charset="0"/>
              </a:rPr>
              <a:t>Dans ce cas, les 2 </a:t>
            </a:r>
            <a:r>
              <a:rPr lang="fr-FR" sz="2200" dirty="0" err="1">
                <a:latin typeface="Barlow Light" panose="020B0604020202020204" charset="0"/>
              </a:rPr>
              <a:t>centroids</a:t>
            </a:r>
            <a:r>
              <a:rPr lang="fr-FR" sz="2200" dirty="0">
                <a:latin typeface="Barlow Light" panose="020B0604020202020204" charset="0"/>
              </a:rPr>
              <a:t> sont: m1= (1.0, 1.0) et m2= (5.0, 7.0) </a:t>
            </a:r>
          </a:p>
          <a:p>
            <a:pPr lvl="0">
              <a:spcBef>
                <a:spcPts val="0"/>
              </a:spcBef>
              <a:buFont typeface="Wingdings" panose="05000000000000000000" pitchFamily="2" charset="2"/>
              <a:buChar char="§"/>
            </a:pPr>
            <a:endParaRPr lang="fr-FR" sz="2200" dirty="0">
              <a:latin typeface="Barlow Light" panose="020B0604020202020204" charset="0"/>
            </a:endParaRP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67</a:t>
            </a:fld>
            <a:endParaRPr/>
          </a:p>
        </p:txBody>
      </p:sp>
      <p:graphicFrame>
        <p:nvGraphicFramePr>
          <p:cNvPr id="5" name="Google Shape;628;p25">
            <a:extLst>
              <a:ext uri="{FF2B5EF4-FFF2-40B4-BE49-F238E27FC236}">
                <a16:creationId xmlns="" xmlns:a16="http://schemas.microsoft.com/office/drawing/2014/main" id="{67645CFB-DBC6-48AE-A8EE-ADD1CCBAA683}"/>
              </a:ext>
            </a:extLst>
          </p:cNvPr>
          <p:cNvGraphicFramePr/>
          <p:nvPr>
            <p:extLst>
              <p:ext uri="{D42A27DB-BD31-4B8C-83A1-F6EECF244321}">
                <p14:modId xmlns="" xmlns:p14="http://schemas.microsoft.com/office/powerpoint/2010/main" val="1917486284"/>
              </p:ext>
            </p:extLst>
          </p:nvPr>
        </p:nvGraphicFramePr>
        <p:xfrm>
          <a:off x="2051719" y="2715766"/>
          <a:ext cx="5040561" cy="1368593"/>
        </p:xfrm>
        <a:graphic>
          <a:graphicData uri="http://schemas.openxmlformats.org/drawingml/2006/table">
            <a:tbl>
              <a:tblPr>
                <a:noFill/>
                <a:tableStyleId>{D7AEECF4-432E-4D26-AA6D-92A1E89D1F9B}</a:tableStyleId>
              </a:tblPr>
              <a:tblGrid>
                <a:gridCol w="1680187">
                  <a:extLst>
                    <a:ext uri="{9D8B030D-6E8A-4147-A177-3AD203B41FA5}">
                      <a16:colId xmlns="" xmlns:a16="http://schemas.microsoft.com/office/drawing/2014/main" val="20000"/>
                    </a:ext>
                  </a:extLst>
                </a:gridCol>
                <a:gridCol w="1680187">
                  <a:extLst>
                    <a:ext uri="{9D8B030D-6E8A-4147-A177-3AD203B41FA5}">
                      <a16:colId xmlns="" xmlns:a16="http://schemas.microsoft.com/office/drawing/2014/main" val="1434858139"/>
                    </a:ext>
                  </a:extLst>
                </a:gridCol>
                <a:gridCol w="1680187">
                  <a:extLst>
                    <a:ext uri="{9D8B030D-6E8A-4147-A177-3AD203B41FA5}">
                      <a16:colId xmlns="" xmlns:a16="http://schemas.microsoft.com/office/drawing/2014/main" val="3050101062"/>
                    </a:ext>
                  </a:extLst>
                </a:gridCol>
              </a:tblGrid>
              <a:tr h="491420">
                <a:tc>
                  <a:txBody>
                    <a:bodyPr/>
                    <a:lstStyle/>
                    <a:p>
                      <a:pPr marL="0" lvl="0" indent="0" algn="ctr" rtl="0">
                        <a:spcBef>
                          <a:spcPts val="0"/>
                        </a:spcBef>
                        <a:spcAft>
                          <a:spcPts val="0"/>
                        </a:spcAft>
                        <a:buNone/>
                      </a:pPr>
                      <a:endParaRPr lang="fr-FR" sz="1800" b="1" i="0" u="none" strike="noStrike" cap="none" dirty="0">
                        <a:solidFill>
                          <a:schemeClr val="accent1"/>
                        </a:solidFill>
                        <a:latin typeface="Barlow Light"/>
                        <a:ea typeface="Barlow Light"/>
                        <a:cs typeface="Arial"/>
                        <a:sym typeface="Barlow Light"/>
                      </a:endParaRPr>
                    </a:p>
                  </a:txBody>
                  <a:tcPr marL="91425" marR="91425" marT="68575" marB="68575"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fr-FR" sz="1800" b="1" i="0" u="none" strike="noStrike" cap="none" dirty="0">
                          <a:solidFill>
                            <a:schemeClr val="accent1"/>
                          </a:solidFill>
                          <a:latin typeface="Barlow Light"/>
                          <a:ea typeface="Barlow Light"/>
                          <a:cs typeface="Arial"/>
                          <a:sym typeface="Barlow Light"/>
                        </a:rPr>
                        <a:t>ID</a:t>
                      </a:r>
                    </a:p>
                  </a:txBody>
                  <a:tcPr marL="91425" marR="91425" marT="68575" marB="68575"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fr-FR" sz="1800" b="1" i="0" u="none" strike="noStrike" cap="none" dirty="0">
                          <a:solidFill>
                            <a:schemeClr val="accent1"/>
                          </a:solidFill>
                          <a:latin typeface="Barlow Light"/>
                          <a:ea typeface="Barlow Light"/>
                          <a:cs typeface="Arial"/>
                          <a:sym typeface="Barlow Light"/>
                        </a:rPr>
                        <a:t>Données</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 xmlns:a16="http://schemas.microsoft.com/office/drawing/2014/main" val="10000"/>
                  </a:ext>
                </a:extLst>
              </a:tr>
              <a:tr h="42513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1800" b="0" i="0" u="none" strike="noStrike" cap="none" dirty="0">
                          <a:solidFill>
                            <a:srgbClr val="000000"/>
                          </a:solidFill>
                          <a:latin typeface="Barlow Light" panose="020B0604020202020204" charset="0"/>
                          <a:cs typeface="Arial"/>
                          <a:sym typeface="Arial"/>
                        </a:rPr>
                        <a:t>Cluster 1</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1800" b="0" i="0" u="none" strike="noStrike" cap="none" dirty="0">
                          <a:solidFill>
                            <a:srgbClr val="000000"/>
                          </a:solidFill>
                          <a:latin typeface="Barlow Light" panose="020B0604020202020204" charset="0"/>
                          <a:cs typeface="Arial"/>
                          <a:sym typeface="Arial"/>
                        </a:rPr>
                        <a:t>1</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algn="ctr"/>
                      <a:r>
                        <a:rPr lang="fr-FR" sz="1800" dirty="0">
                          <a:latin typeface="Barlow Light" panose="020B0604020202020204" charset="0"/>
                        </a:rPr>
                        <a:t>(1.0, 1.0)</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 xmlns:a16="http://schemas.microsoft.com/office/drawing/2014/main" val="10001"/>
                  </a:ext>
                </a:extLst>
              </a:tr>
              <a:tr h="452039">
                <a:tc>
                  <a:txBody>
                    <a:bodyPr/>
                    <a:lstStyle/>
                    <a:p>
                      <a:pPr algn="ctr"/>
                      <a:r>
                        <a:rPr lang="fr-FR" sz="1800" b="0" i="0" u="none" strike="noStrike" cap="none" dirty="0">
                          <a:solidFill>
                            <a:srgbClr val="000000"/>
                          </a:solidFill>
                          <a:latin typeface="Barlow Light" panose="020B0604020202020204" charset="0"/>
                          <a:cs typeface="Arial"/>
                          <a:sym typeface="Arial"/>
                        </a:rPr>
                        <a:t>Cluster 2</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pPr algn="ctr"/>
                      <a:r>
                        <a:rPr lang="fr-FR" sz="1800" b="0" i="0" u="none" strike="noStrike" cap="none" dirty="0">
                          <a:solidFill>
                            <a:srgbClr val="000000"/>
                          </a:solidFill>
                          <a:latin typeface="Barlow Light" panose="020B0604020202020204" charset="0"/>
                          <a:cs typeface="Arial"/>
                          <a:sym typeface="Arial"/>
                        </a:rPr>
                        <a:t>4</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pPr algn="ctr"/>
                      <a:r>
                        <a:rPr lang="fr-FR" sz="1800" dirty="0">
                          <a:latin typeface="Barlow Light" panose="020B0604020202020204" charset="0"/>
                        </a:rPr>
                        <a:t>(5.0, 7.0)</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 xmlns:a16="http://schemas.microsoft.com/office/drawing/2014/main" val="2157523028"/>
                  </a:ext>
                </a:extLst>
              </a:tr>
            </a:tbl>
          </a:graphicData>
        </a:graphic>
      </p:graphicFrame>
    </p:spTree>
    <p:extLst>
      <p:ext uri="{BB962C8B-B14F-4D97-AF65-F5344CB8AC3E}">
        <p14:creationId xmlns="" xmlns:p14="http://schemas.microsoft.com/office/powerpoint/2010/main" val="8256550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K-means: Itération 1</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68</a:t>
            </a:fld>
            <a:endParaRPr/>
          </a:p>
        </p:txBody>
      </p:sp>
      <p:pic>
        <p:nvPicPr>
          <p:cNvPr id="5" name="Image 4">
            <a:extLst>
              <a:ext uri="{FF2B5EF4-FFF2-40B4-BE49-F238E27FC236}">
                <a16:creationId xmlns="" xmlns:a16="http://schemas.microsoft.com/office/drawing/2014/main" id="{96E39BB0-5C40-4F59-B2DB-B8E140C9C61E}"/>
              </a:ext>
            </a:extLst>
          </p:cNvPr>
          <p:cNvPicPr>
            <a:picLocks noChangeAspect="1"/>
          </p:cNvPicPr>
          <p:nvPr/>
        </p:nvPicPr>
        <p:blipFill>
          <a:blip r:embed="rId3"/>
          <a:stretch>
            <a:fillRect/>
          </a:stretch>
        </p:blipFill>
        <p:spPr>
          <a:xfrm>
            <a:off x="1604816" y="1563638"/>
            <a:ext cx="6207544" cy="3391158"/>
          </a:xfrm>
          <a:prstGeom prst="rect">
            <a:avLst/>
          </a:prstGeom>
        </p:spPr>
      </p:pic>
    </p:spTree>
    <p:extLst>
      <p:ext uri="{BB962C8B-B14F-4D97-AF65-F5344CB8AC3E}">
        <p14:creationId xmlns="" xmlns:p14="http://schemas.microsoft.com/office/powerpoint/2010/main" val="18874437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K-means: Itération 1</a:t>
            </a:r>
          </a:p>
        </p:txBody>
      </p:sp>
      <p:sp>
        <p:nvSpPr>
          <p:cNvPr id="551" name="Google Shape;551;p18"/>
          <p:cNvSpPr txBox="1">
            <a:spLocks noGrp="1"/>
          </p:cNvSpPr>
          <p:nvPr>
            <p:ph type="body" idx="1"/>
          </p:nvPr>
        </p:nvSpPr>
        <p:spPr>
          <a:xfrm>
            <a:off x="971600" y="1635646"/>
            <a:ext cx="7272808" cy="936104"/>
          </a:xfrm>
          <a:prstGeom prst="rect">
            <a:avLst/>
          </a:prstGeom>
        </p:spPr>
        <p:txBody>
          <a:bodyPr spcFirstLastPara="1" wrap="square" lIns="0" tIns="0" rIns="0" bIns="0" anchor="t" anchorCtr="0">
            <a:noAutofit/>
          </a:bodyPr>
          <a:lstStyle/>
          <a:p>
            <a:pPr lvl="0">
              <a:spcBef>
                <a:spcPts val="0"/>
              </a:spcBef>
              <a:buFont typeface="Wingdings" panose="05000000000000000000" pitchFamily="2" charset="2"/>
              <a:buChar char="§"/>
            </a:pPr>
            <a:r>
              <a:rPr lang="fr-FR" sz="2200" b="1" u="sng" dirty="0">
                <a:effectLst>
                  <a:outerShdw blurRad="38100" dist="38100" dir="2700000" algn="tl">
                    <a:srgbClr val="000000">
                      <a:alpha val="43137"/>
                    </a:srgbClr>
                  </a:outerShdw>
                </a:effectLst>
                <a:latin typeface="Barlow Light" panose="020B0604020202020204" charset="0"/>
              </a:rPr>
              <a:t>Etape 2:</a:t>
            </a:r>
            <a:r>
              <a:rPr lang="fr-FR" sz="2200" b="1" dirty="0">
                <a:effectLst>
                  <a:outerShdw blurRad="38100" dist="38100" dir="2700000" algn="tl">
                    <a:srgbClr val="000000">
                      <a:alpha val="43137"/>
                    </a:srgbClr>
                  </a:outerShdw>
                </a:effectLst>
                <a:latin typeface="Barlow Light" panose="020B0604020202020204" charset="0"/>
              </a:rPr>
              <a:t> </a:t>
            </a:r>
            <a:r>
              <a:rPr lang="fr-FR" sz="2200" dirty="0">
                <a:latin typeface="Barlow Light" panose="020B0604020202020204" charset="0"/>
              </a:rPr>
              <a:t>calculer la distance entre chaque </a:t>
            </a:r>
            <a:r>
              <a:rPr lang="fr-FR" sz="2200" dirty="0" err="1">
                <a:latin typeface="Barlow Light" panose="020B0604020202020204" charset="0"/>
              </a:rPr>
              <a:t>centroid</a:t>
            </a:r>
            <a:r>
              <a:rPr lang="fr-FR" sz="2200" dirty="0">
                <a:latin typeface="Barlow Light" panose="020B0604020202020204" charset="0"/>
              </a:rPr>
              <a:t> et instance</a:t>
            </a: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69</a:t>
            </a:fld>
            <a:endParaRPr/>
          </a:p>
        </p:txBody>
      </p:sp>
      <p:pic>
        <p:nvPicPr>
          <p:cNvPr id="6" name="Image 5">
            <a:extLst>
              <a:ext uri="{FF2B5EF4-FFF2-40B4-BE49-F238E27FC236}">
                <a16:creationId xmlns="" xmlns:a16="http://schemas.microsoft.com/office/drawing/2014/main" id="{C1B66CD4-E694-475C-A113-AA58F0953189}"/>
              </a:ext>
            </a:extLst>
          </p:cNvPr>
          <p:cNvPicPr>
            <a:picLocks noChangeAspect="1"/>
          </p:cNvPicPr>
          <p:nvPr/>
        </p:nvPicPr>
        <p:blipFill>
          <a:blip r:embed="rId3"/>
          <a:stretch>
            <a:fillRect/>
          </a:stretch>
        </p:blipFill>
        <p:spPr>
          <a:xfrm>
            <a:off x="1414462" y="2355726"/>
            <a:ext cx="6613922" cy="2787774"/>
          </a:xfrm>
          <a:prstGeom prst="rect">
            <a:avLst/>
          </a:prstGeom>
        </p:spPr>
      </p:pic>
    </p:spTree>
    <p:extLst>
      <p:ext uri="{BB962C8B-B14F-4D97-AF65-F5344CB8AC3E}">
        <p14:creationId xmlns="" xmlns:p14="http://schemas.microsoft.com/office/powerpoint/2010/main" val="4212834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K-means: Itération 2</a:t>
            </a:r>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635646"/>
                <a:ext cx="7272808" cy="3507854"/>
              </a:xfrm>
              <a:prstGeom prst="rect">
                <a:avLst/>
              </a:prstGeom>
            </p:spPr>
            <p:txBody>
              <a:bodyPr spcFirstLastPara="1" wrap="square" lIns="0" tIns="0" rIns="0" bIns="0" anchor="t" anchorCtr="0">
                <a:noAutofit/>
              </a:bodyPr>
              <a:lstStyle/>
              <a:p>
                <a:pPr lvl="0">
                  <a:spcBef>
                    <a:spcPts val="0"/>
                  </a:spcBef>
                  <a:buFont typeface="Wingdings" panose="05000000000000000000" pitchFamily="2" charset="2"/>
                  <a:buChar char="§"/>
                </a:pPr>
                <a:r>
                  <a:rPr lang="fr-FR" sz="2200" b="1" u="sng" dirty="0">
                    <a:effectLst>
                      <a:outerShdw blurRad="38100" dist="38100" dir="2700000" algn="tl">
                        <a:srgbClr val="000000">
                          <a:alpha val="43137"/>
                        </a:srgbClr>
                      </a:outerShdw>
                    </a:effectLst>
                    <a:latin typeface="Barlow Light" panose="020B0604020202020204" charset="0"/>
                  </a:rPr>
                  <a:t>Etape 1:</a:t>
                </a:r>
                <a:r>
                  <a:rPr lang="fr-FR" sz="2200" b="1" dirty="0">
                    <a:effectLst>
                      <a:outerShdw blurRad="38100" dist="38100" dir="2700000" algn="tl">
                        <a:srgbClr val="000000">
                          <a:alpha val="43137"/>
                        </a:srgbClr>
                      </a:outerShdw>
                    </a:effectLst>
                    <a:latin typeface="Barlow Light" panose="020B0604020202020204" charset="0"/>
                  </a:rPr>
                  <a:t> </a:t>
                </a:r>
                <a:r>
                  <a:rPr lang="fr-FR" sz="2200" dirty="0">
                    <a:latin typeface="Barlow Light" panose="020B0604020202020204" charset="0"/>
                  </a:rPr>
                  <a:t>calculer les nouveaux </a:t>
                </a:r>
                <a:r>
                  <a:rPr lang="fr-FR" sz="2200" dirty="0" err="1">
                    <a:latin typeface="Barlow Light" panose="020B0604020202020204" charset="0"/>
                  </a:rPr>
                  <a:t>centroids</a:t>
                </a:r>
                <a:r>
                  <a:rPr lang="fr-FR" sz="2200" dirty="0">
                    <a:latin typeface="Barlow Light" panose="020B0604020202020204" charset="0"/>
                  </a:rPr>
                  <a:t> des clusters obtenus.</a:t>
                </a:r>
              </a:p>
              <a:p>
                <a:pPr lvl="0">
                  <a:spcBef>
                    <a:spcPts val="0"/>
                  </a:spcBef>
                  <a:buFont typeface="Wingdings" panose="05000000000000000000" pitchFamily="2" charset="2"/>
                  <a:buChar char="§"/>
                </a:pPr>
                <a:r>
                  <a:rPr lang="fr-FR" sz="2200" dirty="0">
                    <a:latin typeface="Barlow Light" panose="020B0604020202020204" charset="0"/>
                  </a:rPr>
                  <a:t>Clusters obtenus: </a:t>
                </a:r>
              </a:p>
              <a:p>
                <a:pPr lvl="1">
                  <a:buClr>
                    <a:schemeClr val="accent4"/>
                  </a:buClr>
                  <a:buFont typeface="Arial" panose="020B0604020202020204" pitchFamily="34" charset="0"/>
                  <a:buChar char="•"/>
                </a:pPr>
                <a:r>
                  <a:rPr lang="fr-FR" sz="2200" dirty="0">
                    <a:latin typeface="Barlow Light" panose="020B0604020202020204" charset="0"/>
                  </a:rPr>
                  <a:t>C1={ID1, ID2, ID3} </a:t>
                </a:r>
              </a:p>
              <a:p>
                <a:pPr lvl="1">
                  <a:buClr>
                    <a:schemeClr val="accent4"/>
                  </a:buClr>
                  <a:buFont typeface="Arial" panose="020B0604020202020204" pitchFamily="34" charset="0"/>
                  <a:buChar char="•"/>
                </a:pPr>
                <a:r>
                  <a:rPr lang="fr-FR" sz="2200" dirty="0">
                    <a:latin typeface="Barlow Light" panose="020B0604020202020204" charset="0"/>
                  </a:rPr>
                  <a:t>C2={ID4, ID5, ID6, ID7} </a:t>
                </a:r>
              </a:p>
              <a:p>
                <a:pPr>
                  <a:spcBef>
                    <a:spcPts val="0"/>
                  </a:spcBef>
                  <a:buFont typeface="Wingdings" panose="05000000000000000000" pitchFamily="2" charset="2"/>
                  <a:buChar char="§"/>
                </a:pPr>
                <a:r>
                  <a:rPr lang="fr-FR" sz="2200" dirty="0">
                    <a:latin typeface="Barlow Light" panose="020B0604020202020204" charset="0"/>
                  </a:rPr>
                  <a:t>Nouveaux </a:t>
                </a:r>
                <a:r>
                  <a:rPr lang="fr-FR" sz="2200" dirty="0" err="1">
                    <a:latin typeface="Barlow Light" panose="020B0604020202020204" charset="0"/>
                  </a:rPr>
                  <a:t>centroids</a:t>
                </a:r>
                <a:r>
                  <a:rPr lang="fr-FR" sz="2200" dirty="0">
                    <a:latin typeface="Barlow Light" panose="020B0604020202020204" charset="0"/>
                  </a:rPr>
                  <a:t>: </a:t>
                </a:r>
              </a:p>
              <a:p>
                <a:pPr lvl="1">
                  <a:buClr>
                    <a:schemeClr val="accent4"/>
                  </a:buClr>
                  <a:buFont typeface="Arial" panose="020B0604020202020204" pitchFamily="34" charset="0"/>
                  <a:buChar char="•"/>
                </a:pPr>
                <a:r>
                  <a:rPr lang="fr-FR" sz="2200" dirty="0">
                    <a:latin typeface="Barlow Light" panose="020B0604020202020204" charset="0"/>
                  </a:rPr>
                  <a:t>M1= (</a:t>
                </a:r>
                <a14:m>
                  <m:oMath xmlns:m="http://schemas.openxmlformats.org/officeDocument/2006/math">
                    <m:f>
                      <m:fPr>
                        <m:ctrlPr>
                          <a:rPr lang="fr-FR" sz="2200" i="1" smtClean="0">
                            <a:latin typeface="Cambria Math" panose="02040503050406030204" pitchFamily="18" charset="0"/>
                          </a:rPr>
                        </m:ctrlPr>
                      </m:fPr>
                      <m:num>
                        <m:r>
                          <a:rPr lang="fr-FR" sz="2200" b="0" i="1" smtClean="0">
                            <a:latin typeface="Cambria Math" panose="02040503050406030204" pitchFamily="18" charset="0"/>
                          </a:rPr>
                          <m:t>1+1,5+3</m:t>
                        </m:r>
                      </m:num>
                      <m:den>
                        <m:r>
                          <a:rPr lang="fr-FR" sz="2200" b="0" i="1" smtClean="0">
                            <a:latin typeface="Cambria Math" panose="02040503050406030204" pitchFamily="18" charset="0"/>
                          </a:rPr>
                          <m:t>3</m:t>
                        </m:r>
                      </m:den>
                    </m:f>
                  </m:oMath>
                </a14:m>
                <a:r>
                  <a:rPr lang="fr-FR" sz="2200" dirty="0">
                    <a:latin typeface="Barlow Light" panose="020B0604020202020204" charset="0"/>
                  </a:rPr>
                  <a:t>), (</a:t>
                </a:r>
                <a14:m>
                  <m:oMath xmlns:m="http://schemas.openxmlformats.org/officeDocument/2006/math">
                    <m:f>
                      <m:fPr>
                        <m:ctrlPr>
                          <a:rPr lang="fr-FR" sz="2200" i="1">
                            <a:latin typeface="Cambria Math" panose="02040503050406030204" pitchFamily="18" charset="0"/>
                          </a:rPr>
                        </m:ctrlPr>
                      </m:fPr>
                      <m:num>
                        <m:r>
                          <a:rPr lang="fr-FR" sz="2200" i="1">
                            <a:latin typeface="Cambria Math" panose="02040503050406030204" pitchFamily="18" charset="0"/>
                          </a:rPr>
                          <m:t>1+</m:t>
                        </m:r>
                        <m:r>
                          <a:rPr lang="fr-FR" sz="2200" b="0" i="1" smtClean="0">
                            <a:latin typeface="Cambria Math" panose="02040503050406030204" pitchFamily="18" charset="0"/>
                          </a:rPr>
                          <m:t>2+4</m:t>
                        </m:r>
                      </m:num>
                      <m:den>
                        <m:r>
                          <a:rPr lang="fr-FR" sz="2200" i="1">
                            <a:latin typeface="Cambria Math" panose="02040503050406030204" pitchFamily="18" charset="0"/>
                          </a:rPr>
                          <m:t>3</m:t>
                        </m:r>
                      </m:den>
                    </m:f>
                  </m:oMath>
                </a14:m>
                <a:r>
                  <a:rPr lang="fr-FR" sz="2200" dirty="0">
                    <a:latin typeface="Barlow Light" panose="020B0604020202020204" charset="0"/>
                  </a:rPr>
                  <a:t>) = (1.83, 2.33)</a:t>
                </a:r>
              </a:p>
              <a:p>
                <a:pPr lvl="1">
                  <a:buClr>
                    <a:schemeClr val="accent4"/>
                  </a:buClr>
                  <a:buFont typeface="Arial" panose="020B0604020202020204" pitchFamily="34" charset="0"/>
                  <a:buChar char="•"/>
                </a:pPr>
                <a:r>
                  <a:rPr lang="fr-FR" sz="2200" dirty="0">
                    <a:latin typeface="Barlow Light" panose="020B0604020202020204" charset="0"/>
                  </a:rPr>
                  <a:t>M2= (</a:t>
                </a:r>
                <a14:m>
                  <m:oMath xmlns:m="http://schemas.openxmlformats.org/officeDocument/2006/math">
                    <m:f>
                      <m:fPr>
                        <m:ctrlPr>
                          <a:rPr lang="fr-FR" sz="2200" i="1" smtClean="0">
                            <a:latin typeface="Cambria Math" panose="02040503050406030204" pitchFamily="18" charset="0"/>
                          </a:rPr>
                        </m:ctrlPr>
                      </m:fPr>
                      <m:num>
                        <m:r>
                          <a:rPr lang="fr-FR" sz="2200" b="0" i="1" smtClean="0">
                            <a:latin typeface="Cambria Math" panose="02040503050406030204" pitchFamily="18" charset="0"/>
                          </a:rPr>
                          <m:t>5+3,5+4,5+3,5</m:t>
                        </m:r>
                      </m:num>
                      <m:den>
                        <m:r>
                          <a:rPr lang="fr-FR" sz="2200" b="0" i="1" smtClean="0">
                            <a:latin typeface="Cambria Math" panose="02040503050406030204" pitchFamily="18" charset="0"/>
                          </a:rPr>
                          <m:t>4</m:t>
                        </m:r>
                      </m:den>
                    </m:f>
                  </m:oMath>
                </a14:m>
                <a:r>
                  <a:rPr lang="fr-FR" sz="2200" dirty="0">
                    <a:latin typeface="Barlow Light" panose="020B0604020202020204" charset="0"/>
                  </a:rPr>
                  <a:t>), (</a:t>
                </a:r>
                <a14:m>
                  <m:oMath xmlns:m="http://schemas.openxmlformats.org/officeDocument/2006/math">
                    <m:f>
                      <m:fPr>
                        <m:ctrlPr>
                          <a:rPr lang="fr-FR" sz="2200" i="1">
                            <a:latin typeface="Cambria Math" panose="02040503050406030204" pitchFamily="18" charset="0"/>
                          </a:rPr>
                        </m:ctrlPr>
                      </m:fPr>
                      <m:num>
                        <m:r>
                          <a:rPr lang="fr-FR" sz="2200" b="0" i="1" smtClean="0">
                            <a:latin typeface="Cambria Math" panose="02040503050406030204" pitchFamily="18" charset="0"/>
                          </a:rPr>
                          <m:t>7+5+5+4,5</m:t>
                        </m:r>
                      </m:num>
                      <m:den>
                        <m:r>
                          <a:rPr lang="fr-FR" sz="2200" b="0" i="1" smtClean="0">
                            <a:latin typeface="Cambria Math" panose="02040503050406030204" pitchFamily="18" charset="0"/>
                          </a:rPr>
                          <m:t>4</m:t>
                        </m:r>
                      </m:den>
                    </m:f>
                  </m:oMath>
                </a14:m>
                <a:r>
                  <a:rPr lang="fr-FR" sz="2200" dirty="0">
                    <a:latin typeface="Barlow Light" panose="020B0604020202020204" charset="0"/>
                  </a:rPr>
                  <a:t>) = (4.12, 5.83)</a:t>
                </a:r>
              </a:p>
              <a:p>
                <a:pPr lvl="1">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635646"/>
                <a:ext cx="7272808" cy="3507854"/>
              </a:xfrm>
              <a:prstGeom prst="rect">
                <a:avLst/>
              </a:prstGeom>
              <a:blipFill>
                <a:blip r:embed="rId3"/>
                <a:stretch>
                  <a:fillRect l="-1341" t="-2431" b="-174"/>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70</a:t>
            </a:fld>
            <a:endParaRPr/>
          </a:p>
        </p:txBody>
      </p:sp>
    </p:spTree>
    <p:extLst>
      <p:ext uri="{BB962C8B-B14F-4D97-AF65-F5344CB8AC3E}">
        <p14:creationId xmlns="" xmlns:p14="http://schemas.microsoft.com/office/powerpoint/2010/main" val="8524573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K-means: Itération 2</a:t>
            </a:r>
          </a:p>
        </p:txBody>
      </p:sp>
      <p:sp>
        <p:nvSpPr>
          <p:cNvPr id="551" name="Google Shape;551;p18"/>
          <p:cNvSpPr txBox="1">
            <a:spLocks noGrp="1"/>
          </p:cNvSpPr>
          <p:nvPr>
            <p:ph type="body" idx="1"/>
          </p:nvPr>
        </p:nvSpPr>
        <p:spPr>
          <a:xfrm>
            <a:off x="971600" y="1635646"/>
            <a:ext cx="7272808" cy="936104"/>
          </a:xfrm>
          <a:prstGeom prst="rect">
            <a:avLst/>
          </a:prstGeom>
        </p:spPr>
        <p:txBody>
          <a:bodyPr spcFirstLastPara="1" wrap="square" lIns="0" tIns="0" rIns="0" bIns="0" anchor="t" anchorCtr="0">
            <a:noAutofit/>
          </a:bodyPr>
          <a:lstStyle/>
          <a:p>
            <a:pPr lvl="0">
              <a:spcBef>
                <a:spcPts val="0"/>
              </a:spcBef>
              <a:buFont typeface="Wingdings" panose="05000000000000000000" pitchFamily="2" charset="2"/>
              <a:buChar char="§"/>
            </a:pPr>
            <a:r>
              <a:rPr lang="fr-FR" sz="2200" b="1" u="sng" dirty="0">
                <a:effectLst>
                  <a:outerShdw blurRad="38100" dist="38100" dir="2700000" algn="tl">
                    <a:srgbClr val="000000">
                      <a:alpha val="43137"/>
                    </a:srgbClr>
                  </a:outerShdw>
                </a:effectLst>
                <a:latin typeface="Barlow Light" panose="020B0604020202020204" charset="0"/>
              </a:rPr>
              <a:t>Etape 2:</a:t>
            </a:r>
            <a:r>
              <a:rPr lang="fr-FR" sz="2200" b="1" dirty="0">
                <a:effectLst>
                  <a:outerShdw blurRad="38100" dist="38100" dir="2700000" algn="tl">
                    <a:srgbClr val="000000">
                      <a:alpha val="43137"/>
                    </a:srgbClr>
                  </a:outerShdw>
                </a:effectLst>
                <a:latin typeface="Barlow Light" panose="020B0604020202020204" charset="0"/>
              </a:rPr>
              <a:t> </a:t>
            </a:r>
            <a:r>
              <a:rPr lang="fr-FR" sz="2200" dirty="0">
                <a:latin typeface="Barlow Light" panose="020B0604020202020204" charset="0"/>
              </a:rPr>
              <a:t>calculer la distance entre chaque nouveau </a:t>
            </a:r>
            <a:r>
              <a:rPr lang="fr-FR" sz="2200" dirty="0" err="1">
                <a:latin typeface="Barlow Light" panose="020B0604020202020204" charset="0"/>
              </a:rPr>
              <a:t>centroid</a:t>
            </a:r>
            <a:r>
              <a:rPr lang="fr-FR" sz="2200" dirty="0">
                <a:latin typeface="Barlow Light" panose="020B0604020202020204" charset="0"/>
              </a:rPr>
              <a:t> et instance</a:t>
            </a: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71</a:t>
            </a:fld>
            <a:endParaRPr/>
          </a:p>
        </p:txBody>
      </p:sp>
      <p:pic>
        <p:nvPicPr>
          <p:cNvPr id="3" name="Image 2">
            <a:extLst>
              <a:ext uri="{FF2B5EF4-FFF2-40B4-BE49-F238E27FC236}">
                <a16:creationId xmlns="" xmlns:a16="http://schemas.microsoft.com/office/drawing/2014/main" id="{451C95AE-86C3-435E-B70C-E5EBCD49289C}"/>
              </a:ext>
            </a:extLst>
          </p:cNvPr>
          <p:cNvPicPr>
            <a:picLocks noChangeAspect="1"/>
          </p:cNvPicPr>
          <p:nvPr/>
        </p:nvPicPr>
        <p:blipFill>
          <a:blip r:embed="rId3"/>
          <a:stretch>
            <a:fillRect/>
          </a:stretch>
        </p:blipFill>
        <p:spPr>
          <a:xfrm>
            <a:off x="1045990" y="2355726"/>
            <a:ext cx="7272808" cy="2787774"/>
          </a:xfrm>
          <a:prstGeom prst="rect">
            <a:avLst/>
          </a:prstGeom>
        </p:spPr>
      </p:pic>
    </p:spTree>
    <p:extLst>
      <p:ext uri="{BB962C8B-B14F-4D97-AF65-F5344CB8AC3E}">
        <p14:creationId xmlns="" xmlns:p14="http://schemas.microsoft.com/office/powerpoint/2010/main" val="28237578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K-means: Itération 3</a:t>
            </a:r>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635646"/>
                <a:ext cx="7272808" cy="3507854"/>
              </a:xfrm>
              <a:prstGeom prst="rect">
                <a:avLst/>
              </a:prstGeom>
            </p:spPr>
            <p:txBody>
              <a:bodyPr spcFirstLastPara="1" wrap="square" lIns="0" tIns="0" rIns="0" bIns="0" anchor="t" anchorCtr="0">
                <a:noAutofit/>
              </a:bodyPr>
              <a:lstStyle/>
              <a:p>
                <a:pPr lvl="0">
                  <a:spcBef>
                    <a:spcPts val="0"/>
                  </a:spcBef>
                  <a:buFont typeface="Wingdings" panose="05000000000000000000" pitchFamily="2" charset="2"/>
                  <a:buChar char="§"/>
                </a:pPr>
                <a:r>
                  <a:rPr lang="fr-FR" sz="2200" b="1" u="sng" dirty="0">
                    <a:effectLst>
                      <a:outerShdw blurRad="38100" dist="38100" dir="2700000" algn="tl">
                        <a:srgbClr val="000000">
                          <a:alpha val="43137"/>
                        </a:srgbClr>
                      </a:outerShdw>
                    </a:effectLst>
                    <a:latin typeface="Barlow Light" panose="020B0604020202020204" charset="0"/>
                  </a:rPr>
                  <a:t>Etape 1:</a:t>
                </a:r>
                <a:r>
                  <a:rPr lang="fr-FR" sz="2200" b="1" dirty="0">
                    <a:effectLst>
                      <a:outerShdw blurRad="38100" dist="38100" dir="2700000" algn="tl">
                        <a:srgbClr val="000000">
                          <a:alpha val="43137"/>
                        </a:srgbClr>
                      </a:outerShdw>
                    </a:effectLst>
                    <a:latin typeface="Barlow Light" panose="020B0604020202020204" charset="0"/>
                  </a:rPr>
                  <a:t> </a:t>
                </a:r>
                <a:r>
                  <a:rPr lang="fr-FR" sz="2200" dirty="0">
                    <a:latin typeface="Barlow Light" panose="020B0604020202020204" charset="0"/>
                  </a:rPr>
                  <a:t>calculer les nouveaux </a:t>
                </a:r>
                <a:r>
                  <a:rPr lang="fr-FR" sz="2200" dirty="0" err="1">
                    <a:latin typeface="Barlow Light" panose="020B0604020202020204" charset="0"/>
                  </a:rPr>
                  <a:t>centroids</a:t>
                </a:r>
                <a:r>
                  <a:rPr lang="fr-FR" sz="2200" dirty="0">
                    <a:latin typeface="Barlow Light" panose="020B0604020202020204" charset="0"/>
                  </a:rPr>
                  <a:t> des clusters obtenus.</a:t>
                </a:r>
              </a:p>
              <a:p>
                <a:pPr lvl="0">
                  <a:spcBef>
                    <a:spcPts val="0"/>
                  </a:spcBef>
                  <a:buFont typeface="Wingdings" panose="05000000000000000000" pitchFamily="2" charset="2"/>
                  <a:buChar char="§"/>
                </a:pPr>
                <a:r>
                  <a:rPr lang="fr-FR" sz="2200" dirty="0">
                    <a:latin typeface="Barlow Light" panose="020B0604020202020204" charset="0"/>
                  </a:rPr>
                  <a:t>Clusters obtenus: </a:t>
                </a:r>
              </a:p>
              <a:p>
                <a:pPr lvl="1">
                  <a:buClr>
                    <a:schemeClr val="accent4"/>
                  </a:buClr>
                  <a:buFont typeface="Arial" panose="020B0604020202020204" pitchFamily="34" charset="0"/>
                  <a:buChar char="•"/>
                </a:pPr>
                <a:r>
                  <a:rPr lang="fr-FR" sz="2200" dirty="0">
                    <a:latin typeface="Barlow Light" panose="020B0604020202020204" charset="0"/>
                  </a:rPr>
                  <a:t>C1={ID1, ID2} </a:t>
                </a:r>
              </a:p>
              <a:p>
                <a:pPr lvl="1">
                  <a:buClr>
                    <a:schemeClr val="accent4"/>
                  </a:buClr>
                  <a:buFont typeface="Arial" panose="020B0604020202020204" pitchFamily="34" charset="0"/>
                  <a:buChar char="•"/>
                </a:pPr>
                <a:r>
                  <a:rPr lang="fr-FR" sz="2200" dirty="0">
                    <a:latin typeface="Barlow Light" panose="020B0604020202020204" charset="0"/>
                  </a:rPr>
                  <a:t>C2={ID3, ID4, ID5, ID6, ID7} </a:t>
                </a:r>
              </a:p>
              <a:p>
                <a:pPr>
                  <a:spcBef>
                    <a:spcPts val="0"/>
                  </a:spcBef>
                  <a:buFont typeface="Wingdings" panose="05000000000000000000" pitchFamily="2" charset="2"/>
                  <a:buChar char="§"/>
                </a:pPr>
                <a:r>
                  <a:rPr lang="fr-FR" sz="2200" dirty="0">
                    <a:latin typeface="Barlow Light" panose="020B0604020202020204" charset="0"/>
                  </a:rPr>
                  <a:t>Nouveaux </a:t>
                </a:r>
                <a:r>
                  <a:rPr lang="fr-FR" sz="2200" dirty="0" err="1">
                    <a:latin typeface="Barlow Light" panose="020B0604020202020204" charset="0"/>
                  </a:rPr>
                  <a:t>centroids</a:t>
                </a:r>
                <a:r>
                  <a:rPr lang="fr-FR" sz="2200" dirty="0">
                    <a:latin typeface="Barlow Light" panose="020B0604020202020204" charset="0"/>
                  </a:rPr>
                  <a:t>: </a:t>
                </a:r>
              </a:p>
              <a:p>
                <a:pPr lvl="1">
                  <a:buClr>
                    <a:schemeClr val="accent4"/>
                  </a:buClr>
                  <a:buFont typeface="Arial" panose="020B0604020202020204" pitchFamily="34" charset="0"/>
                  <a:buChar char="•"/>
                </a:pPr>
                <a:r>
                  <a:rPr lang="fr-FR" sz="2200" dirty="0">
                    <a:latin typeface="Barlow Light" panose="020B0604020202020204" charset="0"/>
                  </a:rPr>
                  <a:t>M1= (</a:t>
                </a:r>
                <a14:m>
                  <m:oMath xmlns:m="http://schemas.openxmlformats.org/officeDocument/2006/math">
                    <m:f>
                      <m:fPr>
                        <m:ctrlPr>
                          <a:rPr lang="fr-FR" sz="2200" i="1" smtClean="0">
                            <a:latin typeface="Cambria Math" panose="02040503050406030204" pitchFamily="18" charset="0"/>
                          </a:rPr>
                        </m:ctrlPr>
                      </m:fPr>
                      <m:num>
                        <m:r>
                          <a:rPr lang="fr-FR" sz="2200" b="0" i="1" smtClean="0">
                            <a:latin typeface="Cambria Math" panose="02040503050406030204" pitchFamily="18" charset="0"/>
                          </a:rPr>
                          <m:t>1+1,5</m:t>
                        </m:r>
                      </m:num>
                      <m:den>
                        <m:r>
                          <a:rPr lang="fr-FR" sz="2200" b="0" i="1" smtClean="0">
                            <a:latin typeface="Cambria Math" panose="02040503050406030204" pitchFamily="18" charset="0"/>
                          </a:rPr>
                          <m:t>2</m:t>
                        </m:r>
                      </m:den>
                    </m:f>
                  </m:oMath>
                </a14:m>
                <a:r>
                  <a:rPr lang="fr-FR" sz="2200" dirty="0">
                    <a:latin typeface="Barlow Light" panose="020B0604020202020204" charset="0"/>
                  </a:rPr>
                  <a:t>), (</a:t>
                </a:r>
                <a14:m>
                  <m:oMath xmlns:m="http://schemas.openxmlformats.org/officeDocument/2006/math">
                    <m:f>
                      <m:fPr>
                        <m:ctrlPr>
                          <a:rPr lang="fr-FR" sz="2200" i="1">
                            <a:latin typeface="Cambria Math" panose="02040503050406030204" pitchFamily="18" charset="0"/>
                          </a:rPr>
                        </m:ctrlPr>
                      </m:fPr>
                      <m:num>
                        <m:r>
                          <a:rPr lang="fr-FR" sz="2200" i="1">
                            <a:latin typeface="Cambria Math" panose="02040503050406030204" pitchFamily="18" charset="0"/>
                          </a:rPr>
                          <m:t>1+</m:t>
                        </m:r>
                        <m:r>
                          <a:rPr lang="fr-FR" sz="2200" b="0" i="1" smtClean="0">
                            <a:latin typeface="Cambria Math" panose="02040503050406030204" pitchFamily="18" charset="0"/>
                          </a:rPr>
                          <m:t>2</m:t>
                        </m:r>
                      </m:num>
                      <m:den>
                        <m:r>
                          <a:rPr lang="fr-FR" sz="2200" b="0" i="1" smtClean="0">
                            <a:latin typeface="Cambria Math" panose="02040503050406030204" pitchFamily="18" charset="0"/>
                          </a:rPr>
                          <m:t>2</m:t>
                        </m:r>
                      </m:den>
                    </m:f>
                  </m:oMath>
                </a14:m>
                <a:r>
                  <a:rPr lang="fr-FR" sz="2200" dirty="0">
                    <a:latin typeface="Barlow Light" panose="020B0604020202020204" charset="0"/>
                  </a:rPr>
                  <a:t>) = (1.25, 1.5)</a:t>
                </a:r>
              </a:p>
              <a:p>
                <a:pPr lvl="1">
                  <a:buClr>
                    <a:schemeClr val="accent4"/>
                  </a:buClr>
                  <a:buFont typeface="Arial" panose="020B0604020202020204" pitchFamily="34" charset="0"/>
                  <a:buChar char="•"/>
                </a:pPr>
                <a:r>
                  <a:rPr lang="fr-FR" sz="2200" dirty="0">
                    <a:latin typeface="Barlow Light" panose="020B0604020202020204" charset="0"/>
                  </a:rPr>
                  <a:t>M2= (</a:t>
                </a:r>
                <a14:m>
                  <m:oMath xmlns:m="http://schemas.openxmlformats.org/officeDocument/2006/math">
                    <m:f>
                      <m:fPr>
                        <m:ctrlPr>
                          <a:rPr lang="fr-FR" sz="2200" i="1" smtClean="0">
                            <a:latin typeface="Cambria Math" panose="02040503050406030204" pitchFamily="18" charset="0"/>
                          </a:rPr>
                        </m:ctrlPr>
                      </m:fPr>
                      <m:num>
                        <m:r>
                          <a:rPr lang="fr-FR" sz="2200" b="0" i="1" smtClean="0">
                            <a:latin typeface="Cambria Math" panose="02040503050406030204" pitchFamily="18" charset="0"/>
                          </a:rPr>
                          <m:t>3+5+3,5+4,5+3,5</m:t>
                        </m:r>
                      </m:num>
                      <m:den>
                        <m:r>
                          <a:rPr lang="fr-FR" sz="2200" b="0" i="1" smtClean="0">
                            <a:latin typeface="Cambria Math" panose="02040503050406030204" pitchFamily="18" charset="0"/>
                          </a:rPr>
                          <m:t>5</m:t>
                        </m:r>
                      </m:den>
                    </m:f>
                  </m:oMath>
                </a14:m>
                <a:r>
                  <a:rPr lang="fr-FR" sz="2200" dirty="0">
                    <a:latin typeface="Barlow Light" panose="020B0604020202020204" charset="0"/>
                  </a:rPr>
                  <a:t>), (</a:t>
                </a:r>
                <a14:m>
                  <m:oMath xmlns:m="http://schemas.openxmlformats.org/officeDocument/2006/math">
                    <m:f>
                      <m:fPr>
                        <m:ctrlPr>
                          <a:rPr lang="fr-FR" sz="2200" i="1">
                            <a:latin typeface="Cambria Math" panose="02040503050406030204" pitchFamily="18" charset="0"/>
                          </a:rPr>
                        </m:ctrlPr>
                      </m:fPr>
                      <m:num>
                        <m:r>
                          <a:rPr lang="fr-FR" sz="2200" b="0" i="1" smtClean="0">
                            <a:latin typeface="Cambria Math" panose="02040503050406030204" pitchFamily="18" charset="0"/>
                          </a:rPr>
                          <m:t>4+7+5+5+4,5</m:t>
                        </m:r>
                      </m:num>
                      <m:den>
                        <m:r>
                          <a:rPr lang="fr-FR" sz="2200" b="0" i="1" smtClean="0">
                            <a:latin typeface="Cambria Math" panose="02040503050406030204" pitchFamily="18" charset="0"/>
                          </a:rPr>
                          <m:t>5</m:t>
                        </m:r>
                      </m:den>
                    </m:f>
                  </m:oMath>
                </a14:m>
                <a:r>
                  <a:rPr lang="fr-FR" sz="2200" dirty="0">
                    <a:latin typeface="Barlow Light" panose="020B0604020202020204" charset="0"/>
                  </a:rPr>
                  <a:t>) = (3.9, 5.1)</a:t>
                </a:r>
              </a:p>
              <a:p>
                <a:pPr lvl="1">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635646"/>
                <a:ext cx="7272808" cy="3507854"/>
              </a:xfrm>
              <a:prstGeom prst="rect">
                <a:avLst/>
              </a:prstGeom>
              <a:blipFill>
                <a:blip r:embed="rId3"/>
                <a:stretch>
                  <a:fillRect l="-1341" t="-2431" b="-174"/>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72</a:t>
            </a:fld>
            <a:endParaRPr/>
          </a:p>
        </p:txBody>
      </p:sp>
    </p:spTree>
    <p:extLst>
      <p:ext uri="{BB962C8B-B14F-4D97-AF65-F5344CB8AC3E}">
        <p14:creationId xmlns="" xmlns:p14="http://schemas.microsoft.com/office/powerpoint/2010/main" val="3440204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K-means: Itération 3</a:t>
            </a:r>
          </a:p>
        </p:txBody>
      </p:sp>
      <p:sp>
        <p:nvSpPr>
          <p:cNvPr id="551" name="Google Shape;551;p18"/>
          <p:cNvSpPr txBox="1">
            <a:spLocks noGrp="1"/>
          </p:cNvSpPr>
          <p:nvPr>
            <p:ph type="body" idx="1"/>
          </p:nvPr>
        </p:nvSpPr>
        <p:spPr>
          <a:xfrm>
            <a:off x="971600" y="1635646"/>
            <a:ext cx="7272808" cy="936104"/>
          </a:xfrm>
          <a:prstGeom prst="rect">
            <a:avLst/>
          </a:prstGeom>
        </p:spPr>
        <p:txBody>
          <a:bodyPr spcFirstLastPara="1" wrap="square" lIns="0" tIns="0" rIns="0" bIns="0" anchor="t" anchorCtr="0">
            <a:noAutofit/>
          </a:bodyPr>
          <a:lstStyle/>
          <a:p>
            <a:pPr lvl="0">
              <a:spcBef>
                <a:spcPts val="0"/>
              </a:spcBef>
              <a:buFont typeface="Wingdings" panose="05000000000000000000" pitchFamily="2" charset="2"/>
              <a:buChar char="§"/>
            </a:pPr>
            <a:r>
              <a:rPr lang="fr-FR" sz="2200" b="1" u="sng" dirty="0">
                <a:effectLst>
                  <a:outerShdw blurRad="38100" dist="38100" dir="2700000" algn="tl">
                    <a:srgbClr val="000000">
                      <a:alpha val="43137"/>
                    </a:srgbClr>
                  </a:outerShdw>
                </a:effectLst>
                <a:latin typeface="Barlow Light" panose="020B0604020202020204" charset="0"/>
              </a:rPr>
              <a:t>Etape 2:</a:t>
            </a:r>
            <a:r>
              <a:rPr lang="fr-FR" sz="2200" b="1" dirty="0">
                <a:effectLst>
                  <a:outerShdw blurRad="38100" dist="38100" dir="2700000" algn="tl">
                    <a:srgbClr val="000000">
                      <a:alpha val="43137"/>
                    </a:srgbClr>
                  </a:outerShdw>
                </a:effectLst>
                <a:latin typeface="Barlow Light" panose="020B0604020202020204" charset="0"/>
              </a:rPr>
              <a:t> </a:t>
            </a:r>
            <a:r>
              <a:rPr lang="fr-FR" sz="2200" dirty="0">
                <a:latin typeface="Barlow Light" panose="020B0604020202020204" charset="0"/>
              </a:rPr>
              <a:t>calculer la distance entre chaque nouveau </a:t>
            </a:r>
            <a:r>
              <a:rPr lang="fr-FR" sz="2200" dirty="0" err="1">
                <a:latin typeface="Barlow Light" panose="020B0604020202020204" charset="0"/>
              </a:rPr>
              <a:t>centroid</a:t>
            </a:r>
            <a:r>
              <a:rPr lang="fr-FR" sz="2200" dirty="0">
                <a:latin typeface="Barlow Light" panose="020B0604020202020204" charset="0"/>
              </a:rPr>
              <a:t> et instance</a:t>
            </a: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73</a:t>
            </a:fld>
            <a:endParaRPr/>
          </a:p>
        </p:txBody>
      </p:sp>
      <p:pic>
        <p:nvPicPr>
          <p:cNvPr id="4" name="Image 3">
            <a:extLst>
              <a:ext uri="{FF2B5EF4-FFF2-40B4-BE49-F238E27FC236}">
                <a16:creationId xmlns="" xmlns:a16="http://schemas.microsoft.com/office/drawing/2014/main" id="{44D9ED4F-EFC4-49D1-8738-6FFECC7D7DE6}"/>
              </a:ext>
            </a:extLst>
          </p:cNvPr>
          <p:cNvPicPr>
            <a:picLocks noChangeAspect="1"/>
          </p:cNvPicPr>
          <p:nvPr/>
        </p:nvPicPr>
        <p:blipFill>
          <a:blip r:embed="rId3"/>
          <a:stretch>
            <a:fillRect/>
          </a:stretch>
        </p:blipFill>
        <p:spPr>
          <a:xfrm>
            <a:off x="1150429" y="2355726"/>
            <a:ext cx="6915150" cy="2787774"/>
          </a:xfrm>
          <a:prstGeom prst="rect">
            <a:avLst/>
          </a:prstGeom>
        </p:spPr>
      </p:pic>
    </p:spTree>
    <p:extLst>
      <p:ext uri="{BB962C8B-B14F-4D97-AF65-F5344CB8AC3E}">
        <p14:creationId xmlns="" xmlns:p14="http://schemas.microsoft.com/office/powerpoint/2010/main" val="27026561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K-means: Itération 3</a:t>
            </a:r>
          </a:p>
        </p:txBody>
      </p:sp>
      <p:sp>
        <p:nvSpPr>
          <p:cNvPr id="551" name="Google Shape;551;p18"/>
          <p:cNvSpPr txBox="1">
            <a:spLocks noGrp="1"/>
          </p:cNvSpPr>
          <p:nvPr>
            <p:ph type="body" idx="1"/>
          </p:nvPr>
        </p:nvSpPr>
        <p:spPr>
          <a:xfrm>
            <a:off x="1403648" y="1851670"/>
            <a:ext cx="6840760" cy="3291830"/>
          </a:xfrm>
          <a:prstGeom prst="rect">
            <a:avLst/>
          </a:prstGeom>
        </p:spPr>
        <p:txBody>
          <a:bodyPr spcFirstLastPara="1" wrap="square" lIns="0" tIns="0" rIns="0" bIns="0" anchor="t" anchorCtr="0">
            <a:noAutofit/>
          </a:bodyPr>
          <a:lstStyle/>
          <a:p>
            <a:pPr lvl="0">
              <a:spcBef>
                <a:spcPts val="0"/>
              </a:spcBef>
              <a:buFont typeface="Wingdings" panose="05000000000000000000" pitchFamily="2" charset="2"/>
              <a:buChar char="§"/>
            </a:pPr>
            <a:r>
              <a:rPr lang="fr-FR" sz="2200" dirty="0">
                <a:latin typeface="Barlow Light" panose="020B0604020202020204" charset="0"/>
              </a:rPr>
              <a:t>Aucun objet n’a changé de groupe.</a:t>
            </a:r>
          </a:p>
          <a:p>
            <a:pPr lvl="0">
              <a:spcBef>
                <a:spcPts val="0"/>
              </a:spcBef>
              <a:buFont typeface="Wingdings" panose="05000000000000000000" pitchFamily="2" charset="2"/>
              <a:buChar char="§"/>
            </a:pPr>
            <a:r>
              <a:rPr lang="fr-FR" sz="2200" dirty="0">
                <a:latin typeface="Barlow Light" panose="020B0604020202020204" charset="0"/>
              </a:rPr>
              <a:t>Fin de l’algorithme.</a:t>
            </a:r>
          </a:p>
          <a:p>
            <a:pPr lvl="0">
              <a:spcBef>
                <a:spcPts val="0"/>
              </a:spcBef>
              <a:buFont typeface="Wingdings" panose="05000000000000000000" pitchFamily="2" charset="2"/>
              <a:buChar char="§"/>
            </a:pPr>
            <a:r>
              <a:rPr lang="fr-FR" sz="2200" dirty="0">
                <a:latin typeface="Barlow Light" panose="020B0604020202020204" charset="0"/>
              </a:rPr>
              <a:t>Résultats</a:t>
            </a:r>
          </a:p>
          <a:p>
            <a:pPr lvl="1">
              <a:buFont typeface="Courier New" panose="02070309020205020404" pitchFamily="49" charset="0"/>
              <a:buChar char="o"/>
            </a:pPr>
            <a:r>
              <a:rPr lang="fr-FR" sz="2200" dirty="0">
                <a:latin typeface="Barlow Light" panose="020B0604020202020204" charset="0"/>
              </a:rPr>
              <a:t>Clusters obtenus: </a:t>
            </a:r>
          </a:p>
          <a:p>
            <a:pPr lvl="2">
              <a:buClr>
                <a:schemeClr val="accent4"/>
              </a:buClr>
              <a:buFont typeface="Arial" panose="020B0604020202020204" pitchFamily="34" charset="0"/>
              <a:buChar char="•"/>
            </a:pPr>
            <a:r>
              <a:rPr lang="fr-FR" sz="2200" dirty="0">
                <a:latin typeface="Barlow Light" panose="020B0604020202020204" charset="0"/>
              </a:rPr>
              <a:t>C1={ID1, ID2} </a:t>
            </a:r>
          </a:p>
          <a:p>
            <a:pPr lvl="2">
              <a:buClr>
                <a:schemeClr val="accent4"/>
              </a:buClr>
              <a:buFont typeface="Arial" panose="020B0604020202020204" pitchFamily="34" charset="0"/>
              <a:buChar char="•"/>
            </a:pPr>
            <a:r>
              <a:rPr lang="fr-FR" sz="2200" dirty="0">
                <a:latin typeface="Barlow Light" panose="020B0604020202020204" charset="0"/>
              </a:rPr>
              <a:t>C2={ID3, ID4, ID5, ID6, ID7} </a:t>
            </a:r>
          </a:p>
          <a:p>
            <a:pPr lvl="0">
              <a:spcBef>
                <a:spcPts val="0"/>
              </a:spcBef>
              <a:buFont typeface="Wingdings" panose="05000000000000000000" pitchFamily="2" charset="2"/>
              <a:buChar char="§"/>
            </a:pPr>
            <a:endParaRPr lang="fr-FR" sz="2200" dirty="0">
              <a:latin typeface="Barlow Light" panose="020B0604020202020204" charset="0"/>
            </a:endParaRP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74</a:t>
            </a:fld>
            <a:endParaRPr/>
          </a:p>
        </p:txBody>
      </p:sp>
    </p:spTree>
    <p:extLst>
      <p:ext uri="{BB962C8B-B14F-4D97-AF65-F5344CB8AC3E}">
        <p14:creationId xmlns="" xmlns:p14="http://schemas.microsoft.com/office/powerpoint/2010/main" val="10529753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en" sz="3200" b="1" dirty="0"/>
              <a:t>K-means: Exercice</a:t>
            </a:r>
          </a:p>
        </p:txBody>
      </p:sp>
      <p:sp>
        <p:nvSpPr>
          <p:cNvPr id="551" name="Google Shape;551;p18"/>
          <p:cNvSpPr txBox="1">
            <a:spLocks noGrp="1"/>
          </p:cNvSpPr>
          <p:nvPr>
            <p:ph type="body" idx="1"/>
          </p:nvPr>
        </p:nvSpPr>
        <p:spPr>
          <a:xfrm>
            <a:off x="971600" y="1318000"/>
            <a:ext cx="7511300" cy="3825500"/>
          </a:xfrm>
          <a:prstGeom prst="rect">
            <a:avLst/>
          </a:prstGeom>
        </p:spPr>
        <p:txBody>
          <a:bodyPr spcFirstLastPara="1" wrap="square" lIns="0" tIns="0" rIns="0" bIns="0" anchor="t" anchorCtr="0">
            <a:noAutofit/>
          </a:bodyPr>
          <a:lstStyle/>
          <a:p>
            <a:pPr algn="just">
              <a:lnSpc>
                <a:spcPct val="115000"/>
              </a:lnSpc>
              <a:spcBef>
                <a:spcPts val="0"/>
              </a:spcBef>
              <a:buFont typeface="Wingdings" panose="05000000000000000000" pitchFamily="2" charset="2"/>
              <a:buChar char="§"/>
            </a:pPr>
            <a:r>
              <a:rPr lang="fr-FR" sz="2000" dirty="0">
                <a:effectLst/>
                <a:latin typeface="Times New Roman" panose="02020603050405020304" pitchFamily="18" charset="0"/>
                <a:ea typeface="Calibri" panose="020F0502020204030204" pitchFamily="34" charset="0"/>
                <a:cs typeface="Arial" panose="020B0604020202020204" pitchFamily="34" charset="0"/>
              </a:rPr>
              <a:t>Soit l'ensemble D des entiers suivants : </a:t>
            </a: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marL="76200" indent="0" algn="just">
              <a:lnSpc>
                <a:spcPct val="115000"/>
              </a:lnSpc>
              <a:spcBef>
                <a:spcPts val="0"/>
              </a:spcBef>
              <a:buNone/>
            </a:pPr>
            <a:r>
              <a:rPr lang="fr-FR" sz="2000" dirty="0">
                <a:effectLst/>
                <a:latin typeface="Times New Roman" panose="02020603050405020304" pitchFamily="18" charset="0"/>
                <a:ea typeface="Calibri" panose="020F0502020204030204" pitchFamily="34" charset="0"/>
                <a:cs typeface="Arial" panose="020B0604020202020204" pitchFamily="34" charset="0"/>
              </a:rPr>
              <a:t>	D= {2, 5, 8, 10, 11, 18, 20} </a:t>
            </a: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Bef>
                <a:spcPts val="0"/>
              </a:spcBef>
              <a:buFont typeface="Wingdings" panose="05000000000000000000" pitchFamily="2" charset="2"/>
              <a:buChar char="§"/>
            </a:pPr>
            <a:r>
              <a:rPr lang="fr-FR" sz="2000" dirty="0">
                <a:effectLst/>
                <a:latin typeface="Times New Roman" panose="02020603050405020304" pitchFamily="18" charset="0"/>
                <a:ea typeface="Calibri" panose="020F0502020204030204" pitchFamily="34" charset="0"/>
                <a:cs typeface="Arial" panose="020B0604020202020204" pitchFamily="34" charset="0"/>
              </a:rPr>
              <a:t>On veut répartir les données de D en trois (3) clusters, en utilisant l'algorithme </a:t>
            </a:r>
            <a:r>
              <a:rPr lang="fr-FR" sz="2000" dirty="0" err="1">
                <a:effectLst/>
                <a:latin typeface="Times New Roman" panose="02020603050405020304" pitchFamily="18" charset="0"/>
                <a:ea typeface="Calibri" panose="020F0502020204030204" pitchFamily="34" charset="0"/>
                <a:cs typeface="Arial" panose="020B0604020202020204" pitchFamily="34" charset="0"/>
              </a:rPr>
              <a:t>Kmeans</a:t>
            </a:r>
            <a:r>
              <a:rPr lang="fr-FR" sz="2000" dirty="0">
                <a:effectLst/>
                <a:latin typeface="Times New Roman" panose="02020603050405020304" pitchFamily="18" charset="0"/>
                <a:ea typeface="Calibri" panose="020F0502020204030204" pitchFamily="34" charset="0"/>
                <a:cs typeface="Arial" panose="020B0604020202020204" pitchFamily="34" charset="0"/>
              </a:rPr>
              <a:t>. La distance d entre deux nombres a et b est calculé ainsi : </a:t>
            </a: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marL="76200" indent="0" algn="just">
              <a:lnSpc>
                <a:spcPct val="115000"/>
              </a:lnSpc>
              <a:spcBef>
                <a:spcPts val="0"/>
              </a:spcBef>
              <a:buNone/>
            </a:pPr>
            <a:r>
              <a:rPr lang="fr-FR" sz="2000" dirty="0">
                <a:effectLst/>
                <a:latin typeface="Times New Roman" panose="02020603050405020304" pitchFamily="18" charset="0"/>
                <a:ea typeface="Calibri" panose="020F0502020204030204" pitchFamily="34" charset="0"/>
                <a:cs typeface="Arial" panose="020B0604020202020204" pitchFamily="34" charset="0"/>
              </a:rPr>
              <a:t>	d(a , b) = |a - b| (la valeur absolue de a moins b)  </a:t>
            </a: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lvl="0" indent="-457200" algn="just">
              <a:lnSpc>
                <a:spcPct val="115000"/>
              </a:lnSpc>
              <a:spcBef>
                <a:spcPts val="0"/>
              </a:spcBef>
              <a:buSzPct val="100000"/>
              <a:buFont typeface="+mj-lt"/>
              <a:buAutoNum type="arabicPeriod"/>
            </a:pPr>
            <a:r>
              <a:rPr lang="fr-FR" sz="2000" dirty="0">
                <a:effectLst/>
                <a:latin typeface="Times New Roman" panose="02020603050405020304" pitchFamily="18" charset="0"/>
                <a:ea typeface="Calibri" panose="020F0502020204030204" pitchFamily="34" charset="0"/>
                <a:cs typeface="Arial" panose="020B0604020202020204" pitchFamily="34" charset="0"/>
              </a:rPr>
              <a:t>Appliquez </a:t>
            </a:r>
            <a:r>
              <a:rPr lang="fr-FR" sz="2000" dirty="0" err="1">
                <a:effectLst/>
                <a:latin typeface="Times New Roman" panose="02020603050405020304" pitchFamily="18" charset="0"/>
                <a:ea typeface="Calibri" panose="020F0502020204030204" pitchFamily="34" charset="0"/>
                <a:cs typeface="Arial" panose="020B0604020202020204" pitchFamily="34" charset="0"/>
              </a:rPr>
              <a:t>Kmeans</a:t>
            </a:r>
            <a:r>
              <a:rPr lang="fr-FR" sz="2000" dirty="0">
                <a:effectLst/>
                <a:latin typeface="Times New Roman" panose="02020603050405020304" pitchFamily="18" charset="0"/>
                <a:ea typeface="Calibri" panose="020F0502020204030204" pitchFamily="34" charset="0"/>
                <a:cs typeface="Arial" panose="020B0604020202020204" pitchFamily="34" charset="0"/>
              </a:rPr>
              <a:t> en choisissant comme centres initiaux des 3 clusters respectivement : 8, 10 et 11. Montrez toutes les étapes de calcul.</a:t>
            </a:r>
            <a:r>
              <a:rPr lang="fr-FR" sz="2000" dirty="0">
                <a:latin typeface="Calibri" panose="020F0502020204030204" pitchFamily="34" charset="0"/>
                <a:ea typeface="Calibri" panose="020F0502020204030204" pitchFamily="34" charset="0"/>
                <a:cs typeface="Arial" panose="020B0604020202020204" pitchFamily="34" charset="0"/>
              </a:rPr>
              <a:t> </a:t>
            </a:r>
          </a:p>
          <a:p>
            <a:pPr lvl="0" indent="-457200" algn="just">
              <a:lnSpc>
                <a:spcPct val="115000"/>
              </a:lnSpc>
              <a:spcBef>
                <a:spcPts val="0"/>
              </a:spcBef>
              <a:buSzPct val="100000"/>
              <a:buFont typeface="+mj-lt"/>
              <a:buAutoNum type="arabicPeriod"/>
            </a:pPr>
            <a:r>
              <a:rPr lang="fr-FR" sz="2000" dirty="0">
                <a:effectLst/>
                <a:latin typeface="Times New Roman" panose="02020603050405020304" pitchFamily="18" charset="0"/>
                <a:ea typeface="Calibri" panose="020F0502020204030204" pitchFamily="34" charset="0"/>
                <a:cs typeface="Arial" panose="020B0604020202020204" pitchFamily="34" charset="0"/>
              </a:rPr>
              <a:t>Donnez le résultat final et précisez le nombre d'itérations qui ont été nécessaires.</a:t>
            </a: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lvl="1">
              <a:buFont typeface="Wingdings" panose="05000000000000000000" pitchFamily="2" charset="2"/>
              <a:buChar char="§"/>
            </a:pPr>
            <a:endParaRPr lang="fr-FR" sz="2000" dirty="0">
              <a:latin typeface="Barlow Light" panose="020B0604020202020204" charset="0"/>
            </a:endParaRPr>
          </a:p>
          <a:p>
            <a:pPr lvl="0">
              <a:spcBef>
                <a:spcPts val="0"/>
              </a:spcBef>
              <a:buFont typeface="Wingdings" panose="05000000000000000000" pitchFamily="2" charset="2"/>
              <a:buChar char="§"/>
            </a:pPr>
            <a:endParaRPr lang="fr-FR" sz="2000" dirty="0">
              <a:latin typeface="Barlow Light" panose="020B0604020202020204" charset="0"/>
            </a:endParaRPr>
          </a:p>
          <a:p>
            <a:pPr lvl="0">
              <a:spcBef>
                <a:spcPts val="0"/>
              </a:spcBef>
              <a:buFont typeface="Wingdings" panose="05000000000000000000" pitchFamily="2" charset="2"/>
              <a:buChar char="§"/>
            </a:pPr>
            <a:endParaRPr lang="fr-FR" sz="2000" dirty="0">
              <a:latin typeface="Barlow Light" panose="020B0604020202020204" charset="0"/>
            </a:endParaRPr>
          </a:p>
          <a:p>
            <a:pPr lvl="0">
              <a:spcBef>
                <a:spcPts val="0"/>
              </a:spcBef>
              <a:buFont typeface="Wingdings" panose="05000000000000000000" pitchFamily="2" charset="2"/>
              <a:buChar char="§"/>
            </a:pPr>
            <a:endParaRPr lang="fr-FR" sz="2000" dirty="0">
              <a:latin typeface="Barlow Light" panose="020B0604020202020204" charset="0"/>
            </a:endParaRPr>
          </a:p>
          <a:p>
            <a:pPr lvl="0">
              <a:spcBef>
                <a:spcPts val="0"/>
              </a:spcBef>
              <a:buFont typeface="Wingdings" panose="05000000000000000000" pitchFamily="2" charset="2"/>
              <a:buChar char="§"/>
            </a:pPr>
            <a:endParaRPr lang="fr-FR" sz="2000" dirty="0">
              <a:latin typeface="Barlow Light" panose="020B0604020202020204" charset="0"/>
            </a:endParaRPr>
          </a:p>
          <a:p>
            <a:pPr lvl="0">
              <a:spcBef>
                <a:spcPts val="0"/>
              </a:spcBef>
              <a:buFont typeface="Wingdings" panose="05000000000000000000" pitchFamily="2" charset="2"/>
              <a:buChar char="§"/>
            </a:pPr>
            <a:endParaRPr lang="fr-FR" sz="2000" dirty="0">
              <a:latin typeface="Barlow Light" panose="020B0604020202020204" charset="0"/>
            </a:endParaRP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75</a:t>
            </a:fld>
            <a:endParaRPr/>
          </a:p>
        </p:txBody>
      </p:sp>
    </p:spTree>
    <p:extLst>
      <p:ext uri="{BB962C8B-B14F-4D97-AF65-F5344CB8AC3E}">
        <p14:creationId xmlns="" xmlns:p14="http://schemas.microsoft.com/office/powerpoint/2010/main" val="42068625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13"/>
          <p:cNvSpPr txBox="1">
            <a:spLocks noGrp="1"/>
          </p:cNvSpPr>
          <p:nvPr>
            <p:ph type="ctrTitle"/>
          </p:nvPr>
        </p:nvSpPr>
        <p:spPr>
          <a:xfrm>
            <a:off x="685800" y="1541675"/>
            <a:ext cx="5740200" cy="2060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K-nearest neighbors</a:t>
            </a:r>
            <a:endParaRPr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200" b="1" dirty="0"/>
              <a:t>K-NN: Définition</a:t>
            </a:r>
            <a:endParaRPr sz="3200" b="1" dirty="0"/>
          </a:p>
        </p:txBody>
      </p:sp>
      <p:sp>
        <p:nvSpPr>
          <p:cNvPr id="551" name="Google Shape;551;p18"/>
          <p:cNvSpPr txBox="1">
            <a:spLocks noGrp="1"/>
          </p:cNvSpPr>
          <p:nvPr>
            <p:ph type="body" idx="1"/>
          </p:nvPr>
        </p:nvSpPr>
        <p:spPr>
          <a:xfrm>
            <a:off x="1043608" y="1707654"/>
            <a:ext cx="7380000" cy="2952000"/>
          </a:xfrm>
          <a:prstGeom prst="rect">
            <a:avLst/>
          </a:prstGeom>
          <a:ln>
            <a:solidFill>
              <a:schemeClr val="accent1"/>
            </a:solid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spcFirstLastPara="1" wrap="square" lIns="0" tIns="0" rIns="0" bIns="0" anchor="ctr" anchorCtr="0">
            <a:noAutofit/>
          </a:bodyPr>
          <a:lstStyle/>
          <a:p>
            <a:pPr lvl="0" algn="ctr">
              <a:spcBef>
                <a:spcPts val="1200"/>
              </a:spcBef>
              <a:buNone/>
            </a:pPr>
            <a:r>
              <a:rPr lang="fr-FR" dirty="0"/>
              <a:t>K-NN (K-</a:t>
            </a:r>
            <a:r>
              <a:rPr lang="fr-FR" dirty="0" err="1"/>
              <a:t>nearest</a:t>
            </a:r>
            <a:r>
              <a:rPr lang="fr-FR" dirty="0"/>
              <a:t> </a:t>
            </a:r>
            <a:r>
              <a:rPr lang="fr-FR" dirty="0" err="1"/>
              <a:t>neighbors</a:t>
            </a:r>
            <a:r>
              <a:rPr lang="fr-FR" dirty="0"/>
              <a:t>) est une méthode d’</a:t>
            </a:r>
            <a:r>
              <a:rPr lang="fr-FR" dirty="0">
                <a:hlinkClick r:id="rId3"/>
              </a:rPr>
              <a:t>apprentissage supervisé</a:t>
            </a:r>
            <a:r>
              <a:rPr lang="fr-FR" dirty="0"/>
              <a:t>. Il peut être utilisé aussi bien pour la </a:t>
            </a:r>
            <a:r>
              <a:rPr lang="fr-FR" b="1" dirty="0"/>
              <a:t>régression</a:t>
            </a:r>
            <a:r>
              <a:rPr lang="fr-FR" dirty="0"/>
              <a:t> que pour la </a:t>
            </a:r>
            <a:r>
              <a:rPr lang="fr-FR" b="1" dirty="0"/>
              <a:t>classification</a:t>
            </a:r>
            <a:r>
              <a:rPr lang="fr-FR" dirty="0"/>
              <a:t>. Son fonctionnement peut être assimilé à l’analogie suivante: </a:t>
            </a:r>
          </a:p>
          <a:p>
            <a:pPr lvl="0" algn="ctr">
              <a:spcBef>
                <a:spcPts val="0"/>
              </a:spcBef>
              <a:spcAft>
                <a:spcPts val="1200"/>
              </a:spcAft>
              <a:buNone/>
            </a:pPr>
            <a:r>
              <a:rPr lang="fr-FR" i="1" dirty="0"/>
              <a:t>“</a:t>
            </a:r>
            <a:r>
              <a:rPr lang="fr-FR" b="1" i="1" dirty="0">
                <a:latin typeface="Palatino Linotype" panose="02040502050505030304" pitchFamily="18" charset="0"/>
              </a:rPr>
              <a:t>Dis moi qui sont tes voisins, je te dirais qui tu es!</a:t>
            </a:r>
            <a:r>
              <a:rPr lang="fr-FR" i="1" dirty="0"/>
              <a:t>”</a:t>
            </a:r>
            <a:r>
              <a:rPr lang="fr-FR" dirty="0"/>
              <a:t>.</a:t>
            </a:r>
            <a:endParaRPr sz="2800" dirty="0">
              <a:latin typeface="Barlow Light" panose="020B0604020202020204" charset="0"/>
            </a:endParaRP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77</a:t>
            </a:fld>
            <a:endParaRPr/>
          </a:p>
        </p:txBody>
      </p:sp>
    </p:spTree>
    <p:extLst>
      <p:ext uri="{BB962C8B-B14F-4D97-AF65-F5344CB8AC3E}">
        <p14:creationId xmlns="" xmlns:p14="http://schemas.microsoft.com/office/powerpoint/2010/main" val="26695959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ED3E4D7-E123-CE6A-B976-262F244A4F5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6BBE665-3601-5177-FAC7-0FF6FC73D88A}"/>
              </a:ext>
            </a:extLst>
          </p:cNvPr>
          <p:cNvSpPr>
            <a:spLocks noGrp="1"/>
          </p:cNvSpPr>
          <p:nvPr>
            <p:ph type="title"/>
          </p:nvPr>
        </p:nvSpPr>
        <p:spPr/>
        <p:txBody>
          <a:bodyPr/>
          <a:lstStyle/>
          <a:p>
            <a:r>
              <a:rPr lang="fr-FR" dirty="0" err="1"/>
              <a:t>Regression</a:t>
            </a:r>
            <a:endParaRPr lang="fr-FR" dirty="0"/>
          </a:p>
        </p:txBody>
      </p:sp>
      <p:sp>
        <p:nvSpPr>
          <p:cNvPr id="3" name="Text Placeholder 2">
            <a:extLst>
              <a:ext uri="{FF2B5EF4-FFF2-40B4-BE49-F238E27FC236}">
                <a16:creationId xmlns="" xmlns:a16="http://schemas.microsoft.com/office/drawing/2014/main" id="{27BD01BA-CEF1-35B2-6C92-55D22408FD03}"/>
              </a:ext>
            </a:extLst>
          </p:cNvPr>
          <p:cNvSpPr>
            <a:spLocks noGrp="1"/>
          </p:cNvSpPr>
          <p:nvPr>
            <p:ph type="body" idx="1"/>
          </p:nvPr>
        </p:nvSpPr>
        <p:spPr>
          <a:xfrm>
            <a:off x="971600" y="1347614"/>
            <a:ext cx="7748678" cy="3204298"/>
          </a:xfrm>
        </p:spPr>
        <p:txBody>
          <a:bodyPr/>
          <a:lstStyle/>
          <a:p>
            <a:pPr>
              <a:buFont typeface="Arial" panose="020B0604020202020204" pitchFamily="34" charset="0"/>
              <a:buChar char="•"/>
            </a:pPr>
            <a:r>
              <a:rPr lang="en-US" sz="2000" b="1" dirty="0"/>
              <a:t>Objectif</a:t>
            </a:r>
            <a:r>
              <a:rPr lang="en-US" sz="2000" dirty="0"/>
              <a:t> : </a:t>
            </a:r>
            <a:r>
              <a:rPr lang="en-US" sz="2000" dirty="0" err="1"/>
              <a:t>Prédire</a:t>
            </a:r>
            <a:r>
              <a:rPr lang="en-US" sz="2000" dirty="0"/>
              <a:t> </a:t>
            </a:r>
            <a:r>
              <a:rPr lang="en-US" sz="2000" dirty="0" err="1"/>
              <a:t>une</a:t>
            </a:r>
            <a:r>
              <a:rPr lang="en-US" sz="2000" dirty="0"/>
              <a:t> </a:t>
            </a:r>
            <a:r>
              <a:rPr lang="en-US" sz="2000" b="1" dirty="0" err="1"/>
              <a:t>valeur</a:t>
            </a:r>
            <a:r>
              <a:rPr lang="en-US" sz="2000" b="1" dirty="0"/>
              <a:t> continue</a:t>
            </a:r>
            <a:r>
              <a:rPr lang="en-US" sz="2000" dirty="0"/>
              <a:t>.</a:t>
            </a:r>
          </a:p>
          <a:p>
            <a:pPr>
              <a:buFont typeface="Arial" panose="020B0604020202020204" pitchFamily="34" charset="0"/>
              <a:buChar char="•"/>
            </a:pPr>
            <a:r>
              <a:rPr lang="en-US" sz="2000" b="1" dirty="0"/>
              <a:t>Nature de la variable </a:t>
            </a:r>
            <a:r>
              <a:rPr lang="en-US" sz="2000" b="1" dirty="0" err="1"/>
              <a:t>cible</a:t>
            </a:r>
            <a:r>
              <a:rPr lang="en-US" sz="2000" dirty="0"/>
              <a:t> : Une variable numérique</a:t>
            </a:r>
          </a:p>
          <a:p>
            <a:pPr>
              <a:buFont typeface="Arial" panose="020B0604020202020204" pitchFamily="34" charset="0"/>
              <a:buChar char="•"/>
            </a:pPr>
            <a:r>
              <a:rPr lang="en-US" sz="2000" b="1" dirty="0" err="1"/>
              <a:t>Exemples</a:t>
            </a:r>
            <a:r>
              <a:rPr lang="en-US" sz="2000" dirty="0"/>
              <a:t> :</a:t>
            </a:r>
          </a:p>
          <a:p>
            <a:pPr marL="742950" lvl="1" indent="-285750">
              <a:buFont typeface="Arial" panose="020B0604020202020204" pitchFamily="34" charset="0"/>
              <a:buChar char="•"/>
            </a:pPr>
            <a:r>
              <a:rPr lang="en-US" sz="2000" dirty="0" err="1"/>
              <a:t>Prédire</a:t>
            </a:r>
            <a:r>
              <a:rPr lang="en-US" sz="2000" dirty="0"/>
              <a:t> le prix </a:t>
            </a:r>
            <a:r>
              <a:rPr lang="en-US" sz="2000" dirty="0" err="1"/>
              <a:t>d'une</a:t>
            </a:r>
            <a:r>
              <a:rPr lang="en-US" sz="2000" dirty="0"/>
              <a:t> </a:t>
            </a:r>
            <a:r>
              <a:rPr lang="en-US" sz="2000" dirty="0" err="1"/>
              <a:t>maison</a:t>
            </a:r>
            <a:r>
              <a:rPr lang="en-US" sz="2000" dirty="0"/>
              <a:t>.</a:t>
            </a:r>
          </a:p>
          <a:p>
            <a:pPr marL="742950" lvl="1" indent="-285750">
              <a:buFont typeface="Arial" panose="020B0604020202020204" pitchFamily="34" charset="0"/>
              <a:buChar char="•"/>
            </a:pPr>
            <a:r>
              <a:rPr lang="en-US" sz="2000" dirty="0" err="1"/>
              <a:t>Estimer</a:t>
            </a:r>
            <a:r>
              <a:rPr lang="en-US" sz="2000" dirty="0"/>
              <a:t> la </a:t>
            </a:r>
            <a:r>
              <a:rPr lang="en-US" sz="2000" dirty="0" err="1"/>
              <a:t>température</a:t>
            </a:r>
            <a:r>
              <a:rPr lang="en-US" sz="2000" dirty="0"/>
              <a:t> d'un lieu à </a:t>
            </a:r>
            <a:r>
              <a:rPr lang="en-US" sz="2000" dirty="0" err="1"/>
              <a:t>une</a:t>
            </a:r>
            <a:r>
              <a:rPr lang="en-US" sz="2000" dirty="0"/>
              <a:t> date donnée.</a:t>
            </a:r>
          </a:p>
          <a:p>
            <a:pPr marL="742950" lvl="1" indent="-285750">
              <a:buFont typeface="Arial" panose="020B0604020202020204" pitchFamily="34" charset="0"/>
              <a:buChar char="•"/>
            </a:pPr>
            <a:r>
              <a:rPr lang="en-US" sz="2000" dirty="0" err="1"/>
              <a:t>Calculer</a:t>
            </a:r>
            <a:r>
              <a:rPr lang="en-US" sz="2000" dirty="0"/>
              <a:t> le chiffre d'affaires </a:t>
            </a:r>
            <a:r>
              <a:rPr lang="en-US" sz="2000" dirty="0" err="1"/>
              <a:t>attendu</a:t>
            </a:r>
            <a:r>
              <a:rPr lang="en-US" sz="2000" dirty="0"/>
              <a:t> pour </a:t>
            </a:r>
            <a:r>
              <a:rPr lang="en-US" sz="2000" dirty="0" err="1"/>
              <a:t>une</a:t>
            </a:r>
            <a:r>
              <a:rPr lang="en-US" sz="2000" dirty="0"/>
              <a:t> </a:t>
            </a:r>
            <a:r>
              <a:rPr lang="en-US" sz="2000" dirty="0" err="1"/>
              <a:t>entreprise</a:t>
            </a:r>
            <a:r>
              <a:rPr lang="en-US" sz="2000" dirty="0"/>
              <a:t>.</a:t>
            </a:r>
          </a:p>
          <a:p>
            <a:pPr marL="285750" indent="-285750">
              <a:buFont typeface="Arial" panose="020B0604020202020204" pitchFamily="34" charset="0"/>
              <a:buChar char="•"/>
            </a:pPr>
            <a:r>
              <a:rPr lang="en-US" sz="2000" b="1" dirty="0"/>
              <a:t>Sortie de </a:t>
            </a:r>
            <a:r>
              <a:rPr lang="en-US" sz="2000" b="1" dirty="0" err="1"/>
              <a:t>l'algorithme</a:t>
            </a:r>
            <a:r>
              <a:rPr lang="en-US" sz="2000" dirty="0"/>
              <a:t> : Une </a:t>
            </a:r>
            <a:r>
              <a:rPr lang="en-US" sz="2000" b="1" dirty="0" err="1"/>
              <a:t>valeur</a:t>
            </a:r>
            <a:r>
              <a:rPr lang="en-US" sz="2000" b="1" dirty="0"/>
              <a:t> numérique</a:t>
            </a:r>
            <a:r>
              <a:rPr lang="en-US" sz="2000" dirty="0"/>
              <a:t>. Par </a:t>
            </a:r>
            <a:r>
              <a:rPr lang="en-US" sz="2000" dirty="0" err="1"/>
              <a:t>exemple</a:t>
            </a:r>
            <a:r>
              <a:rPr lang="en-US" sz="2000" dirty="0"/>
              <a:t>, </a:t>
            </a:r>
            <a:r>
              <a:rPr lang="en-US" sz="2000" dirty="0" err="1"/>
              <a:t>prédire</a:t>
            </a:r>
            <a:r>
              <a:rPr lang="en-US" sz="2000" dirty="0"/>
              <a:t> que le prix </a:t>
            </a:r>
            <a:r>
              <a:rPr lang="en-US" sz="2000" dirty="0" err="1"/>
              <a:t>d'une</a:t>
            </a:r>
            <a:r>
              <a:rPr lang="en-US" sz="2000" dirty="0"/>
              <a:t> </a:t>
            </a:r>
            <a:r>
              <a:rPr lang="en-US" sz="2000" dirty="0" err="1"/>
              <a:t>maison</a:t>
            </a:r>
            <a:r>
              <a:rPr lang="en-US" sz="2000" dirty="0"/>
              <a:t> </a:t>
            </a:r>
            <a:r>
              <a:rPr lang="en-US" sz="2000" dirty="0" err="1"/>
              <a:t>est</a:t>
            </a:r>
            <a:r>
              <a:rPr lang="en-US" sz="2000" dirty="0"/>
              <a:t> de 250 000 €.</a:t>
            </a:r>
          </a:p>
          <a:p>
            <a:endParaRPr lang="fr-FR" sz="2000" dirty="0"/>
          </a:p>
        </p:txBody>
      </p:sp>
      <p:sp>
        <p:nvSpPr>
          <p:cNvPr id="4" name="Slide Number Placeholder 3">
            <a:extLst>
              <a:ext uri="{FF2B5EF4-FFF2-40B4-BE49-F238E27FC236}">
                <a16:creationId xmlns="" xmlns:a16="http://schemas.microsoft.com/office/drawing/2014/main" id="{C7AF6725-425A-A2A8-19FD-6A80EB0A2E1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78</a:t>
            </a:fld>
            <a:endParaRPr lang="en"/>
          </a:p>
        </p:txBody>
      </p:sp>
    </p:spTree>
    <p:extLst>
      <p:ext uri="{BB962C8B-B14F-4D97-AF65-F5344CB8AC3E}">
        <p14:creationId xmlns="" xmlns:p14="http://schemas.microsoft.com/office/powerpoint/2010/main" val="23653463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764BABC-B2FF-4DCA-1285-B5B47159875D}"/>
              </a:ext>
            </a:extLst>
          </p:cNvPr>
          <p:cNvSpPr>
            <a:spLocks noGrp="1"/>
          </p:cNvSpPr>
          <p:nvPr>
            <p:ph type="title"/>
          </p:nvPr>
        </p:nvSpPr>
        <p:spPr/>
        <p:txBody>
          <a:bodyPr/>
          <a:lstStyle/>
          <a:p>
            <a:r>
              <a:rPr lang="fr-FR" dirty="0"/>
              <a:t>Classification</a:t>
            </a:r>
          </a:p>
        </p:txBody>
      </p:sp>
      <p:sp>
        <p:nvSpPr>
          <p:cNvPr id="3" name="Text Placeholder 2">
            <a:extLst>
              <a:ext uri="{FF2B5EF4-FFF2-40B4-BE49-F238E27FC236}">
                <a16:creationId xmlns="" xmlns:a16="http://schemas.microsoft.com/office/drawing/2014/main" id="{B4B599BD-33F0-A1CD-077E-0486A1E6ECFD}"/>
              </a:ext>
            </a:extLst>
          </p:cNvPr>
          <p:cNvSpPr>
            <a:spLocks noGrp="1"/>
          </p:cNvSpPr>
          <p:nvPr>
            <p:ph type="body" idx="1"/>
          </p:nvPr>
        </p:nvSpPr>
        <p:spPr>
          <a:xfrm>
            <a:off x="827584" y="1455684"/>
            <a:ext cx="7920880" cy="3204298"/>
          </a:xfrm>
        </p:spPr>
        <p:txBody>
          <a:bodyPr/>
          <a:lstStyle/>
          <a:p>
            <a:pPr>
              <a:buFont typeface="Arial" panose="020B0604020202020204" pitchFamily="34" charset="0"/>
              <a:buChar char="•"/>
            </a:pPr>
            <a:r>
              <a:rPr lang="en-US" sz="2000" b="1" dirty="0"/>
              <a:t>Objectif</a:t>
            </a:r>
            <a:r>
              <a:rPr lang="en-US" sz="2000" dirty="0"/>
              <a:t> : </a:t>
            </a:r>
            <a:r>
              <a:rPr lang="en-US" sz="2000" dirty="0" err="1"/>
              <a:t>Attribuer</a:t>
            </a:r>
            <a:r>
              <a:rPr lang="en-US" sz="2000" dirty="0"/>
              <a:t> </a:t>
            </a:r>
            <a:r>
              <a:rPr lang="en-US" sz="2000" dirty="0" err="1"/>
              <a:t>une</a:t>
            </a:r>
            <a:r>
              <a:rPr lang="en-US" sz="2000" dirty="0"/>
              <a:t> </a:t>
            </a:r>
            <a:r>
              <a:rPr lang="en-US" sz="2000" b="1" dirty="0" err="1"/>
              <a:t>catégorie</a:t>
            </a:r>
            <a:r>
              <a:rPr lang="en-US" sz="2000" dirty="0"/>
              <a:t> </a:t>
            </a:r>
            <a:r>
              <a:rPr lang="en-US" sz="2000" dirty="0" err="1"/>
              <a:t>ou</a:t>
            </a:r>
            <a:r>
              <a:rPr lang="en-US" sz="2000" dirty="0"/>
              <a:t> </a:t>
            </a:r>
            <a:r>
              <a:rPr lang="en-US" sz="2000" dirty="0" err="1"/>
              <a:t>une</a:t>
            </a:r>
            <a:r>
              <a:rPr lang="en-US" sz="2000" dirty="0"/>
              <a:t> </a:t>
            </a:r>
            <a:r>
              <a:rPr lang="en-US" sz="2000" b="1" dirty="0" err="1"/>
              <a:t>classe</a:t>
            </a:r>
            <a:r>
              <a:rPr lang="en-US" sz="2000" dirty="0"/>
              <a:t> à </a:t>
            </a:r>
            <a:r>
              <a:rPr lang="en-US" sz="2000" dirty="0" err="1"/>
              <a:t>une</a:t>
            </a:r>
            <a:r>
              <a:rPr lang="en-US" sz="2000" dirty="0"/>
              <a:t> observation.</a:t>
            </a:r>
          </a:p>
          <a:p>
            <a:pPr>
              <a:buFont typeface="Arial" panose="020B0604020202020204" pitchFamily="34" charset="0"/>
              <a:buChar char="•"/>
            </a:pPr>
            <a:r>
              <a:rPr lang="en-US" sz="2000" b="1" dirty="0"/>
              <a:t>Nature de la variable </a:t>
            </a:r>
            <a:r>
              <a:rPr lang="en-US" sz="2000" b="1" dirty="0" err="1"/>
              <a:t>cible</a:t>
            </a:r>
            <a:r>
              <a:rPr lang="en-US" sz="2000" dirty="0"/>
              <a:t> : Une variable </a:t>
            </a:r>
            <a:r>
              <a:rPr lang="en-US" sz="2000" dirty="0" err="1"/>
              <a:t>discrète</a:t>
            </a:r>
            <a:r>
              <a:rPr lang="en-US" sz="2000" dirty="0"/>
              <a:t> qui </a:t>
            </a:r>
            <a:r>
              <a:rPr lang="en-US" sz="2000" dirty="0" err="1"/>
              <a:t>représente</a:t>
            </a:r>
            <a:r>
              <a:rPr lang="en-US" sz="2000" dirty="0"/>
              <a:t> des classes </a:t>
            </a:r>
            <a:r>
              <a:rPr lang="en-US" sz="2000" dirty="0" err="1"/>
              <a:t>ou</a:t>
            </a:r>
            <a:r>
              <a:rPr lang="en-US" sz="2000" dirty="0"/>
              <a:t> des </a:t>
            </a:r>
            <a:r>
              <a:rPr lang="en-US" sz="2000" dirty="0" err="1"/>
              <a:t>catégories</a:t>
            </a:r>
            <a:r>
              <a:rPr lang="en-US" sz="2000" dirty="0"/>
              <a:t>.</a:t>
            </a:r>
          </a:p>
          <a:p>
            <a:pPr lvl="1">
              <a:buFont typeface="Arial" panose="020B0604020202020204" pitchFamily="34" charset="0"/>
              <a:buChar char="•"/>
            </a:pPr>
            <a:r>
              <a:rPr lang="en-US" sz="2000" b="1" dirty="0" err="1"/>
              <a:t>Exemples</a:t>
            </a:r>
            <a:r>
              <a:rPr lang="en-US" sz="2000" dirty="0"/>
              <a:t> :Identifier </a:t>
            </a:r>
            <a:r>
              <a:rPr lang="en-US" sz="2000" dirty="0" err="1"/>
              <a:t>si</a:t>
            </a:r>
            <a:r>
              <a:rPr lang="en-US" sz="2000" dirty="0"/>
              <a:t> un e-mail </a:t>
            </a:r>
            <a:r>
              <a:rPr lang="en-US" sz="2000" dirty="0" err="1"/>
              <a:t>est</a:t>
            </a:r>
            <a:r>
              <a:rPr lang="en-US" sz="2000" dirty="0"/>
              <a:t> "Spam" </a:t>
            </a:r>
            <a:r>
              <a:rPr lang="en-US" sz="2000" dirty="0" err="1"/>
              <a:t>ou</a:t>
            </a:r>
            <a:r>
              <a:rPr lang="en-US" sz="2000" dirty="0"/>
              <a:t> "Non Spam".</a:t>
            </a:r>
          </a:p>
          <a:p>
            <a:pPr lvl="1">
              <a:buFont typeface="Arial" panose="020B0604020202020204" pitchFamily="34" charset="0"/>
              <a:buChar char="•"/>
            </a:pPr>
            <a:r>
              <a:rPr lang="en-US" sz="2000" dirty="0"/>
              <a:t>Classifier des images </a:t>
            </a:r>
            <a:r>
              <a:rPr lang="en-US" sz="2000" dirty="0" err="1"/>
              <a:t>comme</a:t>
            </a:r>
            <a:r>
              <a:rPr lang="en-US" sz="2000" dirty="0"/>
              <a:t> "</a:t>
            </a:r>
            <a:r>
              <a:rPr lang="en-US" sz="2000" dirty="0" err="1"/>
              <a:t>chien</a:t>
            </a:r>
            <a:r>
              <a:rPr lang="en-US" sz="2000" dirty="0"/>
              <a:t>", "chat" </a:t>
            </a:r>
            <a:r>
              <a:rPr lang="en-US" sz="2000" dirty="0" err="1"/>
              <a:t>ou</a:t>
            </a:r>
            <a:r>
              <a:rPr lang="en-US" sz="2000" dirty="0"/>
              <a:t> "</a:t>
            </a:r>
            <a:r>
              <a:rPr lang="en-US" sz="2000" dirty="0" err="1"/>
              <a:t>oiseau</a:t>
            </a:r>
            <a:r>
              <a:rPr lang="en-US" sz="2000" dirty="0"/>
              <a:t>".</a:t>
            </a:r>
          </a:p>
          <a:p>
            <a:pPr lvl="1">
              <a:buFont typeface="Arial" panose="020B0604020202020204" pitchFamily="34" charset="0"/>
              <a:buChar char="•"/>
            </a:pPr>
            <a:r>
              <a:rPr lang="en-US" sz="2000" dirty="0" err="1"/>
              <a:t>Diagnostiquer</a:t>
            </a:r>
            <a:r>
              <a:rPr lang="en-US" sz="2000" dirty="0"/>
              <a:t> </a:t>
            </a:r>
            <a:r>
              <a:rPr lang="en-US" sz="2000" dirty="0" err="1"/>
              <a:t>une</a:t>
            </a:r>
            <a:r>
              <a:rPr lang="en-US" sz="2000" dirty="0"/>
              <a:t> </a:t>
            </a:r>
            <a:r>
              <a:rPr lang="en-US" sz="2000" dirty="0" err="1"/>
              <a:t>maladie</a:t>
            </a:r>
            <a:r>
              <a:rPr lang="en-US" sz="2000" dirty="0"/>
              <a:t> (</a:t>
            </a:r>
            <a:r>
              <a:rPr lang="en-US" sz="2000" dirty="0" err="1"/>
              <a:t>classe</a:t>
            </a:r>
            <a:r>
              <a:rPr lang="en-US" sz="2000" dirty="0"/>
              <a:t> "</a:t>
            </a:r>
            <a:r>
              <a:rPr lang="en-US" sz="2000" dirty="0" err="1"/>
              <a:t>sain</a:t>
            </a:r>
            <a:r>
              <a:rPr lang="en-US" sz="2000" dirty="0"/>
              <a:t>", "</a:t>
            </a:r>
            <a:r>
              <a:rPr lang="en-US" sz="2000" dirty="0" err="1"/>
              <a:t>malade</a:t>
            </a:r>
            <a:r>
              <a:rPr lang="en-US" sz="2000" dirty="0"/>
              <a:t>").</a:t>
            </a:r>
          </a:p>
          <a:p>
            <a:pPr>
              <a:buFont typeface="Arial" panose="020B0604020202020204" pitchFamily="34" charset="0"/>
              <a:buChar char="•"/>
            </a:pPr>
            <a:r>
              <a:rPr lang="en-US" sz="2000" b="1" dirty="0"/>
              <a:t>Sortie de </a:t>
            </a:r>
            <a:r>
              <a:rPr lang="en-US" sz="2000" b="1" dirty="0" err="1"/>
              <a:t>l'algorithme</a:t>
            </a:r>
            <a:r>
              <a:rPr lang="en-US" sz="2000" dirty="0"/>
              <a:t> : Une </a:t>
            </a:r>
            <a:r>
              <a:rPr lang="en-US" sz="2000" b="1" dirty="0" err="1"/>
              <a:t>classe</a:t>
            </a:r>
            <a:r>
              <a:rPr lang="en-US" sz="2000" dirty="0"/>
              <a:t> </a:t>
            </a:r>
            <a:r>
              <a:rPr lang="en-US" sz="2000" dirty="0" err="1"/>
              <a:t>ou</a:t>
            </a:r>
            <a:r>
              <a:rPr lang="en-US" sz="2000" dirty="0"/>
              <a:t> </a:t>
            </a:r>
            <a:r>
              <a:rPr lang="en-US" sz="2000" dirty="0" err="1"/>
              <a:t>une</a:t>
            </a:r>
            <a:r>
              <a:rPr lang="en-US" sz="2000" dirty="0"/>
              <a:t> </a:t>
            </a:r>
            <a:r>
              <a:rPr lang="en-US" sz="2000" b="1" dirty="0" err="1"/>
              <a:t>probabilité</a:t>
            </a:r>
            <a:r>
              <a:rPr lang="en-US" sz="2000" b="1" dirty="0"/>
              <a:t> </a:t>
            </a:r>
            <a:r>
              <a:rPr lang="en-US" sz="2000" b="1" dirty="0" err="1"/>
              <a:t>associée</a:t>
            </a:r>
            <a:r>
              <a:rPr lang="en-US" sz="2000" b="1" dirty="0"/>
              <a:t> aux classes</a:t>
            </a:r>
            <a:r>
              <a:rPr lang="en-US" sz="2000" dirty="0"/>
              <a:t>. Par </a:t>
            </a:r>
            <a:r>
              <a:rPr lang="en-US" sz="2000" dirty="0" err="1"/>
              <a:t>exemple</a:t>
            </a:r>
            <a:r>
              <a:rPr lang="en-US" sz="2000" dirty="0"/>
              <a:t>, </a:t>
            </a:r>
            <a:r>
              <a:rPr lang="en-US" sz="2000" dirty="0" err="1"/>
              <a:t>prédire</a:t>
            </a:r>
            <a:r>
              <a:rPr lang="en-US" sz="2000" dirty="0"/>
              <a:t> </a:t>
            </a:r>
            <a:r>
              <a:rPr lang="en-US" sz="2000" dirty="0" err="1"/>
              <a:t>qu'un</a:t>
            </a:r>
            <a:r>
              <a:rPr lang="en-US" sz="2000" dirty="0"/>
              <a:t> e-mail </a:t>
            </a:r>
            <a:r>
              <a:rPr lang="en-US" sz="2000" dirty="0" err="1"/>
              <a:t>est</a:t>
            </a:r>
            <a:r>
              <a:rPr lang="en-US" sz="2000" dirty="0"/>
              <a:t> "Spam" avec </a:t>
            </a:r>
            <a:r>
              <a:rPr lang="en-US" sz="2000" dirty="0" err="1"/>
              <a:t>une</a:t>
            </a:r>
            <a:r>
              <a:rPr lang="en-US" sz="2000" dirty="0"/>
              <a:t> </a:t>
            </a:r>
            <a:r>
              <a:rPr lang="en-US" sz="2000" dirty="0" err="1"/>
              <a:t>probabilité</a:t>
            </a:r>
            <a:r>
              <a:rPr lang="en-US" sz="2000" dirty="0"/>
              <a:t> de 80 %.</a:t>
            </a:r>
          </a:p>
        </p:txBody>
      </p:sp>
      <p:sp>
        <p:nvSpPr>
          <p:cNvPr id="4" name="Slide Number Placeholder 3">
            <a:extLst>
              <a:ext uri="{FF2B5EF4-FFF2-40B4-BE49-F238E27FC236}">
                <a16:creationId xmlns="" xmlns:a16="http://schemas.microsoft.com/office/drawing/2014/main" id="{46C6785D-C14A-EA53-44C0-AAD690436C7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79</a:t>
            </a:fld>
            <a:endParaRPr lang="en"/>
          </a:p>
        </p:txBody>
      </p:sp>
    </p:spTree>
    <p:extLst>
      <p:ext uri="{BB962C8B-B14F-4D97-AF65-F5344CB8AC3E}">
        <p14:creationId xmlns="" xmlns:p14="http://schemas.microsoft.com/office/powerpoint/2010/main" val="13127514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200" b="1" dirty="0"/>
              <a:t>K-NN: Définition</a:t>
            </a:r>
            <a:endParaRPr sz="3200" b="1" dirty="0"/>
          </a:p>
        </p:txBody>
      </p:sp>
      <p:sp>
        <p:nvSpPr>
          <p:cNvPr id="551" name="Google Shape;551;p18"/>
          <p:cNvSpPr txBox="1">
            <a:spLocks noGrp="1"/>
          </p:cNvSpPr>
          <p:nvPr>
            <p:ph type="body" idx="1"/>
          </p:nvPr>
        </p:nvSpPr>
        <p:spPr>
          <a:xfrm>
            <a:off x="1043608" y="1491630"/>
            <a:ext cx="7344816" cy="3456384"/>
          </a:xfrm>
          <a:prstGeom prst="rect">
            <a:avLst/>
          </a:prstGeom>
          <a:ln>
            <a:solidFill>
              <a:schemeClr val="bg1"/>
            </a:solidFill>
          </a:ln>
          <a:effectLst/>
        </p:spPr>
        <p:style>
          <a:lnRef idx="2">
            <a:schemeClr val="dk1"/>
          </a:lnRef>
          <a:fillRef idx="1">
            <a:schemeClr val="lt1"/>
          </a:fillRef>
          <a:effectRef idx="0">
            <a:schemeClr val="dk1"/>
          </a:effectRef>
          <a:fontRef idx="minor">
            <a:schemeClr val="dk1"/>
          </a:fontRef>
        </p:style>
        <p:txBody>
          <a:bodyPr spcFirstLastPara="1" wrap="square" lIns="0" tIns="0" rIns="0" bIns="0" anchor="ctr" anchorCtr="0">
            <a:noAutofit/>
          </a:bodyPr>
          <a:lstStyle/>
          <a:p>
            <a:pPr>
              <a:spcBef>
                <a:spcPts val="0"/>
              </a:spcBef>
              <a:buFont typeface="Wingdings" panose="05000000000000000000" pitchFamily="2" charset="2"/>
              <a:buChar char="§"/>
            </a:pPr>
            <a:r>
              <a:rPr lang="fr-FR" dirty="0"/>
              <a:t>L’algorithme K-NN figure parmi les plus simples algorithme d’apprentissage.</a:t>
            </a:r>
          </a:p>
          <a:p>
            <a:pPr>
              <a:spcBef>
                <a:spcPts val="0"/>
              </a:spcBef>
              <a:buFont typeface="Wingdings" panose="05000000000000000000" pitchFamily="2" charset="2"/>
              <a:buChar char="§"/>
            </a:pPr>
            <a:r>
              <a:rPr lang="fr-FR" b="1" u="sng" dirty="0">
                <a:effectLst>
                  <a:outerShdw blurRad="38100" dist="38100" dir="2700000" algn="tl">
                    <a:srgbClr val="000000">
                      <a:alpha val="43137"/>
                    </a:srgbClr>
                  </a:outerShdw>
                </a:effectLst>
              </a:rPr>
              <a:t>Objectif</a:t>
            </a:r>
            <a:r>
              <a:rPr lang="fr-FR" dirty="0"/>
              <a:t>: classer les exemples non étiquetés sur la base de leur </a:t>
            </a:r>
            <a:r>
              <a:rPr lang="fr-FR" b="1" dirty="0">
                <a:solidFill>
                  <a:schemeClr val="accent4"/>
                </a:solidFill>
              </a:rPr>
              <a:t>similarité</a:t>
            </a:r>
            <a:r>
              <a:rPr lang="fr-FR" dirty="0"/>
              <a:t> avec les exemples de la bases d’apprentissage.</a:t>
            </a:r>
          </a:p>
          <a:p>
            <a:pPr marL="76200" indent="0">
              <a:spcBef>
                <a:spcPts val="0"/>
              </a:spcBef>
              <a:buNone/>
            </a:pPr>
            <a:r>
              <a:rPr lang="fr-FR" dirty="0">
                <a:sym typeface="Wingdings" panose="05000000000000000000" pitchFamily="2" charset="2"/>
              </a:rPr>
              <a:t>      </a:t>
            </a:r>
            <a:r>
              <a:rPr lang="fr-FR" b="1" dirty="0">
                <a:solidFill>
                  <a:schemeClr val="accent4"/>
                </a:solidFill>
                <a:sym typeface="Wingdings" panose="05000000000000000000" pitchFamily="2" charset="2"/>
              </a:rPr>
              <a:t> </a:t>
            </a:r>
            <a:r>
              <a:rPr lang="fr-FR" dirty="0">
                <a:sym typeface="Wingdings" panose="05000000000000000000" pitchFamily="2" charset="2"/>
              </a:rPr>
              <a:t>K-NN est parfois </a:t>
            </a:r>
            <a:r>
              <a:rPr lang="fr-FR" dirty="0"/>
              <a:t>catégorise parfois dans le </a:t>
            </a:r>
            <a:r>
              <a:rPr lang="fr-FR" b="1" dirty="0" err="1"/>
              <a:t>Lazy</a:t>
            </a:r>
            <a:r>
              <a:rPr lang="fr-FR" dirty="0"/>
              <a:t> </a:t>
            </a:r>
          </a:p>
          <a:p>
            <a:pPr marL="76200" indent="0">
              <a:spcBef>
                <a:spcPts val="0"/>
              </a:spcBef>
              <a:buNone/>
            </a:pPr>
            <a:r>
              <a:rPr lang="fr-FR" dirty="0"/>
              <a:t>            </a:t>
            </a:r>
            <a:r>
              <a:rPr lang="fr-FR" b="1" dirty="0"/>
              <a:t>Learning</a:t>
            </a:r>
            <a:r>
              <a:rPr lang="fr-FR" i="1" dirty="0"/>
              <a:t>.</a:t>
            </a:r>
            <a:endParaRPr lang="fr-FR" b="1" dirty="0">
              <a:solidFill>
                <a:schemeClr val="accent4"/>
              </a:solidFill>
            </a:endParaRP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80</a:t>
            </a:fld>
            <a:endParaRPr/>
          </a:p>
        </p:txBody>
      </p:sp>
    </p:spTree>
    <p:extLst>
      <p:ext uri="{BB962C8B-B14F-4D97-AF65-F5344CB8AC3E}">
        <p14:creationId xmlns="" xmlns:p14="http://schemas.microsoft.com/office/powerpoint/2010/main" val="40245319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A2938A4-079E-4F5C-9754-5ACB0CFE14A4}"/>
              </a:ext>
            </a:extLst>
          </p:cNvPr>
          <p:cNvSpPr>
            <a:spLocks noGrp="1"/>
          </p:cNvSpPr>
          <p:nvPr>
            <p:ph type="title"/>
          </p:nvPr>
        </p:nvSpPr>
        <p:spPr/>
        <p:txBody>
          <a:bodyPr/>
          <a:lstStyle/>
          <a:p>
            <a:r>
              <a:rPr lang="en" sz="2800" b="1" dirty="0"/>
              <a:t>K-NN: Définition</a:t>
            </a:r>
            <a:endParaRPr lang="fr-FR" dirty="0"/>
          </a:p>
        </p:txBody>
      </p:sp>
      <p:sp>
        <p:nvSpPr>
          <p:cNvPr id="3" name="Espace réservé du texte 2">
            <a:extLst>
              <a:ext uri="{FF2B5EF4-FFF2-40B4-BE49-F238E27FC236}">
                <a16:creationId xmlns="" xmlns:a16="http://schemas.microsoft.com/office/drawing/2014/main" id="{57EFF35F-B31A-4A74-8D02-709084726A9F}"/>
              </a:ext>
            </a:extLst>
          </p:cNvPr>
          <p:cNvSpPr>
            <a:spLocks noGrp="1"/>
          </p:cNvSpPr>
          <p:nvPr>
            <p:ph type="body" idx="1"/>
          </p:nvPr>
        </p:nvSpPr>
        <p:spPr>
          <a:xfrm>
            <a:off x="1199775" y="1599700"/>
            <a:ext cx="3588250" cy="3348314"/>
          </a:xfrm>
        </p:spPr>
        <p:txBody>
          <a:bodyPr/>
          <a:lstStyle/>
          <a:p>
            <a:pPr>
              <a:buFont typeface="Wingdings" panose="05000000000000000000" pitchFamily="2" charset="2"/>
              <a:buChar char="§"/>
            </a:pPr>
            <a:r>
              <a:rPr lang="fr-FR" sz="2100" b="1" dirty="0">
                <a:solidFill>
                  <a:schemeClr val="accent4"/>
                </a:solidFill>
              </a:rPr>
              <a:t>¨K¨</a:t>
            </a:r>
            <a:r>
              <a:rPr lang="fr-FR" sz="2100" dirty="0"/>
              <a:t> représente le nombre d'éléments de l'ensemble de données qui sont considérés pour la classification. </a:t>
            </a:r>
          </a:p>
          <a:p>
            <a:pPr>
              <a:buFont typeface="Wingdings" panose="05000000000000000000" pitchFamily="2" charset="2"/>
              <a:buChar char="§"/>
            </a:pPr>
            <a:r>
              <a:rPr lang="fr-FR" altLang="fr-FR" sz="2100" b="1" dirty="0"/>
              <a:t>Exemple</a:t>
            </a:r>
            <a:r>
              <a:rPr lang="fr-FR" altLang="fr-FR" sz="2100" dirty="0"/>
              <a:t>: l'image montre la classification pour différentes valeurs k </a:t>
            </a:r>
          </a:p>
          <a:p>
            <a:pPr>
              <a:buFont typeface="Wingdings" panose="05000000000000000000" pitchFamily="2" charset="2"/>
              <a:buChar char="§"/>
            </a:pPr>
            <a:endParaRPr lang="fr-FR" sz="2100" dirty="0"/>
          </a:p>
          <a:p>
            <a:pPr>
              <a:buFont typeface="Wingdings" panose="05000000000000000000" pitchFamily="2" charset="2"/>
              <a:buChar char="§"/>
            </a:pPr>
            <a:endParaRPr lang="fr-FR" sz="2100" dirty="0"/>
          </a:p>
          <a:p>
            <a:pPr>
              <a:buFont typeface="Wingdings" panose="05000000000000000000" pitchFamily="2" charset="2"/>
              <a:buChar char="§"/>
            </a:pPr>
            <a:endParaRPr lang="fr-FR" sz="2100" dirty="0"/>
          </a:p>
          <a:p>
            <a:pPr>
              <a:buFont typeface="Wingdings" panose="05000000000000000000" pitchFamily="2" charset="2"/>
              <a:buChar char="§"/>
            </a:pPr>
            <a:endParaRPr lang="fr-FR" sz="2100" dirty="0"/>
          </a:p>
        </p:txBody>
      </p:sp>
      <p:sp>
        <p:nvSpPr>
          <p:cNvPr id="4" name="Espace réservé du numéro de diapositive 3">
            <a:extLst>
              <a:ext uri="{FF2B5EF4-FFF2-40B4-BE49-F238E27FC236}">
                <a16:creationId xmlns="" xmlns:a16="http://schemas.microsoft.com/office/drawing/2014/main" id="{AE8CBCBB-2084-4CA6-A5D0-3B965D8A0A1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81</a:t>
            </a:fld>
            <a:endParaRPr lang="fr-FR"/>
          </a:p>
        </p:txBody>
      </p:sp>
      <p:pic>
        <p:nvPicPr>
          <p:cNvPr id="7" name="Image 6">
            <a:extLst>
              <a:ext uri="{FF2B5EF4-FFF2-40B4-BE49-F238E27FC236}">
                <a16:creationId xmlns="" xmlns:a16="http://schemas.microsoft.com/office/drawing/2014/main" id="{A20525F5-FEC4-42DF-98A4-B5E34E8FC521}"/>
              </a:ext>
            </a:extLst>
          </p:cNvPr>
          <p:cNvPicPr>
            <a:picLocks noChangeAspect="1"/>
          </p:cNvPicPr>
          <p:nvPr/>
        </p:nvPicPr>
        <p:blipFill>
          <a:blip r:embed="rId3"/>
          <a:stretch>
            <a:fillRect/>
          </a:stretch>
        </p:blipFill>
        <p:spPr>
          <a:xfrm>
            <a:off x="5508104" y="1869073"/>
            <a:ext cx="2736304" cy="2502877"/>
          </a:xfrm>
          <a:prstGeom prst="rect">
            <a:avLst/>
          </a:prstGeom>
        </p:spPr>
      </p:pic>
    </p:spTree>
    <p:extLst>
      <p:ext uri="{BB962C8B-B14F-4D97-AF65-F5344CB8AC3E}">
        <p14:creationId xmlns="" xmlns:p14="http://schemas.microsoft.com/office/powerpoint/2010/main" val="33750041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9028EF8-64A6-4DCC-BDD5-3F39D1FAE581}"/>
              </a:ext>
            </a:extLst>
          </p:cNvPr>
          <p:cNvSpPr>
            <a:spLocks noGrp="1"/>
          </p:cNvSpPr>
          <p:nvPr>
            <p:ph type="title"/>
          </p:nvPr>
        </p:nvSpPr>
        <p:spPr/>
        <p:txBody>
          <a:bodyPr/>
          <a:lstStyle/>
          <a:p>
            <a:r>
              <a:rPr lang="fr-FR" sz="2800" b="1" dirty="0"/>
              <a:t>Comment K-NN effectue une prédiction ?</a:t>
            </a:r>
            <a:endParaRPr lang="fr-FR" dirty="0"/>
          </a:p>
        </p:txBody>
      </p:sp>
      <p:sp>
        <p:nvSpPr>
          <p:cNvPr id="3" name="Espace réservé du texte 2">
            <a:extLst>
              <a:ext uri="{FF2B5EF4-FFF2-40B4-BE49-F238E27FC236}">
                <a16:creationId xmlns="" xmlns:a16="http://schemas.microsoft.com/office/drawing/2014/main" id="{E9B75F26-0B4A-4A81-B733-BCE731A7AEC2}"/>
              </a:ext>
            </a:extLst>
          </p:cNvPr>
          <p:cNvSpPr>
            <a:spLocks noGrp="1"/>
          </p:cNvSpPr>
          <p:nvPr>
            <p:ph type="body" idx="1"/>
          </p:nvPr>
        </p:nvSpPr>
        <p:spPr>
          <a:xfrm>
            <a:off x="1199774" y="1599700"/>
            <a:ext cx="7116641" cy="2886000"/>
          </a:xfrm>
        </p:spPr>
        <p:txBody>
          <a:bodyPr/>
          <a:lstStyle/>
          <a:p>
            <a:pPr>
              <a:buFont typeface="Wingdings" panose="05000000000000000000" pitchFamily="2" charset="2"/>
              <a:buChar char="§"/>
            </a:pPr>
            <a:r>
              <a:rPr lang="fr-FR" sz="2200" dirty="0"/>
              <a:t>Si K-NN est utilisé pour la régression, c’est la </a:t>
            </a:r>
            <a:r>
              <a:rPr lang="fr-FR" sz="2200" dirty="0">
                <a:solidFill>
                  <a:schemeClr val="accent4"/>
                </a:solidFill>
              </a:rPr>
              <a:t>moyenne (ou la médiane) </a:t>
            </a:r>
            <a:r>
              <a:rPr lang="fr-FR" sz="2200" dirty="0"/>
              <a:t>des variables </a:t>
            </a:r>
            <a:r>
              <a:rPr lang="fr-FR" sz="2200" b="1" i="1" dirty="0">
                <a:solidFill>
                  <a:schemeClr val="accent1"/>
                </a:solidFill>
                <a:latin typeface="Palatino Linotype" panose="02040502050505030304" pitchFamily="18" charset="0"/>
                <a:cs typeface="Times New Roman" panose="02020603050405020304" pitchFamily="18" charset="0"/>
              </a:rPr>
              <a:t>y</a:t>
            </a:r>
            <a:r>
              <a:rPr lang="fr-FR" sz="2200" dirty="0"/>
              <a:t> des </a:t>
            </a:r>
            <a:r>
              <a:rPr lang="fr-FR" sz="2200" b="1" i="1" dirty="0">
                <a:solidFill>
                  <a:schemeClr val="accent1"/>
                </a:solidFill>
                <a:latin typeface="Palatino Linotype" panose="02040502050505030304" pitchFamily="18" charset="0"/>
              </a:rPr>
              <a:t>K</a:t>
            </a:r>
            <a:r>
              <a:rPr lang="fr-FR" sz="2200" dirty="0"/>
              <a:t> plus proches observations qui servira pour la prédiction. </a:t>
            </a:r>
          </a:p>
          <a:p>
            <a:pPr>
              <a:buFont typeface="Wingdings" panose="05000000000000000000" pitchFamily="2" charset="2"/>
              <a:buChar char="§"/>
            </a:pPr>
            <a:r>
              <a:rPr lang="fr-FR" sz="2200" dirty="0"/>
              <a:t>Si K-NN est utilisé pour la classification, c’est le </a:t>
            </a:r>
            <a:r>
              <a:rPr lang="fr-FR" sz="2200" dirty="0">
                <a:solidFill>
                  <a:schemeClr val="accent4"/>
                </a:solidFill>
              </a:rPr>
              <a:t>mode</a:t>
            </a:r>
            <a:r>
              <a:rPr lang="fr-FR" sz="2200" dirty="0"/>
              <a:t> des variables </a:t>
            </a:r>
            <a:r>
              <a:rPr lang="fr-FR" sz="2200" b="1" i="1" dirty="0">
                <a:solidFill>
                  <a:schemeClr val="accent1"/>
                </a:solidFill>
                <a:latin typeface="Palatino Linotype" panose="02040502050505030304" pitchFamily="18" charset="0"/>
                <a:cs typeface="Times New Roman" panose="02020603050405020304" pitchFamily="18" charset="0"/>
              </a:rPr>
              <a:t>y</a:t>
            </a:r>
            <a:r>
              <a:rPr lang="fr-FR" sz="2200" dirty="0"/>
              <a:t> des </a:t>
            </a:r>
            <a:r>
              <a:rPr lang="fr-FR" sz="2200" b="1" i="1" dirty="0">
                <a:solidFill>
                  <a:schemeClr val="accent1"/>
                </a:solidFill>
                <a:latin typeface="Palatino Linotype" panose="02040502050505030304" pitchFamily="18" charset="0"/>
              </a:rPr>
              <a:t>K </a:t>
            </a:r>
            <a:r>
              <a:rPr lang="fr-FR" sz="2200" dirty="0"/>
              <a:t>plus proches observations qui servira pour la prédiction. </a:t>
            </a:r>
          </a:p>
          <a:p>
            <a:pPr>
              <a:buFont typeface="Wingdings" panose="05000000000000000000" pitchFamily="2" charset="2"/>
              <a:buChar char="§"/>
            </a:pPr>
            <a:endParaRPr lang="fr-FR" sz="2200" dirty="0"/>
          </a:p>
          <a:p>
            <a:pPr>
              <a:buFont typeface="Wingdings" panose="05000000000000000000" pitchFamily="2" charset="2"/>
              <a:buChar char="§"/>
            </a:pPr>
            <a:endParaRPr lang="fr-FR" sz="2200" dirty="0"/>
          </a:p>
        </p:txBody>
      </p:sp>
      <p:sp>
        <p:nvSpPr>
          <p:cNvPr id="4" name="Espace réservé du numéro de diapositive 3">
            <a:extLst>
              <a:ext uri="{FF2B5EF4-FFF2-40B4-BE49-F238E27FC236}">
                <a16:creationId xmlns="" xmlns:a16="http://schemas.microsoft.com/office/drawing/2014/main" id="{DF48A964-C876-4511-B769-A17BC72BC21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82</a:t>
            </a:fld>
            <a:endParaRPr lang="fr-FR"/>
          </a:p>
        </p:txBody>
      </p:sp>
      <p:sp>
        <p:nvSpPr>
          <p:cNvPr id="6" name="AutoShape 2" descr="y">
            <a:extLst>
              <a:ext uri="{FF2B5EF4-FFF2-40B4-BE49-F238E27FC236}">
                <a16:creationId xmlns="" xmlns:a16="http://schemas.microsoft.com/office/drawing/2014/main" id="{00877846-4658-4B0B-BE41-A14F5E6F933D}"/>
              </a:ext>
            </a:extLst>
          </p:cNvPr>
          <p:cNvSpPr>
            <a:spLocks noChangeAspect="1" noChangeArrowheads="1"/>
          </p:cNvSpPr>
          <p:nvPr/>
        </p:nvSpPr>
        <p:spPr bwMode="auto">
          <a:xfrm>
            <a:off x="8905875" y="-274638"/>
            <a:ext cx="8572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 name="AutoShape 3" descr="K">
            <a:extLst>
              <a:ext uri="{FF2B5EF4-FFF2-40B4-BE49-F238E27FC236}">
                <a16:creationId xmlns="" xmlns:a16="http://schemas.microsoft.com/office/drawing/2014/main" id="{B4B6921A-068F-4CA0-98C5-99068D390FAF}"/>
              </a:ext>
            </a:extLst>
          </p:cNvPr>
          <p:cNvSpPr>
            <a:spLocks noChangeAspect="1" noChangeArrowheads="1"/>
          </p:cNvSpPr>
          <p:nvPr/>
        </p:nvSpPr>
        <p:spPr bwMode="auto">
          <a:xfrm>
            <a:off x="9629775" y="-274638"/>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8" name="AutoShape 4" descr="y">
            <a:extLst>
              <a:ext uri="{FF2B5EF4-FFF2-40B4-BE49-F238E27FC236}">
                <a16:creationId xmlns="" xmlns:a16="http://schemas.microsoft.com/office/drawing/2014/main" id="{3F7EB224-1BD9-4A63-8537-C36F247351F3}"/>
              </a:ext>
            </a:extLst>
          </p:cNvPr>
          <p:cNvSpPr>
            <a:spLocks noChangeAspect="1" noChangeArrowheads="1"/>
          </p:cNvSpPr>
          <p:nvPr/>
        </p:nvSpPr>
        <p:spPr bwMode="auto">
          <a:xfrm>
            <a:off x="7115175" y="0"/>
            <a:ext cx="8572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9" name="AutoShape 5" descr="K">
            <a:extLst>
              <a:ext uri="{FF2B5EF4-FFF2-40B4-BE49-F238E27FC236}">
                <a16:creationId xmlns="" xmlns:a16="http://schemas.microsoft.com/office/drawing/2014/main" id="{8497468E-34CD-478C-9884-81D7DCF62B69}"/>
              </a:ext>
            </a:extLst>
          </p:cNvPr>
          <p:cNvSpPr>
            <a:spLocks noChangeAspect="1" noChangeArrowheads="1"/>
          </p:cNvSpPr>
          <p:nvPr/>
        </p:nvSpPr>
        <p:spPr bwMode="auto">
          <a:xfrm>
            <a:off x="7839075" y="0"/>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 xmlns:p14="http://schemas.microsoft.com/office/powerpoint/2010/main" val="4131154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E43606F-74EF-4E31-B05A-059626B830B9}"/>
              </a:ext>
            </a:extLst>
          </p:cNvPr>
          <p:cNvSpPr>
            <a:spLocks noGrp="1"/>
          </p:cNvSpPr>
          <p:nvPr>
            <p:ph type="title"/>
          </p:nvPr>
        </p:nvSpPr>
        <p:spPr/>
        <p:txBody>
          <a:bodyPr/>
          <a:lstStyle/>
          <a:p>
            <a:r>
              <a:rPr lang="fr-FR" b="1" dirty="0"/>
              <a:t>Ecriture algorithmique</a:t>
            </a:r>
          </a:p>
        </p:txBody>
      </p:sp>
      <p:sp>
        <p:nvSpPr>
          <p:cNvPr id="3" name="Espace réservé du texte 2">
            <a:extLst>
              <a:ext uri="{FF2B5EF4-FFF2-40B4-BE49-F238E27FC236}">
                <a16:creationId xmlns="" xmlns:a16="http://schemas.microsoft.com/office/drawing/2014/main" id="{60E1CD66-9F69-433A-B53E-503A4138E0EE}"/>
              </a:ext>
            </a:extLst>
          </p:cNvPr>
          <p:cNvSpPr>
            <a:spLocks noGrp="1"/>
          </p:cNvSpPr>
          <p:nvPr>
            <p:ph type="body" idx="1"/>
          </p:nvPr>
        </p:nvSpPr>
        <p:spPr>
          <a:xfrm>
            <a:off x="1043608" y="1599700"/>
            <a:ext cx="7460645" cy="2886000"/>
          </a:xfrm>
        </p:spPr>
        <p:txBody>
          <a:bodyPr/>
          <a:lstStyle/>
          <a:p>
            <a:pPr marL="0" marR="0" lvl="0" indent="0" algn="l" defTabSz="914400" rtl="0" eaLnBrk="0" fontAlgn="base" latinLnBrk="0" hangingPunct="0">
              <a:lnSpc>
                <a:spcPct val="100000"/>
              </a:lnSpc>
              <a:spcBef>
                <a:spcPct val="0"/>
              </a:spcBef>
              <a:spcAft>
                <a:spcPct val="0"/>
              </a:spcAft>
              <a:buSzTx/>
              <a:buNone/>
              <a:tabLst/>
            </a:pPr>
            <a:r>
              <a:rPr kumimoji="0" lang="fr-FR" altLang="fr-FR" sz="2000" b="1" i="0" u="none" strike="noStrike" cap="none" normalizeH="0" baseline="0" dirty="0">
                <a:ln>
                  <a:noFill/>
                </a:ln>
                <a:solidFill>
                  <a:schemeClr val="accent6">
                    <a:lumMod val="75000"/>
                  </a:schemeClr>
                </a:solidFill>
                <a:effectLst/>
                <a:latin typeface="Palatino Linotype" panose="02040502050505030304" pitchFamily="18" charset="0"/>
              </a:rPr>
              <a:t>Début Algorithme</a:t>
            </a:r>
          </a:p>
          <a:p>
            <a:pPr marL="0" marR="0" lvl="0" indent="0" algn="l" defTabSz="914400" rtl="0" eaLnBrk="0" fontAlgn="base" latinLnBrk="0" hangingPunct="0">
              <a:lnSpc>
                <a:spcPct val="100000"/>
              </a:lnSpc>
              <a:spcBef>
                <a:spcPct val="0"/>
              </a:spcBef>
              <a:spcAft>
                <a:spcPct val="0"/>
              </a:spcAft>
              <a:buSzTx/>
              <a:buNone/>
              <a:tabLst/>
            </a:pPr>
            <a:endParaRPr kumimoji="0" lang="fr-FR" altLang="fr-FR" sz="2000" b="0" i="0" u="none" strike="noStrike" cap="none" normalizeH="0" baseline="0" dirty="0">
              <a:ln>
                <a:noFill/>
              </a:ln>
              <a:solidFill>
                <a:schemeClr val="tx1"/>
              </a:solidFill>
              <a:effectLst/>
              <a:latin typeface="Palatino Linotype" panose="02040502050505030304" pitchFamily="18" charset="0"/>
            </a:endParaRPr>
          </a:p>
          <a:p>
            <a:pPr marL="0" marR="0" lvl="0" indent="0" algn="l" defTabSz="914400" rtl="0" eaLnBrk="0" fontAlgn="base" latinLnBrk="0" hangingPunct="0">
              <a:lnSpc>
                <a:spcPct val="100000"/>
              </a:lnSpc>
              <a:spcBef>
                <a:spcPct val="0"/>
              </a:spcBef>
              <a:spcAft>
                <a:spcPct val="0"/>
              </a:spcAft>
              <a:buSzTx/>
              <a:buNone/>
              <a:tabLst/>
            </a:pPr>
            <a:r>
              <a:rPr kumimoji="0" lang="fr-FR" altLang="fr-FR" sz="2000" b="0" i="0" u="none" strike="noStrike" cap="none" normalizeH="0" baseline="0" dirty="0">
                <a:ln>
                  <a:noFill/>
                </a:ln>
                <a:solidFill>
                  <a:schemeClr val="tx1"/>
                </a:solidFill>
                <a:effectLst/>
                <a:latin typeface="Palatino Linotype" panose="02040502050505030304" pitchFamily="18" charset="0"/>
              </a:rPr>
              <a:t>Données en entrée :</a:t>
            </a:r>
          </a:p>
          <a:p>
            <a:pPr marL="742950" lvl="1" indent="-285750" eaLnBrk="0" fontAlgn="base" hangingPunct="0">
              <a:lnSpc>
                <a:spcPct val="100000"/>
              </a:lnSpc>
              <a:spcBef>
                <a:spcPct val="0"/>
              </a:spcBef>
              <a:spcAft>
                <a:spcPct val="0"/>
              </a:spcAft>
              <a:buSzTx/>
              <a:buFont typeface="Wingdings" panose="05000000000000000000" pitchFamily="2" charset="2"/>
              <a:buChar char="§"/>
            </a:pPr>
            <a:r>
              <a:rPr kumimoji="0" lang="fr-FR" altLang="fr-FR" sz="2000" b="0" i="0" u="none" strike="noStrike" cap="none" normalizeH="0" baseline="0" dirty="0">
                <a:ln>
                  <a:noFill/>
                </a:ln>
                <a:solidFill>
                  <a:schemeClr val="tx1"/>
                </a:solidFill>
                <a:effectLst/>
                <a:latin typeface="Palatino Linotype" panose="02040502050505030304" pitchFamily="18" charset="0"/>
              </a:rPr>
              <a:t>un ensemble de données </a:t>
            </a:r>
            <a:r>
              <a:rPr kumimoji="0" lang="fr-FR" altLang="fr-FR" sz="2000" b="1" i="1" u="none" strike="noStrike" cap="none" normalizeH="0" baseline="0" dirty="0">
                <a:ln>
                  <a:noFill/>
                </a:ln>
                <a:solidFill>
                  <a:schemeClr val="accent4"/>
                </a:solidFill>
                <a:effectLst/>
                <a:latin typeface="Palatino Linotype" panose="02040502050505030304" pitchFamily="18" charset="0"/>
              </a:rPr>
              <a:t>D</a:t>
            </a:r>
            <a:r>
              <a:rPr kumimoji="0" lang="fr-FR" altLang="fr-FR" sz="2000" b="0" i="0" u="none" strike="noStrike" cap="none" normalizeH="0" baseline="0" dirty="0">
                <a:ln>
                  <a:noFill/>
                </a:ln>
                <a:solidFill>
                  <a:schemeClr val="tx1"/>
                </a:solidFill>
                <a:effectLst/>
                <a:latin typeface="Palatino Linotype" panose="02040502050505030304" pitchFamily="18" charset="0"/>
              </a:rPr>
              <a:t>. </a:t>
            </a:r>
          </a:p>
          <a:p>
            <a:pPr marL="742950" lvl="1" indent="-285750" eaLnBrk="0" fontAlgn="base" hangingPunct="0">
              <a:lnSpc>
                <a:spcPct val="100000"/>
              </a:lnSpc>
              <a:spcBef>
                <a:spcPct val="0"/>
              </a:spcBef>
              <a:spcAft>
                <a:spcPct val="0"/>
              </a:spcAft>
              <a:buSzTx/>
              <a:buFont typeface="Wingdings" panose="05000000000000000000" pitchFamily="2" charset="2"/>
              <a:buChar char="§"/>
            </a:pPr>
            <a:r>
              <a:rPr kumimoji="0" lang="fr-FR" altLang="fr-FR" sz="2000" b="0" i="0" u="none" strike="noStrike" cap="none" normalizeH="0" baseline="0" dirty="0">
                <a:ln>
                  <a:noFill/>
                </a:ln>
                <a:solidFill>
                  <a:schemeClr val="tx1"/>
                </a:solidFill>
                <a:effectLst/>
                <a:latin typeface="Palatino Linotype" panose="02040502050505030304" pitchFamily="18" charset="0"/>
              </a:rPr>
              <a:t>une fonction de définition distance </a:t>
            </a:r>
            <a:r>
              <a:rPr lang="fr-FR" altLang="fr-FR" sz="2000" b="1" i="1" dirty="0">
                <a:solidFill>
                  <a:schemeClr val="accent4"/>
                </a:solidFill>
                <a:latin typeface="Palatino Linotype" panose="02040502050505030304" pitchFamily="18" charset="0"/>
              </a:rPr>
              <a:t>d</a:t>
            </a:r>
            <a:r>
              <a:rPr kumimoji="0" lang="fr-FR" altLang="fr-FR" sz="2000" b="0" i="0" u="none" strike="noStrike" cap="none" normalizeH="0" baseline="0" dirty="0">
                <a:ln>
                  <a:noFill/>
                </a:ln>
                <a:solidFill>
                  <a:schemeClr val="tx1"/>
                </a:solidFill>
                <a:effectLst/>
                <a:latin typeface="Palatino Linotype" panose="02040502050505030304" pitchFamily="18" charset="0"/>
              </a:rPr>
              <a:t>. </a:t>
            </a:r>
          </a:p>
          <a:p>
            <a:pPr marL="742950" lvl="1" indent="-285750" eaLnBrk="0" fontAlgn="base" hangingPunct="0">
              <a:lnSpc>
                <a:spcPct val="100000"/>
              </a:lnSpc>
              <a:spcBef>
                <a:spcPct val="0"/>
              </a:spcBef>
              <a:spcAft>
                <a:spcPct val="0"/>
              </a:spcAft>
              <a:buSzTx/>
              <a:buFont typeface="Wingdings" panose="05000000000000000000" pitchFamily="2" charset="2"/>
              <a:buChar char="§"/>
            </a:pPr>
            <a:r>
              <a:rPr kumimoji="0" lang="fr-FR" altLang="fr-FR" sz="2000" b="0" i="0" u="none" strike="noStrike" cap="none" normalizeH="0" baseline="0" dirty="0">
                <a:ln>
                  <a:noFill/>
                </a:ln>
                <a:solidFill>
                  <a:schemeClr val="tx1"/>
                </a:solidFill>
                <a:effectLst/>
                <a:latin typeface="Palatino Linotype" panose="02040502050505030304" pitchFamily="18" charset="0"/>
              </a:rPr>
              <a:t>Un nombre entier </a:t>
            </a:r>
            <a:r>
              <a:rPr lang="fr-FR" altLang="fr-FR" sz="2000" b="1" i="1" dirty="0">
                <a:solidFill>
                  <a:schemeClr val="accent4"/>
                </a:solidFill>
                <a:latin typeface="Palatino Linotype" panose="02040502050505030304" pitchFamily="18" charset="0"/>
              </a:rPr>
              <a:t>K.</a:t>
            </a:r>
            <a:r>
              <a:rPr kumimoji="0" lang="fr-FR" altLang="fr-FR" sz="2000" b="0" i="0" u="none" strike="noStrike" cap="none" normalizeH="0" baseline="0" dirty="0">
                <a:ln>
                  <a:noFill/>
                </a:ln>
                <a:solidFill>
                  <a:schemeClr val="tx1"/>
                </a:solidFill>
                <a:effectLst/>
                <a:latin typeface="Palatino Linotype" panose="02040502050505030304" pitchFamily="18" charset="0"/>
              </a:rPr>
              <a:t>    </a:t>
            </a:r>
          </a:p>
          <a:p>
            <a:pPr marL="285750" marR="0" lvl="0" indent="-285750" algn="l" defTabSz="914400" rtl="0" eaLnBrk="0" fontAlgn="base" latinLnBrk="0" hangingPunct="0">
              <a:lnSpc>
                <a:spcPct val="100000"/>
              </a:lnSpc>
              <a:spcBef>
                <a:spcPct val="0"/>
              </a:spcBef>
              <a:spcAft>
                <a:spcPct val="0"/>
              </a:spcAft>
              <a:buSzTx/>
              <a:buFont typeface="Wingdings" panose="05000000000000000000" pitchFamily="2" charset="2"/>
              <a:buChar char="§"/>
              <a:tabLst/>
            </a:pPr>
            <a:endParaRPr lang="fr-FR" altLang="fr-FR" sz="2000" dirty="0">
              <a:solidFill>
                <a:schemeClr val="tx1"/>
              </a:solidFill>
              <a:latin typeface="Palatino Linotype" panose="02040502050505030304" pitchFamily="18" charset="0"/>
            </a:endParaRPr>
          </a:p>
          <a:p>
            <a:pPr marL="0" indent="0" eaLnBrk="0" fontAlgn="base" hangingPunct="0">
              <a:lnSpc>
                <a:spcPct val="100000"/>
              </a:lnSpc>
              <a:spcBef>
                <a:spcPct val="0"/>
              </a:spcBef>
              <a:spcAft>
                <a:spcPct val="0"/>
              </a:spcAft>
              <a:buSzTx/>
              <a:buNone/>
            </a:pPr>
            <a:r>
              <a:rPr kumimoji="0" lang="fr-FR" altLang="fr-FR" sz="2000" b="0" i="0" u="none" strike="noStrike" cap="none" normalizeH="0" baseline="0" dirty="0">
                <a:ln>
                  <a:noFill/>
                </a:ln>
                <a:solidFill>
                  <a:schemeClr val="tx1"/>
                </a:solidFill>
                <a:effectLst/>
                <a:latin typeface="Palatino Linotype" panose="02040502050505030304" pitchFamily="18" charset="0"/>
              </a:rPr>
              <a:t>Pour une nouvelle observation </a:t>
            </a:r>
            <a:r>
              <a:rPr lang="fr-FR" altLang="fr-FR" sz="2000" b="1" i="1" dirty="0">
                <a:solidFill>
                  <a:schemeClr val="accent4"/>
                </a:solidFill>
                <a:latin typeface="Palatino Linotype" panose="02040502050505030304" pitchFamily="18" charset="0"/>
              </a:rPr>
              <a:t>X </a:t>
            </a:r>
            <a:r>
              <a:rPr kumimoji="0" lang="fr-FR" altLang="fr-FR" sz="2000" b="0" i="0" u="none" strike="noStrike" cap="none" normalizeH="0" baseline="0" dirty="0">
                <a:ln>
                  <a:noFill/>
                </a:ln>
                <a:solidFill>
                  <a:schemeClr val="tx1"/>
                </a:solidFill>
                <a:effectLst/>
                <a:latin typeface="Palatino Linotype" panose="02040502050505030304" pitchFamily="18" charset="0"/>
              </a:rPr>
              <a:t>dont on veut prédire sa variable de sortie </a:t>
            </a:r>
            <a:r>
              <a:rPr lang="fr-FR" altLang="fr-FR" sz="2000" b="1" i="1" dirty="0">
                <a:solidFill>
                  <a:schemeClr val="accent4"/>
                </a:solidFill>
                <a:latin typeface="Palatino Linotype" panose="02040502050505030304" pitchFamily="18" charset="0"/>
              </a:rPr>
              <a:t>y </a:t>
            </a:r>
            <a:r>
              <a:rPr kumimoji="0" lang="fr-FR" altLang="fr-FR" sz="2000" b="0" i="0" u="none" strike="noStrike" cap="none" normalizeH="0" baseline="0" dirty="0">
                <a:ln>
                  <a:noFill/>
                </a:ln>
                <a:solidFill>
                  <a:schemeClr val="tx1"/>
                </a:solidFill>
                <a:effectLst/>
                <a:latin typeface="Palatino Linotype" panose="02040502050505030304" pitchFamily="18" charset="0"/>
              </a:rPr>
              <a:t>Faire :</a:t>
            </a:r>
          </a:p>
          <a:p>
            <a:pPr marL="0" marR="0" lvl="0" indent="0" algn="l" defTabSz="914400" rtl="0" eaLnBrk="0" fontAlgn="base" latinLnBrk="0" hangingPunct="0">
              <a:lnSpc>
                <a:spcPct val="100000"/>
              </a:lnSpc>
              <a:spcBef>
                <a:spcPct val="0"/>
              </a:spcBef>
              <a:spcAft>
                <a:spcPct val="0"/>
              </a:spcAft>
              <a:buSzTx/>
              <a:buNone/>
              <a:tabLst/>
            </a:pPr>
            <a:r>
              <a:rPr kumimoji="0" lang="fr-FR" altLang="fr-FR" sz="2000" b="0" i="0" u="none" strike="noStrike" cap="none" normalizeH="0" baseline="0" dirty="0">
                <a:ln>
                  <a:noFill/>
                </a:ln>
                <a:solidFill>
                  <a:schemeClr val="tx1"/>
                </a:solidFill>
                <a:effectLst/>
                <a:latin typeface="Palatino Linotype" panose="02040502050505030304" pitchFamily="18" charset="0"/>
              </a:rPr>
              <a:t>    </a:t>
            </a:r>
          </a:p>
          <a:p>
            <a:pPr>
              <a:buFont typeface="Wingdings" panose="05000000000000000000" pitchFamily="2" charset="2"/>
              <a:buChar char="§"/>
            </a:pPr>
            <a:endParaRPr lang="fr-FR" sz="2000" dirty="0">
              <a:latin typeface="Palatino Linotype" panose="02040502050505030304" pitchFamily="18" charset="0"/>
            </a:endParaRPr>
          </a:p>
        </p:txBody>
      </p:sp>
      <p:sp>
        <p:nvSpPr>
          <p:cNvPr id="4" name="Espace réservé du numéro de diapositive 3">
            <a:extLst>
              <a:ext uri="{FF2B5EF4-FFF2-40B4-BE49-F238E27FC236}">
                <a16:creationId xmlns="" xmlns:a16="http://schemas.microsoft.com/office/drawing/2014/main" id="{52F82C8C-363A-42D0-9CD5-E5A36DE6ABE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83</a:t>
            </a:fld>
            <a:endParaRPr lang="fr-FR"/>
          </a:p>
        </p:txBody>
      </p:sp>
      <p:sp>
        <p:nvSpPr>
          <p:cNvPr id="6" name="AutoShape 2" descr="D">
            <a:extLst>
              <a:ext uri="{FF2B5EF4-FFF2-40B4-BE49-F238E27FC236}">
                <a16:creationId xmlns="" xmlns:a16="http://schemas.microsoft.com/office/drawing/2014/main" id="{0B5D0F1E-F789-4EEC-BDCE-AD13D651A377}"/>
              </a:ext>
            </a:extLst>
          </p:cNvPr>
          <p:cNvSpPr>
            <a:spLocks noChangeAspect="1" noChangeArrowheads="1"/>
          </p:cNvSpPr>
          <p:nvPr/>
        </p:nvSpPr>
        <p:spPr bwMode="auto">
          <a:xfrm>
            <a:off x="2835275" y="-1371600"/>
            <a:ext cx="14287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 name="AutoShape 3" descr="d">
            <a:extLst>
              <a:ext uri="{FF2B5EF4-FFF2-40B4-BE49-F238E27FC236}">
                <a16:creationId xmlns="" xmlns:a16="http://schemas.microsoft.com/office/drawing/2014/main" id="{0C5AE997-8AE5-4FF4-85AB-4C2BD33506D9}"/>
              </a:ext>
            </a:extLst>
          </p:cNvPr>
          <p:cNvSpPr>
            <a:spLocks noChangeAspect="1" noChangeArrowheads="1"/>
          </p:cNvSpPr>
          <p:nvPr/>
        </p:nvSpPr>
        <p:spPr bwMode="auto">
          <a:xfrm>
            <a:off x="3724275" y="-1096963"/>
            <a:ext cx="95250" cy="123825"/>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8" name="AutoShape 4" descr="K">
            <a:extLst>
              <a:ext uri="{FF2B5EF4-FFF2-40B4-BE49-F238E27FC236}">
                <a16:creationId xmlns="" xmlns:a16="http://schemas.microsoft.com/office/drawing/2014/main" id="{7C069299-F5A6-491A-A92A-BD5A226BA007}"/>
              </a:ext>
            </a:extLst>
          </p:cNvPr>
          <p:cNvSpPr>
            <a:spLocks noChangeAspect="1" noChangeArrowheads="1"/>
          </p:cNvSpPr>
          <p:nvPr/>
        </p:nvSpPr>
        <p:spPr bwMode="auto">
          <a:xfrm>
            <a:off x="2035175" y="-822325"/>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9" name="AutoShape 5" descr="X">
            <a:extLst>
              <a:ext uri="{FF2B5EF4-FFF2-40B4-BE49-F238E27FC236}">
                <a16:creationId xmlns="" xmlns:a16="http://schemas.microsoft.com/office/drawing/2014/main" id="{5739F762-927B-4B8F-94F7-C57D2BA94C8B}"/>
              </a:ext>
            </a:extLst>
          </p:cNvPr>
          <p:cNvSpPr>
            <a:spLocks noChangeAspect="1" noChangeArrowheads="1"/>
          </p:cNvSpPr>
          <p:nvPr/>
        </p:nvSpPr>
        <p:spPr bwMode="auto">
          <a:xfrm>
            <a:off x="3276600" y="-549275"/>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0" name="AutoShape 6" descr="y">
            <a:extLst>
              <a:ext uri="{FF2B5EF4-FFF2-40B4-BE49-F238E27FC236}">
                <a16:creationId xmlns="" xmlns:a16="http://schemas.microsoft.com/office/drawing/2014/main" id="{9C348081-413B-422A-9DBE-254240D8B937}"/>
              </a:ext>
            </a:extLst>
          </p:cNvPr>
          <p:cNvSpPr>
            <a:spLocks noChangeAspect="1" noChangeArrowheads="1"/>
          </p:cNvSpPr>
          <p:nvPr/>
        </p:nvSpPr>
        <p:spPr bwMode="auto">
          <a:xfrm>
            <a:off x="7823200" y="-549275"/>
            <a:ext cx="8572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1" name="AutoShape 7" descr="X">
            <a:extLst>
              <a:ext uri="{FF2B5EF4-FFF2-40B4-BE49-F238E27FC236}">
                <a16:creationId xmlns="" xmlns:a16="http://schemas.microsoft.com/office/drawing/2014/main" id="{B34869D0-D023-43AD-92EC-DB8466EED915}"/>
              </a:ext>
            </a:extLst>
          </p:cNvPr>
          <p:cNvSpPr>
            <a:spLocks noChangeAspect="1" noChangeArrowheads="1"/>
          </p:cNvSpPr>
          <p:nvPr/>
        </p:nvSpPr>
        <p:spPr bwMode="auto">
          <a:xfrm>
            <a:off x="5410200" y="-274638"/>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2" name="AutoShape 8" descr="D">
            <a:extLst>
              <a:ext uri="{FF2B5EF4-FFF2-40B4-BE49-F238E27FC236}">
                <a16:creationId xmlns="" xmlns:a16="http://schemas.microsoft.com/office/drawing/2014/main" id="{C178870F-E964-4554-8D8F-DCE053A73542}"/>
              </a:ext>
            </a:extLst>
          </p:cNvPr>
          <p:cNvSpPr>
            <a:spLocks noChangeAspect="1" noChangeArrowheads="1"/>
          </p:cNvSpPr>
          <p:nvPr/>
        </p:nvSpPr>
        <p:spPr bwMode="auto">
          <a:xfrm>
            <a:off x="10655300" y="-274638"/>
            <a:ext cx="14287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3" name="AutoShape 9" descr="K">
            <a:extLst>
              <a:ext uri="{FF2B5EF4-FFF2-40B4-BE49-F238E27FC236}">
                <a16:creationId xmlns="" xmlns:a16="http://schemas.microsoft.com/office/drawing/2014/main" id="{0C8E7D2C-74D2-4D5C-989B-B1C78FB78AF0}"/>
              </a:ext>
            </a:extLst>
          </p:cNvPr>
          <p:cNvSpPr>
            <a:spLocks noChangeAspect="1" noChangeArrowheads="1"/>
          </p:cNvSpPr>
          <p:nvPr/>
        </p:nvSpPr>
        <p:spPr bwMode="auto">
          <a:xfrm>
            <a:off x="1473200" y="0"/>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4" name="AutoShape 10" descr="D">
            <a:extLst>
              <a:ext uri="{FF2B5EF4-FFF2-40B4-BE49-F238E27FC236}">
                <a16:creationId xmlns="" xmlns:a16="http://schemas.microsoft.com/office/drawing/2014/main" id="{5C622D29-3B78-46D0-B26C-3797CF0683FB}"/>
              </a:ext>
            </a:extLst>
          </p:cNvPr>
          <p:cNvSpPr>
            <a:spLocks noChangeAspect="1" noChangeArrowheads="1"/>
          </p:cNvSpPr>
          <p:nvPr/>
        </p:nvSpPr>
        <p:spPr bwMode="auto">
          <a:xfrm>
            <a:off x="5118100" y="0"/>
            <a:ext cx="14287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5" name="AutoShape 11" descr="X">
            <a:extLst>
              <a:ext uri="{FF2B5EF4-FFF2-40B4-BE49-F238E27FC236}">
                <a16:creationId xmlns="" xmlns:a16="http://schemas.microsoft.com/office/drawing/2014/main" id="{7332CB31-1C9D-43D2-A597-2417ABBA5769}"/>
              </a:ext>
            </a:extLst>
          </p:cNvPr>
          <p:cNvSpPr>
            <a:spLocks noChangeAspect="1" noChangeArrowheads="1"/>
          </p:cNvSpPr>
          <p:nvPr/>
        </p:nvSpPr>
        <p:spPr bwMode="auto">
          <a:xfrm>
            <a:off x="7010400" y="0"/>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6" name="AutoShape 12" descr="d">
            <a:extLst>
              <a:ext uri="{FF2B5EF4-FFF2-40B4-BE49-F238E27FC236}">
                <a16:creationId xmlns="" xmlns:a16="http://schemas.microsoft.com/office/drawing/2014/main" id="{B9F0F320-51BC-4670-BB4B-2DCDDD3B02EB}"/>
              </a:ext>
            </a:extLst>
          </p:cNvPr>
          <p:cNvSpPr>
            <a:spLocks noChangeAspect="1" noChangeArrowheads="1"/>
          </p:cNvSpPr>
          <p:nvPr/>
        </p:nvSpPr>
        <p:spPr bwMode="auto">
          <a:xfrm>
            <a:off x="11988800" y="0"/>
            <a:ext cx="95250" cy="123825"/>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7" name="AutoShape 13" descr="y">
            <a:extLst>
              <a:ext uri="{FF2B5EF4-FFF2-40B4-BE49-F238E27FC236}">
                <a16:creationId xmlns="" xmlns:a16="http://schemas.microsoft.com/office/drawing/2014/main" id="{6CAD7D3C-8E93-4A54-BF6C-9AAA474754EB}"/>
              </a:ext>
            </a:extLst>
          </p:cNvPr>
          <p:cNvSpPr>
            <a:spLocks noChangeAspect="1" noChangeArrowheads="1"/>
          </p:cNvSpPr>
          <p:nvPr/>
        </p:nvSpPr>
        <p:spPr bwMode="auto">
          <a:xfrm>
            <a:off x="2667000" y="274638"/>
            <a:ext cx="8572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8" name="AutoShape 14" descr="K">
            <a:extLst>
              <a:ext uri="{FF2B5EF4-FFF2-40B4-BE49-F238E27FC236}">
                <a16:creationId xmlns="" xmlns:a16="http://schemas.microsoft.com/office/drawing/2014/main" id="{C81F1CCE-A29C-471A-AC25-12E65B5778A6}"/>
              </a:ext>
            </a:extLst>
          </p:cNvPr>
          <p:cNvSpPr>
            <a:spLocks noChangeAspect="1" noChangeArrowheads="1"/>
          </p:cNvSpPr>
          <p:nvPr/>
        </p:nvSpPr>
        <p:spPr bwMode="auto">
          <a:xfrm>
            <a:off x="3390900" y="274638"/>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9" name="AutoShape 15" descr="y">
            <a:extLst>
              <a:ext uri="{FF2B5EF4-FFF2-40B4-BE49-F238E27FC236}">
                <a16:creationId xmlns="" xmlns:a16="http://schemas.microsoft.com/office/drawing/2014/main" id="{F68660A2-3CEE-4E87-AB0C-6510C8BC98CA}"/>
              </a:ext>
            </a:extLst>
          </p:cNvPr>
          <p:cNvSpPr>
            <a:spLocks noChangeAspect="1" noChangeArrowheads="1"/>
          </p:cNvSpPr>
          <p:nvPr/>
        </p:nvSpPr>
        <p:spPr bwMode="auto">
          <a:xfrm>
            <a:off x="7937500" y="549275"/>
            <a:ext cx="8572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0" name="AutoShape 16" descr="y">
            <a:extLst>
              <a:ext uri="{FF2B5EF4-FFF2-40B4-BE49-F238E27FC236}">
                <a16:creationId xmlns="" xmlns:a16="http://schemas.microsoft.com/office/drawing/2014/main" id="{55C3B503-18CD-4A07-AA9A-7BDA61DC5968}"/>
              </a:ext>
            </a:extLst>
          </p:cNvPr>
          <p:cNvSpPr>
            <a:spLocks noChangeAspect="1" noChangeArrowheads="1"/>
          </p:cNvSpPr>
          <p:nvPr/>
        </p:nvSpPr>
        <p:spPr bwMode="auto">
          <a:xfrm>
            <a:off x="6210300" y="822325"/>
            <a:ext cx="8572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1" name="AutoShape 17" descr="X">
            <a:extLst>
              <a:ext uri="{FF2B5EF4-FFF2-40B4-BE49-F238E27FC236}">
                <a16:creationId xmlns="" xmlns:a16="http://schemas.microsoft.com/office/drawing/2014/main" id="{C1BBDF4A-266E-4D9C-98BC-B55D9CE0CC8D}"/>
              </a:ext>
            </a:extLst>
          </p:cNvPr>
          <p:cNvSpPr>
            <a:spLocks noChangeAspect="1" noChangeArrowheads="1"/>
          </p:cNvSpPr>
          <p:nvPr/>
        </p:nvSpPr>
        <p:spPr bwMode="auto">
          <a:xfrm>
            <a:off x="11607800" y="1096963"/>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 xmlns:p14="http://schemas.microsoft.com/office/powerpoint/2010/main" val="40177836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E43606F-74EF-4E31-B05A-059626B830B9}"/>
              </a:ext>
            </a:extLst>
          </p:cNvPr>
          <p:cNvSpPr>
            <a:spLocks noGrp="1"/>
          </p:cNvSpPr>
          <p:nvPr>
            <p:ph type="title"/>
          </p:nvPr>
        </p:nvSpPr>
        <p:spPr/>
        <p:txBody>
          <a:bodyPr/>
          <a:lstStyle/>
          <a:p>
            <a:r>
              <a:rPr lang="fr-FR" b="1" dirty="0"/>
              <a:t>Ecriture algorithmique</a:t>
            </a:r>
            <a:endParaRPr lang="fr-FR" dirty="0"/>
          </a:p>
        </p:txBody>
      </p:sp>
      <p:sp>
        <p:nvSpPr>
          <p:cNvPr id="3" name="Espace réservé du texte 2">
            <a:extLst>
              <a:ext uri="{FF2B5EF4-FFF2-40B4-BE49-F238E27FC236}">
                <a16:creationId xmlns="" xmlns:a16="http://schemas.microsoft.com/office/drawing/2014/main" id="{60E1CD66-9F69-433A-B53E-503A4138E0EE}"/>
              </a:ext>
            </a:extLst>
          </p:cNvPr>
          <p:cNvSpPr>
            <a:spLocks noGrp="1"/>
          </p:cNvSpPr>
          <p:nvPr>
            <p:ph type="body" idx="1"/>
          </p:nvPr>
        </p:nvSpPr>
        <p:spPr>
          <a:xfrm>
            <a:off x="1043609" y="1584176"/>
            <a:ext cx="7460645" cy="3723878"/>
          </a:xfrm>
        </p:spPr>
        <p:txBody>
          <a:bodyPr/>
          <a:lstStyle/>
          <a:p>
            <a:pPr marL="342900" marR="0" lvl="0" indent="-342900" algn="l" defTabSz="914400" rtl="0" eaLnBrk="0" fontAlgn="base" latinLnBrk="0" hangingPunct="0">
              <a:lnSpc>
                <a:spcPct val="100000"/>
              </a:lnSpc>
              <a:spcBef>
                <a:spcPct val="0"/>
              </a:spcBef>
              <a:spcAft>
                <a:spcPct val="0"/>
              </a:spcAft>
              <a:buSzTx/>
              <a:buFont typeface="+mj-lt"/>
              <a:buAutoNum type="arabicPeriod"/>
              <a:tabLst/>
            </a:pPr>
            <a:r>
              <a:rPr kumimoji="0" lang="fr-FR" altLang="fr-FR" sz="1800" b="0" i="0" u="none" strike="noStrike" cap="none" normalizeH="0" baseline="0" dirty="0">
                <a:ln>
                  <a:noFill/>
                </a:ln>
                <a:solidFill>
                  <a:schemeClr val="tx1"/>
                </a:solidFill>
                <a:effectLst/>
                <a:latin typeface="Barlow Light" panose="020B0604020202020204" charset="0"/>
              </a:rPr>
              <a:t>Calculer toutes les distances de cette observation </a:t>
            </a:r>
            <a:r>
              <a:rPr lang="fr-FR" altLang="fr-FR" sz="1800" b="1" i="1" dirty="0">
                <a:solidFill>
                  <a:schemeClr val="accent4"/>
                </a:solidFill>
                <a:latin typeface="Palatino Linotype" panose="02040502050505030304" pitchFamily="18" charset="0"/>
              </a:rPr>
              <a:t>X</a:t>
            </a:r>
            <a:r>
              <a:rPr kumimoji="0" lang="fr-FR" altLang="fr-FR" sz="1800" b="0" i="0" u="none" strike="noStrike" cap="none" normalizeH="0" baseline="0" dirty="0">
                <a:ln>
                  <a:noFill/>
                </a:ln>
                <a:solidFill>
                  <a:schemeClr val="tx1"/>
                </a:solidFill>
                <a:effectLst/>
                <a:latin typeface="Barlow Light" panose="020B0604020202020204" charset="0"/>
              </a:rPr>
              <a:t> avec les autres observations du jeu de données </a:t>
            </a:r>
            <a:r>
              <a:rPr kumimoji="0" lang="fr-FR" altLang="fr-FR" sz="1800" b="1" i="1" u="none" strike="noStrike" cap="none" normalizeH="0" baseline="0" dirty="0">
                <a:ln>
                  <a:noFill/>
                </a:ln>
                <a:solidFill>
                  <a:schemeClr val="accent4"/>
                </a:solidFill>
                <a:effectLst/>
                <a:latin typeface="Palatino Linotype" panose="02040502050505030304" pitchFamily="18" charset="0"/>
              </a:rPr>
              <a:t>D.</a:t>
            </a:r>
            <a:r>
              <a:rPr kumimoji="0" lang="fr-FR" altLang="fr-FR" sz="1800" b="0" i="0" u="none" strike="noStrike" cap="none" normalizeH="0" baseline="0" dirty="0">
                <a:ln>
                  <a:noFill/>
                </a:ln>
                <a:solidFill>
                  <a:schemeClr val="tx1"/>
                </a:solidFill>
                <a:effectLst/>
                <a:latin typeface="Barlow Light" panose="020B0604020202020204" charset="0"/>
              </a:rPr>
              <a:t>          </a:t>
            </a:r>
          </a:p>
          <a:p>
            <a:pPr marL="342900" marR="0" lvl="0" indent="-342900" algn="l" defTabSz="914400" rtl="0" eaLnBrk="0" fontAlgn="base" latinLnBrk="0" hangingPunct="0">
              <a:lnSpc>
                <a:spcPct val="100000"/>
              </a:lnSpc>
              <a:spcBef>
                <a:spcPct val="0"/>
              </a:spcBef>
              <a:spcAft>
                <a:spcPct val="0"/>
              </a:spcAft>
              <a:buSzTx/>
              <a:buFont typeface="+mj-lt"/>
              <a:buAutoNum type="arabicPeriod"/>
              <a:tabLst/>
            </a:pPr>
            <a:r>
              <a:rPr kumimoji="0" lang="fr-FR" altLang="fr-FR" sz="1800" b="0" i="0" u="none" strike="noStrike" cap="none" normalizeH="0" baseline="0" dirty="0">
                <a:ln>
                  <a:noFill/>
                </a:ln>
                <a:solidFill>
                  <a:schemeClr val="tx1"/>
                </a:solidFill>
                <a:effectLst/>
                <a:latin typeface="Barlow Light" panose="020B0604020202020204" charset="0"/>
              </a:rPr>
              <a:t>Retenir les </a:t>
            </a:r>
            <a:r>
              <a:rPr lang="fr-FR" altLang="fr-FR" sz="1800" b="1" i="1" dirty="0">
                <a:solidFill>
                  <a:schemeClr val="accent4"/>
                </a:solidFill>
                <a:latin typeface="Palatino Linotype" panose="02040502050505030304" pitchFamily="18" charset="0"/>
              </a:rPr>
              <a:t>K</a:t>
            </a:r>
            <a:r>
              <a:rPr kumimoji="0" lang="fr-FR" altLang="fr-FR" sz="1800" b="0" i="0" u="none" strike="noStrike" cap="none" normalizeH="0" baseline="0" dirty="0">
                <a:ln>
                  <a:noFill/>
                </a:ln>
                <a:solidFill>
                  <a:schemeClr val="tx1"/>
                </a:solidFill>
                <a:effectLst/>
                <a:latin typeface="Barlow Light" panose="020B0604020202020204" charset="0"/>
              </a:rPr>
              <a:t> observations du jeu de données </a:t>
            </a:r>
            <a:r>
              <a:rPr kumimoji="0" lang="fr-FR" altLang="fr-FR" sz="1800" b="1" i="1" u="none" strike="noStrike" cap="none" normalizeH="0" baseline="0" dirty="0">
                <a:ln>
                  <a:noFill/>
                </a:ln>
                <a:solidFill>
                  <a:schemeClr val="accent4"/>
                </a:solidFill>
                <a:effectLst/>
                <a:latin typeface="Palatino Linotype" panose="02040502050505030304" pitchFamily="18" charset="0"/>
              </a:rPr>
              <a:t>D </a:t>
            </a:r>
            <a:r>
              <a:rPr kumimoji="0" lang="fr-FR" altLang="fr-FR" sz="1800" b="0" i="0" u="none" strike="noStrike" cap="none" normalizeH="0" baseline="0" dirty="0">
                <a:ln>
                  <a:noFill/>
                </a:ln>
                <a:solidFill>
                  <a:schemeClr val="tx1"/>
                </a:solidFill>
                <a:effectLst/>
                <a:latin typeface="Barlow Light" panose="020B0604020202020204" charset="0"/>
              </a:rPr>
              <a:t>les proches de </a:t>
            </a:r>
            <a:r>
              <a:rPr lang="fr-FR" altLang="fr-FR" sz="1800" b="1" i="1" dirty="0">
                <a:solidFill>
                  <a:schemeClr val="accent4"/>
                </a:solidFill>
                <a:latin typeface="Palatino Linotype" panose="02040502050505030304" pitchFamily="18" charset="0"/>
              </a:rPr>
              <a:t>X</a:t>
            </a:r>
            <a:r>
              <a:rPr kumimoji="0" lang="fr-FR" altLang="fr-FR" sz="1800" b="0" i="0" u="none" strike="noStrike" cap="none" normalizeH="0" baseline="0" dirty="0">
                <a:ln>
                  <a:noFill/>
                </a:ln>
                <a:solidFill>
                  <a:schemeClr val="tx1"/>
                </a:solidFill>
                <a:effectLst/>
                <a:latin typeface="Barlow Light" panose="020B0604020202020204" charset="0"/>
              </a:rPr>
              <a:t> en utilisant la fonction de calcul de distance </a:t>
            </a:r>
            <a:r>
              <a:rPr lang="fr-FR" altLang="fr-FR" sz="1800" b="1" i="1" dirty="0">
                <a:solidFill>
                  <a:schemeClr val="accent4"/>
                </a:solidFill>
                <a:latin typeface="Palatino Linotype" panose="02040502050505030304" pitchFamily="18" charset="0"/>
              </a:rPr>
              <a:t>d.</a:t>
            </a:r>
            <a:r>
              <a:rPr kumimoji="0" lang="fr-FR" altLang="fr-FR" sz="1800" b="0" i="0" u="none" strike="noStrike" cap="none" normalizeH="0" baseline="0" dirty="0">
                <a:ln>
                  <a:noFill/>
                </a:ln>
                <a:solidFill>
                  <a:schemeClr val="tx1"/>
                </a:solidFill>
                <a:effectLst/>
                <a:latin typeface="Barlow Light" panose="020B0604020202020204" charset="0"/>
              </a:rPr>
              <a:t>       </a:t>
            </a:r>
          </a:p>
          <a:p>
            <a:pPr marL="342900" marR="0" lvl="0" indent="-342900" algn="l" defTabSz="914400" rtl="0" eaLnBrk="0" fontAlgn="base" latinLnBrk="0" hangingPunct="0">
              <a:lnSpc>
                <a:spcPct val="100000"/>
              </a:lnSpc>
              <a:spcBef>
                <a:spcPct val="0"/>
              </a:spcBef>
              <a:spcAft>
                <a:spcPct val="0"/>
              </a:spcAft>
              <a:buSzTx/>
              <a:buFont typeface="+mj-lt"/>
              <a:buAutoNum type="arabicPeriod"/>
              <a:tabLst/>
            </a:pPr>
            <a:r>
              <a:rPr kumimoji="0" lang="fr-FR" altLang="fr-FR" sz="1800" b="0" i="0" u="none" strike="noStrike" cap="none" normalizeH="0" baseline="0" dirty="0">
                <a:ln>
                  <a:noFill/>
                </a:ln>
                <a:solidFill>
                  <a:schemeClr val="tx1"/>
                </a:solidFill>
                <a:effectLst/>
                <a:latin typeface="Barlow Light" panose="020B0604020202020204" charset="0"/>
              </a:rPr>
              <a:t>Prendre les valeurs de </a:t>
            </a:r>
            <a:r>
              <a:rPr lang="fr-FR" altLang="fr-FR" sz="1800" b="1" i="1" dirty="0">
                <a:solidFill>
                  <a:schemeClr val="accent4"/>
                </a:solidFill>
                <a:latin typeface="Palatino Linotype" panose="02040502050505030304" pitchFamily="18" charset="0"/>
              </a:rPr>
              <a:t>y</a:t>
            </a:r>
            <a:r>
              <a:rPr kumimoji="0" lang="fr-FR" altLang="fr-FR" sz="1800" b="0" i="0" u="none" strike="noStrike" cap="none" normalizeH="0" baseline="0" dirty="0">
                <a:ln>
                  <a:noFill/>
                </a:ln>
                <a:solidFill>
                  <a:schemeClr val="tx1"/>
                </a:solidFill>
                <a:effectLst/>
                <a:latin typeface="Barlow Light" panose="020B0604020202020204" charset="0"/>
              </a:rPr>
              <a:t> des </a:t>
            </a:r>
            <a:r>
              <a:rPr lang="fr-FR" altLang="fr-FR" sz="1800" b="1" i="1" dirty="0">
                <a:solidFill>
                  <a:schemeClr val="accent4"/>
                </a:solidFill>
                <a:latin typeface="Palatino Linotype" panose="02040502050505030304" pitchFamily="18" charset="0"/>
              </a:rPr>
              <a:t>K</a:t>
            </a:r>
            <a:r>
              <a:rPr kumimoji="0" lang="fr-FR" altLang="fr-FR" sz="1800" b="0" i="0" u="none" strike="noStrike" cap="none" normalizeH="0" baseline="0" dirty="0">
                <a:ln>
                  <a:noFill/>
                </a:ln>
                <a:solidFill>
                  <a:schemeClr val="tx1"/>
                </a:solidFill>
                <a:effectLst/>
                <a:latin typeface="Barlow Light" panose="020B0604020202020204" charset="0"/>
              </a:rPr>
              <a:t> observations retenues : </a:t>
            </a:r>
          </a:p>
          <a:p>
            <a:pPr marL="800100" marR="0" lvl="1" indent="-342900" algn="l" defTabSz="914400" rtl="0" eaLnBrk="0" fontAlgn="base" latinLnBrk="0" hangingPunct="0">
              <a:lnSpc>
                <a:spcPct val="100000"/>
              </a:lnSpc>
              <a:spcBef>
                <a:spcPct val="0"/>
              </a:spcBef>
              <a:spcAft>
                <a:spcPct val="0"/>
              </a:spcAft>
              <a:buSzTx/>
              <a:buFont typeface="+mj-lt"/>
              <a:buAutoNum type="arabicPeriod"/>
              <a:tabLst/>
            </a:pPr>
            <a:r>
              <a:rPr kumimoji="0" lang="fr-FR" altLang="fr-FR" sz="1800" b="0" i="0" u="none" strike="noStrike" cap="none" normalizeH="0" baseline="0" dirty="0">
                <a:ln>
                  <a:noFill/>
                </a:ln>
                <a:solidFill>
                  <a:schemeClr val="tx1"/>
                </a:solidFill>
                <a:effectLst/>
                <a:latin typeface="Barlow Light" panose="020B0604020202020204" charset="0"/>
              </a:rPr>
              <a:t>Si on effectue une régression, calculer la moyenne (ou la médiane) de </a:t>
            </a:r>
            <a:r>
              <a:rPr lang="fr-FR" altLang="fr-FR" sz="1800" b="1" i="1" dirty="0">
                <a:solidFill>
                  <a:schemeClr val="accent4"/>
                </a:solidFill>
                <a:latin typeface="Palatino Linotype" panose="02040502050505030304" pitchFamily="18" charset="0"/>
              </a:rPr>
              <a:t>y</a:t>
            </a:r>
            <a:r>
              <a:rPr kumimoji="0" lang="fr-FR" altLang="fr-FR" sz="1800" b="0" i="0" u="none" strike="noStrike" cap="none" normalizeH="0" baseline="0" dirty="0">
                <a:ln>
                  <a:noFill/>
                </a:ln>
                <a:solidFill>
                  <a:schemeClr val="tx1"/>
                </a:solidFill>
                <a:effectLst/>
                <a:latin typeface="Barlow Light" panose="020B0604020202020204" charset="0"/>
              </a:rPr>
              <a:t> retenues. </a:t>
            </a:r>
          </a:p>
          <a:p>
            <a:pPr marL="800100" marR="0" lvl="1" indent="-342900" algn="l" defTabSz="914400" rtl="0" eaLnBrk="0" fontAlgn="base" latinLnBrk="0" hangingPunct="0">
              <a:lnSpc>
                <a:spcPct val="100000"/>
              </a:lnSpc>
              <a:spcBef>
                <a:spcPct val="0"/>
              </a:spcBef>
              <a:spcAft>
                <a:spcPct val="0"/>
              </a:spcAft>
              <a:buSzTx/>
              <a:buFont typeface="+mj-lt"/>
              <a:buAutoNum type="arabicPeriod"/>
              <a:tabLst/>
            </a:pPr>
            <a:r>
              <a:rPr kumimoji="0" lang="fr-FR" altLang="fr-FR" sz="1800" b="0" i="0" u="none" strike="noStrike" cap="none" normalizeH="0" baseline="0" dirty="0">
                <a:ln>
                  <a:noFill/>
                </a:ln>
                <a:solidFill>
                  <a:schemeClr val="tx1"/>
                </a:solidFill>
                <a:effectLst/>
                <a:latin typeface="Barlow Light" panose="020B0604020202020204" charset="0"/>
              </a:rPr>
              <a:t>Si on effectue une classification , calculer le mode de </a:t>
            </a:r>
            <a:r>
              <a:rPr lang="fr-FR" altLang="fr-FR" sz="1800" b="1" i="1" dirty="0">
                <a:solidFill>
                  <a:schemeClr val="accent4"/>
                </a:solidFill>
                <a:latin typeface="Palatino Linotype" panose="02040502050505030304" pitchFamily="18" charset="0"/>
              </a:rPr>
              <a:t>y</a:t>
            </a:r>
            <a:r>
              <a:rPr kumimoji="0" lang="fr-FR" altLang="fr-FR" sz="1800" b="0" i="0" u="none" strike="noStrike" cap="none" normalizeH="0" baseline="0" dirty="0">
                <a:ln>
                  <a:noFill/>
                </a:ln>
                <a:solidFill>
                  <a:schemeClr val="tx1"/>
                </a:solidFill>
                <a:effectLst/>
                <a:latin typeface="Barlow Light" panose="020B0604020202020204" charset="0"/>
              </a:rPr>
              <a:t> retenues. </a:t>
            </a:r>
          </a:p>
          <a:p>
            <a:pPr marL="342900" marR="0" lvl="0" indent="-342900" algn="l" defTabSz="914400" rtl="0" eaLnBrk="0" fontAlgn="base" latinLnBrk="0" hangingPunct="0">
              <a:lnSpc>
                <a:spcPct val="100000"/>
              </a:lnSpc>
              <a:spcBef>
                <a:spcPct val="0"/>
              </a:spcBef>
              <a:spcAft>
                <a:spcPct val="0"/>
              </a:spcAft>
              <a:buSzTx/>
              <a:buFont typeface="+mj-lt"/>
              <a:buAutoNum type="arabicPeriod"/>
              <a:tabLst/>
            </a:pPr>
            <a:r>
              <a:rPr kumimoji="0" lang="fr-FR" altLang="fr-FR" sz="1800" b="0" i="0" u="none" strike="noStrike" cap="none" normalizeH="0" baseline="0" dirty="0">
                <a:ln>
                  <a:noFill/>
                </a:ln>
                <a:solidFill>
                  <a:schemeClr val="tx1"/>
                </a:solidFill>
                <a:effectLst/>
                <a:latin typeface="Barlow Light" panose="020B0604020202020204" charset="0"/>
              </a:rPr>
              <a:t>Retourner la valeur calculée dans l’étape 3 comme étant la valeur qui a été prédite par K-NN pour l’observation </a:t>
            </a:r>
            <a:r>
              <a:rPr lang="fr-FR" altLang="fr-FR" sz="1800" b="1" i="1" dirty="0">
                <a:solidFill>
                  <a:schemeClr val="accent4"/>
                </a:solidFill>
                <a:latin typeface="Palatino Linotype" panose="02040502050505030304" pitchFamily="18" charset="0"/>
              </a:rPr>
              <a:t>X</a:t>
            </a:r>
            <a:r>
              <a:rPr kumimoji="0" lang="fr-FR" altLang="fr-FR" sz="1800" b="0" i="0" u="none" strike="noStrike" cap="none" normalizeH="0" baseline="0" dirty="0">
                <a:ln>
                  <a:noFill/>
                </a:ln>
                <a:solidFill>
                  <a:schemeClr val="tx1"/>
                </a:solidFill>
                <a:effectLst/>
                <a:latin typeface="Barlow Light" panose="020B0604020202020204" charset="0"/>
              </a:rPr>
              <a:t>. </a:t>
            </a:r>
          </a:p>
          <a:p>
            <a:pPr marL="0" indent="0" eaLnBrk="0" fontAlgn="base" hangingPunct="0">
              <a:lnSpc>
                <a:spcPct val="100000"/>
              </a:lnSpc>
              <a:spcBef>
                <a:spcPct val="0"/>
              </a:spcBef>
              <a:spcAft>
                <a:spcPct val="0"/>
              </a:spcAft>
              <a:buSzTx/>
              <a:buNone/>
            </a:pPr>
            <a:endParaRPr lang="fr-FR" altLang="fr-FR" sz="1800" dirty="0">
              <a:solidFill>
                <a:schemeClr val="tx1"/>
              </a:solidFill>
              <a:latin typeface="Barlow Light" panose="020B0604020202020204" charset="0"/>
            </a:endParaRPr>
          </a:p>
          <a:p>
            <a:pPr marL="0" indent="0" eaLnBrk="0" fontAlgn="base" hangingPunct="0">
              <a:lnSpc>
                <a:spcPct val="100000"/>
              </a:lnSpc>
              <a:spcBef>
                <a:spcPct val="0"/>
              </a:spcBef>
              <a:spcAft>
                <a:spcPct val="0"/>
              </a:spcAft>
              <a:buSzTx/>
              <a:buNone/>
            </a:pPr>
            <a:r>
              <a:rPr kumimoji="0" lang="fr-FR" altLang="fr-FR" sz="1800" b="1" i="0" u="none" strike="noStrike" cap="none" normalizeH="0" baseline="0" dirty="0">
                <a:ln>
                  <a:noFill/>
                </a:ln>
                <a:solidFill>
                  <a:schemeClr val="accent6">
                    <a:lumMod val="75000"/>
                  </a:schemeClr>
                </a:solidFill>
                <a:effectLst/>
                <a:latin typeface="Palatino Linotype" panose="02040502050505030304" pitchFamily="18" charset="0"/>
              </a:rPr>
              <a:t>Fin Algorithme</a:t>
            </a:r>
          </a:p>
          <a:p>
            <a:pPr marL="342900" marR="0" lvl="0" indent="-342900" algn="l" defTabSz="914400" rtl="0" eaLnBrk="0" fontAlgn="base" latinLnBrk="0" hangingPunct="0">
              <a:lnSpc>
                <a:spcPct val="100000"/>
              </a:lnSpc>
              <a:spcBef>
                <a:spcPct val="0"/>
              </a:spcBef>
              <a:spcAft>
                <a:spcPct val="0"/>
              </a:spcAft>
              <a:buSzTx/>
              <a:buFont typeface="+mj-lt"/>
              <a:buAutoNum type="arabicPeriod"/>
              <a:tabLst/>
            </a:pPr>
            <a:endParaRPr kumimoji="0" lang="fr-FR" altLang="fr-FR" sz="1800" b="0" i="0" u="none" strike="noStrike" cap="none" normalizeH="0" baseline="0" dirty="0">
              <a:ln>
                <a:noFill/>
              </a:ln>
              <a:solidFill>
                <a:schemeClr val="tx1"/>
              </a:solidFill>
              <a:effectLst/>
              <a:latin typeface="Barlow Light" panose="020B0604020202020204" charset="0"/>
            </a:endParaRPr>
          </a:p>
          <a:p>
            <a:pPr marL="342900" marR="0" lvl="0" indent="-342900" algn="l" defTabSz="914400" rtl="0" eaLnBrk="0" fontAlgn="base" latinLnBrk="0" hangingPunct="0">
              <a:lnSpc>
                <a:spcPct val="100000"/>
              </a:lnSpc>
              <a:spcBef>
                <a:spcPct val="0"/>
              </a:spcBef>
              <a:spcAft>
                <a:spcPct val="0"/>
              </a:spcAft>
              <a:buSzTx/>
              <a:buFont typeface="+mj-lt"/>
              <a:buAutoNum type="arabicPeriod"/>
              <a:tabLst/>
            </a:pPr>
            <a:endParaRPr kumimoji="0" lang="fr-FR" altLang="fr-FR" sz="1800" b="0" i="0" u="none" strike="noStrike" cap="none" normalizeH="0" baseline="0" dirty="0">
              <a:ln>
                <a:noFill/>
              </a:ln>
              <a:solidFill>
                <a:schemeClr val="tx1"/>
              </a:solidFill>
              <a:effectLst/>
              <a:latin typeface="Barlow Light" panose="020B0604020202020204" charset="0"/>
            </a:endParaRPr>
          </a:p>
          <a:p>
            <a:pPr>
              <a:buFont typeface="+mj-lt"/>
              <a:buAutoNum type="arabicPeriod"/>
            </a:pPr>
            <a:endParaRPr lang="fr-FR" sz="1800" dirty="0">
              <a:latin typeface="Barlow Light" panose="020B0604020202020204" charset="0"/>
            </a:endParaRPr>
          </a:p>
        </p:txBody>
      </p:sp>
      <p:sp>
        <p:nvSpPr>
          <p:cNvPr id="4" name="Espace réservé du numéro de diapositive 3">
            <a:extLst>
              <a:ext uri="{FF2B5EF4-FFF2-40B4-BE49-F238E27FC236}">
                <a16:creationId xmlns="" xmlns:a16="http://schemas.microsoft.com/office/drawing/2014/main" id="{52F82C8C-363A-42D0-9CD5-E5A36DE6ABE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84</a:t>
            </a:fld>
            <a:endParaRPr lang="fr-FR"/>
          </a:p>
        </p:txBody>
      </p:sp>
      <p:sp>
        <p:nvSpPr>
          <p:cNvPr id="6" name="AutoShape 2" descr="D">
            <a:extLst>
              <a:ext uri="{FF2B5EF4-FFF2-40B4-BE49-F238E27FC236}">
                <a16:creationId xmlns="" xmlns:a16="http://schemas.microsoft.com/office/drawing/2014/main" id="{0B5D0F1E-F789-4EEC-BDCE-AD13D651A377}"/>
              </a:ext>
            </a:extLst>
          </p:cNvPr>
          <p:cNvSpPr>
            <a:spLocks noChangeAspect="1" noChangeArrowheads="1"/>
          </p:cNvSpPr>
          <p:nvPr/>
        </p:nvSpPr>
        <p:spPr bwMode="auto">
          <a:xfrm>
            <a:off x="2835275" y="-1371600"/>
            <a:ext cx="14287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 name="AutoShape 3" descr="d">
            <a:extLst>
              <a:ext uri="{FF2B5EF4-FFF2-40B4-BE49-F238E27FC236}">
                <a16:creationId xmlns="" xmlns:a16="http://schemas.microsoft.com/office/drawing/2014/main" id="{0C5AE997-8AE5-4FF4-85AB-4C2BD33506D9}"/>
              </a:ext>
            </a:extLst>
          </p:cNvPr>
          <p:cNvSpPr>
            <a:spLocks noChangeAspect="1" noChangeArrowheads="1"/>
          </p:cNvSpPr>
          <p:nvPr/>
        </p:nvSpPr>
        <p:spPr bwMode="auto">
          <a:xfrm>
            <a:off x="3724275" y="-1096963"/>
            <a:ext cx="95250" cy="123825"/>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8" name="AutoShape 4" descr="K">
            <a:extLst>
              <a:ext uri="{FF2B5EF4-FFF2-40B4-BE49-F238E27FC236}">
                <a16:creationId xmlns="" xmlns:a16="http://schemas.microsoft.com/office/drawing/2014/main" id="{7C069299-F5A6-491A-A92A-BD5A226BA007}"/>
              </a:ext>
            </a:extLst>
          </p:cNvPr>
          <p:cNvSpPr>
            <a:spLocks noChangeAspect="1" noChangeArrowheads="1"/>
          </p:cNvSpPr>
          <p:nvPr/>
        </p:nvSpPr>
        <p:spPr bwMode="auto">
          <a:xfrm>
            <a:off x="2035175" y="-822325"/>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9" name="AutoShape 5" descr="X">
            <a:extLst>
              <a:ext uri="{FF2B5EF4-FFF2-40B4-BE49-F238E27FC236}">
                <a16:creationId xmlns="" xmlns:a16="http://schemas.microsoft.com/office/drawing/2014/main" id="{5739F762-927B-4B8F-94F7-C57D2BA94C8B}"/>
              </a:ext>
            </a:extLst>
          </p:cNvPr>
          <p:cNvSpPr>
            <a:spLocks noChangeAspect="1" noChangeArrowheads="1"/>
          </p:cNvSpPr>
          <p:nvPr/>
        </p:nvSpPr>
        <p:spPr bwMode="auto">
          <a:xfrm>
            <a:off x="3276600" y="-549275"/>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0" name="AutoShape 6" descr="y">
            <a:extLst>
              <a:ext uri="{FF2B5EF4-FFF2-40B4-BE49-F238E27FC236}">
                <a16:creationId xmlns="" xmlns:a16="http://schemas.microsoft.com/office/drawing/2014/main" id="{9C348081-413B-422A-9DBE-254240D8B937}"/>
              </a:ext>
            </a:extLst>
          </p:cNvPr>
          <p:cNvSpPr>
            <a:spLocks noChangeAspect="1" noChangeArrowheads="1"/>
          </p:cNvSpPr>
          <p:nvPr/>
        </p:nvSpPr>
        <p:spPr bwMode="auto">
          <a:xfrm>
            <a:off x="7823200" y="-549275"/>
            <a:ext cx="8572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1" name="AutoShape 7" descr="X">
            <a:extLst>
              <a:ext uri="{FF2B5EF4-FFF2-40B4-BE49-F238E27FC236}">
                <a16:creationId xmlns="" xmlns:a16="http://schemas.microsoft.com/office/drawing/2014/main" id="{B34869D0-D023-43AD-92EC-DB8466EED915}"/>
              </a:ext>
            </a:extLst>
          </p:cNvPr>
          <p:cNvSpPr>
            <a:spLocks noChangeAspect="1" noChangeArrowheads="1"/>
          </p:cNvSpPr>
          <p:nvPr/>
        </p:nvSpPr>
        <p:spPr bwMode="auto">
          <a:xfrm>
            <a:off x="5410200" y="-274638"/>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2" name="AutoShape 8" descr="D">
            <a:extLst>
              <a:ext uri="{FF2B5EF4-FFF2-40B4-BE49-F238E27FC236}">
                <a16:creationId xmlns="" xmlns:a16="http://schemas.microsoft.com/office/drawing/2014/main" id="{C178870F-E964-4554-8D8F-DCE053A73542}"/>
              </a:ext>
            </a:extLst>
          </p:cNvPr>
          <p:cNvSpPr>
            <a:spLocks noChangeAspect="1" noChangeArrowheads="1"/>
          </p:cNvSpPr>
          <p:nvPr/>
        </p:nvSpPr>
        <p:spPr bwMode="auto">
          <a:xfrm>
            <a:off x="10655300" y="-274638"/>
            <a:ext cx="14287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3" name="AutoShape 9" descr="K">
            <a:extLst>
              <a:ext uri="{FF2B5EF4-FFF2-40B4-BE49-F238E27FC236}">
                <a16:creationId xmlns="" xmlns:a16="http://schemas.microsoft.com/office/drawing/2014/main" id="{0C8E7D2C-74D2-4D5C-989B-B1C78FB78AF0}"/>
              </a:ext>
            </a:extLst>
          </p:cNvPr>
          <p:cNvSpPr>
            <a:spLocks noChangeAspect="1" noChangeArrowheads="1"/>
          </p:cNvSpPr>
          <p:nvPr/>
        </p:nvSpPr>
        <p:spPr bwMode="auto">
          <a:xfrm>
            <a:off x="1473200" y="0"/>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4" name="AutoShape 10" descr="D">
            <a:extLst>
              <a:ext uri="{FF2B5EF4-FFF2-40B4-BE49-F238E27FC236}">
                <a16:creationId xmlns="" xmlns:a16="http://schemas.microsoft.com/office/drawing/2014/main" id="{5C622D29-3B78-46D0-B26C-3797CF0683FB}"/>
              </a:ext>
            </a:extLst>
          </p:cNvPr>
          <p:cNvSpPr>
            <a:spLocks noChangeAspect="1" noChangeArrowheads="1"/>
          </p:cNvSpPr>
          <p:nvPr/>
        </p:nvSpPr>
        <p:spPr bwMode="auto">
          <a:xfrm>
            <a:off x="5118100" y="0"/>
            <a:ext cx="14287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5" name="AutoShape 11" descr="X">
            <a:extLst>
              <a:ext uri="{FF2B5EF4-FFF2-40B4-BE49-F238E27FC236}">
                <a16:creationId xmlns="" xmlns:a16="http://schemas.microsoft.com/office/drawing/2014/main" id="{7332CB31-1C9D-43D2-A597-2417ABBA5769}"/>
              </a:ext>
            </a:extLst>
          </p:cNvPr>
          <p:cNvSpPr>
            <a:spLocks noChangeAspect="1" noChangeArrowheads="1"/>
          </p:cNvSpPr>
          <p:nvPr/>
        </p:nvSpPr>
        <p:spPr bwMode="auto">
          <a:xfrm>
            <a:off x="7010400" y="0"/>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6" name="AutoShape 12" descr="d">
            <a:extLst>
              <a:ext uri="{FF2B5EF4-FFF2-40B4-BE49-F238E27FC236}">
                <a16:creationId xmlns="" xmlns:a16="http://schemas.microsoft.com/office/drawing/2014/main" id="{B9F0F320-51BC-4670-BB4B-2DCDDD3B02EB}"/>
              </a:ext>
            </a:extLst>
          </p:cNvPr>
          <p:cNvSpPr>
            <a:spLocks noChangeAspect="1" noChangeArrowheads="1"/>
          </p:cNvSpPr>
          <p:nvPr/>
        </p:nvSpPr>
        <p:spPr bwMode="auto">
          <a:xfrm>
            <a:off x="11988800" y="0"/>
            <a:ext cx="95250" cy="123825"/>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7" name="AutoShape 13" descr="y">
            <a:extLst>
              <a:ext uri="{FF2B5EF4-FFF2-40B4-BE49-F238E27FC236}">
                <a16:creationId xmlns="" xmlns:a16="http://schemas.microsoft.com/office/drawing/2014/main" id="{6CAD7D3C-8E93-4A54-BF6C-9AAA474754EB}"/>
              </a:ext>
            </a:extLst>
          </p:cNvPr>
          <p:cNvSpPr>
            <a:spLocks noChangeAspect="1" noChangeArrowheads="1"/>
          </p:cNvSpPr>
          <p:nvPr/>
        </p:nvSpPr>
        <p:spPr bwMode="auto">
          <a:xfrm>
            <a:off x="2667000" y="274638"/>
            <a:ext cx="8572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8" name="AutoShape 14" descr="K">
            <a:extLst>
              <a:ext uri="{FF2B5EF4-FFF2-40B4-BE49-F238E27FC236}">
                <a16:creationId xmlns="" xmlns:a16="http://schemas.microsoft.com/office/drawing/2014/main" id="{C81F1CCE-A29C-471A-AC25-12E65B5778A6}"/>
              </a:ext>
            </a:extLst>
          </p:cNvPr>
          <p:cNvSpPr>
            <a:spLocks noChangeAspect="1" noChangeArrowheads="1"/>
          </p:cNvSpPr>
          <p:nvPr/>
        </p:nvSpPr>
        <p:spPr bwMode="auto">
          <a:xfrm>
            <a:off x="3390900" y="274638"/>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9" name="AutoShape 15" descr="y">
            <a:extLst>
              <a:ext uri="{FF2B5EF4-FFF2-40B4-BE49-F238E27FC236}">
                <a16:creationId xmlns="" xmlns:a16="http://schemas.microsoft.com/office/drawing/2014/main" id="{F68660A2-3CEE-4E87-AB0C-6510C8BC98CA}"/>
              </a:ext>
            </a:extLst>
          </p:cNvPr>
          <p:cNvSpPr>
            <a:spLocks noChangeAspect="1" noChangeArrowheads="1"/>
          </p:cNvSpPr>
          <p:nvPr/>
        </p:nvSpPr>
        <p:spPr bwMode="auto">
          <a:xfrm>
            <a:off x="7937500" y="549275"/>
            <a:ext cx="8572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0" name="AutoShape 16" descr="y">
            <a:extLst>
              <a:ext uri="{FF2B5EF4-FFF2-40B4-BE49-F238E27FC236}">
                <a16:creationId xmlns="" xmlns:a16="http://schemas.microsoft.com/office/drawing/2014/main" id="{55C3B503-18CD-4A07-AA9A-7BDA61DC5968}"/>
              </a:ext>
            </a:extLst>
          </p:cNvPr>
          <p:cNvSpPr>
            <a:spLocks noChangeAspect="1" noChangeArrowheads="1"/>
          </p:cNvSpPr>
          <p:nvPr/>
        </p:nvSpPr>
        <p:spPr bwMode="auto">
          <a:xfrm>
            <a:off x="6210300" y="822325"/>
            <a:ext cx="8572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1" name="AutoShape 17" descr="X">
            <a:extLst>
              <a:ext uri="{FF2B5EF4-FFF2-40B4-BE49-F238E27FC236}">
                <a16:creationId xmlns="" xmlns:a16="http://schemas.microsoft.com/office/drawing/2014/main" id="{C1BBDF4A-266E-4D9C-98BC-B55D9CE0CC8D}"/>
              </a:ext>
            </a:extLst>
          </p:cNvPr>
          <p:cNvSpPr>
            <a:spLocks noChangeAspect="1" noChangeArrowheads="1"/>
          </p:cNvSpPr>
          <p:nvPr/>
        </p:nvSpPr>
        <p:spPr bwMode="auto">
          <a:xfrm>
            <a:off x="11607800" y="1096963"/>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 xmlns:p14="http://schemas.microsoft.com/office/powerpoint/2010/main" val="6701082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Ecriture algorithmique</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85</a:t>
            </a:fld>
            <a:endParaRPr/>
          </a:p>
        </p:txBody>
      </p:sp>
      <p:sp>
        <p:nvSpPr>
          <p:cNvPr id="3" name="Text Placeholder 2">
            <a:extLst>
              <a:ext uri="{FF2B5EF4-FFF2-40B4-BE49-F238E27FC236}">
                <a16:creationId xmlns="" xmlns:a16="http://schemas.microsoft.com/office/drawing/2014/main" id="{7CC49107-580B-E9A2-C35C-E423DA5117E0}"/>
              </a:ext>
            </a:extLst>
          </p:cNvPr>
          <p:cNvSpPr>
            <a:spLocks noGrp="1"/>
          </p:cNvSpPr>
          <p:nvPr>
            <p:ph type="body" idx="1"/>
          </p:nvPr>
        </p:nvSpPr>
        <p:spPr>
          <a:xfrm>
            <a:off x="1199774" y="1599700"/>
            <a:ext cx="7116641" cy="2886000"/>
          </a:xfrm>
        </p:spPr>
        <p:txBody>
          <a:bodyPr/>
          <a:lstStyle/>
          <a:p>
            <a:r>
              <a:rPr lang="en-US" sz="1600" dirty="0" err="1"/>
              <a:t>Supposons</a:t>
            </a:r>
            <a:r>
              <a:rPr lang="en-US" sz="1600" dirty="0"/>
              <a:t> un jeu de données avec deux classes : </a:t>
            </a:r>
            <a:r>
              <a:rPr lang="en-US" sz="1600" b="1" dirty="0"/>
              <a:t>rouge</a:t>
            </a:r>
            <a:r>
              <a:rPr lang="en-US" sz="1600" dirty="0"/>
              <a:t> et </a:t>
            </a:r>
            <a:r>
              <a:rPr lang="en-US" sz="1600" b="1" dirty="0"/>
              <a:t>bleu</a:t>
            </a:r>
            <a:r>
              <a:rPr lang="en-US" sz="1600" dirty="0"/>
              <a:t>.</a:t>
            </a:r>
          </a:p>
          <a:p>
            <a:pPr>
              <a:buFont typeface="Arial" panose="020B0604020202020204" pitchFamily="34" charset="0"/>
              <a:buChar char="•"/>
            </a:pPr>
            <a:r>
              <a:rPr lang="en-US" sz="1600" b="1" dirty="0"/>
              <a:t>Données </a:t>
            </a:r>
            <a:r>
              <a:rPr lang="en-US" sz="1600" b="1" dirty="0" err="1"/>
              <a:t>d'entraînement</a:t>
            </a:r>
            <a:r>
              <a:rPr lang="en-US" sz="1600" dirty="0"/>
              <a:t> :</a:t>
            </a:r>
          </a:p>
          <a:p>
            <a:pPr marL="742950" lvl="1" indent="-285750">
              <a:buFont typeface="Arial" panose="020B0604020202020204" pitchFamily="34" charset="0"/>
              <a:buChar char="•"/>
            </a:pPr>
            <a:r>
              <a:rPr lang="en-US" sz="1600" dirty="0"/>
              <a:t>(1,1) → Rouge</a:t>
            </a:r>
          </a:p>
          <a:p>
            <a:pPr marL="742950" lvl="1" indent="-285750">
              <a:buFont typeface="Arial" panose="020B0604020202020204" pitchFamily="34" charset="0"/>
              <a:buChar char="•"/>
            </a:pPr>
            <a:r>
              <a:rPr lang="en-US" sz="1600" dirty="0"/>
              <a:t>(2,2) → Rouge</a:t>
            </a:r>
          </a:p>
          <a:p>
            <a:pPr marL="742950" lvl="1" indent="-285750">
              <a:buFont typeface="Arial" panose="020B0604020202020204" pitchFamily="34" charset="0"/>
              <a:buChar char="•"/>
            </a:pPr>
            <a:r>
              <a:rPr lang="en-US" sz="1600" dirty="0"/>
              <a:t>(5,5) → Bleu</a:t>
            </a:r>
          </a:p>
          <a:p>
            <a:pPr marL="742950" lvl="1" indent="-285750">
              <a:buFont typeface="Arial" panose="020B0604020202020204" pitchFamily="34" charset="0"/>
              <a:buChar char="•"/>
            </a:pPr>
            <a:r>
              <a:rPr lang="en-US" sz="1600" dirty="0"/>
              <a:t>(6,6) → Bleu</a:t>
            </a:r>
          </a:p>
          <a:p>
            <a:pPr marL="742950" lvl="1" indent="-285750">
              <a:buFont typeface="Arial" panose="020B0604020202020204" pitchFamily="34" charset="0"/>
              <a:buChar char="•"/>
            </a:pPr>
            <a:r>
              <a:rPr lang="en-US" sz="1600" dirty="0"/>
              <a:t>(8,8) → Rouge</a:t>
            </a:r>
          </a:p>
          <a:p>
            <a:pPr>
              <a:buFont typeface="Arial" panose="020B0604020202020204" pitchFamily="34" charset="0"/>
              <a:buChar char="•"/>
            </a:pPr>
            <a:r>
              <a:rPr lang="en-US" sz="1600" dirty="0"/>
              <a:t>Une nouvelle donnée : (4,4)</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49">
          <a:extLst>
            <a:ext uri="{FF2B5EF4-FFF2-40B4-BE49-F238E27FC236}">
              <a16:creationId xmlns="" xmlns:a16="http://schemas.microsoft.com/office/drawing/2014/main" id="{B12C9CB6-C16E-32F0-B0BA-821B547BF4DA}"/>
            </a:ext>
          </a:extLst>
        </p:cNvPr>
        <p:cNvGrpSpPr/>
        <p:nvPr/>
      </p:nvGrpSpPr>
      <p:grpSpPr>
        <a:xfrm>
          <a:off x="0" y="0"/>
          <a:ext cx="0" cy="0"/>
          <a:chOff x="0" y="0"/>
          <a:chExt cx="0" cy="0"/>
        </a:xfrm>
      </p:grpSpPr>
      <p:sp>
        <p:nvSpPr>
          <p:cNvPr id="550" name="Google Shape;550;p18">
            <a:extLst>
              <a:ext uri="{FF2B5EF4-FFF2-40B4-BE49-F238E27FC236}">
                <a16:creationId xmlns="" xmlns:a16="http://schemas.microsoft.com/office/drawing/2014/main" id="{F119C22C-41DD-A4B5-6437-CE17AF8D3B83}"/>
              </a:ext>
            </a:extLst>
          </p:cNvPr>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Ecriture algorithmique</a:t>
            </a:r>
            <a:endParaRPr lang="en" sz="3200" b="1" dirty="0"/>
          </a:p>
        </p:txBody>
      </p:sp>
      <p:sp>
        <p:nvSpPr>
          <p:cNvPr id="552" name="Google Shape;552;p18">
            <a:extLst>
              <a:ext uri="{FF2B5EF4-FFF2-40B4-BE49-F238E27FC236}">
                <a16:creationId xmlns="" xmlns:a16="http://schemas.microsoft.com/office/drawing/2014/main" id="{3FCFB780-2253-3A95-7A99-E850262A76DF}"/>
              </a:ext>
            </a:extLst>
          </p:cNvPr>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86</a:t>
            </a:fld>
            <a:endParaRPr/>
          </a:p>
        </p:txBody>
      </p:sp>
      <p:sp>
        <p:nvSpPr>
          <p:cNvPr id="3" name="Text Placeholder 2">
            <a:extLst>
              <a:ext uri="{FF2B5EF4-FFF2-40B4-BE49-F238E27FC236}">
                <a16:creationId xmlns="" xmlns:a16="http://schemas.microsoft.com/office/drawing/2014/main" id="{D4D75302-6FB9-C3F8-030C-60D2F768308C}"/>
              </a:ext>
            </a:extLst>
          </p:cNvPr>
          <p:cNvSpPr>
            <a:spLocks noGrp="1"/>
          </p:cNvSpPr>
          <p:nvPr>
            <p:ph type="body" idx="1"/>
          </p:nvPr>
        </p:nvSpPr>
        <p:spPr>
          <a:xfrm>
            <a:off x="1199774" y="1599700"/>
            <a:ext cx="7116641" cy="2886000"/>
          </a:xfrm>
        </p:spPr>
        <p:txBody>
          <a:bodyPr/>
          <a:lstStyle/>
          <a:p>
            <a:pPr>
              <a:lnSpc>
                <a:spcPct val="150000"/>
              </a:lnSpc>
              <a:buFont typeface="+mj-lt"/>
              <a:buAutoNum type="arabicPeriod"/>
            </a:pPr>
            <a:r>
              <a:rPr lang="en-US" sz="1600" dirty="0" err="1"/>
              <a:t>Calculez</a:t>
            </a:r>
            <a:r>
              <a:rPr lang="en-US" sz="1600" dirty="0"/>
              <a:t> les distances entre (4,4) et </a:t>
            </a:r>
            <a:r>
              <a:rPr lang="en-US" sz="1600" dirty="0" err="1"/>
              <a:t>chaque</a:t>
            </a:r>
            <a:r>
              <a:rPr lang="en-US" sz="1600" dirty="0"/>
              <a:t> point </a:t>
            </a:r>
            <a:r>
              <a:rPr lang="en-US" sz="1600" dirty="0" err="1"/>
              <a:t>d'entraînement</a:t>
            </a:r>
            <a:r>
              <a:rPr lang="en-US" sz="1600" dirty="0"/>
              <a:t>.</a:t>
            </a:r>
          </a:p>
          <a:p>
            <a:pPr>
              <a:lnSpc>
                <a:spcPct val="150000"/>
              </a:lnSpc>
              <a:buFont typeface="+mj-lt"/>
              <a:buAutoNum type="arabicPeriod"/>
            </a:pPr>
            <a:r>
              <a:rPr lang="en-US" sz="1600" dirty="0" err="1"/>
              <a:t>Classez</a:t>
            </a:r>
            <a:r>
              <a:rPr lang="en-US" sz="1600" dirty="0"/>
              <a:t> les distances et </a:t>
            </a:r>
            <a:r>
              <a:rPr lang="en-US" sz="1600" dirty="0" err="1"/>
              <a:t>sélectionnez</a:t>
            </a:r>
            <a:r>
              <a:rPr lang="en-US" sz="1600" dirty="0"/>
              <a:t> les k plus </a:t>
            </a:r>
            <a:r>
              <a:rPr lang="en-US" sz="1600" dirty="0" err="1"/>
              <a:t>proches</a:t>
            </a:r>
            <a:r>
              <a:rPr lang="en-US" sz="1600" dirty="0"/>
              <a:t> </a:t>
            </a:r>
            <a:r>
              <a:rPr lang="en-US" sz="1600" dirty="0" err="1"/>
              <a:t>voisins</a:t>
            </a:r>
            <a:r>
              <a:rPr lang="en-US" sz="1600" dirty="0"/>
              <a:t>.</a:t>
            </a:r>
          </a:p>
          <a:p>
            <a:pPr marL="742950" lvl="1" indent="-285750">
              <a:lnSpc>
                <a:spcPct val="150000"/>
              </a:lnSpc>
              <a:buFont typeface="+mj-lt"/>
              <a:buAutoNum type="arabicPeriod"/>
            </a:pPr>
            <a:r>
              <a:rPr lang="en-US" sz="1600" dirty="0"/>
              <a:t>Si k=3, les </a:t>
            </a:r>
            <a:r>
              <a:rPr lang="en-US" sz="1600" dirty="0" err="1"/>
              <a:t>voisins</a:t>
            </a:r>
            <a:r>
              <a:rPr lang="en-US" sz="1600" dirty="0"/>
              <a:t> </a:t>
            </a:r>
            <a:r>
              <a:rPr lang="en-US" sz="1600" dirty="0" err="1"/>
              <a:t>sont</a:t>
            </a:r>
            <a:r>
              <a:rPr lang="en-US" sz="1600" dirty="0"/>
              <a:t> : (2,2), (5,5), et (6,6).</a:t>
            </a:r>
          </a:p>
          <a:p>
            <a:pPr>
              <a:lnSpc>
                <a:spcPct val="150000"/>
              </a:lnSpc>
              <a:buFont typeface="+mj-lt"/>
              <a:buAutoNum type="arabicPeriod"/>
            </a:pPr>
            <a:r>
              <a:rPr lang="en-US" sz="1600" dirty="0" err="1"/>
              <a:t>Votez</a:t>
            </a:r>
            <a:r>
              <a:rPr lang="en-US" sz="1600" dirty="0"/>
              <a:t> :</a:t>
            </a:r>
          </a:p>
          <a:p>
            <a:pPr marL="742950" lvl="1" indent="-285750">
              <a:lnSpc>
                <a:spcPct val="150000"/>
              </a:lnSpc>
              <a:buFont typeface="+mj-lt"/>
              <a:buAutoNum type="arabicPeriod"/>
            </a:pPr>
            <a:r>
              <a:rPr lang="en-US" sz="1600" dirty="0"/>
              <a:t>Rouge : 1 </a:t>
            </a:r>
            <a:r>
              <a:rPr lang="en-US" sz="1600" dirty="0" err="1"/>
              <a:t>voisin</a:t>
            </a:r>
            <a:endParaRPr lang="en-US" sz="1600" dirty="0"/>
          </a:p>
          <a:p>
            <a:pPr marL="742950" lvl="1" indent="-285750">
              <a:lnSpc>
                <a:spcPct val="150000"/>
              </a:lnSpc>
              <a:buFont typeface="+mj-lt"/>
              <a:buAutoNum type="arabicPeriod"/>
            </a:pPr>
            <a:r>
              <a:rPr lang="en-US" sz="1600" dirty="0"/>
              <a:t>Bleu : 2 </a:t>
            </a:r>
            <a:r>
              <a:rPr lang="en-US" sz="1600" dirty="0" err="1"/>
              <a:t>voisins</a:t>
            </a:r>
            <a:endParaRPr lang="en-US" sz="1600" dirty="0"/>
          </a:p>
          <a:p>
            <a:pPr marL="285750" indent="-285750">
              <a:lnSpc>
                <a:spcPct val="150000"/>
              </a:lnSpc>
              <a:buFont typeface="+mj-lt"/>
              <a:buAutoNum type="arabicPeriod"/>
            </a:pPr>
            <a:r>
              <a:rPr lang="en-US" sz="1600" dirty="0" err="1"/>
              <a:t>Résultat</a:t>
            </a:r>
            <a:r>
              <a:rPr lang="en-US" sz="1600" dirty="0"/>
              <a:t> : La nouvelle donnée </a:t>
            </a:r>
            <a:r>
              <a:rPr lang="en-US" sz="1600" dirty="0" err="1"/>
              <a:t>est</a:t>
            </a:r>
            <a:r>
              <a:rPr lang="en-US" sz="1600" dirty="0"/>
              <a:t> </a:t>
            </a:r>
            <a:r>
              <a:rPr lang="en-US" sz="1600" dirty="0" err="1"/>
              <a:t>classée</a:t>
            </a:r>
            <a:r>
              <a:rPr lang="en-US" sz="1600" dirty="0"/>
              <a:t> </a:t>
            </a:r>
            <a:r>
              <a:rPr lang="en-US" sz="1600" dirty="0" err="1"/>
              <a:t>comme</a:t>
            </a:r>
            <a:r>
              <a:rPr lang="en-US" sz="1600" dirty="0"/>
              <a:t> </a:t>
            </a:r>
            <a:r>
              <a:rPr lang="en-US" sz="1600" b="1" dirty="0"/>
              <a:t>Bleu</a:t>
            </a:r>
            <a:r>
              <a:rPr lang="en-US" sz="1600" dirty="0"/>
              <a:t>.</a:t>
            </a:r>
          </a:p>
          <a:p>
            <a:pPr>
              <a:lnSpc>
                <a:spcPct val="150000"/>
              </a:lnSpc>
            </a:pPr>
            <a:endParaRPr lang="fr-FR" sz="1600" dirty="0"/>
          </a:p>
        </p:txBody>
      </p:sp>
    </p:spTree>
    <p:extLst>
      <p:ext uri="{BB962C8B-B14F-4D97-AF65-F5344CB8AC3E}">
        <p14:creationId xmlns="" xmlns:p14="http://schemas.microsoft.com/office/powerpoint/2010/main" val="105953324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549">
          <a:extLst>
            <a:ext uri="{FF2B5EF4-FFF2-40B4-BE49-F238E27FC236}">
              <a16:creationId xmlns="" xmlns:a16="http://schemas.microsoft.com/office/drawing/2014/main" id="{E0227231-1273-2C4E-E054-C1535F4EA43A}"/>
            </a:ext>
          </a:extLst>
        </p:cNvPr>
        <p:cNvGrpSpPr/>
        <p:nvPr/>
      </p:nvGrpSpPr>
      <p:grpSpPr>
        <a:xfrm>
          <a:off x="0" y="0"/>
          <a:ext cx="0" cy="0"/>
          <a:chOff x="0" y="0"/>
          <a:chExt cx="0" cy="0"/>
        </a:xfrm>
      </p:grpSpPr>
      <p:sp>
        <p:nvSpPr>
          <p:cNvPr id="550" name="Google Shape;550;p18">
            <a:extLst>
              <a:ext uri="{FF2B5EF4-FFF2-40B4-BE49-F238E27FC236}">
                <a16:creationId xmlns="" xmlns:a16="http://schemas.microsoft.com/office/drawing/2014/main" id="{7493FE81-ECC5-BF55-A5D7-01CD5871F947}"/>
              </a:ext>
            </a:extLst>
          </p:cNvPr>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Calcul de similarité </a:t>
            </a:r>
            <a:endParaRPr lang="en" sz="3200" b="1" dirty="0"/>
          </a:p>
        </p:txBody>
      </p:sp>
      <p:sp>
        <p:nvSpPr>
          <p:cNvPr id="551" name="Google Shape;551;p18">
            <a:extLst>
              <a:ext uri="{FF2B5EF4-FFF2-40B4-BE49-F238E27FC236}">
                <a16:creationId xmlns="" xmlns:a16="http://schemas.microsoft.com/office/drawing/2014/main" id="{713E1BEB-816B-4BB2-099E-403759E8A32B}"/>
              </a:ext>
            </a:extLst>
          </p:cNvPr>
          <p:cNvSpPr txBox="1">
            <a:spLocks noGrp="1"/>
          </p:cNvSpPr>
          <p:nvPr>
            <p:ph type="body" idx="1"/>
          </p:nvPr>
        </p:nvSpPr>
        <p:spPr>
          <a:xfrm>
            <a:off x="971600" y="1419622"/>
            <a:ext cx="7532654" cy="3875652"/>
          </a:xfrm>
          <a:prstGeom prst="rect">
            <a:avLst/>
          </a:prstGeom>
        </p:spPr>
        <p:txBody>
          <a:bodyPr spcFirstLastPara="1" wrap="square" lIns="0" tIns="0" rIns="0" bIns="0" anchor="t" anchorCtr="0">
            <a:noAutofit/>
          </a:bodyPr>
          <a:lstStyle/>
          <a:p>
            <a:pPr lvl="0">
              <a:spcBef>
                <a:spcPts val="0"/>
              </a:spcBef>
              <a:buFont typeface="Wingdings" panose="05000000000000000000" pitchFamily="2" charset="2"/>
              <a:buChar char="§"/>
            </a:pPr>
            <a:r>
              <a:rPr lang="fr-FR" sz="2200" dirty="0">
                <a:latin typeface="Barlow Light" panose="020B0604020202020204" charset="0"/>
              </a:rPr>
              <a:t>K-NN a besoin d’une fonction de calcul de distance entre deux observations. </a:t>
            </a:r>
          </a:p>
          <a:p>
            <a:pPr lvl="0">
              <a:spcBef>
                <a:spcPts val="0"/>
              </a:spcBef>
              <a:buFont typeface="Wingdings" panose="05000000000000000000" pitchFamily="2" charset="2"/>
              <a:buChar char="§"/>
            </a:pPr>
            <a:r>
              <a:rPr lang="fr-FR" sz="2200" dirty="0">
                <a:latin typeface="Barlow Light" panose="020B0604020202020204" charset="0"/>
              </a:rPr>
              <a:t>Plus deux points sont proches l’un de l’autre, plus ils sont similaires et vice versa.</a:t>
            </a:r>
          </a:p>
          <a:p>
            <a:pPr lvl="0">
              <a:spcBef>
                <a:spcPts val="0"/>
              </a:spcBef>
              <a:buFont typeface="Wingdings" panose="05000000000000000000" pitchFamily="2" charset="2"/>
              <a:buChar char="§"/>
            </a:pPr>
            <a:r>
              <a:rPr lang="fr-FR" sz="2200" dirty="0">
                <a:latin typeface="Barlow Light" panose="020B0604020202020204" charset="0"/>
              </a:rPr>
              <a:t>Il existe plusieurs fonctions de calcul de distance:</a:t>
            </a:r>
          </a:p>
          <a:p>
            <a:pPr lvl="1">
              <a:buFont typeface="Arial" panose="020B0604020202020204" pitchFamily="34" charset="0"/>
              <a:buChar char="•"/>
            </a:pPr>
            <a:r>
              <a:rPr lang="fr-FR" sz="2200" dirty="0">
                <a:latin typeface="Barlow Light" panose="020B0604020202020204" charset="0"/>
              </a:rPr>
              <a:t>La distance euclidienne, </a:t>
            </a:r>
          </a:p>
          <a:p>
            <a:pPr lvl="1">
              <a:buFont typeface="Arial" panose="020B0604020202020204" pitchFamily="34" charset="0"/>
              <a:buChar char="•"/>
            </a:pPr>
            <a:r>
              <a:rPr lang="fr-FR" sz="2200" dirty="0">
                <a:latin typeface="Barlow Light" panose="020B0604020202020204" charset="0"/>
              </a:rPr>
              <a:t>La distance de Manhattan, </a:t>
            </a:r>
          </a:p>
          <a:p>
            <a:pPr lvl="1">
              <a:buFont typeface="Arial" panose="020B0604020202020204" pitchFamily="34" charset="0"/>
              <a:buChar char="•"/>
            </a:pPr>
            <a:r>
              <a:rPr lang="fr-FR" sz="2200" dirty="0">
                <a:latin typeface="Barlow Light" panose="020B0604020202020204" charset="0"/>
              </a:rPr>
              <a:t>La distance de Minkowski</a:t>
            </a:r>
          </a:p>
          <a:p>
            <a:pPr lvl="1">
              <a:buFont typeface="Arial" panose="020B0604020202020204" pitchFamily="34" charset="0"/>
              <a:buChar char="•"/>
            </a:pPr>
            <a:r>
              <a:rPr lang="fr-FR" sz="2200" dirty="0">
                <a:latin typeface="Barlow Light" panose="020B0604020202020204" charset="0"/>
              </a:rPr>
              <a:t>La distance de </a:t>
            </a:r>
            <a:r>
              <a:rPr lang="fr-FR" sz="2200" dirty="0" err="1">
                <a:latin typeface="Barlow Light" panose="020B0604020202020204" charset="0"/>
              </a:rPr>
              <a:t>Hamming</a:t>
            </a:r>
            <a:endParaRPr lang="fr-FR" sz="2200" dirty="0">
              <a:latin typeface="Barlow Light" panose="020B0604020202020204" charset="0"/>
            </a:endParaRPr>
          </a:p>
        </p:txBody>
      </p:sp>
      <p:sp>
        <p:nvSpPr>
          <p:cNvPr id="552" name="Google Shape;552;p18">
            <a:extLst>
              <a:ext uri="{FF2B5EF4-FFF2-40B4-BE49-F238E27FC236}">
                <a16:creationId xmlns="" xmlns:a16="http://schemas.microsoft.com/office/drawing/2014/main" id="{C50DE5B6-D61C-6DA2-A3F0-33407CAAFB39}"/>
              </a:ext>
            </a:extLst>
          </p:cNvPr>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87</a:t>
            </a:fld>
            <a:endParaRPr/>
          </a:p>
        </p:txBody>
      </p:sp>
    </p:spTree>
    <p:extLst>
      <p:ext uri="{BB962C8B-B14F-4D97-AF65-F5344CB8AC3E}">
        <p14:creationId xmlns="" xmlns:p14="http://schemas.microsoft.com/office/powerpoint/2010/main" val="35248470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Calcul de similarité </a:t>
            </a:r>
            <a:endParaRPr lang="en" sz="3200" b="1" dirty="0"/>
          </a:p>
        </p:txBody>
      </p:sp>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La fonction de distance est choisie en fonction des types de données manipulés.</a:t>
            </a:r>
          </a:p>
          <a:p>
            <a:pPr lvl="0">
              <a:buFont typeface="Wingdings" panose="05000000000000000000" pitchFamily="2" charset="2"/>
              <a:buChar char="§"/>
            </a:pPr>
            <a:r>
              <a:rPr lang="fr-FR" sz="2000" dirty="0"/>
              <a:t>La distance commune pour des variables </a:t>
            </a:r>
            <a:r>
              <a:rPr lang="fr-FR" sz="2000" b="1" dirty="0"/>
              <a:t>continues</a:t>
            </a:r>
            <a:r>
              <a:rPr lang="fr-FR" sz="2000" dirty="0"/>
              <a:t> est la </a:t>
            </a:r>
            <a:r>
              <a:rPr lang="fr-FR" sz="2000" b="1" dirty="0"/>
              <a:t>distance euclidienne</a:t>
            </a:r>
            <a:r>
              <a:rPr lang="fr-FR" sz="2000" dirty="0"/>
              <a:t>. </a:t>
            </a:r>
          </a:p>
          <a:p>
            <a:pPr lvl="0">
              <a:buFont typeface="Wingdings" panose="05000000000000000000" pitchFamily="2" charset="2"/>
              <a:buChar char="§"/>
            </a:pPr>
            <a:r>
              <a:rPr lang="fr-FR" sz="2000" dirty="0"/>
              <a:t>Pour des variables </a:t>
            </a:r>
            <a:r>
              <a:rPr lang="fr-FR" sz="2000" b="1" dirty="0"/>
              <a:t>discrètes</a:t>
            </a:r>
            <a:r>
              <a:rPr lang="fr-FR" sz="2000" dirty="0"/>
              <a:t>, comme en classification de texte, une autre distance peut être utilisée, telle que la </a:t>
            </a:r>
            <a:r>
              <a:rPr lang="fr-FR" sz="2000" b="1" dirty="0"/>
              <a:t>distance de </a:t>
            </a:r>
            <a:r>
              <a:rPr lang="fr-FR" sz="2000" b="1" dirty="0" err="1"/>
              <a:t>Hamming</a:t>
            </a:r>
            <a:r>
              <a:rPr lang="fr-FR" sz="2000" dirty="0"/>
              <a:t>.</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88</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La distance euclidienne</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Distance qui calcule la racine carrée de la somme des différences carrées entre les coordonnées de deux points</a:t>
                </a:r>
              </a:p>
              <a:p>
                <a:pPr marL="76200" lvl="0" indent="0">
                  <a:buNone/>
                </a:pPr>
                <a14:m>
                  <m:oMathPara xmlns:m="http://schemas.openxmlformats.org/officeDocument/2006/math">
                    <m:oMathParaPr>
                      <m:jc m:val="centerGroup"/>
                    </m:oMathParaPr>
                    <m:oMath xmlns:m="http://schemas.openxmlformats.org/officeDocument/2006/math">
                      <m:sSub>
                        <m:sSubPr>
                          <m:ctrlPr>
                            <a:rPr lang="fr-FR" sz="2000" i="1" smtClean="0">
                              <a:latin typeface="Cambria Math" panose="02040503050406030204" pitchFamily="18" charset="0"/>
                            </a:rPr>
                          </m:ctrlPr>
                        </m:sSubPr>
                        <m:e>
                          <m:r>
                            <a:rPr lang="fr-FR" sz="2000" b="0" i="1" smtClean="0">
                              <a:latin typeface="Cambria Math" panose="02040503050406030204" pitchFamily="18" charset="0"/>
                            </a:rPr>
                            <m:t>𝐷</m:t>
                          </m:r>
                        </m:e>
                        <m:sub>
                          <m:r>
                            <a:rPr lang="fr-FR" sz="2000" b="0" i="1" smtClean="0">
                              <a:latin typeface="Cambria Math" panose="02040503050406030204" pitchFamily="18" charset="0"/>
                            </a:rPr>
                            <m:t>𝑒</m:t>
                          </m:r>
                        </m:sub>
                      </m:sSub>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𝑥</m:t>
                          </m:r>
                          <m:r>
                            <a:rPr lang="fr-FR" sz="2000" b="0" i="1" smtClean="0">
                              <a:latin typeface="Cambria Math" panose="02040503050406030204" pitchFamily="18" charset="0"/>
                            </a:rPr>
                            <m:t>,</m:t>
                          </m:r>
                          <m:r>
                            <a:rPr lang="fr-FR" sz="2000" b="0" i="1" smtClean="0">
                              <a:latin typeface="Cambria Math" panose="02040503050406030204" pitchFamily="18" charset="0"/>
                            </a:rPr>
                            <m:t>𝑦</m:t>
                          </m:r>
                        </m:e>
                      </m:d>
                      <m:r>
                        <a:rPr lang="fr-FR" sz="2000" b="0" i="1" smtClean="0">
                          <a:latin typeface="Cambria Math" panose="02040503050406030204" pitchFamily="18" charset="0"/>
                        </a:rPr>
                        <m:t>= </m:t>
                      </m:r>
                      <m:rad>
                        <m:radPr>
                          <m:degHide m:val="on"/>
                          <m:ctrlPr>
                            <a:rPr lang="fr-FR" sz="2000" b="0" i="1" smtClean="0">
                              <a:latin typeface="Cambria Math" panose="02040503050406030204" pitchFamily="18" charset="0"/>
                            </a:rPr>
                          </m:ctrlPr>
                        </m:radPr>
                        <m:deg/>
                        <m:e>
                          <m:nary>
                            <m:naryPr>
                              <m:chr m:val="∑"/>
                              <m:limLoc m:val="subSup"/>
                              <m:ctrlPr>
                                <a:rPr lang="fr-FR" sz="2000" b="0" i="1" smtClean="0">
                                  <a:latin typeface="Cambria Math" panose="02040503050406030204" pitchFamily="18" charset="0"/>
                                </a:rPr>
                              </m:ctrlPr>
                            </m:naryPr>
                            <m:sub>
                              <m:r>
                                <m:rPr>
                                  <m:brk m:alnAt="25"/>
                                </m:rPr>
                                <a:rPr lang="fr-FR" sz="2000" b="0" i="1" smtClean="0">
                                  <a:latin typeface="Cambria Math" panose="02040503050406030204" pitchFamily="18" charset="0"/>
                                </a:rPr>
                                <m:t>𝑗</m:t>
                              </m:r>
                              <m:r>
                                <a:rPr lang="fr-FR" sz="2000" b="0" i="1" smtClean="0">
                                  <a:latin typeface="Cambria Math" panose="02040503050406030204" pitchFamily="18" charset="0"/>
                                </a:rPr>
                                <m:t>=1</m:t>
                              </m:r>
                            </m:sub>
                            <m:sup>
                              <m:r>
                                <a:rPr lang="fr-FR" sz="2000" b="0" i="1" smtClean="0">
                                  <a:latin typeface="Cambria Math" panose="02040503050406030204" pitchFamily="18" charset="0"/>
                                </a:rPr>
                                <m:t>𝑛</m:t>
                              </m:r>
                            </m:sup>
                            <m:e>
                              <m:sSup>
                                <m:sSupPr>
                                  <m:ctrlPr>
                                    <a:rPr lang="fr-FR" sz="2000" b="0" i="1" smtClean="0">
                                      <a:latin typeface="Cambria Math" panose="02040503050406030204" pitchFamily="18" charset="0"/>
                                    </a:rPr>
                                  </m:ctrlPr>
                                </m:sSupPr>
                                <m:e>
                                  <m:r>
                                    <a:rPr lang="fr-FR" sz="2000" i="1">
                                      <a:latin typeface="Cambria Math" panose="02040503050406030204" pitchFamily="18" charset="0"/>
                                    </a:rPr>
                                    <m:t>(</m:t>
                                  </m:r>
                                  <m:sSub>
                                    <m:sSubPr>
                                      <m:ctrlPr>
                                        <a:rPr lang="fr-FR" sz="2000" i="1">
                                          <a:latin typeface="Cambria Math" panose="02040503050406030204" pitchFamily="18" charset="0"/>
                                        </a:rPr>
                                      </m:ctrlPr>
                                    </m:sSubPr>
                                    <m:e>
                                      <m:r>
                                        <a:rPr lang="fr-FR" sz="2000" b="0" i="1" smtClean="0">
                                          <a:latin typeface="Cambria Math" panose="02040503050406030204" pitchFamily="18" charset="0"/>
                                        </a:rPr>
                                        <m:t>𝑥</m:t>
                                      </m:r>
                                    </m:e>
                                    <m:sub>
                                      <m:r>
                                        <a:rPr lang="fr-FR" sz="2000" b="0" i="1" smtClean="0">
                                          <a:latin typeface="Cambria Math" panose="02040503050406030204" pitchFamily="18" charset="0"/>
                                        </a:rPr>
                                        <m:t>𝑗</m:t>
                                      </m:r>
                                    </m:sub>
                                  </m:sSub>
                                  <m:r>
                                    <a:rPr lang="fr-FR" sz="2000" i="1">
                                      <a:latin typeface="Cambria Math" panose="02040503050406030204" pitchFamily="18" charset="0"/>
                                    </a:rPr>
                                    <m:t> − </m:t>
                                  </m:r>
                                  <m:sSub>
                                    <m:sSubPr>
                                      <m:ctrlPr>
                                        <a:rPr lang="fr-FR" sz="2000" i="1">
                                          <a:latin typeface="Cambria Math" panose="02040503050406030204" pitchFamily="18" charset="0"/>
                                        </a:rPr>
                                      </m:ctrlPr>
                                    </m:sSubPr>
                                    <m:e>
                                      <m:r>
                                        <a:rPr lang="fr-FR" sz="2000" b="0" i="1" smtClean="0">
                                          <a:latin typeface="Cambria Math" panose="02040503050406030204" pitchFamily="18" charset="0"/>
                                        </a:rPr>
                                        <m:t>𝑦</m:t>
                                      </m:r>
                                    </m:e>
                                    <m:sub>
                                      <m:r>
                                        <a:rPr lang="fr-FR" sz="2000" b="0" i="1" smtClean="0">
                                          <a:latin typeface="Cambria Math" panose="02040503050406030204" pitchFamily="18" charset="0"/>
                                        </a:rPr>
                                        <m:t>𝑗</m:t>
                                      </m:r>
                                    </m:sub>
                                  </m:sSub>
                                  <m:r>
                                    <a:rPr lang="fr-FR" sz="2000" i="1">
                                      <a:latin typeface="Cambria Math" panose="02040503050406030204" pitchFamily="18" charset="0"/>
                                    </a:rPr>
                                    <m:t>)</m:t>
                                  </m:r>
                                </m:e>
                                <m:sup>
                                  <m:r>
                                    <a:rPr lang="fr-FR" sz="2000" b="0" i="1" smtClean="0">
                                      <a:latin typeface="Cambria Math" panose="02040503050406030204" pitchFamily="18" charset="0"/>
                                    </a:rPr>
                                    <m:t>2</m:t>
                                  </m:r>
                                </m:sup>
                              </m:sSup>
                            </m:e>
                          </m:nary>
                        </m:e>
                      </m:rad>
                    </m:oMath>
                  </m:oMathPara>
                </a14:m>
                <a:endParaRPr lang="fr-FR" sz="2000" dirty="0"/>
              </a:p>
              <a:p>
                <a:pPr lvl="0">
                  <a:buFont typeface="Wingdings" panose="05000000000000000000" pitchFamily="2" charset="2"/>
                  <a:buChar char="§"/>
                </a:pPr>
                <a:endParaRPr lang="fr-FR" sz="2000" dirty="0"/>
              </a:p>
              <a:p>
                <a:pPr>
                  <a:spcAft>
                    <a:spcPts val="600"/>
                  </a:spcAft>
                  <a:buFont typeface="Wingdings" panose="05000000000000000000" pitchFamily="2" charset="2"/>
                  <a:buChar char="§"/>
                </a:pPr>
                <a:r>
                  <a:rPr lang="fr-FR" sz="2000" b="1" dirty="0"/>
                  <a:t>Exemple</a:t>
                </a:r>
                <a:r>
                  <a:rPr lang="fr-FR" sz="2000" dirty="0"/>
                  <a:t>: 	X={-2, 2},     Y ={2, 5}</a:t>
                </a:r>
              </a:p>
              <a:p>
                <a:pPr marL="76200" lvl="0" indent="0">
                  <a:buNone/>
                </a:pPr>
                <a14:m>
                  <m:oMathPara xmlns:m="http://schemas.openxmlformats.org/officeDocument/2006/math">
                    <m:oMathParaPr>
                      <m:jc m:val="centerGroup"/>
                    </m:oMathParaPr>
                    <m:oMath xmlns:m="http://schemas.openxmlformats.org/officeDocument/2006/math">
                      <m:sSub>
                        <m:sSubPr>
                          <m:ctrlPr>
                            <a:rPr lang="fr-FR" sz="2000" i="1" smtClean="0">
                              <a:latin typeface="Cambria Math" panose="02040503050406030204" pitchFamily="18" charset="0"/>
                            </a:rPr>
                          </m:ctrlPr>
                        </m:sSubPr>
                        <m:e>
                          <m:r>
                            <a:rPr lang="fr-FR" sz="2000" b="0" i="1" smtClean="0">
                              <a:latin typeface="Cambria Math" panose="02040503050406030204" pitchFamily="18" charset="0"/>
                            </a:rPr>
                            <m:t>𝐷</m:t>
                          </m:r>
                        </m:e>
                        <m:sub>
                          <m:r>
                            <a:rPr lang="fr-FR" sz="2000" b="0" i="1" smtClean="0">
                              <a:latin typeface="Cambria Math" panose="02040503050406030204" pitchFamily="18" charset="0"/>
                            </a:rPr>
                            <m:t>𝑒</m:t>
                          </m:r>
                        </m:sub>
                      </m:sSub>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𝑥</m:t>
                          </m:r>
                          <m:r>
                            <a:rPr lang="fr-FR" sz="2000" b="0" i="1" smtClean="0">
                              <a:latin typeface="Cambria Math" panose="02040503050406030204" pitchFamily="18" charset="0"/>
                            </a:rPr>
                            <m:t>,</m:t>
                          </m:r>
                          <m:r>
                            <a:rPr lang="fr-FR" sz="2000" b="0" i="1" smtClean="0">
                              <a:latin typeface="Cambria Math" panose="02040503050406030204" pitchFamily="18" charset="0"/>
                            </a:rPr>
                            <m:t>𝑦</m:t>
                          </m:r>
                        </m:e>
                      </m:d>
                      <m:r>
                        <a:rPr lang="fr-FR" sz="2000" b="0" i="1" smtClean="0">
                          <a:latin typeface="Cambria Math" panose="02040503050406030204" pitchFamily="18" charset="0"/>
                        </a:rPr>
                        <m:t>= </m:t>
                      </m:r>
                      <m:rad>
                        <m:radPr>
                          <m:degHide m:val="on"/>
                          <m:ctrlPr>
                            <a:rPr lang="fr-FR" sz="2000" b="0" i="1" smtClean="0">
                              <a:latin typeface="Cambria Math" panose="02040503050406030204" pitchFamily="18" charset="0"/>
                            </a:rPr>
                          </m:ctrlPr>
                        </m:radPr>
                        <m:deg/>
                        <m:e>
                          <m:sSup>
                            <m:sSupPr>
                              <m:ctrlPr>
                                <a:rPr lang="fr-FR" sz="2000" i="1">
                                  <a:latin typeface="Cambria Math" panose="02040503050406030204" pitchFamily="18" charset="0"/>
                                </a:rPr>
                              </m:ctrlPr>
                            </m:sSupPr>
                            <m:e>
                              <m:r>
                                <a:rPr lang="fr-FR" sz="2000" i="1">
                                  <a:latin typeface="Cambria Math" panose="02040503050406030204" pitchFamily="18" charset="0"/>
                                </a:rPr>
                                <m:t>(</m:t>
                              </m:r>
                              <m:r>
                                <a:rPr lang="fr-FR" sz="2000" b="0" i="1" smtClean="0">
                                  <a:latin typeface="Cambria Math" panose="02040503050406030204" pitchFamily="18" charset="0"/>
                                </a:rPr>
                                <m:t>−2</m:t>
                              </m:r>
                              <m:r>
                                <a:rPr lang="fr-FR" sz="2000" i="1">
                                  <a:latin typeface="Cambria Math" panose="02040503050406030204" pitchFamily="18" charset="0"/>
                                </a:rPr>
                                <m:t>−</m:t>
                              </m:r>
                              <m:r>
                                <a:rPr lang="fr-FR" sz="2000" b="0" i="1" smtClean="0">
                                  <a:latin typeface="Cambria Math" panose="02040503050406030204" pitchFamily="18" charset="0"/>
                                </a:rPr>
                                <m:t>2</m:t>
                              </m:r>
                              <m:r>
                                <a:rPr lang="fr-FR" sz="2000" i="1">
                                  <a:latin typeface="Cambria Math" panose="02040503050406030204" pitchFamily="18" charset="0"/>
                                </a:rPr>
                                <m:t>)</m:t>
                              </m:r>
                            </m:e>
                            <m:sup>
                              <m:r>
                                <a:rPr lang="fr-FR" sz="2000" i="1">
                                  <a:latin typeface="Cambria Math" panose="02040503050406030204" pitchFamily="18" charset="0"/>
                                </a:rPr>
                                <m:t>2</m:t>
                              </m:r>
                            </m:sup>
                          </m:sSup>
                          <m:r>
                            <a:rPr lang="fr-FR" sz="2000" b="0" i="1" smtClean="0">
                              <a:latin typeface="Cambria Math" panose="02040503050406030204" pitchFamily="18" charset="0"/>
                            </a:rPr>
                            <m:t>+</m:t>
                          </m:r>
                          <m:sSup>
                            <m:sSupPr>
                              <m:ctrlPr>
                                <a:rPr lang="fr-FR" sz="2000" i="1">
                                  <a:latin typeface="Cambria Math" panose="02040503050406030204" pitchFamily="18" charset="0"/>
                                </a:rPr>
                              </m:ctrlPr>
                            </m:sSupPr>
                            <m:e>
                              <m:r>
                                <a:rPr lang="fr-FR" sz="2000" i="1">
                                  <a:latin typeface="Cambria Math" panose="02040503050406030204" pitchFamily="18" charset="0"/>
                                </a:rPr>
                                <m:t>(2−</m:t>
                              </m:r>
                              <m:r>
                                <a:rPr lang="fr-FR" sz="2000" b="0" i="1" smtClean="0">
                                  <a:latin typeface="Cambria Math" panose="02040503050406030204" pitchFamily="18" charset="0"/>
                                </a:rPr>
                                <m:t>5</m:t>
                              </m:r>
                              <m:r>
                                <a:rPr lang="fr-FR" sz="2000" i="1">
                                  <a:latin typeface="Cambria Math" panose="02040503050406030204" pitchFamily="18" charset="0"/>
                                </a:rPr>
                                <m:t>)</m:t>
                              </m:r>
                            </m:e>
                            <m:sup>
                              <m:r>
                                <a:rPr lang="fr-FR" sz="2000" i="1">
                                  <a:latin typeface="Cambria Math" panose="02040503050406030204" pitchFamily="18" charset="0"/>
                                </a:rPr>
                                <m:t>2</m:t>
                              </m:r>
                            </m:sup>
                          </m:sSup>
                        </m:e>
                      </m:rad>
                      <m:r>
                        <a:rPr lang="fr-FR" sz="2000" b="0" i="0" smtClean="0">
                          <a:latin typeface="Cambria Math" panose="02040503050406030204" pitchFamily="18" charset="0"/>
                        </a:rPr>
                        <m:t> </m:t>
                      </m:r>
                      <m:r>
                        <a:rPr lang="fr-FR" sz="2000" b="0" i="1" smtClean="0">
                          <a:latin typeface="Cambria Math" panose="02040503050406030204" pitchFamily="18" charset="0"/>
                          <a:ea typeface="Cambria Math" panose="02040503050406030204" pitchFamily="18" charset="0"/>
                        </a:rPr>
                        <m:t>=</m:t>
                      </m:r>
                      <m:rad>
                        <m:radPr>
                          <m:degHide m:val="on"/>
                          <m:ctrlPr>
                            <a:rPr lang="fr-FR" sz="2000" b="0" i="1" smtClean="0">
                              <a:latin typeface="Cambria Math" panose="02040503050406030204" pitchFamily="18" charset="0"/>
                            </a:rPr>
                          </m:ctrlPr>
                        </m:radPr>
                        <m:deg/>
                        <m:e>
                          <m:r>
                            <a:rPr lang="fr-FR" sz="2000" b="0" i="1" smtClean="0">
                              <a:latin typeface="Cambria Math" panose="02040503050406030204" pitchFamily="18" charset="0"/>
                            </a:rPr>
                            <m:t>16+9</m:t>
                          </m:r>
                        </m:e>
                      </m:rad>
                      <m:r>
                        <a:rPr lang="fr-FR" sz="200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5</m:t>
                      </m:r>
                    </m:oMath>
                  </m:oMathPara>
                </a14:m>
                <a:endParaRPr lang="fr-FR" sz="2000" dirty="0"/>
              </a:p>
              <a:p>
                <a:pPr marL="76200" lvl="0" indent="0">
                  <a:buNone/>
                </a:pPr>
                <a:endParaRPr lang="fr-FR" sz="20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635646"/>
                <a:ext cx="7532654" cy="3291830"/>
              </a:xfrm>
              <a:prstGeom prst="rect">
                <a:avLst/>
              </a:prstGeom>
              <a:blipFill>
                <a:blip r:embed="rId3"/>
                <a:stretch>
                  <a:fillRect l="-1214" t="-556"/>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89</a:t>
            </a:fld>
            <a:endParaRPr/>
          </a:p>
        </p:txBody>
      </p:sp>
    </p:spTree>
    <p:extLst>
      <p:ext uri="{BB962C8B-B14F-4D97-AF65-F5344CB8AC3E}">
        <p14:creationId xmlns="" xmlns:p14="http://schemas.microsoft.com/office/powerpoint/2010/main" val="3964277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51">
                                            <p:txEl>
                                              <p:charRg st="2" end="2"/>
                                            </p:txEl>
                                          </p:spTgt>
                                        </p:tgtEl>
                                        <p:attrNameLst>
                                          <p:attrName>style.visibility</p:attrName>
                                        </p:attrNameLst>
                                      </p:cBhvr>
                                      <p:to>
                                        <p:strVal val="visible"/>
                                      </p:to>
                                    </p:set>
                                    <p:animEffect transition="in" filter="fade">
                                      <p:cBhvr>
                                        <p:cTn id="7" dur="500"/>
                                        <p:tgtEl>
                                          <p:spTgt spid="551">
                                            <p:txEl>
                                              <p:charRg st="2" end="2"/>
                                            </p:txEl>
                                          </p:spTgt>
                                        </p:tgtEl>
                                      </p:cBhvr>
                                    </p:animEffect>
                                    <p:anim calcmode="lin" valueType="num">
                                      <p:cBhvr>
                                        <p:cTn id="8" dur="500" fill="hold"/>
                                        <p:tgtEl>
                                          <p:spTgt spid="551">
                                            <p:txEl>
                                              <p:charRg st="2" end="2"/>
                                            </p:txEl>
                                          </p:spTgt>
                                        </p:tgtEl>
                                        <p:attrNameLst>
                                          <p:attrName>ppt_x</p:attrName>
                                        </p:attrNameLst>
                                      </p:cBhvr>
                                      <p:tavLst>
                                        <p:tav tm="0">
                                          <p:val>
                                            <p:strVal val="#ppt_x"/>
                                          </p:val>
                                        </p:tav>
                                        <p:tav tm="100000">
                                          <p:val>
                                            <p:strVal val="#ppt_x"/>
                                          </p:val>
                                        </p:tav>
                                      </p:tavLst>
                                    </p:anim>
                                    <p:anim calcmode="lin" valueType="num">
                                      <p:cBhvr>
                                        <p:cTn id="9" dur="500" fill="hold"/>
                                        <p:tgtEl>
                                          <p:spTgt spid="551">
                                            <p:txEl>
                                              <p:char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La distance Manhattan </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la distance de Manhattan: calcule la somme des valeurs absolues des différences entre les coordonnées de deux points :</a:t>
                </a:r>
              </a:p>
              <a:p>
                <a:pPr marL="76200" lvl="0" indent="0">
                  <a:buNone/>
                </a:pPr>
                <a14:m>
                  <m:oMathPara xmlns:m="http://schemas.openxmlformats.org/officeDocument/2006/math">
                    <m:oMathParaPr>
                      <m:jc m:val="centerGroup"/>
                    </m:oMathParaPr>
                    <m:oMath xmlns:m="http://schemas.openxmlformats.org/officeDocument/2006/math">
                      <m:sSub>
                        <m:sSubPr>
                          <m:ctrlPr>
                            <a:rPr lang="fr-FR" sz="2000" i="1" smtClean="0">
                              <a:latin typeface="Cambria Math" panose="02040503050406030204" pitchFamily="18" charset="0"/>
                            </a:rPr>
                          </m:ctrlPr>
                        </m:sSubPr>
                        <m:e>
                          <m:r>
                            <a:rPr lang="fr-FR" sz="2000" b="0" i="1" smtClean="0">
                              <a:latin typeface="Cambria Math" panose="02040503050406030204" pitchFamily="18" charset="0"/>
                            </a:rPr>
                            <m:t>𝐷</m:t>
                          </m:r>
                        </m:e>
                        <m:sub>
                          <m:r>
                            <a:rPr lang="fr-FR" sz="2000" b="0" i="1" smtClean="0">
                              <a:latin typeface="Cambria Math" panose="02040503050406030204" pitchFamily="18" charset="0"/>
                            </a:rPr>
                            <m:t>𝑚</m:t>
                          </m:r>
                        </m:sub>
                      </m:sSub>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𝑥</m:t>
                          </m:r>
                          <m:r>
                            <a:rPr lang="fr-FR" sz="2000" b="0" i="1" smtClean="0">
                              <a:latin typeface="Cambria Math" panose="02040503050406030204" pitchFamily="18" charset="0"/>
                            </a:rPr>
                            <m:t>,</m:t>
                          </m:r>
                          <m:r>
                            <a:rPr lang="fr-FR" sz="2000" b="0" i="1" smtClean="0">
                              <a:latin typeface="Cambria Math" panose="02040503050406030204" pitchFamily="18" charset="0"/>
                            </a:rPr>
                            <m:t>𝑦</m:t>
                          </m:r>
                        </m:e>
                      </m:d>
                      <m:r>
                        <a:rPr lang="fr-FR" sz="2000" b="0" i="1" smtClean="0">
                          <a:latin typeface="Cambria Math" panose="02040503050406030204" pitchFamily="18" charset="0"/>
                        </a:rPr>
                        <m:t>=</m:t>
                      </m:r>
                      <m:nary>
                        <m:naryPr>
                          <m:chr m:val="∑"/>
                          <m:limLoc m:val="subSup"/>
                          <m:ctrlPr>
                            <a:rPr lang="fr-FR" sz="2000" b="0" i="1" smtClean="0">
                              <a:latin typeface="Cambria Math" panose="02040503050406030204" pitchFamily="18" charset="0"/>
                            </a:rPr>
                          </m:ctrlPr>
                        </m:naryPr>
                        <m:sub>
                          <m:r>
                            <m:rPr>
                              <m:brk m:alnAt="25"/>
                            </m:rPr>
                            <a:rPr lang="fr-FR" sz="2000" b="0" i="1" smtClean="0">
                              <a:latin typeface="Cambria Math" panose="02040503050406030204" pitchFamily="18" charset="0"/>
                            </a:rPr>
                            <m:t>𝑗</m:t>
                          </m:r>
                          <m:r>
                            <a:rPr lang="fr-FR" sz="2000" b="0" i="1" smtClean="0">
                              <a:latin typeface="Cambria Math" panose="02040503050406030204" pitchFamily="18" charset="0"/>
                            </a:rPr>
                            <m:t>=1</m:t>
                          </m:r>
                        </m:sub>
                        <m:sup>
                          <m:r>
                            <a:rPr lang="fr-FR" sz="2000" b="0" i="1" smtClean="0">
                              <a:latin typeface="Cambria Math" panose="02040503050406030204" pitchFamily="18" charset="0"/>
                            </a:rPr>
                            <m:t>𝑛</m:t>
                          </m:r>
                        </m:sup>
                        <m:e>
                          <m:r>
                            <a:rPr lang="fr-FR" sz="2000" b="0" i="1" smtClean="0">
                              <a:latin typeface="Cambria Math" panose="02040503050406030204" pitchFamily="18" charset="0"/>
                            </a:rPr>
                            <m:t> </m:t>
                          </m:r>
                          <m:d>
                            <m:dPr>
                              <m:begChr m:val="|"/>
                              <m:endChr m:val="|"/>
                              <m:ctrlPr>
                                <a:rPr lang="fr-FR" sz="2000" b="0" i="1" smtClean="0">
                                  <a:latin typeface="Cambria Math" panose="02040503050406030204" pitchFamily="18" charset="0"/>
                                </a:rPr>
                              </m:ctrlPr>
                            </m:dPr>
                            <m:e>
                              <m:sSub>
                                <m:sSubPr>
                                  <m:ctrlPr>
                                    <a:rPr lang="fr-FR" sz="2000" b="0" i="1" smtClean="0">
                                      <a:latin typeface="Cambria Math" panose="02040503050406030204" pitchFamily="18" charset="0"/>
                                    </a:rPr>
                                  </m:ctrlPr>
                                </m:sSubPr>
                                <m:e>
                                  <m:r>
                                    <a:rPr lang="fr-FR" sz="2000" b="0" i="1" smtClean="0">
                                      <a:latin typeface="Cambria Math" panose="02040503050406030204" pitchFamily="18" charset="0"/>
                                    </a:rPr>
                                    <m:t>𝑥</m:t>
                                  </m:r>
                                </m:e>
                                <m:sub>
                                  <m:r>
                                    <a:rPr lang="fr-FR" sz="2000" b="0" i="1" smtClean="0">
                                      <a:latin typeface="Cambria Math" panose="02040503050406030204" pitchFamily="18" charset="0"/>
                                    </a:rPr>
                                    <m:t>𝑗</m:t>
                                  </m:r>
                                </m:sub>
                              </m:sSub>
                              <m:r>
                                <a:rPr lang="fr-FR" sz="2000" b="0" i="1" smtClean="0">
                                  <a:latin typeface="Cambria Math" panose="02040503050406030204" pitchFamily="18" charset="0"/>
                                </a:rPr>
                                <m:t> − </m:t>
                              </m:r>
                              <m:sSub>
                                <m:sSubPr>
                                  <m:ctrlPr>
                                    <a:rPr lang="fr-FR" sz="2000" b="0" i="1" smtClean="0">
                                      <a:latin typeface="Cambria Math" panose="02040503050406030204" pitchFamily="18" charset="0"/>
                                    </a:rPr>
                                  </m:ctrlPr>
                                </m:sSubPr>
                                <m:e>
                                  <m:r>
                                    <a:rPr lang="fr-FR" sz="2000" b="0" i="1" smtClean="0">
                                      <a:latin typeface="Cambria Math" panose="02040503050406030204" pitchFamily="18" charset="0"/>
                                    </a:rPr>
                                    <m:t>𝑦</m:t>
                                  </m:r>
                                </m:e>
                                <m:sub>
                                  <m:r>
                                    <a:rPr lang="fr-FR" sz="2000" b="0" i="1" smtClean="0">
                                      <a:latin typeface="Cambria Math" panose="02040503050406030204" pitchFamily="18" charset="0"/>
                                    </a:rPr>
                                    <m:t>𝑗</m:t>
                                  </m:r>
                                </m:sub>
                              </m:sSub>
                            </m:e>
                          </m:d>
                        </m:e>
                      </m:nary>
                    </m:oMath>
                  </m:oMathPara>
                </a14:m>
                <a:endParaRPr lang="fr-FR" sz="2000" dirty="0"/>
              </a:p>
              <a:p>
                <a:pPr marL="76200" lvl="0" indent="0">
                  <a:buNone/>
                </a:pPr>
                <a:endParaRPr lang="fr-FR" sz="2000" dirty="0"/>
              </a:p>
              <a:p>
                <a:pPr>
                  <a:buFont typeface="Wingdings" panose="05000000000000000000" pitchFamily="2" charset="2"/>
                  <a:buChar char="§"/>
                </a:pPr>
                <a:r>
                  <a:rPr lang="fr-FR" sz="2000" b="1" dirty="0"/>
                  <a:t>Exemple</a:t>
                </a:r>
                <a:r>
                  <a:rPr lang="fr-FR" sz="2000" dirty="0"/>
                  <a:t>: 	X={1, 2},     Y ={2, 5}</a:t>
                </a:r>
              </a:p>
              <a:p>
                <a:pPr marL="76200" indent="0">
                  <a:buNone/>
                </a:pPr>
                <a:r>
                  <a:rPr lang="fr-FR" sz="2000" dirty="0"/>
                  <a:t>	</a:t>
                </a:r>
                <a14:m>
                  <m:oMath xmlns:m="http://schemas.openxmlformats.org/officeDocument/2006/math">
                    <m:sSub>
                      <m:sSubPr>
                        <m:ctrlPr>
                          <a:rPr lang="fr-FR" sz="2000" i="1" smtClean="0">
                            <a:latin typeface="Cambria Math" panose="02040503050406030204" pitchFamily="18" charset="0"/>
                          </a:rPr>
                        </m:ctrlPr>
                      </m:sSubPr>
                      <m:e>
                        <m:r>
                          <a:rPr lang="fr-FR" sz="2000" b="0" i="1" smtClean="0">
                            <a:latin typeface="Cambria Math" panose="02040503050406030204" pitchFamily="18" charset="0"/>
                          </a:rPr>
                          <m:t>𝐷</m:t>
                        </m:r>
                      </m:e>
                      <m:sub>
                        <m:r>
                          <a:rPr lang="fr-FR" sz="2000" b="0" i="1" smtClean="0">
                            <a:latin typeface="Cambria Math" panose="02040503050406030204" pitchFamily="18" charset="0"/>
                          </a:rPr>
                          <m:t>𝑚</m:t>
                        </m:r>
                      </m:sub>
                    </m:sSub>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𝑥</m:t>
                        </m:r>
                        <m:r>
                          <a:rPr lang="fr-FR" sz="2000" b="0" i="1" smtClean="0">
                            <a:latin typeface="Cambria Math" panose="02040503050406030204" pitchFamily="18" charset="0"/>
                          </a:rPr>
                          <m:t>,</m:t>
                        </m:r>
                        <m:r>
                          <a:rPr lang="fr-FR" sz="2000" b="0" i="1" smtClean="0">
                            <a:latin typeface="Cambria Math" panose="02040503050406030204" pitchFamily="18" charset="0"/>
                          </a:rPr>
                          <m:t>𝑦</m:t>
                        </m:r>
                      </m:e>
                    </m:d>
                    <m:r>
                      <a:rPr lang="fr-FR" sz="2000" b="0" i="1" smtClean="0">
                        <a:latin typeface="Cambria Math" panose="02040503050406030204" pitchFamily="18" charset="0"/>
                      </a:rPr>
                      <m:t>=</m:t>
                    </m:r>
                  </m:oMath>
                </a14:m>
                <a:r>
                  <a:rPr lang="fr-FR" sz="2000" dirty="0"/>
                  <a:t> </a:t>
                </a:r>
                <a14:m>
                  <m:oMath xmlns:m="http://schemas.openxmlformats.org/officeDocument/2006/math">
                    <m:d>
                      <m:dPr>
                        <m:begChr m:val="|"/>
                        <m:endChr m:val="|"/>
                        <m:ctrlPr>
                          <a:rPr lang="fr-FR" sz="2000" i="1">
                            <a:latin typeface="Cambria Math" panose="02040503050406030204" pitchFamily="18" charset="0"/>
                          </a:rPr>
                        </m:ctrlPr>
                      </m:dPr>
                      <m:e>
                        <m:r>
                          <a:rPr lang="fr-FR" sz="2000" b="0" i="1" smtClean="0">
                            <a:latin typeface="Cambria Math" panose="02040503050406030204" pitchFamily="18" charset="0"/>
                          </a:rPr>
                          <m:t>1</m:t>
                        </m:r>
                        <m:r>
                          <a:rPr lang="fr-FR" sz="2000" i="1">
                            <a:latin typeface="Cambria Math" panose="02040503050406030204" pitchFamily="18" charset="0"/>
                          </a:rPr>
                          <m:t> −</m:t>
                        </m:r>
                        <m:r>
                          <a:rPr lang="fr-FR" sz="2000" b="0" i="1" smtClean="0">
                            <a:latin typeface="Cambria Math" panose="02040503050406030204" pitchFamily="18" charset="0"/>
                          </a:rPr>
                          <m:t>2</m:t>
                        </m:r>
                      </m:e>
                    </m:d>
                  </m:oMath>
                </a14:m>
                <a:r>
                  <a:rPr lang="fr-FR" sz="2000" dirty="0"/>
                  <a:t> + </a:t>
                </a:r>
                <a14:m>
                  <m:oMath xmlns:m="http://schemas.openxmlformats.org/officeDocument/2006/math">
                    <m:d>
                      <m:dPr>
                        <m:begChr m:val="|"/>
                        <m:endChr m:val="|"/>
                        <m:ctrlPr>
                          <a:rPr lang="fr-FR" sz="2000" i="1">
                            <a:latin typeface="Cambria Math" panose="02040503050406030204" pitchFamily="18" charset="0"/>
                          </a:rPr>
                        </m:ctrlPr>
                      </m:dPr>
                      <m:e>
                        <m:r>
                          <a:rPr lang="fr-FR" sz="2000" b="0" i="1" smtClean="0">
                            <a:latin typeface="Cambria Math" panose="02040503050406030204" pitchFamily="18" charset="0"/>
                          </a:rPr>
                          <m:t>2</m:t>
                        </m:r>
                        <m:r>
                          <a:rPr lang="fr-FR" sz="2000" i="1">
                            <a:latin typeface="Cambria Math" panose="02040503050406030204" pitchFamily="18" charset="0"/>
                          </a:rPr>
                          <m:t> −</m:t>
                        </m:r>
                        <m:r>
                          <a:rPr lang="fr-FR" sz="2000" b="0" i="1" smtClean="0">
                            <a:latin typeface="Cambria Math" panose="02040503050406030204" pitchFamily="18" charset="0"/>
                          </a:rPr>
                          <m:t>5</m:t>
                        </m:r>
                      </m:e>
                    </m:d>
                  </m:oMath>
                </a14:m>
                <a:r>
                  <a:rPr lang="fr-FR" sz="2000" dirty="0"/>
                  <a:t> </a:t>
                </a:r>
                <a14:m>
                  <m:oMath xmlns:m="http://schemas.openxmlformats.org/officeDocument/2006/math">
                    <m:r>
                      <a:rPr lang="fr-FR" sz="2000" i="1">
                        <a:latin typeface="Cambria Math" panose="02040503050406030204" pitchFamily="18" charset="0"/>
                      </a:rPr>
                      <m:t>=</m:t>
                    </m:r>
                  </m:oMath>
                </a14:m>
                <a:r>
                  <a:rPr lang="fr-FR" sz="2000" dirty="0"/>
                  <a:t> </a:t>
                </a:r>
                <a14:m>
                  <m:oMath xmlns:m="http://schemas.openxmlformats.org/officeDocument/2006/math">
                    <m:r>
                      <a:rPr lang="fr-FR" sz="2000" b="0" i="1" smtClean="0">
                        <a:latin typeface="Cambria Math" panose="02040503050406030204" pitchFamily="18" charset="0"/>
                      </a:rPr>
                      <m:t>1</m:t>
                    </m:r>
                  </m:oMath>
                </a14:m>
                <a:r>
                  <a:rPr lang="fr-FR" sz="2000" dirty="0"/>
                  <a:t>+ </a:t>
                </a:r>
                <a14:m>
                  <m:oMath xmlns:m="http://schemas.openxmlformats.org/officeDocument/2006/math">
                    <m:r>
                      <a:rPr lang="fr-FR" sz="2000" b="0" i="1" smtClean="0">
                        <a:latin typeface="Cambria Math" panose="02040503050406030204" pitchFamily="18" charset="0"/>
                      </a:rPr>
                      <m:t>3=4</m:t>
                    </m:r>
                  </m:oMath>
                </a14:m>
                <a:endParaRPr lang="fr-FR" sz="2000" dirty="0"/>
              </a:p>
              <a:p>
                <a:pPr lvl="0">
                  <a:buFont typeface="Wingdings" panose="05000000000000000000" pitchFamily="2" charset="2"/>
                  <a:buChar char="§"/>
                </a:pPr>
                <a:endParaRPr lang="fr-FR" sz="2000" dirty="0"/>
              </a:p>
              <a:p>
                <a:pPr marL="76200" lvl="0" indent="0">
                  <a:buNone/>
                </a:pPr>
                <a:endParaRPr lang="fr-FR" sz="2000" dirty="0"/>
              </a:p>
              <a:p>
                <a:pPr marL="76200" lvl="0" indent="0">
                  <a:buNone/>
                </a:pPr>
                <a:endParaRPr lang="fr-FR" sz="20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635646"/>
                <a:ext cx="7532654" cy="3291830"/>
              </a:xfrm>
              <a:prstGeom prst="rect">
                <a:avLst/>
              </a:prstGeom>
              <a:blipFill>
                <a:blip r:embed="rId3"/>
                <a:stretch>
                  <a:fillRect l="-1214" t="-556" r="-1537"/>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90</a:t>
            </a:fld>
            <a:endParaRPr/>
          </a:p>
        </p:txBody>
      </p:sp>
    </p:spTree>
    <p:extLst>
      <p:ext uri="{BB962C8B-B14F-4D97-AF65-F5344CB8AC3E}">
        <p14:creationId xmlns="" xmlns:p14="http://schemas.microsoft.com/office/powerpoint/2010/main" val="2771041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51">
                                            <p:txEl>
                                              <p:charRg st="2" end="2"/>
                                            </p:txEl>
                                          </p:spTgt>
                                        </p:tgtEl>
                                        <p:attrNameLst>
                                          <p:attrName>style.visibility</p:attrName>
                                        </p:attrNameLst>
                                      </p:cBhvr>
                                      <p:to>
                                        <p:strVal val="visible"/>
                                      </p:to>
                                    </p:set>
                                    <p:animEffect transition="in" filter="barn(inVertical)">
                                      <p:cBhvr>
                                        <p:cTn id="7" dur="500"/>
                                        <p:tgtEl>
                                          <p:spTgt spid="551">
                                            <p:txEl>
                                              <p:char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Distance </a:t>
            </a:r>
            <a:r>
              <a:rPr lang="fr-FR" sz="3200" b="1" dirty="0" err="1"/>
              <a:t>Hamming</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La distance entre deux points données est la différence maximale entre leurs coordonnées sur une dimension.</a:t>
                </a:r>
              </a:p>
              <a:p>
                <a:pPr marL="76200" indent="0">
                  <a:buNone/>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𝐷</m:t>
                          </m:r>
                        </m:e>
                        <m:sub>
                          <m:r>
                            <a:rPr lang="fr-FR" b="0" i="1" smtClean="0">
                              <a:latin typeface="Cambria Math" panose="02040503050406030204" pitchFamily="18" charset="0"/>
                            </a:rPr>
                            <m:t>h</m:t>
                          </m:r>
                        </m:sub>
                      </m:sSub>
                      <m:d>
                        <m:dPr>
                          <m:ctrlPr>
                            <a:rPr lang="fr-FR" b="0" i="1" smtClean="0">
                              <a:latin typeface="Cambria Math" panose="02040503050406030204" pitchFamily="18" charset="0"/>
                            </a:rPr>
                          </m:ctrlPr>
                        </m:dPr>
                        <m:e>
                          <m:r>
                            <a:rPr lang="fr-FR" b="0" i="1" smtClean="0">
                              <a:latin typeface="Cambria Math" panose="02040503050406030204" pitchFamily="18" charset="0"/>
                            </a:rPr>
                            <m:t>𝑥</m:t>
                          </m:r>
                          <m:r>
                            <a:rPr lang="fr-FR" b="0" i="1" smtClean="0">
                              <a:latin typeface="Cambria Math" panose="02040503050406030204" pitchFamily="18" charset="0"/>
                            </a:rPr>
                            <m:t>,</m:t>
                          </m:r>
                          <m:r>
                            <a:rPr lang="fr-FR" b="0" i="1" smtClean="0">
                              <a:latin typeface="Cambria Math" panose="02040503050406030204" pitchFamily="18" charset="0"/>
                            </a:rPr>
                            <m:t>𝑦</m:t>
                          </m:r>
                        </m:e>
                      </m:d>
                      <m:r>
                        <a:rPr lang="fr-FR" b="0" i="1" smtClean="0">
                          <a:latin typeface="Cambria Math" panose="02040503050406030204" pitchFamily="18" charset="0"/>
                        </a:rPr>
                        <m:t>=</m:t>
                      </m:r>
                      <m:nary>
                        <m:naryPr>
                          <m:chr m:val="∑"/>
                          <m:limLoc m:val="subSup"/>
                          <m:ctrlPr>
                            <a:rPr lang="fr-FR" b="0" i="1" smtClean="0">
                              <a:latin typeface="Cambria Math" panose="02040503050406030204" pitchFamily="18" charset="0"/>
                            </a:rPr>
                          </m:ctrlPr>
                        </m:naryPr>
                        <m:sub>
                          <m:r>
                            <m:rPr>
                              <m:brk m:alnAt="25"/>
                            </m:rPr>
                            <a:rPr lang="fr-FR" b="0" i="1" smtClean="0">
                              <a:latin typeface="Cambria Math" panose="02040503050406030204" pitchFamily="18" charset="0"/>
                            </a:rPr>
                            <m:t>𝑖</m:t>
                          </m:r>
                          <m:r>
                            <a:rPr lang="fr-FR" b="0" i="1" smtClean="0">
                              <a:latin typeface="Cambria Math" panose="02040503050406030204" pitchFamily="18" charset="0"/>
                            </a:rPr>
                            <m:t>=1</m:t>
                          </m:r>
                        </m:sub>
                        <m:sup>
                          <m:r>
                            <a:rPr lang="fr-FR" b="0" i="1" smtClean="0">
                              <a:latin typeface="Cambria Math" panose="02040503050406030204" pitchFamily="18" charset="0"/>
                            </a:rPr>
                            <m:t>𝑛</m:t>
                          </m:r>
                        </m:sup>
                        <m:e>
                          <m:r>
                            <a:rPr lang="fr-FR" b="0" i="1" smtClean="0">
                              <a:latin typeface="Cambria Math" panose="02040503050406030204" pitchFamily="18" charset="0"/>
                            </a:rPr>
                            <m:t> </m:t>
                          </m:r>
                          <m:d>
                            <m:dPr>
                              <m:begChr m:val="|"/>
                              <m:endChr m:val="|"/>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a:rPr lang="fr-FR" b="0" i="1" smtClean="0">
                                      <a:latin typeface="Cambria Math" panose="02040503050406030204" pitchFamily="18" charset="0"/>
                                    </a:rPr>
                                    <m:t>𝑥</m:t>
                                  </m:r>
                                </m:e>
                                <m:sub>
                                  <m:r>
                                    <a:rPr lang="fr-FR" b="0" i="1" smtClean="0">
                                      <a:latin typeface="Cambria Math" panose="02040503050406030204" pitchFamily="18" charset="0"/>
                                    </a:rPr>
                                    <m:t>𝑖</m:t>
                                  </m:r>
                                </m:sub>
                              </m:sSub>
                              <m:r>
                                <a:rPr lang="fr-FR" b="0" i="1" smtClean="0">
                                  <a:latin typeface="Cambria Math" panose="02040503050406030204" pitchFamily="18" charset="0"/>
                                </a:rPr>
                                <m:t> − </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𝑦</m:t>
                                  </m:r>
                                </m:e>
                                <m:sub>
                                  <m:r>
                                    <a:rPr lang="fr-FR" b="0" i="1" smtClean="0">
                                      <a:latin typeface="Cambria Math" panose="02040503050406030204" pitchFamily="18" charset="0"/>
                                    </a:rPr>
                                    <m:t>𝑖</m:t>
                                  </m:r>
                                </m:sub>
                              </m:sSub>
                            </m:e>
                          </m:d>
                        </m:e>
                      </m:nary>
                    </m:oMath>
                  </m:oMathPara>
                </a14:m>
                <a:endParaRPr lang="fr-FR" sz="2000" dirty="0"/>
              </a:p>
              <a:p>
                <a:pPr lvl="0">
                  <a:buFont typeface="Wingdings" panose="05000000000000000000" pitchFamily="2" charset="2"/>
                  <a:buChar char="§"/>
                </a:pPr>
                <a:endParaRPr lang="fr-FR" sz="2000" dirty="0"/>
              </a:p>
              <a:p>
                <a:pPr lvl="0">
                  <a:buFont typeface="Wingdings" panose="05000000000000000000" pitchFamily="2" charset="2"/>
                  <a:buChar char="§"/>
                </a:pPr>
                <a:r>
                  <a:rPr lang="fr-FR" sz="2000" dirty="0"/>
                  <a:t>Avec:</a:t>
                </a:r>
              </a:p>
              <a:p>
                <a:pPr lvl="1">
                  <a:buFont typeface="Arial" panose="020B0604020202020204" pitchFamily="34" charset="0"/>
                  <a:buChar char="•"/>
                </a:pPr>
                <a14:m>
                  <m:oMath xmlns:m="http://schemas.openxmlformats.org/officeDocument/2006/math">
                    <m:r>
                      <a:rPr lang="fr-FR" sz="2000" b="0" i="1" smtClean="0">
                        <a:latin typeface="Cambria Math" panose="02040503050406030204" pitchFamily="18" charset="0"/>
                      </a:rPr>
                      <m:t>𝑥</m:t>
                    </m:r>
                    <m:r>
                      <a:rPr lang="fr-FR" sz="2000" b="0" i="1" smtClean="0">
                        <a:latin typeface="Cambria Math" panose="02040503050406030204" pitchFamily="18" charset="0"/>
                      </a:rPr>
                      <m:t>=</m:t>
                    </m:r>
                    <m:r>
                      <a:rPr lang="fr-FR" sz="2000" b="0" i="1" smtClean="0">
                        <a:latin typeface="Cambria Math" panose="02040503050406030204" pitchFamily="18" charset="0"/>
                      </a:rPr>
                      <m:t>𝑦</m:t>
                    </m:r>
                    <m:r>
                      <a:rPr lang="fr-FR" sz="2000" b="0" i="1" smtClean="0">
                        <a:latin typeface="Cambria Math" panose="02040503050406030204" pitchFamily="18" charset="0"/>
                      </a:rPr>
                      <m:t> ⇒ </m:t>
                    </m:r>
                    <m:r>
                      <a:rPr lang="fr-FR" sz="2000" b="0" i="1" smtClean="0">
                        <a:latin typeface="Cambria Math" panose="02040503050406030204" pitchFamily="18" charset="0"/>
                      </a:rPr>
                      <m:t>𝐷</m:t>
                    </m:r>
                    <m:r>
                      <a:rPr lang="fr-FR" sz="2000" b="0" i="1" smtClean="0">
                        <a:latin typeface="Cambria Math" panose="02040503050406030204" pitchFamily="18" charset="0"/>
                      </a:rPr>
                      <m:t>=0</m:t>
                    </m:r>
                  </m:oMath>
                </a14:m>
                <a:endParaRPr lang="fr-FR" sz="2000" dirty="0"/>
              </a:p>
              <a:p>
                <a:pPr lvl="1">
                  <a:buFont typeface="Arial" panose="020B0604020202020204" pitchFamily="34" charset="0"/>
                  <a:buChar char="•"/>
                </a:pPr>
                <a14:m>
                  <m:oMath xmlns:m="http://schemas.openxmlformats.org/officeDocument/2006/math">
                    <m:r>
                      <a:rPr lang="fr-FR" sz="2000" b="0" i="1" smtClean="0">
                        <a:latin typeface="Cambria Math" panose="02040503050406030204" pitchFamily="18" charset="0"/>
                      </a:rPr>
                      <m:t>𝑥</m:t>
                    </m:r>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rPr>
                      <m:t>𝑦</m:t>
                    </m:r>
                    <m:r>
                      <a:rPr lang="fr-FR" sz="2000" b="0" i="1" smtClean="0">
                        <a:latin typeface="Cambria Math" panose="02040503050406030204" pitchFamily="18" charset="0"/>
                      </a:rPr>
                      <m:t> ⇒ </m:t>
                    </m:r>
                    <m:r>
                      <a:rPr lang="fr-FR" sz="2000" b="0" i="1" smtClean="0">
                        <a:latin typeface="Cambria Math" panose="02040503050406030204" pitchFamily="18" charset="0"/>
                      </a:rPr>
                      <m:t>𝐷</m:t>
                    </m:r>
                    <m:r>
                      <a:rPr lang="fr-FR" sz="2000" b="0" i="1" smtClean="0">
                        <a:latin typeface="Cambria Math" panose="02040503050406030204" pitchFamily="18" charset="0"/>
                      </a:rPr>
                      <m:t>=1</m:t>
                    </m:r>
                  </m:oMath>
                </a14:m>
                <a:endParaRPr lang="fr-FR" sz="2000" dirty="0"/>
              </a:p>
              <a:p>
                <a:pPr lvl="0">
                  <a:buFont typeface="Wingdings" panose="05000000000000000000" pitchFamily="2" charset="2"/>
                  <a:buChar char="§"/>
                </a:pPr>
                <a:endParaRPr lang="fr-FR" sz="20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635646"/>
                <a:ext cx="7532654" cy="3291830"/>
              </a:xfrm>
              <a:prstGeom prst="rect">
                <a:avLst/>
              </a:prstGeom>
              <a:blipFill>
                <a:blip r:embed="rId3"/>
                <a:stretch>
                  <a:fillRect l="-1214" t="-556" b="-741"/>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91</a:t>
            </a:fld>
            <a:endParaRPr/>
          </a:p>
        </p:txBody>
      </p:sp>
    </p:spTree>
    <p:extLst>
      <p:ext uri="{BB962C8B-B14F-4D97-AF65-F5344CB8AC3E}">
        <p14:creationId xmlns="" xmlns:p14="http://schemas.microsoft.com/office/powerpoint/2010/main" val="300842456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Comment choisir la valeur K ?</a:t>
            </a:r>
            <a:endParaRPr lang="en" sz="3200" b="1" dirty="0"/>
          </a:p>
        </p:txBody>
      </p:sp>
      <p:sp>
        <p:nvSpPr>
          <p:cNvPr id="551" name="Google Shape;551;p18"/>
          <p:cNvSpPr txBox="1">
            <a:spLocks noGrp="1"/>
          </p:cNvSpPr>
          <p:nvPr>
            <p:ph type="body" idx="1"/>
          </p:nvPr>
        </p:nvSpPr>
        <p:spPr>
          <a:xfrm>
            <a:off x="971600" y="1635646"/>
            <a:ext cx="7532654" cy="3456384"/>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Le choix de la valeur </a:t>
            </a:r>
            <a:r>
              <a:rPr lang="fr-FR" sz="2000" b="1" i="1" dirty="0">
                <a:solidFill>
                  <a:schemeClr val="accent4"/>
                </a:solidFill>
                <a:latin typeface="Palatino Linotype" panose="02040502050505030304" pitchFamily="18" charset="0"/>
              </a:rPr>
              <a:t>K</a:t>
            </a:r>
            <a:r>
              <a:rPr lang="fr-FR" sz="2000" dirty="0"/>
              <a:t> varie en fonction du jeu de données. </a:t>
            </a:r>
          </a:p>
          <a:p>
            <a:pPr lvl="0">
              <a:buFont typeface="Wingdings" panose="05000000000000000000" pitchFamily="2" charset="2"/>
              <a:buChar char="§"/>
            </a:pPr>
            <a:r>
              <a:rPr lang="fr-FR" sz="2000" b="1" i="1" u="sng" dirty="0"/>
              <a:t>Règle générale:</a:t>
            </a:r>
            <a:r>
              <a:rPr lang="fr-FR" sz="2000" i="1" dirty="0"/>
              <a:t> </a:t>
            </a:r>
          </a:p>
          <a:p>
            <a:pPr lvl="1">
              <a:buFont typeface="Wingdings" panose="05000000000000000000" pitchFamily="2" charset="2"/>
              <a:buChar char="§"/>
            </a:pPr>
            <a:r>
              <a:rPr lang="fr-FR" sz="2000" dirty="0"/>
              <a:t>moins on utilisera de voisins (</a:t>
            </a:r>
            <a:r>
              <a:rPr lang="fr-FR" sz="2000" b="1" i="1" dirty="0">
                <a:solidFill>
                  <a:schemeClr val="accent4"/>
                </a:solidFill>
                <a:latin typeface="Palatino Linotype" panose="02040502050505030304" pitchFamily="18" charset="0"/>
              </a:rPr>
              <a:t>K</a:t>
            </a:r>
            <a:r>
              <a:rPr lang="fr-FR" sz="2000" dirty="0"/>
              <a:t> petit) plus on sera sujette au sous apprentissage (</a:t>
            </a:r>
            <a:r>
              <a:rPr lang="fr-FR" sz="2000" i="1" u="sng" dirty="0" err="1"/>
              <a:t>underfitting</a:t>
            </a:r>
            <a:r>
              <a:rPr lang="fr-FR" sz="2000" dirty="0"/>
              <a:t>). </a:t>
            </a:r>
          </a:p>
          <a:p>
            <a:pPr lvl="1">
              <a:buFont typeface="Wingdings" panose="05000000000000000000" pitchFamily="2" charset="2"/>
              <a:buChar char="§"/>
            </a:pPr>
            <a:r>
              <a:rPr lang="fr-FR" sz="2000" dirty="0"/>
              <a:t>Plus on utilise de voisins (</a:t>
            </a:r>
            <a:r>
              <a:rPr lang="fr-FR" sz="2000" b="1" i="1" dirty="0">
                <a:solidFill>
                  <a:schemeClr val="accent4"/>
                </a:solidFill>
                <a:latin typeface="Palatino Linotype" panose="02040502050505030304" pitchFamily="18" charset="0"/>
              </a:rPr>
              <a:t>K </a:t>
            </a:r>
            <a:r>
              <a:rPr lang="fr-FR" sz="2000" dirty="0"/>
              <a:t>grand), plus sera fiable dans notre prédiction. </a:t>
            </a:r>
          </a:p>
          <a:p>
            <a:pPr lvl="0">
              <a:buFont typeface="Wingdings" panose="05000000000000000000" pitchFamily="2" charset="2"/>
              <a:buChar char="§"/>
            </a:pPr>
            <a:r>
              <a:rPr lang="fr-FR" sz="2000" dirty="0"/>
              <a:t>si </a:t>
            </a:r>
            <a:r>
              <a:rPr lang="fr-FR" sz="2000" b="1" i="1" dirty="0">
                <a:solidFill>
                  <a:schemeClr val="accent4"/>
                </a:solidFill>
                <a:latin typeface="Palatino Linotype" panose="02040502050505030304" pitchFamily="18" charset="0"/>
              </a:rPr>
              <a:t>K=N </a:t>
            </a:r>
            <a:r>
              <a:rPr lang="fr-FR" sz="2000" dirty="0"/>
              <a:t>et </a:t>
            </a:r>
            <a:r>
              <a:rPr lang="fr-FR" sz="2000" b="1" i="1" dirty="0">
                <a:solidFill>
                  <a:schemeClr val="accent4"/>
                </a:solidFill>
                <a:latin typeface="Palatino Linotype" panose="02040502050505030304" pitchFamily="18" charset="0"/>
              </a:rPr>
              <a:t>N</a:t>
            </a:r>
            <a:r>
              <a:rPr lang="fr-FR" sz="2000" dirty="0"/>
              <a:t> étant le nombre d’observations, on risque d’avoir du </a:t>
            </a:r>
            <a:r>
              <a:rPr lang="fr-FR" sz="2000" i="1" u="sng" dirty="0" err="1"/>
              <a:t>overfitting</a:t>
            </a:r>
            <a:r>
              <a:rPr lang="fr-FR" sz="2000" dirty="0"/>
              <a:t>, </a:t>
            </a:r>
            <a:r>
              <a:rPr lang="fr-FR" sz="2000" dirty="0" err="1"/>
              <a:t>ie</a:t>
            </a:r>
            <a:r>
              <a:rPr lang="fr-FR" sz="2000" dirty="0"/>
              <a:t>. mauvaise généralisation sur des observations qu’il n’a pas encore vu.</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92</a:t>
            </a:fld>
            <a:endParaRPr/>
          </a:p>
        </p:txBody>
      </p:sp>
    </p:spTree>
    <p:extLst>
      <p:ext uri="{BB962C8B-B14F-4D97-AF65-F5344CB8AC3E}">
        <p14:creationId xmlns="" xmlns:p14="http://schemas.microsoft.com/office/powerpoint/2010/main" val="316831474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Comment choisir la valeur K ? </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93</a:t>
            </a:fld>
            <a:endParaRPr/>
          </a:p>
        </p:txBody>
      </p:sp>
      <p:pic>
        <p:nvPicPr>
          <p:cNvPr id="3" name="Image 2">
            <a:extLst>
              <a:ext uri="{FF2B5EF4-FFF2-40B4-BE49-F238E27FC236}">
                <a16:creationId xmlns="" xmlns:a16="http://schemas.microsoft.com/office/drawing/2014/main" id="{2D77CA64-8020-4307-9BDD-31B46FCBFEFB}"/>
              </a:ext>
            </a:extLst>
          </p:cNvPr>
          <p:cNvPicPr>
            <a:picLocks noChangeAspect="1"/>
          </p:cNvPicPr>
          <p:nvPr/>
        </p:nvPicPr>
        <p:blipFill>
          <a:blip r:embed="rId3"/>
          <a:stretch>
            <a:fillRect/>
          </a:stretch>
        </p:blipFill>
        <p:spPr>
          <a:xfrm>
            <a:off x="1191820" y="2211709"/>
            <a:ext cx="7052588" cy="2443949"/>
          </a:xfrm>
          <a:prstGeom prst="rect">
            <a:avLst/>
          </a:prstGeom>
        </p:spPr>
      </p:pic>
      <p:sp>
        <p:nvSpPr>
          <p:cNvPr id="4" name="ZoneTexte 3">
            <a:extLst>
              <a:ext uri="{FF2B5EF4-FFF2-40B4-BE49-F238E27FC236}">
                <a16:creationId xmlns="" xmlns:a16="http://schemas.microsoft.com/office/drawing/2014/main" id="{5947BB8D-DEE0-4187-AEA4-C0FE3A618F4C}"/>
              </a:ext>
            </a:extLst>
          </p:cNvPr>
          <p:cNvSpPr txBox="1"/>
          <p:nvPr/>
        </p:nvSpPr>
        <p:spPr>
          <a:xfrm>
            <a:off x="1475656" y="1851670"/>
            <a:ext cx="1296144" cy="307777"/>
          </a:xfrm>
          <a:prstGeom prst="rect">
            <a:avLst/>
          </a:prstGeom>
          <a:noFill/>
        </p:spPr>
        <p:txBody>
          <a:bodyPr wrap="square" rtlCol="0">
            <a:spAutoFit/>
          </a:bodyPr>
          <a:lstStyle/>
          <a:p>
            <a:r>
              <a:rPr lang="fr-FR" b="1" dirty="0">
                <a:latin typeface="Barlow Light" panose="020B0604020202020204" charset="0"/>
              </a:rPr>
              <a:t>Les données</a:t>
            </a:r>
          </a:p>
        </p:txBody>
      </p:sp>
      <p:sp>
        <p:nvSpPr>
          <p:cNvPr id="9" name="ZoneTexte 8">
            <a:extLst>
              <a:ext uri="{FF2B5EF4-FFF2-40B4-BE49-F238E27FC236}">
                <a16:creationId xmlns="" xmlns:a16="http://schemas.microsoft.com/office/drawing/2014/main" id="{54E90453-13D6-4D4A-8AED-9367319259B1}"/>
              </a:ext>
            </a:extLst>
          </p:cNvPr>
          <p:cNvSpPr txBox="1"/>
          <p:nvPr/>
        </p:nvSpPr>
        <p:spPr>
          <a:xfrm>
            <a:off x="3995936" y="1851670"/>
            <a:ext cx="1656184" cy="307777"/>
          </a:xfrm>
          <a:prstGeom prst="rect">
            <a:avLst/>
          </a:prstGeom>
          <a:noFill/>
        </p:spPr>
        <p:txBody>
          <a:bodyPr wrap="square" rtlCol="0">
            <a:spAutoFit/>
          </a:bodyPr>
          <a:lstStyle/>
          <a:p>
            <a:r>
              <a:rPr lang="fr-FR" b="1" dirty="0">
                <a:latin typeface="Barlow Light" panose="020B0604020202020204" charset="0"/>
              </a:rPr>
              <a:t>N-NN Classifier</a:t>
            </a:r>
          </a:p>
        </p:txBody>
      </p:sp>
      <p:sp>
        <p:nvSpPr>
          <p:cNvPr id="10" name="ZoneTexte 9">
            <a:extLst>
              <a:ext uri="{FF2B5EF4-FFF2-40B4-BE49-F238E27FC236}">
                <a16:creationId xmlns="" xmlns:a16="http://schemas.microsoft.com/office/drawing/2014/main" id="{ED466D1A-181B-4644-A98B-A9919E51B07D}"/>
              </a:ext>
            </a:extLst>
          </p:cNvPr>
          <p:cNvSpPr txBox="1"/>
          <p:nvPr/>
        </p:nvSpPr>
        <p:spPr>
          <a:xfrm>
            <a:off x="6300192" y="1851670"/>
            <a:ext cx="1656184" cy="307777"/>
          </a:xfrm>
          <a:prstGeom prst="rect">
            <a:avLst/>
          </a:prstGeom>
          <a:noFill/>
        </p:spPr>
        <p:txBody>
          <a:bodyPr wrap="square" rtlCol="0">
            <a:spAutoFit/>
          </a:bodyPr>
          <a:lstStyle/>
          <a:p>
            <a:r>
              <a:rPr lang="fr-FR" b="1" dirty="0">
                <a:latin typeface="Barlow Light" panose="020B0604020202020204" charset="0"/>
              </a:rPr>
              <a:t>5-NN Classifier</a:t>
            </a:r>
          </a:p>
        </p:txBody>
      </p:sp>
    </p:spTree>
    <p:extLst>
      <p:ext uri="{BB962C8B-B14F-4D97-AF65-F5344CB8AC3E}">
        <p14:creationId xmlns="" xmlns:p14="http://schemas.microsoft.com/office/powerpoint/2010/main" val="1522291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Comment choisir la valeur K ?</a:t>
            </a:r>
            <a:endParaRPr lang="en" sz="3200" b="1" dirty="0"/>
          </a:p>
        </p:txBody>
      </p:sp>
      <p:sp>
        <p:nvSpPr>
          <p:cNvPr id="551" name="Google Shape;551;p18"/>
          <p:cNvSpPr txBox="1">
            <a:spLocks noGrp="1"/>
          </p:cNvSpPr>
          <p:nvPr>
            <p:ph type="body" idx="1"/>
          </p:nvPr>
        </p:nvSpPr>
        <p:spPr>
          <a:xfrm>
            <a:off x="971600" y="1635646"/>
            <a:ext cx="7532654" cy="3456384"/>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b="1" u="sng" dirty="0">
                <a:effectLst>
                  <a:outerShdw blurRad="38100" dist="38100" dir="2700000" algn="tl">
                    <a:srgbClr val="000000">
                      <a:alpha val="43137"/>
                    </a:srgbClr>
                  </a:outerShdw>
                </a:effectLst>
              </a:rPr>
              <a:t>Pour 5-NN:</a:t>
            </a:r>
            <a:r>
              <a:rPr lang="fr-FR" sz="2000" dirty="0"/>
              <a:t> les limites entre chaque région sont assez lisses et régulières.  </a:t>
            </a:r>
          </a:p>
          <a:p>
            <a:pPr lvl="0">
              <a:buFont typeface="Wingdings" panose="05000000000000000000" pitchFamily="2" charset="2"/>
              <a:buChar char="§"/>
            </a:pPr>
            <a:r>
              <a:rPr lang="fr-FR" sz="2000" b="1" u="sng" dirty="0">
                <a:effectLst>
                  <a:outerShdw blurRad="38100" dist="38100" dir="2700000" algn="tl">
                    <a:srgbClr val="000000">
                      <a:alpha val="43137"/>
                    </a:srgbClr>
                  </a:outerShdw>
                </a:effectLst>
              </a:rPr>
              <a:t>Pour N-NN:</a:t>
            </a:r>
            <a:r>
              <a:rPr lang="fr-FR" sz="2000" dirty="0"/>
              <a:t> les limites sont irrégulières, car l’algorithme tente de faire rentrer tous les points bleus dans les régions bleues, les rouges avec les rouges etc… c’est un cas d’</a:t>
            </a:r>
            <a:r>
              <a:rPr lang="fr-FR" sz="2000" b="1" dirty="0" err="1"/>
              <a:t>overfitting</a:t>
            </a:r>
            <a:endParaRPr lang="fr-FR" sz="2000" b="1" dirty="0"/>
          </a:p>
          <a:p>
            <a:pPr lvl="0">
              <a:buFont typeface="Wingdings" panose="05000000000000000000" pitchFamily="2" charset="2"/>
              <a:buChar char="§"/>
            </a:pPr>
            <a:endParaRPr lang="fr-FR" sz="2000" dirty="0"/>
          </a:p>
          <a:p>
            <a:pPr marL="76200" lvl="0" indent="0">
              <a:buNone/>
            </a:pPr>
            <a:r>
              <a:rPr lang="fr-FR" sz="2000" b="1" dirty="0">
                <a:solidFill>
                  <a:schemeClr val="accent4"/>
                </a:solidFill>
                <a:sym typeface="Wingdings" panose="05000000000000000000" pitchFamily="2" charset="2"/>
              </a:rPr>
              <a:t> </a:t>
            </a:r>
            <a:r>
              <a:rPr lang="fr-FR" sz="2000" dirty="0"/>
              <a:t>Préférer le 5-NN classifier sur le NN-Classifier. Car le 5-NN classifier se généralise mieux que son opposant.</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94</a:t>
            </a:fld>
            <a:endParaRPr/>
          </a:p>
        </p:txBody>
      </p:sp>
    </p:spTree>
    <p:extLst>
      <p:ext uri="{BB962C8B-B14F-4D97-AF65-F5344CB8AC3E}">
        <p14:creationId xmlns="" xmlns:p14="http://schemas.microsoft.com/office/powerpoint/2010/main" val="312949425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Exemple: classification</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95</a:t>
            </a:fld>
            <a:endParaRPr/>
          </a:p>
        </p:txBody>
      </p:sp>
      <p:pic>
        <p:nvPicPr>
          <p:cNvPr id="5" name="Image 4">
            <a:extLst>
              <a:ext uri="{FF2B5EF4-FFF2-40B4-BE49-F238E27FC236}">
                <a16:creationId xmlns="" xmlns:a16="http://schemas.microsoft.com/office/drawing/2014/main" id="{D866A773-FB67-40ED-BD94-96DA3142B761}"/>
              </a:ext>
            </a:extLst>
          </p:cNvPr>
          <p:cNvPicPr>
            <a:picLocks noChangeAspect="1"/>
          </p:cNvPicPr>
          <p:nvPr/>
        </p:nvPicPr>
        <p:blipFill>
          <a:blip r:embed="rId3"/>
          <a:stretch>
            <a:fillRect/>
          </a:stretch>
        </p:blipFill>
        <p:spPr>
          <a:xfrm>
            <a:off x="1259632" y="1638861"/>
            <a:ext cx="2816487" cy="2850939"/>
          </a:xfrm>
          <a:prstGeom prst="rect">
            <a:avLst/>
          </a:prstGeom>
        </p:spPr>
      </p:pic>
      <p:pic>
        <p:nvPicPr>
          <p:cNvPr id="7" name="Image 6">
            <a:extLst>
              <a:ext uri="{FF2B5EF4-FFF2-40B4-BE49-F238E27FC236}">
                <a16:creationId xmlns="" xmlns:a16="http://schemas.microsoft.com/office/drawing/2014/main" id="{9332C910-FF8B-41DC-9AFB-82C7EE6030DC}"/>
              </a:ext>
            </a:extLst>
          </p:cNvPr>
          <p:cNvPicPr>
            <a:picLocks noChangeAspect="1"/>
          </p:cNvPicPr>
          <p:nvPr/>
        </p:nvPicPr>
        <p:blipFill>
          <a:blip r:embed="rId4"/>
          <a:stretch>
            <a:fillRect/>
          </a:stretch>
        </p:blipFill>
        <p:spPr>
          <a:xfrm>
            <a:off x="4788024" y="1753570"/>
            <a:ext cx="4043080" cy="2305626"/>
          </a:xfrm>
          <a:prstGeom prst="rect">
            <a:avLst/>
          </a:prstGeom>
        </p:spPr>
      </p:pic>
    </p:spTree>
    <p:extLst>
      <p:ext uri="{BB962C8B-B14F-4D97-AF65-F5344CB8AC3E}">
        <p14:creationId xmlns="" xmlns:p14="http://schemas.microsoft.com/office/powerpoint/2010/main" val="317306766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Exemple: classification</a:t>
            </a:r>
            <a:endParaRPr lang="en" sz="3200" b="1" dirty="0"/>
          </a:p>
        </p:txBody>
      </p:sp>
      <p:sp>
        <p:nvSpPr>
          <p:cNvPr id="551" name="Google Shape;551;p18"/>
          <p:cNvSpPr txBox="1">
            <a:spLocks noGrp="1"/>
          </p:cNvSpPr>
          <p:nvPr>
            <p:ph type="body" idx="1"/>
          </p:nvPr>
        </p:nvSpPr>
        <p:spPr>
          <a:xfrm>
            <a:off x="1259632" y="1635646"/>
            <a:ext cx="7244622"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Classer la nouvelle observation ayant les valeurs:</a:t>
            </a:r>
          </a:p>
          <a:p>
            <a:pPr marL="76200" lvl="0" indent="0">
              <a:buNone/>
            </a:pPr>
            <a:r>
              <a:rPr lang="fr-FR" sz="2000" dirty="0"/>
              <a:t>	(Cigarette=3 </a:t>
            </a:r>
            <a:r>
              <a:rPr lang="fr-FR" sz="2000"/>
              <a:t>, Poids=</a:t>
            </a:r>
            <a:r>
              <a:rPr lang="fr-FR" sz="2000" dirty="0"/>
              <a:t>70)</a:t>
            </a:r>
          </a:p>
          <a:p>
            <a:pPr marL="76200" lvl="0" indent="0">
              <a:buNone/>
            </a:pPr>
            <a:endParaRPr lang="fr-FR" sz="2000" dirty="0"/>
          </a:p>
          <a:p>
            <a:pPr lvl="0">
              <a:buFont typeface="Wingdings" panose="05000000000000000000" pitchFamily="2" charset="2"/>
              <a:buChar char="§"/>
            </a:pPr>
            <a:r>
              <a:rPr lang="fr-FR" sz="2000" dirty="0"/>
              <a:t>Utiliser la distance euclidienne pour mesurer la distance avec chaque jeu de données.</a:t>
            </a:r>
          </a:p>
          <a:p>
            <a:pPr lvl="0">
              <a:buFont typeface="Wingdings" panose="05000000000000000000" pitchFamily="2" charset="2"/>
              <a:buChar char="§"/>
            </a:pPr>
            <a:r>
              <a:rPr lang="fr-FR" sz="2000" dirty="0"/>
              <a:t>Considérer la valeur: k=1.</a:t>
            </a:r>
          </a:p>
          <a:p>
            <a:pPr lvl="0">
              <a:buFont typeface="Wingdings" panose="05000000000000000000" pitchFamily="2" charset="2"/>
              <a:buChar char="§"/>
            </a:pPr>
            <a:endParaRPr lang="fr-FR" sz="2000"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96</a:t>
            </a:fld>
            <a:endParaRPr/>
          </a:p>
        </p:txBody>
      </p:sp>
    </p:spTree>
    <p:extLst>
      <p:ext uri="{BB962C8B-B14F-4D97-AF65-F5344CB8AC3E}">
        <p14:creationId xmlns="" xmlns:p14="http://schemas.microsoft.com/office/powerpoint/2010/main" val="12735526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Exemple: classification</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97</a:t>
            </a:fld>
            <a:endParaRPr/>
          </a:p>
        </p:txBody>
      </p:sp>
      <p:pic>
        <p:nvPicPr>
          <p:cNvPr id="3" name="Image 2">
            <a:extLst>
              <a:ext uri="{FF2B5EF4-FFF2-40B4-BE49-F238E27FC236}">
                <a16:creationId xmlns="" xmlns:a16="http://schemas.microsoft.com/office/drawing/2014/main" id="{C4270124-4E5F-4F5E-9B93-DE9E2F1FF7F5}"/>
              </a:ext>
            </a:extLst>
          </p:cNvPr>
          <p:cNvPicPr>
            <a:picLocks noChangeAspect="1"/>
          </p:cNvPicPr>
          <p:nvPr/>
        </p:nvPicPr>
        <p:blipFill>
          <a:blip r:embed="rId3"/>
          <a:stretch>
            <a:fillRect/>
          </a:stretch>
        </p:blipFill>
        <p:spPr>
          <a:xfrm>
            <a:off x="1115616" y="1811009"/>
            <a:ext cx="7178038" cy="3028950"/>
          </a:xfrm>
          <a:prstGeom prst="rect">
            <a:avLst/>
          </a:prstGeom>
        </p:spPr>
      </p:pic>
    </p:spTree>
    <p:extLst>
      <p:ext uri="{BB962C8B-B14F-4D97-AF65-F5344CB8AC3E}">
        <p14:creationId xmlns="" xmlns:p14="http://schemas.microsoft.com/office/powerpoint/2010/main" val="425042331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Exemple: régression </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98</a:t>
            </a:fld>
            <a:endParaRPr/>
          </a:p>
        </p:txBody>
      </p:sp>
      <p:pic>
        <p:nvPicPr>
          <p:cNvPr id="3" name="Image 2">
            <a:extLst>
              <a:ext uri="{FF2B5EF4-FFF2-40B4-BE49-F238E27FC236}">
                <a16:creationId xmlns="" xmlns:a16="http://schemas.microsoft.com/office/drawing/2014/main" id="{06DDADEE-7A34-4EF5-8C74-C9710611FDA3}"/>
              </a:ext>
            </a:extLst>
          </p:cNvPr>
          <p:cNvPicPr>
            <a:picLocks noChangeAspect="1"/>
          </p:cNvPicPr>
          <p:nvPr/>
        </p:nvPicPr>
        <p:blipFill>
          <a:blip r:embed="rId3"/>
          <a:stretch>
            <a:fillRect/>
          </a:stretch>
        </p:blipFill>
        <p:spPr>
          <a:xfrm>
            <a:off x="827584" y="1749524"/>
            <a:ext cx="3124200" cy="2838450"/>
          </a:xfrm>
          <a:prstGeom prst="rect">
            <a:avLst/>
          </a:prstGeom>
        </p:spPr>
      </p:pic>
      <p:graphicFrame>
        <p:nvGraphicFramePr>
          <p:cNvPr id="8" name="Tableau 8">
            <a:extLst>
              <a:ext uri="{FF2B5EF4-FFF2-40B4-BE49-F238E27FC236}">
                <a16:creationId xmlns="" xmlns:a16="http://schemas.microsoft.com/office/drawing/2014/main" id="{77C9B426-AFDA-4DA9-93AD-F49D7CDF915C}"/>
              </a:ext>
            </a:extLst>
          </p:cNvPr>
          <p:cNvGraphicFramePr>
            <a:graphicFrameLocks noGrp="1"/>
          </p:cNvGraphicFramePr>
          <p:nvPr>
            <p:extLst>
              <p:ext uri="{D42A27DB-BD31-4B8C-83A1-F6EECF244321}">
                <p14:modId xmlns="" xmlns:p14="http://schemas.microsoft.com/office/powerpoint/2010/main" val="346516578"/>
              </p:ext>
            </p:extLst>
          </p:nvPr>
        </p:nvGraphicFramePr>
        <p:xfrm>
          <a:off x="4499992" y="1362422"/>
          <a:ext cx="3984105" cy="3657600"/>
        </p:xfrm>
        <a:graphic>
          <a:graphicData uri="http://schemas.openxmlformats.org/drawingml/2006/table">
            <a:tbl>
              <a:tblPr firstRow="1" bandRow="1">
                <a:tableStyleId>{D7AEECF4-432E-4D26-AA6D-92A1E89D1F9B}</a:tableStyleId>
              </a:tblPr>
              <a:tblGrid>
                <a:gridCol w="746117">
                  <a:extLst>
                    <a:ext uri="{9D8B030D-6E8A-4147-A177-3AD203B41FA5}">
                      <a16:colId xmlns="" xmlns:a16="http://schemas.microsoft.com/office/drawing/2014/main" val="1760359364"/>
                    </a:ext>
                  </a:extLst>
                </a:gridCol>
                <a:gridCol w="1224136">
                  <a:extLst>
                    <a:ext uri="{9D8B030D-6E8A-4147-A177-3AD203B41FA5}">
                      <a16:colId xmlns="" xmlns:a16="http://schemas.microsoft.com/office/drawing/2014/main" val="579500719"/>
                    </a:ext>
                  </a:extLst>
                </a:gridCol>
                <a:gridCol w="2013852">
                  <a:extLst>
                    <a:ext uri="{9D8B030D-6E8A-4147-A177-3AD203B41FA5}">
                      <a16:colId xmlns="" xmlns:a16="http://schemas.microsoft.com/office/drawing/2014/main" val="1886421478"/>
                    </a:ext>
                  </a:extLst>
                </a:gridCol>
              </a:tblGrid>
              <a:tr h="180769">
                <a:tc>
                  <a:txBody>
                    <a:bodyPr/>
                    <a:lstStyle/>
                    <a:p>
                      <a:pPr algn="ctr"/>
                      <a:r>
                        <a:rPr lang="fr-FR" b="1" dirty="0">
                          <a:latin typeface="Barlow Light" panose="020B0604020202020204" charset="0"/>
                        </a:rPr>
                        <a:t>Age</a:t>
                      </a:r>
                    </a:p>
                  </a:txBody>
                  <a:tcPr anchor="ctr"/>
                </a:tc>
                <a:tc>
                  <a:txBody>
                    <a:bodyPr/>
                    <a:lstStyle/>
                    <a:p>
                      <a:pPr algn="ctr"/>
                      <a:r>
                        <a:rPr lang="fr-FR" b="1" dirty="0">
                          <a:latin typeface="Barlow Light" panose="020B0604020202020204" charset="0"/>
                        </a:rPr>
                        <a:t>Loan</a:t>
                      </a:r>
                    </a:p>
                  </a:txBody>
                  <a:tcPr anchor="ctr"/>
                </a:tc>
                <a:tc>
                  <a:txBody>
                    <a:bodyPr/>
                    <a:lstStyle/>
                    <a:p>
                      <a:pPr algn="ctr"/>
                      <a:r>
                        <a:rPr lang="fr-FR" b="1" dirty="0">
                          <a:latin typeface="Barlow Light" panose="020B0604020202020204" charset="0"/>
                        </a:rPr>
                        <a:t>House Price Index</a:t>
                      </a:r>
                    </a:p>
                  </a:txBody>
                  <a:tcPr anchor="ctr"/>
                </a:tc>
                <a:extLst>
                  <a:ext uri="{0D108BD9-81ED-4DB2-BD59-A6C34878D82A}">
                    <a16:rowId xmlns="" xmlns:a16="http://schemas.microsoft.com/office/drawing/2014/main" val="2257034788"/>
                  </a:ext>
                </a:extLst>
              </a:tr>
              <a:tr h="180769">
                <a:tc>
                  <a:txBody>
                    <a:bodyPr/>
                    <a:lstStyle/>
                    <a:p>
                      <a:pPr algn="ctr"/>
                      <a:r>
                        <a:rPr lang="fr-FR" dirty="0">
                          <a:latin typeface="Barlow Light" panose="020B0604020202020204" charset="0"/>
                        </a:rPr>
                        <a:t>25</a:t>
                      </a:r>
                    </a:p>
                  </a:txBody>
                  <a:tcPr anchor="ctr"/>
                </a:tc>
                <a:tc>
                  <a:txBody>
                    <a:bodyPr/>
                    <a:lstStyle/>
                    <a:p>
                      <a:pPr algn="ctr"/>
                      <a:r>
                        <a:rPr lang="fr-FR" dirty="0">
                          <a:latin typeface="Barlow Light" panose="020B0604020202020204" charset="0"/>
                        </a:rPr>
                        <a:t>40000</a:t>
                      </a:r>
                    </a:p>
                  </a:txBody>
                  <a:tcPr anchor="ctr"/>
                </a:tc>
                <a:tc>
                  <a:txBody>
                    <a:bodyPr/>
                    <a:lstStyle/>
                    <a:p>
                      <a:pPr algn="ctr"/>
                      <a:r>
                        <a:rPr lang="fr-FR" dirty="0">
                          <a:latin typeface="Barlow Light" panose="020B0604020202020204" charset="0"/>
                        </a:rPr>
                        <a:t>135</a:t>
                      </a:r>
                    </a:p>
                  </a:txBody>
                  <a:tcPr anchor="ctr"/>
                </a:tc>
                <a:extLst>
                  <a:ext uri="{0D108BD9-81ED-4DB2-BD59-A6C34878D82A}">
                    <a16:rowId xmlns="" xmlns:a16="http://schemas.microsoft.com/office/drawing/2014/main" val="1685833425"/>
                  </a:ext>
                </a:extLst>
              </a:tr>
              <a:tr h="180769">
                <a:tc>
                  <a:txBody>
                    <a:bodyPr/>
                    <a:lstStyle/>
                    <a:p>
                      <a:pPr algn="ctr"/>
                      <a:r>
                        <a:rPr lang="fr-FR" dirty="0">
                          <a:latin typeface="Barlow Light" panose="020B0604020202020204" charset="0"/>
                        </a:rPr>
                        <a:t>35</a:t>
                      </a:r>
                    </a:p>
                  </a:txBody>
                  <a:tcPr anchor="ctr"/>
                </a:tc>
                <a:tc>
                  <a:txBody>
                    <a:bodyPr/>
                    <a:lstStyle/>
                    <a:p>
                      <a:pPr algn="ctr"/>
                      <a:r>
                        <a:rPr lang="fr-FR" dirty="0">
                          <a:latin typeface="Barlow Light" panose="020B0604020202020204" charset="0"/>
                        </a:rPr>
                        <a:t>60000</a:t>
                      </a:r>
                    </a:p>
                  </a:txBody>
                  <a:tcPr anchor="ctr"/>
                </a:tc>
                <a:tc>
                  <a:txBody>
                    <a:bodyPr/>
                    <a:lstStyle/>
                    <a:p>
                      <a:pPr algn="ctr"/>
                      <a:r>
                        <a:rPr lang="fr-FR" dirty="0">
                          <a:latin typeface="Barlow Light" panose="020B0604020202020204" charset="0"/>
                        </a:rPr>
                        <a:t>256</a:t>
                      </a:r>
                    </a:p>
                  </a:txBody>
                  <a:tcPr anchor="ctr"/>
                </a:tc>
                <a:extLst>
                  <a:ext uri="{0D108BD9-81ED-4DB2-BD59-A6C34878D82A}">
                    <a16:rowId xmlns="" xmlns:a16="http://schemas.microsoft.com/office/drawing/2014/main" val="2623137078"/>
                  </a:ext>
                </a:extLst>
              </a:tr>
              <a:tr h="180769">
                <a:tc>
                  <a:txBody>
                    <a:bodyPr/>
                    <a:lstStyle/>
                    <a:p>
                      <a:pPr algn="ctr"/>
                      <a:r>
                        <a:rPr lang="fr-FR" dirty="0">
                          <a:latin typeface="Barlow Light" panose="020B0604020202020204" charset="0"/>
                        </a:rPr>
                        <a:t>45</a:t>
                      </a:r>
                    </a:p>
                  </a:txBody>
                  <a:tcPr anchor="ctr"/>
                </a:tc>
                <a:tc>
                  <a:txBody>
                    <a:bodyPr/>
                    <a:lstStyle/>
                    <a:p>
                      <a:pPr algn="ctr"/>
                      <a:r>
                        <a:rPr lang="fr-FR" dirty="0">
                          <a:latin typeface="Barlow Light" panose="020B0604020202020204" charset="0"/>
                        </a:rPr>
                        <a:t>80000</a:t>
                      </a:r>
                    </a:p>
                  </a:txBody>
                  <a:tcPr anchor="ctr"/>
                </a:tc>
                <a:tc>
                  <a:txBody>
                    <a:bodyPr/>
                    <a:lstStyle/>
                    <a:p>
                      <a:pPr algn="ctr"/>
                      <a:r>
                        <a:rPr lang="fr-FR" dirty="0">
                          <a:latin typeface="Barlow Light" panose="020B0604020202020204" charset="0"/>
                        </a:rPr>
                        <a:t>231</a:t>
                      </a:r>
                    </a:p>
                  </a:txBody>
                  <a:tcPr anchor="ctr"/>
                </a:tc>
                <a:extLst>
                  <a:ext uri="{0D108BD9-81ED-4DB2-BD59-A6C34878D82A}">
                    <a16:rowId xmlns="" xmlns:a16="http://schemas.microsoft.com/office/drawing/2014/main" val="4012581214"/>
                  </a:ext>
                </a:extLst>
              </a:tr>
              <a:tr h="180769">
                <a:tc>
                  <a:txBody>
                    <a:bodyPr/>
                    <a:lstStyle/>
                    <a:p>
                      <a:pPr algn="ctr"/>
                      <a:r>
                        <a:rPr lang="fr-FR" dirty="0">
                          <a:latin typeface="Barlow Light" panose="020B0604020202020204" charset="0"/>
                        </a:rPr>
                        <a:t>20</a:t>
                      </a:r>
                    </a:p>
                  </a:txBody>
                  <a:tcPr anchor="ctr"/>
                </a:tc>
                <a:tc>
                  <a:txBody>
                    <a:bodyPr/>
                    <a:lstStyle/>
                    <a:p>
                      <a:pPr algn="ctr"/>
                      <a:r>
                        <a:rPr lang="fr-FR" dirty="0">
                          <a:latin typeface="Barlow Light" panose="020B0604020202020204" charset="0"/>
                        </a:rPr>
                        <a:t>20000</a:t>
                      </a:r>
                    </a:p>
                  </a:txBody>
                  <a:tcPr anchor="ctr"/>
                </a:tc>
                <a:tc>
                  <a:txBody>
                    <a:bodyPr/>
                    <a:lstStyle/>
                    <a:p>
                      <a:pPr algn="ctr"/>
                      <a:r>
                        <a:rPr lang="fr-FR" dirty="0">
                          <a:latin typeface="Barlow Light" panose="020B0604020202020204" charset="0"/>
                        </a:rPr>
                        <a:t>267</a:t>
                      </a:r>
                    </a:p>
                  </a:txBody>
                  <a:tcPr anchor="ctr"/>
                </a:tc>
                <a:extLst>
                  <a:ext uri="{0D108BD9-81ED-4DB2-BD59-A6C34878D82A}">
                    <a16:rowId xmlns="" xmlns:a16="http://schemas.microsoft.com/office/drawing/2014/main" val="2696252119"/>
                  </a:ext>
                </a:extLst>
              </a:tr>
              <a:tr h="180769">
                <a:tc>
                  <a:txBody>
                    <a:bodyPr/>
                    <a:lstStyle/>
                    <a:p>
                      <a:pPr algn="ctr"/>
                      <a:r>
                        <a:rPr lang="fr-FR" dirty="0">
                          <a:latin typeface="Barlow Light" panose="020B0604020202020204" charset="0"/>
                        </a:rPr>
                        <a:t>35</a:t>
                      </a:r>
                    </a:p>
                  </a:txBody>
                  <a:tcPr anchor="ctr"/>
                </a:tc>
                <a:tc>
                  <a:txBody>
                    <a:bodyPr/>
                    <a:lstStyle/>
                    <a:p>
                      <a:pPr algn="ctr"/>
                      <a:r>
                        <a:rPr lang="fr-FR" dirty="0">
                          <a:latin typeface="Barlow Light" panose="020B0604020202020204" charset="0"/>
                        </a:rPr>
                        <a:t>120000</a:t>
                      </a:r>
                    </a:p>
                  </a:txBody>
                  <a:tcPr anchor="ctr"/>
                </a:tc>
                <a:tc>
                  <a:txBody>
                    <a:bodyPr/>
                    <a:lstStyle/>
                    <a:p>
                      <a:pPr algn="ctr"/>
                      <a:r>
                        <a:rPr lang="fr-FR" dirty="0">
                          <a:latin typeface="Barlow Light" panose="020B0604020202020204" charset="0"/>
                        </a:rPr>
                        <a:t>139</a:t>
                      </a:r>
                    </a:p>
                  </a:txBody>
                  <a:tcPr anchor="ctr"/>
                </a:tc>
                <a:extLst>
                  <a:ext uri="{0D108BD9-81ED-4DB2-BD59-A6C34878D82A}">
                    <a16:rowId xmlns="" xmlns:a16="http://schemas.microsoft.com/office/drawing/2014/main" val="1305053807"/>
                  </a:ext>
                </a:extLst>
              </a:tr>
              <a:tr h="180769">
                <a:tc>
                  <a:txBody>
                    <a:bodyPr/>
                    <a:lstStyle/>
                    <a:p>
                      <a:pPr algn="ctr"/>
                      <a:r>
                        <a:rPr lang="fr-FR" dirty="0">
                          <a:latin typeface="Barlow Light" panose="020B0604020202020204" charset="0"/>
                        </a:rPr>
                        <a:t>52</a:t>
                      </a:r>
                    </a:p>
                  </a:txBody>
                  <a:tcPr anchor="ctr"/>
                </a:tc>
                <a:tc>
                  <a:txBody>
                    <a:bodyPr/>
                    <a:lstStyle/>
                    <a:p>
                      <a:pPr algn="ctr"/>
                      <a:r>
                        <a:rPr lang="fr-FR" dirty="0">
                          <a:latin typeface="Barlow Light" panose="020B0604020202020204" charset="0"/>
                        </a:rPr>
                        <a:t>18000</a:t>
                      </a:r>
                    </a:p>
                  </a:txBody>
                  <a:tcPr anchor="ctr"/>
                </a:tc>
                <a:tc>
                  <a:txBody>
                    <a:bodyPr/>
                    <a:lstStyle/>
                    <a:p>
                      <a:pPr algn="ctr"/>
                      <a:r>
                        <a:rPr lang="fr-FR" dirty="0">
                          <a:latin typeface="Barlow Light" panose="020B0604020202020204" charset="0"/>
                        </a:rPr>
                        <a:t>150</a:t>
                      </a:r>
                    </a:p>
                  </a:txBody>
                  <a:tcPr anchor="ctr"/>
                </a:tc>
                <a:extLst>
                  <a:ext uri="{0D108BD9-81ED-4DB2-BD59-A6C34878D82A}">
                    <a16:rowId xmlns="" xmlns:a16="http://schemas.microsoft.com/office/drawing/2014/main" val="4163947184"/>
                  </a:ext>
                </a:extLst>
              </a:tr>
              <a:tr h="180769">
                <a:tc>
                  <a:txBody>
                    <a:bodyPr/>
                    <a:lstStyle/>
                    <a:p>
                      <a:pPr algn="ctr"/>
                      <a:r>
                        <a:rPr lang="fr-FR" dirty="0">
                          <a:latin typeface="Barlow Light" panose="020B0604020202020204" charset="0"/>
                        </a:rPr>
                        <a:t>23</a:t>
                      </a:r>
                    </a:p>
                  </a:txBody>
                  <a:tcPr anchor="ctr"/>
                </a:tc>
                <a:tc>
                  <a:txBody>
                    <a:bodyPr/>
                    <a:lstStyle/>
                    <a:p>
                      <a:pPr algn="ctr"/>
                      <a:r>
                        <a:rPr lang="fr-FR" dirty="0">
                          <a:latin typeface="Barlow Light" panose="020B0604020202020204" charset="0"/>
                        </a:rPr>
                        <a:t>95000</a:t>
                      </a:r>
                    </a:p>
                  </a:txBody>
                  <a:tcPr anchor="ctr"/>
                </a:tc>
                <a:tc>
                  <a:txBody>
                    <a:bodyPr/>
                    <a:lstStyle/>
                    <a:p>
                      <a:pPr algn="ctr"/>
                      <a:r>
                        <a:rPr lang="fr-FR" dirty="0">
                          <a:latin typeface="Barlow Light" panose="020B0604020202020204" charset="0"/>
                        </a:rPr>
                        <a:t>127</a:t>
                      </a:r>
                    </a:p>
                  </a:txBody>
                  <a:tcPr anchor="ctr"/>
                </a:tc>
                <a:extLst>
                  <a:ext uri="{0D108BD9-81ED-4DB2-BD59-A6C34878D82A}">
                    <a16:rowId xmlns="" xmlns:a16="http://schemas.microsoft.com/office/drawing/2014/main" val="2652988919"/>
                  </a:ext>
                </a:extLst>
              </a:tr>
              <a:tr h="180769">
                <a:tc>
                  <a:txBody>
                    <a:bodyPr/>
                    <a:lstStyle/>
                    <a:p>
                      <a:pPr algn="ctr"/>
                      <a:r>
                        <a:rPr lang="fr-FR" dirty="0">
                          <a:latin typeface="Barlow Light" panose="020B0604020202020204" charset="0"/>
                        </a:rPr>
                        <a:t>40</a:t>
                      </a:r>
                    </a:p>
                  </a:txBody>
                  <a:tcPr anchor="ctr"/>
                </a:tc>
                <a:tc>
                  <a:txBody>
                    <a:bodyPr/>
                    <a:lstStyle/>
                    <a:p>
                      <a:pPr algn="ctr"/>
                      <a:r>
                        <a:rPr lang="fr-FR" dirty="0">
                          <a:latin typeface="Barlow Light" panose="020B0604020202020204" charset="0"/>
                        </a:rPr>
                        <a:t>62000</a:t>
                      </a:r>
                    </a:p>
                  </a:txBody>
                  <a:tcPr anchor="ctr"/>
                </a:tc>
                <a:tc>
                  <a:txBody>
                    <a:bodyPr/>
                    <a:lstStyle/>
                    <a:p>
                      <a:pPr algn="ctr"/>
                      <a:r>
                        <a:rPr lang="fr-FR" dirty="0">
                          <a:latin typeface="Barlow Light" panose="020B0604020202020204" charset="0"/>
                        </a:rPr>
                        <a:t>216</a:t>
                      </a:r>
                    </a:p>
                  </a:txBody>
                  <a:tcPr anchor="ctr"/>
                </a:tc>
                <a:extLst>
                  <a:ext uri="{0D108BD9-81ED-4DB2-BD59-A6C34878D82A}">
                    <a16:rowId xmlns="" xmlns:a16="http://schemas.microsoft.com/office/drawing/2014/main" val="1188306911"/>
                  </a:ext>
                </a:extLst>
              </a:tr>
              <a:tr h="180769">
                <a:tc>
                  <a:txBody>
                    <a:bodyPr/>
                    <a:lstStyle/>
                    <a:p>
                      <a:pPr algn="ctr"/>
                      <a:r>
                        <a:rPr lang="fr-FR" dirty="0">
                          <a:latin typeface="Barlow Light" panose="020B0604020202020204" charset="0"/>
                        </a:rPr>
                        <a:t>60</a:t>
                      </a:r>
                    </a:p>
                  </a:txBody>
                  <a:tcPr anchor="ctr"/>
                </a:tc>
                <a:tc>
                  <a:txBody>
                    <a:bodyPr/>
                    <a:lstStyle/>
                    <a:p>
                      <a:pPr algn="ctr"/>
                      <a:r>
                        <a:rPr lang="fr-FR" dirty="0">
                          <a:latin typeface="Barlow Light" panose="020B0604020202020204" charset="0"/>
                        </a:rPr>
                        <a:t>100000</a:t>
                      </a:r>
                    </a:p>
                  </a:txBody>
                  <a:tcPr anchor="ctr"/>
                </a:tc>
                <a:tc>
                  <a:txBody>
                    <a:bodyPr/>
                    <a:lstStyle/>
                    <a:p>
                      <a:pPr algn="ctr"/>
                      <a:r>
                        <a:rPr lang="fr-FR" dirty="0">
                          <a:latin typeface="Barlow Light" panose="020B0604020202020204" charset="0"/>
                        </a:rPr>
                        <a:t>139</a:t>
                      </a:r>
                    </a:p>
                  </a:txBody>
                  <a:tcPr anchor="ctr"/>
                </a:tc>
                <a:extLst>
                  <a:ext uri="{0D108BD9-81ED-4DB2-BD59-A6C34878D82A}">
                    <a16:rowId xmlns="" xmlns:a16="http://schemas.microsoft.com/office/drawing/2014/main" val="727517423"/>
                  </a:ext>
                </a:extLst>
              </a:tr>
              <a:tr h="180769">
                <a:tc>
                  <a:txBody>
                    <a:bodyPr/>
                    <a:lstStyle/>
                    <a:p>
                      <a:pPr algn="ctr"/>
                      <a:r>
                        <a:rPr lang="fr-FR" dirty="0">
                          <a:latin typeface="Barlow Light" panose="020B0604020202020204" charset="0"/>
                        </a:rPr>
                        <a:t>48</a:t>
                      </a:r>
                    </a:p>
                  </a:txBody>
                  <a:tcPr anchor="ctr"/>
                </a:tc>
                <a:tc>
                  <a:txBody>
                    <a:bodyPr/>
                    <a:lstStyle/>
                    <a:p>
                      <a:pPr algn="ctr"/>
                      <a:r>
                        <a:rPr lang="fr-FR" dirty="0">
                          <a:latin typeface="Barlow Light" panose="020B0604020202020204" charset="0"/>
                        </a:rPr>
                        <a:t>220000</a:t>
                      </a:r>
                    </a:p>
                  </a:txBody>
                  <a:tcPr anchor="ctr"/>
                </a:tc>
                <a:tc>
                  <a:txBody>
                    <a:bodyPr/>
                    <a:lstStyle/>
                    <a:p>
                      <a:pPr algn="ctr"/>
                      <a:r>
                        <a:rPr lang="fr-FR" dirty="0">
                          <a:latin typeface="Barlow Light" panose="020B0604020202020204" charset="0"/>
                        </a:rPr>
                        <a:t>250</a:t>
                      </a:r>
                    </a:p>
                  </a:txBody>
                  <a:tcPr anchor="ctr"/>
                </a:tc>
                <a:extLst>
                  <a:ext uri="{0D108BD9-81ED-4DB2-BD59-A6C34878D82A}">
                    <a16:rowId xmlns="" xmlns:a16="http://schemas.microsoft.com/office/drawing/2014/main" val="345213455"/>
                  </a:ext>
                </a:extLst>
              </a:tr>
              <a:tr h="180769">
                <a:tc>
                  <a:txBody>
                    <a:bodyPr/>
                    <a:lstStyle/>
                    <a:p>
                      <a:pPr algn="ctr"/>
                      <a:r>
                        <a:rPr lang="fr-FR" dirty="0">
                          <a:latin typeface="Barlow Light" panose="020B0604020202020204" charset="0"/>
                        </a:rPr>
                        <a:t>33</a:t>
                      </a:r>
                    </a:p>
                  </a:txBody>
                  <a:tcPr anchor="ctr"/>
                </a:tc>
                <a:tc>
                  <a:txBody>
                    <a:bodyPr/>
                    <a:lstStyle/>
                    <a:p>
                      <a:pPr algn="ctr"/>
                      <a:r>
                        <a:rPr lang="fr-FR" dirty="0">
                          <a:latin typeface="Barlow Light" panose="020B0604020202020204" charset="0"/>
                        </a:rPr>
                        <a:t>150000</a:t>
                      </a:r>
                    </a:p>
                  </a:txBody>
                  <a:tcPr anchor="ctr"/>
                </a:tc>
                <a:tc>
                  <a:txBody>
                    <a:bodyPr/>
                    <a:lstStyle/>
                    <a:p>
                      <a:pPr algn="ctr"/>
                      <a:r>
                        <a:rPr lang="fr-FR" dirty="0">
                          <a:latin typeface="Barlow Light" panose="020B0604020202020204" charset="0"/>
                        </a:rPr>
                        <a:t>267</a:t>
                      </a:r>
                    </a:p>
                  </a:txBody>
                  <a:tcPr anchor="ctr"/>
                </a:tc>
                <a:extLst>
                  <a:ext uri="{0D108BD9-81ED-4DB2-BD59-A6C34878D82A}">
                    <a16:rowId xmlns="" xmlns:a16="http://schemas.microsoft.com/office/drawing/2014/main" val="3817788756"/>
                  </a:ext>
                </a:extLst>
              </a:tr>
            </a:tbl>
          </a:graphicData>
        </a:graphic>
      </p:graphicFrame>
    </p:spTree>
    <p:extLst>
      <p:ext uri="{BB962C8B-B14F-4D97-AF65-F5344CB8AC3E}">
        <p14:creationId xmlns="" xmlns:p14="http://schemas.microsoft.com/office/powerpoint/2010/main" val="177018395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Exemple: régression </a:t>
            </a:r>
            <a:endParaRPr lang="en" sz="3200" b="1" dirty="0"/>
          </a:p>
        </p:txBody>
      </p:sp>
      <p:sp>
        <p:nvSpPr>
          <p:cNvPr id="551" name="Google Shape;551;p18"/>
          <p:cNvSpPr txBox="1">
            <a:spLocks noGrp="1"/>
          </p:cNvSpPr>
          <p:nvPr>
            <p:ph type="body" idx="1"/>
          </p:nvPr>
        </p:nvSpPr>
        <p:spPr>
          <a:xfrm>
            <a:off x="1259632" y="1635646"/>
            <a:ext cx="7244622"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Classer la nouvelle observation ayant les valeurs:</a:t>
            </a:r>
          </a:p>
          <a:p>
            <a:pPr marL="76200" lvl="0" indent="0">
              <a:buNone/>
            </a:pPr>
            <a:r>
              <a:rPr lang="fr-FR" sz="2000" dirty="0"/>
              <a:t>	(Age=48 , Loan=142000)</a:t>
            </a:r>
          </a:p>
          <a:p>
            <a:pPr marL="76200" lvl="0" indent="0">
              <a:buNone/>
            </a:pPr>
            <a:endParaRPr lang="fr-FR" sz="2000" dirty="0"/>
          </a:p>
          <a:p>
            <a:pPr lvl="0">
              <a:buFont typeface="Wingdings" panose="05000000000000000000" pitchFamily="2" charset="2"/>
              <a:buChar char="§"/>
            </a:pPr>
            <a:r>
              <a:rPr lang="fr-FR" sz="2000" dirty="0"/>
              <a:t>Utiliser la distance euclidienne pour mesurer la distance avec chaque jeu de données.</a:t>
            </a:r>
          </a:p>
          <a:p>
            <a:pPr lvl="0">
              <a:buFont typeface="Wingdings" panose="05000000000000000000" pitchFamily="2" charset="2"/>
              <a:buChar char="§"/>
            </a:pPr>
            <a:r>
              <a:rPr lang="fr-FR" sz="2000" dirty="0"/>
              <a:t>Considérer la valeur: k=1 et par la suite k=3.</a:t>
            </a:r>
          </a:p>
          <a:p>
            <a:pPr lvl="0">
              <a:buFont typeface="Wingdings" panose="05000000000000000000" pitchFamily="2" charset="2"/>
              <a:buChar char="§"/>
            </a:pPr>
            <a:endParaRPr lang="fr-FR" sz="2000"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99</a:t>
            </a:fld>
            <a:endParaRPr/>
          </a:p>
        </p:txBody>
      </p:sp>
    </p:spTree>
    <p:extLst>
      <p:ext uri="{BB962C8B-B14F-4D97-AF65-F5344CB8AC3E}">
        <p14:creationId xmlns="" xmlns:p14="http://schemas.microsoft.com/office/powerpoint/2010/main" val="289192817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Exemple: régression </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899592" y="1635646"/>
                <a:ext cx="7704856"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Utilisation d'un ensemble d’apprentissage pour classer un cas inconnu,</a:t>
                </a:r>
              </a:p>
              <a:p>
                <a:pPr>
                  <a:buFont typeface="Wingdings" panose="05000000000000000000" pitchFamily="2" charset="2"/>
                  <a:buChar char="§"/>
                </a:pPr>
                <a:r>
                  <a:rPr lang="fr-FR" sz="2000" dirty="0"/>
                  <a:t>Calculer la distance euclidienne entre (Age=48 , Loan=142000) et chaque jeu de données.</a:t>
                </a:r>
              </a:p>
              <a:p>
                <a:pPr>
                  <a:buFont typeface="Wingdings" panose="05000000000000000000" pitchFamily="2" charset="2"/>
                  <a:buChar char="§"/>
                </a:pPr>
                <a:r>
                  <a:rPr lang="fr-FR" sz="2000" b="1" u="sng" dirty="0">
                    <a:effectLst>
                      <a:outerShdw blurRad="38100" dist="38100" dir="2700000" algn="tl">
                        <a:srgbClr val="000000">
                          <a:alpha val="43137"/>
                        </a:srgbClr>
                      </a:outerShdw>
                    </a:effectLst>
                  </a:rPr>
                  <a:t>Exemple:</a:t>
                </a:r>
              </a:p>
              <a:p>
                <a:pPr lvl="1">
                  <a:buClr>
                    <a:schemeClr val="accent4"/>
                  </a:buClr>
                  <a:buFont typeface="Arial" panose="020B0604020202020204" pitchFamily="34" charset="0"/>
                  <a:buChar char="•"/>
                </a:pPr>
                <a:r>
                  <a:rPr lang="fr-FR" sz="2000" dirty="0"/>
                  <a:t>Distance entre (48, 142000) et (33, 150000) </a:t>
                </a:r>
              </a:p>
              <a:p>
                <a:pPr lvl="1">
                  <a:buClr>
                    <a:schemeClr val="accent4"/>
                  </a:buClr>
                  <a:buFont typeface="Arial" panose="020B0604020202020204" pitchFamily="34" charset="0"/>
                  <a:buChar char="•"/>
                </a:pPr>
                <a14:m>
                  <m:oMath xmlns:m="http://schemas.openxmlformats.org/officeDocument/2006/math">
                    <m:sSub>
                      <m:sSubPr>
                        <m:ctrlPr>
                          <a:rPr lang="fr-FR" sz="2000" i="1" smtClean="0">
                            <a:latin typeface="Cambria Math" panose="02040503050406030204" pitchFamily="18" charset="0"/>
                          </a:rPr>
                        </m:ctrlPr>
                      </m:sSubPr>
                      <m:e>
                        <m:r>
                          <a:rPr lang="fr-FR" sz="2000" b="0" i="1" smtClean="0">
                            <a:latin typeface="Cambria Math" panose="02040503050406030204" pitchFamily="18" charset="0"/>
                          </a:rPr>
                          <m:t>𝐷</m:t>
                        </m:r>
                      </m:e>
                      <m:sub>
                        <m:r>
                          <a:rPr lang="fr-FR" sz="2000" b="0" i="1" smtClean="0">
                            <a:latin typeface="Cambria Math" panose="02040503050406030204" pitchFamily="18" charset="0"/>
                          </a:rPr>
                          <m:t>𝑒</m:t>
                        </m:r>
                      </m:sub>
                    </m:sSub>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𝑥</m:t>
                        </m:r>
                        <m:r>
                          <a:rPr lang="fr-FR" sz="2000" b="0" i="1" smtClean="0">
                            <a:latin typeface="Cambria Math" panose="02040503050406030204" pitchFamily="18" charset="0"/>
                          </a:rPr>
                          <m:t>,</m:t>
                        </m:r>
                        <m:r>
                          <a:rPr lang="fr-FR" sz="2000" b="0" i="1" smtClean="0">
                            <a:latin typeface="Cambria Math" panose="02040503050406030204" pitchFamily="18" charset="0"/>
                          </a:rPr>
                          <m:t>𝑦</m:t>
                        </m:r>
                      </m:e>
                    </m:d>
                    <m:r>
                      <a:rPr lang="fr-FR" sz="2000" b="0" i="1" smtClean="0">
                        <a:latin typeface="Cambria Math" panose="02040503050406030204" pitchFamily="18" charset="0"/>
                      </a:rPr>
                      <m:t>= </m:t>
                    </m:r>
                    <m:rad>
                      <m:radPr>
                        <m:degHide m:val="on"/>
                        <m:ctrlPr>
                          <a:rPr lang="fr-FR" sz="2000" b="0" i="1" smtClean="0">
                            <a:latin typeface="Cambria Math" panose="02040503050406030204" pitchFamily="18" charset="0"/>
                          </a:rPr>
                        </m:ctrlPr>
                      </m:radPr>
                      <m:deg/>
                      <m:e>
                        <m:sSup>
                          <m:sSupPr>
                            <m:ctrlPr>
                              <a:rPr lang="fr-FR" sz="2000" i="1">
                                <a:latin typeface="Cambria Math" panose="02040503050406030204" pitchFamily="18" charset="0"/>
                              </a:rPr>
                            </m:ctrlPr>
                          </m:sSupPr>
                          <m:e>
                            <m:r>
                              <a:rPr lang="fr-FR" sz="2000" i="1">
                                <a:latin typeface="Cambria Math" panose="02040503050406030204" pitchFamily="18" charset="0"/>
                              </a:rPr>
                              <m:t>(</m:t>
                            </m:r>
                            <m:r>
                              <a:rPr lang="fr-FR" sz="2000" b="0" i="1" smtClean="0">
                                <a:latin typeface="Cambria Math" panose="02040503050406030204" pitchFamily="18" charset="0"/>
                              </a:rPr>
                              <m:t>48</m:t>
                            </m:r>
                            <m:r>
                              <a:rPr lang="fr-FR" sz="2000" i="1">
                                <a:latin typeface="Cambria Math" panose="02040503050406030204" pitchFamily="18" charset="0"/>
                              </a:rPr>
                              <m:t>−</m:t>
                            </m:r>
                            <m:r>
                              <a:rPr lang="fr-FR" sz="2000" b="0" i="1" smtClean="0">
                                <a:latin typeface="Cambria Math" panose="02040503050406030204" pitchFamily="18" charset="0"/>
                              </a:rPr>
                              <m:t>33</m:t>
                            </m:r>
                            <m:r>
                              <a:rPr lang="fr-FR" sz="2000" i="1">
                                <a:latin typeface="Cambria Math" panose="02040503050406030204" pitchFamily="18" charset="0"/>
                              </a:rPr>
                              <m:t>)</m:t>
                            </m:r>
                          </m:e>
                          <m:sup>
                            <m:r>
                              <a:rPr lang="fr-FR" sz="2000" i="1">
                                <a:latin typeface="Cambria Math" panose="02040503050406030204" pitchFamily="18" charset="0"/>
                              </a:rPr>
                              <m:t>2</m:t>
                            </m:r>
                          </m:sup>
                        </m:sSup>
                        <m:r>
                          <a:rPr lang="fr-FR" sz="2000" b="0" i="1" smtClean="0">
                            <a:latin typeface="Cambria Math" panose="02040503050406030204" pitchFamily="18" charset="0"/>
                          </a:rPr>
                          <m:t>+</m:t>
                        </m:r>
                        <m:sSup>
                          <m:sSupPr>
                            <m:ctrlPr>
                              <a:rPr lang="fr-FR" sz="2000" i="1">
                                <a:latin typeface="Cambria Math" panose="02040503050406030204" pitchFamily="18" charset="0"/>
                              </a:rPr>
                            </m:ctrlPr>
                          </m:sSupPr>
                          <m:e>
                            <m:r>
                              <a:rPr lang="fr-FR" sz="2000" i="1">
                                <a:latin typeface="Cambria Math" panose="02040503050406030204" pitchFamily="18" charset="0"/>
                              </a:rPr>
                              <m:t>(</m:t>
                            </m:r>
                            <m:r>
                              <a:rPr lang="fr-FR" sz="2000" b="0" i="1" smtClean="0">
                                <a:latin typeface="Cambria Math" panose="02040503050406030204" pitchFamily="18" charset="0"/>
                              </a:rPr>
                              <m:t>142000</m:t>
                            </m:r>
                            <m:r>
                              <a:rPr lang="fr-FR" sz="2000" i="1">
                                <a:latin typeface="Cambria Math" panose="02040503050406030204" pitchFamily="18" charset="0"/>
                              </a:rPr>
                              <m:t>−</m:t>
                            </m:r>
                            <m:r>
                              <a:rPr lang="fr-FR" sz="2000" b="0" i="1" smtClean="0">
                                <a:latin typeface="Cambria Math" panose="02040503050406030204" pitchFamily="18" charset="0"/>
                              </a:rPr>
                              <m:t>150000</m:t>
                            </m:r>
                            <m:r>
                              <a:rPr lang="fr-FR" sz="2000" i="1">
                                <a:latin typeface="Cambria Math" panose="02040503050406030204" pitchFamily="18" charset="0"/>
                              </a:rPr>
                              <m:t>)</m:t>
                            </m:r>
                          </m:e>
                          <m:sup>
                            <m:r>
                              <a:rPr lang="fr-FR" sz="2000" i="1">
                                <a:latin typeface="Cambria Math" panose="02040503050406030204" pitchFamily="18" charset="0"/>
                              </a:rPr>
                              <m:t>2</m:t>
                            </m:r>
                          </m:sup>
                        </m:sSup>
                      </m:e>
                    </m:rad>
                    <m:r>
                      <a:rPr lang="fr-FR" sz="2000" b="0" i="0" smtClean="0">
                        <a:latin typeface="Cambria Math" panose="02040503050406030204" pitchFamily="18" charset="0"/>
                      </a:rPr>
                      <m:t> </m:t>
                    </m:r>
                    <m:r>
                      <a:rPr lang="fr-FR" sz="2000" b="0" i="1" smtClean="0">
                        <a:latin typeface="Cambria Math" panose="02040503050406030204" pitchFamily="18" charset="0"/>
                        <a:ea typeface="Cambria Math" panose="02040503050406030204" pitchFamily="18" charset="0"/>
                      </a:rPr>
                      <m:t>=8000,01</m:t>
                    </m:r>
                  </m:oMath>
                </a14:m>
                <a:endParaRPr lang="fr-FR" sz="2000" dirty="0"/>
              </a:p>
              <a:p>
                <a:pPr>
                  <a:buFont typeface="Wingdings" panose="05000000000000000000" pitchFamily="2" charset="2"/>
                  <a:buChar char="§"/>
                </a:pPr>
                <a:endParaRPr lang="fr-FR" sz="20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899592" y="1635646"/>
                <a:ext cx="7704856" cy="3291830"/>
              </a:xfrm>
              <a:prstGeom prst="rect">
                <a:avLst/>
              </a:prstGeom>
              <a:blipFill>
                <a:blip r:embed="rId3"/>
                <a:stretch>
                  <a:fillRect l="-1346" t="-556"/>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100</a:t>
            </a:fld>
            <a:endParaRPr/>
          </a:p>
        </p:txBody>
      </p:sp>
    </p:spTree>
    <p:extLst>
      <p:ext uri="{BB962C8B-B14F-4D97-AF65-F5344CB8AC3E}">
        <p14:creationId xmlns="" xmlns:p14="http://schemas.microsoft.com/office/powerpoint/2010/main" val="265658591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Exemple: régression </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101</a:t>
            </a:fld>
            <a:endParaRPr/>
          </a:p>
        </p:txBody>
      </p:sp>
      <p:pic>
        <p:nvPicPr>
          <p:cNvPr id="4" name="Image 3">
            <a:extLst>
              <a:ext uri="{FF2B5EF4-FFF2-40B4-BE49-F238E27FC236}">
                <a16:creationId xmlns="" xmlns:a16="http://schemas.microsoft.com/office/drawing/2014/main" id="{AEA51C1E-640B-4313-8E81-BA5187B4C529}"/>
              </a:ext>
            </a:extLst>
          </p:cNvPr>
          <p:cNvPicPr>
            <a:picLocks noChangeAspect="1"/>
          </p:cNvPicPr>
          <p:nvPr/>
        </p:nvPicPr>
        <p:blipFill>
          <a:blip r:embed="rId3"/>
          <a:stretch>
            <a:fillRect/>
          </a:stretch>
        </p:blipFill>
        <p:spPr>
          <a:xfrm>
            <a:off x="1619673" y="1419623"/>
            <a:ext cx="6048672" cy="3417768"/>
          </a:xfrm>
          <a:prstGeom prst="rect">
            <a:avLst/>
          </a:prstGeom>
        </p:spPr>
      </p:pic>
    </p:spTree>
    <p:extLst>
      <p:ext uri="{BB962C8B-B14F-4D97-AF65-F5344CB8AC3E}">
        <p14:creationId xmlns="" xmlns:p14="http://schemas.microsoft.com/office/powerpoint/2010/main" val="343899513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Exemple: régression </a:t>
            </a:r>
            <a:endParaRPr lang="en" sz="3200" b="1" dirty="0"/>
          </a:p>
        </p:txBody>
      </p:sp>
      <p:sp>
        <p:nvSpPr>
          <p:cNvPr id="551" name="Google Shape;551;p18"/>
          <p:cNvSpPr txBox="1">
            <a:spLocks noGrp="1"/>
          </p:cNvSpPr>
          <p:nvPr>
            <p:ph type="body" idx="1"/>
          </p:nvPr>
        </p:nvSpPr>
        <p:spPr>
          <a:xfrm>
            <a:off x="899592" y="1635646"/>
            <a:ext cx="7704856" cy="3291830"/>
          </a:xfrm>
          <a:prstGeom prst="rect">
            <a:avLst/>
          </a:prstGeom>
        </p:spPr>
        <p:txBody>
          <a:bodyPr spcFirstLastPara="1" wrap="square" lIns="0" tIns="0" rIns="0" bIns="0" anchor="t" anchorCtr="0">
            <a:noAutofit/>
          </a:bodyPr>
          <a:lstStyle/>
          <a:p>
            <a:pPr>
              <a:buFont typeface="Wingdings" panose="05000000000000000000" pitchFamily="2" charset="2"/>
              <a:buChar char="§"/>
            </a:pPr>
            <a:r>
              <a:rPr lang="fr-FR" sz="2000" b="1" u="sng" dirty="0">
                <a:effectLst>
                  <a:outerShdw blurRad="38100" dist="38100" dir="2700000" algn="tl">
                    <a:srgbClr val="000000">
                      <a:alpha val="43137"/>
                    </a:srgbClr>
                  </a:outerShdw>
                </a:effectLst>
              </a:rPr>
              <a:t>K=1:</a:t>
            </a:r>
          </a:p>
          <a:p>
            <a:pPr lvl="1">
              <a:buClr>
                <a:schemeClr val="accent4"/>
              </a:buClr>
              <a:buFont typeface="Arial" panose="020B0604020202020204" pitchFamily="34" charset="0"/>
              <a:buChar char="•"/>
            </a:pPr>
            <a:r>
              <a:rPr lang="fr-FR" sz="2000" dirty="0"/>
              <a:t>Le voisin le plus proche est le dernier cas de l'ensemble </a:t>
            </a:r>
          </a:p>
          <a:p>
            <a:pPr lvl="1">
              <a:buClr>
                <a:schemeClr val="accent4"/>
              </a:buClr>
              <a:buFont typeface="Arial" panose="020B0604020202020204" pitchFamily="34" charset="0"/>
              <a:buChar char="•"/>
            </a:pPr>
            <a:r>
              <a:rPr lang="fr-FR" sz="2000" dirty="0"/>
              <a:t>Donc HPI=264</a:t>
            </a:r>
          </a:p>
          <a:p>
            <a:pPr>
              <a:buFont typeface="Wingdings" panose="05000000000000000000" pitchFamily="2" charset="2"/>
              <a:buChar char="§"/>
            </a:pPr>
            <a:r>
              <a:rPr lang="fr-FR" sz="2000" b="1" u="sng" dirty="0">
                <a:effectLst>
                  <a:outerShdw blurRad="38100" dist="38100" dir="2700000" algn="tl">
                    <a:srgbClr val="000000">
                      <a:alpha val="43137"/>
                    </a:srgbClr>
                  </a:outerShdw>
                </a:effectLst>
              </a:rPr>
              <a:t>K=3:</a:t>
            </a:r>
          </a:p>
          <a:p>
            <a:pPr lvl="1">
              <a:buClr>
                <a:schemeClr val="accent4"/>
              </a:buClr>
              <a:buFont typeface="Arial" panose="020B0604020202020204" pitchFamily="34" charset="0"/>
              <a:buChar char="•"/>
            </a:pPr>
            <a:r>
              <a:rPr lang="fr-FR" sz="2000" dirty="0"/>
              <a:t>La prédiction de HPI est égale à la moyenne des </a:t>
            </a:r>
            <a:r>
              <a:rPr lang="fr-FR" sz="2000" dirty="0" err="1"/>
              <a:t>HPIs</a:t>
            </a:r>
            <a:r>
              <a:rPr lang="fr-FR" sz="2000" dirty="0"/>
              <a:t> pour les trois premiers voisins</a:t>
            </a:r>
          </a:p>
          <a:p>
            <a:pPr lvl="1">
              <a:buClr>
                <a:schemeClr val="accent4"/>
              </a:buClr>
              <a:buFont typeface="Arial" panose="020B0604020202020204" pitchFamily="34" charset="0"/>
              <a:buChar char="•"/>
            </a:pPr>
            <a:r>
              <a:rPr lang="fr-FR" sz="2000" dirty="0"/>
              <a:t>Donc HPI = (264+139+139)/3</a:t>
            </a:r>
          </a:p>
          <a:p>
            <a:pPr marL="533400" lvl="1" indent="0">
              <a:buClr>
                <a:schemeClr val="accent4"/>
              </a:buClr>
              <a:buNone/>
            </a:pPr>
            <a:r>
              <a:rPr lang="fr-FR" sz="2000" dirty="0"/>
              <a:t>                            = 180,7</a:t>
            </a:r>
          </a:p>
          <a:p>
            <a:pPr lvl="1">
              <a:buClr>
                <a:schemeClr val="accent4"/>
              </a:buClr>
              <a:buFont typeface="Arial" panose="020B0604020202020204" pitchFamily="34" charset="0"/>
              <a:buChar char="•"/>
            </a:pPr>
            <a:endParaRPr lang="fr-FR" sz="2000"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102</a:t>
            </a:fld>
            <a:endParaRPr/>
          </a:p>
        </p:txBody>
      </p:sp>
    </p:spTree>
    <p:extLst>
      <p:ext uri="{BB962C8B-B14F-4D97-AF65-F5344CB8AC3E}">
        <p14:creationId xmlns="" xmlns:p14="http://schemas.microsoft.com/office/powerpoint/2010/main" val="91167373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13"/>
          <p:cNvSpPr txBox="1">
            <a:spLocks noGrp="1"/>
          </p:cNvSpPr>
          <p:nvPr>
            <p:ph type="ctrTitle"/>
          </p:nvPr>
        </p:nvSpPr>
        <p:spPr>
          <a:xfrm>
            <a:off x="685800" y="1541675"/>
            <a:ext cx="5740200" cy="2060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fr-FR" dirty="0" err="1"/>
              <a:t>Naive</a:t>
            </a:r>
            <a:r>
              <a:rPr lang="fr-FR" dirty="0"/>
              <a:t> Bayes</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fr-FR" sz="3200" b="1" dirty="0" err="1"/>
              <a:t>Naive</a:t>
            </a:r>
            <a:r>
              <a:rPr lang="fr-FR" sz="3200" b="1" dirty="0"/>
              <a:t> Bayes: Définition</a:t>
            </a:r>
          </a:p>
        </p:txBody>
      </p:sp>
      <p:sp>
        <p:nvSpPr>
          <p:cNvPr id="551" name="Google Shape;551;p18"/>
          <p:cNvSpPr txBox="1">
            <a:spLocks noGrp="1"/>
          </p:cNvSpPr>
          <p:nvPr>
            <p:ph type="body" idx="1"/>
          </p:nvPr>
        </p:nvSpPr>
        <p:spPr>
          <a:xfrm>
            <a:off x="1043608" y="1707654"/>
            <a:ext cx="7380000" cy="2952000"/>
          </a:xfrm>
          <a:prstGeom prst="rect">
            <a:avLst/>
          </a:prstGeom>
          <a:ln>
            <a:solidFill>
              <a:schemeClr val="accent1"/>
            </a:solid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spcFirstLastPara="1" wrap="square" lIns="0" tIns="0" rIns="0" bIns="0" anchor="ctr" anchorCtr="0">
            <a:noAutofit/>
          </a:bodyPr>
          <a:lstStyle/>
          <a:p>
            <a:pPr lvl="0" algn="ctr">
              <a:spcBef>
                <a:spcPts val="1200"/>
              </a:spcBef>
              <a:buNone/>
            </a:pPr>
            <a:r>
              <a:rPr lang="fr-FR" b="1" dirty="0" err="1"/>
              <a:t>Naive</a:t>
            </a:r>
            <a:r>
              <a:rPr lang="fr-FR" b="1" dirty="0"/>
              <a:t> Bayes Classifier </a:t>
            </a:r>
            <a:r>
              <a:rPr lang="fr-FR" dirty="0"/>
              <a:t>est un algorithme populaire en </a:t>
            </a:r>
            <a:r>
              <a:rPr lang="fr-FR" b="1" dirty="0"/>
              <a:t>Data </a:t>
            </a:r>
            <a:r>
              <a:rPr lang="fr-FR" b="1" dirty="0" err="1"/>
              <a:t>mining</a:t>
            </a:r>
            <a:r>
              <a:rPr lang="fr-FR" b="1" dirty="0"/>
              <a:t> </a:t>
            </a:r>
            <a:r>
              <a:rPr lang="fr-FR" dirty="0"/>
              <a:t>utilisé pour la </a:t>
            </a:r>
            <a:r>
              <a:rPr lang="fr-FR" b="1" dirty="0"/>
              <a:t>classification</a:t>
            </a:r>
            <a:r>
              <a:rPr lang="fr-FR" dirty="0"/>
              <a:t>. Il est particulièrement utile pour les problématiques de </a:t>
            </a:r>
            <a:r>
              <a:rPr lang="fr-FR" b="1" dirty="0"/>
              <a:t>classification de texte</a:t>
            </a:r>
            <a:r>
              <a:rPr lang="fr-FR" dirty="0"/>
              <a:t>. Un exemple d’utilisation du </a:t>
            </a:r>
            <a:r>
              <a:rPr lang="fr-FR" dirty="0" err="1"/>
              <a:t>Naive</a:t>
            </a:r>
            <a:r>
              <a:rPr lang="fr-FR" dirty="0"/>
              <a:t> Bayes est celui du filtre anti-spam.</a:t>
            </a:r>
            <a:endParaRPr lang="fr-FR" sz="2800" dirty="0">
              <a:latin typeface="Barlow Light" panose="020B0604020202020204" charset="0"/>
            </a:endParaRP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104</a:t>
            </a:fld>
            <a:endParaRPr/>
          </a:p>
        </p:txBody>
      </p:sp>
    </p:spTree>
    <p:extLst>
      <p:ext uri="{BB962C8B-B14F-4D97-AF65-F5344CB8AC3E}">
        <p14:creationId xmlns="" xmlns:p14="http://schemas.microsoft.com/office/powerpoint/2010/main" val="266959599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fr-FR" sz="3200" b="1" dirty="0"/>
              <a:t>Probabilités conditionnelles</a:t>
            </a:r>
          </a:p>
        </p:txBody>
      </p:sp>
      <p:sp>
        <p:nvSpPr>
          <p:cNvPr id="551" name="Google Shape;551;p18"/>
          <p:cNvSpPr txBox="1">
            <a:spLocks noGrp="1"/>
          </p:cNvSpPr>
          <p:nvPr>
            <p:ph type="body" idx="1"/>
          </p:nvPr>
        </p:nvSpPr>
        <p:spPr>
          <a:xfrm>
            <a:off x="1043608" y="1491630"/>
            <a:ext cx="7344816" cy="1728192"/>
          </a:xfrm>
          <a:prstGeom prst="rect">
            <a:avLst/>
          </a:prstGeom>
          <a:ln>
            <a:solidFill>
              <a:schemeClr val="bg1"/>
            </a:solidFill>
          </a:ln>
          <a:effectLst/>
        </p:spPr>
        <p:style>
          <a:lnRef idx="2">
            <a:schemeClr val="dk1"/>
          </a:lnRef>
          <a:fillRef idx="1">
            <a:schemeClr val="lt1"/>
          </a:fillRef>
          <a:effectRef idx="0">
            <a:schemeClr val="dk1"/>
          </a:effectRef>
          <a:fontRef idx="minor">
            <a:schemeClr val="dk1"/>
          </a:fontRef>
        </p:style>
        <p:txBody>
          <a:bodyPr spcFirstLastPara="1" wrap="square" lIns="0" tIns="0" rIns="0" bIns="0" anchor="ctr" anchorCtr="0">
            <a:noAutofit/>
          </a:bodyPr>
          <a:lstStyle/>
          <a:p>
            <a:pPr>
              <a:spcBef>
                <a:spcPts val="0"/>
              </a:spcBef>
              <a:buFont typeface="Wingdings" panose="05000000000000000000" pitchFamily="2" charset="2"/>
              <a:buChar char="§"/>
            </a:pPr>
            <a:r>
              <a:rPr lang="fr-FR" sz="2200" dirty="0"/>
              <a:t>Le </a:t>
            </a:r>
            <a:r>
              <a:rPr lang="fr-FR" sz="2200" i="1" dirty="0" err="1"/>
              <a:t>naive</a:t>
            </a:r>
            <a:r>
              <a:rPr lang="fr-FR" sz="2200" i="1" dirty="0"/>
              <a:t> Bayes classifier</a:t>
            </a:r>
            <a:r>
              <a:rPr lang="fr-FR" sz="2200" dirty="0"/>
              <a:t> se base sur le </a:t>
            </a:r>
            <a:r>
              <a:rPr lang="fr-FR" sz="2200" b="1" dirty="0"/>
              <a:t>théorème de Bayes</a:t>
            </a:r>
            <a:r>
              <a:rPr lang="fr-FR" sz="2200" dirty="0"/>
              <a:t>. </a:t>
            </a:r>
          </a:p>
          <a:p>
            <a:pPr>
              <a:spcBef>
                <a:spcPts val="0"/>
              </a:spcBef>
              <a:buFont typeface="Wingdings" panose="05000000000000000000" pitchFamily="2" charset="2"/>
              <a:buChar char="§"/>
            </a:pPr>
            <a:r>
              <a:rPr lang="fr-FR" sz="2200" dirty="0"/>
              <a:t>Ce théorème est fondé sur les </a:t>
            </a:r>
            <a:r>
              <a:rPr lang="fr-FR" sz="2200" b="1" dirty="0"/>
              <a:t>probabilités conditionnelles</a:t>
            </a:r>
            <a:r>
              <a:rPr lang="fr-FR" sz="2200" dirty="0"/>
              <a:t>.</a:t>
            </a:r>
            <a:endParaRPr lang="fr-FR" sz="2200" b="1" dirty="0">
              <a:solidFill>
                <a:schemeClr val="accent4"/>
              </a:solidFill>
            </a:endParaRP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105</a:t>
            </a:fld>
            <a:endParaRPr/>
          </a:p>
        </p:txBody>
      </p:sp>
      <p:graphicFrame>
        <p:nvGraphicFramePr>
          <p:cNvPr id="2" name="Tableau 2">
            <a:extLst>
              <a:ext uri="{FF2B5EF4-FFF2-40B4-BE49-F238E27FC236}">
                <a16:creationId xmlns="" xmlns:a16="http://schemas.microsoft.com/office/drawing/2014/main" id="{0D224937-1565-43B7-A373-1B41F676EF2D}"/>
              </a:ext>
            </a:extLst>
          </p:cNvPr>
          <p:cNvGraphicFramePr>
            <a:graphicFrameLocks noGrp="1"/>
          </p:cNvGraphicFramePr>
          <p:nvPr>
            <p:extLst>
              <p:ext uri="{D42A27DB-BD31-4B8C-83A1-F6EECF244321}">
                <p14:modId xmlns="" xmlns:p14="http://schemas.microsoft.com/office/powerpoint/2010/main" val="579890989"/>
              </p:ext>
            </p:extLst>
          </p:nvPr>
        </p:nvGraphicFramePr>
        <p:xfrm>
          <a:off x="1427820" y="3719370"/>
          <a:ext cx="6576392" cy="1097280"/>
        </p:xfrm>
        <a:graphic>
          <a:graphicData uri="http://schemas.openxmlformats.org/drawingml/2006/table">
            <a:tbl>
              <a:tblPr firstRow="1" bandRow="1">
                <a:effectLst>
                  <a:outerShdw blurRad="63500" sx="102000" sy="102000" algn="ctr" rotWithShape="0">
                    <a:prstClr val="black">
                      <a:alpha val="40000"/>
                    </a:prstClr>
                  </a:outerShdw>
                </a:effectLst>
                <a:tableStyleId>{ED083AE6-46FA-4A59-8FB0-9F97EB10719F}</a:tableStyleId>
              </a:tblPr>
              <a:tblGrid>
                <a:gridCol w="6576392">
                  <a:extLst>
                    <a:ext uri="{9D8B030D-6E8A-4147-A177-3AD203B41FA5}">
                      <a16:colId xmlns="" xmlns:a16="http://schemas.microsoft.com/office/drawing/2014/main" val="3769815377"/>
                    </a:ext>
                  </a:extLst>
                </a:gridCol>
              </a:tblGrid>
              <a:tr h="370840">
                <a:tc>
                  <a:txBody>
                    <a:bodyPr/>
                    <a:lstStyle/>
                    <a:p>
                      <a:r>
                        <a:rPr lang="fr-FR" sz="2200" b="0" u="sng" dirty="0">
                          <a:latin typeface="Barlow Light" panose="020B0604020202020204" charset="0"/>
                        </a:rPr>
                        <a:t>Probabilités conditionnelles </a:t>
                      </a:r>
                      <a:r>
                        <a:rPr lang="fr-FR" sz="2200" b="0" dirty="0">
                          <a:latin typeface="Barlow Light" panose="020B0604020202020204" charset="0"/>
                        </a:rPr>
                        <a:t>: Quelle est la probabilité qu’un événement se produise </a:t>
                      </a:r>
                      <a:r>
                        <a:rPr lang="fr-FR" sz="2200" b="1" dirty="0">
                          <a:latin typeface="Barlow Light" panose="020B0604020202020204" charset="0"/>
                        </a:rPr>
                        <a:t>sachant qu’un autre événement s’est déjà produit.</a:t>
                      </a:r>
                    </a:p>
                  </a:txBody>
                  <a:tcPr/>
                </a:tc>
                <a:extLst>
                  <a:ext uri="{0D108BD9-81ED-4DB2-BD59-A6C34878D82A}">
                    <a16:rowId xmlns="" xmlns:a16="http://schemas.microsoft.com/office/drawing/2014/main" val="3195730281"/>
                  </a:ext>
                </a:extLst>
              </a:tr>
            </a:tbl>
          </a:graphicData>
        </a:graphic>
      </p:graphicFrame>
      <p:sp>
        <p:nvSpPr>
          <p:cNvPr id="3" name="Flèche : droite à entaille 2">
            <a:extLst>
              <a:ext uri="{FF2B5EF4-FFF2-40B4-BE49-F238E27FC236}">
                <a16:creationId xmlns="" xmlns:a16="http://schemas.microsoft.com/office/drawing/2014/main" id="{48C30597-B77C-4426-BF92-F7673E20CB46}"/>
              </a:ext>
            </a:extLst>
          </p:cNvPr>
          <p:cNvSpPr/>
          <p:nvPr/>
        </p:nvSpPr>
        <p:spPr>
          <a:xfrm rot="5400000">
            <a:off x="4572000" y="3075806"/>
            <a:ext cx="504056" cy="432048"/>
          </a:xfrm>
          <a:prstGeom prst="notched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fr-FR"/>
          </a:p>
        </p:txBody>
      </p:sp>
    </p:spTree>
    <p:extLst>
      <p:ext uri="{BB962C8B-B14F-4D97-AF65-F5344CB8AC3E}">
        <p14:creationId xmlns="" xmlns:p14="http://schemas.microsoft.com/office/powerpoint/2010/main" val="402453191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fr-FR" sz="3200" b="1" dirty="0"/>
              <a:t>Probabilités conditionnelles: Exemple</a:t>
            </a:r>
            <a:endParaRPr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1043608" y="1491630"/>
                <a:ext cx="7344816" cy="3456384"/>
              </a:xfrm>
              <a:prstGeom prst="rect">
                <a:avLst/>
              </a:prstGeom>
              <a:ln>
                <a:solidFill>
                  <a:schemeClr val="bg1"/>
                </a:solidFill>
              </a:ln>
              <a:effectLst/>
            </p:spPr>
            <p:style>
              <a:lnRef idx="2">
                <a:schemeClr val="dk1"/>
              </a:lnRef>
              <a:fillRef idx="1">
                <a:schemeClr val="lt1"/>
              </a:fillRef>
              <a:effectRef idx="0">
                <a:schemeClr val="dk1"/>
              </a:effectRef>
              <a:fontRef idx="minor">
                <a:schemeClr val="dk1"/>
              </a:fontRef>
            </p:style>
            <p:txBody>
              <a:bodyPr spcFirstLastPara="1" wrap="square" lIns="0" tIns="0" rIns="0" bIns="0" anchor="ctr" anchorCtr="0">
                <a:noAutofit/>
              </a:bodyPr>
              <a:lstStyle/>
              <a:p>
                <a:pPr>
                  <a:spcBef>
                    <a:spcPts val="0"/>
                  </a:spcBef>
                  <a:buFont typeface="Wingdings" panose="05000000000000000000" pitchFamily="2" charset="2"/>
                  <a:buChar char="§"/>
                </a:pPr>
                <a:r>
                  <a:rPr lang="fr-FR" sz="2200" dirty="0"/>
                  <a:t>Supposons qu’on ait une classe de lycéens. </a:t>
                </a:r>
              </a:p>
              <a:p>
                <a:pPr>
                  <a:spcBef>
                    <a:spcPts val="0"/>
                  </a:spcBef>
                  <a:buFont typeface="Wingdings" panose="05000000000000000000" pitchFamily="2" charset="2"/>
                  <a:buChar char="§"/>
                </a:pPr>
                <a:r>
                  <a:rPr lang="fr-FR" sz="2200" dirty="0"/>
                  <a:t>Soit </a:t>
                </a:r>
                <a:r>
                  <a:rPr lang="fr-FR" sz="2200" b="1" i="1" dirty="0">
                    <a:solidFill>
                      <a:schemeClr val="accent4"/>
                    </a:solidFill>
                  </a:rPr>
                  <a:t>A</a:t>
                </a:r>
                <a:r>
                  <a:rPr lang="fr-FR" sz="2200" dirty="0"/>
                  <a:t> et </a:t>
                </a:r>
                <a:r>
                  <a:rPr lang="fr-FR" sz="2200" b="1" i="1" dirty="0">
                    <a:solidFill>
                      <a:schemeClr val="accent4"/>
                    </a:solidFill>
                  </a:rPr>
                  <a:t>B</a:t>
                </a:r>
                <a:r>
                  <a:rPr lang="fr-FR" sz="2200" dirty="0"/>
                  <a:t> les deux événements suivants :      </a:t>
                </a:r>
              </a:p>
              <a:p>
                <a:pPr lvl="1">
                  <a:buClr>
                    <a:schemeClr val="accent4"/>
                  </a:buClr>
                  <a:buFont typeface="Arial" panose="020B0604020202020204" pitchFamily="34" charset="0"/>
                  <a:buChar char="•"/>
                </a:pPr>
                <a:r>
                  <a:rPr lang="fr-FR" sz="2200" dirty="0"/>
                  <a:t>l’événement A : l’élève est une fille.     </a:t>
                </a:r>
              </a:p>
              <a:p>
                <a:pPr lvl="1">
                  <a:buClr>
                    <a:schemeClr val="accent4"/>
                  </a:buClr>
                  <a:buFont typeface="Arial" panose="020B0604020202020204" pitchFamily="34" charset="0"/>
                  <a:buChar char="•"/>
                </a:pPr>
                <a:r>
                  <a:rPr lang="fr-FR" sz="2200" dirty="0"/>
                  <a:t>L’événement B : l’élève pratique l’allemand.  </a:t>
                </a:r>
              </a:p>
              <a:p>
                <a:pPr marL="533400" lvl="1" indent="0">
                  <a:buClr>
                    <a:schemeClr val="accent4"/>
                  </a:buClr>
                  <a:buNone/>
                </a:pPr>
                <a:endParaRPr lang="fr-FR" sz="2200" dirty="0"/>
              </a:p>
              <a:p>
                <a:pPr marL="76200" indent="0">
                  <a:spcBef>
                    <a:spcPts val="0"/>
                  </a:spcBef>
                  <a:buNone/>
                </a:pPr>
                <a14:m>
                  <m:oMath xmlns:m="http://schemas.openxmlformats.org/officeDocument/2006/math">
                    <m:r>
                      <a:rPr lang="fr-FR" sz="2200" b="0" i="1" smtClean="0">
                        <a:solidFill>
                          <a:schemeClr val="accent4"/>
                        </a:solidFill>
                        <a:latin typeface="Cambria Math" panose="02040503050406030204" pitchFamily="18" charset="0"/>
                      </a:rPr>
                      <m:t>⇒</m:t>
                    </m:r>
                  </m:oMath>
                </a14:m>
                <a:r>
                  <a:rPr lang="fr-FR" sz="2200" dirty="0"/>
                  <a:t> Quelle est la probabilité qu’on choisisse au hasard une fille pratiquant l’allemand ?</a:t>
                </a:r>
                <a:endParaRPr lang="fr-FR" sz="2200" b="1" dirty="0">
                  <a:solidFill>
                    <a:schemeClr val="accent4"/>
                  </a:solidFill>
                </a:endParaRPr>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1043608" y="1491630"/>
                <a:ext cx="7344816" cy="3456384"/>
              </a:xfrm>
              <a:prstGeom prst="rect">
                <a:avLst/>
              </a:prstGeom>
              <a:blipFill>
                <a:blip r:embed="rId3"/>
                <a:stretch>
                  <a:fillRect l="-1075" r="-2647"/>
                </a:stretch>
              </a:blipFill>
              <a:ln>
                <a:solidFill>
                  <a:schemeClr val="bg1"/>
                </a:solidFill>
              </a:ln>
              <a:effectLst/>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106</a:t>
            </a:fld>
            <a:endParaRPr/>
          </a:p>
        </p:txBody>
      </p:sp>
    </p:spTree>
    <p:extLst>
      <p:ext uri="{BB962C8B-B14F-4D97-AF65-F5344CB8AC3E}">
        <p14:creationId xmlns="" xmlns:p14="http://schemas.microsoft.com/office/powerpoint/2010/main" val="151721399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A2938A4-079E-4F5C-9754-5ACB0CFE14A4}"/>
              </a:ext>
            </a:extLst>
          </p:cNvPr>
          <p:cNvSpPr>
            <a:spLocks noGrp="1"/>
          </p:cNvSpPr>
          <p:nvPr>
            <p:ph type="title"/>
          </p:nvPr>
        </p:nvSpPr>
        <p:spPr/>
        <p:txBody>
          <a:bodyPr/>
          <a:lstStyle/>
          <a:p>
            <a:r>
              <a:rPr lang="fr-FR" sz="2800" b="1" dirty="0"/>
              <a:t>Théorème de Bayes</a:t>
            </a:r>
            <a:endParaRPr lang="fr-FR" dirty="0"/>
          </a:p>
        </p:txBody>
      </p:sp>
      <mc:AlternateContent xmlns:mc="http://schemas.openxmlformats.org/markup-compatibility/2006">
        <mc:Choice xmlns="" xmlns:a14="http://schemas.microsoft.com/office/drawing/2010/main" Requires="a14">
          <p:sp>
            <p:nvSpPr>
              <p:cNvPr id="3" name="Espace réservé du texte 2">
                <a:extLst>
                  <a:ext uri="{FF2B5EF4-FFF2-40B4-BE49-F238E27FC236}">
                    <a16:creationId xmlns:a16="http://schemas.microsoft.com/office/drawing/2014/main" id="{57EFF35F-B31A-4A74-8D02-709084726A9F}"/>
                  </a:ext>
                </a:extLst>
              </p:cNvPr>
              <p:cNvSpPr>
                <a:spLocks noGrp="1"/>
              </p:cNvSpPr>
              <p:nvPr>
                <p:ph type="body" idx="1"/>
              </p:nvPr>
            </p:nvSpPr>
            <p:spPr>
              <a:xfrm>
                <a:off x="1199774" y="1599700"/>
                <a:ext cx="6972625" cy="3348314"/>
              </a:xfrm>
            </p:spPr>
            <p:txBody>
              <a:bodyPr/>
              <a:lstStyle/>
              <a:p>
                <a:pPr>
                  <a:buFont typeface="Wingdings" panose="05000000000000000000" pitchFamily="2" charset="2"/>
                  <a:buChar char="§"/>
                </a:pPr>
                <a:r>
                  <a:rPr lang="fr-FR" sz="2200" dirty="0"/>
                  <a:t>Le théorème de Bayes permet de calculer ce genre de probabilité en utilisant la formule suivante:</a:t>
                </a:r>
              </a:p>
              <a:p>
                <a:pPr marL="76200" indent="0" algn="ctr">
                  <a:buNone/>
                </a:pPr>
                <a14:m>
                  <m:oMath xmlns:m="http://schemas.openxmlformats.org/officeDocument/2006/math">
                    <m:r>
                      <a:rPr lang="fr-FR" sz="2200" b="0" i="1" smtClean="0">
                        <a:latin typeface="Cambria Math" panose="02040503050406030204" pitchFamily="18" charset="0"/>
                      </a:rPr>
                      <m:t>𝑃</m:t>
                    </m:r>
                    <m:d>
                      <m:dPr>
                        <m:ctrlPr>
                          <a:rPr lang="fr-FR" sz="2200" b="0" i="1" smtClean="0">
                            <a:latin typeface="Cambria Math" panose="02040503050406030204" pitchFamily="18" charset="0"/>
                          </a:rPr>
                        </m:ctrlPr>
                      </m:dPr>
                      <m:e>
                        <m:r>
                          <a:rPr lang="fr-FR" sz="2200" b="0" i="1" smtClean="0">
                            <a:latin typeface="Cambria Math" panose="02040503050406030204" pitchFamily="18" charset="0"/>
                          </a:rPr>
                          <m:t>𝑋</m:t>
                        </m:r>
                      </m:e>
                      <m:e>
                        <m:r>
                          <a:rPr lang="fr-FR" sz="2200" b="0" i="1" smtClean="0">
                            <a:latin typeface="Cambria Math" panose="02040503050406030204" pitchFamily="18" charset="0"/>
                          </a:rPr>
                          <m:t>𝑌</m:t>
                        </m:r>
                      </m:e>
                    </m:d>
                    <m:r>
                      <a:rPr lang="fr-FR" sz="2200" b="0" i="1" smtClean="0">
                        <a:latin typeface="Cambria Math" panose="02040503050406030204" pitchFamily="18" charset="0"/>
                      </a:rPr>
                      <m:t>= </m:t>
                    </m:r>
                    <m:f>
                      <m:fPr>
                        <m:ctrlPr>
                          <a:rPr lang="fr-FR" sz="2200" b="0" i="1" smtClean="0">
                            <a:latin typeface="Cambria Math" panose="02040503050406030204" pitchFamily="18" charset="0"/>
                          </a:rPr>
                        </m:ctrlPr>
                      </m:fPr>
                      <m:num>
                        <m:r>
                          <a:rPr lang="fr-FR" sz="2200" b="0" i="1" smtClean="0">
                            <a:latin typeface="Cambria Math" panose="02040503050406030204" pitchFamily="18" charset="0"/>
                          </a:rPr>
                          <m:t>𝑃</m:t>
                        </m:r>
                        <m:r>
                          <a:rPr lang="fr-FR" sz="2200" b="0" i="1" smtClean="0">
                            <a:latin typeface="Cambria Math" panose="02040503050406030204" pitchFamily="18" charset="0"/>
                          </a:rPr>
                          <m:t>(</m:t>
                        </m:r>
                        <m:r>
                          <a:rPr lang="fr-FR" sz="2200" b="0" i="1" smtClean="0">
                            <a:latin typeface="Cambria Math" panose="02040503050406030204" pitchFamily="18" charset="0"/>
                          </a:rPr>
                          <m:t>𝑋</m:t>
                        </m:r>
                        <m:r>
                          <a:rPr lang="fr-FR" sz="2200" b="0" i="1" smtClean="0">
                            <a:latin typeface="Cambria Math" panose="02040503050406030204" pitchFamily="18" charset="0"/>
                            <a:ea typeface="Cambria Math" panose="02040503050406030204" pitchFamily="18" charset="0"/>
                          </a:rPr>
                          <m:t>∩</m:t>
                        </m:r>
                        <m:r>
                          <a:rPr lang="fr-FR" sz="2200" b="0" i="1" smtClean="0">
                            <a:latin typeface="Cambria Math" panose="02040503050406030204" pitchFamily="18" charset="0"/>
                            <a:ea typeface="Cambria Math" panose="02040503050406030204" pitchFamily="18" charset="0"/>
                          </a:rPr>
                          <m:t>𝑌</m:t>
                        </m:r>
                        <m:r>
                          <a:rPr lang="fr-FR" sz="2200" b="0" i="1" smtClean="0">
                            <a:latin typeface="Cambria Math" panose="02040503050406030204" pitchFamily="18" charset="0"/>
                          </a:rPr>
                          <m:t>)</m:t>
                        </m:r>
                      </m:num>
                      <m:den>
                        <m:r>
                          <a:rPr lang="fr-FR" sz="2200" b="0" i="1" smtClean="0">
                            <a:latin typeface="Cambria Math" panose="02040503050406030204" pitchFamily="18" charset="0"/>
                          </a:rPr>
                          <m:t>𝑃</m:t>
                        </m:r>
                        <m:r>
                          <a:rPr lang="fr-FR" sz="2200" b="0" i="1" smtClean="0">
                            <a:latin typeface="Cambria Math" panose="02040503050406030204" pitchFamily="18" charset="0"/>
                          </a:rPr>
                          <m:t>(</m:t>
                        </m:r>
                        <m:r>
                          <a:rPr lang="fr-FR" sz="2200" b="0" i="1" smtClean="0">
                            <a:latin typeface="Cambria Math" panose="02040503050406030204" pitchFamily="18" charset="0"/>
                          </a:rPr>
                          <m:t>𝑌</m:t>
                        </m:r>
                        <m:r>
                          <a:rPr lang="fr-FR" sz="2200" b="0" i="1" smtClean="0">
                            <a:latin typeface="Cambria Math" panose="02040503050406030204" pitchFamily="18" charset="0"/>
                          </a:rPr>
                          <m:t>)</m:t>
                        </m:r>
                      </m:den>
                    </m:f>
                    <m:r>
                      <a:rPr lang="fr-FR" sz="2200" b="0" i="0" smtClean="0">
                        <a:latin typeface="Cambria Math" panose="02040503050406030204" pitchFamily="18" charset="0"/>
                      </a:rPr>
                      <m:t>= </m:t>
                    </m:r>
                    <m:f>
                      <m:fPr>
                        <m:ctrlPr>
                          <a:rPr lang="fr-FR" sz="2200" b="0" i="1" smtClean="0">
                            <a:latin typeface="Cambria Math" panose="02040503050406030204" pitchFamily="18" charset="0"/>
                          </a:rPr>
                        </m:ctrlPr>
                      </m:fPr>
                      <m:num>
                        <m:r>
                          <a:rPr lang="fr-FR" sz="2200" b="0" i="1" smtClean="0">
                            <a:latin typeface="Cambria Math" panose="02040503050406030204" pitchFamily="18" charset="0"/>
                          </a:rPr>
                          <m:t>𝑃</m:t>
                        </m:r>
                        <m:d>
                          <m:dPr>
                            <m:ctrlPr>
                              <a:rPr lang="fr-FR" sz="2200" b="0" i="1" smtClean="0">
                                <a:latin typeface="Cambria Math" panose="02040503050406030204" pitchFamily="18" charset="0"/>
                              </a:rPr>
                            </m:ctrlPr>
                          </m:dPr>
                          <m:e>
                            <m:r>
                              <a:rPr lang="fr-FR" sz="2200" b="0" i="1" smtClean="0">
                                <a:latin typeface="Cambria Math" panose="02040503050406030204" pitchFamily="18" charset="0"/>
                              </a:rPr>
                              <m:t>𝑌</m:t>
                            </m:r>
                          </m:e>
                          <m:e>
                            <m:r>
                              <a:rPr lang="fr-FR" sz="2200" b="0" i="1" smtClean="0">
                                <a:latin typeface="Cambria Math" panose="02040503050406030204" pitchFamily="18" charset="0"/>
                              </a:rPr>
                              <m:t>𝑋</m:t>
                            </m:r>
                          </m:e>
                        </m:d>
                        <m:r>
                          <a:rPr lang="fr-FR" sz="2200" b="0" i="1" smtClean="0">
                            <a:latin typeface="Cambria Math" panose="02040503050406030204" pitchFamily="18" charset="0"/>
                          </a:rPr>
                          <m:t>∗</m:t>
                        </m:r>
                        <m:r>
                          <a:rPr lang="fr-FR" sz="2200" b="0" i="1" smtClean="0">
                            <a:latin typeface="Cambria Math" panose="02040503050406030204" pitchFamily="18" charset="0"/>
                          </a:rPr>
                          <m:t>𝑃</m:t>
                        </m:r>
                        <m:r>
                          <a:rPr lang="fr-FR" sz="2200" b="0" i="1" smtClean="0">
                            <a:latin typeface="Cambria Math" panose="02040503050406030204" pitchFamily="18" charset="0"/>
                          </a:rPr>
                          <m:t>(</m:t>
                        </m:r>
                        <m:r>
                          <a:rPr lang="fr-FR" sz="2200" b="0" i="1" smtClean="0">
                            <a:latin typeface="Cambria Math" panose="02040503050406030204" pitchFamily="18" charset="0"/>
                          </a:rPr>
                          <m:t>𝑋</m:t>
                        </m:r>
                        <m:r>
                          <a:rPr lang="fr-FR" sz="2200" b="0" i="1" smtClean="0">
                            <a:latin typeface="Cambria Math" panose="02040503050406030204" pitchFamily="18" charset="0"/>
                          </a:rPr>
                          <m:t>)</m:t>
                        </m:r>
                      </m:num>
                      <m:den>
                        <m:r>
                          <a:rPr lang="fr-FR" sz="2200" b="0" i="1" smtClean="0">
                            <a:latin typeface="Cambria Math" panose="02040503050406030204" pitchFamily="18" charset="0"/>
                          </a:rPr>
                          <m:t>𝑃</m:t>
                        </m:r>
                        <m:r>
                          <a:rPr lang="fr-FR" sz="2200" b="0" i="1" smtClean="0">
                            <a:latin typeface="Cambria Math" panose="02040503050406030204" pitchFamily="18" charset="0"/>
                          </a:rPr>
                          <m:t>(</m:t>
                        </m:r>
                        <m:r>
                          <a:rPr lang="fr-FR" sz="2200" b="0" i="1" smtClean="0">
                            <a:latin typeface="Cambria Math" panose="02040503050406030204" pitchFamily="18" charset="0"/>
                          </a:rPr>
                          <m:t>𝑌</m:t>
                        </m:r>
                        <m:r>
                          <a:rPr lang="fr-FR" sz="2200" b="0" i="1" smtClean="0">
                            <a:latin typeface="Cambria Math" panose="02040503050406030204" pitchFamily="18" charset="0"/>
                          </a:rPr>
                          <m:t>)</m:t>
                        </m:r>
                      </m:den>
                    </m:f>
                  </m:oMath>
                </a14:m>
                <a:r>
                  <a:rPr lang="fr-FR" sz="2200" dirty="0"/>
                  <a:t> </a:t>
                </a:r>
              </a:p>
              <a:p>
                <a:pPr>
                  <a:buFont typeface="Wingdings" panose="05000000000000000000" pitchFamily="2" charset="2"/>
                  <a:buChar char="§"/>
                </a:pPr>
                <a:endParaRPr lang="fr-FR" sz="2100" dirty="0"/>
              </a:p>
              <a:p>
                <a:pPr>
                  <a:buFont typeface="Wingdings" panose="05000000000000000000" pitchFamily="2" charset="2"/>
                  <a:buChar char="§"/>
                </a:pPr>
                <a:r>
                  <a:rPr lang="fr-FR" sz="2100" dirty="0"/>
                  <a:t>Le terme </a:t>
                </a:r>
                <a:r>
                  <a:rPr lang="fr-FR" sz="2100" b="1" dirty="0"/>
                  <a:t>P(X | Y)</a:t>
                </a:r>
                <a:r>
                  <a:rPr lang="fr-FR" sz="2100" dirty="0"/>
                  <a:t> se lit : la probabilité que l’événement </a:t>
                </a:r>
                <a:r>
                  <a:rPr lang="fr-FR" sz="2100" b="1" i="1" dirty="0">
                    <a:solidFill>
                      <a:schemeClr val="accent4"/>
                    </a:solidFill>
                  </a:rPr>
                  <a:t>X</a:t>
                </a:r>
                <a:r>
                  <a:rPr lang="fr-FR" sz="2100" dirty="0"/>
                  <a:t> se réalise sachant que l’événement </a:t>
                </a:r>
                <a:r>
                  <a:rPr lang="fr-FR" sz="2100" b="1" i="1" dirty="0">
                    <a:solidFill>
                      <a:schemeClr val="accent4"/>
                    </a:solidFill>
                  </a:rPr>
                  <a:t>Y</a:t>
                </a:r>
                <a:r>
                  <a:rPr lang="fr-FR" sz="2100" dirty="0"/>
                  <a:t> s’est déjà réalisé.  </a:t>
                </a:r>
              </a:p>
              <a:p>
                <a:pPr>
                  <a:buFont typeface="Wingdings" panose="05000000000000000000" pitchFamily="2" charset="2"/>
                  <a:buChar char="§"/>
                </a:pPr>
                <a:r>
                  <a:rPr lang="fr-FR" sz="2100" dirty="0"/>
                  <a:t>On appelle </a:t>
                </a:r>
                <a:r>
                  <a:rPr lang="fr-FR" sz="2100" b="1" i="1" dirty="0">
                    <a:solidFill>
                      <a:schemeClr val="accent4"/>
                    </a:solidFill>
                  </a:rPr>
                  <a:t>X</a:t>
                </a:r>
                <a:r>
                  <a:rPr lang="fr-FR" sz="2100" dirty="0"/>
                  <a:t> : </a:t>
                </a:r>
                <a:r>
                  <a:rPr lang="fr-FR" sz="2100" b="1" dirty="0">
                    <a:effectLst>
                      <a:outerShdw blurRad="38100" dist="38100" dir="2700000" algn="tl">
                        <a:srgbClr val="000000">
                          <a:alpha val="43137"/>
                        </a:srgbClr>
                      </a:outerShdw>
                    </a:effectLst>
                  </a:rPr>
                  <a:t>l’évidence</a:t>
                </a:r>
                <a:r>
                  <a:rPr lang="fr-FR" sz="2100" dirty="0"/>
                  <a:t> et </a:t>
                </a:r>
                <a:r>
                  <a:rPr lang="fr-FR" sz="2100" b="1" i="1" dirty="0">
                    <a:solidFill>
                      <a:schemeClr val="accent4"/>
                    </a:solidFill>
                  </a:rPr>
                  <a:t>Y</a:t>
                </a:r>
                <a:r>
                  <a:rPr lang="fr-FR" sz="2100" dirty="0"/>
                  <a:t> s’appelle </a:t>
                </a:r>
                <a:r>
                  <a:rPr lang="fr-FR" sz="2100" b="1" dirty="0" err="1">
                    <a:effectLst>
                      <a:outerShdw blurRad="38100" dist="38100" dir="2700000" algn="tl">
                        <a:srgbClr val="000000">
                          <a:alpha val="43137"/>
                        </a:srgbClr>
                      </a:outerShdw>
                    </a:effectLst>
                  </a:rPr>
                  <a:t>Outcome</a:t>
                </a:r>
                <a:r>
                  <a:rPr lang="fr-FR" sz="2100" dirty="0"/>
                  <a:t>.</a:t>
                </a:r>
              </a:p>
              <a:p>
                <a:pPr>
                  <a:buFont typeface="Wingdings" panose="05000000000000000000" pitchFamily="2" charset="2"/>
                  <a:buChar char="§"/>
                </a:pPr>
                <a:endParaRPr lang="fr-FR" sz="2100" dirty="0"/>
              </a:p>
              <a:p>
                <a:pPr>
                  <a:buFont typeface="Wingdings" panose="05000000000000000000" pitchFamily="2" charset="2"/>
                  <a:buChar char="§"/>
                </a:pPr>
                <a:endParaRPr lang="fr-FR" sz="2100" dirty="0"/>
              </a:p>
            </p:txBody>
          </p:sp>
        </mc:Choice>
        <mc:Fallback>
          <p:sp>
            <p:nvSpPr>
              <p:cNvPr id="3" name="Espace réservé du texte 2">
                <a:extLst>
                  <a:ext uri="{FF2B5EF4-FFF2-40B4-BE49-F238E27FC236}">
                    <a16:creationId xmlns:a14="http://schemas.microsoft.com/office/drawing/2010/main" xmlns="" xmlns:a16="http://schemas.microsoft.com/office/drawing/2014/main" id="{57EFF35F-B31A-4A74-8D02-709084726A9F}"/>
                  </a:ext>
                </a:extLst>
              </p:cNvPr>
              <p:cNvSpPr>
                <a:spLocks noGrp="1" noRot="1" noChangeAspect="1" noMove="1" noResize="1" noEditPoints="1" noAdjustHandles="1" noChangeArrowheads="1" noChangeShapeType="1" noTextEdit="1"/>
              </p:cNvSpPr>
              <p:nvPr>
                <p:ph type="body" idx="1"/>
              </p:nvPr>
            </p:nvSpPr>
            <p:spPr>
              <a:xfrm>
                <a:off x="1199774" y="1599700"/>
                <a:ext cx="6972625" cy="3348314"/>
              </a:xfrm>
              <a:blipFill>
                <a:blip r:embed="rId2"/>
                <a:stretch>
                  <a:fillRect l="-1399" r="-2622" b="-3091"/>
                </a:stretch>
              </a:blipFill>
            </p:spPr>
            <p:txBody>
              <a:bodyPr/>
              <a:lstStyle/>
              <a:p>
                <a:r>
                  <a:rPr lang="fr-FR">
                    <a:noFill/>
                  </a:rPr>
                  <a:t> </a:t>
                </a:r>
              </a:p>
            </p:txBody>
          </p:sp>
        </mc:Fallback>
      </mc:AlternateContent>
      <p:sp>
        <p:nvSpPr>
          <p:cNvPr id="4" name="Espace réservé du numéro de diapositive 3">
            <a:extLst>
              <a:ext uri="{FF2B5EF4-FFF2-40B4-BE49-F238E27FC236}">
                <a16:creationId xmlns="" xmlns:a16="http://schemas.microsoft.com/office/drawing/2014/main" id="{AE8CBCBB-2084-4CA6-A5D0-3B965D8A0A1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107</a:t>
            </a:fld>
            <a:endParaRPr lang="fr-FR"/>
          </a:p>
        </p:txBody>
      </p:sp>
    </p:spTree>
    <p:extLst>
      <p:ext uri="{BB962C8B-B14F-4D97-AF65-F5344CB8AC3E}">
        <p14:creationId xmlns="" xmlns:p14="http://schemas.microsoft.com/office/powerpoint/2010/main" val="337500410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9028EF8-64A6-4DCC-BDD5-3F39D1FAE581}"/>
              </a:ext>
            </a:extLst>
          </p:cNvPr>
          <p:cNvSpPr>
            <a:spLocks noGrp="1"/>
          </p:cNvSpPr>
          <p:nvPr>
            <p:ph type="title"/>
          </p:nvPr>
        </p:nvSpPr>
        <p:spPr/>
        <p:txBody>
          <a:bodyPr/>
          <a:lstStyle/>
          <a:p>
            <a:r>
              <a:rPr lang="fr-FR" sz="2800" b="1" dirty="0"/>
              <a:t>Théorème de Bayes: Exemple</a:t>
            </a:r>
            <a:endParaRPr lang="fr-FR" dirty="0"/>
          </a:p>
        </p:txBody>
      </p:sp>
      <p:sp>
        <p:nvSpPr>
          <p:cNvPr id="3" name="Espace réservé du texte 2">
            <a:extLst>
              <a:ext uri="{FF2B5EF4-FFF2-40B4-BE49-F238E27FC236}">
                <a16:creationId xmlns="" xmlns:a16="http://schemas.microsoft.com/office/drawing/2014/main" id="{E9B75F26-0B4A-4A81-B733-BCE731A7AEC2}"/>
              </a:ext>
            </a:extLst>
          </p:cNvPr>
          <p:cNvSpPr>
            <a:spLocks noGrp="1"/>
          </p:cNvSpPr>
          <p:nvPr>
            <p:ph type="body" idx="1"/>
          </p:nvPr>
        </p:nvSpPr>
        <p:spPr>
          <a:xfrm>
            <a:off x="1199774" y="1599700"/>
            <a:ext cx="7116641" cy="972050"/>
          </a:xfrm>
        </p:spPr>
        <p:txBody>
          <a:bodyPr/>
          <a:lstStyle/>
          <a:p>
            <a:pPr>
              <a:buFont typeface="Wingdings" panose="05000000000000000000" pitchFamily="2" charset="2"/>
              <a:buChar char="§"/>
            </a:pPr>
            <a:r>
              <a:rPr lang="fr-FR" sz="2000" dirty="0"/>
              <a:t>Imaginons le jeu de données suivant des lycéens pratiquant l’allemand:</a:t>
            </a:r>
          </a:p>
          <a:p>
            <a:pPr>
              <a:buFont typeface="Wingdings" panose="05000000000000000000" pitchFamily="2" charset="2"/>
              <a:buChar char="§"/>
            </a:pPr>
            <a:endParaRPr lang="fr-FR" sz="2000" dirty="0"/>
          </a:p>
        </p:txBody>
      </p:sp>
      <p:sp>
        <p:nvSpPr>
          <p:cNvPr id="4" name="Espace réservé du numéro de diapositive 3">
            <a:extLst>
              <a:ext uri="{FF2B5EF4-FFF2-40B4-BE49-F238E27FC236}">
                <a16:creationId xmlns="" xmlns:a16="http://schemas.microsoft.com/office/drawing/2014/main" id="{DF48A964-C876-4511-B769-A17BC72BC21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fr-FR" smtClean="0"/>
              <a:pPr marL="0" lvl="0" indent="0" algn="ctr" rtl="0">
                <a:spcBef>
                  <a:spcPts val="0"/>
                </a:spcBef>
                <a:spcAft>
                  <a:spcPts val="0"/>
                </a:spcAft>
                <a:buNone/>
              </a:pPr>
              <a:t>108</a:t>
            </a:fld>
            <a:endParaRPr lang="fr-FR"/>
          </a:p>
        </p:txBody>
      </p:sp>
      <p:sp>
        <p:nvSpPr>
          <p:cNvPr id="6" name="AutoShape 2" descr="y">
            <a:extLst>
              <a:ext uri="{FF2B5EF4-FFF2-40B4-BE49-F238E27FC236}">
                <a16:creationId xmlns="" xmlns:a16="http://schemas.microsoft.com/office/drawing/2014/main" id="{00877846-4658-4B0B-BE41-A14F5E6F933D}"/>
              </a:ext>
            </a:extLst>
          </p:cNvPr>
          <p:cNvSpPr>
            <a:spLocks noChangeAspect="1" noChangeArrowheads="1"/>
          </p:cNvSpPr>
          <p:nvPr/>
        </p:nvSpPr>
        <p:spPr bwMode="auto">
          <a:xfrm>
            <a:off x="8905875" y="-274638"/>
            <a:ext cx="8572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 name="AutoShape 3" descr="K">
            <a:extLst>
              <a:ext uri="{FF2B5EF4-FFF2-40B4-BE49-F238E27FC236}">
                <a16:creationId xmlns="" xmlns:a16="http://schemas.microsoft.com/office/drawing/2014/main" id="{B4B6921A-068F-4CA0-98C5-99068D390FAF}"/>
              </a:ext>
            </a:extLst>
          </p:cNvPr>
          <p:cNvSpPr>
            <a:spLocks noChangeAspect="1" noChangeArrowheads="1"/>
          </p:cNvSpPr>
          <p:nvPr/>
        </p:nvSpPr>
        <p:spPr bwMode="auto">
          <a:xfrm>
            <a:off x="9629775" y="-274638"/>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8" name="AutoShape 4" descr="y">
            <a:extLst>
              <a:ext uri="{FF2B5EF4-FFF2-40B4-BE49-F238E27FC236}">
                <a16:creationId xmlns="" xmlns:a16="http://schemas.microsoft.com/office/drawing/2014/main" id="{3F7EB224-1BD9-4A63-8537-C36F247351F3}"/>
              </a:ext>
            </a:extLst>
          </p:cNvPr>
          <p:cNvSpPr>
            <a:spLocks noChangeAspect="1" noChangeArrowheads="1"/>
          </p:cNvSpPr>
          <p:nvPr/>
        </p:nvSpPr>
        <p:spPr bwMode="auto">
          <a:xfrm>
            <a:off x="7115175" y="0"/>
            <a:ext cx="85725"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9" name="AutoShape 5" descr="K">
            <a:extLst>
              <a:ext uri="{FF2B5EF4-FFF2-40B4-BE49-F238E27FC236}">
                <a16:creationId xmlns="" xmlns:a16="http://schemas.microsoft.com/office/drawing/2014/main" id="{8497468E-34CD-478C-9884-81D7DCF62B69}"/>
              </a:ext>
            </a:extLst>
          </p:cNvPr>
          <p:cNvSpPr>
            <a:spLocks noChangeAspect="1" noChangeArrowheads="1"/>
          </p:cNvSpPr>
          <p:nvPr/>
        </p:nvSpPr>
        <p:spPr bwMode="auto">
          <a:xfrm>
            <a:off x="7839075" y="0"/>
            <a:ext cx="152400" cy="1143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mc:AlternateContent xmlns:mc="http://schemas.openxmlformats.org/markup-compatibility/2006">
        <mc:Choice xmlns="" xmlns:a14="http://schemas.microsoft.com/office/drawing/2010/main" Requires="a14">
          <p:graphicFrame>
            <p:nvGraphicFramePr>
              <p:cNvPr id="10" name="Google Shape;628;p25">
                <a:extLst>
                  <a:ext uri="{FF2B5EF4-FFF2-40B4-BE49-F238E27FC236}">
                    <a16:creationId xmlns:a16="http://schemas.microsoft.com/office/drawing/2014/main" id="{638FA5C2-7812-49B1-B710-332E4E01CC9B}"/>
                  </a:ext>
                </a:extLst>
              </p:cNvPr>
              <p:cNvGraphicFramePr/>
              <p:nvPr>
                <p:extLst>
                  <p:ext uri="{D42A27DB-BD31-4B8C-83A1-F6EECF244321}">
                    <p14:modId xmlns:p14="http://schemas.microsoft.com/office/powerpoint/2010/main" val="1640960941"/>
                  </p:ext>
                </p:extLst>
              </p:nvPr>
            </p:nvGraphicFramePr>
            <p:xfrm>
              <a:off x="1475656" y="2571750"/>
              <a:ext cx="6515819" cy="2448271"/>
            </p:xfrm>
            <a:graphic>
              <a:graphicData uri="http://schemas.openxmlformats.org/drawingml/2006/table">
                <a:tbl>
                  <a:tblPr>
                    <a:noFill/>
                    <a:tableStyleId>{D7AEECF4-432E-4D26-AA6D-92A1E89D1F9B}</a:tableStyleId>
                  </a:tblPr>
                  <a:tblGrid>
                    <a:gridCol w="2304256">
                      <a:extLst>
                        <a:ext uri="{9D8B030D-6E8A-4147-A177-3AD203B41FA5}">
                          <a16:colId xmlns:a16="http://schemas.microsoft.com/office/drawing/2014/main" val="20000"/>
                        </a:ext>
                      </a:extLst>
                    </a:gridCol>
                    <a:gridCol w="1368152">
                      <a:extLst>
                        <a:ext uri="{9D8B030D-6E8A-4147-A177-3AD203B41FA5}">
                          <a16:colId xmlns:a16="http://schemas.microsoft.com/office/drawing/2014/main" val="20001"/>
                        </a:ext>
                      </a:extLst>
                    </a:gridCol>
                    <a:gridCol w="1440160">
                      <a:extLst>
                        <a:ext uri="{9D8B030D-6E8A-4147-A177-3AD203B41FA5}">
                          <a16:colId xmlns:a16="http://schemas.microsoft.com/office/drawing/2014/main" val="4153596674"/>
                        </a:ext>
                      </a:extLst>
                    </a:gridCol>
                    <a:gridCol w="1403251">
                      <a:extLst>
                        <a:ext uri="{9D8B030D-6E8A-4147-A177-3AD203B41FA5}">
                          <a16:colId xmlns:a16="http://schemas.microsoft.com/office/drawing/2014/main" val="3050101062"/>
                        </a:ext>
                      </a:extLst>
                    </a:gridCol>
                  </a:tblGrid>
                  <a:tr h="671418">
                    <a:tc>
                      <a:txBody>
                        <a:bodyPr/>
                        <a:lstStyle/>
                        <a:p>
                          <a:pPr marL="0" lvl="0" indent="0" algn="ctr" rtl="0">
                            <a:spcBef>
                              <a:spcPts val="0"/>
                            </a:spcBef>
                            <a:spcAft>
                              <a:spcPts val="0"/>
                            </a:spcAft>
                            <a:buNone/>
                          </a:pPr>
                          <a:endParaRPr b="1" dirty="0">
                            <a:solidFill>
                              <a:schemeClr val="dk1"/>
                            </a:solidFill>
                            <a:latin typeface="Barlow Light"/>
                            <a:ea typeface="Barlow Light"/>
                            <a:cs typeface="Barlow Light"/>
                            <a:sym typeface="Barlow Light"/>
                          </a:endParaRPr>
                        </a:p>
                      </a:txBody>
                      <a:tcPr marL="91425" marR="91425" marT="68575" marB="68575"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b="1" i="0" u="none" strike="noStrike" cap="none" dirty="0">
                              <a:solidFill>
                                <a:schemeClr val="accent1"/>
                              </a:solidFill>
                              <a:latin typeface="Barlow Light"/>
                              <a:sym typeface="Arial"/>
                            </a:rPr>
                            <a:t>Fille </a:t>
                          </a:r>
                          <a14:m>
                            <m:oMath xmlns:m="http://schemas.openxmlformats.org/officeDocument/2006/math">
                              <m:r>
                                <a:rPr lang="fr-FR" sz="1800" b="1" i="0" u="none" strike="noStrike" cap="none" smtClean="0">
                                  <a:solidFill>
                                    <a:schemeClr val="accent1"/>
                                  </a:solidFill>
                                  <a:latin typeface="Cambria Math" panose="02040503050406030204" pitchFamily="18" charset="0"/>
                                  <a:sym typeface="Arial"/>
                                </a:rPr>
                                <m:t>(</m:t>
                              </m:r>
                              <m:r>
                                <a:rPr lang="fr-FR" sz="1800" b="1" i="0" u="none" strike="noStrike" cap="none" smtClean="0">
                                  <a:solidFill>
                                    <a:schemeClr val="accent1"/>
                                  </a:solidFill>
                                  <a:latin typeface="Cambria Math" panose="02040503050406030204" pitchFamily="18" charset="0"/>
                                  <a:sym typeface="Arial"/>
                                </a:rPr>
                                <m:t>𝑨</m:t>
                              </m:r>
                              <m:r>
                                <a:rPr lang="fr-FR" sz="1800" b="1" i="0" u="none" strike="noStrike" cap="none" smtClean="0">
                                  <a:solidFill>
                                    <a:schemeClr val="accent1"/>
                                  </a:solidFill>
                                  <a:latin typeface="Cambria Math" panose="02040503050406030204" pitchFamily="18" charset="0"/>
                                  <a:sym typeface="Arial"/>
                                </a:rPr>
                                <m:t>)</m:t>
                              </m:r>
                            </m:oMath>
                          </a14:m>
                          <a:endParaRPr lang="fr-FR" sz="1800" b="1" i="0" u="none" strike="noStrike" cap="none" dirty="0">
                            <a:solidFill>
                              <a:schemeClr val="accent1"/>
                            </a:solidFill>
                            <a:latin typeface="Barlow Light"/>
                            <a:sym typeface="Arial"/>
                          </a:endParaRP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Fille </a:t>
                          </a:r>
                          <a14:m>
                            <m:oMath xmlns:m="http://schemas.openxmlformats.org/officeDocument/2006/math">
                              <m:r>
                                <a:rPr lang="fr-FR" sz="1800" b="1" i="0" u="none" strike="noStrike" cap="none" smtClean="0">
                                  <a:solidFill>
                                    <a:schemeClr val="accent1"/>
                                  </a:solidFill>
                                  <a:latin typeface="Cambria Math" panose="02040503050406030204" pitchFamily="18" charset="0"/>
                                  <a:sym typeface="Arial"/>
                                </a:rPr>
                                <m:t>(</m:t>
                              </m:r>
                              <m:r>
                                <a:rPr lang="fr-FR" sz="1800" b="1" i="0" u="none" strike="noStrike" cap="none" smtClean="0">
                                  <a:solidFill>
                                    <a:schemeClr val="accent1"/>
                                  </a:solidFill>
                                  <a:latin typeface="Cambria Math" panose="02040503050406030204" pitchFamily="18" charset="0"/>
                                  <a:ea typeface="Cambria Math" panose="02040503050406030204" pitchFamily="18" charset="0"/>
                                  <a:sym typeface="Arial"/>
                                </a:rPr>
                                <m:t>¬</m:t>
                              </m:r>
                              <m:r>
                                <a:rPr lang="fr-FR" sz="1800" b="1" i="0" u="none" strike="noStrike" cap="none" smtClean="0">
                                  <a:solidFill>
                                    <a:schemeClr val="accent1"/>
                                  </a:solidFill>
                                  <a:latin typeface="Cambria Math" panose="02040503050406030204" pitchFamily="18" charset="0"/>
                                  <a:ea typeface="Cambria Math" panose="02040503050406030204" pitchFamily="18" charset="0"/>
                                  <a:sym typeface="Arial"/>
                                </a:rPr>
                                <m:t>𝑨</m:t>
                              </m:r>
                              <m:r>
                                <a:rPr lang="fr-FR" sz="1800" b="1" i="0" u="none" strike="noStrike" cap="none" smtClean="0">
                                  <a:solidFill>
                                    <a:schemeClr val="accent1"/>
                                  </a:solidFill>
                                  <a:latin typeface="Cambria Math" panose="02040503050406030204" pitchFamily="18" charset="0"/>
                                  <a:sym typeface="Arial"/>
                                </a:rPr>
                                <m:t>)</m:t>
                              </m:r>
                            </m:oMath>
                          </a14:m>
                          <a:endParaRPr lang="fr-FR" sz="1800" b="1" i="0" u="none" strike="noStrike" cap="none" dirty="0">
                            <a:solidFill>
                              <a:schemeClr val="accent1"/>
                            </a:solidFill>
                            <a:latin typeface="Barlow Light"/>
                            <a:sym typeface="Arial"/>
                          </a:endParaRP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b="1" i="0" u="none" strike="noStrike" cap="none" dirty="0">
                              <a:solidFill>
                                <a:schemeClr val="accent1"/>
                              </a:solidFill>
                              <a:latin typeface="Barlow Light"/>
                              <a:sym typeface="Arial"/>
                            </a:rPr>
                            <a:t>Totaux</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5683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Allemand </a:t>
                          </a:r>
                          <a14:m>
                            <m:oMath xmlns:m="http://schemas.openxmlformats.org/officeDocument/2006/math">
                              <m:r>
                                <a:rPr lang="fr-FR" sz="1800" b="1" i="0" u="none" strike="noStrike" cap="none" smtClean="0">
                                  <a:solidFill>
                                    <a:schemeClr val="accent1"/>
                                  </a:solidFill>
                                  <a:latin typeface="Cambria Math" panose="02040503050406030204" pitchFamily="18" charset="0"/>
                                  <a:sym typeface="Arial"/>
                                </a:rPr>
                                <m:t>(</m:t>
                              </m:r>
                              <m:r>
                                <a:rPr lang="fr-FR" sz="1800" b="1" i="0" u="none" strike="noStrike" cap="none" smtClean="0">
                                  <a:solidFill>
                                    <a:schemeClr val="accent1"/>
                                  </a:solidFill>
                                  <a:latin typeface="Cambria Math" panose="02040503050406030204" pitchFamily="18" charset="0"/>
                                  <a:sym typeface="Arial"/>
                                </a:rPr>
                                <m:t>𝑩</m:t>
                              </m:r>
                              <m:r>
                                <a:rPr lang="fr-FR" sz="1800" b="1" i="0" u="none" strike="noStrike" cap="none" smtClean="0">
                                  <a:solidFill>
                                    <a:schemeClr val="accent1"/>
                                  </a:solidFill>
                                  <a:latin typeface="Cambria Math" panose="02040503050406030204" pitchFamily="18" charset="0"/>
                                  <a:sym typeface="Arial"/>
                                </a:rPr>
                                <m:t>)</m:t>
                              </m:r>
                            </m:oMath>
                          </a14:m>
                          <a:endParaRPr lang="fr-FR" sz="1800" b="1" i="0" u="none" strike="noStrike" cap="none" dirty="0">
                            <a:solidFill>
                              <a:schemeClr val="accent1"/>
                            </a:solidFill>
                            <a:latin typeface="Barlow Light"/>
                            <a:sym typeface="Arial"/>
                          </a:endParaRP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7</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17</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60427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a:solidFill>
                                <a:schemeClr val="accent1"/>
                              </a:solidFill>
                              <a:latin typeface="Barlow Light"/>
                              <a:sym typeface="Arial"/>
                            </a:rPr>
                            <a:t>Autre langue </a:t>
                          </a:r>
                          <a14:m>
                            <m:oMath xmlns:m="http://schemas.openxmlformats.org/officeDocument/2006/math">
                              <m:r>
                                <a:rPr lang="fr-FR" sz="1800" b="1" i="0" u="none" strike="noStrike" cap="none" smtClean="0">
                                  <a:solidFill>
                                    <a:schemeClr val="accent1"/>
                                  </a:solidFill>
                                  <a:latin typeface="Cambria Math" panose="02040503050406030204" pitchFamily="18" charset="0"/>
                                  <a:sym typeface="Arial"/>
                                </a:rPr>
                                <m:t>(</m:t>
                              </m:r>
                              <m:r>
                                <a:rPr lang="fr-FR" sz="1800" b="1" i="0" u="none" strike="noStrike" cap="none" smtClean="0">
                                  <a:solidFill>
                                    <a:schemeClr val="accent1"/>
                                  </a:solidFill>
                                  <a:latin typeface="Cambria Math" panose="02040503050406030204" pitchFamily="18" charset="0"/>
                                  <a:ea typeface="Cambria Math" panose="02040503050406030204" pitchFamily="18" charset="0"/>
                                  <a:sym typeface="Arial"/>
                                </a:rPr>
                                <m:t>¬</m:t>
                              </m:r>
                              <m:r>
                                <a:rPr lang="fr-FR" sz="1800" b="1" i="0" u="none" strike="noStrike" cap="none" smtClean="0">
                                  <a:solidFill>
                                    <a:schemeClr val="accent1"/>
                                  </a:solidFill>
                                  <a:latin typeface="Cambria Math" panose="02040503050406030204" pitchFamily="18" charset="0"/>
                                  <a:ea typeface="Cambria Math" panose="02040503050406030204" pitchFamily="18" charset="0"/>
                                  <a:sym typeface="Arial"/>
                                </a:rPr>
                                <m:t>𝑩</m:t>
                              </m:r>
                              <m:r>
                                <a:rPr lang="fr-FR" sz="1800" b="1" i="0" u="none" strike="noStrike" cap="none" smtClean="0">
                                  <a:solidFill>
                                    <a:schemeClr val="accent1"/>
                                  </a:solidFill>
                                  <a:latin typeface="Cambria Math" panose="02040503050406030204" pitchFamily="18" charset="0"/>
                                  <a:sym typeface="Arial"/>
                                </a:rPr>
                                <m:t>)</m:t>
                              </m:r>
                            </m:oMath>
                          </a14:m>
                          <a:endParaRPr lang="fr-FR" sz="1800" b="1" i="0" u="none" strike="noStrike" cap="none" dirty="0">
                            <a:solidFill>
                              <a:schemeClr val="accent1"/>
                            </a:solidFill>
                            <a:latin typeface="Barlow Light"/>
                            <a:sym typeface="Arial"/>
                          </a:endParaRP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4</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9</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13</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604273">
                    <a:tc>
                      <a:txBody>
                        <a:bodyPr/>
                        <a:lstStyle/>
                        <a:p>
                          <a:r>
                            <a:rPr lang="fr-FR" sz="1800" b="1" i="0" u="none" strike="noStrike" cap="none" dirty="0">
                              <a:solidFill>
                                <a:schemeClr val="accent1"/>
                              </a:solidFill>
                              <a:latin typeface="Barlow Light"/>
                              <a:sym typeface="Arial"/>
                            </a:rPr>
                            <a:t>Totaux</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14</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16</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30</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a16="http://schemas.microsoft.com/office/drawing/2014/main" val="3963550826"/>
                      </a:ext>
                    </a:extLst>
                  </a:tr>
                </a:tbl>
              </a:graphicData>
            </a:graphic>
          </p:graphicFrame>
        </mc:Choice>
        <mc:Fallback>
          <p:graphicFrame>
            <p:nvGraphicFramePr>
              <p:cNvPr id="10" name="Google Shape;628;p25">
                <a:extLst>
                  <a:ext uri="{FF2B5EF4-FFF2-40B4-BE49-F238E27FC236}">
                    <a16:creationId xmlns:a14="http://schemas.microsoft.com/office/drawing/2010/main" xmlns="" xmlns:a16="http://schemas.microsoft.com/office/drawing/2014/main" id="{638FA5C2-7812-49B1-B710-332E4E01CC9B}"/>
                  </a:ext>
                </a:extLst>
              </p:cNvPr>
              <p:cNvGraphicFramePr/>
              <p:nvPr>
                <p:extLst>
                  <p:ext uri="{D42A27DB-BD31-4B8C-83A1-F6EECF244321}">
                    <p14:modId xmlns:a14="http://schemas.microsoft.com/office/drawing/2010/main" xmlns="" xmlns:p14="http://schemas.microsoft.com/office/powerpoint/2010/main" val="1640960941"/>
                  </p:ext>
                </p:extLst>
              </p:nvPr>
            </p:nvGraphicFramePr>
            <p:xfrm>
              <a:off x="1475656" y="2571750"/>
              <a:ext cx="6515819" cy="2448271"/>
            </p:xfrm>
            <a:graphic>
              <a:graphicData uri="http://schemas.openxmlformats.org/drawingml/2006/table">
                <a:tbl>
                  <a:tblPr>
                    <a:noFill/>
                    <a:tableStyleId>{D7AEECF4-432E-4D26-AA6D-92A1E89D1F9B}</a:tableStyleId>
                  </a:tblPr>
                  <a:tblGrid>
                    <a:gridCol w="2304256">
                      <a:extLst>
                        <a:ext uri="{9D8B030D-6E8A-4147-A177-3AD203B41FA5}">
                          <a16:colId xmlns:a14="http://schemas.microsoft.com/office/drawing/2010/main" xmlns="" xmlns:a16="http://schemas.microsoft.com/office/drawing/2014/main" val="20000"/>
                        </a:ext>
                      </a:extLst>
                    </a:gridCol>
                    <a:gridCol w="1368152">
                      <a:extLst>
                        <a:ext uri="{9D8B030D-6E8A-4147-A177-3AD203B41FA5}">
                          <a16:colId xmlns:a14="http://schemas.microsoft.com/office/drawing/2010/main" xmlns="" xmlns:a16="http://schemas.microsoft.com/office/drawing/2014/main" val="20001"/>
                        </a:ext>
                      </a:extLst>
                    </a:gridCol>
                    <a:gridCol w="1440160">
                      <a:extLst>
                        <a:ext uri="{9D8B030D-6E8A-4147-A177-3AD203B41FA5}">
                          <a16:colId xmlns:a14="http://schemas.microsoft.com/office/drawing/2010/main" xmlns="" xmlns:a16="http://schemas.microsoft.com/office/drawing/2014/main" val="4153596674"/>
                        </a:ext>
                      </a:extLst>
                    </a:gridCol>
                    <a:gridCol w="1403251">
                      <a:extLst>
                        <a:ext uri="{9D8B030D-6E8A-4147-A177-3AD203B41FA5}">
                          <a16:colId xmlns:a14="http://schemas.microsoft.com/office/drawing/2010/main" xmlns="" xmlns:a16="http://schemas.microsoft.com/office/drawing/2014/main" val="3050101062"/>
                        </a:ext>
                      </a:extLst>
                    </a:gridCol>
                  </a:tblGrid>
                  <a:tr h="671418">
                    <a:tc>
                      <a:txBody>
                        <a:bodyPr/>
                        <a:lstStyle/>
                        <a:p>
                          <a:pPr marL="0" lvl="0" indent="0" algn="ctr" rtl="0">
                            <a:spcBef>
                              <a:spcPts val="0"/>
                            </a:spcBef>
                            <a:spcAft>
                              <a:spcPts val="0"/>
                            </a:spcAft>
                            <a:buNone/>
                          </a:pPr>
                          <a:endParaRPr b="1" dirty="0">
                            <a:solidFill>
                              <a:schemeClr val="dk1"/>
                            </a:solidFill>
                            <a:latin typeface="Barlow Light"/>
                            <a:ea typeface="Barlow Light"/>
                            <a:cs typeface="Barlow Light"/>
                            <a:sym typeface="Barlow Light"/>
                          </a:endParaRPr>
                        </a:p>
                      </a:txBody>
                      <a:tcPr marL="91425" marR="91425" marT="68575" marB="68575"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endParaRPr lang="fr-F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blipFill>
                          <a:blip r:embed="rId2"/>
                          <a:stretch>
                            <a:fillRect l="-169778" t="-2703" r="-210222" b="-268468"/>
                          </a:stretch>
                        </a:blipFill>
                      </a:tcPr>
                    </a:tc>
                    <a:tc>
                      <a:txBody>
                        <a:bodyPr/>
                        <a:lstStyle/>
                        <a:p>
                          <a:endParaRPr lang="fr-F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blipFill>
                          <a:blip r:embed="rId2"/>
                          <a:stretch>
                            <a:fillRect l="-257203" t="-2703" r="-100424" b="-268468"/>
                          </a:stretch>
                        </a:blipFill>
                      </a:tcPr>
                    </a:tc>
                    <a:tc>
                      <a:txBody>
                        <a:bodyPr/>
                        <a:lstStyle/>
                        <a:p>
                          <a:r>
                            <a:rPr lang="fr-FR" sz="1800" b="1" i="0" u="none" strike="noStrike" cap="none" dirty="0">
                              <a:solidFill>
                                <a:schemeClr val="accent1"/>
                              </a:solidFill>
                              <a:latin typeface="Barlow Light"/>
                              <a:sym typeface="Arial"/>
                            </a:rPr>
                            <a:t>Totaux</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4="http://schemas.microsoft.com/office/drawing/2010/main" xmlns="" xmlns:a16="http://schemas.microsoft.com/office/drawing/2014/main" val="10000"/>
                      </a:ext>
                    </a:extLst>
                  </a:tr>
                  <a:tr h="568307">
                    <a:tc>
                      <a:txBody>
                        <a:bodyPr/>
                        <a:lstStyle/>
                        <a:p>
                          <a:endParaRPr lang="fr-F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blipFill>
                          <a:blip r:embed="rId2"/>
                          <a:stretch>
                            <a:fillRect l="-1058" t="-122581" r="-184656" b="-220430"/>
                          </a:stretch>
                        </a:blipFill>
                      </a:tcPr>
                    </a:tc>
                    <a:tc>
                      <a:txBody>
                        <a:bodyPr/>
                        <a:lstStyle/>
                        <a:p>
                          <a:r>
                            <a:rPr lang="fr-FR" sz="1800" dirty="0">
                              <a:latin typeface="Barlow Light" panose="020B0604020202020204" charset="0"/>
                            </a:rPr>
                            <a:t>10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7</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17</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4="http://schemas.microsoft.com/office/drawing/2010/main" xmlns="" xmlns:a16="http://schemas.microsoft.com/office/drawing/2014/main" val="10001"/>
                      </a:ext>
                    </a:extLst>
                  </a:tr>
                  <a:tr h="604273">
                    <a:tc>
                      <a:txBody>
                        <a:bodyPr/>
                        <a:lstStyle/>
                        <a:p>
                          <a:endParaRPr lang="fr-F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blipFill>
                          <a:blip r:embed="rId2"/>
                          <a:stretch>
                            <a:fillRect l="-1058" t="-207000" r="-184656" b="-105000"/>
                          </a:stretch>
                        </a:blipFill>
                      </a:tcPr>
                    </a:tc>
                    <a:tc>
                      <a:txBody>
                        <a:bodyPr/>
                        <a:lstStyle/>
                        <a:p>
                          <a:r>
                            <a:rPr lang="fr-FR" sz="1800" dirty="0">
                              <a:latin typeface="Barlow Light" panose="020B0604020202020204" charset="0"/>
                            </a:rPr>
                            <a:t>4</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9</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13</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4="http://schemas.microsoft.com/office/drawing/2010/main" xmlns="" xmlns:a16="http://schemas.microsoft.com/office/drawing/2014/main" val="10002"/>
                      </a:ext>
                    </a:extLst>
                  </a:tr>
                  <a:tr h="604273">
                    <a:tc>
                      <a:txBody>
                        <a:bodyPr/>
                        <a:lstStyle/>
                        <a:p>
                          <a:r>
                            <a:rPr lang="fr-FR" sz="1800" b="1" i="0" u="none" strike="noStrike" cap="none" dirty="0">
                              <a:solidFill>
                                <a:schemeClr val="accent1"/>
                              </a:solidFill>
                              <a:latin typeface="Barlow Light"/>
                              <a:sym typeface="Arial"/>
                            </a:rPr>
                            <a:t>Totaux</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14</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16</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30</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a14="http://schemas.microsoft.com/office/drawing/2010/main" xmlns="" xmlns:a16="http://schemas.microsoft.com/office/drawing/2014/main" val="3963550826"/>
                      </a:ext>
                    </a:extLst>
                  </a:tr>
                </a:tbl>
              </a:graphicData>
            </a:graphic>
          </p:graphicFrame>
        </mc:Fallback>
      </mc:AlternateContent>
    </p:spTree>
    <p:extLst>
      <p:ext uri="{BB962C8B-B14F-4D97-AF65-F5344CB8AC3E}">
        <p14:creationId xmlns="" xmlns:p14="http://schemas.microsoft.com/office/powerpoint/2010/main" val="28163713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Théorème de Bayes: Exemple</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779662"/>
                <a:ext cx="7532654" cy="3515612"/>
              </a:xfrm>
              <a:prstGeom prst="rect">
                <a:avLst/>
              </a:prstGeom>
            </p:spPr>
            <p:txBody>
              <a:bodyPr spcFirstLastPara="1" wrap="square" lIns="0" tIns="0" rIns="0" bIns="0" anchor="t" anchorCtr="0">
                <a:noAutofit/>
              </a:bodyPr>
              <a:lstStyle/>
              <a:p>
                <a:pPr lvl="0">
                  <a:spcBef>
                    <a:spcPts val="0"/>
                  </a:spcBef>
                  <a:buFont typeface="Wingdings" panose="05000000000000000000" pitchFamily="2" charset="2"/>
                  <a:buChar char="§"/>
                </a:pPr>
                <a:r>
                  <a:rPr lang="fr-FR" sz="2200" dirty="0">
                    <a:latin typeface="Barlow Light" panose="020B0604020202020204" charset="0"/>
                  </a:rPr>
                  <a:t>Calculons la probabilité suivante : Quelle est la probabilité qu’on tire au hasard un élève parlant Allemand sachant qu’elle est une fille ?</a:t>
                </a:r>
              </a:p>
              <a:p>
                <a:pPr lvl="0">
                  <a:spcBef>
                    <a:spcPts val="0"/>
                  </a:spcBef>
                  <a:buFont typeface="Wingdings" panose="05000000000000000000" pitchFamily="2" charset="2"/>
                  <a:buChar char="§"/>
                </a:pPr>
                <a:r>
                  <a:rPr lang="fr-FR" sz="2200" dirty="0">
                    <a:latin typeface="Barlow Light" panose="020B0604020202020204" charset="0"/>
                  </a:rPr>
                  <a:t>Selon la formule de Bayes on a :</a:t>
                </a:r>
              </a:p>
              <a:p>
                <a:pPr marL="533400" lvl="1" indent="0">
                  <a:buNone/>
                </a:pPr>
                <a14:m>
                  <m:oMathPara xmlns:m="http://schemas.openxmlformats.org/officeDocument/2006/math">
                    <m:oMathParaPr>
                      <m:jc m:val="centerGroup"/>
                    </m:oMathParaPr>
                    <m:oMath xmlns:m="http://schemas.openxmlformats.org/officeDocument/2006/math">
                      <m:r>
                        <a:rPr lang="fr-FR" sz="2200" i="1">
                          <a:latin typeface="Cambria Math" panose="02040503050406030204" pitchFamily="18" charset="0"/>
                        </a:rPr>
                        <m:t>𝑃</m:t>
                      </m:r>
                      <m:d>
                        <m:dPr>
                          <m:ctrlPr>
                            <a:rPr lang="fr-FR" sz="2200" i="1">
                              <a:latin typeface="Cambria Math" panose="02040503050406030204" pitchFamily="18" charset="0"/>
                            </a:rPr>
                          </m:ctrlPr>
                        </m:dPr>
                        <m:e>
                          <m:r>
                            <a:rPr lang="fr-FR" sz="2200" b="0" i="1" smtClean="0">
                              <a:latin typeface="Cambria Math" panose="02040503050406030204" pitchFamily="18" charset="0"/>
                            </a:rPr>
                            <m:t>𝐴𝑙𝑙𝑒𝑚𝑎𝑛𝑑</m:t>
                          </m:r>
                        </m:e>
                        <m:e>
                          <m:r>
                            <a:rPr lang="fr-FR" sz="2200" b="0" i="1" smtClean="0">
                              <a:latin typeface="Cambria Math" panose="02040503050406030204" pitchFamily="18" charset="0"/>
                            </a:rPr>
                            <m:t>𝐹𝑖𝑙𝑙𝑒</m:t>
                          </m:r>
                        </m:e>
                      </m:d>
                      <m:r>
                        <a:rPr lang="fr-FR" sz="2200" i="1">
                          <a:latin typeface="Cambria Math" panose="02040503050406030204" pitchFamily="18" charset="0"/>
                        </a:rPr>
                        <m:t>=</m:t>
                      </m:r>
                      <m:r>
                        <a:rPr lang="fr-FR" sz="2200" b="0" i="1" smtClean="0">
                          <a:latin typeface="Cambria Math" panose="02040503050406030204" pitchFamily="18" charset="0"/>
                        </a:rPr>
                        <m:t>𝑃</m:t>
                      </m:r>
                      <m:d>
                        <m:dPr>
                          <m:ctrlPr>
                            <a:rPr lang="fr-FR" sz="2200" b="0" i="1" smtClean="0">
                              <a:latin typeface="Cambria Math" panose="02040503050406030204" pitchFamily="18" charset="0"/>
                            </a:rPr>
                          </m:ctrlPr>
                        </m:dPr>
                        <m:e>
                          <m:r>
                            <a:rPr lang="fr-FR" sz="2200" b="0" i="1" smtClean="0">
                              <a:latin typeface="Cambria Math" panose="02040503050406030204" pitchFamily="18" charset="0"/>
                            </a:rPr>
                            <m:t>𝐵</m:t>
                          </m:r>
                        </m:e>
                        <m:e>
                          <m:r>
                            <a:rPr lang="fr-FR" sz="2200" b="0" i="1" smtClean="0">
                              <a:latin typeface="Cambria Math" panose="02040503050406030204" pitchFamily="18" charset="0"/>
                            </a:rPr>
                            <m:t>𝐴</m:t>
                          </m:r>
                        </m:e>
                      </m:d>
                      <m:r>
                        <a:rPr lang="fr-FR" sz="2200" b="0" i="1" smtClean="0">
                          <a:latin typeface="Cambria Math" panose="02040503050406030204" pitchFamily="18" charset="0"/>
                        </a:rPr>
                        <m:t>= </m:t>
                      </m:r>
                      <m:f>
                        <m:fPr>
                          <m:ctrlPr>
                            <a:rPr lang="fr-FR" sz="2200" b="0" i="1" smtClean="0">
                              <a:latin typeface="Cambria Math" panose="02040503050406030204" pitchFamily="18" charset="0"/>
                            </a:rPr>
                          </m:ctrlPr>
                        </m:fPr>
                        <m:num>
                          <m:r>
                            <a:rPr lang="fr-FR" sz="2200" b="0" i="1" smtClean="0">
                              <a:latin typeface="Cambria Math" panose="02040503050406030204" pitchFamily="18" charset="0"/>
                            </a:rPr>
                            <m:t>𝑃</m:t>
                          </m:r>
                          <m:r>
                            <a:rPr lang="fr-FR" sz="2200" b="0" i="1" smtClean="0">
                              <a:latin typeface="Cambria Math" panose="02040503050406030204" pitchFamily="18" charset="0"/>
                            </a:rPr>
                            <m:t>(</m:t>
                          </m:r>
                          <m:r>
                            <a:rPr lang="fr-FR" sz="2200" b="0" i="1" smtClean="0">
                              <a:latin typeface="Cambria Math" panose="02040503050406030204" pitchFamily="18" charset="0"/>
                            </a:rPr>
                            <m:t>𝐵</m:t>
                          </m:r>
                          <m:r>
                            <a:rPr lang="fr-FR" sz="2200" b="0" i="1" smtClean="0">
                              <a:latin typeface="Cambria Math" panose="02040503050406030204" pitchFamily="18" charset="0"/>
                              <a:ea typeface="Cambria Math" panose="02040503050406030204" pitchFamily="18" charset="0"/>
                            </a:rPr>
                            <m:t>∩</m:t>
                          </m:r>
                          <m:r>
                            <a:rPr lang="fr-FR" sz="2200" b="0" i="1" smtClean="0">
                              <a:latin typeface="Cambria Math" panose="02040503050406030204" pitchFamily="18" charset="0"/>
                              <a:ea typeface="Cambria Math" panose="02040503050406030204" pitchFamily="18" charset="0"/>
                            </a:rPr>
                            <m:t>𝐴</m:t>
                          </m:r>
                          <m:r>
                            <a:rPr lang="fr-FR" sz="2200" b="0" i="1" smtClean="0">
                              <a:latin typeface="Cambria Math" panose="02040503050406030204" pitchFamily="18" charset="0"/>
                            </a:rPr>
                            <m:t>)</m:t>
                          </m:r>
                        </m:num>
                        <m:den>
                          <m:r>
                            <a:rPr lang="fr-FR" sz="2200" b="0" i="1" smtClean="0">
                              <a:latin typeface="Cambria Math" panose="02040503050406030204" pitchFamily="18" charset="0"/>
                            </a:rPr>
                            <m:t>𝑃</m:t>
                          </m:r>
                          <m:r>
                            <a:rPr lang="fr-FR" sz="2200" b="0" i="1" smtClean="0">
                              <a:latin typeface="Cambria Math" panose="02040503050406030204" pitchFamily="18" charset="0"/>
                            </a:rPr>
                            <m:t>(</m:t>
                          </m:r>
                          <m:r>
                            <a:rPr lang="fr-FR" sz="2200" b="0" i="1" smtClean="0">
                              <a:latin typeface="Cambria Math" panose="02040503050406030204" pitchFamily="18" charset="0"/>
                            </a:rPr>
                            <m:t>𝐴</m:t>
                          </m:r>
                          <m:r>
                            <a:rPr lang="fr-FR" sz="2200" b="0" i="1" smtClean="0">
                              <a:latin typeface="Cambria Math" panose="02040503050406030204" pitchFamily="18" charset="0"/>
                            </a:rPr>
                            <m:t>)</m:t>
                          </m:r>
                        </m:den>
                      </m:f>
                    </m:oMath>
                  </m:oMathPara>
                </a14:m>
                <a:endParaRPr lang="fr-FR" sz="2200" dirty="0">
                  <a:latin typeface="Barlow Light" panose="020B0604020202020204" charset="0"/>
                </a:endParaRPr>
              </a:p>
              <a:p>
                <a:pPr marL="533400" lvl="1" indent="0">
                  <a:buNone/>
                </a:pPr>
                <a:endParaRPr lang="fr-FR" sz="2200" dirty="0">
                  <a:latin typeface="Barlow Light" panose="020B0604020202020204" charset="0"/>
                </a:endParaRPr>
              </a:p>
              <a:p>
                <a:pPr lvl="0">
                  <a:spcBef>
                    <a:spcPts val="0"/>
                  </a:spcBef>
                  <a:buFont typeface="Wingdings" panose="05000000000000000000" pitchFamily="2" charset="2"/>
                  <a:buChar char="§"/>
                </a:pPr>
                <a:endParaRPr lang="fr-FR" sz="2200" dirty="0">
                  <a:latin typeface="Barlow Light" panose="020B0604020202020204" charset="0"/>
                </a:endParaRPr>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779662"/>
                <a:ext cx="7532654" cy="3515612"/>
              </a:xfrm>
              <a:prstGeom prst="rect">
                <a:avLst/>
              </a:prstGeom>
              <a:blipFill>
                <a:blip r:embed="rId3"/>
                <a:stretch>
                  <a:fillRect l="-1214" t="-2253" r="-728"/>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109</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Théorème de Bayes: Exemple</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spcBef>
                    <a:spcPts val="0"/>
                  </a:spcBef>
                  <a:buFont typeface="Wingdings" panose="05000000000000000000" pitchFamily="2" charset="2"/>
                  <a:buChar char="§"/>
                </a:pPr>
                <a:r>
                  <a:rPr lang="fr-FR" sz="2000" dirty="0">
                    <a:latin typeface="Barlow Light" panose="020B0604020202020204" charset="0"/>
                  </a:rPr>
                  <a:t>P(A) est la probabilité de prendre au hasard une fille de la population des élèves de la classe.</a:t>
                </a:r>
              </a:p>
              <a:p>
                <a:pPr marL="76200" lvl="0" indent="0">
                  <a:spcBef>
                    <a:spcPts val="0"/>
                  </a:spcBef>
                  <a:buNone/>
                </a:pPr>
                <a:endParaRPr lang="fr-FR" sz="2000" dirty="0">
                  <a:latin typeface="Barlow Light" panose="020B0604020202020204" charset="0"/>
                </a:endParaRPr>
              </a:p>
              <a:p>
                <a:pPr lvl="1">
                  <a:buClr>
                    <a:schemeClr val="accent4"/>
                  </a:buClr>
                  <a:buFont typeface="Arial" panose="020B0604020202020204" pitchFamily="34" charset="0"/>
                  <a:buChar char="•"/>
                </a:pPr>
                <a14:m>
                  <m:oMath xmlns:m="http://schemas.openxmlformats.org/officeDocument/2006/math">
                    <m:r>
                      <a:rPr lang="fr-FR" sz="2000" b="0" i="1" smtClean="0">
                        <a:latin typeface="Cambria Math" panose="02040503050406030204" pitchFamily="18" charset="0"/>
                      </a:rPr>
                      <m:t>𝑃</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𝐴</m:t>
                        </m:r>
                      </m:e>
                    </m:d>
                    <m:r>
                      <a:rPr lang="fr-FR" sz="2000" b="0" i="1" smtClean="0">
                        <a:latin typeface="Cambria Math" panose="02040503050406030204" pitchFamily="18" charset="0"/>
                      </a:rPr>
                      <m:t>= </m:t>
                    </m:r>
                    <m:f>
                      <m:fPr>
                        <m:ctrlPr>
                          <a:rPr lang="fr-FR" sz="2000" b="0" i="1" smtClean="0">
                            <a:latin typeface="Cambria Math" panose="02040503050406030204" pitchFamily="18" charset="0"/>
                          </a:rPr>
                        </m:ctrlPr>
                      </m:fPr>
                      <m:num>
                        <m:r>
                          <a:rPr lang="fr-FR" sz="2000" b="0" i="1" smtClean="0">
                            <a:latin typeface="Cambria Math" panose="02040503050406030204" pitchFamily="18" charset="0"/>
                          </a:rPr>
                          <m:t>𝑐𝑎𝑟𝑑𝑖𝑛𝑎𝑙</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𝐴</m:t>
                            </m:r>
                          </m:e>
                        </m:d>
                      </m:num>
                      <m:den>
                        <m:r>
                          <a:rPr lang="fr-FR" sz="2000" b="0" i="1" smtClean="0">
                            <a:latin typeface="Cambria Math" panose="02040503050406030204" pitchFamily="18" charset="0"/>
                          </a:rPr>
                          <m:t>𝑐𝑎𝑟𝑑𝑖𝑛𝑎𝑙</m:t>
                        </m:r>
                        <m:d>
                          <m:dPr>
                            <m:ctrlPr>
                              <a:rPr lang="fr-FR" sz="2000" b="0" i="1" smtClean="0">
                                <a:latin typeface="Cambria Math" panose="02040503050406030204" pitchFamily="18" charset="0"/>
                              </a:rPr>
                            </m:ctrlPr>
                          </m:dPr>
                          <m:e>
                            <m:r>
                              <m:rPr>
                                <m:sty m:val="p"/>
                              </m:rPr>
                              <a:rPr lang="el-GR" sz="2000" b="0" i="0" smtClean="0">
                                <a:latin typeface="Cambria Math" panose="02040503050406030204" pitchFamily="18" charset="0"/>
                                <a:ea typeface="Cambria Math" panose="02040503050406030204" pitchFamily="18" charset="0"/>
                              </a:rPr>
                              <m:t>Ω</m:t>
                            </m:r>
                          </m:e>
                        </m:d>
                      </m:den>
                    </m:f>
                    <m:r>
                      <a:rPr lang="fr-FR" sz="2000" b="0" i="1" smtClean="0">
                        <a:latin typeface="Cambria Math" panose="02040503050406030204" pitchFamily="18" charset="0"/>
                      </a:rPr>
                      <m:t>= </m:t>
                    </m:r>
                    <m:f>
                      <m:fPr>
                        <m:ctrlPr>
                          <a:rPr lang="fr-FR" sz="2000" i="1" smtClean="0">
                            <a:latin typeface="Cambria Math" panose="02040503050406030204" pitchFamily="18" charset="0"/>
                          </a:rPr>
                        </m:ctrlPr>
                      </m:fPr>
                      <m:num>
                        <m:r>
                          <a:rPr lang="fr-FR" sz="2000" b="0" i="1" smtClean="0">
                            <a:latin typeface="Cambria Math" panose="02040503050406030204" pitchFamily="18" charset="0"/>
                          </a:rPr>
                          <m:t>14</m:t>
                        </m:r>
                      </m:num>
                      <m:den>
                        <m:r>
                          <a:rPr lang="fr-FR" sz="2000" b="0" i="1" smtClean="0">
                            <a:latin typeface="Cambria Math" panose="02040503050406030204" pitchFamily="18" charset="0"/>
                          </a:rPr>
                          <m:t>30</m:t>
                        </m:r>
                      </m:den>
                    </m:f>
                    <m:r>
                      <a:rPr lang="fr-FR" sz="2000" b="0" i="1" smtClean="0">
                        <a:latin typeface="Cambria Math" panose="02040503050406030204" pitchFamily="18" charset="0"/>
                        <a:ea typeface="Cambria Math" panose="02040503050406030204" pitchFamily="18" charset="0"/>
                      </a:rPr>
                      <m:t> ≈0,466</m:t>
                    </m:r>
                  </m:oMath>
                </a14:m>
                <a:endParaRPr lang="fr-FR" sz="2000" b="0" dirty="0">
                  <a:latin typeface="Barlow Light" panose="020B0604020202020204" charset="0"/>
                  <a:ea typeface="Cambria Math" panose="02040503050406030204" pitchFamily="18" charset="0"/>
                </a:endParaRPr>
              </a:p>
              <a:p>
                <a:pPr marL="533400" lvl="1" indent="0">
                  <a:buClr>
                    <a:schemeClr val="accent4"/>
                  </a:buClr>
                  <a:buNone/>
                </a:pPr>
                <a:endParaRPr lang="fr-FR" sz="2000" b="0" dirty="0">
                  <a:latin typeface="Barlow Light" panose="020B0604020202020204" charset="0"/>
                  <a:ea typeface="Cambria Math" panose="02040503050406030204" pitchFamily="18" charset="0"/>
                </a:endParaRPr>
              </a:p>
              <a:p>
                <a:pPr lvl="1">
                  <a:buClr>
                    <a:schemeClr val="accent4"/>
                  </a:buClr>
                  <a:buFont typeface="Arial" panose="020B0604020202020204" pitchFamily="34" charset="0"/>
                  <a:buChar char="•"/>
                </a:pPr>
                <a14:m>
                  <m:oMath xmlns:m="http://schemas.openxmlformats.org/officeDocument/2006/math">
                    <m:r>
                      <a:rPr lang="fr-FR" sz="2000" b="0" i="1" smtClean="0">
                        <a:latin typeface="Cambria Math" panose="02040503050406030204" pitchFamily="18" charset="0"/>
                      </a:rPr>
                      <m:t>𝑃</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𝐵</m:t>
                        </m:r>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𝐴</m:t>
                        </m:r>
                      </m:e>
                    </m:d>
                    <m:r>
                      <a:rPr lang="fr-FR" sz="2000" b="0" i="1" smtClean="0">
                        <a:latin typeface="Cambria Math" panose="02040503050406030204" pitchFamily="18" charset="0"/>
                      </a:rPr>
                      <m:t>= </m:t>
                    </m:r>
                    <m:f>
                      <m:fPr>
                        <m:ctrlPr>
                          <a:rPr lang="fr-FR" sz="2000" b="0" i="1" smtClean="0">
                            <a:latin typeface="Cambria Math" panose="02040503050406030204" pitchFamily="18" charset="0"/>
                          </a:rPr>
                        </m:ctrlPr>
                      </m:fPr>
                      <m:num>
                        <m:r>
                          <a:rPr lang="fr-FR" sz="2000" b="0" i="1" smtClean="0">
                            <a:latin typeface="Cambria Math" panose="02040503050406030204" pitchFamily="18" charset="0"/>
                          </a:rPr>
                          <m:t>𝑐𝑎𝑟𝑑𝑖𝑛𝑎𝑙</m:t>
                        </m:r>
                        <m:d>
                          <m:dPr>
                            <m:ctrlPr>
                              <a:rPr lang="fr-FR" sz="2000" i="1">
                                <a:latin typeface="Cambria Math" panose="02040503050406030204" pitchFamily="18" charset="0"/>
                              </a:rPr>
                            </m:ctrlPr>
                          </m:dPr>
                          <m:e>
                            <m:r>
                              <a:rPr lang="fr-FR" sz="2000" i="1">
                                <a:latin typeface="Cambria Math" panose="02040503050406030204" pitchFamily="18" charset="0"/>
                              </a:rPr>
                              <m:t>𝐵</m:t>
                            </m:r>
                            <m:r>
                              <a:rPr lang="fr-FR" sz="2000" i="1">
                                <a:latin typeface="Cambria Math" panose="02040503050406030204" pitchFamily="18" charset="0"/>
                                <a:ea typeface="Cambria Math" panose="02040503050406030204" pitchFamily="18" charset="0"/>
                              </a:rPr>
                              <m:t>∩</m:t>
                            </m:r>
                            <m:r>
                              <a:rPr lang="fr-FR" sz="2000" i="1">
                                <a:latin typeface="Cambria Math" panose="02040503050406030204" pitchFamily="18" charset="0"/>
                                <a:ea typeface="Cambria Math" panose="02040503050406030204" pitchFamily="18" charset="0"/>
                              </a:rPr>
                              <m:t>𝐴</m:t>
                            </m:r>
                          </m:e>
                        </m:d>
                      </m:num>
                      <m:den>
                        <m:r>
                          <a:rPr lang="fr-FR" sz="2000" b="0" i="1" smtClean="0">
                            <a:latin typeface="Cambria Math" panose="02040503050406030204" pitchFamily="18" charset="0"/>
                          </a:rPr>
                          <m:t>𝑐𝑎𝑟𝑑𝑖𝑛𝑎𝑙</m:t>
                        </m:r>
                        <m:d>
                          <m:dPr>
                            <m:ctrlPr>
                              <a:rPr lang="fr-FR" sz="2000" b="0" i="1" smtClean="0">
                                <a:latin typeface="Cambria Math" panose="02040503050406030204" pitchFamily="18" charset="0"/>
                              </a:rPr>
                            </m:ctrlPr>
                          </m:dPr>
                          <m:e>
                            <m:r>
                              <m:rPr>
                                <m:sty m:val="p"/>
                              </m:rPr>
                              <a:rPr lang="el-GR" sz="2000" b="0" i="0" smtClean="0">
                                <a:latin typeface="Cambria Math" panose="02040503050406030204" pitchFamily="18" charset="0"/>
                                <a:ea typeface="Cambria Math" panose="02040503050406030204" pitchFamily="18" charset="0"/>
                              </a:rPr>
                              <m:t>Ω</m:t>
                            </m:r>
                          </m:e>
                        </m:d>
                      </m:den>
                    </m:f>
                    <m:r>
                      <a:rPr lang="fr-FR" sz="2000" b="0" i="1" smtClean="0">
                        <a:latin typeface="Cambria Math" panose="02040503050406030204" pitchFamily="18" charset="0"/>
                      </a:rPr>
                      <m:t>= </m:t>
                    </m:r>
                    <m:f>
                      <m:fPr>
                        <m:ctrlPr>
                          <a:rPr lang="fr-FR" sz="2000" i="1" smtClean="0">
                            <a:latin typeface="Cambria Math" panose="02040503050406030204" pitchFamily="18" charset="0"/>
                          </a:rPr>
                        </m:ctrlPr>
                      </m:fPr>
                      <m:num>
                        <m:r>
                          <a:rPr lang="fr-FR" sz="2000" b="0" i="1" smtClean="0">
                            <a:latin typeface="Cambria Math" panose="02040503050406030204" pitchFamily="18" charset="0"/>
                          </a:rPr>
                          <m:t>10</m:t>
                        </m:r>
                      </m:num>
                      <m:den>
                        <m:r>
                          <a:rPr lang="fr-FR" sz="2000" b="0" i="1" smtClean="0">
                            <a:latin typeface="Cambria Math" panose="02040503050406030204" pitchFamily="18" charset="0"/>
                          </a:rPr>
                          <m:t>30</m:t>
                        </m:r>
                      </m:den>
                    </m:f>
                    <m:r>
                      <a:rPr lang="fr-FR" sz="2000" b="0" i="1" smtClean="0">
                        <a:latin typeface="Cambria Math" panose="02040503050406030204" pitchFamily="18" charset="0"/>
                        <a:ea typeface="Cambria Math" panose="02040503050406030204" pitchFamily="18" charset="0"/>
                      </a:rPr>
                      <m:t> ≈0,</m:t>
                    </m:r>
                  </m:oMath>
                </a14:m>
                <a:r>
                  <a:rPr lang="fr-FR" sz="2000" b="0" dirty="0">
                    <a:latin typeface="Barlow Light" panose="020B0604020202020204" charset="0"/>
                    <a:ea typeface="Cambria Math" panose="02040503050406030204" pitchFamily="18" charset="0"/>
                  </a:rPr>
                  <a:t>333</a:t>
                </a:r>
              </a:p>
              <a:p>
                <a:pPr>
                  <a:spcBef>
                    <a:spcPts val="0"/>
                  </a:spcBef>
                  <a:buFont typeface="Wingdings" panose="05000000000000000000" pitchFamily="2" charset="2"/>
                  <a:buChar char="§"/>
                </a:pPr>
                <a:endParaRPr lang="fr-FR" sz="2000" dirty="0">
                  <a:latin typeface="Barlow Light" panose="020B0604020202020204" charset="0"/>
                  <a:ea typeface="Cambria Math" panose="02040503050406030204" pitchFamily="18" charset="0"/>
                </a:endParaRPr>
              </a:p>
              <a:p>
                <a:pPr lvl="0">
                  <a:spcBef>
                    <a:spcPts val="0"/>
                  </a:spcBef>
                  <a:buFont typeface="Wingdings" panose="05000000000000000000" pitchFamily="2" charset="2"/>
                  <a:buChar char="§"/>
                </a:pPr>
                <a:endParaRPr lang="fr-FR" sz="2000" dirty="0">
                  <a:latin typeface="Barlow Light" panose="020B0604020202020204" charset="0"/>
                </a:endParaRPr>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635646"/>
                <a:ext cx="7532654" cy="3291830"/>
              </a:xfrm>
              <a:prstGeom prst="rect">
                <a:avLst/>
              </a:prstGeom>
              <a:blipFill>
                <a:blip r:embed="rId3"/>
                <a:stretch>
                  <a:fillRect l="-1214" t="-2963"/>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110</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Théorème de Bayes: Exemple</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Note:</a:t>
                </a:r>
              </a:p>
              <a:p>
                <a:pPr lvl="1">
                  <a:buClr>
                    <a:schemeClr val="accent4"/>
                  </a:buClr>
                  <a:buFont typeface="Arial" panose="020B0604020202020204" pitchFamily="34" charset="0"/>
                  <a:buChar char="•"/>
                </a:pPr>
                <a:r>
                  <a:rPr lang="fr-FR" sz="2000" dirty="0"/>
                  <a:t>Le cardinal d’un ensemble est le nombre d’éléments dans ce dernier.</a:t>
                </a:r>
              </a:p>
              <a:p>
                <a:pPr lvl="1">
                  <a:buClr>
                    <a:schemeClr val="accent4"/>
                  </a:buClr>
                  <a:buFont typeface="Arial" panose="020B0604020202020204" pitchFamily="34" charset="0"/>
                  <a:buChar char="•"/>
                </a:pPr>
                <a14:m>
                  <m:oMath xmlns:m="http://schemas.openxmlformats.org/officeDocument/2006/math">
                    <m:r>
                      <a:rPr lang="fr-FR" sz="2000" i="1">
                        <a:latin typeface="Cambria Math" panose="02040503050406030204" pitchFamily="18" charset="0"/>
                      </a:rPr>
                      <m:t>𝑐𝑎𝑟𝑑𝑖𝑛𝑎𝑙</m:t>
                    </m:r>
                    <m:d>
                      <m:dPr>
                        <m:ctrlPr>
                          <a:rPr lang="fr-FR" sz="2000" i="1">
                            <a:latin typeface="Cambria Math" panose="02040503050406030204" pitchFamily="18" charset="0"/>
                          </a:rPr>
                        </m:ctrlPr>
                      </m:dPr>
                      <m:e>
                        <m:r>
                          <m:rPr>
                            <m:sty m:val="p"/>
                          </m:rPr>
                          <a:rPr lang="el-GR" sz="2000">
                            <a:latin typeface="Cambria Math" panose="02040503050406030204" pitchFamily="18" charset="0"/>
                            <a:ea typeface="Cambria Math" panose="02040503050406030204" pitchFamily="18" charset="0"/>
                          </a:rPr>
                          <m:t>Ω</m:t>
                        </m:r>
                      </m:e>
                    </m:d>
                    <m:r>
                      <a:rPr lang="fr-FR" sz="2000" b="0" i="1" smtClean="0">
                        <a:latin typeface="Cambria Math" panose="02040503050406030204" pitchFamily="18" charset="0"/>
                        <a:ea typeface="Cambria Math" panose="02040503050406030204" pitchFamily="18" charset="0"/>
                      </a:rPr>
                      <m:t>:</m:t>
                    </m:r>
                    <m:r>
                      <a:rPr lang="el-GR" sz="2000" i="1">
                        <a:latin typeface="Cambria Math" panose="02040503050406030204" pitchFamily="18" charset="0"/>
                        <a:ea typeface="Cambria Math" panose="02040503050406030204" pitchFamily="18" charset="0"/>
                      </a:rPr>
                      <m:t> </m:t>
                    </m:r>
                  </m:oMath>
                </a14:m>
                <a:r>
                  <a:rPr lang="fr-FR" sz="2000" dirty="0"/>
                  <a:t>représente l’ensemble des lycéens de notre exemple (l’univers de probabilités)</a:t>
                </a:r>
              </a:p>
              <a:p>
                <a:pPr>
                  <a:spcBef>
                    <a:spcPts val="0"/>
                  </a:spcBef>
                  <a:buFont typeface="Wingdings" panose="05000000000000000000" pitchFamily="2" charset="2"/>
                  <a:buChar char="§"/>
                </a:pPr>
                <a:r>
                  <a:rPr lang="fr-FR" sz="2000" dirty="0">
                    <a:latin typeface="Barlow Light" panose="020B0604020202020204" charset="0"/>
                    <a:ea typeface="Cambria Math" panose="02040503050406030204" pitchFamily="18" charset="0"/>
                  </a:rPr>
                  <a:t>Ce qui donne:</a:t>
                </a:r>
              </a:p>
              <a:p>
                <a:pPr marL="76200" indent="0">
                  <a:spcBef>
                    <a:spcPts val="0"/>
                  </a:spcBef>
                  <a:buNone/>
                </a:pPr>
                <a14:m>
                  <m:oMathPara xmlns:m="http://schemas.openxmlformats.org/officeDocument/2006/math">
                    <m:oMathParaPr>
                      <m:jc m:val="centerGroup"/>
                    </m:oMathParaPr>
                    <m:oMath xmlns:m="http://schemas.openxmlformats.org/officeDocument/2006/math">
                      <m:r>
                        <a:rPr lang="fr-FR" sz="2000" i="1">
                          <a:latin typeface="Cambria Math" panose="02040503050406030204" pitchFamily="18" charset="0"/>
                        </a:rPr>
                        <m:t> </m:t>
                      </m:r>
                      <m:r>
                        <a:rPr lang="fr-FR" sz="2000" i="1">
                          <a:latin typeface="Cambria Math" panose="02040503050406030204" pitchFamily="18" charset="0"/>
                        </a:rPr>
                        <m:t>𝑃</m:t>
                      </m:r>
                      <m:d>
                        <m:dPr>
                          <m:ctrlPr>
                            <a:rPr lang="fr-FR" sz="2000" i="1">
                              <a:latin typeface="Cambria Math" panose="02040503050406030204" pitchFamily="18" charset="0"/>
                            </a:rPr>
                          </m:ctrlPr>
                        </m:dPr>
                        <m:e>
                          <m:r>
                            <a:rPr lang="fr-FR" sz="2000" i="1">
                              <a:latin typeface="Cambria Math" panose="02040503050406030204" pitchFamily="18" charset="0"/>
                            </a:rPr>
                            <m:t>𝐵</m:t>
                          </m:r>
                        </m:e>
                        <m:e>
                          <m:r>
                            <a:rPr lang="fr-FR" sz="2000" i="1">
                              <a:latin typeface="Cambria Math" panose="02040503050406030204" pitchFamily="18" charset="0"/>
                            </a:rPr>
                            <m:t>𝐴</m:t>
                          </m:r>
                        </m:e>
                      </m:d>
                      <m:r>
                        <a:rPr lang="fr-FR" sz="2000" i="1">
                          <a:latin typeface="Cambria Math" panose="02040503050406030204" pitchFamily="18" charset="0"/>
                        </a:rPr>
                        <m:t>= </m:t>
                      </m:r>
                      <m:f>
                        <m:fPr>
                          <m:ctrlPr>
                            <a:rPr lang="fr-FR" sz="2000" i="1">
                              <a:latin typeface="Cambria Math" panose="02040503050406030204" pitchFamily="18" charset="0"/>
                            </a:rPr>
                          </m:ctrlPr>
                        </m:fPr>
                        <m:num>
                          <m:r>
                            <a:rPr lang="fr-FR" sz="2000" i="1">
                              <a:latin typeface="Cambria Math" panose="02040503050406030204" pitchFamily="18" charset="0"/>
                            </a:rPr>
                            <m:t>0,333</m:t>
                          </m:r>
                        </m:num>
                        <m:den>
                          <m:r>
                            <a:rPr lang="fr-FR" sz="2000" i="1">
                              <a:latin typeface="Cambria Math" panose="02040503050406030204" pitchFamily="18" charset="0"/>
                            </a:rPr>
                            <m:t>0,466</m:t>
                          </m:r>
                        </m:den>
                      </m:f>
                      <m:r>
                        <a:rPr lang="fr-FR" sz="2000" i="1">
                          <a:latin typeface="Cambria Math" panose="02040503050406030204" pitchFamily="18" charset="0"/>
                        </a:rPr>
                        <m:t>=0,714</m:t>
                      </m:r>
                    </m:oMath>
                  </m:oMathPara>
                </a14:m>
                <a:endParaRPr lang="fr-FR" sz="2000" dirty="0">
                  <a:latin typeface="Barlow Light" panose="020B0604020202020204" charset="0"/>
                  <a:ea typeface="Cambria Math" panose="02040503050406030204" pitchFamily="18" charset="0"/>
                </a:endParaRPr>
              </a:p>
              <a:p>
                <a:pPr lvl="0">
                  <a:buFont typeface="Wingdings" panose="05000000000000000000" pitchFamily="2" charset="2"/>
                  <a:buChar char="§"/>
                </a:pPr>
                <a:endParaRPr lang="fr-FR" sz="2000" dirty="0"/>
              </a:p>
              <a:p>
                <a:pPr marL="76200" lvl="0" indent="0">
                  <a:buNone/>
                </a:pPr>
                <a:endParaRPr lang="fr-FR" sz="20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635646"/>
                <a:ext cx="7532654" cy="3291830"/>
              </a:xfrm>
              <a:prstGeom prst="rect">
                <a:avLst/>
              </a:prstGeom>
              <a:blipFill>
                <a:blip r:embed="rId3"/>
                <a:stretch>
                  <a:fillRect l="-1214" t="-556" r="-1456"/>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111</a:t>
            </a:fld>
            <a:endParaRPr/>
          </a:p>
        </p:txBody>
      </p:sp>
    </p:spTree>
    <p:extLst>
      <p:ext uri="{BB962C8B-B14F-4D97-AF65-F5344CB8AC3E}">
        <p14:creationId xmlns="" xmlns:p14="http://schemas.microsoft.com/office/powerpoint/2010/main" val="3964277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51">
                                            <p:txEl>
                                              <p:pRg st="0" end="0"/>
                                            </p:txEl>
                                          </p:spTgt>
                                        </p:tgtEl>
                                        <p:attrNameLst>
                                          <p:attrName>style.visibility</p:attrName>
                                        </p:attrNameLst>
                                      </p:cBhvr>
                                      <p:to>
                                        <p:strVal val="visible"/>
                                      </p:to>
                                    </p:set>
                                    <p:animEffect transition="in" filter="fade">
                                      <p:cBhvr>
                                        <p:cTn id="7" dur="500"/>
                                        <p:tgtEl>
                                          <p:spTgt spid="551">
                                            <p:txEl>
                                              <p:pRg st="0" end="0"/>
                                            </p:txEl>
                                          </p:spTgt>
                                        </p:tgtEl>
                                      </p:cBhvr>
                                    </p:animEffect>
                                    <p:anim calcmode="lin" valueType="num">
                                      <p:cBhvr>
                                        <p:cTn id="8" dur="500" fill="hold"/>
                                        <p:tgtEl>
                                          <p:spTgt spid="551">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55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51">
                                            <p:txEl>
                                              <p:charRg st="2" end="2"/>
                                            </p:txEl>
                                          </p:spTgt>
                                        </p:tgtEl>
                                        <p:attrNameLst>
                                          <p:attrName>style.visibility</p:attrName>
                                        </p:attrNameLst>
                                      </p:cBhvr>
                                      <p:to>
                                        <p:strVal val="visible"/>
                                      </p:to>
                                    </p:set>
                                    <p:animEffect transition="in" filter="fade">
                                      <p:cBhvr>
                                        <p:cTn id="14" dur="500"/>
                                        <p:tgtEl>
                                          <p:spTgt spid="551">
                                            <p:txEl>
                                              <p:charRg st="2" end="2"/>
                                            </p:txEl>
                                          </p:spTgt>
                                        </p:tgtEl>
                                      </p:cBhvr>
                                    </p:animEffect>
                                    <p:anim calcmode="lin" valueType="num">
                                      <p:cBhvr>
                                        <p:cTn id="15" dur="500" fill="hold"/>
                                        <p:tgtEl>
                                          <p:spTgt spid="551">
                                            <p:txEl>
                                              <p:char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551">
                                            <p:txEl>
                                              <p:char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51">
                                            <p:txEl>
                                              <p:charRg st="2" end="2"/>
                                            </p:txEl>
                                          </p:spTgt>
                                        </p:tgtEl>
                                        <p:attrNameLst>
                                          <p:attrName>style.visibility</p:attrName>
                                        </p:attrNameLst>
                                      </p:cBhvr>
                                      <p:to>
                                        <p:strVal val="visible"/>
                                      </p:to>
                                    </p:set>
                                    <p:animEffect transition="in" filter="fade">
                                      <p:cBhvr>
                                        <p:cTn id="21" dur="500"/>
                                        <p:tgtEl>
                                          <p:spTgt spid="551">
                                            <p:txEl>
                                              <p:charRg st="2" end="2"/>
                                            </p:txEl>
                                          </p:spTgt>
                                        </p:tgtEl>
                                      </p:cBhvr>
                                    </p:animEffect>
                                    <p:anim calcmode="lin" valueType="num">
                                      <p:cBhvr>
                                        <p:cTn id="22" dur="500" fill="hold"/>
                                        <p:tgtEl>
                                          <p:spTgt spid="551">
                                            <p:txEl>
                                              <p:char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551">
                                            <p:txEl>
                                              <p:char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51">
                                            <p:txEl>
                                              <p:charRg st="2" end="2"/>
                                            </p:txEl>
                                          </p:spTgt>
                                        </p:tgtEl>
                                        <p:attrNameLst>
                                          <p:attrName>style.visibility</p:attrName>
                                        </p:attrNameLst>
                                      </p:cBhvr>
                                      <p:to>
                                        <p:strVal val="visible"/>
                                      </p:to>
                                    </p:set>
                                    <p:animEffect transition="in" filter="fade">
                                      <p:cBhvr>
                                        <p:cTn id="28" dur="500"/>
                                        <p:tgtEl>
                                          <p:spTgt spid="551">
                                            <p:txEl>
                                              <p:charRg st="2" end="2"/>
                                            </p:txEl>
                                          </p:spTgt>
                                        </p:tgtEl>
                                      </p:cBhvr>
                                    </p:animEffect>
                                    <p:anim calcmode="lin" valueType="num">
                                      <p:cBhvr>
                                        <p:cTn id="29" dur="500" fill="hold"/>
                                        <p:tgtEl>
                                          <p:spTgt spid="551">
                                            <p:txEl>
                                              <p:char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551">
                                            <p:txEl>
                                              <p:char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51">
                                            <p:txEl>
                                              <p:charRg st="2" end="2"/>
                                            </p:txEl>
                                          </p:spTgt>
                                        </p:tgtEl>
                                        <p:attrNameLst>
                                          <p:attrName>style.visibility</p:attrName>
                                        </p:attrNameLst>
                                      </p:cBhvr>
                                      <p:to>
                                        <p:strVal val="visible"/>
                                      </p:to>
                                    </p:set>
                                    <p:animEffect transition="in" filter="fade">
                                      <p:cBhvr>
                                        <p:cTn id="35" dur="500"/>
                                        <p:tgtEl>
                                          <p:spTgt spid="551">
                                            <p:txEl>
                                              <p:charRg st="2" end="2"/>
                                            </p:txEl>
                                          </p:spTgt>
                                        </p:tgtEl>
                                      </p:cBhvr>
                                    </p:animEffect>
                                    <p:anim calcmode="lin" valueType="num">
                                      <p:cBhvr>
                                        <p:cTn id="36" dur="500" fill="hold"/>
                                        <p:tgtEl>
                                          <p:spTgt spid="551">
                                            <p:txEl>
                                              <p:charRg st="2" end="2"/>
                                            </p:txEl>
                                          </p:spTgt>
                                        </p:tgtEl>
                                        <p:attrNameLst>
                                          <p:attrName>ppt_x</p:attrName>
                                        </p:attrNameLst>
                                      </p:cBhvr>
                                      <p:tavLst>
                                        <p:tav tm="0">
                                          <p:val>
                                            <p:strVal val="#ppt_x"/>
                                          </p:val>
                                        </p:tav>
                                        <p:tav tm="100000">
                                          <p:val>
                                            <p:strVal val="#ppt_x"/>
                                          </p:val>
                                        </p:tav>
                                      </p:tavLst>
                                    </p:anim>
                                    <p:anim calcmode="lin" valueType="num">
                                      <p:cBhvr>
                                        <p:cTn id="37" dur="500" fill="hold"/>
                                        <p:tgtEl>
                                          <p:spTgt spid="551">
                                            <p:txEl>
                                              <p:char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Classifier</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Lors de l’exemple précédent, nous avons appliqué le </a:t>
                </a:r>
                <a:r>
                  <a:rPr lang="fr-FR" sz="2000" i="1" dirty="0"/>
                  <a:t>théorème de Bayes</a:t>
                </a:r>
                <a:r>
                  <a:rPr lang="fr-FR" sz="2000" dirty="0"/>
                  <a:t> avec une seule variable prédictive </a:t>
                </a:r>
                <a:r>
                  <a:rPr lang="fr-FR" sz="2000" i="1" dirty="0"/>
                  <a:t>: </a:t>
                </a:r>
                <a:r>
                  <a:rPr lang="fr-FR" sz="2000" dirty="0"/>
                  <a:t>le sexe de l’élève. </a:t>
                </a:r>
              </a:p>
              <a:p>
                <a:pPr lvl="0">
                  <a:buFont typeface="Wingdings" panose="05000000000000000000" pitchFamily="2" charset="2"/>
                  <a:buChar char="§"/>
                </a:pPr>
                <a:r>
                  <a:rPr lang="fr-FR" sz="2000" dirty="0"/>
                  <a:t>Dans les vraies applications du </a:t>
                </a:r>
                <a:r>
                  <a:rPr lang="fr-FR" sz="2000" dirty="0" err="1"/>
                  <a:t>Naive</a:t>
                </a:r>
                <a:r>
                  <a:rPr lang="fr-FR" sz="2000" dirty="0"/>
                  <a:t> Bayes, on calcule le résultat en se basant sur </a:t>
                </a:r>
                <a:r>
                  <a:rPr lang="fr-FR" sz="2000" b="1" dirty="0"/>
                  <a:t>plusieurs variables</a:t>
                </a:r>
                <a:r>
                  <a:rPr lang="fr-FR" sz="2000" i="1" dirty="0"/>
                  <a:t>. </a:t>
                </a:r>
              </a:p>
              <a:p>
                <a:pPr lvl="0">
                  <a:buFont typeface="Wingdings" panose="05000000000000000000" pitchFamily="2" charset="2"/>
                  <a:buChar char="§"/>
                </a:pPr>
                <a:r>
                  <a:rPr lang="fr-FR" sz="2000" dirty="0"/>
                  <a:t>L’application du théorème de Bayes sur plusieurs variables rend le calcul complexe.</a:t>
                </a:r>
              </a:p>
              <a:p>
                <a:pPr marL="76200" lvl="0" indent="0">
                  <a:buNone/>
                </a:pPr>
                <a14:m>
                  <m:oMath xmlns:m="http://schemas.openxmlformats.org/officeDocument/2006/math">
                    <m:r>
                      <a:rPr lang="fr-FR" sz="2000" i="1">
                        <a:solidFill>
                          <a:schemeClr val="accent4"/>
                        </a:solidFill>
                        <a:latin typeface="Cambria Math" panose="02040503050406030204" pitchFamily="18" charset="0"/>
                      </a:rPr>
                      <m:t>⇒</m:t>
                    </m:r>
                  </m:oMath>
                </a14:m>
                <a:r>
                  <a:rPr lang="fr-FR" sz="2000" dirty="0"/>
                  <a:t> </a:t>
                </a:r>
                <a:r>
                  <a:rPr lang="fr-FR" sz="2000" b="1" u="sng" dirty="0">
                    <a:effectLst>
                      <a:outerShdw blurRad="38100" dist="38100" dir="2700000" algn="tl">
                        <a:srgbClr val="000000">
                          <a:alpha val="43137"/>
                        </a:srgbClr>
                      </a:outerShdw>
                    </a:effectLst>
                  </a:rPr>
                  <a:t>Approche:</a:t>
                </a:r>
                <a:r>
                  <a:rPr lang="fr-FR" sz="2000" dirty="0"/>
                  <a:t> </a:t>
                </a:r>
                <a:r>
                  <a:rPr lang="fr-FR" sz="2000" i="1" dirty="0"/>
                  <a:t>prendre en considération ces variables indépendamment les unes des autres.</a:t>
                </a:r>
              </a:p>
              <a:p>
                <a:pPr marL="76200" lvl="0" indent="0">
                  <a:buNone/>
                </a:pPr>
                <a:endParaRPr lang="fr-FR" sz="20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635646"/>
                <a:ext cx="7532654" cy="3291830"/>
              </a:xfrm>
              <a:prstGeom prst="rect">
                <a:avLst/>
              </a:prstGeom>
              <a:blipFill>
                <a:blip r:embed="rId3"/>
                <a:stretch>
                  <a:fillRect l="-1214" t="-556" r="-1052"/>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112</a:t>
            </a:fld>
            <a:endParaRPr/>
          </a:p>
        </p:txBody>
      </p:sp>
    </p:spTree>
    <p:extLst>
      <p:ext uri="{BB962C8B-B14F-4D97-AF65-F5344CB8AC3E}">
        <p14:creationId xmlns="" xmlns:p14="http://schemas.microsoft.com/office/powerpoint/2010/main" val="277104113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Classifier</a:t>
            </a:r>
            <a:endParaRPr lang="en" sz="3200" b="1" dirty="0"/>
          </a:p>
        </p:txBody>
      </p:sp>
      <p:sp>
        <p:nvSpPr>
          <p:cNvPr id="551" name="Google Shape;551;p18"/>
          <p:cNvSpPr txBox="1">
            <a:spLocks noGrp="1"/>
          </p:cNvSpPr>
          <p:nvPr>
            <p:ph type="body" idx="1"/>
          </p:nvPr>
        </p:nvSpPr>
        <p:spPr>
          <a:xfrm>
            <a:off x="971600" y="1635646"/>
            <a:ext cx="7416824" cy="3291830"/>
          </a:xfrm>
          <a:prstGeom prst="rect">
            <a:avLst/>
          </a:prstGeom>
        </p:spPr>
        <p:txBody>
          <a:bodyPr spcFirstLastPara="1" wrap="square" lIns="0" tIns="0" rIns="0" bIns="0" anchor="t" anchorCtr="0">
            <a:noAutofit/>
          </a:bodyPr>
          <a:lstStyle/>
          <a:p>
            <a:pPr marL="76200" lvl="0" indent="0">
              <a:buNone/>
            </a:pPr>
            <a:r>
              <a:rPr lang="fr-FR" sz="2000" b="1" u="sng" dirty="0">
                <a:effectLst>
                  <a:outerShdw blurRad="38100" dist="38100" dir="2700000" algn="tl">
                    <a:srgbClr val="000000">
                      <a:alpha val="43137"/>
                    </a:srgbClr>
                  </a:outerShdw>
                </a:effectLst>
              </a:rPr>
              <a:t>Exemple:</a:t>
            </a:r>
            <a:r>
              <a:rPr lang="fr-FR" sz="2000" dirty="0"/>
              <a:t> classification de mails en {SPAM, NON SPAM}. </a:t>
            </a:r>
          </a:p>
          <a:p>
            <a:pPr lvl="0">
              <a:buFont typeface="Wingdings" panose="05000000000000000000" pitchFamily="2" charset="2"/>
              <a:buChar char="§"/>
            </a:pPr>
            <a:r>
              <a:rPr lang="fr-FR" sz="2000" dirty="0"/>
              <a:t>Naïve Bayes se basera sur la </a:t>
            </a:r>
            <a:r>
              <a:rPr lang="fr-FR" sz="2000" b="1" dirty="0"/>
              <a:t>fréquence d’occurrence des mots </a:t>
            </a:r>
            <a:r>
              <a:rPr lang="fr-FR" sz="2000" dirty="0"/>
              <a:t>dans le mail pour en définir la catégorie. </a:t>
            </a:r>
          </a:p>
          <a:p>
            <a:pPr lvl="0">
              <a:buFont typeface="Wingdings" panose="05000000000000000000" pitchFamily="2" charset="2"/>
              <a:buChar char="§"/>
            </a:pPr>
            <a:r>
              <a:rPr lang="fr-FR" sz="2000" dirty="0"/>
              <a:t>Lors de sa classification, l’algorithme supposera que les mots du mail “apparaissent” indépendamment les uns des autres.</a:t>
            </a:r>
          </a:p>
          <a:p>
            <a:pPr marL="76200" lvl="0" indent="0">
              <a:buNone/>
            </a:pPr>
            <a:endParaRPr lang="fr-FR" sz="2000" dirty="0"/>
          </a:p>
          <a:p>
            <a:pPr marL="533400" lvl="1" indent="0">
              <a:buNone/>
            </a:pPr>
            <a:r>
              <a:rPr lang="fr-FR" sz="2000" dirty="0"/>
              <a:t>D’un point de vue linguistique et sémantique, cette supposition est fausse !</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113</a:t>
            </a:fld>
            <a:endParaRPr/>
          </a:p>
        </p:txBody>
      </p:sp>
      <p:sp>
        <p:nvSpPr>
          <p:cNvPr id="7" name="Google Shape;4625;p39">
            <a:extLst>
              <a:ext uri="{FF2B5EF4-FFF2-40B4-BE49-F238E27FC236}">
                <a16:creationId xmlns="" xmlns:a16="http://schemas.microsoft.com/office/drawing/2014/main" id="{BCEC4AC2-2E66-42D1-A3DD-A88F9FA1AD03}"/>
              </a:ext>
            </a:extLst>
          </p:cNvPr>
          <p:cNvSpPr/>
          <p:nvPr/>
        </p:nvSpPr>
        <p:spPr>
          <a:xfrm>
            <a:off x="1063689" y="4011910"/>
            <a:ext cx="339959" cy="297094"/>
          </a:xfrm>
          <a:custGeom>
            <a:avLst/>
            <a:gdLst/>
            <a:ahLst/>
            <a:cxnLst/>
            <a:rect l="l" t="t" r="r" b="b"/>
            <a:pathLst>
              <a:path w="16266" h="14215" extrusionOk="0">
                <a:moveTo>
                  <a:pt x="8597" y="4397"/>
                </a:moveTo>
                <a:lnTo>
                  <a:pt x="8719" y="4421"/>
                </a:lnTo>
                <a:lnTo>
                  <a:pt x="8866" y="4445"/>
                </a:lnTo>
                <a:lnTo>
                  <a:pt x="8988" y="4519"/>
                </a:lnTo>
                <a:lnTo>
                  <a:pt x="9085" y="4616"/>
                </a:lnTo>
                <a:lnTo>
                  <a:pt x="9159" y="4714"/>
                </a:lnTo>
                <a:lnTo>
                  <a:pt x="9208" y="4836"/>
                </a:lnTo>
                <a:lnTo>
                  <a:pt x="9232" y="4958"/>
                </a:lnTo>
                <a:lnTo>
                  <a:pt x="9256" y="5105"/>
                </a:lnTo>
                <a:lnTo>
                  <a:pt x="8963" y="8939"/>
                </a:lnTo>
                <a:lnTo>
                  <a:pt x="8939" y="9086"/>
                </a:lnTo>
                <a:lnTo>
                  <a:pt x="8890" y="9232"/>
                </a:lnTo>
                <a:lnTo>
                  <a:pt x="8817" y="9330"/>
                </a:lnTo>
                <a:lnTo>
                  <a:pt x="8719" y="9452"/>
                </a:lnTo>
                <a:lnTo>
                  <a:pt x="8597" y="9525"/>
                </a:lnTo>
                <a:lnTo>
                  <a:pt x="8475" y="9599"/>
                </a:lnTo>
                <a:lnTo>
                  <a:pt x="8353" y="9648"/>
                </a:lnTo>
                <a:lnTo>
                  <a:pt x="7913" y="9648"/>
                </a:lnTo>
                <a:lnTo>
                  <a:pt x="7791" y="9599"/>
                </a:lnTo>
                <a:lnTo>
                  <a:pt x="7669" y="9525"/>
                </a:lnTo>
                <a:lnTo>
                  <a:pt x="7547" y="9452"/>
                </a:lnTo>
                <a:lnTo>
                  <a:pt x="7449" y="9330"/>
                </a:lnTo>
                <a:lnTo>
                  <a:pt x="7376" y="9232"/>
                </a:lnTo>
                <a:lnTo>
                  <a:pt x="7327" y="9086"/>
                </a:lnTo>
                <a:lnTo>
                  <a:pt x="7303" y="8939"/>
                </a:lnTo>
                <a:lnTo>
                  <a:pt x="7010" y="5105"/>
                </a:lnTo>
                <a:lnTo>
                  <a:pt x="7034" y="4958"/>
                </a:lnTo>
                <a:lnTo>
                  <a:pt x="7058" y="4836"/>
                </a:lnTo>
                <a:lnTo>
                  <a:pt x="7107" y="4714"/>
                </a:lnTo>
                <a:lnTo>
                  <a:pt x="7180" y="4616"/>
                </a:lnTo>
                <a:lnTo>
                  <a:pt x="7278" y="4519"/>
                </a:lnTo>
                <a:lnTo>
                  <a:pt x="7400" y="4445"/>
                </a:lnTo>
                <a:lnTo>
                  <a:pt x="7547" y="4421"/>
                </a:lnTo>
                <a:lnTo>
                  <a:pt x="7669" y="4397"/>
                </a:lnTo>
                <a:close/>
                <a:moveTo>
                  <a:pt x="8133" y="10429"/>
                </a:moveTo>
                <a:lnTo>
                  <a:pt x="8328" y="10454"/>
                </a:lnTo>
                <a:lnTo>
                  <a:pt x="8499" y="10502"/>
                </a:lnTo>
                <a:lnTo>
                  <a:pt x="8670" y="10600"/>
                </a:lnTo>
                <a:lnTo>
                  <a:pt x="8817" y="10722"/>
                </a:lnTo>
                <a:lnTo>
                  <a:pt x="8939" y="10869"/>
                </a:lnTo>
                <a:lnTo>
                  <a:pt x="9037" y="11040"/>
                </a:lnTo>
                <a:lnTo>
                  <a:pt x="9085" y="11211"/>
                </a:lnTo>
                <a:lnTo>
                  <a:pt x="9110" y="11406"/>
                </a:lnTo>
                <a:lnTo>
                  <a:pt x="9085" y="11601"/>
                </a:lnTo>
                <a:lnTo>
                  <a:pt x="9037" y="11797"/>
                </a:lnTo>
                <a:lnTo>
                  <a:pt x="8939" y="11943"/>
                </a:lnTo>
                <a:lnTo>
                  <a:pt x="8817" y="12090"/>
                </a:lnTo>
                <a:lnTo>
                  <a:pt x="8670" y="12212"/>
                </a:lnTo>
                <a:lnTo>
                  <a:pt x="8499" y="12310"/>
                </a:lnTo>
                <a:lnTo>
                  <a:pt x="8328" y="12359"/>
                </a:lnTo>
                <a:lnTo>
                  <a:pt x="8133" y="12383"/>
                </a:lnTo>
                <a:lnTo>
                  <a:pt x="7938" y="12359"/>
                </a:lnTo>
                <a:lnTo>
                  <a:pt x="7742" y="12310"/>
                </a:lnTo>
                <a:lnTo>
                  <a:pt x="7596" y="12212"/>
                </a:lnTo>
                <a:lnTo>
                  <a:pt x="7449" y="12090"/>
                </a:lnTo>
                <a:lnTo>
                  <a:pt x="7327" y="11943"/>
                </a:lnTo>
                <a:lnTo>
                  <a:pt x="7229" y="11797"/>
                </a:lnTo>
                <a:lnTo>
                  <a:pt x="7180" y="11601"/>
                </a:lnTo>
                <a:lnTo>
                  <a:pt x="7156" y="11406"/>
                </a:lnTo>
                <a:lnTo>
                  <a:pt x="7180" y="11211"/>
                </a:lnTo>
                <a:lnTo>
                  <a:pt x="7229" y="11040"/>
                </a:lnTo>
                <a:lnTo>
                  <a:pt x="7327" y="10869"/>
                </a:lnTo>
                <a:lnTo>
                  <a:pt x="7449" y="10722"/>
                </a:lnTo>
                <a:lnTo>
                  <a:pt x="7596" y="10600"/>
                </a:lnTo>
                <a:lnTo>
                  <a:pt x="7742" y="10502"/>
                </a:lnTo>
                <a:lnTo>
                  <a:pt x="7938" y="10454"/>
                </a:lnTo>
                <a:lnTo>
                  <a:pt x="8133" y="10429"/>
                </a:lnTo>
                <a:close/>
                <a:moveTo>
                  <a:pt x="7986" y="0"/>
                </a:moveTo>
                <a:lnTo>
                  <a:pt x="7864" y="25"/>
                </a:lnTo>
                <a:lnTo>
                  <a:pt x="7742" y="74"/>
                </a:lnTo>
                <a:lnTo>
                  <a:pt x="7620" y="123"/>
                </a:lnTo>
                <a:lnTo>
                  <a:pt x="7522" y="196"/>
                </a:lnTo>
                <a:lnTo>
                  <a:pt x="7425" y="294"/>
                </a:lnTo>
                <a:lnTo>
                  <a:pt x="7327" y="391"/>
                </a:lnTo>
                <a:lnTo>
                  <a:pt x="7254" y="489"/>
                </a:lnTo>
                <a:lnTo>
                  <a:pt x="147" y="12700"/>
                </a:lnTo>
                <a:lnTo>
                  <a:pt x="73" y="12823"/>
                </a:lnTo>
                <a:lnTo>
                  <a:pt x="25" y="12945"/>
                </a:lnTo>
                <a:lnTo>
                  <a:pt x="0" y="13067"/>
                </a:lnTo>
                <a:lnTo>
                  <a:pt x="0" y="13213"/>
                </a:lnTo>
                <a:lnTo>
                  <a:pt x="0" y="13335"/>
                </a:lnTo>
                <a:lnTo>
                  <a:pt x="25" y="13458"/>
                </a:lnTo>
                <a:lnTo>
                  <a:pt x="73" y="13604"/>
                </a:lnTo>
                <a:lnTo>
                  <a:pt x="147" y="13726"/>
                </a:lnTo>
                <a:lnTo>
                  <a:pt x="220" y="13824"/>
                </a:lnTo>
                <a:lnTo>
                  <a:pt x="293" y="13922"/>
                </a:lnTo>
                <a:lnTo>
                  <a:pt x="391" y="14019"/>
                </a:lnTo>
                <a:lnTo>
                  <a:pt x="513" y="14093"/>
                </a:lnTo>
                <a:lnTo>
                  <a:pt x="635" y="14141"/>
                </a:lnTo>
                <a:lnTo>
                  <a:pt x="757" y="14190"/>
                </a:lnTo>
                <a:lnTo>
                  <a:pt x="879" y="14215"/>
                </a:lnTo>
                <a:lnTo>
                  <a:pt x="15387" y="14215"/>
                </a:lnTo>
                <a:lnTo>
                  <a:pt x="15509" y="14190"/>
                </a:lnTo>
                <a:lnTo>
                  <a:pt x="15631" y="14141"/>
                </a:lnTo>
                <a:lnTo>
                  <a:pt x="15753" y="14093"/>
                </a:lnTo>
                <a:lnTo>
                  <a:pt x="15875" y="14019"/>
                </a:lnTo>
                <a:lnTo>
                  <a:pt x="15973" y="13922"/>
                </a:lnTo>
                <a:lnTo>
                  <a:pt x="16046" y="13824"/>
                </a:lnTo>
                <a:lnTo>
                  <a:pt x="16119" y="13726"/>
                </a:lnTo>
                <a:lnTo>
                  <a:pt x="16193" y="13604"/>
                </a:lnTo>
                <a:lnTo>
                  <a:pt x="16241" y="13458"/>
                </a:lnTo>
                <a:lnTo>
                  <a:pt x="16266" y="13335"/>
                </a:lnTo>
                <a:lnTo>
                  <a:pt x="16266" y="13213"/>
                </a:lnTo>
                <a:lnTo>
                  <a:pt x="16266" y="13067"/>
                </a:lnTo>
                <a:lnTo>
                  <a:pt x="16241" y="12945"/>
                </a:lnTo>
                <a:lnTo>
                  <a:pt x="16193" y="12823"/>
                </a:lnTo>
                <a:lnTo>
                  <a:pt x="16119" y="12700"/>
                </a:lnTo>
                <a:lnTo>
                  <a:pt x="9012" y="489"/>
                </a:lnTo>
                <a:lnTo>
                  <a:pt x="8939" y="391"/>
                </a:lnTo>
                <a:lnTo>
                  <a:pt x="8841" y="294"/>
                </a:lnTo>
                <a:lnTo>
                  <a:pt x="8744" y="196"/>
                </a:lnTo>
                <a:lnTo>
                  <a:pt x="8646" y="123"/>
                </a:lnTo>
                <a:lnTo>
                  <a:pt x="8524" y="74"/>
                </a:lnTo>
                <a:lnTo>
                  <a:pt x="8402" y="25"/>
                </a:lnTo>
                <a:lnTo>
                  <a:pt x="8255" y="0"/>
                </a:lnTo>
                <a:close/>
              </a:path>
            </a:pathLst>
          </a:custGeom>
          <a:ln/>
        </p:spPr>
        <p:style>
          <a:lnRef idx="0">
            <a:schemeClr val="accent4"/>
          </a:lnRef>
          <a:fillRef idx="3">
            <a:schemeClr val="accent4"/>
          </a:fillRef>
          <a:effectRef idx="3">
            <a:schemeClr val="accent4"/>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Tree>
    <p:extLst>
      <p:ext uri="{BB962C8B-B14F-4D97-AF65-F5344CB8AC3E}">
        <p14:creationId xmlns="" xmlns:p14="http://schemas.microsoft.com/office/powerpoint/2010/main" val="300842456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p:sp>
        <p:nvSpPr>
          <p:cNvPr id="551" name="Google Shape;551;p18"/>
          <p:cNvSpPr txBox="1">
            <a:spLocks noGrp="1"/>
          </p:cNvSpPr>
          <p:nvPr>
            <p:ph type="body" idx="1"/>
          </p:nvPr>
        </p:nvSpPr>
        <p:spPr>
          <a:xfrm>
            <a:off x="1187624" y="1779662"/>
            <a:ext cx="7316630" cy="3312368"/>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Supposons qu’on ait un jeu de données sur 1000 fruits. </a:t>
            </a:r>
          </a:p>
          <a:p>
            <a:pPr lvl="0">
              <a:buFont typeface="Wingdings" panose="05000000000000000000" pitchFamily="2" charset="2"/>
              <a:buChar char="§"/>
            </a:pPr>
            <a:r>
              <a:rPr lang="fr-FR" sz="2000" dirty="0"/>
              <a:t>On dispose de trois types : Banane, Orange, et “autre”. </a:t>
            </a:r>
          </a:p>
          <a:p>
            <a:pPr lvl="0">
              <a:buFont typeface="Wingdings" panose="05000000000000000000" pitchFamily="2" charset="2"/>
              <a:buChar char="§"/>
            </a:pPr>
            <a:r>
              <a:rPr lang="fr-FR" sz="2000" dirty="0"/>
              <a:t>Pour chaque fruit, on a 3 caractéristiques :</a:t>
            </a:r>
          </a:p>
          <a:p>
            <a:pPr lvl="1">
              <a:buClr>
                <a:schemeClr val="accent4"/>
              </a:buClr>
              <a:buFont typeface="Arial" panose="020B0604020202020204" pitchFamily="34" charset="0"/>
              <a:buChar char="•"/>
            </a:pPr>
            <a:r>
              <a:rPr lang="fr-FR" sz="2000" dirty="0"/>
              <a:t>Si le fruit est </a:t>
            </a:r>
            <a:r>
              <a:rPr lang="fr-FR" sz="2000" b="1" dirty="0"/>
              <a:t>long</a:t>
            </a:r>
            <a:r>
              <a:rPr lang="fr-FR" sz="2000" dirty="0"/>
              <a:t> ou non</a:t>
            </a:r>
          </a:p>
          <a:p>
            <a:pPr lvl="1">
              <a:buClr>
                <a:schemeClr val="accent4"/>
              </a:buClr>
              <a:buFont typeface="Arial" panose="020B0604020202020204" pitchFamily="34" charset="0"/>
              <a:buChar char="•"/>
            </a:pPr>
            <a:r>
              <a:rPr lang="fr-FR" sz="2000" dirty="0"/>
              <a:t>S’il est </a:t>
            </a:r>
            <a:r>
              <a:rPr lang="fr-FR" sz="2000" b="1" dirty="0"/>
              <a:t>sucré</a:t>
            </a:r>
            <a:r>
              <a:rPr lang="fr-FR" sz="2000" dirty="0"/>
              <a:t> ou non</a:t>
            </a:r>
          </a:p>
          <a:p>
            <a:pPr lvl="1">
              <a:buClr>
                <a:schemeClr val="accent4"/>
              </a:buClr>
              <a:buFont typeface="Arial" panose="020B0604020202020204" pitchFamily="34" charset="0"/>
              <a:buChar char="•"/>
            </a:pPr>
            <a:r>
              <a:rPr lang="fr-FR" sz="2000" dirty="0"/>
              <a:t>Si sa couleur est </a:t>
            </a:r>
            <a:r>
              <a:rPr lang="fr-FR" sz="2000" b="1" dirty="0"/>
              <a:t>jaune</a:t>
            </a:r>
            <a:r>
              <a:rPr lang="fr-FR" sz="2000" dirty="0"/>
              <a:t> ou non</a:t>
            </a:r>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114</a:t>
            </a:fld>
            <a:endParaRPr/>
          </a:p>
        </p:txBody>
      </p:sp>
    </p:spTree>
    <p:extLst>
      <p:ext uri="{BB962C8B-B14F-4D97-AF65-F5344CB8AC3E}">
        <p14:creationId xmlns="" xmlns:p14="http://schemas.microsoft.com/office/powerpoint/2010/main" val="316831474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115</a:t>
            </a:fld>
            <a:endParaRPr/>
          </a:p>
        </p:txBody>
      </p:sp>
      <mc:AlternateContent xmlns:mc="http://schemas.openxmlformats.org/markup-compatibility/2006">
        <mc:Choice xmlns="" xmlns:a14="http://schemas.microsoft.com/office/drawing/2010/main" Requires="a14">
          <p:graphicFrame>
            <p:nvGraphicFramePr>
              <p:cNvPr id="8" name="Google Shape;628;p25">
                <a:extLst>
                  <a:ext uri="{FF2B5EF4-FFF2-40B4-BE49-F238E27FC236}">
                    <a16:creationId xmlns:a16="http://schemas.microsoft.com/office/drawing/2014/main" id="{4ED906F1-682A-45CA-A51D-24F945B51842}"/>
                  </a:ext>
                </a:extLst>
              </p:cNvPr>
              <p:cNvGraphicFramePr/>
              <p:nvPr>
                <p:extLst>
                  <p:ext uri="{D42A27DB-BD31-4B8C-83A1-F6EECF244321}">
                    <p14:modId xmlns:p14="http://schemas.microsoft.com/office/powerpoint/2010/main" val="2415880807"/>
                  </p:ext>
                </p:extLst>
              </p:nvPr>
            </p:nvGraphicFramePr>
            <p:xfrm>
              <a:off x="827584" y="1608071"/>
              <a:ext cx="7843200" cy="3088351"/>
            </p:xfrm>
            <a:graphic>
              <a:graphicData uri="http://schemas.openxmlformats.org/drawingml/2006/table">
                <a:tbl>
                  <a:tblPr>
                    <a:noFill/>
                    <a:tableStyleId>{D7AEECF4-432E-4D26-AA6D-92A1E89D1F9B}</a:tableStyleId>
                  </a:tblPr>
                  <a:tblGrid>
                    <a:gridCol w="1112377">
                      <a:extLst>
                        <a:ext uri="{9D8B030D-6E8A-4147-A177-3AD203B41FA5}">
                          <a16:colId xmlns:a16="http://schemas.microsoft.com/office/drawing/2014/main" val="20000"/>
                        </a:ext>
                      </a:extLst>
                    </a:gridCol>
                    <a:gridCol w="848423">
                      <a:extLst>
                        <a:ext uri="{9D8B030D-6E8A-4147-A177-3AD203B41FA5}">
                          <a16:colId xmlns:a16="http://schemas.microsoft.com/office/drawing/2014/main" val="20001"/>
                        </a:ext>
                      </a:extLst>
                    </a:gridCol>
                    <a:gridCol w="980400">
                      <a:extLst>
                        <a:ext uri="{9D8B030D-6E8A-4147-A177-3AD203B41FA5}">
                          <a16:colId xmlns:a16="http://schemas.microsoft.com/office/drawing/2014/main" val="4153596674"/>
                        </a:ext>
                      </a:extLst>
                    </a:gridCol>
                    <a:gridCol w="980400">
                      <a:extLst>
                        <a:ext uri="{9D8B030D-6E8A-4147-A177-3AD203B41FA5}">
                          <a16:colId xmlns:a16="http://schemas.microsoft.com/office/drawing/2014/main" val="3050101062"/>
                        </a:ext>
                      </a:extLst>
                    </a:gridCol>
                    <a:gridCol w="980400">
                      <a:extLst>
                        <a:ext uri="{9D8B030D-6E8A-4147-A177-3AD203B41FA5}">
                          <a16:colId xmlns:a16="http://schemas.microsoft.com/office/drawing/2014/main" val="3874979006"/>
                        </a:ext>
                      </a:extLst>
                    </a:gridCol>
                    <a:gridCol w="980400">
                      <a:extLst>
                        <a:ext uri="{9D8B030D-6E8A-4147-A177-3AD203B41FA5}">
                          <a16:colId xmlns:a16="http://schemas.microsoft.com/office/drawing/2014/main" val="2549367410"/>
                        </a:ext>
                      </a:extLst>
                    </a:gridCol>
                    <a:gridCol w="980400">
                      <a:extLst>
                        <a:ext uri="{9D8B030D-6E8A-4147-A177-3AD203B41FA5}">
                          <a16:colId xmlns:a16="http://schemas.microsoft.com/office/drawing/2014/main" val="1945310939"/>
                        </a:ext>
                      </a:extLst>
                    </a:gridCol>
                    <a:gridCol w="980400">
                      <a:extLst>
                        <a:ext uri="{9D8B030D-6E8A-4147-A177-3AD203B41FA5}">
                          <a16:colId xmlns:a16="http://schemas.microsoft.com/office/drawing/2014/main" val="3834629081"/>
                        </a:ext>
                      </a:extLst>
                    </a:gridCol>
                  </a:tblGrid>
                  <a:tr h="671418">
                    <a:tc>
                      <a:txBody>
                        <a:bodyPr/>
                        <a:lstStyle/>
                        <a:p>
                          <a:pPr marL="0" lvl="0" indent="0" algn="ctr" rtl="0">
                            <a:spcBef>
                              <a:spcPts val="0"/>
                            </a:spcBef>
                            <a:spcAft>
                              <a:spcPts val="0"/>
                            </a:spcAft>
                            <a:buNone/>
                          </a:pPr>
                          <a:r>
                            <a:rPr lang="fr-FR" sz="1800" b="1" i="0" u="none" strike="noStrike" cap="none" dirty="0">
                              <a:solidFill>
                                <a:schemeClr val="accent1"/>
                              </a:solidFill>
                              <a:latin typeface="Barlow Light"/>
                              <a:ea typeface="Barlow Light"/>
                              <a:cs typeface="Arial"/>
                              <a:sym typeface="Barlow Light"/>
                            </a:rPr>
                            <a:t>Type</a:t>
                          </a:r>
                          <a:endParaRPr sz="1800" b="1" i="0" u="none" strike="noStrike" cap="none" dirty="0">
                            <a:solidFill>
                              <a:schemeClr val="accent1"/>
                            </a:solidFill>
                            <a:latin typeface="Barlow Light"/>
                            <a:ea typeface="Barlow Light"/>
                            <a:cs typeface="Arial"/>
                            <a:sym typeface="Barlow Light"/>
                          </a:endParaRPr>
                        </a:p>
                      </a:txBody>
                      <a:tcPr marL="91425" marR="91425" marT="68575" marB="68575"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b="1" i="0" u="none" strike="noStrike" cap="none" dirty="0">
                              <a:solidFill>
                                <a:schemeClr val="accent1"/>
                              </a:solidFill>
                              <a:latin typeface="Barlow Light"/>
                              <a:sym typeface="Arial"/>
                            </a:rPr>
                            <a:t>Long</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fr-FR" sz="1800" b="1" i="0" u="none" strike="noStrike" cap="none" smtClean="0">
                                    <a:solidFill>
                                      <a:schemeClr val="accent1"/>
                                    </a:solidFill>
                                    <a:latin typeface="Cambria Math" panose="02040503050406030204" pitchFamily="18" charset="0"/>
                                    <a:ea typeface="Cambria Math" panose="02040503050406030204" pitchFamily="18" charset="0"/>
                                    <a:sym typeface="Arial"/>
                                  </a:rPr>
                                  <m:t>¬</m:t>
                                </m:r>
                                <m:r>
                                  <a:rPr lang="fr-FR" sz="1800" b="1" i="0" u="none" strike="noStrike" cap="none" smtClean="0">
                                    <a:solidFill>
                                      <a:schemeClr val="accent1"/>
                                    </a:solidFill>
                                    <a:latin typeface="Cambria Math" panose="02040503050406030204" pitchFamily="18" charset="0"/>
                                    <a:ea typeface="Cambria Math" panose="02040503050406030204" pitchFamily="18" charset="0"/>
                                    <a:sym typeface="Arial"/>
                                  </a:rPr>
                                  <m:t>𝐋𝐨𝐧𝐠</m:t>
                                </m:r>
                              </m:oMath>
                            </m:oMathPara>
                          </a14:m>
                          <a:endParaRPr lang="fr-FR" sz="1800" b="1" i="0" u="none" strike="noStrike" cap="none" dirty="0">
                            <a:solidFill>
                              <a:schemeClr val="accent1"/>
                            </a:solidFill>
                            <a:latin typeface="Barlow Light"/>
                            <a:sym typeface="Arial"/>
                          </a:endParaRP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b="1" i="0" u="none" strike="noStrike" cap="none" dirty="0">
                              <a:solidFill>
                                <a:schemeClr val="accent1"/>
                              </a:solidFill>
                              <a:latin typeface="Barlow Light"/>
                              <a:sym typeface="Arial"/>
                            </a:rPr>
                            <a:t>Sucré</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14:m>
                            <m:oMath xmlns:m="http://schemas.openxmlformats.org/officeDocument/2006/math">
                              <m:r>
                                <a:rPr lang="fr-FR" sz="1800" b="1" i="0" u="none" strike="noStrike" cap="none" smtClean="0">
                                  <a:solidFill>
                                    <a:schemeClr val="accent1"/>
                                  </a:solidFill>
                                  <a:latin typeface="Cambria Math" panose="02040503050406030204" pitchFamily="18" charset="0"/>
                                  <a:ea typeface="Cambria Math" panose="02040503050406030204" pitchFamily="18" charset="0"/>
                                  <a:sym typeface="Arial"/>
                                </a:rPr>
                                <m:t>¬</m:t>
                              </m:r>
                              <m:r>
                                <a:rPr lang="fr-FR" sz="1800" b="1" i="0" u="none" strike="noStrike" cap="none" smtClean="0">
                                  <a:solidFill>
                                    <a:schemeClr val="accent1"/>
                                  </a:solidFill>
                                  <a:latin typeface="Cambria Math" panose="02040503050406030204" pitchFamily="18" charset="0"/>
                                  <a:ea typeface="Cambria Math" panose="02040503050406030204" pitchFamily="18" charset="0"/>
                                  <a:sym typeface="Arial"/>
                                </a:rPr>
                                <m:t>𝐒𝐮𝐜𝐫</m:t>
                              </m:r>
                            </m:oMath>
                          </a14:m>
                          <a:r>
                            <a:rPr lang="fr-FR" sz="1800" b="1" i="0" u="none" strike="noStrike" cap="none" dirty="0">
                              <a:solidFill>
                                <a:schemeClr val="accent1"/>
                              </a:solidFill>
                              <a:latin typeface="Barlow Light"/>
                              <a:sym typeface="Arial"/>
                            </a:rPr>
                            <a:t>é</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Jaune</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b="1" i="0" u="none" strike="noStrike" cap="none" dirty="0">
                              <a:solidFill>
                                <a:schemeClr val="accent1"/>
                              </a:solidFill>
                              <a:latin typeface="Barlow Light"/>
                              <a:sym typeface="Arial"/>
                            </a:rPr>
                            <a:t>Pas jaune</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b="1" i="0" u="none" strike="noStrike" cap="none" dirty="0">
                              <a:solidFill>
                                <a:schemeClr val="accent1"/>
                              </a:solidFill>
                              <a:latin typeface="Barlow Light"/>
                              <a:sym typeface="Arial"/>
                            </a:rPr>
                            <a:t>Total</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5683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Banane</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400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350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450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500</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60427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Orange</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300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300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300</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604273">
                    <a:tc>
                      <a:txBody>
                        <a:bodyPr/>
                        <a:lstStyle/>
                        <a:p>
                          <a:r>
                            <a:rPr lang="fr-FR" sz="1800" b="1" i="0" u="none" strike="noStrike" cap="none" dirty="0">
                              <a:solidFill>
                                <a:schemeClr val="accent1"/>
                              </a:solidFill>
                              <a:latin typeface="Barlow Light"/>
                              <a:sym typeface="Arial"/>
                            </a:rPr>
                            <a:t>Autre fruit</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200</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3963550826"/>
                      </a:ext>
                    </a:extLst>
                  </a:tr>
                  <a:tr h="60427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Total</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500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500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650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350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800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200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1000</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a16="http://schemas.microsoft.com/office/drawing/2014/main" val="2074135"/>
                      </a:ext>
                    </a:extLst>
                  </a:tr>
                </a:tbl>
              </a:graphicData>
            </a:graphic>
          </p:graphicFrame>
        </mc:Choice>
        <mc:Fallback>
          <p:graphicFrame>
            <p:nvGraphicFramePr>
              <p:cNvPr id="8" name="Google Shape;628;p25">
                <a:extLst>
                  <a:ext uri="{FF2B5EF4-FFF2-40B4-BE49-F238E27FC236}">
                    <a16:creationId xmlns:a14="http://schemas.microsoft.com/office/drawing/2010/main" xmlns="" xmlns:a16="http://schemas.microsoft.com/office/drawing/2014/main" id="{4ED906F1-682A-45CA-A51D-24F945B51842}"/>
                  </a:ext>
                </a:extLst>
              </p:cNvPr>
              <p:cNvGraphicFramePr/>
              <p:nvPr>
                <p:extLst>
                  <p:ext uri="{D42A27DB-BD31-4B8C-83A1-F6EECF244321}">
                    <p14:modId xmlns:a14="http://schemas.microsoft.com/office/drawing/2010/main" xmlns="" xmlns:p14="http://schemas.microsoft.com/office/powerpoint/2010/main" val="2415880807"/>
                  </p:ext>
                </p:extLst>
              </p:nvPr>
            </p:nvGraphicFramePr>
            <p:xfrm>
              <a:off x="827584" y="1608071"/>
              <a:ext cx="7843200" cy="3088351"/>
            </p:xfrm>
            <a:graphic>
              <a:graphicData uri="http://schemas.openxmlformats.org/drawingml/2006/table">
                <a:tbl>
                  <a:tblPr>
                    <a:noFill/>
                    <a:tableStyleId>{D7AEECF4-432E-4D26-AA6D-92A1E89D1F9B}</a:tableStyleId>
                  </a:tblPr>
                  <a:tblGrid>
                    <a:gridCol w="1112377">
                      <a:extLst>
                        <a:ext uri="{9D8B030D-6E8A-4147-A177-3AD203B41FA5}">
                          <a16:colId xmlns:a14="http://schemas.microsoft.com/office/drawing/2010/main" xmlns="" xmlns:a16="http://schemas.microsoft.com/office/drawing/2014/main" val="20000"/>
                        </a:ext>
                      </a:extLst>
                    </a:gridCol>
                    <a:gridCol w="848423">
                      <a:extLst>
                        <a:ext uri="{9D8B030D-6E8A-4147-A177-3AD203B41FA5}">
                          <a16:colId xmlns:a14="http://schemas.microsoft.com/office/drawing/2010/main" xmlns="" xmlns:a16="http://schemas.microsoft.com/office/drawing/2014/main" val="20001"/>
                        </a:ext>
                      </a:extLst>
                    </a:gridCol>
                    <a:gridCol w="980400">
                      <a:extLst>
                        <a:ext uri="{9D8B030D-6E8A-4147-A177-3AD203B41FA5}">
                          <a16:colId xmlns:a14="http://schemas.microsoft.com/office/drawing/2010/main" xmlns="" xmlns:a16="http://schemas.microsoft.com/office/drawing/2014/main" val="4153596674"/>
                        </a:ext>
                      </a:extLst>
                    </a:gridCol>
                    <a:gridCol w="980400">
                      <a:extLst>
                        <a:ext uri="{9D8B030D-6E8A-4147-A177-3AD203B41FA5}">
                          <a16:colId xmlns:a14="http://schemas.microsoft.com/office/drawing/2010/main" xmlns="" xmlns:a16="http://schemas.microsoft.com/office/drawing/2014/main" val="3050101062"/>
                        </a:ext>
                      </a:extLst>
                    </a:gridCol>
                    <a:gridCol w="980400">
                      <a:extLst>
                        <a:ext uri="{9D8B030D-6E8A-4147-A177-3AD203B41FA5}">
                          <a16:colId xmlns:a14="http://schemas.microsoft.com/office/drawing/2010/main" xmlns="" xmlns:a16="http://schemas.microsoft.com/office/drawing/2014/main" val="3874979006"/>
                        </a:ext>
                      </a:extLst>
                    </a:gridCol>
                    <a:gridCol w="980400">
                      <a:extLst>
                        <a:ext uri="{9D8B030D-6E8A-4147-A177-3AD203B41FA5}">
                          <a16:colId xmlns:a14="http://schemas.microsoft.com/office/drawing/2010/main" xmlns="" xmlns:a16="http://schemas.microsoft.com/office/drawing/2014/main" val="2549367410"/>
                        </a:ext>
                      </a:extLst>
                    </a:gridCol>
                    <a:gridCol w="980400">
                      <a:extLst>
                        <a:ext uri="{9D8B030D-6E8A-4147-A177-3AD203B41FA5}">
                          <a16:colId xmlns:a14="http://schemas.microsoft.com/office/drawing/2010/main" xmlns="" xmlns:a16="http://schemas.microsoft.com/office/drawing/2014/main" val="1945310939"/>
                        </a:ext>
                      </a:extLst>
                    </a:gridCol>
                    <a:gridCol w="980400">
                      <a:extLst>
                        <a:ext uri="{9D8B030D-6E8A-4147-A177-3AD203B41FA5}">
                          <a16:colId xmlns:a14="http://schemas.microsoft.com/office/drawing/2010/main" xmlns="" xmlns:a16="http://schemas.microsoft.com/office/drawing/2014/main" val="3834629081"/>
                        </a:ext>
                      </a:extLst>
                    </a:gridCol>
                  </a:tblGrid>
                  <a:tr h="671418">
                    <a:tc>
                      <a:txBody>
                        <a:bodyPr/>
                        <a:lstStyle/>
                        <a:p>
                          <a:pPr marL="0" lvl="0" indent="0" algn="ctr" rtl="0">
                            <a:spcBef>
                              <a:spcPts val="0"/>
                            </a:spcBef>
                            <a:spcAft>
                              <a:spcPts val="0"/>
                            </a:spcAft>
                            <a:buNone/>
                          </a:pPr>
                          <a:r>
                            <a:rPr lang="fr-FR" sz="1800" b="1" i="0" u="none" strike="noStrike" cap="none" dirty="0">
                              <a:solidFill>
                                <a:schemeClr val="accent1"/>
                              </a:solidFill>
                              <a:latin typeface="Barlow Light"/>
                              <a:ea typeface="Barlow Light"/>
                              <a:cs typeface="Arial"/>
                              <a:sym typeface="Barlow Light"/>
                            </a:rPr>
                            <a:t>Type</a:t>
                          </a:r>
                          <a:endParaRPr sz="1800" b="1" i="0" u="none" strike="noStrike" cap="none" dirty="0">
                            <a:solidFill>
                              <a:schemeClr val="accent1"/>
                            </a:solidFill>
                            <a:latin typeface="Barlow Light"/>
                            <a:ea typeface="Barlow Light"/>
                            <a:cs typeface="Arial"/>
                            <a:sym typeface="Barlow Light"/>
                          </a:endParaRPr>
                        </a:p>
                      </a:txBody>
                      <a:tcPr marL="91425" marR="91425" marT="68575" marB="68575"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b="1" i="0" u="none" strike="noStrike" cap="none" dirty="0">
                              <a:solidFill>
                                <a:schemeClr val="accent1"/>
                              </a:solidFill>
                              <a:latin typeface="Barlow Light"/>
                              <a:sym typeface="Arial"/>
                            </a:rPr>
                            <a:t>Long</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endParaRPr lang="fr-F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blipFill>
                          <a:blip r:embed="rId3"/>
                          <a:stretch>
                            <a:fillRect l="-201863" t="-2727" r="-503727" b="-367273"/>
                          </a:stretch>
                        </a:blipFill>
                      </a:tcPr>
                    </a:tc>
                    <a:tc>
                      <a:txBody>
                        <a:bodyPr/>
                        <a:lstStyle/>
                        <a:p>
                          <a:r>
                            <a:rPr lang="fr-FR" sz="1800" b="1" i="0" u="none" strike="noStrike" cap="none" dirty="0">
                              <a:solidFill>
                                <a:schemeClr val="accent1"/>
                              </a:solidFill>
                              <a:latin typeface="Barlow Light"/>
                              <a:sym typeface="Arial"/>
                            </a:rPr>
                            <a:t>Sucré</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endParaRPr lang="fr-F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blipFill>
                          <a:blip r:embed="rId3"/>
                          <a:stretch>
                            <a:fillRect l="-401863" t="-2727" r="-303727" b="-367273"/>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Jaune</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b="1" i="0" u="none" strike="noStrike" cap="none" dirty="0">
                              <a:solidFill>
                                <a:schemeClr val="accent1"/>
                              </a:solidFill>
                              <a:latin typeface="Barlow Light"/>
                              <a:sym typeface="Arial"/>
                            </a:rPr>
                            <a:t>Pas jaune</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b="1" i="0" u="none" strike="noStrike" cap="none" dirty="0">
                              <a:solidFill>
                                <a:schemeClr val="accent1"/>
                              </a:solidFill>
                              <a:latin typeface="Barlow Light"/>
                              <a:sym typeface="Arial"/>
                            </a:rPr>
                            <a:t>Total</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4="http://schemas.microsoft.com/office/drawing/2010/main" xmlns="" xmlns:a16="http://schemas.microsoft.com/office/drawing/2014/main" val="10000"/>
                      </a:ext>
                    </a:extLst>
                  </a:tr>
                  <a:tr h="5683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Banane</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400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350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450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500</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4="http://schemas.microsoft.com/office/drawing/2010/main" xmlns="" xmlns:a16="http://schemas.microsoft.com/office/drawing/2014/main" val="10001"/>
                      </a:ext>
                    </a:extLst>
                  </a:tr>
                  <a:tr h="60427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Orange</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300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300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300</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4="http://schemas.microsoft.com/office/drawing/2010/main" xmlns="" xmlns:a16="http://schemas.microsoft.com/office/drawing/2014/main" val="10002"/>
                      </a:ext>
                    </a:extLst>
                  </a:tr>
                  <a:tr h="640080">
                    <a:tc>
                      <a:txBody>
                        <a:bodyPr/>
                        <a:lstStyle/>
                        <a:p>
                          <a:r>
                            <a:rPr lang="fr-FR" sz="1800" b="1" i="0" u="none" strike="noStrike" cap="none" dirty="0">
                              <a:solidFill>
                                <a:schemeClr val="accent1"/>
                              </a:solidFill>
                              <a:latin typeface="Barlow Light"/>
                              <a:sym typeface="Arial"/>
                            </a:rPr>
                            <a:t>Autre fruit</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200</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4="http://schemas.microsoft.com/office/drawing/2010/main" xmlns="" xmlns:a16="http://schemas.microsoft.com/office/drawing/2014/main" val="3963550826"/>
                      </a:ext>
                    </a:extLst>
                  </a:tr>
                  <a:tr h="60427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Total</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500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500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650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350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800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200</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1000</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a14="http://schemas.microsoft.com/office/drawing/2010/main" xmlns="" xmlns:a16="http://schemas.microsoft.com/office/drawing/2014/main" val="2074135"/>
                      </a:ext>
                    </a:extLst>
                  </a:tr>
                </a:tbl>
              </a:graphicData>
            </a:graphic>
          </p:graphicFrame>
        </mc:Fallback>
      </mc:AlternateContent>
    </p:spTree>
    <p:extLst>
      <p:ext uri="{BB962C8B-B14F-4D97-AF65-F5344CB8AC3E}">
        <p14:creationId xmlns="" xmlns:p14="http://schemas.microsoft.com/office/powerpoint/2010/main" val="15222916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116</a:t>
            </a:fld>
            <a:endParaRPr/>
          </a:p>
        </p:txBody>
      </p:sp>
      <mc:AlternateContent xmlns:mc="http://schemas.openxmlformats.org/markup-compatibility/2006">
        <mc:Choice xmlns="" xmlns:a14="http://schemas.microsoft.com/office/drawing/2010/main" Requires="a14">
          <p:graphicFrame>
            <p:nvGraphicFramePr>
              <p:cNvPr id="8" name="Google Shape;628;p25">
                <a:extLst>
                  <a:ext uri="{FF2B5EF4-FFF2-40B4-BE49-F238E27FC236}">
                    <a16:creationId xmlns:a16="http://schemas.microsoft.com/office/drawing/2014/main" id="{4ED906F1-682A-45CA-A51D-24F945B51842}"/>
                  </a:ext>
                </a:extLst>
              </p:cNvPr>
              <p:cNvGraphicFramePr/>
              <p:nvPr>
                <p:extLst>
                  <p:ext uri="{D42A27DB-BD31-4B8C-83A1-F6EECF244321}">
                    <p14:modId xmlns:p14="http://schemas.microsoft.com/office/powerpoint/2010/main" val="1355676279"/>
                  </p:ext>
                </p:extLst>
              </p:nvPr>
            </p:nvGraphicFramePr>
            <p:xfrm>
              <a:off x="827584" y="1608071"/>
              <a:ext cx="6840761" cy="2448271"/>
            </p:xfrm>
            <a:graphic>
              <a:graphicData uri="http://schemas.openxmlformats.org/drawingml/2006/table">
                <a:tbl>
                  <a:tblPr>
                    <a:noFill/>
                    <a:tableStyleId>{D7AEECF4-432E-4D26-AA6D-92A1E89D1F9B}</a:tableStyleId>
                  </a:tblPr>
                  <a:tblGrid>
                    <a:gridCol w="1293605">
                      <a:extLst>
                        <a:ext uri="{9D8B030D-6E8A-4147-A177-3AD203B41FA5}">
                          <a16:colId xmlns:a16="http://schemas.microsoft.com/office/drawing/2014/main" val="20000"/>
                        </a:ext>
                      </a:extLst>
                    </a:gridCol>
                    <a:gridCol w="986648">
                      <a:extLst>
                        <a:ext uri="{9D8B030D-6E8A-4147-A177-3AD203B41FA5}">
                          <a16:colId xmlns:a16="http://schemas.microsoft.com/office/drawing/2014/main" val="20001"/>
                        </a:ext>
                      </a:extLst>
                    </a:gridCol>
                    <a:gridCol w="1140127">
                      <a:extLst>
                        <a:ext uri="{9D8B030D-6E8A-4147-A177-3AD203B41FA5}">
                          <a16:colId xmlns:a16="http://schemas.microsoft.com/office/drawing/2014/main" val="4153596674"/>
                        </a:ext>
                      </a:extLst>
                    </a:gridCol>
                    <a:gridCol w="1140127">
                      <a:extLst>
                        <a:ext uri="{9D8B030D-6E8A-4147-A177-3AD203B41FA5}">
                          <a16:colId xmlns:a16="http://schemas.microsoft.com/office/drawing/2014/main" val="3050101062"/>
                        </a:ext>
                      </a:extLst>
                    </a:gridCol>
                    <a:gridCol w="1140127">
                      <a:extLst>
                        <a:ext uri="{9D8B030D-6E8A-4147-A177-3AD203B41FA5}">
                          <a16:colId xmlns:a16="http://schemas.microsoft.com/office/drawing/2014/main" val="3874979006"/>
                        </a:ext>
                      </a:extLst>
                    </a:gridCol>
                    <a:gridCol w="1140127">
                      <a:extLst>
                        <a:ext uri="{9D8B030D-6E8A-4147-A177-3AD203B41FA5}">
                          <a16:colId xmlns:a16="http://schemas.microsoft.com/office/drawing/2014/main" val="3834629081"/>
                        </a:ext>
                      </a:extLst>
                    </a:gridCol>
                  </a:tblGrid>
                  <a:tr h="671418">
                    <a:tc>
                      <a:txBody>
                        <a:bodyPr/>
                        <a:lstStyle/>
                        <a:p>
                          <a:pPr marL="0" lvl="0" indent="0" algn="ctr" rtl="0">
                            <a:spcBef>
                              <a:spcPts val="0"/>
                            </a:spcBef>
                            <a:spcAft>
                              <a:spcPts val="0"/>
                            </a:spcAft>
                            <a:buNone/>
                          </a:pPr>
                          <a:r>
                            <a:rPr lang="fr-FR" sz="1800" b="1" i="0" u="none" strike="noStrike" cap="none" dirty="0">
                              <a:solidFill>
                                <a:schemeClr val="accent1"/>
                              </a:solidFill>
                              <a:latin typeface="Barlow Light"/>
                              <a:ea typeface="Barlow Light"/>
                              <a:cs typeface="Arial"/>
                              <a:sym typeface="Barlow Light"/>
                            </a:rPr>
                            <a:t>Type</a:t>
                          </a:r>
                          <a:endParaRPr sz="1800" b="1" i="0" u="none" strike="noStrike" cap="none" dirty="0">
                            <a:solidFill>
                              <a:schemeClr val="accent1"/>
                            </a:solidFill>
                            <a:latin typeface="Barlow Light"/>
                            <a:ea typeface="Barlow Light"/>
                            <a:cs typeface="Arial"/>
                            <a:sym typeface="Barlow Light"/>
                          </a:endParaRPr>
                        </a:p>
                      </a:txBody>
                      <a:tcPr marL="91425" marR="91425" marT="68575" marB="68575"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b="1" i="0" u="none" strike="noStrike" cap="none" dirty="0">
                              <a:solidFill>
                                <a:schemeClr val="accent1"/>
                              </a:solidFill>
                              <a:latin typeface="Barlow Light"/>
                              <a:sym typeface="Arial"/>
                            </a:rPr>
                            <a:t>Marié</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fr-FR" sz="1800" b="1" i="0" u="none" strike="noStrike" cap="none" smtClean="0">
                                    <a:solidFill>
                                      <a:schemeClr val="accent1"/>
                                    </a:solidFill>
                                    <a:latin typeface="Cambria Math" panose="02040503050406030204" pitchFamily="18" charset="0"/>
                                    <a:ea typeface="Cambria Math" panose="02040503050406030204" pitchFamily="18" charset="0"/>
                                    <a:sym typeface="Arial"/>
                                  </a:rPr>
                                  <m:t>¬</m:t>
                                </m:r>
                                <m:r>
                                  <a:rPr lang="fr-FR" sz="1800" b="1" i="0" u="none" strike="noStrike" cap="none" smtClean="0">
                                    <a:solidFill>
                                      <a:schemeClr val="accent1"/>
                                    </a:solidFill>
                                    <a:latin typeface="Cambria Math" panose="02040503050406030204" pitchFamily="18" charset="0"/>
                                    <a:ea typeface="Cambria Math" panose="02040503050406030204" pitchFamily="18" charset="0"/>
                                    <a:sym typeface="Arial"/>
                                  </a:rPr>
                                  <m:t>𝐌𝐚𝐫𝐢</m:t>
                                </m:r>
                                <m:r>
                                  <a:rPr lang="fr-FR" sz="1800" b="1" i="0" u="none" strike="noStrike" cap="none" smtClean="0">
                                    <a:solidFill>
                                      <a:schemeClr val="accent1"/>
                                    </a:solidFill>
                                    <a:latin typeface="Cambria Math" panose="02040503050406030204" pitchFamily="18" charset="0"/>
                                    <a:ea typeface="Cambria Math" panose="02040503050406030204" pitchFamily="18" charset="0"/>
                                    <a:sym typeface="Arial"/>
                                  </a:rPr>
                                  <m:t>é</m:t>
                                </m:r>
                              </m:oMath>
                            </m:oMathPara>
                          </a14:m>
                          <a:endParaRPr lang="fr-FR" sz="1800" b="1" i="0" u="none" strike="noStrike" cap="none" dirty="0">
                            <a:solidFill>
                              <a:schemeClr val="accent1"/>
                            </a:solidFill>
                            <a:latin typeface="Barlow Light"/>
                            <a:sym typeface="Arial"/>
                          </a:endParaRP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b="1" i="0" u="none" strike="noStrike" cap="none" dirty="0" err="1">
                              <a:solidFill>
                                <a:schemeClr val="accent1"/>
                              </a:solidFill>
                              <a:latin typeface="Barlow Light"/>
                              <a:sym typeface="Arial"/>
                            </a:rPr>
                            <a:t>Etu</a:t>
                          </a:r>
                          <a:endParaRPr lang="fr-FR" sz="1800" b="1" i="0" u="none" strike="noStrike" cap="none" dirty="0">
                            <a:solidFill>
                              <a:schemeClr val="accent1"/>
                            </a:solidFill>
                            <a:latin typeface="Barlow Light"/>
                            <a:sym typeface="Arial"/>
                          </a:endParaRP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a14:m>
                            <m:oMathPara xmlns:m="http://schemas.openxmlformats.org/officeDocument/2006/math">
                              <m:oMathParaPr>
                                <m:jc m:val="centerGroup"/>
                              </m:oMathParaPr>
                              <m:oMath xmlns:m="http://schemas.openxmlformats.org/officeDocument/2006/math">
                                <m:r>
                                  <a:rPr lang="fr-FR" sz="1800" b="1" i="0" u="none" strike="noStrike" cap="none" smtClean="0">
                                    <a:solidFill>
                                      <a:schemeClr val="accent1"/>
                                    </a:solidFill>
                                    <a:latin typeface="Cambria Math" panose="02040503050406030204" pitchFamily="18" charset="0"/>
                                    <a:ea typeface="Cambria Math" panose="02040503050406030204" pitchFamily="18" charset="0"/>
                                    <a:sym typeface="Arial"/>
                                  </a:rPr>
                                  <m:t>¬</m:t>
                                </m:r>
                                <m:r>
                                  <a:rPr lang="fr-FR" sz="1800" b="1" i="0" u="none" strike="noStrike" cap="none" smtClean="0">
                                    <a:solidFill>
                                      <a:schemeClr val="accent1"/>
                                    </a:solidFill>
                                    <a:latin typeface="Cambria Math" panose="02040503050406030204" pitchFamily="18" charset="0"/>
                                    <a:ea typeface="Cambria Math" panose="02040503050406030204" pitchFamily="18" charset="0"/>
                                    <a:sym typeface="Arial"/>
                                  </a:rPr>
                                  <m:t>𝐄𝐭𝐮</m:t>
                                </m:r>
                              </m:oMath>
                            </m:oMathPara>
                          </a14:m>
                          <a:endParaRPr lang="fr-FR" sz="1800" b="1" i="0" u="none" strike="noStrike" cap="none" dirty="0">
                            <a:solidFill>
                              <a:schemeClr val="accent1"/>
                            </a:solidFill>
                            <a:latin typeface="Barlow Light"/>
                            <a:sym typeface="Arial"/>
                          </a:endParaRP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b="1" i="0" u="none" strike="noStrike" cap="none" dirty="0">
                              <a:solidFill>
                                <a:schemeClr val="accent1"/>
                              </a:solidFill>
                              <a:latin typeface="Barlow Light"/>
                              <a:sym typeface="Arial"/>
                            </a:rPr>
                            <a:t>Total</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5683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Présent</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2</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4</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3</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3</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6</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60427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Absent</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2</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2</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3</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4</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60427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Total</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4</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6</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6</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4</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10</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a16="http://schemas.microsoft.com/office/drawing/2014/main" val="2074135"/>
                      </a:ext>
                    </a:extLst>
                  </a:tr>
                </a:tbl>
              </a:graphicData>
            </a:graphic>
          </p:graphicFrame>
        </mc:Choice>
        <mc:Fallback>
          <p:graphicFrame>
            <p:nvGraphicFramePr>
              <p:cNvPr id="8" name="Google Shape;628;p25">
                <a:extLst>
                  <a:ext uri="{FF2B5EF4-FFF2-40B4-BE49-F238E27FC236}">
                    <a16:creationId xmlns:a14="http://schemas.microsoft.com/office/drawing/2010/main" xmlns="" xmlns:a16="http://schemas.microsoft.com/office/drawing/2014/main" id="{4ED906F1-682A-45CA-A51D-24F945B51842}"/>
                  </a:ext>
                </a:extLst>
              </p:cNvPr>
              <p:cNvGraphicFramePr/>
              <p:nvPr>
                <p:extLst>
                  <p:ext uri="{D42A27DB-BD31-4B8C-83A1-F6EECF244321}">
                    <p14:modId xmlns:a14="http://schemas.microsoft.com/office/drawing/2010/main" xmlns="" xmlns:p14="http://schemas.microsoft.com/office/powerpoint/2010/main" val="1355676279"/>
                  </p:ext>
                </p:extLst>
              </p:nvPr>
            </p:nvGraphicFramePr>
            <p:xfrm>
              <a:off x="827584" y="1608071"/>
              <a:ext cx="6840761" cy="2448271"/>
            </p:xfrm>
            <a:graphic>
              <a:graphicData uri="http://schemas.openxmlformats.org/drawingml/2006/table">
                <a:tbl>
                  <a:tblPr>
                    <a:noFill/>
                    <a:tableStyleId>{D7AEECF4-432E-4D26-AA6D-92A1E89D1F9B}</a:tableStyleId>
                  </a:tblPr>
                  <a:tblGrid>
                    <a:gridCol w="1293605">
                      <a:extLst>
                        <a:ext uri="{9D8B030D-6E8A-4147-A177-3AD203B41FA5}">
                          <a16:colId xmlns:a14="http://schemas.microsoft.com/office/drawing/2010/main" xmlns="" xmlns:a16="http://schemas.microsoft.com/office/drawing/2014/main" val="20000"/>
                        </a:ext>
                      </a:extLst>
                    </a:gridCol>
                    <a:gridCol w="986648">
                      <a:extLst>
                        <a:ext uri="{9D8B030D-6E8A-4147-A177-3AD203B41FA5}">
                          <a16:colId xmlns:a14="http://schemas.microsoft.com/office/drawing/2010/main" xmlns="" xmlns:a16="http://schemas.microsoft.com/office/drawing/2014/main" val="20001"/>
                        </a:ext>
                      </a:extLst>
                    </a:gridCol>
                    <a:gridCol w="1140127">
                      <a:extLst>
                        <a:ext uri="{9D8B030D-6E8A-4147-A177-3AD203B41FA5}">
                          <a16:colId xmlns:a14="http://schemas.microsoft.com/office/drawing/2010/main" xmlns="" xmlns:a16="http://schemas.microsoft.com/office/drawing/2014/main" val="4153596674"/>
                        </a:ext>
                      </a:extLst>
                    </a:gridCol>
                    <a:gridCol w="1140127">
                      <a:extLst>
                        <a:ext uri="{9D8B030D-6E8A-4147-A177-3AD203B41FA5}">
                          <a16:colId xmlns:a14="http://schemas.microsoft.com/office/drawing/2010/main" xmlns="" xmlns:a16="http://schemas.microsoft.com/office/drawing/2014/main" val="3050101062"/>
                        </a:ext>
                      </a:extLst>
                    </a:gridCol>
                    <a:gridCol w="1140127">
                      <a:extLst>
                        <a:ext uri="{9D8B030D-6E8A-4147-A177-3AD203B41FA5}">
                          <a16:colId xmlns:a14="http://schemas.microsoft.com/office/drawing/2010/main" xmlns="" xmlns:a16="http://schemas.microsoft.com/office/drawing/2014/main" val="3874979006"/>
                        </a:ext>
                      </a:extLst>
                    </a:gridCol>
                    <a:gridCol w="1140127">
                      <a:extLst>
                        <a:ext uri="{9D8B030D-6E8A-4147-A177-3AD203B41FA5}">
                          <a16:colId xmlns:a14="http://schemas.microsoft.com/office/drawing/2010/main" xmlns="" xmlns:a16="http://schemas.microsoft.com/office/drawing/2014/main" val="3834629081"/>
                        </a:ext>
                      </a:extLst>
                    </a:gridCol>
                  </a:tblGrid>
                  <a:tr h="671418">
                    <a:tc>
                      <a:txBody>
                        <a:bodyPr/>
                        <a:lstStyle/>
                        <a:p>
                          <a:pPr marL="0" lvl="0" indent="0" algn="ctr" rtl="0">
                            <a:spcBef>
                              <a:spcPts val="0"/>
                            </a:spcBef>
                            <a:spcAft>
                              <a:spcPts val="0"/>
                            </a:spcAft>
                            <a:buNone/>
                          </a:pPr>
                          <a:r>
                            <a:rPr lang="fr-FR" sz="1800" b="1" i="0" u="none" strike="noStrike" cap="none" dirty="0">
                              <a:solidFill>
                                <a:schemeClr val="accent1"/>
                              </a:solidFill>
                              <a:latin typeface="Barlow Light"/>
                              <a:ea typeface="Barlow Light"/>
                              <a:cs typeface="Arial"/>
                              <a:sym typeface="Barlow Light"/>
                            </a:rPr>
                            <a:t>Type</a:t>
                          </a:r>
                          <a:endParaRPr sz="1800" b="1" i="0" u="none" strike="noStrike" cap="none" dirty="0">
                            <a:solidFill>
                              <a:schemeClr val="accent1"/>
                            </a:solidFill>
                            <a:latin typeface="Barlow Light"/>
                            <a:ea typeface="Barlow Light"/>
                            <a:cs typeface="Arial"/>
                            <a:sym typeface="Barlow Light"/>
                          </a:endParaRPr>
                        </a:p>
                      </a:txBody>
                      <a:tcPr marL="91425" marR="91425" marT="68575" marB="68575"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b="1" i="0" u="none" strike="noStrike" cap="none" dirty="0">
                              <a:solidFill>
                                <a:schemeClr val="accent1"/>
                              </a:solidFill>
                              <a:latin typeface="Barlow Light"/>
                              <a:sym typeface="Arial"/>
                            </a:rPr>
                            <a:t>Marié</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endParaRPr lang="fr-F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blipFill>
                          <a:blip r:embed="rId3"/>
                          <a:stretch>
                            <a:fillRect l="-201604" t="-2703" r="-304278" b="-268468"/>
                          </a:stretch>
                        </a:blipFill>
                      </a:tcPr>
                    </a:tc>
                    <a:tc>
                      <a:txBody>
                        <a:bodyPr/>
                        <a:lstStyle/>
                        <a:p>
                          <a:r>
                            <a:rPr lang="fr-FR" sz="1800" b="1" i="0" u="none" strike="noStrike" cap="none" dirty="0" err="1">
                              <a:solidFill>
                                <a:schemeClr val="accent1"/>
                              </a:solidFill>
                              <a:latin typeface="Barlow Light"/>
                              <a:sym typeface="Arial"/>
                            </a:rPr>
                            <a:t>Etu</a:t>
                          </a:r>
                          <a:endParaRPr lang="fr-FR" sz="1800" b="1" i="0" u="none" strike="noStrike" cap="none" dirty="0">
                            <a:solidFill>
                              <a:schemeClr val="accent1"/>
                            </a:solidFill>
                            <a:latin typeface="Barlow Light"/>
                            <a:sym typeface="Arial"/>
                          </a:endParaRP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endParaRPr lang="fr-F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blipFill>
                          <a:blip r:embed="rId3"/>
                          <a:stretch>
                            <a:fillRect l="-402139" t="-2703" r="-103743" b="-268468"/>
                          </a:stretch>
                        </a:blipFill>
                      </a:tcPr>
                    </a:tc>
                    <a:tc>
                      <a:txBody>
                        <a:bodyPr/>
                        <a:lstStyle/>
                        <a:p>
                          <a:r>
                            <a:rPr lang="fr-FR" sz="1800" b="1" i="0" u="none" strike="noStrike" cap="none" dirty="0">
                              <a:solidFill>
                                <a:schemeClr val="accent1"/>
                              </a:solidFill>
                              <a:latin typeface="Barlow Light"/>
                              <a:sym typeface="Arial"/>
                            </a:rPr>
                            <a:t>Total</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4="http://schemas.microsoft.com/office/drawing/2010/main" xmlns="" xmlns:a16="http://schemas.microsoft.com/office/drawing/2014/main" val="10000"/>
                      </a:ext>
                    </a:extLst>
                  </a:tr>
                  <a:tr h="5683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Présent</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2</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4</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3</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3</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6</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4="http://schemas.microsoft.com/office/drawing/2010/main" xmlns="" xmlns:a16="http://schemas.microsoft.com/office/drawing/2014/main" val="10001"/>
                      </a:ext>
                    </a:extLst>
                  </a:tr>
                  <a:tr h="60427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Absent</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2</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2</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3</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1</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r>
                            <a:rPr lang="fr-FR" sz="1800" dirty="0">
                              <a:latin typeface="Barlow Light" panose="020B0604020202020204" charset="0"/>
                            </a:rPr>
                            <a:t>4</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4="http://schemas.microsoft.com/office/drawing/2010/main" xmlns="" xmlns:a16="http://schemas.microsoft.com/office/drawing/2014/main" val="10002"/>
                      </a:ext>
                    </a:extLst>
                  </a:tr>
                  <a:tr h="60427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800" b="1" i="0" u="none" strike="noStrike" cap="none" dirty="0">
                              <a:solidFill>
                                <a:schemeClr val="accent1"/>
                              </a:solidFill>
                              <a:latin typeface="Barlow Light"/>
                              <a:sym typeface="Arial"/>
                            </a:rPr>
                            <a:t>Total</a:t>
                          </a:r>
                        </a:p>
                      </a:txBody>
                      <a:tcPr anchor="ctr">
                        <a:lnL w="38100" cap="flat" cmpd="sng">
                          <a:solidFill>
                            <a:schemeClr val="dk1"/>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4</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6</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6</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4</a:t>
                          </a:r>
                        </a:p>
                      </a:txBody>
                      <a:tcPr anchor="ctr">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r>
                            <a:rPr lang="fr-FR" sz="1800" dirty="0">
                              <a:latin typeface="Barlow Light" panose="020B0604020202020204" charset="0"/>
                            </a:rPr>
                            <a:t>10</a:t>
                          </a:r>
                        </a:p>
                      </a:txBody>
                      <a:tcPr anchor="ctr">
                        <a:lnL w="9525" cap="flat" cmpd="sng" algn="ctr">
                          <a:solidFill>
                            <a:schemeClr val="lt2"/>
                          </a:solidFill>
                          <a:prstDash val="solid"/>
                          <a:round/>
                          <a:headEnd type="none" w="sm" len="sm"/>
                          <a:tailEnd type="none" w="sm" len="sm"/>
                        </a:lnL>
                        <a:lnR w="38100" cap="flat" cmpd="sng">
                          <a:solidFill>
                            <a:schemeClr val="dk1"/>
                          </a:solidFill>
                          <a:prstDash val="solid"/>
                          <a:round/>
                          <a:headEnd type="none" w="sm" len="sm"/>
                          <a:tailEnd type="none" w="sm" len="sm"/>
                        </a:lnR>
                        <a:lnT w="9525" cap="flat" cmpd="sng" algn="ctr">
                          <a:solidFill>
                            <a:schemeClr val="lt2"/>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a14="http://schemas.microsoft.com/office/drawing/2010/main" xmlns="" xmlns:a16="http://schemas.microsoft.com/office/drawing/2014/main" val="2074135"/>
                      </a:ext>
                    </a:extLst>
                  </a:tr>
                </a:tbl>
              </a:graphicData>
            </a:graphic>
          </p:graphicFrame>
        </mc:Fallback>
      </mc:AlternateContent>
    </p:spTree>
    <p:extLst>
      <p:ext uri="{BB962C8B-B14F-4D97-AF65-F5344CB8AC3E}">
        <p14:creationId xmlns="" xmlns:p14="http://schemas.microsoft.com/office/powerpoint/2010/main" val="221417991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p:sp>
        <p:nvSpPr>
          <p:cNvPr id="551" name="Google Shape;551;p18"/>
          <p:cNvSpPr txBox="1">
            <a:spLocks noGrp="1"/>
          </p:cNvSpPr>
          <p:nvPr>
            <p:ph type="body" idx="1"/>
          </p:nvPr>
        </p:nvSpPr>
        <p:spPr>
          <a:xfrm>
            <a:off x="971600" y="1635646"/>
            <a:ext cx="7532654" cy="3456384"/>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b="1" u="sng" dirty="0">
                <a:effectLst>
                  <a:outerShdw blurRad="38100" dist="38100" dir="2700000" algn="tl">
                    <a:srgbClr val="000000">
                      <a:alpha val="43137"/>
                    </a:srgbClr>
                  </a:outerShdw>
                </a:effectLst>
              </a:rPr>
              <a:t>Idée:</a:t>
            </a:r>
            <a:r>
              <a:rPr lang="fr-FR" sz="2000" dirty="0"/>
              <a:t>  prédire le type d’un fruit (orange, banane ou autre) qu’on n’a pas encore vu. Ceci en se basant sur ses caractéristiques.</a:t>
            </a:r>
          </a:p>
          <a:p>
            <a:pPr>
              <a:buFont typeface="Wingdings" panose="05000000000000000000" pitchFamily="2" charset="2"/>
              <a:buChar char="§"/>
            </a:pPr>
            <a:r>
              <a:rPr lang="fr-FR" sz="2000" b="1" u="sng" dirty="0">
                <a:effectLst>
                  <a:outerShdw blurRad="38100" dist="38100" dir="2700000" algn="tl">
                    <a:srgbClr val="000000">
                      <a:alpha val="43137"/>
                    </a:srgbClr>
                  </a:outerShdw>
                </a:effectLst>
              </a:rPr>
              <a:t>Exemple:</a:t>
            </a:r>
            <a:r>
              <a:rPr lang="fr-FR" sz="2000" dirty="0"/>
              <a:t>  donner le type d’un fruit qui a les caractéristiques suivantes :</a:t>
            </a:r>
          </a:p>
          <a:p>
            <a:pPr lvl="1">
              <a:buClr>
                <a:schemeClr val="accent4"/>
              </a:buClr>
              <a:buFont typeface="Arial" panose="020B0604020202020204" pitchFamily="34" charset="0"/>
              <a:buChar char="•"/>
            </a:pPr>
            <a:r>
              <a:rPr lang="fr-FR" sz="2000" dirty="0"/>
              <a:t>    Il est jaune</a:t>
            </a:r>
          </a:p>
          <a:p>
            <a:pPr lvl="1">
              <a:buClr>
                <a:schemeClr val="accent4"/>
              </a:buClr>
              <a:buFont typeface="Arial" panose="020B0604020202020204" pitchFamily="34" charset="0"/>
              <a:buChar char="•"/>
            </a:pPr>
            <a:r>
              <a:rPr lang="fr-FR" sz="2000" dirty="0"/>
              <a:t>    Il est long</a:t>
            </a:r>
          </a:p>
          <a:p>
            <a:pPr lvl="1">
              <a:buClr>
                <a:schemeClr val="accent4"/>
              </a:buClr>
              <a:buFont typeface="Arial" panose="020B0604020202020204" pitchFamily="34" charset="0"/>
              <a:buChar char="•"/>
            </a:pPr>
            <a:r>
              <a:rPr lang="fr-FR" sz="2000" dirty="0"/>
              <a:t>    Il est sucré</a:t>
            </a:r>
          </a:p>
          <a:p>
            <a:pPr>
              <a:buFont typeface="Wingdings" panose="05000000000000000000" pitchFamily="2" charset="2"/>
              <a:buChar char="§"/>
            </a:pPr>
            <a:endParaRPr lang="fr-FR" sz="2000" dirty="0"/>
          </a:p>
          <a:p>
            <a:pPr lvl="0">
              <a:buFont typeface="Wingdings" panose="05000000000000000000" pitchFamily="2" charset="2"/>
              <a:buChar char="§"/>
            </a:pPr>
            <a:endParaRPr lang="fr-FR" sz="2000"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117</a:t>
            </a:fld>
            <a:endParaRPr/>
          </a:p>
        </p:txBody>
      </p:sp>
    </p:spTree>
    <p:extLst>
      <p:ext uri="{BB962C8B-B14F-4D97-AF65-F5344CB8AC3E}">
        <p14:creationId xmlns="" xmlns:p14="http://schemas.microsoft.com/office/powerpoint/2010/main" val="312949425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1043608" y="1635646"/>
                <a:ext cx="7460646"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1800" dirty="0"/>
                  <a:t>Pour savoir s’il s’agit d’une banane, ou d’une orange ou d’un autre fruit, il faut qu’on calcule les trois probabilités suivantes:</a:t>
                </a:r>
              </a:p>
              <a:p>
                <a:pPr marL="990600" lvl="1" indent="-457200">
                  <a:buClr>
                    <a:schemeClr val="accent4"/>
                  </a:buClr>
                  <a:buFont typeface="+mj-lt"/>
                  <a:buAutoNum type="arabicPeriod"/>
                </a:pPr>
                <a14:m>
                  <m:oMath xmlns:m="http://schemas.openxmlformats.org/officeDocument/2006/math">
                    <m:r>
                      <a:rPr lang="fr-FR" sz="1800" i="1" u="sng" smtClean="0">
                        <a:solidFill>
                          <a:schemeClr val="accent6">
                            <a:lumMod val="50000"/>
                          </a:schemeClr>
                        </a:solidFill>
                        <a:latin typeface="Cambria Math" panose="02040503050406030204" pitchFamily="18" charset="0"/>
                      </a:rPr>
                      <m:t>𝑃</m:t>
                    </m:r>
                    <m:d>
                      <m:dPr>
                        <m:ctrlPr>
                          <a:rPr lang="fr-FR" sz="1800" i="1" u="sng" smtClean="0">
                            <a:solidFill>
                              <a:schemeClr val="accent6">
                                <a:lumMod val="50000"/>
                              </a:schemeClr>
                            </a:solidFill>
                            <a:latin typeface="Cambria Math" panose="02040503050406030204" pitchFamily="18" charset="0"/>
                          </a:rPr>
                        </m:ctrlPr>
                      </m:dPr>
                      <m:e>
                        <m:r>
                          <a:rPr lang="fr-FR" sz="1800" i="1" u="sng">
                            <a:solidFill>
                              <a:schemeClr val="accent6">
                                <a:lumMod val="50000"/>
                              </a:schemeClr>
                            </a:solidFill>
                            <a:latin typeface="Cambria Math" panose="02040503050406030204" pitchFamily="18" charset="0"/>
                          </a:rPr>
                          <m:t>𝐵</m:t>
                        </m:r>
                        <m:r>
                          <a:rPr lang="fr-FR" sz="1800" b="0" i="1" u="sng" smtClean="0">
                            <a:solidFill>
                              <a:schemeClr val="accent6">
                                <a:lumMod val="50000"/>
                              </a:schemeClr>
                            </a:solidFill>
                            <a:latin typeface="Cambria Math" panose="02040503050406030204" pitchFamily="18" charset="0"/>
                          </a:rPr>
                          <m:t>𝑎𝑛𝑎𝑛𝑒</m:t>
                        </m:r>
                      </m:e>
                      <m:e>
                        <m:r>
                          <a:rPr lang="fr-FR" sz="1800" b="0" i="1" u="sng" smtClean="0">
                            <a:solidFill>
                              <a:schemeClr val="accent6">
                                <a:lumMod val="50000"/>
                              </a:schemeClr>
                            </a:solidFill>
                            <a:latin typeface="Cambria Math" panose="02040503050406030204" pitchFamily="18" charset="0"/>
                          </a:rPr>
                          <m:t>𝑙𝑜𝑛𝑔</m:t>
                        </m:r>
                        <m:r>
                          <a:rPr lang="fr-FR" sz="1800" b="0" i="1" u="sng" smtClean="0">
                            <a:solidFill>
                              <a:schemeClr val="accent6">
                                <a:lumMod val="50000"/>
                              </a:schemeClr>
                            </a:solidFill>
                            <a:latin typeface="Cambria Math" panose="02040503050406030204" pitchFamily="18" charset="0"/>
                          </a:rPr>
                          <m:t>,</m:t>
                        </m:r>
                        <m:r>
                          <a:rPr lang="fr-FR" sz="1800" b="0" i="1" u="sng" smtClean="0">
                            <a:solidFill>
                              <a:schemeClr val="accent6">
                                <a:lumMod val="50000"/>
                              </a:schemeClr>
                            </a:solidFill>
                            <a:latin typeface="Cambria Math" panose="02040503050406030204" pitchFamily="18" charset="0"/>
                          </a:rPr>
                          <m:t>𝑗𝑎𝑢𝑛𝑒</m:t>
                        </m:r>
                        <m:r>
                          <a:rPr lang="fr-FR" sz="1800" b="0" i="1" u="sng" smtClean="0">
                            <a:solidFill>
                              <a:schemeClr val="accent6">
                                <a:lumMod val="50000"/>
                              </a:schemeClr>
                            </a:solidFill>
                            <a:latin typeface="Cambria Math" panose="02040503050406030204" pitchFamily="18" charset="0"/>
                          </a:rPr>
                          <m:t>,</m:t>
                        </m:r>
                        <m:r>
                          <a:rPr lang="fr-FR" sz="1800" b="0" i="1" u="sng" smtClean="0">
                            <a:solidFill>
                              <a:schemeClr val="accent6">
                                <a:lumMod val="50000"/>
                              </a:schemeClr>
                            </a:solidFill>
                            <a:latin typeface="Cambria Math" panose="02040503050406030204" pitchFamily="18" charset="0"/>
                          </a:rPr>
                          <m:t>𝑠𝑢𝑐𝑟𝑒</m:t>
                        </m:r>
                      </m:e>
                    </m:d>
                    <m:r>
                      <a:rPr lang="fr-FR" sz="1800" b="0" i="1" u="sng" smtClean="0">
                        <a:solidFill>
                          <a:schemeClr val="accent6">
                            <a:lumMod val="50000"/>
                          </a:schemeClr>
                        </a:solidFill>
                        <a:latin typeface="Cambria Math" panose="02040503050406030204" pitchFamily="18" charset="0"/>
                      </a:rPr>
                      <m:t>: </m:t>
                    </m:r>
                  </m:oMath>
                </a14:m>
                <a:r>
                  <a:rPr lang="fr-FR" sz="1800" dirty="0"/>
                  <a:t>La probabilité qu’il s’agisse d’une banane sachant que le fruit est long, jaune et sucré</a:t>
                </a:r>
              </a:p>
              <a:p>
                <a:pPr marL="990600" lvl="1" indent="-457200">
                  <a:buClr>
                    <a:schemeClr val="accent4"/>
                  </a:buClr>
                  <a:buFont typeface="+mj-lt"/>
                  <a:buAutoNum type="arabicPeriod"/>
                </a:pPr>
                <a14:m>
                  <m:oMath xmlns:m="http://schemas.openxmlformats.org/officeDocument/2006/math">
                    <m:r>
                      <a:rPr lang="fr-FR" sz="1800" i="1" u="sng">
                        <a:solidFill>
                          <a:schemeClr val="accent6">
                            <a:lumMod val="50000"/>
                          </a:schemeClr>
                        </a:solidFill>
                        <a:latin typeface="Cambria Math" panose="02040503050406030204" pitchFamily="18" charset="0"/>
                      </a:rPr>
                      <m:t>𝑃</m:t>
                    </m:r>
                    <m:d>
                      <m:dPr>
                        <m:ctrlPr>
                          <a:rPr lang="fr-FR" sz="1800" i="1" u="sng">
                            <a:solidFill>
                              <a:schemeClr val="accent6">
                                <a:lumMod val="50000"/>
                              </a:schemeClr>
                            </a:solidFill>
                            <a:latin typeface="Cambria Math" panose="02040503050406030204" pitchFamily="18" charset="0"/>
                          </a:rPr>
                        </m:ctrlPr>
                      </m:dPr>
                      <m:e>
                        <m:r>
                          <a:rPr lang="fr-FR" sz="1800" b="0" i="1" u="sng" smtClean="0">
                            <a:solidFill>
                              <a:schemeClr val="accent6">
                                <a:lumMod val="50000"/>
                              </a:schemeClr>
                            </a:solidFill>
                            <a:latin typeface="Cambria Math" panose="02040503050406030204" pitchFamily="18" charset="0"/>
                          </a:rPr>
                          <m:t>𝑂𝑟𝑎𝑛𝑔𝑒</m:t>
                        </m:r>
                      </m:e>
                      <m:e>
                        <m:r>
                          <a:rPr lang="fr-FR" sz="1800" i="1" u="sng">
                            <a:solidFill>
                              <a:schemeClr val="accent6">
                                <a:lumMod val="50000"/>
                              </a:schemeClr>
                            </a:solidFill>
                            <a:latin typeface="Cambria Math" panose="02040503050406030204" pitchFamily="18" charset="0"/>
                          </a:rPr>
                          <m:t>𝑙𝑜𝑛𝑔</m:t>
                        </m:r>
                        <m:r>
                          <a:rPr lang="fr-FR" sz="1800" i="1" u="sng">
                            <a:solidFill>
                              <a:schemeClr val="accent6">
                                <a:lumMod val="50000"/>
                              </a:schemeClr>
                            </a:solidFill>
                            <a:latin typeface="Cambria Math" panose="02040503050406030204" pitchFamily="18" charset="0"/>
                          </a:rPr>
                          <m:t>,</m:t>
                        </m:r>
                        <m:r>
                          <a:rPr lang="fr-FR" sz="1800" i="1" u="sng">
                            <a:solidFill>
                              <a:schemeClr val="accent6">
                                <a:lumMod val="50000"/>
                              </a:schemeClr>
                            </a:solidFill>
                            <a:latin typeface="Cambria Math" panose="02040503050406030204" pitchFamily="18" charset="0"/>
                          </a:rPr>
                          <m:t>𝑗𝑎𝑢𝑛𝑒</m:t>
                        </m:r>
                        <m:r>
                          <a:rPr lang="fr-FR" sz="1800" i="1" u="sng">
                            <a:solidFill>
                              <a:schemeClr val="accent6">
                                <a:lumMod val="50000"/>
                              </a:schemeClr>
                            </a:solidFill>
                            <a:latin typeface="Cambria Math" panose="02040503050406030204" pitchFamily="18" charset="0"/>
                          </a:rPr>
                          <m:t>,</m:t>
                        </m:r>
                        <m:r>
                          <a:rPr lang="fr-FR" sz="1800" i="1" u="sng">
                            <a:solidFill>
                              <a:schemeClr val="accent6">
                                <a:lumMod val="50000"/>
                              </a:schemeClr>
                            </a:solidFill>
                            <a:latin typeface="Cambria Math" panose="02040503050406030204" pitchFamily="18" charset="0"/>
                          </a:rPr>
                          <m:t>𝑠𝑢𝑐𝑟𝑒</m:t>
                        </m:r>
                      </m:e>
                    </m:d>
                    <m:r>
                      <a:rPr lang="fr-FR" sz="1800" i="1" u="sng">
                        <a:solidFill>
                          <a:schemeClr val="accent6">
                            <a:lumMod val="50000"/>
                          </a:schemeClr>
                        </a:solidFill>
                        <a:latin typeface="Cambria Math" panose="02040503050406030204" pitchFamily="18" charset="0"/>
                      </a:rPr>
                      <m:t>: </m:t>
                    </m:r>
                  </m:oMath>
                </a14:m>
                <a:r>
                  <a:rPr lang="fr-FR" sz="1800" dirty="0"/>
                  <a:t>La probabilité qu’il s’agisse d’une orange sachant que le fruit est long, jaune et sucré</a:t>
                </a:r>
              </a:p>
              <a:p>
                <a:pPr marL="990600" lvl="1" indent="-457200">
                  <a:buClr>
                    <a:schemeClr val="accent4"/>
                  </a:buClr>
                  <a:buFont typeface="+mj-lt"/>
                  <a:buAutoNum type="arabicPeriod"/>
                </a:pPr>
                <a14:m>
                  <m:oMath xmlns:m="http://schemas.openxmlformats.org/officeDocument/2006/math">
                    <m:r>
                      <a:rPr lang="fr-FR" sz="1800" i="1" u="sng">
                        <a:solidFill>
                          <a:schemeClr val="accent6">
                            <a:lumMod val="50000"/>
                          </a:schemeClr>
                        </a:solidFill>
                        <a:latin typeface="Cambria Math" panose="02040503050406030204" pitchFamily="18" charset="0"/>
                      </a:rPr>
                      <m:t>𝑃</m:t>
                    </m:r>
                    <m:d>
                      <m:dPr>
                        <m:ctrlPr>
                          <a:rPr lang="fr-FR" sz="1800" i="1" u="sng">
                            <a:solidFill>
                              <a:schemeClr val="accent6">
                                <a:lumMod val="50000"/>
                              </a:schemeClr>
                            </a:solidFill>
                            <a:latin typeface="Cambria Math" panose="02040503050406030204" pitchFamily="18" charset="0"/>
                          </a:rPr>
                        </m:ctrlPr>
                      </m:dPr>
                      <m:e>
                        <m:r>
                          <a:rPr lang="fr-FR" sz="1800" b="0" i="1" u="sng" smtClean="0">
                            <a:solidFill>
                              <a:schemeClr val="accent6">
                                <a:lumMod val="50000"/>
                              </a:schemeClr>
                            </a:solidFill>
                            <a:latin typeface="Cambria Math" panose="02040503050406030204" pitchFamily="18" charset="0"/>
                          </a:rPr>
                          <m:t>𝐴𝑢𝑡𝑟𝑒</m:t>
                        </m:r>
                        <m:r>
                          <a:rPr lang="fr-FR" sz="1800" b="0" i="1" u="sng" smtClean="0">
                            <a:solidFill>
                              <a:schemeClr val="accent6">
                                <a:lumMod val="50000"/>
                              </a:schemeClr>
                            </a:solidFill>
                            <a:latin typeface="Cambria Math" panose="02040503050406030204" pitchFamily="18" charset="0"/>
                          </a:rPr>
                          <m:t> </m:t>
                        </m:r>
                        <m:r>
                          <a:rPr lang="fr-FR" sz="1800" b="0" i="1" u="sng" smtClean="0">
                            <a:solidFill>
                              <a:schemeClr val="accent6">
                                <a:lumMod val="50000"/>
                              </a:schemeClr>
                            </a:solidFill>
                            <a:latin typeface="Cambria Math" panose="02040503050406030204" pitchFamily="18" charset="0"/>
                          </a:rPr>
                          <m:t>𝑓𝑟𝑢𝑖𝑡</m:t>
                        </m:r>
                      </m:e>
                      <m:e>
                        <m:r>
                          <a:rPr lang="fr-FR" sz="1800" i="1" u="sng">
                            <a:solidFill>
                              <a:schemeClr val="accent6">
                                <a:lumMod val="50000"/>
                              </a:schemeClr>
                            </a:solidFill>
                            <a:latin typeface="Cambria Math" panose="02040503050406030204" pitchFamily="18" charset="0"/>
                          </a:rPr>
                          <m:t>𝑙𝑜𝑛𝑔</m:t>
                        </m:r>
                        <m:r>
                          <a:rPr lang="fr-FR" sz="1800" i="1" u="sng">
                            <a:solidFill>
                              <a:schemeClr val="accent6">
                                <a:lumMod val="50000"/>
                              </a:schemeClr>
                            </a:solidFill>
                            <a:latin typeface="Cambria Math" panose="02040503050406030204" pitchFamily="18" charset="0"/>
                          </a:rPr>
                          <m:t>,</m:t>
                        </m:r>
                        <m:r>
                          <a:rPr lang="fr-FR" sz="1800" i="1" u="sng">
                            <a:solidFill>
                              <a:schemeClr val="accent6">
                                <a:lumMod val="50000"/>
                              </a:schemeClr>
                            </a:solidFill>
                            <a:latin typeface="Cambria Math" panose="02040503050406030204" pitchFamily="18" charset="0"/>
                          </a:rPr>
                          <m:t>𝑗𝑎𝑢𝑛𝑒</m:t>
                        </m:r>
                        <m:r>
                          <a:rPr lang="fr-FR" sz="1800" i="1" u="sng">
                            <a:solidFill>
                              <a:schemeClr val="accent6">
                                <a:lumMod val="50000"/>
                              </a:schemeClr>
                            </a:solidFill>
                            <a:latin typeface="Cambria Math" panose="02040503050406030204" pitchFamily="18" charset="0"/>
                          </a:rPr>
                          <m:t>,</m:t>
                        </m:r>
                        <m:r>
                          <a:rPr lang="fr-FR" sz="1800" i="1" u="sng">
                            <a:solidFill>
                              <a:schemeClr val="accent6">
                                <a:lumMod val="50000"/>
                              </a:schemeClr>
                            </a:solidFill>
                            <a:latin typeface="Cambria Math" panose="02040503050406030204" pitchFamily="18" charset="0"/>
                          </a:rPr>
                          <m:t>𝑠𝑢𝑐𝑟𝑒</m:t>
                        </m:r>
                      </m:e>
                    </m:d>
                    <m:r>
                      <a:rPr lang="fr-FR" sz="1800" i="1" u="sng">
                        <a:solidFill>
                          <a:schemeClr val="accent6">
                            <a:lumMod val="50000"/>
                          </a:schemeClr>
                        </a:solidFill>
                        <a:latin typeface="Cambria Math" panose="02040503050406030204" pitchFamily="18" charset="0"/>
                      </a:rPr>
                      <m:t>: </m:t>
                    </m:r>
                  </m:oMath>
                </a14:m>
                <a:r>
                  <a:rPr lang="fr-FR" sz="1800" dirty="0"/>
                  <a:t>La probabilité qu’il s’agisse d’un autre fruit sachant que ce dernier est  long, jaune et sucré</a:t>
                </a:r>
              </a:p>
              <a:p>
                <a:pPr lvl="0">
                  <a:buFont typeface="Wingdings" panose="05000000000000000000" pitchFamily="2" charset="2"/>
                  <a:buChar char="§"/>
                </a:pPr>
                <a:endParaRPr lang="fr-FR" sz="18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1043608" y="1635646"/>
                <a:ext cx="7460646" cy="3291830"/>
              </a:xfrm>
              <a:prstGeom prst="rect">
                <a:avLst/>
              </a:prstGeom>
              <a:blipFill>
                <a:blip r:embed="rId3"/>
                <a:stretch>
                  <a:fillRect l="-1225" t="-1481" r="-2369"/>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118</a:t>
            </a:fld>
            <a:endParaRPr/>
          </a:p>
        </p:txBody>
      </p:sp>
    </p:spTree>
    <p:extLst>
      <p:ext uri="{BB962C8B-B14F-4D97-AF65-F5344CB8AC3E}">
        <p14:creationId xmlns="" xmlns:p14="http://schemas.microsoft.com/office/powerpoint/2010/main" val="127355260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1259632" y="1635646"/>
                <a:ext cx="7244622"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Le type du fruit “inconnu” qu’on cherche à classifier sera celui où on a </a:t>
                </a:r>
                <a:r>
                  <a:rPr lang="fr-FR" sz="2000" b="1" dirty="0"/>
                  <a:t>la plus grande probabilité</a:t>
                </a:r>
                <a:r>
                  <a:rPr lang="fr-FR" sz="2000" dirty="0"/>
                  <a:t>.</a:t>
                </a:r>
              </a:p>
              <a:p>
                <a:pPr lvl="0">
                  <a:buFont typeface="Wingdings" panose="05000000000000000000" pitchFamily="2" charset="2"/>
                  <a:buChar char="§"/>
                </a:pPr>
                <a:r>
                  <a:rPr lang="fr-FR" sz="2000" dirty="0"/>
                  <a:t>Selon la formule de Bayes, on a :</a:t>
                </a:r>
              </a:p>
              <a:p>
                <a:pPr lvl="0">
                  <a:buFont typeface="Wingdings" panose="05000000000000000000" pitchFamily="2" charset="2"/>
                  <a:buChar char="§"/>
                </a:pPr>
                <a:endParaRPr lang="fr-FR" sz="2000" dirty="0"/>
              </a:p>
              <a:p>
                <a:pPr marL="76200" indent="0">
                  <a:buNone/>
                </a:pPr>
                <a14:m>
                  <m:oMath xmlns:m="http://schemas.openxmlformats.org/officeDocument/2006/math">
                    <m:r>
                      <a:rPr lang="fr-FR" sz="2000" i="1" smtClean="0">
                        <a:solidFill>
                          <a:schemeClr val="tx1"/>
                        </a:solidFill>
                        <a:latin typeface="Cambria Math" panose="02040503050406030204" pitchFamily="18" charset="0"/>
                      </a:rPr>
                      <m:t>𝑃</m:t>
                    </m:r>
                    <m:d>
                      <m:dPr>
                        <m:ctrlPr>
                          <a:rPr lang="fr-FR" sz="2000" i="1">
                            <a:solidFill>
                              <a:schemeClr val="tx1"/>
                            </a:solidFill>
                            <a:latin typeface="Cambria Math" panose="02040503050406030204" pitchFamily="18" charset="0"/>
                          </a:rPr>
                        </m:ctrlPr>
                      </m:dPr>
                      <m:e>
                        <m:r>
                          <a:rPr lang="fr-FR" sz="2000" i="1">
                            <a:solidFill>
                              <a:schemeClr val="tx1"/>
                            </a:solidFill>
                            <a:latin typeface="Cambria Math" panose="02040503050406030204" pitchFamily="18" charset="0"/>
                          </a:rPr>
                          <m:t>𝐵𝑎𝑛𝑎𝑛𝑒</m:t>
                        </m:r>
                      </m:e>
                      <m:e>
                        <m:r>
                          <a:rPr lang="fr-FR" sz="2000" i="1">
                            <a:solidFill>
                              <a:schemeClr val="tx1"/>
                            </a:solidFill>
                            <a:latin typeface="Cambria Math" panose="02040503050406030204" pitchFamily="18" charset="0"/>
                          </a:rPr>
                          <m:t>𝑙𝑜𝑛𝑔</m:t>
                        </m:r>
                        <m:r>
                          <a:rPr lang="fr-FR" sz="2000" i="1">
                            <a:solidFill>
                              <a:schemeClr val="tx1"/>
                            </a:solidFill>
                            <a:latin typeface="Cambria Math" panose="02040503050406030204" pitchFamily="18" charset="0"/>
                          </a:rPr>
                          <m:t>,</m:t>
                        </m:r>
                        <m:r>
                          <a:rPr lang="fr-FR" sz="2000" i="1">
                            <a:solidFill>
                              <a:schemeClr val="tx1"/>
                            </a:solidFill>
                            <a:latin typeface="Cambria Math" panose="02040503050406030204" pitchFamily="18" charset="0"/>
                          </a:rPr>
                          <m:t>𝑗𝑎𝑢𝑛𝑒</m:t>
                        </m:r>
                        <m:r>
                          <a:rPr lang="fr-FR" sz="2000" i="1">
                            <a:solidFill>
                              <a:schemeClr val="tx1"/>
                            </a:solidFill>
                            <a:latin typeface="Cambria Math" panose="02040503050406030204" pitchFamily="18" charset="0"/>
                          </a:rPr>
                          <m:t>,</m:t>
                        </m:r>
                        <m:r>
                          <a:rPr lang="fr-FR" sz="2000" i="1">
                            <a:solidFill>
                              <a:schemeClr val="tx1"/>
                            </a:solidFill>
                            <a:latin typeface="Cambria Math" panose="02040503050406030204" pitchFamily="18" charset="0"/>
                          </a:rPr>
                          <m:t>𝑠𝑢𝑐𝑟𝑒</m:t>
                        </m:r>
                      </m:e>
                    </m:d>
                    <m:r>
                      <a:rPr lang="fr-FR" sz="2000" b="0" i="1" smtClean="0">
                        <a:latin typeface="Cambria Math" panose="02040503050406030204" pitchFamily="18" charset="0"/>
                      </a:rPr>
                      <m:t>= </m:t>
                    </m:r>
                    <m:f>
                      <m:fPr>
                        <m:ctrlPr>
                          <a:rPr lang="fr-FR" sz="2000" b="0" i="1" smtClean="0">
                            <a:latin typeface="Cambria Math" panose="02040503050406030204" pitchFamily="18" charset="0"/>
                          </a:rPr>
                        </m:ctrlPr>
                      </m:fPr>
                      <m:num>
                        <m:r>
                          <a:rPr lang="fr-FR" sz="2000" b="0" i="1" smtClean="0">
                            <a:latin typeface="Cambria Math" panose="02040503050406030204" pitchFamily="18" charset="0"/>
                          </a:rPr>
                          <m:t>𝑃</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𝐿𝑜𝑛𝑔</m:t>
                            </m:r>
                          </m:e>
                          <m:e>
                            <m:r>
                              <a:rPr lang="fr-FR" sz="2000" b="0" i="1" smtClean="0">
                                <a:latin typeface="Cambria Math" panose="02040503050406030204" pitchFamily="18" charset="0"/>
                              </a:rPr>
                              <m:t>𝐵𝑎𝑛𝑎𝑛𝑒</m:t>
                            </m:r>
                          </m:e>
                        </m:d>
                        <m:r>
                          <a:rPr lang="fr-FR" sz="2000" b="0" i="1" smtClean="0">
                            <a:latin typeface="Cambria Math" panose="02040503050406030204" pitchFamily="18" charset="0"/>
                          </a:rPr>
                          <m:t>∗</m:t>
                        </m:r>
                        <m:r>
                          <a:rPr lang="fr-FR" sz="2000" i="1">
                            <a:latin typeface="Cambria Math" panose="02040503050406030204" pitchFamily="18" charset="0"/>
                          </a:rPr>
                          <m:t>𝑃</m:t>
                        </m:r>
                        <m:d>
                          <m:dPr>
                            <m:ctrlPr>
                              <a:rPr lang="fr-FR" sz="2000" i="1">
                                <a:latin typeface="Cambria Math" panose="02040503050406030204" pitchFamily="18" charset="0"/>
                              </a:rPr>
                            </m:ctrlPr>
                          </m:dPr>
                          <m:e>
                            <m:r>
                              <a:rPr lang="fr-FR" sz="2000" b="0" i="1" smtClean="0">
                                <a:latin typeface="Cambria Math" panose="02040503050406030204" pitchFamily="18" charset="0"/>
                              </a:rPr>
                              <m:t>𝑗𝑎𝑢𝑛𝑒</m:t>
                            </m:r>
                          </m:e>
                          <m:e>
                            <m:r>
                              <a:rPr lang="fr-FR" sz="2000" i="1">
                                <a:latin typeface="Cambria Math" panose="02040503050406030204" pitchFamily="18" charset="0"/>
                              </a:rPr>
                              <m:t>𝐵𝑎𝑛𝑎𝑛𝑒</m:t>
                            </m:r>
                          </m:e>
                        </m:d>
                        <m:r>
                          <a:rPr lang="fr-FR" sz="2000" i="1">
                            <a:latin typeface="Cambria Math" panose="02040503050406030204" pitchFamily="18" charset="0"/>
                          </a:rPr>
                          <m:t>∗</m:t>
                        </m:r>
                        <m:r>
                          <a:rPr lang="fr-FR" sz="2000" i="1">
                            <a:latin typeface="Cambria Math" panose="02040503050406030204" pitchFamily="18" charset="0"/>
                          </a:rPr>
                          <m:t>𝑃</m:t>
                        </m:r>
                        <m:d>
                          <m:dPr>
                            <m:ctrlPr>
                              <a:rPr lang="fr-FR" sz="2000" i="1">
                                <a:latin typeface="Cambria Math" panose="02040503050406030204" pitchFamily="18" charset="0"/>
                              </a:rPr>
                            </m:ctrlPr>
                          </m:dPr>
                          <m:e>
                            <m:r>
                              <a:rPr lang="fr-FR" sz="2000" b="0" i="1" smtClean="0">
                                <a:latin typeface="Cambria Math" panose="02040503050406030204" pitchFamily="18" charset="0"/>
                              </a:rPr>
                              <m:t>𝑠𝑢𝑐𝑟𝑒</m:t>
                            </m:r>
                          </m:e>
                          <m:e>
                            <m:r>
                              <a:rPr lang="fr-FR" sz="2000" i="1">
                                <a:latin typeface="Cambria Math" panose="02040503050406030204" pitchFamily="18" charset="0"/>
                              </a:rPr>
                              <m:t>𝐵𝑎𝑛𝑎𝑛𝑒</m:t>
                            </m:r>
                          </m:e>
                        </m:d>
                        <m:r>
                          <a:rPr lang="fr-FR" sz="2000" i="1">
                            <a:latin typeface="Cambria Math" panose="02040503050406030204" pitchFamily="18" charset="0"/>
                          </a:rPr>
                          <m:t>∗</m:t>
                        </m:r>
                        <m:r>
                          <a:rPr lang="fr-FR" sz="2000" i="1">
                            <a:latin typeface="Cambria Math" panose="02040503050406030204" pitchFamily="18" charset="0"/>
                          </a:rPr>
                          <m:t>𝑃</m:t>
                        </m:r>
                        <m:r>
                          <a:rPr lang="fr-FR" sz="2000" i="1">
                            <a:latin typeface="Cambria Math" panose="02040503050406030204" pitchFamily="18" charset="0"/>
                          </a:rPr>
                          <m:t>(</m:t>
                        </m:r>
                        <m:r>
                          <a:rPr lang="fr-FR" sz="2000" b="0" i="1" smtClean="0">
                            <a:latin typeface="Cambria Math" panose="02040503050406030204" pitchFamily="18" charset="0"/>
                          </a:rPr>
                          <m:t>𝐵𝑎𝑛𝑎𝑛𝑒</m:t>
                        </m:r>
                        <m:r>
                          <a:rPr lang="fr-FR" sz="2000" i="1">
                            <a:latin typeface="Cambria Math" panose="02040503050406030204" pitchFamily="18" charset="0"/>
                          </a:rPr>
                          <m:t>)</m:t>
                        </m:r>
                      </m:num>
                      <m:den>
                        <m:r>
                          <a:rPr lang="fr-FR" sz="2000" b="0" i="1" smtClean="0">
                            <a:latin typeface="Cambria Math" panose="02040503050406030204" pitchFamily="18" charset="0"/>
                          </a:rPr>
                          <m:t>𝑃</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𝑙𝑜𝑛𝑔</m:t>
                            </m:r>
                          </m:e>
                        </m:d>
                        <m:r>
                          <a:rPr lang="fr-FR" sz="2000" i="1">
                            <a:latin typeface="Cambria Math" panose="02040503050406030204" pitchFamily="18" charset="0"/>
                          </a:rPr>
                          <m:t>∗</m:t>
                        </m:r>
                        <m:r>
                          <a:rPr lang="fr-FR" sz="2000" i="1">
                            <a:latin typeface="Cambria Math" panose="02040503050406030204" pitchFamily="18" charset="0"/>
                          </a:rPr>
                          <m:t>𝑃</m:t>
                        </m:r>
                        <m:d>
                          <m:dPr>
                            <m:ctrlPr>
                              <a:rPr lang="fr-FR" sz="2000" i="1" smtClean="0">
                                <a:latin typeface="Cambria Math" panose="02040503050406030204" pitchFamily="18" charset="0"/>
                              </a:rPr>
                            </m:ctrlPr>
                          </m:dPr>
                          <m:e>
                            <m:r>
                              <a:rPr lang="fr-FR" sz="2000" b="0" i="1" smtClean="0">
                                <a:latin typeface="Cambria Math" panose="02040503050406030204" pitchFamily="18" charset="0"/>
                              </a:rPr>
                              <m:t>𝑗𝑎𝑢𝑛𝑒</m:t>
                            </m:r>
                          </m:e>
                        </m:d>
                        <m:r>
                          <a:rPr lang="fr-FR" sz="2000" b="0" i="1" smtClean="0">
                            <a:latin typeface="Cambria Math" panose="02040503050406030204" pitchFamily="18" charset="0"/>
                          </a:rPr>
                          <m:t>∗</m:t>
                        </m:r>
                        <m:r>
                          <a:rPr lang="fr-FR" sz="2000" i="1">
                            <a:latin typeface="Cambria Math" panose="02040503050406030204" pitchFamily="18" charset="0"/>
                          </a:rPr>
                          <m:t>𝑃</m:t>
                        </m:r>
                        <m:r>
                          <a:rPr lang="fr-FR" sz="2000" i="1">
                            <a:latin typeface="Cambria Math" panose="02040503050406030204" pitchFamily="18" charset="0"/>
                          </a:rPr>
                          <m:t>(</m:t>
                        </m:r>
                        <m:r>
                          <a:rPr lang="fr-FR" sz="2000" b="0" i="1" smtClean="0">
                            <a:latin typeface="Cambria Math" panose="02040503050406030204" pitchFamily="18" charset="0"/>
                          </a:rPr>
                          <m:t>𝑠𝑢𝑐𝑟</m:t>
                        </m:r>
                        <m:r>
                          <a:rPr lang="fr-FR" sz="2000" b="0" i="1" smtClean="0">
                            <a:latin typeface="Cambria Math" panose="02040503050406030204" pitchFamily="18" charset="0"/>
                          </a:rPr>
                          <m:t>é)</m:t>
                        </m:r>
                      </m:den>
                    </m:f>
                  </m:oMath>
                </a14:m>
                <a:r>
                  <a:rPr lang="fr-FR" sz="2000" dirty="0"/>
                  <a:t> </a:t>
                </a:r>
              </a:p>
              <a:p>
                <a:pPr lvl="0">
                  <a:buFont typeface="Wingdings" panose="05000000000000000000" pitchFamily="2" charset="2"/>
                  <a:buChar char="§"/>
                </a:pPr>
                <a:endParaRPr lang="fr-FR" sz="20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1259632" y="1635646"/>
                <a:ext cx="7244622" cy="3291830"/>
              </a:xfrm>
              <a:prstGeom prst="rect">
                <a:avLst/>
              </a:prstGeom>
              <a:blipFill>
                <a:blip r:embed="rId3"/>
                <a:stretch>
                  <a:fillRect l="-1347" t="-556" r="-1263"/>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119</a:t>
            </a:fld>
            <a:endParaRPr/>
          </a:p>
        </p:txBody>
      </p:sp>
    </p:spTree>
    <p:extLst>
      <p:ext uri="{BB962C8B-B14F-4D97-AF65-F5344CB8AC3E}">
        <p14:creationId xmlns="" xmlns:p14="http://schemas.microsoft.com/office/powerpoint/2010/main" val="289192817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899592" y="1635646"/>
                <a:ext cx="7704856"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1800" dirty="0"/>
                  <a:t>Avec notre jeu de données, on peut calculer facilement un certain nombre de probabilités :</a:t>
                </a:r>
              </a:p>
              <a:p>
                <a:pPr lvl="1">
                  <a:lnSpc>
                    <a:spcPct val="150000"/>
                  </a:lnSpc>
                  <a:buClr>
                    <a:schemeClr val="accent4"/>
                  </a:buClr>
                  <a:buFont typeface="Wingdings" panose="05000000000000000000" pitchFamily="2" charset="2"/>
                  <a:buChar char="Ø"/>
                </a:pPr>
                <a14:m>
                  <m:oMath xmlns:m="http://schemas.openxmlformats.org/officeDocument/2006/math">
                    <m:r>
                      <a:rPr lang="fr-FR" sz="1800" b="0" i="1" smtClean="0">
                        <a:latin typeface="Cambria Math" panose="02040503050406030204" pitchFamily="18" charset="0"/>
                      </a:rPr>
                      <m:t>𝑃</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𝐵𝑎𝑛𝑎𝑛𝑒</m:t>
                        </m:r>
                      </m:e>
                    </m:d>
                    <m:r>
                      <a:rPr lang="fr-FR" sz="1800" b="0" i="1" smtClean="0">
                        <a:latin typeface="Cambria Math" panose="02040503050406030204" pitchFamily="18" charset="0"/>
                      </a:rPr>
                      <m:t>= </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𝐵𝑎𝑛𝑎𝑛𝑒</m:t>
                            </m:r>
                          </m:e>
                        </m:d>
                      </m:num>
                      <m:den>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m:rPr>
                                <m:sty m:val="p"/>
                              </m:rPr>
                              <a:rPr lang="fr-FR" sz="1800" b="0" i="0" smtClean="0">
                                <a:latin typeface="Cambria Math" panose="02040503050406030204" pitchFamily="18" charset="0"/>
                              </a:rPr>
                              <m:t>Tous</m:t>
                            </m:r>
                            <m:r>
                              <a:rPr lang="fr-FR" sz="1800" b="0" i="0" smtClean="0">
                                <a:latin typeface="Cambria Math" panose="02040503050406030204" pitchFamily="18" charset="0"/>
                              </a:rPr>
                              <m:t> </m:t>
                            </m:r>
                            <m:r>
                              <m:rPr>
                                <m:sty m:val="p"/>
                              </m:rPr>
                              <a:rPr lang="fr-FR" sz="1800" b="0" i="0" smtClean="0">
                                <a:latin typeface="Cambria Math" panose="02040503050406030204" pitchFamily="18" charset="0"/>
                              </a:rPr>
                              <m:t>les</m:t>
                            </m:r>
                            <m:r>
                              <a:rPr lang="fr-FR" sz="1800" b="0" i="0" smtClean="0">
                                <a:latin typeface="Cambria Math" panose="02040503050406030204" pitchFamily="18" charset="0"/>
                              </a:rPr>
                              <m:t> </m:t>
                            </m:r>
                            <m:r>
                              <m:rPr>
                                <m:sty m:val="p"/>
                              </m:rPr>
                              <a:rPr lang="fr-FR" sz="1800" b="0" i="0" smtClean="0">
                                <a:latin typeface="Cambria Math" panose="02040503050406030204" pitchFamily="18" charset="0"/>
                              </a:rPr>
                              <m:t>fruits</m:t>
                            </m:r>
                          </m:e>
                        </m:d>
                      </m:den>
                    </m:f>
                    <m:r>
                      <a:rPr lang="fr-FR" sz="1800" b="0" i="1" smtClean="0">
                        <a:latin typeface="Cambria Math" panose="02040503050406030204" pitchFamily="18" charset="0"/>
                      </a:rPr>
                      <m:t>= </m:t>
                    </m:r>
                    <m:f>
                      <m:fPr>
                        <m:ctrlPr>
                          <a:rPr lang="fr-FR" sz="1800" i="1" smtClean="0">
                            <a:latin typeface="Cambria Math" panose="02040503050406030204" pitchFamily="18" charset="0"/>
                          </a:rPr>
                        </m:ctrlPr>
                      </m:fPr>
                      <m:num>
                        <m:r>
                          <a:rPr lang="fr-FR" sz="1800" b="0" i="1" smtClean="0">
                            <a:latin typeface="Cambria Math" panose="02040503050406030204" pitchFamily="18" charset="0"/>
                          </a:rPr>
                          <m:t>500</m:t>
                        </m:r>
                      </m:num>
                      <m:den>
                        <m:r>
                          <a:rPr lang="fr-FR" sz="1800" b="0" i="1" smtClean="0">
                            <a:latin typeface="Cambria Math" panose="02040503050406030204" pitchFamily="18" charset="0"/>
                          </a:rPr>
                          <m:t>1000</m:t>
                        </m:r>
                      </m:den>
                    </m:f>
                    <m:r>
                      <a:rPr lang="fr-FR" sz="1800" b="0" i="1" smtClean="0">
                        <a:latin typeface="Cambria Math" panose="02040503050406030204" pitchFamily="18" charset="0"/>
                        <a:ea typeface="Cambria Math" panose="02040503050406030204" pitchFamily="18" charset="0"/>
                      </a:rPr>
                      <m:t>=0,5</m:t>
                    </m:r>
                  </m:oMath>
                </a14:m>
                <a:endParaRPr lang="fr-FR" sz="1800" b="0" dirty="0">
                  <a:latin typeface="Barlow Light" panose="020B0604020202020204" charset="0"/>
                  <a:ea typeface="Cambria Math" panose="02040503050406030204" pitchFamily="18" charset="0"/>
                </a:endParaRPr>
              </a:p>
              <a:p>
                <a:pPr lvl="1">
                  <a:lnSpc>
                    <a:spcPct val="150000"/>
                  </a:lnSpc>
                  <a:buClr>
                    <a:schemeClr val="accent4"/>
                  </a:buClr>
                  <a:buFont typeface="Wingdings" panose="05000000000000000000" pitchFamily="2" charset="2"/>
                  <a:buChar char="Ø"/>
                </a:pPr>
                <a14:m>
                  <m:oMath xmlns:m="http://schemas.openxmlformats.org/officeDocument/2006/math">
                    <m:r>
                      <a:rPr lang="fr-FR" sz="1800" b="0" i="1" smtClean="0">
                        <a:latin typeface="Cambria Math" panose="02040503050406030204" pitchFamily="18" charset="0"/>
                      </a:rPr>
                      <m:t>𝑃</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𝑙𝑜𝑛𝑔</m:t>
                        </m:r>
                      </m:e>
                    </m:d>
                    <m:r>
                      <a:rPr lang="fr-FR" sz="1800" b="0" i="1" smtClean="0">
                        <a:latin typeface="Cambria Math" panose="02040503050406030204" pitchFamily="18" charset="0"/>
                      </a:rPr>
                      <m:t>= </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𝑙𝑜𝑛𝑔</m:t>
                            </m:r>
                          </m:e>
                        </m:d>
                      </m:num>
                      <m:den>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m:rPr>
                                <m:sty m:val="p"/>
                              </m:rPr>
                              <a:rPr lang="fr-FR" sz="1800" b="0" i="0" smtClean="0">
                                <a:latin typeface="Cambria Math" panose="02040503050406030204" pitchFamily="18" charset="0"/>
                              </a:rPr>
                              <m:t>Tous</m:t>
                            </m:r>
                            <m:r>
                              <a:rPr lang="fr-FR" sz="1800" b="0" i="0" smtClean="0">
                                <a:latin typeface="Cambria Math" panose="02040503050406030204" pitchFamily="18" charset="0"/>
                              </a:rPr>
                              <m:t> </m:t>
                            </m:r>
                            <m:r>
                              <m:rPr>
                                <m:sty m:val="p"/>
                              </m:rPr>
                              <a:rPr lang="fr-FR" sz="1800" b="0" i="0" smtClean="0">
                                <a:latin typeface="Cambria Math" panose="02040503050406030204" pitchFamily="18" charset="0"/>
                              </a:rPr>
                              <m:t>les</m:t>
                            </m:r>
                            <m:r>
                              <a:rPr lang="fr-FR" sz="1800" b="0" i="0" smtClean="0">
                                <a:latin typeface="Cambria Math" panose="02040503050406030204" pitchFamily="18" charset="0"/>
                              </a:rPr>
                              <m:t> </m:t>
                            </m:r>
                            <m:r>
                              <m:rPr>
                                <m:sty m:val="p"/>
                              </m:rPr>
                              <a:rPr lang="fr-FR" sz="1800" b="0" i="0" smtClean="0">
                                <a:latin typeface="Cambria Math" panose="02040503050406030204" pitchFamily="18" charset="0"/>
                              </a:rPr>
                              <m:t>fruits</m:t>
                            </m:r>
                          </m:e>
                        </m:d>
                      </m:den>
                    </m:f>
                    <m:r>
                      <a:rPr lang="fr-FR" sz="1800" b="0" i="1" smtClean="0">
                        <a:latin typeface="Cambria Math" panose="02040503050406030204" pitchFamily="18" charset="0"/>
                      </a:rPr>
                      <m:t>= </m:t>
                    </m:r>
                    <m:f>
                      <m:fPr>
                        <m:ctrlPr>
                          <a:rPr lang="fr-FR" sz="1800" i="1" smtClean="0">
                            <a:latin typeface="Cambria Math" panose="02040503050406030204" pitchFamily="18" charset="0"/>
                          </a:rPr>
                        </m:ctrlPr>
                      </m:fPr>
                      <m:num>
                        <m:r>
                          <a:rPr lang="fr-FR" sz="1800" b="0" i="1" smtClean="0">
                            <a:latin typeface="Cambria Math" panose="02040503050406030204" pitchFamily="18" charset="0"/>
                          </a:rPr>
                          <m:t>500</m:t>
                        </m:r>
                      </m:num>
                      <m:den>
                        <m:r>
                          <a:rPr lang="fr-FR" sz="1800" b="0" i="1" smtClean="0">
                            <a:latin typeface="Cambria Math" panose="02040503050406030204" pitchFamily="18" charset="0"/>
                          </a:rPr>
                          <m:t>1000</m:t>
                        </m:r>
                      </m:den>
                    </m:f>
                    <m:r>
                      <a:rPr lang="fr-FR" sz="1800" b="0" i="1" smtClean="0">
                        <a:latin typeface="Cambria Math" panose="02040503050406030204" pitchFamily="18" charset="0"/>
                        <a:ea typeface="Cambria Math" panose="02040503050406030204" pitchFamily="18" charset="0"/>
                      </a:rPr>
                      <m:t>=0,5</m:t>
                    </m:r>
                  </m:oMath>
                </a14:m>
                <a:endParaRPr lang="fr-FR" sz="1800" b="0" dirty="0">
                  <a:latin typeface="Barlow Light" panose="020B0604020202020204" charset="0"/>
                  <a:ea typeface="Cambria Math" panose="02040503050406030204" pitchFamily="18" charset="0"/>
                </a:endParaRPr>
              </a:p>
              <a:p>
                <a:pPr lvl="1">
                  <a:lnSpc>
                    <a:spcPct val="150000"/>
                  </a:lnSpc>
                  <a:buClr>
                    <a:schemeClr val="accent4"/>
                  </a:buClr>
                  <a:buFont typeface="Wingdings" panose="05000000000000000000" pitchFamily="2" charset="2"/>
                  <a:buChar char="Ø"/>
                </a:pPr>
                <a14:m>
                  <m:oMath xmlns:m="http://schemas.openxmlformats.org/officeDocument/2006/math">
                    <m:r>
                      <a:rPr lang="fr-FR" sz="1800" b="0" i="1" smtClean="0">
                        <a:latin typeface="Cambria Math" panose="02040503050406030204" pitchFamily="18" charset="0"/>
                      </a:rPr>
                      <m:t>𝑃</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𝑗𝑎𝑢𝑛𝑒</m:t>
                        </m:r>
                      </m:e>
                    </m:d>
                    <m:r>
                      <a:rPr lang="fr-FR" sz="1800" b="0" i="1" smtClean="0">
                        <a:latin typeface="Cambria Math" panose="02040503050406030204" pitchFamily="18" charset="0"/>
                      </a:rPr>
                      <m:t>= </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𝑗𝑎𝑢𝑛𝑒</m:t>
                            </m:r>
                          </m:e>
                        </m:d>
                      </m:num>
                      <m:den>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m:rPr>
                                <m:sty m:val="p"/>
                              </m:rPr>
                              <a:rPr lang="fr-FR" sz="1800" b="0" i="0" smtClean="0">
                                <a:latin typeface="Cambria Math" panose="02040503050406030204" pitchFamily="18" charset="0"/>
                              </a:rPr>
                              <m:t>Tous</m:t>
                            </m:r>
                            <m:r>
                              <a:rPr lang="fr-FR" sz="1800" b="0" i="0" smtClean="0">
                                <a:latin typeface="Cambria Math" panose="02040503050406030204" pitchFamily="18" charset="0"/>
                              </a:rPr>
                              <m:t> </m:t>
                            </m:r>
                            <m:r>
                              <m:rPr>
                                <m:sty m:val="p"/>
                              </m:rPr>
                              <a:rPr lang="fr-FR" sz="1800" b="0" i="0" smtClean="0">
                                <a:latin typeface="Cambria Math" panose="02040503050406030204" pitchFamily="18" charset="0"/>
                              </a:rPr>
                              <m:t>les</m:t>
                            </m:r>
                            <m:r>
                              <a:rPr lang="fr-FR" sz="1800" b="0" i="0" smtClean="0">
                                <a:latin typeface="Cambria Math" panose="02040503050406030204" pitchFamily="18" charset="0"/>
                              </a:rPr>
                              <m:t> </m:t>
                            </m:r>
                            <m:r>
                              <m:rPr>
                                <m:sty m:val="p"/>
                              </m:rPr>
                              <a:rPr lang="fr-FR" sz="1800" b="0" i="0" smtClean="0">
                                <a:latin typeface="Cambria Math" panose="02040503050406030204" pitchFamily="18" charset="0"/>
                              </a:rPr>
                              <m:t>fruits</m:t>
                            </m:r>
                          </m:e>
                        </m:d>
                      </m:den>
                    </m:f>
                    <m:r>
                      <a:rPr lang="fr-FR" sz="1800" b="0" i="1" smtClean="0">
                        <a:latin typeface="Cambria Math" panose="02040503050406030204" pitchFamily="18" charset="0"/>
                      </a:rPr>
                      <m:t>= </m:t>
                    </m:r>
                    <m:f>
                      <m:fPr>
                        <m:ctrlPr>
                          <a:rPr lang="fr-FR" sz="1800" i="1" smtClean="0">
                            <a:latin typeface="Cambria Math" panose="02040503050406030204" pitchFamily="18" charset="0"/>
                          </a:rPr>
                        </m:ctrlPr>
                      </m:fPr>
                      <m:num>
                        <m:r>
                          <a:rPr lang="fr-FR" sz="1800" b="0" i="1" smtClean="0">
                            <a:latin typeface="Cambria Math" panose="02040503050406030204" pitchFamily="18" charset="0"/>
                          </a:rPr>
                          <m:t>650</m:t>
                        </m:r>
                      </m:num>
                      <m:den>
                        <m:r>
                          <a:rPr lang="fr-FR" sz="1800" b="0" i="1" smtClean="0">
                            <a:latin typeface="Cambria Math" panose="02040503050406030204" pitchFamily="18" charset="0"/>
                          </a:rPr>
                          <m:t>1000</m:t>
                        </m:r>
                      </m:den>
                    </m:f>
                    <m:r>
                      <a:rPr lang="fr-FR" sz="1800" b="0" i="1" smtClean="0">
                        <a:latin typeface="Cambria Math" panose="02040503050406030204" pitchFamily="18" charset="0"/>
                        <a:ea typeface="Cambria Math" panose="02040503050406030204" pitchFamily="18" charset="0"/>
                      </a:rPr>
                      <m:t>=0,65</m:t>
                    </m:r>
                  </m:oMath>
                </a14:m>
                <a:endParaRPr lang="fr-FR" sz="1800" b="0" dirty="0">
                  <a:latin typeface="Barlow Light" panose="020B0604020202020204" charset="0"/>
                  <a:ea typeface="Cambria Math" panose="02040503050406030204" pitchFamily="18" charset="0"/>
                </a:endParaRPr>
              </a:p>
              <a:p>
                <a:pPr lvl="1">
                  <a:lnSpc>
                    <a:spcPct val="150000"/>
                  </a:lnSpc>
                  <a:buClr>
                    <a:schemeClr val="accent4"/>
                  </a:buClr>
                  <a:buFont typeface="Wingdings" panose="05000000000000000000" pitchFamily="2" charset="2"/>
                  <a:buChar char="Ø"/>
                </a:pPr>
                <a14:m>
                  <m:oMath xmlns:m="http://schemas.openxmlformats.org/officeDocument/2006/math">
                    <m:r>
                      <a:rPr lang="fr-FR" sz="1800" b="0" i="1" smtClean="0">
                        <a:latin typeface="Cambria Math" panose="02040503050406030204" pitchFamily="18" charset="0"/>
                      </a:rPr>
                      <m:t>𝑃</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𝑠𝑢𝑐𝑟</m:t>
                        </m:r>
                        <m:r>
                          <a:rPr lang="fr-FR" sz="1800" b="0" i="1" smtClean="0">
                            <a:latin typeface="Cambria Math" panose="02040503050406030204" pitchFamily="18" charset="0"/>
                          </a:rPr>
                          <m:t>é</m:t>
                        </m:r>
                      </m:e>
                    </m:d>
                    <m:r>
                      <a:rPr lang="fr-FR" sz="1800" b="0" i="1" smtClean="0">
                        <a:latin typeface="Cambria Math" panose="02040503050406030204" pitchFamily="18" charset="0"/>
                      </a:rPr>
                      <m:t>= </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𝑠𝑢𝑐𝑟</m:t>
                            </m:r>
                            <m:r>
                              <a:rPr lang="fr-FR" sz="1800" b="0" i="1" smtClean="0">
                                <a:latin typeface="Cambria Math" panose="02040503050406030204" pitchFamily="18" charset="0"/>
                              </a:rPr>
                              <m:t>é</m:t>
                            </m:r>
                          </m:e>
                        </m:d>
                      </m:num>
                      <m:den>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m:rPr>
                                <m:sty m:val="p"/>
                              </m:rPr>
                              <a:rPr lang="fr-FR" sz="1800" b="0" i="0" smtClean="0">
                                <a:latin typeface="Cambria Math" panose="02040503050406030204" pitchFamily="18" charset="0"/>
                              </a:rPr>
                              <m:t>Tous</m:t>
                            </m:r>
                            <m:r>
                              <a:rPr lang="fr-FR" sz="1800" b="0" i="0" smtClean="0">
                                <a:latin typeface="Cambria Math" panose="02040503050406030204" pitchFamily="18" charset="0"/>
                              </a:rPr>
                              <m:t> </m:t>
                            </m:r>
                            <m:r>
                              <m:rPr>
                                <m:sty m:val="p"/>
                              </m:rPr>
                              <a:rPr lang="fr-FR" sz="1800" b="0" i="0" smtClean="0">
                                <a:latin typeface="Cambria Math" panose="02040503050406030204" pitchFamily="18" charset="0"/>
                              </a:rPr>
                              <m:t>les</m:t>
                            </m:r>
                            <m:r>
                              <a:rPr lang="fr-FR" sz="1800" b="0" i="0" smtClean="0">
                                <a:latin typeface="Cambria Math" panose="02040503050406030204" pitchFamily="18" charset="0"/>
                              </a:rPr>
                              <m:t> </m:t>
                            </m:r>
                            <m:r>
                              <m:rPr>
                                <m:sty m:val="p"/>
                              </m:rPr>
                              <a:rPr lang="fr-FR" sz="1800" b="0" i="0" smtClean="0">
                                <a:latin typeface="Cambria Math" panose="02040503050406030204" pitchFamily="18" charset="0"/>
                              </a:rPr>
                              <m:t>fruits</m:t>
                            </m:r>
                          </m:e>
                        </m:d>
                      </m:den>
                    </m:f>
                    <m:r>
                      <a:rPr lang="fr-FR" sz="1800" b="0" i="1" smtClean="0">
                        <a:latin typeface="Cambria Math" panose="02040503050406030204" pitchFamily="18" charset="0"/>
                      </a:rPr>
                      <m:t>= </m:t>
                    </m:r>
                    <m:f>
                      <m:fPr>
                        <m:ctrlPr>
                          <a:rPr lang="fr-FR" sz="1800" i="1" smtClean="0">
                            <a:latin typeface="Cambria Math" panose="02040503050406030204" pitchFamily="18" charset="0"/>
                          </a:rPr>
                        </m:ctrlPr>
                      </m:fPr>
                      <m:num>
                        <m:r>
                          <a:rPr lang="fr-FR" sz="1800" b="0" i="1" smtClean="0">
                            <a:latin typeface="Cambria Math" panose="02040503050406030204" pitchFamily="18" charset="0"/>
                          </a:rPr>
                          <m:t>800</m:t>
                        </m:r>
                      </m:num>
                      <m:den>
                        <m:r>
                          <a:rPr lang="fr-FR" sz="1800" b="0" i="1" smtClean="0">
                            <a:latin typeface="Cambria Math" panose="02040503050406030204" pitchFamily="18" charset="0"/>
                          </a:rPr>
                          <m:t>1000</m:t>
                        </m:r>
                      </m:den>
                    </m:f>
                    <m:r>
                      <a:rPr lang="fr-FR" sz="1800" b="0" i="1" smtClean="0">
                        <a:latin typeface="Cambria Math" panose="02040503050406030204" pitchFamily="18" charset="0"/>
                        <a:ea typeface="Cambria Math" panose="02040503050406030204" pitchFamily="18" charset="0"/>
                      </a:rPr>
                      <m:t>=0,8</m:t>
                    </m:r>
                  </m:oMath>
                </a14:m>
                <a:endParaRPr lang="fr-FR" sz="1800" b="0" dirty="0">
                  <a:latin typeface="Barlow Light" panose="020B0604020202020204" charset="0"/>
                  <a:ea typeface="Cambria Math" panose="02040503050406030204" pitchFamily="18" charset="0"/>
                </a:endParaRPr>
              </a:p>
              <a:p>
                <a:pPr lvl="0">
                  <a:buFont typeface="Wingdings" panose="05000000000000000000" pitchFamily="2" charset="2"/>
                  <a:buChar char="§"/>
                </a:pPr>
                <a:endParaRPr lang="fr-FR" sz="18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899592" y="1635646"/>
                <a:ext cx="7704856" cy="3291830"/>
              </a:xfrm>
              <a:prstGeom prst="rect">
                <a:avLst/>
              </a:prstGeom>
              <a:blipFill>
                <a:blip r:embed="rId3"/>
                <a:stretch>
                  <a:fillRect l="-1267" t="-1481" b="-2407"/>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120</a:t>
            </a:fld>
            <a:endParaRPr/>
          </a:p>
        </p:txBody>
      </p:sp>
    </p:spTree>
    <p:extLst>
      <p:ext uri="{BB962C8B-B14F-4D97-AF65-F5344CB8AC3E}">
        <p14:creationId xmlns="" xmlns:p14="http://schemas.microsoft.com/office/powerpoint/2010/main" val="265658591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899592" y="1635646"/>
                <a:ext cx="7704856"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1800" dirty="0"/>
                  <a:t>Calculons </a:t>
                </a:r>
                <a14:m>
                  <m:oMath xmlns:m="http://schemas.openxmlformats.org/officeDocument/2006/math">
                    <m:r>
                      <a:rPr lang="fr-FR" sz="1800" b="1" i="1" smtClean="0">
                        <a:solidFill>
                          <a:schemeClr val="accent6">
                            <a:lumMod val="50000"/>
                          </a:schemeClr>
                        </a:solidFill>
                        <a:latin typeface="Cambria Math" panose="02040503050406030204" pitchFamily="18" charset="0"/>
                      </a:rPr>
                      <m:t>𝑷</m:t>
                    </m:r>
                    <m:d>
                      <m:dPr>
                        <m:ctrlPr>
                          <a:rPr lang="fr-FR" sz="1800" b="1" i="1" smtClean="0">
                            <a:solidFill>
                              <a:schemeClr val="accent6">
                                <a:lumMod val="50000"/>
                              </a:schemeClr>
                            </a:solidFill>
                            <a:latin typeface="Cambria Math" panose="02040503050406030204" pitchFamily="18" charset="0"/>
                          </a:rPr>
                        </m:ctrlPr>
                      </m:dPr>
                      <m:e>
                        <m:r>
                          <a:rPr lang="fr-FR" sz="1800" b="1" i="1" smtClean="0">
                            <a:solidFill>
                              <a:schemeClr val="accent6">
                                <a:lumMod val="50000"/>
                              </a:schemeClr>
                            </a:solidFill>
                            <a:latin typeface="Cambria Math" panose="02040503050406030204" pitchFamily="18" charset="0"/>
                          </a:rPr>
                          <m:t>𝑳𝒐𝒏𝒈</m:t>
                        </m:r>
                        <m:r>
                          <a:rPr lang="fr-FR" sz="1800" b="1" i="1" smtClean="0">
                            <a:solidFill>
                              <a:schemeClr val="accent6">
                                <a:lumMod val="50000"/>
                              </a:schemeClr>
                            </a:solidFill>
                            <a:latin typeface="Cambria Math" panose="02040503050406030204" pitchFamily="18" charset="0"/>
                          </a:rPr>
                          <m:t>|</m:t>
                        </m:r>
                        <m:r>
                          <a:rPr lang="fr-FR" sz="1800" b="1" i="1" smtClean="0">
                            <a:solidFill>
                              <a:schemeClr val="accent6">
                                <a:lumMod val="50000"/>
                              </a:schemeClr>
                            </a:solidFill>
                            <a:latin typeface="Cambria Math" panose="02040503050406030204" pitchFamily="18" charset="0"/>
                          </a:rPr>
                          <m:t>𝑩𝒂𝒏𝒂𝒏𝒆</m:t>
                        </m:r>
                      </m:e>
                    </m:d>
                    <m:r>
                      <a:rPr lang="fr-FR" sz="1800" b="0" i="1" smtClean="0">
                        <a:latin typeface="Cambria Math" panose="02040503050406030204" pitchFamily="18" charset="0"/>
                      </a:rPr>
                      <m:t>:</m:t>
                    </m:r>
                  </m:oMath>
                </a14:m>
                <a:r>
                  <a:rPr lang="fr-FR" sz="1800" dirty="0"/>
                  <a:t> Probabilité que le fruit est long sachant qu’il s’agit d’une banane.</a:t>
                </a:r>
              </a:p>
              <a:p>
                <a:pPr lvl="1">
                  <a:buClr>
                    <a:schemeClr val="accent4"/>
                  </a:buClr>
                  <a:buSzPct val="100000"/>
                  <a:buFont typeface="Wingdings" panose="05000000000000000000" pitchFamily="2" charset="2"/>
                  <a:buChar char="§"/>
                </a:pPr>
                <a14:m>
                  <m:oMath xmlns:m="http://schemas.openxmlformats.org/officeDocument/2006/math">
                    <m:r>
                      <a:rPr lang="fr-FR" sz="1800" b="1" i="1" smtClean="0">
                        <a:solidFill>
                          <a:schemeClr val="accent6">
                            <a:lumMod val="50000"/>
                          </a:schemeClr>
                        </a:solidFill>
                        <a:latin typeface="Cambria Math" panose="02040503050406030204" pitchFamily="18" charset="0"/>
                      </a:rPr>
                      <m:t>𝑷</m:t>
                    </m:r>
                    <m:d>
                      <m:dPr>
                        <m:ctrlPr>
                          <a:rPr lang="fr-FR" sz="1800" b="1" i="1" smtClean="0">
                            <a:solidFill>
                              <a:schemeClr val="accent6">
                                <a:lumMod val="50000"/>
                              </a:schemeClr>
                            </a:solidFill>
                            <a:latin typeface="Cambria Math" panose="02040503050406030204" pitchFamily="18" charset="0"/>
                          </a:rPr>
                        </m:ctrlPr>
                      </m:dPr>
                      <m:e>
                        <m:r>
                          <a:rPr lang="fr-FR" sz="1800" b="1" i="1" smtClean="0">
                            <a:solidFill>
                              <a:schemeClr val="accent6">
                                <a:lumMod val="50000"/>
                              </a:schemeClr>
                            </a:solidFill>
                            <a:latin typeface="Cambria Math" panose="02040503050406030204" pitchFamily="18" charset="0"/>
                          </a:rPr>
                          <m:t>𝑳𝒐𝒏𝒈</m:t>
                        </m:r>
                        <m:r>
                          <a:rPr lang="fr-FR" sz="1800" b="1" i="1" smtClean="0">
                            <a:solidFill>
                              <a:schemeClr val="accent6">
                                <a:lumMod val="50000"/>
                              </a:schemeClr>
                            </a:solidFill>
                            <a:latin typeface="Cambria Math" panose="02040503050406030204" pitchFamily="18" charset="0"/>
                          </a:rPr>
                          <m:t>|</m:t>
                        </m:r>
                        <m:r>
                          <a:rPr lang="fr-FR" sz="1800" b="1" i="1" smtClean="0">
                            <a:solidFill>
                              <a:schemeClr val="accent6">
                                <a:lumMod val="50000"/>
                              </a:schemeClr>
                            </a:solidFill>
                            <a:latin typeface="Cambria Math" panose="02040503050406030204" pitchFamily="18" charset="0"/>
                          </a:rPr>
                          <m:t>𝑩𝒂𝒏𝒂𝒏𝒆</m:t>
                        </m:r>
                      </m:e>
                    </m:d>
                    <m:r>
                      <a:rPr lang="fr-FR" sz="1800" b="0" i="1" smtClean="0">
                        <a:latin typeface="Cambria Math" panose="02040503050406030204" pitchFamily="18" charset="0"/>
                      </a:rPr>
                      <m:t>= </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𝐵𝑎𝑛𝑎𝑛𝑒</m:t>
                            </m:r>
                            <m:r>
                              <a:rPr lang="fr-FR" sz="1800" b="0" i="1" smtClean="0">
                                <a:latin typeface="Cambria Math" panose="02040503050406030204" pitchFamily="18" charset="0"/>
                              </a:rPr>
                              <m:t> </m:t>
                            </m:r>
                            <m:r>
                              <a:rPr lang="fr-FR" sz="1800" b="0" i="1" smtClean="0">
                                <a:latin typeface="Cambria Math" panose="02040503050406030204" pitchFamily="18" charset="0"/>
                              </a:rPr>
                              <m:t>𝐸𝑇</m:t>
                            </m:r>
                            <m:r>
                              <a:rPr lang="fr-FR" sz="1800" b="0" i="1" smtClean="0">
                                <a:latin typeface="Cambria Math" panose="02040503050406030204" pitchFamily="18" charset="0"/>
                              </a:rPr>
                              <m:t> </m:t>
                            </m:r>
                            <m:r>
                              <a:rPr lang="fr-FR" sz="1800" b="0" i="1" smtClean="0">
                                <a:latin typeface="Cambria Math" panose="02040503050406030204" pitchFamily="18" charset="0"/>
                              </a:rPr>
                              <m:t>𝐿𝑜𝑛𝑔</m:t>
                            </m:r>
                          </m:e>
                        </m:d>
                      </m:num>
                      <m:den>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m:rPr>
                                <m:sty m:val="p"/>
                              </m:rPr>
                              <a:rPr lang="fr-FR" sz="1800" b="0" i="0" smtClean="0">
                                <a:latin typeface="Cambria Math" panose="02040503050406030204" pitchFamily="18" charset="0"/>
                              </a:rPr>
                              <m:t>Banane</m:t>
                            </m:r>
                          </m:e>
                        </m:d>
                      </m:den>
                    </m:f>
                    <m:r>
                      <a:rPr lang="fr-FR" sz="1800" b="0" i="1" smtClean="0">
                        <a:latin typeface="Cambria Math" panose="02040503050406030204" pitchFamily="18" charset="0"/>
                      </a:rPr>
                      <m:t>= </m:t>
                    </m:r>
                    <m:f>
                      <m:fPr>
                        <m:ctrlPr>
                          <a:rPr lang="fr-FR" sz="1800" i="1" smtClean="0">
                            <a:latin typeface="Cambria Math" panose="02040503050406030204" pitchFamily="18" charset="0"/>
                          </a:rPr>
                        </m:ctrlPr>
                      </m:fPr>
                      <m:num>
                        <m:r>
                          <a:rPr lang="fr-FR" sz="1800" b="0" i="1" smtClean="0">
                            <a:latin typeface="Cambria Math" panose="02040503050406030204" pitchFamily="18" charset="0"/>
                          </a:rPr>
                          <m:t>400</m:t>
                        </m:r>
                      </m:num>
                      <m:den>
                        <m:r>
                          <a:rPr lang="fr-FR" sz="1800" b="0" i="1" smtClean="0">
                            <a:latin typeface="Cambria Math" panose="02040503050406030204" pitchFamily="18" charset="0"/>
                          </a:rPr>
                          <m:t>500</m:t>
                        </m:r>
                      </m:den>
                    </m:f>
                    <m:r>
                      <a:rPr lang="fr-FR" sz="1800" b="0" i="1" smtClean="0">
                        <a:latin typeface="Cambria Math" panose="02040503050406030204" pitchFamily="18" charset="0"/>
                        <a:ea typeface="Cambria Math" panose="02040503050406030204" pitchFamily="18" charset="0"/>
                      </a:rPr>
                      <m:t>=0,8</m:t>
                    </m:r>
                  </m:oMath>
                </a14:m>
                <a:endParaRPr lang="fr-FR" sz="1800" b="0" dirty="0">
                  <a:latin typeface="Barlow Light" panose="020B0604020202020204" charset="0"/>
                  <a:ea typeface="Cambria Math" panose="02040503050406030204" pitchFamily="18" charset="0"/>
                </a:endParaRPr>
              </a:p>
              <a:p>
                <a:pPr>
                  <a:buFont typeface="Wingdings" panose="05000000000000000000" pitchFamily="2" charset="2"/>
                  <a:buChar char="§"/>
                </a:pPr>
                <a:r>
                  <a:rPr lang="fr-FR" sz="1800" b="0" dirty="0">
                    <a:latin typeface="Barlow Light" panose="020B0604020202020204" charset="0"/>
                    <a:ea typeface="Cambria Math" panose="02040503050406030204" pitchFamily="18" charset="0"/>
                  </a:rPr>
                  <a:t>Avec la même logique, on peut calculer:</a:t>
                </a:r>
              </a:p>
              <a:p>
                <a:pPr lvl="1">
                  <a:buClr>
                    <a:schemeClr val="accent4"/>
                  </a:buClr>
                  <a:buSzPct val="100000"/>
                  <a:buFont typeface="Wingdings" panose="05000000000000000000" pitchFamily="2" charset="2"/>
                  <a:buChar char="§"/>
                </a:pPr>
                <a14:m>
                  <m:oMath xmlns:m="http://schemas.openxmlformats.org/officeDocument/2006/math">
                    <m:r>
                      <a:rPr lang="fr-FR" sz="1800" b="1" i="1">
                        <a:solidFill>
                          <a:schemeClr val="accent6">
                            <a:lumMod val="50000"/>
                          </a:schemeClr>
                        </a:solidFill>
                        <a:latin typeface="Cambria Math" panose="02040503050406030204" pitchFamily="18" charset="0"/>
                      </a:rPr>
                      <m:t>𝑷</m:t>
                    </m:r>
                    <m:d>
                      <m:dPr>
                        <m:ctrlPr>
                          <a:rPr lang="fr-FR" sz="1800" b="1" i="1">
                            <a:solidFill>
                              <a:schemeClr val="accent6">
                                <a:lumMod val="50000"/>
                              </a:schemeClr>
                            </a:solidFill>
                            <a:latin typeface="Cambria Math" panose="02040503050406030204" pitchFamily="18" charset="0"/>
                          </a:rPr>
                        </m:ctrlPr>
                      </m:dPr>
                      <m:e>
                        <m:r>
                          <a:rPr lang="fr-FR" sz="1800" b="1" i="1">
                            <a:solidFill>
                              <a:schemeClr val="accent6">
                                <a:lumMod val="50000"/>
                              </a:schemeClr>
                            </a:solidFill>
                            <a:latin typeface="Cambria Math" panose="02040503050406030204" pitchFamily="18" charset="0"/>
                          </a:rPr>
                          <m:t>𝒋𝒂𝒖𝒏𝒆</m:t>
                        </m:r>
                        <m:r>
                          <a:rPr lang="fr-FR" sz="1800" b="1" i="1">
                            <a:solidFill>
                              <a:schemeClr val="accent6">
                                <a:lumMod val="50000"/>
                              </a:schemeClr>
                            </a:solidFill>
                            <a:latin typeface="Cambria Math" panose="02040503050406030204" pitchFamily="18" charset="0"/>
                          </a:rPr>
                          <m:t>|</m:t>
                        </m:r>
                        <m:r>
                          <a:rPr lang="fr-FR" sz="1800" b="1" i="1">
                            <a:solidFill>
                              <a:schemeClr val="accent6">
                                <a:lumMod val="50000"/>
                              </a:schemeClr>
                            </a:solidFill>
                            <a:latin typeface="Cambria Math" panose="02040503050406030204" pitchFamily="18" charset="0"/>
                          </a:rPr>
                          <m:t>𝑩𝒂𝒏𝒂𝒏𝒆</m:t>
                        </m:r>
                      </m:e>
                    </m:d>
                    <m:r>
                      <a:rPr lang="fr-FR" sz="1800" b="1" i="1" smtClean="0">
                        <a:solidFill>
                          <a:schemeClr val="tx1"/>
                        </a:solidFill>
                        <a:latin typeface="Cambria Math" panose="02040503050406030204" pitchFamily="18" charset="0"/>
                      </a:rPr>
                      <m:t>= </m:t>
                    </m:r>
                    <m:f>
                      <m:fPr>
                        <m:ctrlPr>
                          <a:rPr lang="fr-FR" sz="1800" b="1" i="1">
                            <a:solidFill>
                              <a:schemeClr val="tx1"/>
                            </a:solidFill>
                            <a:latin typeface="Cambria Math" panose="02040503050406030204" pitchFamily="18" charset="0"/>
                          </a:rPr>
                        </m:ctrlPr>
                      </m:fPr>
                      <m:num>
                        <m:r>
                          <a:rPr lang="fr-FR" sz="1800" b="1" i="1">
                            <a:solidFill>
                              <a:schemeClr val="tx1"/>
                            </a:solidFill>
                            <a:latin typeface="Cambria Math" panose="02040503050406030204" pitchFamily="18" charset="0"/>
                          </a:rPr>
                          <m:t>𝑐𝑎𝑟𝑑𝑖𝑛𝑎𝑙</m:t>
                        </m:r>
                        <m:d>
                          <m:dPr>
                            <m:ctrlPr>
                              <a:rPr lang="fr-FR" sz="1800" b="1" i="1">
                                <a:solidFill>
                                  <a:schemeClr val="tx1"/>
                                </a:solidFill>
                                <a:latin typeface="Cambria Math" panose="02040503050406030204" pitchFamily="18" charset="0"/>
                              </a:rPr>
                            </m:ctrlPr>
                          </m:dPr>
                          <m:e>
                            <m:r>
                              <a:rPr lang="fr-FR" sz="1800" b="1" i="1">
                                <a:solidFill>
                                  <a:schemeClr val="tx1"/>
                                </a:solidFill>
                                <a:latin typeface="Cambria Math" panose="02040503050406030204" pitchFamily="18" charset="0"/>
                              </a:rPr>
                              <m:t>𝐵𝑎𝑛𝑎𝑛𝑒</m:t>
                            </m:r>
                            <m:r>
                              <a:rPr lang="fr-FR" sz="1800" b="1" i="1">
                                <a:solidFill>
                                  <a:schemeClr val="tx1"/>
                                </a:solidFill>
                                <a:latin typeface="Cambria Math" panose="02040503050406030204" pitchFamily="18" charset="0"/>
                              </a:rPr>
                              <m:t> </m:t>
                            </m:r>
                            <m:r>
                              <a:rPr lang="fr-FR" sz="1800" b="1" i="1">
                                <a:solidFill>
                                  <a:schemeClr val="tx1"/>
                                </a:solidFill>
                                <a:latin typeface="Cambria Math" panose="02040503050406030204" pitchFamily="18" charset="0"/>
                              </a:rPr>
                              <m:t>𝐸𝑇</m:t>
                            </m:r>
                            <m:r>
                              <a:rPr lang="fr-FR" sz="1800" b="1" i="1">
                                <a:solidFill>
                                  <a:schemeClr val="tx1"/>
                                </a:solidFill>
                                <a:latin typeface="Cambria Math" panose="02040503050406030204" pitchFamily="18" charset="0"/>
                              </a:rPr>
                              <m:t> </m:t>
                            </m:r>
                            <m:r>
                              <a:rPr lang="fr-FR" sz="1800" b="1" i="1">
                                <a:solidFill>
                                  <a:schemeClr val="tx1"/>
                                </a:solidFill>
                                <a:latin typeface="Cambria Math" panose="02040503050406030204" pitchFamily="18" charset="0"/>
                              </a:rPr>
                              <m:t>𝑗𝑎𝑢𝑛𝑒</m:t>
                            </m:r>
                          </m:e>
                        </m:d>
                      </m:num>
                      <m:den>
                        <m:r>
                          <a:rPr lang="fr-FR" sz="1800" b="1" i="1">
                            <a:solidFill>
                              <a:schemeClr val="tx1"/>
                            </a:solidFill>
                            <a:latin typeface="Cambria Math" panose="02040503050406030204" pitchFamily="18" charset="0"/>
                          </a:rPr>
                          <m:t>𝑐𝑎𝑟𝑑𝑖𝑛𝑎𝑙</m:t>
                        </m:r>
                        <m:d>
                          <m:dPr>
                            <m:ctrlPr>
                              <a:rPr lang="fr-FR" sz="1800" b="1" i="1">
                                <a:solidFill>
                                  <a:schemeClr val="tx1"/>
                                </a:solidFill>
                                <a:latin typeface="Cambria Math" panose="02040503050406030204" pitchFamily="18" charset="0"/>
                              </a:rPr>
                            </m:ctrlPr>
                          </m:dPr>
                          <m:e>
                            <m:r>
                              <a:rPr lang="fr-FR" sz="1800" b="1" i="1">
                                <a:solidFill>
                                  <a:schemeClr val="tx1"/>
                                </a:solidFill>
                                <a:latin typeface="Cambria Math" panose="02040503050406030204" pitchFamily="18" charset="0"/>
                              </a:rPr>
                              <m:t>𝐵𝑎𝑛𝑎𝑛𝑒</m:t>
                            </m:r>
                          </m:e>
                        </m:d>
                      </m:den>
                    </m:f>
                    <m:r>
                      <a:rPr lang="fr-FR" sz="1800" b="1" i="1">
                        <a:solidFill>
                          <a:schemeClr val="tx1"/>
                        </a:solidFill>
                        <a:latin typeface="Cambria Math" panose="02040503050406030204" pitchFamily="18" charset="0"/>
                      </a:rPr>
                      <m:t>= </m:t>
                    </m:r>
                    <m:f>
                      <m:fPr>
                        <m:ctrlPr>
                          <a:rPr lang="fr-FR" sz="1800" b="1" i="1">
                            <a:solidFill>
                              <a:schemeClr val="tx1"/>
                            </a:solidFill>
                            <a:latin typeface="Cambria Math" panose="02040503050406030204" pitchFamily="18" charset="0"/>
                          </a:rPr>
                        </m:ctrlPr>
                      </m:fPr>
                      <m:num>
                        <m:r>
                          <a:rPr lang="fr-FR" sz="1800" b="1" i="1">
                            <a:solidFill>
                              <a:schemeClr val="tx1"/>
                            </a:solidFill>
                            <a:latin typeface="Cambria Math" panose="02040503050406030204" pitchFamily="18" charset="0"/>
                          </a:rPr>
                          <m:t>450</m:t>
                        </m:r>
                      </m:num>
                      <m:den>
                        <m:r>
                          <a:rPr lang="fr-FR" sz="1800" b="1" i="1">
                            <a:solidFill>
                              <a:schemeClr val="tx1"/>
                            </a:solidFill>
                            <a:latin typeface="Cambria Math" panose="02040503050406030204" pitchFamily="18" charset="0"/>
                          </a:rPr>
                          <m:t>500</m:t>
                        </m:r>
                      </m:den>
                    </m:f>
                    <m:r>
                      <a:rPr lang="fr-FR" sz="1800" b="1" i="1">
                        <a:solidFill>
                          <a:schemeClr val="tx1"/>
                        </a:solidFill>
                        <a:latin typeface="Cambria Math" panose="02040503050406030204" pitchFamily="18" charset="0"/>
                      </a:rPr>
                      <m:t>=0,9</m:t>
                    </m:r>
                  </m:oMath>
                </a14:m>
                <a:endParaRPr lang="fr-FR" sz="1800" b="1" i="1" dirty="0">
                  <a:solidFill>
                    <a:schemeClr val="tx1"/>
                  </a:solidFill>
                  <a:latin typeface="Cambria Math" panose="02040503050406030204" pitchFamily="18" charset="0"/>
                </a:endParaRPr>
              </a:p>
              <a:p>
                <a:pPr lvl="1">
                  <a:buClr>
                    <a:schemeClr val="accent4"/>
                  </a:buClr>
                  <a:buSzPct val="100000"/>
                  <a:buFont typeface="Wingdings" panose="05000000000000000000" pitchFamily="2" charset="2"/>
                  <a:buChar char="§"/>
                </a:pPr>
                <a14:m>
                  <m:oMath xmlns:m="http://schemas.openxmlformats.org/officeDocument/2006/math">
                    <m:r>
                      <a:rPr lang="fr-FR" sz="1800" b="1" i="1" smtClean="0">
                        <a:solidFill>
                          <a:schemeClr val="accent6">
                            <a:lumMod val="50000"/>
                          </a:schemeClr>
                        </a:solidFill>
                        <a:latin typeface="Cambria Math" panose="02040503050406030204" pitchFamily="18" charset="0"/>
                      </a:rPr>
                      <m:t>𝑷</m:t>
                    </m:r>
                    <m:d>
                      <m:dPr>
                        <m:ctrlPr>
                          <a:rPr lang="fr-FR" sz="1800" b="1" i="1" smtClean="0">
                            <a:solidFill>
                              <a:schemeClr val="accent6">
                                <a:lumMod val="50000"/>
                              </a:schemeClr>
                            </a:solidFill>
                            <a:latin typeface="Cambria Math" panose="02040503050406030204" pitchFamily="18" charset="0"/>
                          </a:rPr>
                        </m:ctrlPr>
                      </m:dPr>
                      <m:e>
                        <m:r>
                          <a:rPr lang="fr-FR" sz="1800" b="1" i="1" smtClean="0">
                            <a:solidFill>
                              <a:schemeClr val="accent6">
                                <a:lumMod val="50000"/>
                              </a:schemeClr>
                            </a:solidFill>
                            <a:latin typeface="Cambria Math" panose="02040503050406030204" pitchFamily="18" charset="0"/>
                          </a:rPr>
                          <m:t>𝒔𝒖𝒄𝒓</m:t>
                        </m:r>
                        <m:r>
                          <a:rPr lang="fr-FR" sz="1800" b="1" i="1" smtClean="0">
                            <a:solidFill>
                              <a:schemeClr val="accent6">
                                <a:lumMod val="50000"/>
                              </a:schemeClr>
                            </a:solidFill>
                            <a:latin typeface="Cambria Math" panose="02040503050406030204" pitchFamily="18" charset="0"/>
                          </a:rPr>
                          <m:t>é|</m:t>
                        </m:r>
                        <m:r>
                          <a:rPr lang="fr-FR" sz="1800" b="1" i="1" smtClean="0">
                            <a:solidFill>
                              <a:schemeClr val="accent6">
                                <a:lumMod val="50000"/>
                              </a:schemeClr>
                            </a:solidFill>
                            <a:latin typeface="Cambria Math" panose="02040503050406030204" pitchFamily="18" charset="0"/>
                          </a:rPr>
                          <m:t>𝑩𝒂𝒏𝒂𝒏𝒆</m:t>
                        </m:r>
                      </m:e>
                    </m:d>
                    <m:r>
                      <a:rPr lang="fr-FR" sz="1800" b="0" i="1" smtClean="0">
                        <a:latin typeface="Cambria Math" panose="02040503050406030204" pitchFamily="18" charset="0"/>
                      </a:rPr>
                      <m:t>= </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𝐵𝑎𝑛𝑎𝑛𝑒</m:t>
                            </m:r>
                            <m:r>
                              <a:rPr lang="fr-FR" sz="1800" b="0" i="1" smtClean="0">
                                <a:latin typeface="Cambria Math" panose="02040503050406030204" pitchFamily="18" charset="0"/>
                              </a:rPr>
                              <m:t> </m:t>
                            </m:r>
                            <m:r>
                              <a:rPr lang="fr-FR" sz="1800" b="0" i="1" smtClean="0">
                                <a:latin typeface="Cambria Math" panose="02040503050406030204" pitchFamily="18" charset="0"/>
                              </a:rPr>
                              <m:t>𝐸𝑇</m:t>
                            </m:r>
                            <m:r>
                              <a:rPr lang="fr-FR" sz="1800" b="0" i="1" smtClean="0">
                                <a:latin typeface="Cambria Math" panose="02040503050406030204" pitchFamily="18" charset="0"/>
                              </a:rPr>
                              <m:t> </m:t>
                            </m:r>
                            <m:r>
                              <a:rPr lang="fr-FR" sz="1800" b="0" i="1" smtClean="0">
                                <a:latin typeface="Cambria Math" panose="02040503050406030204" pitchFamily="18" charset="0"/>
                              </a:rPr>
                              <m:t>𝑠𝑢𝑐𝑟</m:t>
                            </m:r>
                            <m:r>
                              <a:rPr lang="fr-FR" sz="1800" b="0" i="1" smtClean="0">
                                <a:latin typeface="Cambria Math" panose="02040503050406030204" pitchFamily="18" charset="0"/>
                              </a:rPr>
                              <m:t>é</m:t>
                            </m:r>
                          </m:e>
                        </m:d>
                      </m:num>
                      <m:den>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m:rPr>
                                <m:sty m:val="p"/>
                              </m:rPr>
                              <a:rPr lang="fr-FR" sz="1800" b="0" i="0" smtClean="0">
                                <a:latin typeface="Cambria Math" panose="02040503050406030204" pitchFamily="18" charset="0"/>
                              </a:rPr>
                              <m:t>Banane</m:t>
                            </m:r>
                          </m:e>
                        </m:d>
                      </m:den>
                    </m:f>
                    <m:r>
                      <a:rPr lang="fr-FR" sz="1800" b="0" i="1" smtClean="0">
                        <a:latin typeface="Cambria Math" panose="02040503050406030204" pitchFamily="18" charset="0"/>
                      </a:rPr>
                      <m:t>= </m:t>
                    </m:r>
                    <m:f>
                      <m:fPr>
                        <m:ctrlPr>
                          <a:rPr lang="fr-FR" sz="1800" i="1" smtClean="0">
                            <a:latin typeface="Cambria Math" panose="02040503050406030204" pitchFamily="18" charset="0"/>
                          </a:rPr>
                        </m:ctrlPr>
                      </m:fPr>
                      <m:num>
                        <m:r>
                          <a:rPr lang="fr-FR" sz="1800" b="0" i="1" smtClean="0">
                            <a:latin typeface="Cambria Math" panose="02040503050406030204" pitchFamily="18" charset="0"/>
                          </a:rPr>
                          <m:t>350</m:t>
                        </m:r>
                      </m:num>
                      <m:den>
                        <m:r>
                          <a:rPr lang="fr-FR" sz="1800" b="0" i="1" smtClean="0">
                            <a:latin typeface="Cambria Math" panose="02040503050406030204" pitchFamily="18" charset="0"/>
                          </a:rPr>
                          <m:t>500</m:t>
                        </m:r>
                      </m:den>
                    </m:f>
                    <m:r>
                      <a:rPr lang="fr-FR" sz="1800" b="0" i="1" smtClean="0">
                        <a:latin typeface="Cambria Math" panose="02040503050406030204" pitchFamily="18" charset="0"/>
                        <a:ea typeface="Cambria Math" panose="02040503050406030204" pitchFamily="18" charset="0"/>
                      </a:rPr>
                      <m:t>=0,7</m:t>
                    </m:r>
                  </m:oMath>
                </a14:m>
                <a:endParaRPr lang="fr-FR" sz="1800" b="0" dirty="0">
                  <a:latin typeface="Barlow Light" panose="020B0604020202020204" charset="0"/>
                  <a:ea typeface="Cambria Math" panose="02040503050406030204" pitchFamily="18" charset="0"/>
                </a:endParaRPr>
              </a:p>
              <a:p>
                <a:pPr lvl="0">
                  <a:buFont typeface="Wingdings" panose="05000000000000000000" pitchFamily="2" charset="2"/>
                  <a:buChar char="§"/>
                </a:pPr>
                <a:endParaRPr lang="fr-FR" sz="18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899592" y="1635646"/>
                <a:ext cx="7704856" cy="3291830"/>
              </a:xfrm>
              <a:prstGeom prst="rect">
                <a:avLst/>
              </a:prstGeom>
              <a:blipFill>
                <a:blip r:embed="rId3"/>
                <a:stretch>
                  <a:fillRect l="-1267" t="-1481"/>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121</a:t>
            </a:fld>
            <a:endParaRPr/>
          </a:p>
        </p:txBody>
      </p:sp>
    </p:spTree>
    <p:extLst>
      <p:ext uri="{BB962C8B-B14F-4D97-AF65-F5344CB8AC3E}">
        <p14:creationId xmlns="" xmlns:p14="http://schemas.microsoft.com/office/powerpoint/2010/main" val="91167373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b="1" u="sng" dirty="0"/>
                  <a:t>Résultat</a:t>
                </a:r>
                <a:r>
                  <a:rPr lang="fr-FR" sz="2000" dirty="0"/>
                  <a:t>:</a:t>
                </a:r>
              </a:p>
              <a:p>
                <a:pPr lvl="0">
                  <a:buFont typeface="Wingdings" panose="05000000000000000000" pitchFamily="2" charset="2"/>
                  <a:buChar char="§"/>
                </a:pPr>
                <a:endParaRPr lang="fr-FR" sz="2000" dirty="0"/>
              </a:p>
              <a:p>
                <a:pPr marL="76200" indent="0">
                  <a:buNone/>
                </a:pPr>
                <a14:m>
                  <m:oMathPara xmlns:m="http://schemas.openxmlformats.org/officeDocument/2006/math">
                    <m:oMathParaPr>
                      <m:jc m:val="centerGroup"/>
                    </m:oMathParaPr>
                    <m:oMath xmlns:m="http://schemas.openxmlformats.org/officeDocument/2006/math">
                      <m:r>
                        <a:rPr lang="fr-FR" sz="2000" i="1" smtClean="0">
                          <a:solidFill>
                            <a:schemeClr val="tx1"/>
                          </a:solidFill>
                          <a:latin typeface="Cambria Math" panose="02040503050406030204" pitchFamily="18" charset="0"/>
                        </a:rPr>
                        <m:t>𝑃</m:t>
                      </m:r>
                      <m:d>
                        <m:dPr>
                          <m:ctrlPr>
                            <a:rPr lang="fr-FR" sz="2000" i="1">
                              <a:solidFill>
                                <a:schemeClr val="tx1"/>
                              </a:solidFill>
                              <a:latin typeface="Cambria Math" panose="02040503050406030204" pitchFamily="18" charset="0"/>
                            </a:rPr>
                          </m:ctrlPr>
                        </m:dPr>
                        <m:e>
                          <m:r>
                            <a:rPr lang="fr-FR" sz="2000" i="1">
                              <a:solidFill>
                                <a:schemeClr val="tx1"/>
                              </a:solidFill>
                              <a:latin typeface="Cambria Math" panose="02040503050406030204" pitchFamily="18" charset="0"/>
                            </a:rPr>
                            <m:t>𝐵𝑎𝑛𝑎𝑛𝑒</m:t>
                          </m:r>
                        </m:e>
                        <m:e>
                          <m:r>
                            <a:rPr lang="fr-FR" sz="2000" i="1">
                              <a:solidFill>
                                <a:schemeClr val="tx1"/>
                              </a:solidFill>
                              <a:latin typeface="Cambria Math" panose="02040503050406030204" pitchFamily="18" charset="0"/>
                            </a:rPr>
                            <m:t>𝑙𝑜𝑛𝑔</m:t>
                          </m:r>
                          <m:r>
                            <a:rPr lang="fr-FR" sz="2000" i="1">
                              <a:solidFill>
                                <a:schemeClr val="tx1"/>
                              </a:solidFill>
                              <a:latin typeface="Cambria Math" panose="02040503050406030204" pitchFamily="18" charset="0"/>
                            </a:rPr>
                            <m:t>,</m:t>
                          </m:r>
                          <m:r>
                            <a:rPr lang="fr-FR" sz="2000" i="1">
                              <a:solidFill>
                                <a:schemeClr val="tx1"/>
                              </a:solidFill>
                              <a:latin typeface="Cambria Math" panose="02040503050406030204" pitchFamily="18" charset="0"/>
                            </a:rPr>
                            <m:t>𝑗𝑎𝑢𝑛𝑒</m:t>
                          </m:r>
                          <m:r>
                            <a:rPr lang="fr-FR" sz="2000" i="1">
                              <a:solidFill>
                                <a:schemeClr val="tx1"/>
                              </a:solidFill>
                              <a:latin typeface="Cambria Math" panose="02040503050406030204" pitchFamily="18" charset="0"/>
                            </a:rPr>
                            <m:t>,</m:t>
                          </m:r>
                          <m:r>
                            <a:rPr lang="fr-FR" sz="2000" i="1">
                              <a:solidFill>
                                <a:schemeClr val="tx1"/>
                              </a:solidFill>
                              <a:latin typeface="Cambria Math" panose="02040503050406030204" pitchFamily="18" charset="0"/>
                            </a:rPr>
                            <m:t>𝑠𝑢𝑐𝑟𝑒</m:t>
                          </m:r>
                        </m:e>
                      </m:d>
                      <m:r>
                        <a:rPr lang="fr-FR" sz="2000" b="0" i="1" smtClean="0">
                          <a:latin typeface="Cambria Math" panose="02040503050406030204" pitchFamily="18" charset="0"/>
                        </a:rPr>
                        <m:t>= </m:t>
                      </m:r>
                      <m:f>
                        <m:fPr>
                          <m:ctrlPr>
                            <a:rPr lang="fr-FR" sz="2000" b="0" i="1" smtClean="0">
                              <a:latin typeface="Cambria Math" panose="02040503050406030204" pitchFamily="18" charset="0"/>
                            </a:rPr>
                          </m:ctrlPr>
                        </m:fPr>
                        <m:num>
                          <m:r>
                            <a:rPr lang="fr-FR" sz="2000" b="0" i="1" smtClean="0">
                              <a:latin typeface="Cambria Math" panose="02040503050406030204" pitchFamily="18" charset="0"/>
                            </a:rPr>
                            <m:t>0,8∗0,7∗0,9</m:t>
                          </m:r>
                          <m:r>
                            <a:rPr lang="fr-FR" sz="2000" i="1">
                              <a:latin typeface="Cambria Math" panose="02040503050406030204" pitchFamily="18" charset="0"/>
                            </a:rPr>
                            <m:t>∗</m:t>
                          </m:r>
                          <m:r>
                            <a:rPr lang="fr-FR" sz="2000" b="0" i="1" smtClean="0">
                              <a:latin typeface="Cambria Math" panose="02040503050406030204" pitchFamily="18" charset="0"/>
                            </a:rPr>
                            <m:t>0,5</m:t>
                          </m:r>
                        </m:num>
                        <m:den>
                          <m:r>
                            <a:rPr lang="fr-FR" sz="2000" b="0" i="1" smtClean="0">
                              <a:latin typeface="Cambria Math" panose="02040503050406030204" pitchFamily="18" charset="0"/>
                            </a:rPr>
                            <m:t>0,5∗0,65∗0,8</m:t>
                          </m:r>
                        </m:den>
                      </m:f>
                      <m:r>
                        <a:rPr lang="fr-FR" sz="2000" b="0" i="0" smtClean="0">
                          <a:latin typeface="Cambria Math" panose="02040503050406030204" pitchFamily="18" charset="0"/>
                        </a:rPr>
                        <m:t>=</m:t>
                      </m:r>
                      <m:f>
                        <m:fPr>
                          <m:ctrlPr>
                            <a:rPr lang="fr-FR" sz="2000" i="1">
                              <a:latin typeface="Cambria Math" panose="02040503050406030204" pitchFamily="18" charset="0"/>
                            </a:rPr>
                          </m:ctrlPr>
                        </m:fPr>
                        <m:num>
                          <m:r>
                            <a:rPr lang="fr-FR" sz="2000" b="0" i="1" smtClean="0">
                              <a:latin typeface="Cambria Math" panose="02040503050406030204" pitchFamily="18" charset="0"/>
                            </a:rPr>
                            <m:t>0,252</m:t>
                          </m:r>
                        </m:num>
                        <m:den>
                          <m:r>
                            <a:rPr lang="fr-FR" sz="2000" b="0" i="1" smtClean="0">
                              <a:latin typeface="Cambria Math" panose="02040503050406030204" pitchFamily="18" charset="0"/>
                            </a:rPr>
                            <m:t>0,26</m:t>
                          </m:r>
                        </m:den>
                      </m:f>
                      <m:r>
                        <a:rPr lang="fr-FR" sz="2000" i="1">
                          <a:latin typeface="Cambria Math" panose="02040503050406030204" pitchFamily="18" charset="0"/>
                          <a:ea typeface="Cambria Math" panose="02040503050406030204" pitchFamily="18" charset="0"/>
                        </a:rPr>
                        <m:t> ≈0,</m:t>
                      </m:r>
                      <m:r>
                        <a:rPr lang="fr-FR" sz="2000" b="0" i="1" smtClean="0">
                          <a:latin typeface="Cambria Math" panose="02040503050406030204" pitchFamily="18" charset="0"/>
                          <a:ea typeface="Cambria Math" panose="02040503050406030204" pitchFamily="18" charset="0"/>
                        </a:rPr>
                        <m:t>969</m:t>
                      </m:r>
                    </m:oMath>
                  </m:oMathPara>
                </a14:m>
                <a:endParaRPr lang="fr-FR" sz="2000" dirty="0">
                  <a:latin typeface="Barlow Light" panose="020B0604020202020204" charset="0"/>
                  <a:ea typeface="Cambria Math" panose="02040503050406030204" pitchFamily="18" charset="0"/>
                </a:endParaRPr>
              </a:p>
              <a:p>
                <a:pPr marL="76200" indent="0">
                  <a:buNone/>
                </a:pPr>
                <a:endParaRPr lang="fr-FR" sz="2000" dirty="0"/>
              </a:p>
              <a:p>
                <a:pPr lvl="0">
                  <a:buFont typeface="Wingdings" panose="05000000000000000000" pitchFamily="2" charset="2"/>
                  <a:buChar char="§"/>
                </a:pPr>
                <a:endParaRPr lang="fr-FR" sz="20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635646"/>
                <a:ext cx="7532654" cy="3291830"/>
              </a:xfrm>
              <a:prstGeom prst="rect">
                <a:avLst/>
              </a:prstGeom>
              <a:blipFill>
                <a:blip r:embed="rId3"/>
                <a:stretch>
                  <a:fillRect l="-1214" t="-556"/>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122</a:t>
            </a:fld>
            <a:endParaRPr/>
          </a:p>
        </p:txBody>
      </p:sp>
    </p:spTree>
    <p:extLst>
      <p:ext uri="{BB962C8B-B14F-4D97-AF65-F5344CB8AC3E}">
        <p14:creationId xmlns="" xmlns:p14="http://schemas.microsoft.com/office/powerpoint/2010/main" val="271297594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1259632" y="1635646"/>
                <a:ext cx="7244622"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Calculer la 2</a:t>
                </a:r>
                <a:r>
                  <a:rPr lang="fr-FR" sz="2000" baseline="30000" dirty="0"/>
                  <a:t>ème</a:t>
                </a:r>
                <a:r>
                  <a:rPr lang="fr-FR" sz="2000" dirty="0"/>
                  <a:t> probabilité:</a:t>
                </a:r>
              </a:p>
              <a:p>
                <a:pPr marL="76200" lvl="0" indent="0">
                  <a:buNone/>
                </a:pPr>
                <a:endParaRPr lang="fr-FR" sz="2000" dirty="0"/>
              </a:p>
              <a:p>
                <a:pPr marL="76200" indent="0">
                  <a:buNone/>
                </a:pPr>
                <a14:m>
                  <m:oMath xmlns:m="http://schemas.openxmlformats.org/officeDocument/2006/math">
                    <m:r>
                      <a:rPr lang="fr-FR" sz="2000" i="1" smtClean="0">
                        <a:solidFill>
                          <a:schemeClr val="tx1"/>
                        </a:solidFill>
                        <a:latin typeface="Cambria Math" panose="02040503050406030204" pitchFamily="18" charset="0"/>
                      </a:rPr>
                      <m:t>𝑃</m:t>
                    </m:r>
                    <m:d>
                      <m:dPr>
                        <m:ctrlPr>
                          <a:rPr lang="fr-FR" sz="2000" i="1">
                            <a:solidFill>
                              <a:schemeClr val="tx1"/>
                            </a:solidFill>
                            <a:latin typeface="Cambria Math" panose="02040503050406030204" pitchFamily="18" charset="0"/>
                          </a:rPr>
                        </m:ctrlPr>
                      </m:dPr>
                      <m:e>
                        <m:r>
                          <a:rPr lang="fr-FR" sz="2000" b="0" i="1" smtClean="0">
                            <a:solidFill>
                              <a:schemeClr val="tx1"/>
                            </a:solidFill>
                            <a:latin typeface="Cambria Math" panose="02040503050406030204" pitchFamily="18" charset="0"/>
                          </a:rPr>
                          <m:t>𝑂𝑟𝑎𝑛𝑔𝑒</m:t>
                        </m:r>
                      </m:e>
                      <m:e>
                        <m:r>
                          <a:rPr lang="fr-FR" sz="2000" i="1">
                            <a:solidFill>
                              <a:schemeClr val="tx1"/>
                            </a:solidFill>
                            <a:latin typeface="Cambria Math" panose="02040503050406030204" pitchFamily="18" charset="0"/>
                          </a:rPr>
                          <m:t>𝑙𝑜𝑛𝑔</m:t>
                        </m:r>
                        <m:r>
                          <a:rPr lang="fr-FR" sz="2000" i="1">
                            <a:solidFill>
                              <a:schemeClr val="tx1"/>
                            </a:solidFill>
                            <a:latin typeface="Cambria Math" panose="02040503050406030204" pitchFamily="18" charset="0"/>
                          </a:rPr>
                          <m:t>,</m:t>
                        </m:r>
                        <m:r>
                          <a:rPr lang="fr-FR" sz="2000" i="1">
                            <a:solidFill>
                              <a:schemeClr val="tx1"/>
                            </a:solidFill>
                            <a:latin typeface="Cambria Math" panose="02040503050406030204" pitchFamily="18" charset="0"/>
                          </a:rPr>
                          <m:t>𝑗𝑎𝑢𝑛𝑒</m:t>
                        </m:r>
                        <m:r>
                          <a:rPr lang="fr-FR" sz="2000" i="1">
                            <a:solidFill>
                              <a:schemeClr val="tx1"/>
                            </a:solidFill>
                            <a:latin typeface="Cambria Math" panose="02040503050406030204" pitchFamily="18" charset="0"/>
                          </a:rPr>
                          <m:t>,</m:t>
                        </m:r>
                        <m:r>
                          <a:rPr lang="fr-FR" sz="2000" i="1">
                            <a:solidFill>
                              <a:schemeClr val="tx1"/>
                            </a:solidFill>
                            <a:latin typeface="Cambria Math" panose="02040503050406030204" pitchFamily="18" charset="0"/>
                          </a:rPr>
                          <m:t>𝑠𝑢𝑐𝑟𝑒</m:t>
                        </m:r>
                      </m:e>
                    </m:d>
                    <m:r>
                      <a:rPr lang="fr-FR" sz="2000" b="0" i="1" smtClean="0">
                        <a:latin typeface="Cambria Math" panose="02040503050406030204" pitchFamily="18" charset="0"/>
                      </a:rPr>
                      <m:t>= </m:t>
                    </m:r>
                    <m:f>
                      <m:fPr>
                        <m:ctrlPr>
                          <a:rPr lang="fr-FR" sz="2000" b="0" i="1" smtClean="0">
                            <a:latin typeface="Cambria Math" panose="02040503050406030204" pitchFamily="18" charset="0"/>
                          </a:rPr>
                        </m:ctrlPr>
                      </m:fPr>
                      <m:num>
                        <m:r>
                          <a:rPr lang="fr-FR" sz="2000" b="0" i="1" smtClean="0">
                            <a:latin typeface="Cambria Math" panose="02040503050406030204" pitchFamily="18" charset="0"/>
                          </a:rPr>
                          <m:t>𝑃</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𝐿𝑜𝑛𝑔</m:t>
                            </m:r>
                          </m:e>
                          <m:e>
                            <m:r>
                              <a:rPr lang="fr-FR" sz="2000" b="0" i="1" smtClean="0">
                                <a:latin typeface="Cambria Math" panose="02040503050406030204" pitchFamily="18" charset="0"/>
                              </a:rPr>
                              <m:t>𝑂𝑟𝑎𝑛𝑔𝑒</m:t>
                            </m:r>
                          </m:e>
                        </m:d>
                        <m:r>
                          <a:rPr lang="fr-FR" sz="2000" b="0" i="1" smtClean="0">
                            <a:latin typeface="Cambria Math" panose="02040503050406030204" pitchFamily="18" charset="0"/>
                          </a:rPr>
                          <m:t>∗</m:t>
                        </m:r>
                        <m:r>
                          <a:rPr lang="fr-FR" sz="2000" i="1">
                            <a:latin typeface="Cambria Math" panose="02040503050406030204" pitchFamily="18" charset="0"/>
                          </a:rPr>
                          <m:t>𝑃</m:t>
                        </m:r>
                        <m:d>
                          <m:dPr>
                            <m:ctrlPr>
                              <a:rPr lang="fr-FR" sz="2000" i="1">
                                <a:latin typeface="Cambria Math" panose="02040503050406030204" pitchFamily="18" charset="0"/>
                              </a:rPr>
                            </m:ctrlPr>
                          </m:dPr>
                          <m:e>
                            <m:r>
                              <a:rPr lang="fr-FR" sz="2000" b="0" i="1" smtClean="0">
                                <a:latin typeface="Cambria Math" panose="02040503050406030204" pitchFamily="18" charset="0"/>
                              </a:rPr>
                              <m:t>𝑗𝑎𝑢𝑛𝑒</m:t>
                            </m:r>
                          </m:e>
                          <m:e>
                            <m:r>
                              <a:rPr lang="fr-FR" sz="2000" b="0" i="1" smtClean="0">
                                <a:latin typeface="Cambria Math" panose="02040503050406030204" pitchFamily="18" charset="0"/>
                              </a:rPr>
                              <m:t>𝑂𝑟𝑎𝑛𝑔𝑒</m:t>
                            </m:r>
                          </m:e>
                        </m:d>
                        <m:r>
                          <a:rPr lang="fr-FR" sz="2000" i="1">
                            <a:latin typeface="Cambria Math" panose="02040503050406030204" pitchFamily="18" charset="0"/>
                          </a:rPr>
                          <m:t>∗</m:t>
                        </m:r>
                        <m:r>
                          <a:rPr lang="fr-FR" sz="2000" i="1">
                            <a:latin typeface="Cambria Math" panose="02040503050406030204" pitchFamily="18" charset="0"/>
                          </a:rPr>
                          <m:t>𝑃</m:t>
                        </m:r>
                        <m:d>
                          <m:dPr>
                            <m:ctrlPr>
                              <a:rPr lang="fr-FR" sz="2000" i="1">
                                <a:latin typeface="Cambria Math" panose="02040503050406030204" pitchFamily="18" charset="0"/>
                              </a:rPr>
                            </m:ctrlPr>
                          </m:dPr>
                          <m:e>
                            <m:r>
                              <a:rPr lang="fr-FR" sz="2000" b="0" i="1" smtClean="0">
                                <a:latin typeface="Cambria Math" panose="02040503050406030204" pitchFamily="18" charset="0"/>
                              </a:rPr>
                              <m:t>𝑠𝑢𝑐𝑟𝑒</m:t>
                            </m:r>
                          </m:e>
                          <m:e>
                            <m:r>
                              <a:rPr lang="fr-FR" sz="2000" b="0" i="1" smtClean="0">
                                <a:latin typeface="Cambria Math" panose="02040503050406030204" pitchFamily="18" charset="0"/>
                              </a:rPr>
                              <m:t>𝑂𝑟𝑎𝑛𝑔𝑒</m:t>
                            </m:r>
                          </m:e>
                        </m:d>
                        <m:r>
                          <a:rPr lang="fr-FR" sz="2000" i="1">
                            <a:latin typeface="Cambria Math" panose="02040503050406030204" pitchFamily="18" charset="0"/>
                          </a:rPr>
                          <m:t>∗</m:t>
                        </m:r>
                        <m:r>
                          <a:rPr lang="fr-FR" sz="2000" i="1">
                            <a:latin typeface="Cambria Math" panose="02040503050406030204" pitchFamily="18" charset="0"/>
                          </a:rPr>
                          <m:t>𝑃</m:t>
                        </m:r>
                        <m:r>
                          <a:rPr lang="fr-FR" sz="2000" i="1">
                            <a:latin typeface="Cambria Math" panose="02040503050406030204" pitchFamily="18" charset="0"/>
                          </a:rPr>
                          <m:t>(</m:t>
                        </m:r>
                        <m:r>
                          <a:rPr lang="fr-FR" sz="2000" b="0" i="1" smtClean="0">
                            <a:latin typeface="Cambria Math" panose="02040503050406030204" pitchFamily="18" charset="0"/>
                          </a:rPr>
                          <m:t>𝑂𝑟𝑎𝑛𝑔𝑒</m:t>
                        </m:r>
                        <m:r>
                          <a:rPr lang="fr-FR" sz="2000" i="1">
                            <a:latin typeface="Cambria Math" panose="02040503050406030204" pitchFamily="18" charset="0"/>
                          </a:rPr>
                          <m:t>)</m:t>
                        </m:r>
                      </m:num>
                      <m:den>
                        <m:r>
                          <a:rPr lang="fr-FR" sz="2000" b="0" i="1" smtClean="0">
                            <a:latin typeface="Cambria Math" panose="02040503050406030204" pitchFamily="18" charset="0"/>
                          </a:rPr>
                          <m:t>𝑃</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𝑙𝑜𝑛𝑔</m:t>
                            </m:r>
                          </m:e>
                        </m:d>
                        <m:r>
                          <a:rPr lang="fr-FR" sz="2000" i="1">
                            <a:latin typeface="Cambria Math" panose="02040503050406030204" pitchFamily="18" charset="0"/>
                          </a:rPr>
                          <m:t>∗</m:t>
                        </m:r>
                        <m:r>
                          <a:rPr lang="fr-FR" sz="2000" i="1">
                            <a:latin typeface="Cambria Math" panose="02040503050406030204" pitchFamily="18" charset="0"/>
                          </a:rPr>
                          <m:t>𝑃</m:t>
                        </m:r>
                        <m:d>
                          <m:dPr>
                            <m:ctrlPr>
                              <a:rPr lang="fr-FR" sz="2000" i="1" smtClean="0">
                                <a:latin typeface="Cambria Math" panose="02040503050406030204" pitchFamily="18" charset="0"/>
                              </a:rPr>
                            </m:ctrlPr>
                          </m:dPr>
                          <m:e>
                            <m:r>
                              <a:rPr lang="fr-FR" sz="2000" b="0" i="1" smtClean="0">
                                <a:latin typeface="Cambria Math" panose="02040503050406030204" pitchFamily="18" charset="0"/>
                              </a:rPr>
                              <m:t>𝑗𝑎𝑢𝑛𝑒</m:t>
                            </m:r>
                          </m:e>
                        </m:d>
                        <m:r>
                          <a:rPr lang="fr-FR" sz="2000" b="0" i="1" smtClean="0">
                            <a:latin typeface="Cambria Math" panose="02040503050406030204" pitchFamily="18" charset="0"/>
                          </a:rPr>
                          <m:t>∗</m:t>
                        </m:r>
                        <m:r>
                          <a:rPr lang="fr-FR" sz="2000" i="1">
                            <a:latin typeface="Cambria Math" panose="02040503050406030204" pitchFamily="18" charset="0"/>
                          </a:rPr>
                          <m:t>𝑃</m:t>
                        </m:r>
                        <m:r>
                          <a:rPr lang="fr-FR" sz="2000" i="1">
                            <a:latin typeface="Cambria Math" panose="02040503050406030204" pitchFamily="18" charset="0"/>
                          </a:rPr>
                          <m:t>(</m:t>
                        </m:r>
                        <m:r>
                          <a:rPr lang="fr-FR" sz="2000" b="0" i="1" smtClean="0">
                            <a:latin typeface="Cambria Math" panose="02040503050406030204" pitchFamily="18" charset="0"/>
                          </a:rPr>
                          <m:t>𝑠𝑢𝑐𝑟</m:t>
                        </m:r>
                        <m:r>
                          <a:rPr lang="fr-FR" sz="2000" b="0" i="1" smtClean="0">
                            <a:latin typeface="Cambria Math" panose="02040503050406030204" pitchFamily="18" charset="0"/>
                          </a:rPr>
                          <m:t>é)</m:t>
                        </m:r>
                      </m:den>
                    </m:f>
                  </m:oMath>
                </a14:m>
                <a:r>
                  <a:rPr lang="fr-FR" sz="2000" dirty="0"/>
                  <a:t> </a:t>
                </a:r>
              </a:p>
              <a:p>
                <a:pPr lvl="0">
                  <a:buFont typeface="Wingdings" panose="05000000000000000000" pitchFamily="2" charset="2"/>
                  <a:buChar char="§"/>
                </a:pPr>
                <a:endParaRPr lang="fr-FR" sz="20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1259632" y="1635646"/>
                <a:ext cx="7244622" cy="3291830"/>
              </a:xfrm>
              <a:prstGeom prst="rect">
                <a:avLst/>
              </a:prstGeom>
              <a:blipFill>
                <a:blip r:embed="rId3"/>
                <a:stretch>
                  <a:fillRect l="-1347" t="-556"/>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123</a:t>
            </a:fld>
            <a:endParaRPr/>
          </a:p>
        </p:txBody>
      </p:sp>
    </p:spTree>
    <p:extLst>
      <p:ext uri="{BB962C8B-B14F-4D97-AF65-F5344CB8AC3E}">
        <p14:creationId xmlns="" xmlns:p14="http://schemas.microsoft.com/office/powerpoint/2010/main" val="278080150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899592" y="1635646"/>
                <a:ext cx="7704856" cy="3291830"/>
              </a:xfrm>
              <a:prstGeom prst="rect">
                <a:avLst/>
              </a:prstGeom>
            </p:spPr>
            <p:txBody>
              <a:bodyPr spcFirstLastPara="1" wrap="square" lIns="0" tIns="0" rIns="0" bIns="0" anchor="t" anchorCtr="0">
                <a:noAutofit/>
              </a:bodyPr>
              <a:lstStyle/>
              <a:p>
                <a:pPr lvl="1">
                  <a:lnSpc>
                    <a:spcPct val="150000"/>
                  </a:lnSpc>
                  <a:buClr>
                    <a:schemeClr val="accent4"/>
                  </a:buClr>
                  <a:buSzPct val="100000"/>
                  <a:buFont typeface="Wingdings" panose="05000000000000000000" pitchFamily="2" charset="2"/>
                  <a:buChar char="§"/>
                </a:pPr>
                <a14:m>
                  <m:oMath xmlns:m="http://schemas.openxmlformats.org/officeDocument/2006/math">
                    <m:r>
                      <a:rPr lang="fr-FR" sz="1800" b="1" i="1" smtClean="0">
                        <a:solidFill>
                          <a:schemeClr val="accent6">
                            <a:lumMod val="50000"/>
                          </a:schemeClr>
                        </a:solidFill>
                        <a:latin typeface="Cambria Math" panose="02040503050406030204" pitchFamily="18" charset="0"/>
                      </a:rPr>
                      <m:t>𝑷</m:t>
                    </m:r>
                    <m:d>
                      <m:dPr>
                        <m:ctrlPr>
                          <a:rPr lang="fr-FR" sz="1800" b="1" i="1" smtClean="0">
                            <a:solidFill>
                              <a:schemeClr val="accent6">
                                <a:lumMod val="50000"/>
                              </a:schemeClr>
                            </a:solidFill>
                            <a:latin typeface="Cambria Math" panose="02040503050406030204" pitchFamily="18" charset="0"/>
                          </a:rPr>
                        </m:ctrlPr>
                      </m:dPr>
                      <m:e>
                        <m:r>
                          <a:rPr lang="fr-FR" sz="1800" b="1" i="1" smtClean="0">
                            <a:solidFill>
                              <a:schemeClr val="accent6">
                                <a:lumMod val="50000"/>
                              </a:schemeClr>
                            </a:solidFill>
                            <a:latin typeface="Cambria Math" panose="02040503050406030204" pitchFamily="18" charset="0"/>
                          </a:rPr>
                          <m:t>𝑶𝒓𝒂𝒏𝒈𝒆</m:t>
                        </m:r>
                      </m:e>
                    </m:d>
                    <m:r>
                      <a:rPr lang="fr-FR" sz="1800" b="0" i="1" smtClean="0">
                        <a:latin typeface="Cambria Math" panose="02040503050406030204" pitchFamily="18" charset="0"/>
                      </a:rPr>
                      <m:t>= </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𝑂𝑟𝑎𝑛𝑔𝑒</m:t>
                            </m:r>
                          </m:e>
                        </m:d>
                      </m:num>
                      <m:den>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m:rPr>
                                <m:sty m:val="p"/>
                              </m:rPr>
                              <a:rPr lang="fr-FR" sz="1800" b="0" i="0" smtClean="0">
                                <a:latin typeface="Cambria Math" panose="02040503050406030204" pitchFamily="18" charset="0"/>
                              </a:rPr>
                              <m:t>Tous</m:t>
                            </m:r>
                            <m:r>
                              <a:rPr lang="fr-FR" sz="1800" b="0" i="0" smtClean="0">
                                <a:latin typeface="Cambria Math" panose="02040503050406030204" pitchFamily="18" charset="0"/>
                              </a:rPr>
                              <m:t> </m:t>
                            </m:r>
                            <m:r>
                              <m:rPr>
                                <m:sty m:val="p"/>
                              </m:rPr>
                              <a:rPr lang="fr-FR" sz="1800" b="0" i="0" smtClean="0">
                                <a:latin typeface="Cambria Math" panose="02040503050406030204" pitchFamily="18" charset="0"/>
                              </a:rPr>
                              <m:t>les</m:t>
                            </m:r>
                            <m:r>
                              <a:rPr lang="fr-FR" sz="1800" b="0" i="0" smtClean="0">
                                <a:latin typeface="Cambria Math" panose="02040503050406030204" pitchFamily="18" charset="0"/>
                              </a:rPr>
                              <m:t> </m:t>
                            </m:r>
                            <m:r>
                              <m:rPr>
                                <m:sty m:val="p"/>
                              </m:rPr>
                              <a:rPr lang="fr-FR" sz="1800" b="0" i="0" smtClean="0">
                                <a:latin typeface="Cambria Math" panose="02040503050406030204" pitchFamily="18" charset="0"/>
                              </a:rPr>
                              <m:t>fruits</m:t>
                            </m:r>
                          </m:e>
                        </m:d>
                      </m:den>
                    </m:f>
                    <m:r>
                      <a:rPr lang="fr-FR" sz="1800" b="0" i="1" smtClean="0">
                        <a:latin typeface="Cambria Math" panose="02040503050406030204" pitchFamily="18" charset="0"/>
                      </a:rPr>
                      <m:t>= </m:t>
                    </m:r>
                    <m:f>
                      <m:fPr>
                        <m:ctrlPr>
                          <a:rPr lang="fr-FR" sz="1800" i="1" smtClean="0">
                            <a:latin typeface="Cambria Math" panose="02040503050406030204" pitchFamily="18" charset="0"/>
                          </a:rPr>
                        </m:ctrlPr>
                      </m:fPr>
                      <m:num>
                        <m:r>
                          <a:rPr lang="fr-FR" sz="1800" b="0" i="1" smtClean="0">
                            <a:latin typeface="Cambria Math" panose="02040503050406030204" pitchFamily="18" charset="0"/>
                          </a:rPr>
                          <m:t>300</m:t>
                        </m:r>
                      </m:num>
                      <m:den>
                        <m:r>
                          <a:rPr lang="fr-FR" sz="1800" b="0" i="1" smtClean="0">
                            <a:latin typeface="Cambria Math" panose="02040503050406030204" pitchFamily="18" charset="0"/>
                          </a:rPr>
                          <m:t>1000</m:t>
                        </m:r>
                      </m:den>
                    </m:f>
                    <m:r>
                      <a:rPr lang="fr-FR" sz="1800" b="0" i="1" smtClean="0">
                        <a:latin typeface="Cambria Math" panose="02040503050406030204" pitchFamily="18" charset="0"/>
                        <a:ea typeface="Cambria Math" panose="02040503050406030204" pitchFamily="18" charset="0"/>
                      </a:rPr>
                      <m:t>=0,3</m:t>
                    </m:r>
                  </m:oMath>
                </a14:m>
                <a:endParaRPr lang="fr-FR" sz="1800" b="0" dirty="0">
                  <a:latin typeface="Barlow Light" panose="020B0604020202020204" charset="0"/>
                  <a:ea typeface="Cambria Math" panose="02040503050406030204" pitchFamily="18" charset="0"/>
                </a:endParaRPr>
              </a:p>
              <a:p>
                <a:pPr lvl="1">
                  <a:lnSpc>
                    <a:spcPct val="150000"/>
                  </a:lnSpc>
                  <a:buClr>
                    <a:schemeClr val="accent4"/>
                  </a:buClr>
                  <a:buSzPct val="100000"/>
                  <a:buFont typeface="Wingdings" panose="05000000000000000000" pitchFamily="2" charset="2"/>
                  <a:buChar char="§"/>
                </a:pPr>
                <a14:m>
                  <m:oMath xmlns:m="http://schemas.openxmlformats.org/officeDocument/2006/math">
                    <m:r>
                      <a:rPr lang="fr-FR" sz="1800" b="1" i="1" smtClean="0">
                        <a:solidFill>
                          <a:schemeClr val="accent6">
                            <a:lumMod val="50000"/>
                          </a:schemeClr>
                        </a:solidFill>
                        <a:latin typeface="Cambria Math" panose="02040503050406030204" pitchFamily="18" charset="0"/>
                      </a:rPr>
                      <m:t>𝑷</m:t>
                    </m:r>
                    <m:d>
                      <m:dPr>
                        <m:ctrlPr>
                          <a:rPr lang="fr-FR" sz="1800" b="1" i="1" smtClean="0">
                            <a:solidFill>
                              <a:schemeClr val="accent6">
                                <a:lumMod val="50000"/>
                              </a:schemeClr>
                            </a:solidFill>
                            <a:latin typeface="Cambria Math" panose="02040503050406030204" pitchFamily="18" charset="0"/>
                          </a:rPr>
                        </m:ctrlPr>
                      </m:dPr>
                      <m:e>
                        <m:r>
                          <a:rPr lang="fr-FR" sz="1800" b="1" i="1" smtClean="0">
                            <a:solidFill>
                              <a:schemeClr val="accent6">
                                <a:lumMod val="50000"/>
                              </a:schemeClr>
                            </a:solidFill>
                            <a:latin typeface="Cambria Math" panose="02040503050406030204" pitchFamily="18" charset="0"/>
                          </a:rPr>
                          <m:t>𝑳𝒐𝒏𝒈</m:t>
                        </m:r>
                        <m:r>
                          <a:rPr lang="fr-FR" sz="1800" b="1" i="1" smtClean="0">
                            <a:solidFill>
                              <a:schemeClr val="accent6">
                                <a:lumMod val="50000"/>
                              </a:schemeClr>
                            </a:solidFill>
                            <a:latin typeface="Cambria Math" panose="02040503050406030204" pitchFamily="18" charset="0"/>
                          </a:rPr>
                          <m:t>|</m:t>
                        </m:r>
                        <m:r>
                          <a:rPr lang="fr-FR" sz="1800" b="1" i="1" smtClean="0">
                            <a:solidFill>
                              <a:schemeClr val="accent6">
                                <a:lumMod val="50000"/>
                              </a:schemeClr>
                            </a:solidFill>
                            <a:latin typeface="Cambria Math" panose="02040503050406030204" pitchFamily="18" charset="0"/>
                          </a:rPr>
                          <m:t>𝑶𝒓𝒂𝒏𝒈𝒆</m:t>
                        </m:r>
                      </m:e>
                    </m:d>
                    <m:r>
                      <a:rPr lang="fr-FR" sz="1800" b="0" i="1" smtClean="0">
                        <a:latin typeface="Cambria Math" panose="02040503050406030204" pitchFamily="18" charset="0"/>
                      </a:rPr>
                      <m:t>= </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𝑂𝑟𝑎𝑛𝑔𝑒</m:t>
                            </m:r>
                            <m:r>
                              <a:rPr lang="fr-FR" sz="1800" b="0" i="1" smtClean="0">
                                <a:latin typeface="Cambria Math" panose="02040503050406030204" pitchFamily="18" charset="0"/>
                              </a:rPr>
                              <m:t> </m:t>
                            </m:r>
                            <m:r>
                              <a:rPr lang="fr-FR" sz="1800" b="0" i="1" smtClean="0">
                                <a:latin typeface="Cambria Math" panose="02040503050406030204" pitchFamily="18" charset="0"/>
                              </a:rPr>
                              <m:t>𝐸𝑇</m:t>
                            </m:r>
                            <m:r>
                              <a:rPr lang="fr-FR" sz="1800" b="0" i="1" smtClean="0">
                                <a:latin typeface="Cambria Math" panose="02040503050406030204" pitchFamily="18" charset="0"/>
                              </a:rPr>
                              <m:t> </m:t>
                            </m:r>
                            <m:r>
                              <a:rPr lang="fr-FR" sz="1800" b="0" i="1" smtClean="0">
                                <a:latin typeface="Cambria Math" panose="02040503050406030204" pitchFamily="18" charset="0"/>
                              </a:rPr>
                              <m:t>𝐿𝑜𝑛𝑔</m:t>
                            </m:r>
                          </m:e>
                        </m:d>
                      </m:num>
                      <m:den>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m:rPr>
                                <m:sty m:val="p"/>
                              </m:rPr>
                              <a:rPr lang="fr-FR" sz="1800" b="0" i="0" smtClean="0">
                                <a:latin typeface="Cambria Math" panose="02040503050406030204" pitchFamily="18" charset="0"/>
                              </a:rPr>
                              <m:t>Orange</m:t>
                            </m:r>
                          </m:e>
                        </m:d>
                      </m:den>
                    </m:f>
                    <m:r>
                      <a:rPr lang="fr-FR" sz="1800" b="0" i="1" smtClean="0">
                        <a:latin typeface="Cambria Math" panose="02040503050406030204" pitchFamily="18" charset="0"/>
                      </a:rPr>
                      <m:t>= </m:t>
                    </m:r>
                    <m:f>
                      <m:fPr>
                        <m:ctrlPr>
                          <a:rPr lang="fr-FR" sz="1800" i="1" smtClean="0">
                            <a:latin typeface="Cambria Math" panose="02040503050406030204" pitchFamily="18" charset="0"/>
                          </a:rPr>
                        </m:ctrlPr>
                      </m:fPr>
                      <m:num>
                        <m:r>
                          <a:rPr lang="fr-FR" sz="1800" b="0" i="1" smtClean="0">
                            <a:latin typeface="Cambria Math" panose="02040503050406030204" pitchFamily="18" charset="0"/>
                          </a:rPr>
                          <m:t>0</m:t>
                        </m:r>
                      </m:num>
                      <m:den>
                        <m:r>
                          <a:rPr lang="fr-FR" sz="1800" b="0" i="1" smtClean="0">
                            <a:latin typeface="Cambria Math" panose="02040503050406030204" pitchFamily="18" charset="0"/>
                          </a:rPr>
                          <m:t>300</m:t>
                        </m:r>
                      </m:den>
                    </m:f>
                    <m:r>
                      <a:rPr lang="fr-FR" sz="1800" b="0" i="1" smtClean="0">
                        <a:latin typeface="Cambria Math" panose="02040503050406030204" pitchFamily="18" charset="0"/>
                        <a:ea typeface="Cambria Math" panose="02040503050406030204" pitchFamily="18" charset="0"/>
                      </a:rPr>
                      <m:t>=0</m:t>
                    </m:r>
                  </m:oMath>
                </a14:m>
                <a:endParaRPr lang="fr-FR" sz="1800" b="0" dirty="0">
                  <a:latin typeface="Barlow Light" panose="020B0604020202020204" charset="0"/>
                  <a:ea typeface="Cambria Math" panose="02040503050406030204" pitchFamily="18" charset="0"/>
                </a:endParaRPr>
              </a:p>
              <a:p>
                <a:pPr lvl="1">
                  <a:lnSpc>
                    <a:spcPct val="150000"/>
                  </a:lnSpc>
                  <a:buClr>
                    <a:schemeClr val="accent4"/>
                  </a:buClr>
                  <a:buSzPct val="100000"/>
                  <a:buFont typeface="Wingdings" panose="05000000000000000000" pitchFamily="2" charset="2"/>
                  <a:buChar char="§"/>
                </a:pPr>
                <a14:m>
                  <m:oMath xmlns:m="http://schemas.openxmlformats.org/officeDocument/2006/math">
                    <m:r>
                      <a:rPr lang="fr-FR" sz="1800" b="1" i="1">
                        <a:solidFill>
                          <a:schemeClr val="accent6">
                            <a:lumMod val="50000"/>
                          </a:schemeClr>
                        </a:solidFill>
                        <a:latin typeface="Cambria Math" panose="02040503050406030204" pitchFamily="18" charset="0"/>
                      </a:rPr>
                      <m:t>𝑷</m:t>
                    </m:r>
                    <m:d>
                      <m:dPr>
                        <m:ctrlPr>
                          <a:rPr lang="fr-FR" sz="1800" b="1" i="1">
                            <a:solidFill>
                              <a:schemeClr val="accent6">
                                <a:lumMod val="50000"/>
                              </a:schemeClr>
                            </a:solidFill>
                            <a:latin typeface="Cambria Math" panose="02040503050406030204" pitchFamily="18" charset="0"/>
                          </a:rPr>
                        </m:ctrlPr>
                      </m:dPr>
                      <m:e>
                        <m:r>
                          <a:rPr lang="fr-FR" sz="1800" b="1" i="1">
                            <a:solidFill>
                              <a:schemeClr val="accent6">
                                <a:lumMod val="50000"/>
                              </a:schemeClr>
                            </a:solidFill>
                            <a:latin typeface="Cambria Math" panose="02040503050406030204" pitchFamily="18" charset="0"/>
                          </a:rPr>
                          <m:t>𝒋𝒂𝒖𝒏𝒆</m:t>
                        </m:r>
                        <m:r>
                          <a:rPr lang="fr-FR" sz="1800" b="1" i="1">
                            <a:solidFill>
                              <a:schemeClr val="accent6">
                                <a:lumMod val="50000"/>
                              </a:schemeClr>
                            </a:solidFill>
                            <a:latin typeface="Cambria Math" panose="02040503050406030204" pitchFamily="18" charset="0"/>
                          </a:rPr>
                          <m:t>|</m:t>
                        </m:r>
                        <m:r>
                          <a:rPr lang="fr-FR" sz="1800" b="1" i="1" smtClean="0">
                            <a:solidFill>
                              <a:schemeClr val="accent6">
                                <a:lumMod val="50000"/>
                              </a:schemeClr>
                            </a:solidFill>
                            <a:latin typeface="Cambria Math" panose="02040503050406030204" pitchFamily="18" charset="0"/>
                          </a:rPr>
                          <m:t>𝑶𝒓𝒂𝒏𝒈𝒆</m:t>
                        </m:r>
                      </m:e>
                    </m:d>
                    <m:r>
                      <a:rPr lang="fr-FR" sz="1800" b="1" i="1" smtClean="0">
                        <a:solidFill>
                          <a:schemeClr val="tx1"/>
                        </a:solidFill>
                        <a:latin typeface="Cambria Math" panose="02040503050406030204" pitchFamily="18" charset="0"/>
                      </a:rPr>
                      <m:t>= </m:t>
                    </m:r>
                    <m:f>
                      <m:fPr>
                        <m:ctrlPr>
                          <a:rPr lang="fr-FR" sz="1800" b="1" i="1">
                            <a:solidFill>
                              <a:schemeClr val="tx1"/>
                            </a:solidFill>
                            <a:latin typeface="Cambria Math" panose="02040503050406030204" pitchFamily="18" charset="0"/>
                          </a:rPr>
                        </m:ctrlPr>
                      </m:fPr>
                      <m:num>
                        <m:r>
                          <a:rPr lang="fr-FR" sz="1800" b="1" i="1">
                            <a:solidFill>
                              <a:schemeClr val="tx1"/>
                            </a:solidFill>
                            <a:latin typeface="Cambria Math" panose="02040503050406030204" pitchFamily="18" charset="0"/>
                          </a:rPr>
                          <m:t>𝑐𝑎𝑟𝑑𝑖𝑛𝑎𝑙</m:t>
                        </m:r>
                        <m:d>
                          <m:dPr>
                            <m:ctrlPr>
                              <a:rPr lang="fr-FR" sz="1800" b="1" i="1">
                                <a:solidFill>
                                  <a:schemeClr val="tx1"/>
                                </a:solidFill>
                                <a:latin typeface="Cambria Math" panose="02040503050406030204" pitchFamily="18" charset="0"/>
                              </a:rPr>
                            </m:ctrlPr>
                          </m:dPr>
                          <m:e>
                            <m:r>
                              <a:rPr lang="fr-FR" sz="1800" b="1" i="1" smtClean="0">
                                <a:solidFill>
                                  <a:schemeClr val="tx1"/>
                                </a:solidFill>
                                <a:latin typeface="Cambria Math" panose="02040503050406030204" pitchFamily="18" charset="0"/>
                              </a:rPr>
                              <m:t>𝑶𝒓𝒂𝒏𝒈𝒆</m:t>
                            </m:r>
                            <m:r>
                              <a:rPr lang="fr-FR" sz="1800" b="1" i="1">
                                <a:solidFill>
                                  <a:schemeClr val="tx1"/>
                                </a:solidFill>
                                <a:latin typeface="Cambria Math" panose="02040503050406030204" pitchFamily="18" charset="0"/>
                              </a:rPr>
                              <m:t> </m:t>
                            </m:r>
                            <m:r>
                              <a:rPr lang="fr-FR" sz="1800" b="1" i="1">
                                <a:solidFill>
                                  <a:schemeClr val="tx1"/>
                                </a:solidFill>
                                <a:latin typeface="Cambria Math" panose="02040503050406030204" pitchFamily="18" charset="0"/>
                              </a:rPr>
                              <m:t>𝐸𝑇</m:t>
                            </m:r>
                            <m:r>
                              <a:rPr lang="fr-FR" sz="1800" b="1" i="1">
                                <a:solidFill>
                                  <a:schemeClr val="tx1"/>
                                </a:solidFill>
                                <a:latin typeface="Cambria Math" panose="02040503050406030204" pitchFamily="18" charset="0"/>
                              </a:rPr>
                              <m:t> </m:t>
                            </m:r>
                            <m:r>
                              <a:rPr lang="fr-FR" sz="1800" b="1" i="1">
                                <a:solidFill>
                                  <a:schemeClr val="tx1"/>
                                </a:solidFill>
                                <a:latin typeface="Cambria Math" panose="02040503050406030204" pitchFamily="18" charset="0"/>
                              </a:rPr>
                              <m:t>𝑗𝑎𝑢𝑛𝑒</m:t>
                            </m:r>
                          </m:e>
                        </m:d>
                      </m:num>
                      <m:den>
                        <m:r>
                          <a:rPr lang="fr-FR" sz="1800" b="1" i="1">
                            <a:solidFill>
                              <a:schemeClr val="tx1"/>
                            </a:solidFill>
                            <a:latin typeface="Cambria Math" panose="02040503050406030204" pitchFamily="18" charset="0"/>
                          </a:rPr>
                          <m:t>𝑐𝑎𝑟𝑑𝑖𝑛𝑎𝑙</m:t>
                        </m:r>
                        <m:d>
                          <m:dPr>
                            <m:ctrlPr>
                              <a:rPr lang="fr-FR" sz="1800" b="1" i="1">
                                <a:solidFill>
                                  <a:schemeClr val="tx1"/>
                                </a:solidFill>
                                <a:latin typeface="Cambria Math" panose="02040503050406030204" pitchFamily="18" charset="0"/>
                              </a:rPr>
                            </m:ctrlPr>
                          </m:dPr>
                          <m:e>
                            <m:r>
                              <a:rPr lang="fr-FR" sz="1800" b="1" i="1" smtClean="0">
                                <a:solidFill>
                                  <a:schemeClr val="tx1"/>
                                </a:solidFill>
                                <a:latin typeface="Cambria Math" panose="02040503050406030204" pitchFamily="18" charset="0"/>
                              </a:rPr>
                              <m:t>𝑶𝒓𝒂𝒏𝒈𝒆</m:t>
                            </m:r>
                          </m:e>
                        </m:d>
                      </m:den>
                    </m:f>
                    <m:r>
                      <a:rPr lang="fr-FR" sz="1800" b="1" i="1">
                        <a:solidFill>
                          <a:schemeClr val="tx1"/>
                        </a:solidFill>
                        <a:latin typeface="Cambria Math" panose="02040503050406030204" pitchFamily="18" charset="0"/>
                      </a:rPr>
                      <m:t>= </m:t>
                    </m:r>
                    <m:f>
                      <m:fPr>
                        <m:ctrlPr>
                          <a:rPr lang="fr-FR" sz="1800" b="1" i="1">
                            <a:solidFill>
                              <a:schemeClr val="tx1"/>
                            </a:solidFill>
                            <a:latin typeface="Cambria Math" panose="02040503050406030204" pitchFamily="18" charset="0"/>
                          </a:rPr>
                        </m:ctrlPr>
                      </m:fPr>
                      <m:num>
                        <m:r>
                          <a:rPr lang="fr-FR" sz="1800" b="0" i="1" smtClean="0">
                            <a:solidFill>
                              <a:schemeClr val="tx1"/>
                            </a:solidFill>
                            <a:latin typeface="Cambria Math" panose="02040503050406030204" pitchFamily="18" charset="0"/>
                          </a:rPr>
                          <m:t>30</m:t>
                        </m:r>
                        <m:r>
                          <a:rPr lang="fr-FR" sz="1800" b="1" i="1">
                            <a:solidFill>
                              <a:schemeClr val="tx1"/>
                            </a:solidFill>
                            <a:latin typeface="Cambria Math" panose="02040503050406030204" pitchFamily="18" charset="0"/>
                          </a:rPr>
                          <m:t>0</m:t>
                        </m:r>
                      </m:num>
                      <m:den>
                        <m:r>
                          <a:rPr lang="fr-FR" sz="1800" b="0" i="1" smtClean="0">
                            <a:solidFill>
                              <a:schemeClr val="tx1"/>
                            </a:solidFill>
                            <a:latin typeface="Cambria Math" panose="02040503050406030204" pitchFamily="18" charset="0"/>
                          </a:rPr>
                          <m:t>3</m:t>
                        </m:r>
                        <m:r>
                          <a:rPr lang="fr-FR" sz="1800" b="1" i="1">
                            <a:solidFill>
                              <a:schemeClr val="tx1"/>
                            </a:solidFill>
                            <a:latin typeface="Cambria Math" panose="02040503050406030204" pitchFamily="18" charset="0"/>
                          </a:rPr>
                          <m:t>00</m:t>
                        </m:r>
                      </m:den>
                    </m:f>
                    <m:r>
                      <a:rPr lang="fr-FR" sz="1800" b="1" i="1">
                        <a:solidFill>
                          <a:schemeClr val="tx1"/>
                        </a:solidFill>
                        <a:latin typeface="Cambria Math" panose="02040503050406030204" pitchFamily="18" charset="0"/>
                      </a:rPr>
                      <m:t>=</m:t>
                    </m:r>
                    <m:r>
                      <a:rPr lang="fr-FR" sz="1800" b="0" i="1" smtClean="0">
                        <a:solidFill>
                          <a:schemeClr val="tx1"/>
                        </a:solidFill>
                        <a:latin typeface="Cambria Math" panose="02040503050406030204" pitchFamily="18" charset="0"/>
                      </a:rPr>
                      <m:t>1</m:t>
                    </m:r>
                  </m:oMath>
                </a14:m>
                <a:endParaRPr lang="fr-FR" sz="1800" i="1" dirty="0">
                  <a:solidFill>
                    <a:schemeClr val="tx1"/>
                  </a:solidFill>
                  <a:latin typeface="Cambria Math" panose="02040503050406030204" pitchFamily="18" charset="0"/>
                </a:endParaRPr>
              </a:p>
              <a:p>
                <a:pPr lvl="1">
                  <a:lnSpc>
                    <a:spcPct val="150000"/>
                  </a:lnSpc>
                  <a:buClr>
                    <a:schemeClr val="accent4"/>
                  </a:buClr>
                  <a:buSzPct val="100000"/>
                  <a:buFont typeface="Wingdings" panose="05000000000000000000" pitchFamily="2" charset="2"/>
                  <a:buChar char="§"/>
                </a:pPr>
                <a14:m>
                  <m:oMath xmlns:m="http://schemas.openxmlformats.org/officeDocument/2006/math">
                    <m:r>
                      <a:rPr lang="fr-FR" sz="1800" b="1" i="1" smtClean="0">
                        <a:solidFill>
                          <a:schemeClr val="accent6">
                            <a:lumMod val="50000"/>
                          </a:schemeClr>
                        </a:solidFill>
                        <a:latin typeface="Cambria Math" panose="02040503050406030204" pitchFamily="18" charset="0"/>
                      </a:rPr>
                      <m:t>𝑷</m:t>
                    </m:r>
                    <m:d>
                      <m:dPr>
                        <m:ctrlPr>
                          <a:rPr lang="fr-FR" sz="1800" b="1" i="1" smtClean="0">
                            <a:solidFill>
                              <a:schemeClr val="accent6">
                                <a:lumMod val="50000"/>
                              </a:schemeClr>
                            </a:solidFill>
                            <a:latin typeface="Cambria Math" panose="02040503050406030204" pitchFamily="18" charset="0"/>
                          </a:rPr>
                        </m:ctrlPr>
                      </m:dPr>
                      <m:e>
                        <m:r>
                          <a:rPr lang="fr-FR" sz="1800" b="1" i="1" smtClean="0">
                            <a:solidFill>
                              <a:schemeClr val="accent6">
                                <a:lumMod val="50000"/>
                              </a:schemeClr>
                            </a:solidFill>
                            <a:latin typeface="Cambria Math" panose="02040503050406030204" pitchFamily="18" charset="0"/>
                          </a:rPr>
                          <m:t>𝒔𝒖𝒄𝒓</m:t>
                        </m:r>
                        <m:r>
                          <a:rPr lang="fr-FR" sz="1800" b="1" i="1" smtClean="0">
                            <a:solidFill>
                              <a:schemeClr val="accent6">
                                <a:lumMod val="50000"/>
                              </a:schemeClr>
                            </a:solidFill>
                            <a:latin typeface="Cambria Math" panose="02040503050406030204" pitchFamily="18" charset="0"/>
                          </a:rPr>
                          <m:t>é|</m:t>
                        </m:r>
                        <m:r>
                          <a:rPr lang="fr-FR" sz="1800" b="1" i="1" smtClean="0">
                            <a:solidFill>
                              <a:schemeClr val="accent6">
                                <a:lumMod val="50000"/>
                              </a:schemeClr>
                            </a:solidFill>
                            <a:latin typeface="Cambria Math" panose="02040503050406030204" pitchFamily="18" charset="0"/>
                          </a:rPr>
                          <m:t>𝑶𝒓𝒂𝒏𝒈𝒆</m:t>
                        </m:r>
                      </m:e>
                    </m:d>
                    <m:r>
                      <a:rPr lang="fr-FR" sz="1800" b="0" i="1" smtClean="0">
                        <a:latin typeface="Cambria Math" panose="02040503050406030204" pitchFamily="18" charset="0"/>
                      </a:rPr>
                      <m:t>= </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𝑂𝑟𝑎𝑛𝑔𝑒</m:t>
                            </m:r>
                            <m:r>
                              <a:rPr lang="fr-FR" sz="1800" b="0" i="1" smtClean="0">
                                <a:latin typeface="Cambria Math" panose="02040503050406030204" pitchFamily="18" charset="0"/>
                              </a:rPr>
                              <m:t> </m:t>
                            </m:r>
                            <m:r>
                              <a:rPr lang="fr-FR" sz="1800" b="0" i="1" smtClean="0">
                                <a:latin typeface="Cambria Math" panose="02040503050406030204" pitchFamily="18" charset="0"/>
                              </a:rPr>
                              <m:t>𝐸𝑇</m:t>
                            </m:r>
                            <m:r>
                              <a:rPr lang="fr-FR" sz="1800" b="0" i="1" smtClean="0">
                                <a:latin typeface="Cambria Math" panose="02040503050406030204" pitchFamily="18" charset="0"/>
                              </a:rPr>
                              <m:t> </m:t>
                            </m:r>
                            <m:r>
                              <a:rPr lang="fr-FR" sz="1800" b="0" i="1" smtClean="0">
                                <a:latin typeface="Cambria Math" panose="02040503050406030204" pitchFamily="18" charset="0"/>
                              </a:rPr>
                              <m:t>𝑠𝑢𝑐𝑟</m:t>
                            </m:r>
                            <m:r>
                              <a:rPr lang="fr-FR" sz="1800" b="0" i="1" smtClean="0">
                                <a:latin typeface="Cambria Math" panose="02040503050406030204" pitchFamily="18" charset="0"/>
                              </a:rPr>
                              <m:t>é</m:t>
                            </m:r>
                          </m:e>
                        </m:d>
                      </m:num>
                      <m:den>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m:rPr>
                                <m:sty m:val="p"/>
                              </m:rPr>
                              <a:rPr lang="fr-FR" sz="1800" b="0" i="0" smtClean="0">
                                <a:latin typeface="Cambria Math" panose="02040503050406030204" pitchFamily="18" charset="0"/>
                              </a:rPr>
                              <m:t>Orange</m:t>
                            </m:r>
                          </m:e>
                        </m:d>
                      </m:den>
                    </m:f>
                    <m:r>
                      <a:rPr lang="fr-FR" sz="1800" b="0" i="1" smtClean="0">
                        <a:latin typeface="Cambria Math" panose="02040503050406030204" pitchFamily="18" charset="0"/>
                      </a:rPr>
                      <m:t>= </m:t>
                    </m:r>
                    <m:f>
                      <m:fPr>
                        <m:ctrlPr>
                          <a:rPr lang="fr-FR" sz="1800" i="1" smtClean="0">
                            <a:latin typeface="Cambria Math" panose="02040503050406030204" pitchFamily="18" charset="0"/>
                          </a:rPr>
                        </m:ctrlPr>
                      </m:fPr>
                      <m:num>
                        <m:r>
                          <a:rPr lang="fr-FR" sz="1800" b="0" i="1" smtClean="0">
                            <a:latin typeface="Cambria Math" panose="02040503050406030204" pitchFamily="18" charset="0"/>
                          </a:rPr>
                          <m:t>150</m:t>
                        </m:r>
                      </m:num>
                      <m:den>
                        <m:r>
                          <a:rPr lang="fr-FR" sz="1800" b="0" i="1" smtClean="0">
                            <a:latin typeface="Cambria Math" panose="02040503050406030204" pitchFamily="18" charset="0"/>
                          </a:rPr>
                          <m:t>300</m:t>
                        </m:r>
                      </m:den>
                    </m:f>
                    <m:r>
                      <a:rPr lang="fr-FR" sz="1800" b="0" i="1" smtClean="0">
                        <a:latin typeface="Cambria Math" panose="02040503050406030204" pitchFamily="18" charset="0"/>
                        <a:ea typeface="Cambria Math" panose="02040503050406030204" pitchFamily="18" charset="0"/>
                      </a:rPr>
                      <m:t>=0,5</m:t>
                    </m:r>
                  </m:oMath>
                </a14:m>
                <a:endParaRPr lang="fr-FR" sz="1800" b="0" dirty="0">
                  <a:latin typeface="Barlow Light" panose="020B0604020202020204" charset="0"/>
                  <a:ea typeface="Cambria Math" panose="02040503050406030204" pitchFamily="18" charset="0"/>
                </a:endParaRPr>
              </a:p>
              <a:p>
                <a:pPr lvl="0">
                  <a:lnSpc>
                    <a:spcPct val="150000"/>
                  </a:lnSpc>
                  <a:buFont typeface="Wingdings" panose="05000000000000000000" pitchFamily="2" charset="2"/>
                  <a:buChar char="§"/>
                </a:pPr>
                <a:endParaRPr lang="fr-FR" sz="18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899592" y="1635646"/>
                <a:ext cx="7704856" cy="3291830"/>
              </a:xfrm>
              <a:prstGeom prst="rect">
                <a:avLst/>
              </a:prstGeom>
              <a:blipFill>
                <a:blip r:embed="rId3"/>
                <a:stretch>
                  <a:fillRect/>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124</a:t>
            </a:fld>
            <a:endParaRPr/>
          </a:p>
        </p:txBody>
      </p:sp>
    </p:spTree>
    <p:extLst>
      <p:ext uri="{BB962C8B-B14F-4D97-AF65-F5344CB8AC3E}">
        <p14:creationId xmlns="" xmlns:p14="http://schemas.microsoft.com/office/powerpoint/2010/main" val="77371254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b="1" u="sng" dirty="0"/>
                  <a:t>Résultat</a:t>
                </a:r>
                <a:r>
                  <a:rPr lang="fr-FR" sz="2000" dirty="0"/>
                  <a:t>:</a:t>
                </a:r>
              </a:p>
              <a:p>
                <a:pPr lvl="0">
                  <a:buFont typeface="Wingdings" panose="05000000000000000000" pitchFamily="2" charset="2"/>
                  <a:buChar char="§"/>
                </a:pPr>
                <a:endParaRPr lang="fr-FR" sz="2000" dirty="0"/>
              </a:p>
              <a:p>
                <a:pPr marL="76200" indent="0">
                  <a:buNone/>
                </a:pPr>
                <a14:m>
                  <m:oMathPara xmlns:m="http://schemas.openxmlformats.org/officeDocument/2006/math">
                    <m:oMathParaPr>
                      <m:jc m:val="centerGroup"/>
                    </m:oMathParaPr>
                    <m:oMath xmlns:m="http://schemas.openxmlformats.org/officeDocument/2006/math">
                      <m:r>
                        <a:rPr lang="fr-FR" sz="2000" i="1" smtClean="0">
                          <a:solidFill>
                            <a:schemeClr val="tx1"/>
                          </a:solidFill>
                          <a:latin typeface="Cambria Math" panose="02040503050406030204" pitchFamily="18" charset="0"/>
                        </a:rPr>
                        <m:t>𝑃</m:t>
                      </m:r>
                      <m:d>
                        <m:dPr>
                          <m:ctrlPr>
                            <a:rPr lang="fr-FR" sz="2000" i="1">
                              <a:solidFill>
                                <a:schemeClr val="tx1"/>
                              </a:solidFill>
                              <a:latin typeface="Cambria Math" panose="02040503050406030204" pitchFamily="18" charset="0"/>
                            </a:rPr>
                          </m:ctrlPr>
                        </m:dPr>
                        <m:e>
                          <m:r>
                            <a:rPr lang="fr-FR" sz="2000" b="0" i="1" smtClean="0">
                              <a:solidFill>
                                <a:schemeClr val="tx1"/>
                              </a:solidFill>
                              <a:latin typeface="Cambria Math" panose="02040503050406030204" pitchFamily="18" charset="0"/>
                            </a:rPr>
                            <m:t>𝑂𝑟𝑎𝑛𝑔𝑒</m:t>
                          </m:r>
                        </m:e>
                        <m:e>
                          <m:r>
                            <a:rPr lang="fr-FR" sz="2000" i="1">
                              <a:solidFill>
                                <a:schemeClr val="tx1"/>
                              </a:solidFill>
                              <a:latin typeface="Cambria Math" panose="02040503050406030204" pitchFamily="18" charset="0"/>
                            </a:rPr>
                            <m:t>𝑙𝑜𝑛𝑔</m:t>
                          </m:r>
                          <m:r>
                            <a:rPr lang="fr-FR" sz="2000" i="1">
                              <a:solidFill>
                                <a:schemeClr val="tx1"/>
                              </a:solidFill>
                              <a:latin typeface="Cambria Math" panose="02040503050406030204" pitchFamily="18" charset="0"/>
                            </a:rPr>
                            <m:t>,</m:t>
                          </m:r>
                          <m:r>
                            <a:rPr lang="fr-FR" sz="2000" i="1">
                              <a:solidFill>
                                <a:schemeClr val="tx1"/>
                              </a:solidFill>
                              <a:latin typeface="Cambria Math" panose="02040503050406030204" pitchFamily="18" charset="0"/>
                            </a:rPr>
                            <m:t>𝑗𝑎𝑢𝑛𝑒</m:t>
                          </m:r>
                          <m:r>
                            <a:rPr lang="fr-FR" sz="2000" i="1">
                              <a:solidFill>
                                <a:schemeClr val="tx1"/>
                              </a:solidFill>
                              <a:latin typeface="Cambria Math" panose="02040503050406030204" pitchFamily="18" charset="0"/>
                            </a:rPr>
                            <m:t>,</m:t>
                          </m:r>
                          <m:r>
                            <a:rPr lang="fr-FR" sz="2000" i="1">
                              <a:solidFill>
                                <a:schemeClr val="tx1"/>
                              </a:solidFill>
                              <a:latin typeface="Cambria Math" panose="02040503050406030204" pitchFamily="18" charset="0"/>
                            </a:rPr>
                            <m:t>𝑠𝑢𝑐𝑟𝑒</m:t>
                          </m:r>
                        </m:e>
                      </m:d>
                      <m:r>
                        <a:rPr lang="fr-FR" sz="2000" b="0" i="1" smtClean="0">
                          <a:latin typeface="Cambria Math" panose="02040503050406030204" pitchFamily="18" charset="0"/>
                        </a:rPr>
                        <m:t>= </m:t>
                      </m:r>
                      <m:f>
                        <m:fPr>
                          <m:ctrlPr>
                            <a:rPr lang="fr-FR" sz="2000" b="0" i="1" smtClean="0">
                              <a:latin typeface="Cambria Math" panose="02040503050406030204" pitchFamily="18" charset="0"/>
                            </a:rPr>
                          </m:ctrlPr>
                        </m:fPr>
                        <m:num>
                          <m:r>
                            <a:rPr lang="fr-FR" sz="2000" b="0" i="1" smtClean="0">
                              <a:latin typeface="Cambria Math" panose="02040503050406030204" pitchFamily="18" charset="0"/>
                            </a:rPr>
                            <m:t>0∗1∗0,5</m:t>
                          </m:r>
                          <m:r>
                            <a:rPr lang="fr-FR" sz="2000" i="1">
                              <a:latin typeface="Cambria Math" panose="02040503050406030204" pitchFamily="18" charset="0"/>
                            </a:rPr>
                            <m:t>∗</m:t>
                          </m:r>
                          <m:r>
                            <a:rPr lang="fr-FR" sz="2000" b="0" i="1" smtClean="0">
                              <a:latin typeface="Cambria Math" panose="02040503050406030204" pitchFamily="18" charset="0"/>
                            </a:rPr>
                            <m:t>0,3</m:t>
                          </m:r>
                        </m:num>
                        <m:den>
                          <m:r>
                            <a:rPr lang="fr-FR" sz="2000" b="0" i="1" smtClean="0">
                              <a:latin typeface="Cambria Math" panose="02040503050406030204" pitchFamily="18" charset="0"/>
                            </a:rPr>
                            <m:t>0,5∗0,65∗0,8</m:t>
                          </m:r>
                        </m:den>
                      </m:f>
                      <m:r>
                        <a:rPr lang="fr-FR" sz="2000" b="0" i="0" smtClean="0">
                          <a:latin typeface="Cambria Math" panose="02040503050406030204" pitchFamily="18" charset="0"/>
                        </a:rPr>
                        <m:t>=</m:t>
                      </m:r>
                      <m:r>
                        <a:rPr lang="fr-FR" sz="2000" b="0" i="1" smtClean="0">
                          <a:latin typeface="Cambria Math" panose="02040503050406030204" pitchFamily="18" charset="0"/>
                        </a:rPr>
                        <m:t>0</m:t>
                      </m:r>
                    </m:oMath>
                  </m:oMathPara>
                </a14:m>
                <a:endParaRPr lang="fr-FR" sz="2000" dirty="0">
                  <a:latin typeface="Barlow Light" panose="020B0604020202020204" charset="0"/>
                  <a:ea typeface="Cambria Math" panose="02040503050406030204" pitchFamily="18" charset="0"/>
                </a:endParaRPr>
              </a:p>
              <a:p>
                <a:pPr marL="76200" indent="0">
                  <a:buNone/>
                </a:pPr>
                <a:endParaRPr lang="fr-FR" sz="2000" dirty="0"/>
              </a:p>
              <a:p>
                <a:pPr lvl="0">
                  <a:buFont typeface="Wingdings" panose="05000000000000000000" pitchFamily="2" charset="2"/>
                  <a:buChar char="§"/>
                </a:pPr>
                <a:endParaRPr lang="fr-FR" sz="20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635646"/>
                <a:ext cx="7532654" cy="3291830"/>
              </a:xfrm>
              <a:prstGeom prst="rect">
                <a:avLst/>
              </a:prstGeom>
              <a:blipFill>
                <a:blip r:embed="rId3"/>
                <a:stretch>
                  <a:fillRect l="-1214" t="-556"/>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125</a:t>
            </a:fld>
            <a:endParaRPr/>
          </a:p>
        </p:txBody>
      </p:sp>
    </p:spTree>
    <p:extLst>
      <p:ext uri="{BB962C8B-B14F-4D97-AF65-F5344CB8AC3E}">
        <p14:creationId xmlns="" xmlns:p14="http://schemas.microsoft.com/office/powerpoint/2010/main" val="128987383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635646"/>
                <a:ext cx="7632848"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dirty="0"/>
                  <a:t>Calculer la 3</a:t>
                </a:r>
                <a:r>
                  <a:rPr lang="fr-FR" sz="2000" baseline="30000" dirty="0"/>
                  <a:t>ème</a:t>
                </a:r>
                <a:r>
                  <a:rPr lang="fr-FR" sz="2000" dirty="0"/>
                  <a:t> probabilité:</a:t>
                </a:r>
              </a:p>
              <a:p>
                <a:pPr marL="76200" lvl="0" indent="0">
                  <a:buNone/>
                </a:pPr>
                <a:endParaRPr lang="fr-FR" sz="2000" dirty="0"/>
              </a:p>
              <a:p>
                <a:pPr marL="76200" indent="0">
                  <a:buNone/>
                </a:pPr>
                <a14:m>
                  <m:oMath xmlns:m="http://schemas.openxmlformats.org/officeDocument/2006/math">
                    <m:r>
                      <a:rPr lang="fr-FR" sz="2000" i="1" smtClean="0">
                        <a:solidFill>
                          <a:schemeClr val="tx1"/>
                        </a:solidFill>
                        <a:latin typeface="Cambria Math" panose="02040503050406030204" pitchFamily="18" charset="0"/>
                      </a:rPr>
                      <m:t>𝑃</m:t>
                    </m:r>
                    <m:d>
                      <m:dPr>
                        <m:ctrlPr>
                          <a:rPr lang="fr-FR" sz="2000" i="1">
                            <a:solidFill>
                              <a:schemeClr val="tx1"/>
                            </a:solidFill>
                            <a:latin typeface="Cambria Math" panose="02040503050406030204" pitchFamily="18" charset="0"/>
                          </a:rPr>
                        </m:ctrlPr>
                      </m:dPr>
                      <m:e>
                        <m:r>
                          <a:rPr lang="fr-FR" sz="2000" b="0" i="1" smtClean="0">
                            <a:solidFill>
                              <a:schemeClr val="tx1"/>
                            </a:solidFill>
                            <a:latin typeface="Cambria Math" panose="02040503050406030204" pitchFamily="18" charset="0"/>
                          </a:rPr>
                          <m:t>𝐴𝑢𝑡𝑟𝑒</m:t>
                        </m:r>
                        <m:r>
                          <a:rPr lang="fr-FR" sz="2000" b="0" i="1" smtClean="0">
                            <a:solidFill>
                              <a:schemeClr val="tx1"/>
                            </a:solidFill>
                            <a:latin typeface="Cambria Math" panose="02040503050406030204" pitchFamily="18" charset="0"/>
                          </a:rPr>
                          <m:t> </m:t>
                        </m:r>
                        <m:r>
                          <a:rPr lang="fr-FR" sz="2000" b="0" i="1" smtClean="0">
                            <a:solidFill>
                              <a:schemeClr val="tx1"/>
                            </a:solidFill>
                            <a:latin typeface="Cambria Math" panose="02040503050406030204" pitchFamily="18" charset="0"/>
                          </a:rPr>
                          <m:t>𝑓𝑟𝑢𝑖𝑡</m:t>
                        </m:r>
                      </m:e>
                      <m:e>
                        <m:r>
                          <a:rPr lang="fr-FR" sz="2000" i="1">
                            <a:solidFill>
                              <a:schemeClr val="tx1"/>
                            </a:solidFill>
                            <a:latin typeface="Cambria Math" panose="02040503050406030204" pitchFamily="18" charset="0"/>
                          </a:rPr>
                          <m:t>𝑙𝑜𝑛𝑔</m:t>
                        </m:r>
                        <m:r>
                          <a:rPr lang="fr-FR" sz="2000" i="1">
                            <a:solidFill>
                              <a:schemeClr val="tx1"/>
                            </a:solidFill>
                            <a:latin typeface="Cambria Math" panose="02040503050406030204" pitchFamily="18" charset="0"/>
                          </a:rPr>
                          <m:t>,</m:t>
                        </m:r>
                        <m:r>
                          <a:rPr lang="fr-FR" sz="2000" i="1">
                            <a:solidFill>
                              <a:schemeClr val="tx1"/>
                            </a:solidFill>
                            <a:latin typeface="Cambria Math" panose="02040503050406030204" pitchFamily="18" charset="0"/>
                          </a:rPr>
                          <m:t>𝑗𝑎𝑢𝑛𝑒</m:t>
                        </m:r>
                        <m:r>
                          <a:rPr lang="fr-FR" sz="2000" i="1">
                            <a:solidFill>
                              <a:schemeClr val="tx1"/>
                            </a:solidFill>
                            <a:latin typeface="Cambria Math" panose="02040503050406030204" pitchFamily="18" charset="0"/>
                          </a:rPr>
                          <m:t>,</m:t>
                        </m:r>
                        <m:r>
                          <a:rPr lang="fr-FR" sz="2000" i="1">
                            <a:solidFill>
                              <a:schemeClr val="tx1"/>
                            </a:solidFill>
                            <a:latin typeface="Cambria Math" panose="02040503050406030204" pitchFamily="18" charset="0"/>
                          </a:rPr>
                          <m:t>𝑠𝑢𝑐𝑟𝑒</m:t>
                        </m:r>
                      </m:e>
                    </m:d>
                    <m:r>
                      <a:rPr lang="fr-FR" sz="2000" b="0" i="1" smtClean="0">
                        <a:latin typeface="Cambria Math" panose="02040503050406030204" pitchFamily="18" charset="0"/>
                      </a:rPr>
                      <m:t>= </m:t>
                    </m:r>
                    <m:f>
                      <m:fPr>
                        <m:ctrlPr>
                          <a:rPr lang="fr-FR" sz="2000" b="0" i="1" smtClean="0">
                            <a:latin typeface="Cambria Math" panose="02040503050406030204" pitchFamily="18" charset="0"/>
                          </a:rPr>
                        </m:ctrlPr>
                      </m:fPr>
                      <m:num>
                        <m:r>
                          <a:rPr lang="fr-FR" sz="2000" b="0" i="1" smtClean="0">
                            <a:latin typeface="Cambria Math" panose="02040503050406030204" pitchFamily="18" charset="0"/>
                          </a:rPr>
                          <m:t>𝑃</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𝐿𝑜𝑛𝑔</m:t>
                            </m:r>
                          </m:e>
                          <m:e>
                            <m:r>
                              <a:rPr lang="fr-FR" sz="2000" b="0" i="1" smtClean="0">
                                <a:solidFill>
                                  <a:schemeClr val="tx1"/>
                                </a:solidFill>
                                <a:latin typeface="Cambria Math" panose="02040503050406030204" pitchFamily="18" charset="0"/>
                              </a:rPr>
                              <m:t>𝐴𝐹</m:t>
                            </m:r>
                          </m:e>
                        </m:d>
                        <m:r>
                          <a:rPr lang="fr-FR" sz="2000" b="0" i="1" smtClean="0">
                            <a:latin typeface="Cambria Math" panose="02040503050406030204" pitchFamily="18" charset="0"/>
                          </a:rPr>
                          <m:t>∗</m:t>
                        </m:r>
                        <m:r>
                          <a:rPr lang="fr-FR" sz="2000" i="1">
                            <a:latin typeface="Cambria Math" panose="02040503050406030204" pitchFamily="18" charset="0"/>
                          </a:rPr>
                          <m:t>𝑃</m:t>
                        </m:r>
                        <m:d>
                          <m:dPr>
                            <m:ctrlPr>
                              <a:rPr lang="fr-FR" sz="2000" i="1">
                                <a:latin typeface="Cambria Math" panose="02040503050406030204" pitchFamily="18" charset="0"/>
                              </a:rPr>
                            </m:ctrlPr>
                          </m:dPr>
                          <m:e>
                            <m:r>
                              <a:rPr lang="fr-FR" sz="2000" b="0" i="1" smtClean="0">
                                <a:latin typeface="Cambria Math" panose="02040503050406030204" pitchFamily="18" charset="0"/>
                              </a:rPr>
                              <m:t>𝑗𝑎𝑢𝑛𝑒</m:t>
                            </m:r>
                          </m:e>
                          <m:e>
                            <m:r>
                              <a:rPr lang="fr-FR" sz="2000" b="0" i="1" smtClean="0">
                                <a:solidFill>
                                  <a:schemeClr val="tx1"/>
                                </a:solidFill>
                                <a:latin typeface="Cambria Math" panose="02040503050406030204" pitchFamily="18" charset="0"/>
                              </a:rPr>
                              <m:t>𝐴𝐹</m:t>
                            </m:r>
                          </m:e>
                        </m:d>
                        <m:r>
                          <a:rPr lang="fr-FR" sz="2000" i="1">
                            <a:latin typeface="Cambria Math" panose="02040503050406030204" pitchFamily="18" charset="0"/>
                          </a:rPr>
                          <m:t>∗</m:t>
                        </m:r>
                        <m:r>
                          <a:rPr lang="fr-FR" sz="2000" i="1">
                            <a:latin typeface="Cambria Math" panose="02040503050406030204" pitchFamily="18" charset="0"/>
                          </a:rPr>
                          <m:t>𝑃</m:t>
                        </m:r>
                        <m:d>
                          <m:dPr>
                            <m:ctrlPr>
                              <a:rPr lang="fr-FR" sz="2000" i="1">
                                <a:latin typeface="Cambria Math" panose="02040503050406030204" pitchFamily="18" charset="0"/>
                              </a:rPr>
                            </m:ctrlPr>
                          </m:dPr>
                          <m:e>
                            <m:r>
                              <a:rPr lang="fr-FR" sz="2000" b="0" i="1" smtClean="0">
                                <a:latin typeface="Cambria Math" panose="02040503050406030204" pitchFamily="18" charset="0"/>
                              </a:rPr>
                              <m:t>𝑠𝑢𝑐𝑟𝑒</m:t>
                            </m:r>
                          </m:e>
                          <m:e>
                            <m:r>
                              <a:rPr lang="fr-FR" sz="2000" b="0" i="1" smtClean="0">
                                <a:solidFill>
                                  <a:schemeClr val="tx1"/>
                                </a:solidFill>
                                <a:latin typeface="Cambria Math" panose="02040503050406030204" pitchFamily="18" charset="0"/>
                              </a:rPr>
                              <m:t>𝐴𝐹</m:t>
                            </m:r>
                          </m:e>
                        </m:d>
                        <m:r>
                          <a:rPr lang="fr-FR" sz="2000" i="1">
                            <a:latin typeface="Cambria Math" panose="02040503050406030204" pitchFamily="18" charset="0"/>
                          </a:rPr>
                          <m:t>∗</m:t>
                        </m:r>
                        <m:r>
                          <a:rPr lang="fr-FR" sz="2000" i="1">
                            <a:latin typeface="Cambria Math" panose="02040503050406030204" pitchFamily="18" charset="0"/>
                          </a:rPr>
                          <m:t>𝑃</m:t>
                        </m:r>
                        <m:r>
                          <a:rPr lang="fr-FR" sz="2000" i="1">
                            <a:latin typeface="Cambria Math" panose="02040503050406030204" pitchFamily="18" charset="0"/>
                          </a:rPr>
                          <m:t>(</m:t>
                        </m:r>
                        <m:r>
                          <a:rPr lang="fr-FR" sz="2000" b="0" i="1" smtClean="0">
                            <a:solidFill>
                              <a:schemeClr val="tx1"/>
                            </a:solidFill>
                            <a:latin typeface="Cambria Math" panose="02040503050406030204" pitchFamily="18" charset="0"/>
                          </a:rPr>
                          <m:t>𝐴𝐹</m:t>
                        </m:r>
                        <m:r>
                          <a:rPr lang="fr-FR" sz="2000" i="1">
                            <a:latin typeface="Cambria Math" panose="02040503050406030204" pitchFamily="18" charset="0"/>
                          </a:rPr>
                          <m:t>)</m:t>
                        </m:r>
                      </m:num>
                      <m:den>
                        <m:r>
                          <a:rPr lang="fr-FR" sz="2000" b="0" i="1" smtClean="0">
                            <a:latin typeface="Cambria Math" panose="02040503050406030204" pitchFamily="18" charset="0"/>
                          </a:rPr>
                          <m:t>𝑃</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𝑙𝑜𝑛𝑔</m:t>
                            </m:r>
                          </m:e>
                        </m:d>
                        <m:r>
                          <a:rPr lang="fr-FR" sz="2000" i="1">
                            <a:latin typeface="Cambria Math" panose="02040503050406030204" pitchFamily="18" charset="0"/>
                          </a:rPr>
                          <m:t>∗</m:t>
                        </m:r>
                        <m:r>
                          <a:rPr lang="fr-FR" sz="2000" i="1">
                            <a:latin typeface="Cambria Math" panose="02040503050406030204" pitchFamily="18" charset="0"/>
                          </a:rPr>
                          <m:t>𝑃</m:t>
                        </m:r>
                        <m:d>
                          <m:dPr>
                            <m:ctrlPr>
                              <a:rPr lang="fr-FR" sz="2000" i="1" smtClean="0">
                                <a:latin typeface="Cambria Math" panose="02040503050406030204" pitchFamily="18" charset="0"/>
                              </a:rPr>
                            </m:ctrlPr>
                          </m:dPr>
                          <m:e>
                            <m:r>
                              <a:rPr lang="fr-FR" sz="2000" b="0" i="1" smtClean="0">
                                <a:latin typeface="Cambria Math" panose="02040503050406030204" pitchFamily="18" charset="0"/>
                              </a:rPr>
                              <m:t>𝑗𝑎𝑢𝑛𝑒</m:t>
                            </m:r>
                          </m:e>
                        </m:d>
                        <m:r>
                          <a:rPr lang="fr-FR" sz="2000" b="0" i="1" smtClean="0">
                            <a:latin typeface="Cambria Math" panose="02040503050406030204" pitchFamily="18" charset="0"/>
                          </a:rPr>
                          <m:t>∗</m:t>
                        </m:r>
                        <m:r>
                          <a:rPr lang="fr-FR" sz="2000" i="1">
                            <a:latin typeface="Cambria Math" panose="02040503050406030204" pitchFamily="18" charset="0"/>
                          </a:rPr>
                          <m:t>𝑃</m:t>
                        </m:r>
                        <m:r>
                          <a:rPr lang="fr-FR" sz="2000" i="1">
                            <a:latin typeface="Cambria Math" panose="02040503050406030204" pitchFamily="18" charset="0"/>
                          </a:rPr>
                          <m:t>(</m:t>
                        </m:r>
                        <m:r>
                          <a:rPr lang="fr-FR" sz="2000" b="0" i="1" smtClean="0">
                            <a:latin typeface="Cambria Math" panose="02040503050406030204" pitchFamily="18" charset="0"/>
                          </a:rPr>
                          <m:t>𝑠𝑢𝑐𝑟</m:t>
                        </m:r>
                        <m:r>
                          <a:rPr lang="fr-FR" sz="2000" b="0" i="1" smtClean="0">
                            <a:latin typeface="Cambria Math" panose="02040503050406030204" pitchFamily="18" charset="0"/>
                          </a:rPr>
                          <m:t>é)</m:t>
                        </m:r>
                      </m:den>
                    </m:f>
                  </m:oMath>
                </a14:m>
                <a:r>
                  <a:rPr lang="fr-FR" sz="2000" dirty="0"/>
                  <a:t> </a:t>
                </a:r>
              </a:p>
              <a:p>
                <a:pPr lvl="0">
                  <a:buFont typeface="Wingdings" panose="05000000000000000000" pitchFamily="2" charset="2"/>
                  <a:buChar char="§"/>
                </a:pPr>
                <a:endParaRPr lang="fr-FR" sz="20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635646"/>
                <a:ext cx="7632848" cy="3291830"/>
              </a:xfrm>
              <a:prstGeom prst="rect">
                <a:avLst/>
              </a:prstGeom>
              <a:blipFill>
                <a:blip r:embed="rId3"/>
                <a:stretch>
                  <a:fillRect l="-1198" t="-556"/>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126</a:t>
            </a:fld>
            <a:endParaRPr/>
          </a:p>
        </p:txBody>
      </p:sp>
    </p:spTree>
    <p:extLst>
      <p:ext uri="{BB962C8B-B14F-4D97-AF65-F5344CB8AC3E}">
        <p14:creationId xmlns="" xmlns:p14="http://schemas.microsoft.com/office/powerpoint/2010/main" val="376654780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899592" y="1635646"/>
                <a:ext cx="7704856" cy="3291830"/>
              </a:xfrm>
              <a:prstGeom prst="rect">
                <a:avLst/>
              </a:prstGeom>
            </p:spPr>
            <p:txBody>
              <a:bodyPr spcFirstLastPara="1" wrap="square" lIns="0" tIns="0" rIns="0" bIns="0" anchor="t" anchorCtr="0">
                <a:noAutofit/>
              </a:bodyPr>
              <a:lstStyle/>
              <a:p>
                <a:pPr lvl="1">
                  <a:lnSpc>
                    <a:spcPct val="150000"/>
                  </a:lnSpc>
                  <a:buClr>
                    <a:schemeClr val="accent4"/>
                  </a:buClr>
                  <a:buSzPct val="100000"/>
                  <a:buFont typeface="Wingdings" panose="05000000000000000000" pitchFamily="2" charset="2"/>
                  <a:buChar char="§"/>
                </a:pPr>
                <a14:m>
                  <m:oMath xmlns:m="http://schemas.openxmlformats.org/officeDocument/2006/math">
                    <m:r>
                      <a:rPr lang="fr-FR" sz="1800" b="1" i="1" smtClean="0">
                        <a:solidFill>
                          <a:schemeClr val="accent6">
                            <a:lumMod val="50000"/>
                          </a:schemeClr>
                        </a:solidFill>
                        <a:latin typeface="Cambria Math" panose="02040503050406030204" pitchFamily="18" charset="0"/>
                      </a:rPr>
                      <m:t>𝑷</m:t>
                    </m:r>
                    <m:d>
                      <m:dPr>
                        <m:ctrlPr>
                          <a:rPr lang="fr-FR" sz="1800" b="1" i="1" smtClean="0">
                            <a:solidFill>
                              <a:schemeClr val="accent6">
                                <a:lumMod val="50000"/>
                              </a:schemeClr>
                            </a:solidFill>
                            <a:latin typeface="Cambria Math" panose="02040503050406030204" pitchFamily="18" charset="0"/>
                          </a:rPr>
                        </m:ctrlPr>
                      </m:dPr>
                      <m:e>
                        <m:r>
                          <a:rPr lang="fr-FR" sz="1800" b="1" i="1">
                            <a:solidFill>
                              <a:schemeClr val="accent6">
                                <a:lumMod val="50000"/>
                              </a:schemeClr>
                            </a:solidFill>
                            <a:latin typeface="Cambria Math" panose="02040503050406030204" pitchFamily="18" charset="0"/>
                          </a:rPr>
                          <m:t>𝑨𝒖𝒕𝒓𝒆</m:t>
                        </m:r>
                        <m:r>
                          <a:rPr lang="fr-FR" sz="1800" b="1" i="1">
                            <a:solidFill>
                              <a:schemeClr val="accent6">
                                <a:lumMod val="50000"/>
                              </a:schemeClr>
                            </a:solidFill>
                            <a:latin typeface="Cambria Math" panose="02040503050406030204" pitchFamily="18" charset="0"/>
                          </a:rPr>
                          <m:t> </m:t>
                        </m:r>
                        <m:r>
                          <a:rPr lang="fr-FR" sz="1800" b="1" i="1">
                            <a:solidFill>
                              <a:schemeClr val="accent6">
                                <a:lumMod val="50000"/>
                              </a:schemeClr>
                            </a:solidFill>
                            <a:latin typeface="Cambria Math" panose="02040503050406030204" pitchFamily="18" charset="0"/>
                          </a:rPr>
                          <m:t>𝒇𝒓𝒖𝒊𝒕</m:t>
                        </m:r>
                      </m:e>
                    </m:d>
                    <m:r>
                      <a:rPr lang="fr-FR" sz="1800" b="0" i="1" smtClean="0">
                        <a:latin typeface="Cambria Math" panose="02040503050406030204" pitchFamily="18" charset="0"/>
                      </a:rPr>
                      <m:t>= </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𝐴𝑢𝑡𝑟𝑒</m:t>
                            </m:r>
                            <m:r>
                              <a:rPr lang="fr-FR" sz="1800" b="0" i="1" smtClean="0">
                                <a:latin typeface="Cambria Math" panose="02040503050406030204" pitchFamily="18" charset="0"/>
                              </a:rPr>
                              <m:t> </m:t>
                            </m:r>
                            <m:r>
                              <a:rPr lang="fr-FR" sz="1800" b="0" i="1" smtClean="0">
                                <a:latin typeface="Cambria Math" panose="02040503050406030204" pitchFamily="18" charset="0"/>
                              </a:rPr>
                              <m:t>𝑓𝑟𝑢𝑖𝑡</m:t>
                            </m:r>
                          </m:e>
                        </m:d>
                      </m:num>
                      <m:den>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m:rPr>
                                <m:sty m:val="p"/>
                              </m:rPr>
                              <a:rPr lang="fr-FR" sz="1800" b="0" i="0" smtClean="0">
                                <a:latin typeface="Cambria Math" panose="02040503050406030204" pitchFamily="18" charset="0"/>
                              </a:rPr>
                              <m:t>Tous</m:t>
                            </m:r>
                            <m:r>
                              <a:rPr lang="fr-FR" sz="1800" b="0" i="0" smtClean="0">
                                <a:latin typeface="Cambria Math" panose="02040503050406030204" pitchFamily="18" charset="0"/>
                              </a:rPr>
                              <m:t> </m:t>
                            </m:r>
                            <m:r>
                              <m:rPr>
                                <m:sty m:val="p"/>
                              </m:rPr>
                              <a:rPr lang="fr-FR" sz="1800" b="0" i="0" smtClean="0">
                                <a:latin typeface="Cambria Math" panose="02040503050406030204" pitchFamily="18" charset="0"/>
                              </a:rPr>
                              <m:t>les</m:t>
                            </m:r>
                            <m:r>
                              <a:rPr lang="fr-FR" sz="1800" b="0" i="0" smtClean="0">
                                <a:latin typeface="Cambria Math" panose="02040503050406030204" pitchFamily="18" charset="0"/>
                              </a:rPr>
                              <m:t> </m:t>
                            </m:r>
                            <m:r>
                              <m:rPr>
                                <m:sty m:val="p"/>
                              </m:rPr>
                              <a:rPr lang="fr-FR" sz="1800" b="0" i="0" smtClean="0">
                                <a:latin typeface="Cambria Math" panose="02040503050406030204" pitchFamily="18" charset="0"/>
                              </a:rPr>
                              <m:t>fruits</m:t>
                            </m:r>
                          </m:e>
                        </m:d>
                      </m:den>
                    </m:f>
                    <m:r>
                      <a:rPr lang="fr-FR" sz="1800" b="0" i="1" smtClean="0">
                        <a:latin typeface="Cambria Math" panose="02040503050406030204" pitchFamily="18" charset="0"/>
                      </a:rPr>
                      <m:t>= </m:t>
                    </m:r>
                    <m:f>
                      <m:fPr>
                        <m:ctrlPr>
                          <a:rPr lang="fr-FR" sz="1800" i="1" smtClean="0">
                            <a:latin typeface="Cambria Math" panose="02040503050406030204" pitchFamily="18" charset="0"/>
                          </a:rPr>
                        </m:ctrlPr>
                      </m:fPr>
                      <m:num>
                        <m:r>
                          <a:rPr lang="fr-FR" sz="1800" b="0" i="1" smtClean="0">
                            <a:latin typeface="Cambria Math" panose="02040503050406030204" pitchFamily="18" charset="0"/>
                          </a:rPr>
                          <m:t>200</m:t>
                        </m:r>
                      </m:num>
                      <m:den>
                        <m:r>
                          <a:rPr lang="fr-FR" sz="1800" b="0" i="1" smtClean="0">
                            <a:latin typeface="Cambria Math" panose="02040503050406030204" pitchFamily="18" charset="0"/>
                          </a:rPr>
                          <m:t>1000</m:t>
                        </m:r>
                      </m:den>
                    </m:f>
                    <m:r>
                      <a:rPr lang="fr-FR" sz="1800" b="0" i="1" smtClean="0">
                        <a:latin typeface="Cambria Math" panose="02040503050406030204" pitchFamily="18" charset="0"/>
                        <a:ea typeface="Cambria Math" panose="02040503050406030204" pitchFamily="18" charset="0"/>
                      </a:rPr>
                      <m:t>=0,2</m:t>
                    </m:r>
                  </m:oMath>
                </a14:m>
                <a:endParaRPr lang="fr-FR" sz="1800" b="0" dirty="0">
                  <a:latin typeface="Barlow Light" panose="020B0604020202020204" charset="0"/>
                  <a:ea typeface="Cambria Math" panose="02040503050406030204" pitchFamily="18" charset="0"/>
                </a:endParaRPr>
              </a:p>
              <a:p>
                <a:pPr lvl="1">
                  <a:lnSpc>
                    <a:spcPct val="150000"/>
                  </a:lnSpc>
                  <a:buClr>
                    <a:schemeClr val="accent4"/>
                  </a:buClr>
                  <a:buSzPct val="100000"/>
                  <a:buFont typeface="Wingdings" panose="05000000000000000000" pitchFamily="2" charset="2"/>
                  <a:buChar char="§"/>
                </a:pPr>
                <a14:m>
                  <m:oMath xmlns:m="http://schemas.openxmlformats.org/officeDocument/2006/math">
                    <m:r>
                      <a:rPr lang="fr-FR" sz="1800" b="1" i="1" smtClean="0">
                        <a:solidFill>
                          <a:schemeClr val="accent6">
                            <a:lumMod val="50000"/>
                          </a:schemeClr>
                        </a:solidFill>
                        <a:latin typeface="Cambria Math" panose="02040503050406030204" pitchFamily="18" charset="0"/>
                      </a:rPr>
                      <m:t>𝑷</m:t>
                    </m:r>
                    <m:d>
                      <m:dPr>
                        <m:ctrlPr>
                          <a:rPr lang="fr-FR" sz="1800" b="1" i="1" smtClean="0">
                            <a:solidFill>
                              <a:schemeClr val="accent6">
                                <a:lumMod val="50000"/>
                              </a:schemeClr>
                            </a:solidFill>
                            <a:latin typeface="Cambria Math" panose="02040503050406030204" pitchFamily="18" charset="0"/>
                          </a:rPr>
                        </m:ctrlPr>
                      </m:dPr>
                      <m:e>
                        <m:r>
                          <a:rPr lang="fr-FR" sz="1800" b="1" i="1" smtClean="0">
                            <a:solidFill>
                              <a:schemeClr val="accent6">
                                <a:lumMod val="50000"/>
                              </a:schemeClr>
                            </a:solidFill>
                            <a:latin typeface="Cambria Math" panose="02040503050406030204" pitchFamily="18" charset="0"/>
                          </a:rPr>
                          <m:t>𝑳𝒐𝒏𝒈</m:t>
                        </m:r>
                        <m:r>
                          <a:rPr lang="fr-FR" sz="1800" b="1" i="1" smtClean="0">
                            <a:solidFill>
                              <a:schemeClr val="accent6">
                                <a:lumMod val="50000"/>
                              </a:schemeClr>
                            </a:solidFill>
                            <a:latin typeface="Cambria Math" panose="02040503050406030204" pitchFamily="18" charset="0"/>
                          </a:rPr>
                          <m:t>|</m:t>
                        </m:r>
                        <m:r>
                          <a:rPr lang="fr-FR" sz="1800" b="1" i="1">
                            <a:solidFill>
                              <a:schemeClr val="accent6">
                                <a:lumMod val="50000"/>
                              </a:schemeClr>
                            </a:solidFill>
                            <a:latin typeface="Cambria Math" panose="02040503050406030204" pitchFamily="18" charset="0"/>
                          </a:rPr>
                          <m:t>𝑨𝒖𝒕𝒓𝒆</m:t>
                        </m:r>
                        <m:r>
                          <a:rPr lang="fr-FR" sz="1800" b="1" i="1">
                            <a:solidFill>
                              <a:schemeClr val="accent6">
                                <a:lumMod val="50000"/>
                              </a:schemeClr>
                            </a:solidFill>
                            <a:latin typeface="Cambria Math" panose="02040503050406030204" pitchFamily="18" charset="0"/>
                          </a:rPr>
                          <m:t> </m:t>
                        </m:r>
                        <m:r>
                          <a:rPr lang="fr-FR" sz="1800" b="1" i="1">
                            <a:solidFill>
                              <a:schemeClr val="accent6">
                                <a:lumMod val="50000"/>
                              </a:schemeClr>
                            </a:solidFill>
                            <a:latin typeface="Cambria Math" panose="02040503050406030204" pitchFamily="18" charset="0"/>
                          </a:rPr>
                          <m:t>𝒇𝒓𝒖𝒊𝒕</m:t>
                        </m:r>
                      </m:e>
                    </m:d>
                    <m:r>
                      <a:rPr lang="fr-FR" sz="1800" b="0" i="1" smtClean="0">
                        <a:latin typeface="Cambria Math" panose="02040503050406030204" pitchFamily="18" charset="0"/>
                      </a:rPr>
                      <m:t>= </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a:rPr lang="fr-FR" sz="1800" i="1">
                                <a:latin typeface="Cambria Math" panose="02040503050406030204" pitchFamily="18" charset="0"/>
                              </a:rPr>
                              <m:t>𝐴𝑢𝑡𝑟𝑒</m:t>
                            </m:r>
                            <m:r>
                              <a:rPr lang="fr-FR" sz="1800" i="1">
                                <a:latin typeface="Cambria Math" panose="02040503050406030204" pitchFamily="18" charset="0"/>
                              </a:rPr>
                              <m:t> </m:t>
                            </m:r>
                            <m:r>
                              <a:rPr lang="fr-FR" sz="1800" i="1">
                                <a:latin typeface="Cambria Math" panose="02040503050406030204" pitchFamily="18" charset="0"/>
                              </a:rPr>
                              <m:t>𝑓𝑟𝑢𝑖𝑡</m:t>
                            </m:r>
                            <m:r>
                              <a:rPr lang="fr-FR" sz="1800" b="0" i="1" smtClean="0">
                                <a:latin typeface="Cambria Math" panose="02040503050406030204" pitchFamily="18" charset="0"/>
                              </a:rPr>
                              <m:t> </m:t>
                            </m:r>
                            <m:r>
                              <a:rPr lang="fr-FR" sz="1800" i="1">
                                <a:latin typeface="Cambria Math" panose="02040503050406030204" pitchFamily="18" charset="0"/>
                              </a:rPr>
                              <m:t>𝐸𝑇</m:t>
                            </m:r>
                            <m:r>
                              <a:rPr lang="fr-FR" sz="1800" i="1">
                                <a:latin typeface="Cambria Math" panose="02040503050406030204" pitchFamily="18" charset="0"/>
                              </a:rPr>
                              <m:t> </m:t>
                            </m:r>
                            <m:r>
                              <a:rPr lang="fr-FR" sz="1800" i="1">
                                <a:latin typeface="Cambria Math" panose="02040503050406030204" pitchFamily="18" charset="0"/>
                              </a:rPr>
                              <m:t>𝐿𝑜𝑛𝑔</m:t>
                            </m:r>
                          </m:e>
                        </m:d>
                      </m:num>
                      <m:den>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a:rPr lang="fr-FR" sz="1800" i="1">
                                <a:latin typeface="Cambria Math" panose="02040503050406030204" pitchFamily="18" charset="0"/>
                              </a:rPr>
                              <m:t>𝐴𝑢𝑡𝑟𝑒</m:t>
                            </m:r>
                            <m:r>
                              <a:rPr lang="fr-FR" sz="1800" i="1">
                                <a:latin typeface="Cambria Math" panose="02040503050406030204" pitchFamily="18" charset="0"/>
                              </a:rPr>
                              <m:t> </m:t>
                            </m:r>
                            <m:r>
                              <a:rPr lang="fr-FR" sz="1800" i="1">
                                <a:latin typeface="Cambria Math" panose="02040503050406030204" pitchFamily="18" charset="0"/>
                              </a:rPr>
                              <m:t>𝑓𝑟𝑢𝑖𝑡</m:t>
                            </m:r>
                          </m:e>
                        </m:d>
                      </m:den>
                    </m:f>
                    <m:r>
                      <a:rPr lang="fr-FR" sz="1800" b="0" i="1" smtClean="0">
                        <a:latin typeface="Cambria Math" panose="02040503050406030204" pitchFamily="18" charset="0"/>
                      </a:rPr>
                      <m:t>= </m:t>
                    </m:r>
                    <m:f>
                      <m:fPr>
                        <m:ctrlPr>
                          <a:rPr lang="fr-FR" sz="1800" i="1" smtClean="0">
                            <a:latin typeface="Cambria Math" panose="02040503050406030204" pitchFamily="18" charset="0"/>
                          </a:rPr>
                        </m:ctrlPr>
                      </m:fPr>
                      <m:num>
                        <m:r>
                          <a:rPr lang="fr-FR" sz="1800" b="0" i="1" smtClean="0">
                            <a:latin typeface="Cambria Math" panose="02040503050406030204" pitchFamily="18" charset="0"/>
                          </a:rPr>
                          <m:t>100</m:t>
                        </m:r>
                      </m:num>
                      <m:den>
                        <m:r>
                          <a:rPr lang="fr-FR" sz="1800" b="0" i="1" smtClean="0">
                            <a:latin typeface="Cambria Math" panose="02040503050406030204" pitchFamily="18" charset="0"/>
                          </a:rPr>
                          <m:t>200</m:t>
                        </m:r>
                      </m:den>
                    </m:f>
                    <m:r>
                      <a:rPr lang="fr-FR" sz="1800" b="0" i="1" smtClean="0">
                        <a:latin typeface="Cambria Math" panose="02040503050406030204" pitchFamily="18" charset="0"/>
                        <a:ea typeface="Cambria Math" panose="02040503050406030204" pitchFamily="18" charset="0"/>
                      </a:rPr>
                      <m:t>=0</m:t>
                    </m:r>
                  </m:oMath>
                </a14:m>
                <a:r>
                  <a:rPr lang="fr-FR" sz="1800" b="0" dirty="0">
                    <a:latin typeface="Barlow Light" panose="020B0604020202020204" charset="0"/>
                    <a:ea typeface="Cambria Math" panose="02040503050406030204" pitchFamily="18" charset="0"/>
                  </a:rPr>
                  <a:t>,5</a:t>
                </a:r>
              </a:p>
              <a:p>
                <a:pPr lvl="1">
                  <a:lnSpc>
                    <a:spcPct val="150000"/>
                  </a:lnSpc>
                  <a:buClr>
                    <a:schemeClr val="accent4"/>
                  </a:buClr>
                  <a:buSzPct val="100000"/>
                  <a:buFont typeface="Wingdings" panose="05000000000000000000" pitchFamily="2" charset="2"/>
                  <a:buChar char="§"/>
                </a:pPr>
                <a14:m>
                  <m:oMath xmlns:m="http://schemas.openxmlformats.org/officeDocument/2006/math">
                    <m:r>
                      <a:rPr lang="fr-FR" sz="1800" b="1" i="1">
                        <a:solidFill>
                          <a:schemeClr val="accent6">
                            <a:lumMod val="50000"/>
                          </a:schemeClr>
                        </a:solidFill>
                        <a:latin typeface="Cambria Math" panose="02040503050406030204" pitchFamily="18" charset="0"/>
                      </a:rPr>
                      <m:t>𝑷</m:t>
                    </m:r>
                    <m:d>
                      <m:dPr>
                        <m:ctrlPr>
                          <a:rPr lang="fr-FR" sz="1800" b="1" i="1">
                            <a:solidFill>
                              <a:schemeClr val="accent6">
                                <a:lumMod val="50000"/>
                              </a:schemeClr>
                            </a:solidFill>
                            <a:latin typeface="Cambria Math" panose="02040503050406030204" pitchFamily="18" charset="0"/>
                          </a:rPr>
                        </m:ctrlPr>
                      </m:dPr>
                      <m:e>
                        <m:r>
                          <a:rPr lang="fr-FR" sz="1800" b="1" i="1">
                            <a:solidFill>
                              <a:schemeClr val="accent6">
                                <a:lumMod val="50000"/>
                              </a:schemeClr>
                            </a:solidFill>
                            <a:latin typeface="Cambria Math" panose="02040503050406030204" pitchFamily="18" charset="0"/>
                          </a:rPr>
                          <m:t>𝒋𝒂𝒖𝒏𝒆</m:t>
                        </m:r>
                        <m:r>
                          <a:rPr lang="fr-FR" sz="1800" b="1" i="1">
                            <a:solidFill>
                              <a:schemeClr val="accent6">
                                <a:lumMod val="50000"/>
                              </a:schemeClr>
                            </a:solidFill>
                            <a:latin typeface="Cambria Math" panose="02040503050406030204" pitchFamily="18" charset="0"/>
                          </a:rPr>
                          <m:t>|</m:t>
                        </m:r>
                        <m:r>
                          <a:rPr lang="fr-FR" sz="1800" b="1" i="1">
                            <a:solidFill>
                              <a:schemeClr val="accent6">
                                <a:lumMod val="50000"/>
                              </a:schemeClr>
                            </a:solidFill>
                            <a:latin typeface="Cambria Math" panose="02040503050406030204" pitchFamily="18" charset="0"/>
                          </a:rPr>
                          <m:t>𝑨𝒖𝒕𝒓𝒆</m:t>
                        </m:r>
                        <m:r>
                          <a:rPr lang="fr-FR" sz="1800" b="1" i="1">
                            <a:solidFill>
                              <a:schemeClr val="accent6">
                                <a:lumMod val="50000"/>
                              </a:schemeClr>
                            </a:solidFill>
                            <a:latin typeface="Cambria Math" panose="02040503050406030204" pitchFamily="18" charset="0"/>
                          </a:rPr>
                          <m:t> </m:t>
                        </m:r>
                        <m:r>
                          <a:rPr lang="fr-FR" sz="1800" b="1" i="1">
                            <a:solidFill>
                              <a:schemeClr val="accent6">
                                <a:lumMod val="50000"/>
                              </a:schemeClr>
                            </a:solidFill>
                            <a:latin typeface="Cambria Math" panose="02040503050406030204" pitchFamily="18" charset="0"/>
                          </a:rPr>
                          <m:t>𝒇𝒓𝒖𝒊𝒕</m:t>
                        </m:r>
                      </m:e>
                    </m:d>
                    <m:r>
                      <a:rPr lang="fr-FR" sz="1800" b="1" i="1" smtClean="0">
                        <a:solidFill>
                          <a:schemeClr val="tx1"/>
                        </a:solidFill>
                        <a:latin typeface="Cambria Math" panose="02040503050406030204" pitchFamily="18" charset="0"/>
                      </a:rPr>
                      <m:t>= </m:t>
                    </m:r>
                    <m:f>
                      <m:fPr>
                        <m:ctrlPr>
                          <a:rPr lang="fr-FR" sz="1800" b="1" i="1">
                            <a:solidFill>
                              <a:schemeClr val="tx1"/>
                            </a:solidFill>
                            <a:latin typeface="Cambria Math" panose="02040503050406030204" pitchFamily="18" charset="0"/>
                          </a:rPr>
                        </m:ctrlPr>
                      </m:fPr>
                      <m:num>
                        <m:r>
                          <a:rPr lang="fr-FR" sz="1800" b="1" i="1">
                            <a:solidFill>
                              <a:schemeClr val="tx1"/>
                            </a:solidFill>
                            <a:latin typeface="Cambria Math" panose="02040503050406030204" pitchFamily="18" charset="0"/>
                          </a:rPr>
                          <m:t>𝑐𝑎𝑟𝑑𝑖𝑛𝑎𝑙</m:t>
                        </m:r>
                        <m:d>
                          <m:dPr>
                            <m:ctrlPr>
                              <a:rPr lang="fr-FR" sz="1800" b="1" i="1">
                                <a:solidFill>
                                  <a:schemeClr val="tx1"/>
                                </a:solidFill>
                                <a:latin typeface="Cambria Math" panose="02040503050406030204" pitchFamily="18" charset="0"/>
                              </a:rPr>
                            </m:ctrlPr>
                          </m:dPr>
                          <m:e>
                            <m:r>
                              <a:rPr lang="fr-FR" sz="1800" i="1">
                                <a:latin typeface="Cambria Math" panose="02040503050406030204" pitchFamily="18" charset="0"/>
                              </a:rPr>
                              <m:t>𝐴𝑢𝑡𝑟𝑒</m:t>
                            </m:r>
                            <m:r>
                              <a:rPr lang="fr-FR" sz="1800" i="1">
                                <a:latin typeface="Cambria Math" panose="02040503050406030204" pitchFamily="18" charset="0"/>
                              </a:rPr>
                              <m:t> </m:t>
                            </m:r>
                            <m:r>
                              <a:rPr lang="fr-FR" sz="1800" i="1">
                                <a:latin typeface="Cambria Math" panose="02040503050406030204" pitchFamily="18" charset="0"/>
                              </a:rPr>
                              <m:t>𝑓𝑟𝑢𝑖𝑡</m:t>
                            </m:r>
                            <m:r>
                              <a:rPr lang="fr-FR" sz="1800" b="1" i="1" smtClean="0">
                                <a:latin typeface="Cambria Math" panose="02040503050406030204" pitchFamily="18" charset="0"/>
                              </a:rPr>
                              <m:t> </m:t>
                            </m:r>
                            <m:r>
                              <a:rPr lang="fr-FR" sz="1800" b="1" i="1">
                                <a:solidFill>
                                  <a:schemeClr val="tx1"/>
                                </a:solidFill>
                                <a:latin typeface="Cambria Math" panose="02040503050406030204" pitchFamily="18" charset="0"/>
                              </a:rPr>
                              <m:t>𝐸𝑇</m:t>
                            </m:r>
                            <m:r>
                              <a:rPr lang="fr-FR" sz="1800" b="1" i="1">
                                <a:solidFill>
                                  <a:schemeClr val="tx1"/>
                                </a:solidFill>
                                <a:latin typeface="Cambria Math" panose="02040503050406030204" pitchFamily="18" charset="0"/>
                              </a:rPr>
                              <m:t> </m:t>
                            </m:r>
                            <m:r>
                              <a:rPr lang="fr-FR" sz="1800" b="1" i="1">
                                <a:solidFill>
                                  <a:schemeClr val="tx1"/>
                                </a:solidFill>
                                <a:latin typeface="Cambria Math" panose="02040503050406030204" pitchFamily="18" charset="0"/>
                              </a:rPr>
                              <m:t>𝑗𝑎𝑢𝑛𝑒</m:t>
                            </m:r>
                          </m:e>
                        </m:d>
                      </m:num>
                      <m:den>
                        <m:r>
                          <a:rPr lang="fr-FR" sz="1800" b="1" i="1">
                            <a:solidFill>
                              <a:schemeClr val="tx1"/>
                            </a:solidFill>
                            <a:latin typeface="Cambria Math" panose="02040503050406030204" pitchFamily="18" charset="0"/>
                          </a:rPr>
                          <m:t>𝑐𝑎𝑟𝑑𝑖𝑛𝑎𝑙</m:t>
                        </m:r>
                        <m:d>
                          <m:dPr>
                            <m:ctrlPr>
                              <a:rPr lang="fr-FR" sz="1800" b="1" i="1">
                                <a:solidFill>
                                  <a:schemeClr val="tx1"/>
                                </a:solidFill>
                                <a:latin typeface="Cambria Math" panose="02040503050406030204" pitchFamily="18" charset="0"/>
                              </a:rPr>
                            </m:ctrlPr>
                          </m:dPr>
                          <m:e>
                            <m:r>
                              <a:rPr lang="fr-FR" sz="1800" i="1">
                                <a:latin typeface="Cambria Math" panose="02040503050406030204" pitchFamily="18" charset="0"/>
                              </a:rPr>
                              <m:t>𝐴𝑢𝑡𝑟𝑒</m:t>
                            </m:r>
                            <m:r>
                              <a:rPr lang="fr-FR" sz="1800" i="1">
                                <a:latin typeface="Cambria Math" panose="02040503050406030204" pitchFamily="18" charset="0"/>
                              </a:rPr>
                              <m:t> </m:t>
                            </m:r>
                            <m:r>
                              <a:rPr lang="fr-FR" sz="1800" i="1">
                                <a:latin typeface="Cambria Math" panose="02040503050406030204" pitchFamily="18" charset="0"/>
                              </a:rPr>
                              <m:t>𝑓𝑟𝑢𝑖𝑡</m:t>
                            </m:r>
                          </m:e>
                        </m:d>
                      </m:den>
                    </m:f>
                    <m:r>
                      <a:rPr lang="fr-FR" sz="1800" b="1" i="1">
                        <a:solidFill>
                          <a:schemeClr val="tx1"/>
                        </a:solidFill>
                        <a:latin typeface="Cambria Math" panose="02040503050406030204" pitchFamily="18" charset="0"/>
                      </a:rPr>
                      <m:t>= </m:t>
                    </m:r>
                    <m:f>
                      <m:fPr>
                        <m:ctrlPr>
                          <a:rPr lang="fr-FR" sz="1800" b="1" i="1">
                            <a:solidFill>
                              <a:schemeClr val="tx1"/>
                            </a:solidFill>
                            <a:latin typeface="Cambria Math" panose="02040503050406030204" pitchFamily="18" charset="0"/>
                          </a:rPr>
                        </m:ctrlPr>
                      </m:fPr>
                      <m:num>
                        <m:r>
                          <a:rPr lang="fr-FR" sz="1800" b="0" i="1" smtClean="0">
                            <a:solidFill>
                              <a:schemeClr val="tx1"/>
                            </a:solidFill>
                            <a:latin typeface="Cambria Math" panose="02040503050406030204" pitchFamily="18" charset="0"/>
                          </a:rPr>
                          <m:t>5</m:t>
                        </m:r>
                        <m:r>
                          <a:rPr lang="fr-FR" sz="1800" b="1" i="1">
                            <a:solidFill>
                              <a:schemeClr val="tx1"/>
                            </a:solidFill>
                            <a:latin typeface="Cambria Math" panose="02040503050406030204" pitchFamily="18" charset="0"/>
                          </a:rPr>
                          <m:t>0</m:t>
                        </m:r>
                      </m:num>
                      <m:den>
                        <m:r>
                          <a:rPr lang="fr-FR" sz="1800" b="0" i="1" smtClean="0">
                            <a:solidFill>
                              <a:schemeClr val="tx1"/>
                            </a:solidFill>
                            <a:latin typeface="Cambria Math" panose="02040503050406030204" pitchFamily="18" charset="0"/>
                          </a:rPr>
                          <m:t>2</m:t>
                        </m:r>
                        <m:r>
                          <a:rPr lang="fr-FR" sz="1800" b="1" i="1">
                            <a:solidFill>
                              <a:schemeClr val="tx1"/>
                            </a:solidFill>
                            <a:latin typeface="Cambria Math" panose="02040503050406030204" pitchFamily="18" charset="0"/>
                          </a:rPr>
                          <m:t>00</m:t>
                        </m:r>
                      </m:den>
                    </m:f>
                    <m:r>
                      <a:rPr lang="fr-FR" sz="1800" b="1" i="1">
                        <a:solidFill>
                          <a:schemeClr val="tx1"/>
                        </a:solidFill>
                        <a:latin typeface="Cambria Math" panose="02040503050406030204" pitchFamily="18" charset="0"/>
                      </a:rPr>
                      <m:t>=</m:t>
                    </m:r>
                    <m:r>
                      <a:rPr lang="fr-FR" sz="1800" b="0" i="1" smtClean="0">
                        <a:solidFill>
                          <a:schemeClr val="tx1"/>
                        </a:solidFill>
                        <a:latin typeface="Cambria Math" panose="02040503050406030204" pitchFamily="18" charset="0"/>
                      </a:rPr>
                      <m:t>0,25</m:t>
                    </m:r>
                  </m:oMath>
                </a14:m>
                <a:endParaRPr lang="fr-FR" sz="1800" i="1" dirty="0">
                  <a:solidFill>
                    <a:schemeClr val="tx1"/>
                  </a:solidFill>
                  <a:latin typeface="Cambria Math" panose="02040503050406030204" pitchFamily="18" charset="0"/>
                </a:endParaRPr>
              </a:p>
              <a:p>
                <a:pPr lvl="1">
                  <a:lnSpc>
                    <a:spcPct val="150000"/>
                  </a:lnSpc>
                  <a:buClr>
                    <a:schemeClr val="accent4"/>
                  </a:buClr>
                  <a:buSzPct val="100000"/>
                  <a:buFont typeface="Wingdings" panose="05000000000000000000" pitchFamily="2" charset="2"/>
                  <a:buChar char="§"/>
                </a:pPr>
                <a14:m>
                  <m:oMath xmlns:m="http://schemas.openxmlformats.org/officeDocument/2006/math">
                    <m:r>
                      <a:rPr lang="fr-FR" sz="1800" b="1" i="1" smtClean="0">
                        <a:solidFill>
                          <a:schemeClr val="accent6">
                            <a:lumMod val="50000"/>
                          </a:schemeClr>
                        </a:solidFill>
                        <a:latin typeface="Cambria Math" panose="02040503050406030204" pitchFamily="18" charset="0"/>
                      </a:rPr>
                      <m:t>𝑷</m:t>
                    </m:r>
                    <m:d>
                      <m:dPr>
                        <m:ctrlPr>
                          <a:rPr lang="fr-FR" sz="1800" b="1" i="1" smtClean="0">
                            <a:solidFill>
                              <a:schemeClr val="accent6">
                                <a:lumMod val="50000"/>
                              </a:schemeClr>
                            </a:solidFill>
                            <a:latin typeface="Cambria Math" panose="02040503050406030204" pitchFamily="18" charset="0"/>
                          </a:rPr>
                        </m:ctrlPr>
                      </m:dPr>
                      <m:e>
                        <m:r>
                          <a:rPr lang="fr-FR" sz="1800" b="1" i="1" smtClean="0">
                            <a:solidFill>
                              <a:schemeClr val="accent6">
                                <a:lumMod val="50000"/>
                              </a:schemeClr>
                            </a:solidFill>
                            <a:latin typeface="Cambria Math" panose="02040503050406030204" pitchFamily="18" charset="0"/>
                          </a:rPr>
                          <m:t>𝒔𝒖𝒄𝒓</m:t>
                        </m:r>
                        <m:r>
                          <a:rPr lang="fr-FR" sz="1800" b="1" i="1" smtClean="0">
                            <a:solidFill>
                              <a:schemeClr val="accent6">
                                <a:lumMod val="50000"/>
                              </a:schemeClr>
                            </a:solidFill>
                            <a:latin typeface="Cambria Math" panose="02040503050406030204" pitchFamily="18" charset="0"/>
                          </a:rPr>
                          <m:t>é|</m:t>
                        </m:r>
                        <m:r>
                          <a:rPr lang="fr-FR" sz="1800" b="1" i="1">
                            <a:solidFill>
                              <a:schemeClr val="accent6">
                                <a:lumMod val="50000"/>
                              </a:schemeClr>
                            </a:solidFill>
                            <a:latin typeface="Cambria Math" panose="02040503050406030204" pitchFamily="18" charset="0"/>
                          </a:rPr>
                          <m:t>𝑨𝒖𝒕𝒓𝒆</m:t>
                        </m:r>
                        <m:r>
                          <a:rPr lang="fr-FR" sz="1800" b="1" i="1">
                            <a:solidFill>
                              <a:schemeClr val="accent6">
                                <a:lumMod val="50000"/>
                              </a:schemeClr>
                            </a:solidFill>
                            <a:latin typeface="Cambria Math" panose="02040503050406030204" pitchFamily="18" charset="0"/>
                          </a:rPr>
                          <m:t> </m:t>
                        </m:r>
                        <m:r>
                          <a:rPr lang="fr-FR" sz="1800" b="1" i="1">
                            <a:solidFill>
                              <a:schemeClr val="accent6">
                                <a:lumMod val="50000"/>
                              </a:schemeClr>
                            </a:solidFill>
                            <a:latin typeface="Cambria Math" panose="02040503050406030204" pitchFamily="18" charset="0"/>
                          </a:rPr>
                          <m:t>𝒇𝒓𝒖𝒊𝒕</m:t>
                        </m:r>
                      </m:e>
                    </m:d>
                    <m:r>
                      <a:rPr lang="fr-FR" sz="1800" b="0" i="1" smtClean="0">
                        <a:latin typeface="Cambria Math" panose="02040503050406030204" pitchFamily="18" charset="0"/>
                      </a:rPr>
                      <m:t>= </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a:rPr lang="fr-FR" sz="1800" i="1">
                                <a:latin typeface="Cambria Math" panose="02040503050406030204" pitchFamily="18" charset="0"/>
                              </a:rPr>
                              <m:t>𝐴𝑢𝑡𝑟𝑒</m:t>
                            </m:r>
                            <m:r>
                              <a:rPr lang="fr-FR" sz="1800" i="1">
                                <a:latin typeface="Cambria Math" panose="02040503050406030204" pitchFamily="18" charset="0"/>
                              </a:rPr>
                              <m:t> </m:t>
                            </m:r>
                            <m:r>
                              <a:rPr lang="fr-FR" sz="1800" i="1">
                                <a:latin typeface="Cambria Math" panose="02040503050406030204" pitchFamily="18" charset="0"/>
                              </a:rPr>
                              <m:t>𝑓𝑟𝑢𝑖𝑡</m:t>
                            </m:r>
                            <m:r>
                              <a:rPr lang="fr-FR" sz="1800" b="0" i="1" smtClean="0">
                                <a:latin typeface="Cambria Math" panose="02040503050406030204" pitchFamily="18" charset="0"/>
                              </a:rPr>
                              <m:t> </m:t>
                            </m:r>
                            <m:r>
                              <a:rPr lang="fr-FR" sz="1800" i="1">
                                <a:latin typeface="Cambria Math" panose="02040503050406030204" pitchFamily="18" charset="0"/>
                              </a:rPr>
                              <m:t>𝐸𝑇</m:t>
                            </m:r>
                            <m:r>
                              <a:rPr lang="fr-FR" sz="1800" i="1">
                                <a:latin typeface="Cambria Math" panose="02040503050406030204" pitchFamily="18" charset="0"/>
                              </a:rPr>
                              <m:t> </m:t>
                            </m:r>
                            <m:r>
                              <a:rPr lang="fr-FR" sz="1800" b="0" i="1" smtClean="0">
                                <a:latin typeface="Cambria Math" panose="02040503050406030204" pitchFamily="18" charset="0"/>
                              </a:rPr>
                              <m:t>𝑠𝑢𝑐𝑟</m:t>
                            </m:r>
                            <m:r>
                              <a:rPr lang="fr-FR" sz="1800" b="0" i="1" smtClean="0">
                                <a:latin typeface="Cambria Math" panose="02040503050406030204" pitchFamily="18" charset="0"/>
                              </a:rPr>
                              <m:t>é</m:t>
                            </m:r>
                          </m:e>
                        </m:d>
                      </m:num>
                      <m:den>
                        <m:r>
                          <a:rPr lang="fr-FR" sz="1800" b="0" i="1" smtClean="0">
                            <a:latin typeface="Cambria Math" panose="02040503050406030204" pitchFamily="18" charset="0"/>
                          </a:rPr>
                          <m:t>𝑐𝑎𝑟𝑑𝑖𝑛𝑎𝑙</m:t>
                        </m:r>
                        <m:d>
                          <m:dPr>
                            <m:ctrlPr>
                              <a:rPr lang="fr-FR" sz="1800" b="0" i="1" smtClean="0">
                                <a:latin typeface="Cambria Math" panose="02040503050406030204" pitchFamily="18" charset="0"/>
                              </a:rPr>
                            </m:ctrlPr>
                          </m:dPr>
                          <m:e>
                            <m:r>
                              <a:rPr lang="fr-FR" sz="1800" i="1">
                                <a:latin typeface="Cambria Math" panose="02040503050406030204" pitchFamily="18" charset="0"/>
                              </a:rPr>
                              <m:t>𝐴𝑢𝑡𝑟𝑒</m:t>
                            </m:r>
                            <m:r>
                              <a:rPr lang="fr-FR" sz="1800" i="1">
                                <a:latin typeface="Cambria Math" panose="02040503050406030204" pitchFamily="18" charset="0"/>
                              </a:rPr>
                              <m:t> </m:t>
                            </m:r>
                            <m:r>
                              <a:rPr lang="fr-FR" sz="1800" i="1">
                                <a:latin typeface="Cambria Math" panose="02040503050406030204" pitchFamily="18" charset="0"/>
                              </a:rPr>
                              <m:t>𝑓𝑟𝑢𝑖𝑡</m:t>
                            </m:r>
                          </m:e>
                        </m:d>
                      </m:den>
                    </m:f>
                    <m:r>
                      <a:rPr lang="fr-FR" sz="1800" b="0" i="1" smtClean="0">
                        <a:latin typeface="Cambria Math" panose="02040503050406030204" pitchFamily="18" charset="0"/>
                      </a:rPr>
                      <m:t>= </m:t>
                    </m:r>
                    <m:f>
                      <m:fPr>
                        <m:ctrlPr>
                          <a:rPr lang="fr-FR" sz="1800" i="1" smtClean="0">
                            <a:latin typeface="Cambria Math" panose="02040503050406030204" pitchFamily="18" charset="0"/>
                          </a:rPr>
                        </m:ctrlPr>
                      </m:fPr>
                      <m:num>
                        <m:r>
                          <a:rPr lang="fr-FR" sz="1800" b="0" i="1" smtClean="0">
                            <a:latin typeface="Cambria Math" panose="02040503050406030204" pitchFamily="18" charset="0"/>
                          </a:rPr>
                          <m:t>150</m:t>
                        </m:r>
                      </m:num>
                      <m:den>
                        <m:r>
                          <a:rPr lang="fr-FR" sz="1800" b="0" i="1" smtClean="0">
                            <a:latin typeface="Cambria Math" panose="02040503050406030204" pitchFamily="18" charset="0"/>
                          </a:rPr>
                          <m:t>200</m:t>
                        </m:r>
                      </m:den>
                    </m:f>
                    <m:r>
                      <a:rPr lang="fr-FR" sz="1800" b="0" i="1" smtClean="0">
                        <a:latin typeface="Cambria Math" panose="02040503050406030204" pitchFamily="18" charset="0"/>
                        <a:ea typeface="Cambria Math" panose="02040503050406030204" pitchFamily="18" charset="0"/>
                      </a:rPr>
                      <m:t>=0,75</m:t>
                    </m:r>
                  </m:oMath>
                </a14:m>
                <a:endParaRPr lang="fr-FR" sz="1800" b="0" dirty="0">
                  <a:latin typeface="Barlow Light" panose="020B0604020202020204" charset="0"/>
                  <a:ea typeface="Cambria Math" panose="02040503050406030204" pitchFamily="18" charset="0"/>
                </a:endParaRPr>
              </a:p>
              <a:p>
                <a:pPr lvl="0">
                  <a:lnSpc>
                    <a:spcPct val="150000"/>
                  </a:lnSpc>
                  <a:buFont typeface="Wingdings" panose="05000000000000000000" pitchFamily="2" charset="2"/>
                  <a:buChar char="§"/>
                </a:pPr>
                <a:endParaRPr lang="fr-FR" sz="18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899592" y="1635646"/>
                <a:ext cx="7704856" cy="3291830"/>
              </a:xfrm>
              <a:prstGeom prst="rect">
                <a:avLst/>
              </a:prstGeom>
              <a:blipFill>
                <a:blip r:embed="rId3"/>
                <a:stretch>
                  <a:fillRect/>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127</a:t>
            </a:fld>
            <a:endParaRPr/>
          </a:p>
        </p:txBody>
      </p:sp>
    </p:spTree>
    <p:extLst>
      <p:ext uri="{BB962C8B-B14F-4D97-AF65-F5344CB8AC3E}">
        <p14:creationId xmlns="" xmlns:p14="http://schemas.microsoft.com/office/powerpoint/2010/main" val="327957669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971600" y="1635646"/>
                <a:ext cx="7532654" cy="3291830"/>
              </a:xfrm>
              <a:prstGeom prst="rect">
                <a:avLst/>
              </a:prstGeom>
            </p:spPr>
            <p:txBody>
              <a:bodyPr spcFirstLastPara="1" wrap="square" lIns="0" tIns="0" rIns="0" bIns="0" anchor="t" anchorCtr="0">
                <a:noAutofit/>
              </a:bodyPr>
              <a:lstStyle/>
              <a:p>
                <a:pPr lvl="0">
                  <a:buFont typeface="Wingdings" panose="05000000000000000000" pitchFamily="2" charset="2"/>
                  <a:buChar char="§"/>
                </a:pPr>
                <a:r>
                  <a:rPr lang="fr-FR" sz="2000" b="1" u="sng" dirty="0"/>
                  <a:t>Résultat</a:t>
                </a:r>
                <a:r>
                  <a:rPr lang="fr-FR" sz="2000" dirty="0"/>
                  <a:t>:</a:t>
                </a:r>
              </a:p>
              <a:p>
                <a:pPr lvl="0">
                  <a:buFont typeface="Wingdings" panose="05000000000000000000" pitchFamily="2" charset="2"/>
                  <a:buChar char="§"/>
                </a:pPr>
                <a:endParaRPr lang="fr-FR" sz="2000" dirty="0"/>
              </a:p>
              <a:p>
                <a:pPr marL="76200" indent="0">
                  <a:buNone/>
                </a:pPr>
                <a14:m>
                  <m:oMathPara xmlns:m="http://schemas.openxmlformats.org/officeDocument/2006/math">
                    <m:oMathParaPr>
                      <m:jc m:val="centerGroup"/>
                    </m:oMathParaPr>
                    <m:oMath xmlns:m="http://schemas.openxmlformats.org/officeDocument/2006/math">
                      <m:r>
                        <a:rPr lang="fr-FR" sz="2000" i="1" smtClean="0">
                          <a:solidFill>
                            <a:schemeClr val="tx1"/>
                          </a:solidFill>
                          <a:latin typeface="Cambria Math" panose="02040503050406030204" pitchFamily="18" charset="0"/>
                        </a:rPr>
                        <m:t>𝑃</m:t>
                      </m:r>
                      <m:d>
                        <m:dPr>
                          <m:ctrlPr>
                            <a:rPr lang="fr-FR" sz="2000" i="1">
                              <a:solidFill>
                                <a:schemeClr val="tx1"/>
                              </a:solidFill>
                              <a:latin typeface="Cambria Math" panose="02040503050406030204" pitchFamily="18" charset="0"/>
                            </a:rPr>
                          </m:ctrlPr>
                        </m:dPr>
                        <m:e>
                          <m:r>
                            <a:rPr lang="fr-FR" sz="2000" i="1">
                              <a:latin typeface="Cambria Math" panose="02040503050406030204" pitchFamily="18" charset="0"/>
                            </a:rPr>
                            <m:t>𝐴𝑢𝑡𝑟𝑒</m:t>
                          </m:r>
                          <m:r>
                            <a:rPr lang="fr-FR" sz="2000" i="1">
                              <a:latin typeface="Cambria Math" panose="02040503050406030204" pitchFamily="18" charset="0"/>
                            </a:rPr>
                            <m:t> </m:t>
                          </m:r>
                          <m:r>
                            <a:rPr lang="fr-FR" sz="2000" i="1">
                              <a:latin typeface="Cambria Math" panose="02040503050406030204" pitchFamily="18" charset="0"/>
                            </a:rPr>
                            <m:t>𝑓𝑟𝑢𝑖𝑡</m:t>
                          </m:r>
                        </m:e>
                        <m:e>
                          <m:r>
                            <a:rPr lang="fr-FR" sz="2000" i="1">
                              <a:solidFill>
                                <a:schemeClr val="tx1"/>
                              </a:solidFill>
                              <a:latin typeface="Cambria Math" panose="02040503050406030204" pitchFamily="18" charset="0"/>
                            </a:rPr>
                            <m:t>𝑙𝑜𝑛𝑔</m:t>
                          </m:r>
                          <m:r>
                            <a:rPr lang="fr-FR" sz="2000" i="1">
                              <a:solidFill>
                                <a:schemeClr val="tx1"/>
                              </a:solidFill>
                              <a:latin typeface="Cambria Math" panose="02040503050406030204" pitchFamily="18" charset="0"/>
                            </a:rPr>
                            <m:t>,</m:t>
                          </m:r>
                          <m:r>
                            <a:rPr lang="fr-FR" sz="2000" i="1">
                              <a:solidFill>
                                <a:schemeClr val="tx1"/>
                              </a:solidFill>
                              <a:latin typeface="Cambria Math" panose="02040503050406030204" pitchFamily="18" charset="0"/>
                            </a:rPr>
                            <m:t>𝑗𝑎𝑢𝑛𝑒</m:t>
                          </m:r>
                          <m:r>
                            <a:rPr lang="fr-FR" sz="2000" i="1">
                              <a:solidFill>
                                <a:schemeClr val="tx1"/>
                              </a:solidFill>
                              <a:latin typeface="Cambria Math" panose="02040503050406030204" pitchFamily="18" charset="0"/>
                            </a:rPr>
                            <m:t>,</m:t>
                          </m:r>
                          <m:r>
                            <a:rPr lang="fr-FR" sz="2000" i="1">
                              <a:solidFill>
                                <a:schemeClr val="tx1"/>
                              </a:solidFill>
                              <a:latin typeface="Cambria Math" panose="02040503050406030204" pitchFamily="18" charset="0"/>
                            </a:rPr>
                            <m:t>𝑠𝑢𝑐𝑟𝑒</m:t>
                          </m:r>
                        </m:e>
                      </m:d>
                      <m:r>
                        <a:rPr lang="fr-FR" sz="2000" b="0" i="1" smtClean="0">
                          <a:latin typeface="Cambria Math" panose="02040503050406030204" pitchFamily="18" charset="0"/>
                        </a:rPr>
                        <m:t>= </m:t>
                      </m:r>
                      <m:f>
                        <m:fPr>
                          <m:ctrlPr>
                            <a:rPr lang="fr-FR" sz="2000" b="0" i="1" smtClean="0">
                              <a:latin typeface="Cambria Math" panose="02040503050406030204" pitchFamily="18" charset="0"/>
                            </a:rPr>
                          </m:ctrlPr>
                        </m:fPr>
                        <m:num>
                          <m:r>
                            <a:rPr lang="fr-FR" sz="2000" b="0" i="1" smtClean="0">
                              <a:latin typeface="Cambria Math" panose="02040503050406030204" pitchFamily="18" charset="0"/>
                            </a:rPr>
                            <m:t>0,5∗0,25∗0,75</m:t>
                          </m:r>
                          <m:r>
                            <a:rPr lang="fr-FR" sz="2000" i="1">
                              <a:latin typeface="Cambria Math" panose="02040503050406030204" pitchFamily="18" charset="0"/>
                            </a:rPr>
                            <m:t>∗</m:t>
                          </m:r>
                          <m:r>
                            <a:rPr lang="fr-FR" sz="2000" b="0" i="1" smtClean="0">
                              <a:latin typeface="Cambria Math" panose="02040503050406030204" pitchFamily="18" charset="0"/>
                            </a:rPr>
                            <m:t>0,2</m:t>
                          </m:r>
                        </m:num>
                        <m:den>
                          <m:r>
                            <a:rPr lang="fr-FR" sz="2000" b="0" i="1" smtClean="0">
                              <a:latin typeface="Cambria Math" panose="02040503050406030204" pitchFamily="18" charset="0"/>
                            </a:rPr>
                            <m:t>0,5∗0,65∗0,8</m:t>
                          </m:r>
                        </m:den>
                      </m:f>
                      <m:r>
                        <a:rPr lang="fr-FR" sz="2000">
                          <a:latin typeface="Cambria Math" panose="02040503050406030204" pitchFamily="18" charset="0"/>
                        </a:rPr>
                        <m:t>=</m:t>
                      </m:r>
                      <m:f>
                        <m:fPr>
                          <m:ctrlPr>
                            <a:rPr lang="fr-FR" sz="2000" i="1">
                              <a:latin typeface="Cambria Math" panose="02040503050406030204" pitchFamily="18" charset="0"/>
                            </a:rPr>
                          </m:ctrlPr>
                        </m:fPr>
                        <m:num>
                          <m:r>
                            <a:rPr lang="fr-FR" sz="2000" i="1">
                              <a:latin typeface="Cambria Math" panose="02040503050406030204" pitchFamily="18" charset="0"/>
                            </a:rPr>
                            <m:t>0,</m:t>
                          </m:r>
                          <m:r>
                            <a:rPr lang="fr-FR" sz="2000" b="0" i="1" smtClean="0">
                              <a:latin typeface="Cambria Math" panose="02040503050406030204" pitchFamily="18" charset="0"/>
                            </a:rPr>
                            <m:t>018</m:t>
                          </m:r>
                        </m:num>
                        <m:den>
                          <m:r>
                            <a:rPr lang="fr-FR" sz="2000" i="1">
                              <a:latin typeface="Cambria Math" panose="02040503050406030204" pitchFamily="18" charset="0"/>
                            </a:rPr>
                            <m:t>0,26</m:t>
                          </m:r>
                        </m:den>
                      </m:f>
                      <m:r>
                        <a:rPr lang="fr-FR" sz="2000" i="1">
                          <a:latin typeface="Cambria Math" panose="02040503050406030204" pitchFamily="18" charset="0"/>
                          <a:ea typeface="Cambria Math" panose="02040503050406030204" pitchFamily="18" charset="0"/>
                        </a:rPr>
                        <m:t> ≈0,</m:t>
                      </m:r>
                      <m:r>
                        <a:rPr lang="fr-FR" sz="2000" b="0" i="1" smtClean="0">
                          <a:latin typeface="Cambria Math" panose="02040503050406030204" pitchFamily="18" charset="0"/>
                          <a:ea typeface="Cambria Math" panose="02040503050406030204" pitchFamily="18" charset="0"/>
                        </a:rPr>
                        <m:t>072</m:t>
                      </m:r>
                    </m:oMath>
                  </m:oMathPara>
                </a14:m>
                <a:endParaRPr lang="fr-FR" sz="2000" dirty="0">
                  <a:latin typeface="Barlow Light" panose="020B0604020202020204" charset="0"/>
                  <a:ea typeface="Cambria Math" panose="02040503050406030204" pitchFamily="18" charset="0"/>
                </a:endParaRPr>
              </a:p>
              <a:p>
                <a:pPr marL="76200" indent="0">
                  <a:buNone/>
                </a:pPr>
                <a:endParaRPr lang="fr-FR" sz="2000" dirty="0">
                  <a:latin typeface="Barlow Light" panose="020B0604020202020204" charset="0"/>
                  <a:ea typeface="Cambria Math" panose="02040503050406030204" pitchFamily="18" charset="0"/>
                </a:endParaRPr>
              </a:p>
              <a:p>
                <a:pPr marL="76200" indent="0">
                  <a:buNone/>
                </a:pPr>
                <a:endParaRPr lang="fr-FR" sz="2000" dirty="0"/>
              </a:p>
              <a:p>
                <a:pPr lvl="0">
                  <a:buFont typeface="Wingdings" panose="05000000000000000000" pitchFamily="2" charset="2"/>
                  <a:buChar char="§"/>
                </a:pPr>
                <a:endParaRPr lang="fr-FR" sz="2000" dirty="0"/>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971600" y="1635646"/>
                <a:ext cx="7532654" cy="3291830"/>
              </a:xfrm>
              <a:prstGeom prst="rect">
                <a:avLst/>
              </a:prstGeom>
              <a:blipFill>
                <a:blip r:embed="rId3"/>
                <a:stretch>
                  <a:fillRect l="-1214" t="-556"/>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128</a:t>
            </a:fld>
            <a:endParaRPr/>
          </a:p>
        </p:txBody>
      </p:sp>
    </p:spTree>
    <p:extLst>
      <p:ext uri="{BB962C8B-B14F-4D97-AF65-F5344CB8AC3E}">
        <p14:creationId xmlns="" xmlns:p14="http://schemas.microsoft.com/office/powerpoint/2010/main" val="21109982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err="1"/>
              <a:t>Naive</a:t>
            </a:r>
            <a:r>
              <a:rPr lang="fr-FR" sz="3200" b="1" dirty="0"/>
              <a:t> Bayes: Classification multi-classes</a:t>
            </a:r>
            <a:endParaRPr lang="en" sz="3200" b="1" dirty="0"/>
          </a:p>
        </p:txBody>
      </p:sp>
      <mc:AlternateContent xmlns:mc="http://schemas.openxmlformats.org/markup-compatibility/2006">
        <mc:Choice xmlns="" xmlns:a14="http://schemas.microsoft.com/office/drawing/2010/main" Requires="a14">
          <p:sp>
            <p:nvSpPr>
              <p:cNvPr id="551" name="Google Shape;551;p18"/>
              <p:cNvSpPr txBox="1">
                <a:spLocks noGrp="1"/>
              </p:cNvSpPr>
              <p:nvPr>
                <p:ph type="body" idx="1"/>
              </p:nvPr>
            </p:nvSpPr>
            <p:spPr>
              <a:xfrm>
                <a:off x="1234328" y="1851670"/>
                <a:ext cx="6696744" cy="3291830"/>
              </a:xfrm>
              <a:prstGeom prst="rect">
                <a:avLst/>
              </a:prstGeom>
            </p:spPr>
            <p:txBody>
              <a:bodyPr spcFirstLastPara="1" wrap="square" lIns="0" tIns="0" rIns="0" bIns="0" anchor="t" anchorCtr="0">
                <a:noAutofit/>
              </a:bodyPr>
              <a:lstStyle/>
              <a:p>
                <a:pPr lvl="0">
                  <a:spcAft>
                    <a:spcPts val="1800"/>
                  </a:spcAft>
                  <a:buFont typeface="Wingdings" panose="05000000000000000000" pitchFamily="2" charset="2"/>
                  <a:buChar char="§"/>
                </a:pPr>
                <a:r>
                  <a:rPr lang="fr-FR" sz="2000" dirty="0"/>
                  <a:t>On remarque que la probabilité que notre fruit soit une banane </a:t>
                </a:r>
                <a14:m>
                  <m:oMath xmlns:m="http://schemas.openxmlformats.org/officeDocument/2006/math">
                    <m:r>
                      <a:rPr lang="fr-FR" sz="2000" i="1" smtClean="0">
                        <a:solidFill>
                          <a:schemeClr val="tx1"/>
                        </a:solidFill>
                        <a:latin typeface="Cambria Math" panose="02040503050406030204" pitchFamily="18" charset="0"/>
                      </a:rPr>
                      <m:t>𝑃</m:t>
                    </m:r>
                    <m:d>
                      <m:dPr>
                        <m:ctrlPr>
                          <a:rPr lang="fr-FR" sz="2000" i="1">
                            <a:solidFill>
                              <a:schemeClr val="tx1"/>
                            </a:solidFill>
                            <a:latin typeface="Cambria Math" panose="02040503050406030204" pitchFamily="18" charset="0"/>
                          </a:rPr>
                        </m:ctrlPr>
                      </m:dPr>
                      <m:e>
                        <m:r>
                          <a:rPr lang="fr-FR" sz="2000" b="0" i="1" smtClean="0">
                            <a:latin typeface="Cambria Math" panose="02040503050406030204" pitchFamily="18" charset="0"/>
                          </a:rPr>
                          <m:t>𝐵𝑎𝑛𝑎𝑛𝑒</m:t>
                        </m:r>
                      </m:e>
                      <m:e>
                        <m:r>
                          <a:rPr lang="fr-FR" sz="2000" i="1">
                            <a:solidFill>
                              <a:schemeClr val="tx1"/>
                            </a:solidFill>
                            <a:latin typeface="Cambria Math" panose="02040503050406030204" pitchFamily="18" charset="0"/>
                          </a:rPr>
                          <m:t>𝑙𝑜𝑛𝑔</m:t>
                        </m:r>
                        <m:r>
                          <a:rPr lang="fr-FR" sz="2000" i="1">
                            <a:solidFill>
                              <a:schemeClr val="tx1"/>
                            </a:solidFill>
                            <a:latin typeface="Cambria Math" panose="02040503050406030204" pitchFamily="18" charset="0"/>
                          </a:rPr>
                          <m:t>,</m:t>
                        </m:r>
                        <m:r>
                          <a:rPr lang="fr-FR" sz="2000" i="1">
                            <a:solidFill>
                              <a:schemeClr val="tx1"/>
                            </a:solidFill>
                            <a:latin typeface="Cambria Math" panose="02040503050406030204" pitchFamily="18" charset="0"/>
                          </a:rPr>
                          <m:t>𝑗𝑎𝑢𝑛𝑒</m:t>
                        </m:r>
                        <m:r>
                          <a:rPr lang="fr-FR" sz="2000" i="1">
                            <a:solidFill>
                              <a:schemeClr val="tx1"/>
                            </a:solidFill>
                            <a:latin typeface="Cambria Math" panose="02040503050406030204" pitchFamily="18" charset="0"/>
                          </a:rPr>
                          <m:t>,</m:t>
                        </m:r>
                        <m:r>
                          <a:rPr lang="fr-FR" sz="2000" i="1">
                            <a:solidFill>
                              <a:schemeClr val="tx1"/>
                            </a:solidFill>
                            <a:latin typeface="Cambria Math" panose="02040503050406030204" pitchFamily="18" charset="0"/>
                          </a:rPr>
                          <m:t>𝑠𝑢𝑐𝑟𝑒</m:t>
                        </m:r>
                      </m:e>
                    </m:d>
                    <m:r>
                      <a:rPr lang="fr-FR" sz="2000" b="0" i="1" smtClean="0">
                        <a:latin typeface="Cambria Math" panose="02040503050406030204" pitchFamily="18" charset="0"/>
                      </a:rPr>
                      <m:t> </m:t>
                    </m:r>
                  </m:oMath>
                </a14:m>
                <a:r>
                  <a:rPr lang="fr-FR" sz="2000" dirty="0"/>
                  <a:t>est largement plus grande que celle des autres probabilités. </a:t>
                </a:r>
              </a:p>
              <a:p>
                <a:pPr lvl="0">
                  <a:buFont typeface="Wingdings" panose="05000000000000000000" pitchFamily="2" charset="2"/>
                  <a:buChar char="§"/>
                </a:pPr>
                <a:r>
                  <a:rPr lang="fr-FR" sz="2000" dirty="0"/>
                  <a:t>On classifie notre </a:t>
                </a:r>
                <a:r>
                  <a:rPr lang="fr-FR" sz="2000" b="1" dirty="0"/>
                  <a:t>fruit inconnu </a:t>
                </a:r>
                <a:r>
                  <a:rPr lang="fr-FR" sz="2000" dirty="0"/>
                  <a:t>comme étant une </a:t>
                </a:r>
                <a:r>
                  <a:rPr lang="fr-FR" sz="2000" b="1" u="sng" dirty="0">
                    <a:solidFill>
                      <a:schemeClr val="accent4"/>
                    </a:solidFill>
                  </a:rPr>
                  <a:t>banane</a:t>
                </a:r>
                <a:r>
                  <a:rPr lang="fr-FR" sz="2000" dirty="0"/>
                  <a:t>.</a:t>
                </a:r>
              </a:p>
            </p:txBody>
          </p:sp>
        </mc:Choice>
        <mc:Fallback>
          <p:sp>
            <p:nvSpPr>
              <p:cNvPr id="551" name="Google Shape;551;p18"/>
              <p:cNvSpPr txBox="1">
                <a:spLocks noGrp="1" noRot="1" noChangeAspect="1" noMove="1" noResize="1" noEditPoints="1" noAdjustHandles="1" noChangeArrowheads="1" noChangeShapeType="1" noTextEdit="1"/>
              </p:cNvSpPr>
              <p:nvPr>
                <p:ph type="body" idx="1"/>
              </p:nvPr>
            </p:nvSpPr>
            <p:spPr>
              <a:xfrm>
                <a:off x="1234328" y="1851670"/>
                <a:ext cx="6696744" cy="3291830"/>
              </a:xfrm>
              <a:prstGeom prst="rect">
                <a:avLst/>
              </a:prstGeom>
              <a:blipFill>
                <a:blip r:embed="rId3"/>
                <a:stretch>
                  <a:fillRect l="-1365" t="-741" r="-2275"/>
                </a:stretch>
              </a:blipFill>
            </p:spPr>
            <p:txBody>
              <a:bodyPr/>
              <a:lstStyle/>
              <a:p>
                <a:r>
                  <a:rPr lang="fr-FR">
                    <a:noFill/>
                  </a:rPr>
                  <a:t> </a:t>
                </a:r>
              </a:p>
            </p:txBody>
          </p:sp>
        </mc:Fallback>
      </mc:AlternateContent>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129</a:t>
            </a:fld>
            <a:endParaRPr/>
          </a:p>
        </p:txBody>
      </p:sp>
    </p:spTree>
    <p:extLst>
      <p:ext uri="{BB962C8B-B14F-4D97-AF65-F5344CB8AC3E}">
        <p14:creationId xmlns="" xmlns:p14="http://schemas.microsoft.com/office/powerpoint/2010/main" val="395790475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r>
              <a:rPr lang="fr-FR" sz="3200" b="1" dirty="0"/>
              <a:t>Exercice</a:t>
            </a:r>
            <a:endParaRPr lang="en" sz="3200" b="1" dirty="0"/>
          </a:p>
        </p:txBody>
      </p:sp>
      <p:sp>
        <p:nvSpPr>
          <p:cNvPr id="552" name="Google Shape;552;p1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130</a:t>
            </a:fld>
            <a:endParaRPr/>
          </a:p>
        </p:txBody>
      </p:sp>
      <p:graphicFrame>
        <p:nvGraphicFramePr>
          <p:cNvPr id="4" name="Tableau 3">
            <a:extLst>
              <a:ext uri="{FF2B5EF4-FFF2-40B4-BE49-F238E27FC236}">
                <a16:creationId xmlns="" xmlns:a16="http://schemas.microsoft.com/office/drawing/2014/main" id="{399C985C-C858-4EFE-8368-27CECD9042D1}"/>
              </a:ext>
            </a:extLst>
          </p:cNvPr>
          <p:cNvGraphicFramePr>
            <a:graphicFrameLocks noGrp="1"/>
          </p:cNvGraphicFramePr>
          <p:nvPr>
            <p:extLst>
              <p:ext uri="{D42A27DB-BD31-4B8C-83A1-F6EECF244321}">
                <p14:modId xmlns="" xmlns:p14="http://schemas.microsoft.com/office/powerpoint/2010/main" val="1881269861"/>
              </p:ext>
            </p:extLst>
          </p:nvPr>
        </p:nvGraphicFramePr>
        <p:xfrm>
          <a:off x="1095154" y="1382234"/>
          <a:ext cx="4785380" cy="3761278"/>
        </p:xfrm>
        <a:graphic>
          <a:graphicData uri="http://schemas.openxmlformats.org/drawingml/2006/table">
            <a:tbl>
              <a:tblPr firstRow="1" firstCol="1" bandRow="1">
                <a:tableStyleId>{D27102A9-8310-4765-A935-A1911B00CA55}</a:tableStyleId>
              </a:tblPr>
              <a:tblGrid>
                <a:gridCol w="940124">
                  <a:extLst>
                    <a:ext uri="{9D8B030D-6E8A-4147-A177-3AD203B41FA5}">
                      <a16:colId xmlns="" xmlns:a16="http://schemas.microsoft.com/office/drawing/2014/main" val="1776425576"/>
                    </a:ext>
                  </a:extLst>
                </a:gridCol>
                <a:gridCol w="1157181">
                  <a:extLst>
                    <a:ext uri="{9D8B030D-6E8A-4147-A177-3AD203B41FA5}">
                      <a16:colId xmlns="" xmlns:a16="http://schemas.microsoft.com/office/drawing/2014/main" val="2578561248"/>
                    </a:ext>
                  </a:extLst>
                </a:gridCol>
                <a:gridCol w="978899">
                  <a:extLst>
                    <a:ext uri="{9D8B030D-6E8A-4147-A177-3AD203B41FA5}">
                      <a16:colId xmlns="" xmlns:a16="http://schemas.microsoft.com/office/drawing/2014/main" val="109124496"/>
                    </a:ext>
                  </a:extLst>
                </a:gridCol>
                <a:gridCol w="910314">
                  <a:extLst>
                    <a:ext uri="{9D8B030D-6E8A-4147-A177-3AD203B41FA5}">
                      <a16:colId xmlns="" xmlns:a16="http://schemas.microsoft.com/office/drawing/2014/main" val="3352909616"/>
                    </a:ext>
                  </a:extLst>
                </a:gridCol>
                <a:gridCol w="798862">
                  <a:extLst>
                    <a:ext uri="{9D8B030D-6E8A-4147-A177-3AD203B41FA5}">
                      <a16:colId xmlns="" xmlns:a16="http://schemas.microsoft.com/office/drawing/2014/main" val="2681181763"/>
                    </a:ext>
                  </a:extLst>
                </a:gridCol>
              </a:tblGrid>
              <a:tr h="484214">
                <a:tc>
                  <a:txBody>
                    <a:bodyPr/>
                    <a:lstStyle/>
                    <a:p>
                      <a:pPr algn="just">
                        <a:lnSpc>
                          <a:spcPct val="115000"/>
                        </a:lnSpc>
                        <a:spcAft>
                          <a:spcPts val="1000"/>
                        </a:spcAft>
                      </a:pPr>
                      <a:r>
                        <a:rPr lang="fr-FR" sz="1300" b="1" dirty="0">
                          <a:effectLst/>
                        </a:rPr>
                        <a:t>Visibilité</a:t>
                      </a:r>
                      <a:endParaRPr lang="fr-FR" sz="13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b="1">
                          <a:effectLst/>
                        </a:rPr>
                        <a:t>Température</a:t>
                      </a:r>
                      <a:endParaRPr lang="fr-FR" sz="13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b="1" dirty="0">
                          <a:effectLst/>
                        </a:rPr>
                        <a:t>Humidité</a:t>
                      </a:r>
                      <a:endParaRPr lang="fr-FR" sz="13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b="1">
                          <a:effectLst/>
                        </a:rPr>
                        <a:t>Vent</a:t>
                      </a:r>
                      <a:endParaRPr lang="fr-FR" sz="13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b="1" dirty="0">
                          <a:effectLst/>
                        </a:rPr>
                        <a:t>Jouer</a:t>
                      </a:r>
                      <a:endParaRPr lang="fr-FR" sz="13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472661396"/>
                  </a:ext>
                </a:extLst>
              </a:tr>
              <a:tr h="234076">
                <a:tc>
                  <a:txBody>
                    <a:bodyPr/>
                    <a:lstStyle/>
                    <a:p>
                      <a:pPr algn="just">
                        <a:lnSpc>
                          <a:spcPct val="115000"/>
                        </a:lnSpc>
                        <a:spcAft>
                          <a:spcPts val="1000"/>
                        </a:spcAft>
                      </a:pPr>
                      <a:r>
                        <a:rPr lang="fr-FR" sz="1300" b="0" dirty="0">
                          <a:effectLst/>
                        </a:rPr>
                        <a:t>Pluie</a:t>
                      </a:r>
                      <a:endParaRPr lang="fr-FR" sz="13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Chaud</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Elevé</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Faible</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Non</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2036651810"/>
                  </a:ext>
                </a:extLst>
              </a:tr>
              <a:tr h="234076">
                <a:tc>
                  <a:txBody>
                    <a:bodyPr/>
                    <a:lstStyle/>
                    <a:p>
                      <a:pPr algn="just">
                        <a:lnSpc>
                          <a:spcPct val="115000"/>
                        </a:lnSpc>
                        <a:spcAft>
                          <a:spcPts val="1000"/>
                        </a:spcAft>
                      </a:pPr>
                      <a:r>
                        <a:rPr lang="fr-FR" sz="1300" b="0" dirty="0">
                          <a:effectLst/>
                        </a:rPr>
                        <a:t>Pluie</a:t>
                      </a:r>
                      <a:endParaRPr lang="fr-FR" sz="13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Chaud</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Elevé</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Fort</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Non</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540969312"/>
                  </a:ext>
                </a:extLst>
              </a:tr>
              <a:tr h="234076">
                <a:tc>
                  <a:txBody>
                    <a:bodyPr/>
                    <a:lstStyle/>
                    <a:p>
                      <a:pPr algn="just">
                        <a:lnSpc>
                          <a:spcPct val="115000"/>
                        </a:lnSpc>
                        <a:spcAft>
                          <a:spcPts val="1000"/>
                        </a:spcAft>
                      </a:pPr>
                      <a:r>
                        <a:rPr lang="fr-FR" sz="1300" b="0" dirty="0">
                          <a:effectLst/>
                        </a:rPr>
                        <a:t>Couvert</a:t>
                      </a:r>
                      <a:endParaRPr lang="fr-FR" sz="13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Chaud</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Elevé</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Faible</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Oui</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2420084812"/>
                  </a:ext>
                </a:extLst>
              </a:tr>
              <a:tr h="234076">
                <a:tc>
                  <a:txBody>
                    <a:bodyPr/>
                    <a:lstStyle/>
                    <a:p>
                      <a:pPr algn="just">
                        <a:lnSpc>
                          <a:spcPct val="115000"/>
                        </a:lnSpc>
                        <a:spcAft>
                          <a:spcPts val="1000"/>
                        </a:spcAft>
                      </a:pPr>
                      <a:r>
                        <a:rPr lang="fr-FR" sz="1300" b="0" dirty="0">
                          <a:effectLst/>
                        </a:rPr>
                        <a:t>Soleil</a:t>
                      </a:r>
                      <a:endParaRPr lang="fr-FR" sz="13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Doux</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Elevé</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Faible</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dirty="0">
                          <a:effectLst/>
                        </a:rPr>
                        <a:t>Oui</a:t>
                      </a:r>
                      <a:endParaRPr lang="fr-FR" sz="13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423714065"/>
                  </a:ext>
                </a:extLst>
              </a:tr>
              <a:tr h="234076">
                <a:tc>
                  <a:txBody>
                    <a:bodyPr/>
                    <a:lstStyle/>
                    <a:p>
                      <a:pPr algn="just">
                        <a:lnSpc>
                          <a:spcPct val="115000"/>
                        </a:lnSpc>
                        <a:spcAft>
                          <a:spcPts val="1000"/>
                        </a:spcAft>
                      </a:pPr>
                      <a:r>
                        <a:rPr lang="fr-FR" sz="1300" b="0" dirty="0">
                          <a:effectLst/>
                        </a:rPr>
                        <a:t>Soleil</a:t>
                      </a:r>
                      <a:endParaRPr lang="fr-FR" sz="13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Froid</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Normal</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Faible</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Oui</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928367437"/>
                  </a:ext>
                </a:extLst>
              </a:tr>
              <a:tr h="234076">
                <a:tc>
                  <a:txBody>
                    <a:bodyPr/>
                    <a:lstStyle/>
                    <a:p>
                      <a:pPr algn="just">
                        <a:lnSpc>
                          <a:spcPct val="115000"/>
                        </a:lnSpc>
                        <a:spcAft>
                          <a:spcPts val="1000"/>
                        </a:spcAft>
                      </a:pPr>
                      <a:r>
                        <a:rPr lang="fr-FR" sz="1300" b="0" dirty="0">
                          <a:effectLst/>
                        </a:rPr>
                        <a:t>Soleil</a:t>
                      </a:r>
                      <a:endParaRPr lang="fr-FR" sz="13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Froid</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Normal</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Fort</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Non</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3941518555"/>
                  </a:ext>
                </a:extLst>
              </a:tr>
              <a:tr h="234076">
                <a:tc>
                  <a:txBody>
                    <a:bodyPr/>
                    <a:lstStyle/>
                    <a:p>
                      <a:pPr algn="just">
                        <a:lnSpc>
                          <a:spcPct val="115000"/>
                        </a:lnSpc>
                        <a:spcAft>
                          <a:spcPts val="1000"/>
                        </a:spcAft>
                      </a:pPr>
                      <a:r>
                        <a:rPr lang="fr-FR" sz="1300" b="0" dirty="0">
                          <a:effectLst/>
                        </a:rPr>
                        <a:t>Couvert</a:t>
                      </a:r>
                      <a:endParaRPr lang="fr-FR" sz="13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Froid</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Normal</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Fort</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Oui</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3481249690"/>
                  </a:ext>
                </a:extLst>
              </a:tr>
              <a:tr h="234076">
                <a:tc>
                  <a:txBody>
                    <a:bodyPr/>
                    <a:lstStyle/>
                    <a:p>
                      <a:pPr algn="just">
                        <a:lnSpc>
                          <a:spcPct val="115000"/>
                        </a:lnSpc>
                        <a:spcAft>
                          <a:spcPts val="1000"/>
                        </a:spcAft>
                      </a:pPr>
                      <a:r>
                        <a:rPr lang="fr-FR" sz="1300" b="0" dirty="0">
                          <a:effectLst/>
                        </a:rPr>
                        <a:t>Pluie</a:t>
                      </a:r>
                      <a:endParaRPr lang="fr-FR" sz="13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Doux</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Elevé</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Faible</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Non</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3400196790"/>
                  </a:ext>
                </a:extLst>
              </a:tr>
              <a:tr h="234076">
                <a:tc>
                  <a:txBody>
                    <a:bodyPr/>
                    <a:lstStyle/>
                    <a:p>
                      <a:pPr algn="just">
                        <a:lnSpc>
                          <a:spcPct val="115000"/>
                        </a:lnSpc>
                        <a:spcAft>
                          <a:spcPts val="1000"/>
                        </a:spcAft>
                      </a:pPr>
                      <a:r>
                        <a:rPr lang="fr-FR" sz="1300" b="0" dirty="0">
                          <a:effectLst/>
                        </a:rPr>
                        <a:t>Pluie</a:t>
                      </a:r>
                      <a:endParaRPr lang="fr-FR" sz="13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Froid</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Normal</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Faible</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Oui</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2186479851"/>
                  </a:ext>
                </a:extLst>
              </a:tr>
              <a:tr h="234076">
                <a:tc>
                  <a:txBody>
                    <a:bodyPr/>
                    <a:lstStyle/>
                    <a:p>
                      <a:pPr algn="just">
                        <a:lnSpc>
                          <a:spcPct val="115000"/>
                        </a:lnSpc>
                        <a:spcAft>
                          <a:spcPts val="1000"/>
                        </a:spcAft>
                      </a:pPr>
                      <a:r>
                        <a:rPr lang="fr-FR" sz="1300" b="0" dirty="0">
                          <a:effectLst/>
                        </a:rPr>
                        <a:t>Soleil</a:t>
                      </a:r>
                      <a:endParaRPr lang="fr-FR" sz="13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Doux</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Normal</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Faible</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Oui</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3014972771"/>
                  </a:ext>
                </a:extLst>
              </a:tr>
              <a:tr h="234076">
                <a:tc>
                  <a:txBody>
                    <a:bodyPr/>
                    <a:lstStyle/>
                    <a:p>
                      <a:pPr algn="just">
                        <a:lnSpc>
                          <a:spcPct val="115000"/>
                        </a:lnSpc>
                        <a:spcAft>
                          <a:spcPts val="1000"/>
                        </a:spcAft>
                      </a:pPr>
                      <a:r>
                        <a:rPr lang="fr-FR" sz="1300" b="0" dirty="0">
                          <a:effectLst/>
                        </a:rPr>
                        <a:t>Pluie</a:t>
                      </a:r>
                      <a:endParaRPr lang="fr-FR" sz="13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Doux</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Normal</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Fort</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Oui</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3715027189"/>
                  </a:ext>
                </a:extLst>
              </a:tr>
              <a:tr h="234076">
                <a:tc>
                  <a:txBody>
                    <a:bodyPr/>
                    <a:lstStyle/>
                    <a:p>
                      <a:pPr algn="just">
                        <a:lnSpc>
                          <a:spcPct val="115000"/>
                        </a:lnSpc>
                        <a:spcAft>
                          <a:spcPts val="1000"/>
                        </a:spcAft>
                      </a:pPr>
                      <a:r>
                        <a:rPr lang="fr-FR" sz="1300" b="0" dirty="0">
                          <a:effectLst/>
                        </a:rPr>
                        <a:t>Couvert</a:t>
                      </a:r>
                      <a:endParaRPr lang="fr-FR" sz="13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Doux</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Elevé</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Fort</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Oui</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1913530364"/>
                  </a:ext>
                </a:extLst>
              </a:tr>
              <a:tr h="234076">
                <a:tc>
                  <a:txBody>
                    <a:bodyPr/>
                    <a:lstStyle/>
                    <a:p>
                      <a:pPr algn="just">
                        <a:lnSpc>
                          <a:spcPct val="115000"/>
                        </a:lnSpc>
                        <a:spcAft>
                          <a:spcPts val="1000"/>
                        </a:spcAft>
                      </a:pPr>
                      <a:r>
                        <a:rPr lang="fr-FR" sz="1300" b="0">
                          <a:effectLst/>
                        </a:rPr>
                        <a:t>Couvert</a:t>
                      </a:r>
                      <a:endParaRPr lang="fr-FR" sz="13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Chaud</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Normal</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Faible</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Oui</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3642706947"/>
                  </a:ext>
                </a:extLst>
              </a:tr>
              <a:tr h="234076">
                <a:tc>
                  <a:txBody>
                    <a:bodyPr/>
                    <a:lstStyle/>
                    <a:p>
                      <a:pPr algn="just">
                        <a:lnSpc>
                          <a:spcPct val="115000"/>
                        </a:lnSpc>
                        <a:spcAft>
                          <a:spcPts val="1000"/>
                        </a:spcAft>
                      </a:pPr>
                      <a:r>
                        <a:rPr lang="fr-FR" sz="1300" b="0" dirty="0">
                          <a:effectLst/>
                        </a:rPr>
                        <a:t>Soleil</a:t>
                      </a:r>
                      <a:endParaRPr lang="fr-FR" sz="13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Doux</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Elevé</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a:effectLst/>
                        </a:rPr>
                        <a:t>Fort</a:t>
                      </a:r>
                      <a:endParaRPr lang="fr-FR" sz="13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fr-FR" sz="1300" dirty="0">
                          <a:effectLst/>
                        </a:rPr>
                        <a:t>Non</a:t>
                      </a:r>
                      <a:endParaRPr lang="fr-FR" sz="13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1995500169"/>
                  </a:ext>
                </a:extLst>
              </a:tr>
            </a:tbl>
          </a:graphicData>
        </a:graphic>
      </p:graphicFrame>
      <p:sp>
        <p:nvSpPr>
          <p:cNvPr id="5" name="ZoneTexte 4">
            <a:extLst>
              <a:ext uri="{FF2B5EF4-FFF2-40B4-BE49-F238E27FC236}">
                <a16:creationId xmlns="" xmlns:a16="http://schemas.microsoft.com/office/drawing/2014/main" id="{92ED5331-7282-4421-A159-5D184A5B514B}"/>
              </a:ext>
            </a:extLst>
          </p:cNvPr>
          <p:cNvSpPr txBox="1"/>
          <p:nvPr/>
        </p:nvSpPr>
        <p:spPr>
          <a:xfrm>
            <a:off x="6372200" y="1923678"/>
            <a:ext cx="2664296" cy="1815882"/>
          </a:xfrm>
          <a:prstGeom prst="rect">
            <a:avLst/>
          </a:prstGeom>
          <a:noFill/>
        </p:spPr>
        <p:txBody>
          <a:bodyPr wrap="square" rtlCol="0">
            <a:spAutoFit/>
          </a:bodyPr>
          <a:lstStyle/>
          <a:p>
            <a:r>
              <a:rPr lang="fr-FR" sz="1600" dirty="0">
                <a:latin typeface="Barlow Light" panose="020B0604020202020204" charset="0"/>
              </a:rPr>
              <a:t>Prédire la valeur de </a:t>
            </a:r>
            <a:r>
              <a:rPr lang="fr-FR" sz="1600" b="1" dirty="0">
                <a:latin typeface="Barlow Light" panose="020B0604020202020204" charset="0"/>
              </a:rPr>
              <a:t>Jouer</a:t>
            </a:r>
            <a:r>
              <a:rPr lang="fr-FR" sz="1600" dirty="0">
                <a:latin typeface="Barlow Light" panose="020B0604020202020204" charset="0"/>
              </a:rPr>
              <a:t> pour:</a:t>
            </a:r>
          </a:p>
          <a:p>
            <a:endParaRPr lang="fr-FR" sz="1600" dirty="0">
              <a:latin typeface="Barlow Light" panose="020B0604020202020204" charset="0"/>
            </a:endParaRPr>
          </a:p>
          <a:p>
            <a:pPr marL="285750" indent="-285750">
              <a:buClr>
                <a:schemeClr val="accent1"/>
              </a:buClr>
              <a:buFont typeface="Wingdings" panose="05000000000000000000" pitchFamily="2" charset="2"/>
              <a:buChar char="§"/>
            </a:pPr>
            <a:r>
              <a:rPr lang="fr-FR" sz="1600" b="1" dirty="0">
                <a:latin typeface="Barlow Light" panose="020B0604020202020204" charset="0"/>
              </a:rPr>
              <a:t>Visibilité</a:t>
            </a:r>
            <a:r>
              <a:rPr lang="fr-FR" sz="1600" dirty="0">
                <a:latin typeface="Barlow Light" panose="020B0604020202020204" charset="0"/>
              </a:rPr>
              <a:t>: Pluie</a:t>
            </a:r>
          </a:p>
          <a:p>
            <a:pPr marL="285750" indent="-285750">
              <a:buClr>
                <a:schemeClr val="accent1"/>
              </a:buClr>
              <a:buFont typeface="Wingdings" panose="05000000000000000000" pitchFamily="2" charset="2"/>
              <a:buChar char="§"/>
            </a:pPr>
            <a:r>
              <a:rPr lang="fr-FR" sz="1600" b="1" dirty="0">
                <a:latin typeface="Barlow Light" panose="020B0604020202020204" charset="0"/>
              </a:rPr>
              <a:t>Température</a:t>
            </a:r>
            <a:r>
              <a:rPr lang="fr-FR" sz="1600" dirty="0">
                <a:latin typeface="Barlow Light" panose="020B0604020202020204" charset="0"/>
              </a:rPr>
              <a:t>: Froid</a:t>
            </a:r>
          </a:p>
          <a:p>
            <a:pPr marL="285750" indent="-285750">
              <a:buClr>
                <a:schemeClr val="accent1"/>
              </a:buClr>
              <a:buFont typeface="Wingdings" panose="05000000000000000000" pitchFamily="2" charset="2"/>
              <a:buChar char="§"/>
            </a:pPr>
            <a:r>
              <a:rPr lang="fr-FR" sz="1600" b="1" dirty="0">
                <a:latin typeface="Barlow Light" panose="020B0604020202020204" charset="0"/>
              </a:rPr>
              <a:t>Humidité</a:t>
            </a:r>
            <a:r>
              <a:rPr lang="fr-FR" sz="1600" dirty="0">
                <a:latin typeface="Barlow Light" panose="020B0604020202020204" charset="0"/>
              </a:rPr>
              <a:t>: Elevé</a:t>
            </a:r>
          </a:p>
          <a:p>
            <a:pPr marL="285750" indent="-285750">
              <a:buClr>
                <a:schemeClr val="accent1"/>
              </a:buClr>
              <a:buFont typeface="Wingdings" panose="05000000000000000000" pitchFamily="2" charset="2"/>
              <a:buChar char="§"/>
            </a:pPr>
            <a:r>
              <a:rPr lang="fr-FR" sz="1600" b="1" dirty="0">
                <a:latin typeface="Barlow Light" panose="020B0604020202020204" charset="0"/>
              </a:rPr>
              <a:t>Vent</a:t>
            </a:r>
            <a:r>
              <a:rPr lang="fr-FR" sz="1600" dirty="0">
                <a:latin typeface="Barlow Light" panose="020B0604020202020204" charset="0"/>
              </a:rPr>
              <a:t>: Fort</a:t>
            </a:r>
          </a:p>
        </p:txBody>
      </p:sp>
    </p:spTree>
    <p:extLst>
      <p:ext uri="{BB962C8B-B14F-4D97-AF65-F5344CB8AC3E}">
        <p14:creationId xmlns="" xmlns:p14="http://schemas.microsoft.com/office/powerpoint/2010/main" val="1442473056"/>
      </p:ext>
    </p:extLst>
  </p:cSld>
  <p:clrMapOvr>
    <a:masterClrMapping/>
  </p:clrMapOvr>
</p:sld>
</file>

<file path=ppt/theme/theme1.xml><?xml version="1.0" encoding="utf-8"?>
<a:theme xmlns:a="http://schemas.openxmlformats.org/drawingml/2006/main" name="Lodovico template">
  <a:themeElements>
    <a:clrScheme name="Custom 347">
      <a:dk1>
        <a:srgbClr val="272A36"/>
      </a:dk1>
      <a:lt1>
        <a:srgbClr val="FFFFFF"/>
      </a:lt1>
      <a:dk2>
        <a:srgbClr val="808392"/>
      </a:dk2>
      <a:lt2>
        <a:srgbClr val="E0E0E7"/>
      </a:lt2>
      <a:accent1>
        <a:srgbClr val="FFAD1D"/>
      </a:accent1>
      <a:accent2>
        <a:srgbClr val="EB7700"/>
      </a:accent2>
      <a:accent3>
        <a:srgbClr val="FD7E6B"/>
      </a:accent3>
      <a:accent4>
        <a:srgbClr val="F03131"/>
      </a:accent4>
      <a:accent5>
        <a:srgbClr val="41B5FF"/>
      </a:accent5>
      <a:accent6>
        <a:srgbClr val="1E87CA"/>
      </a:accent6>
      <a:hlink>
        <a:srgbClr val="272A36"/>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2860</TotalTime>
  <Words>4029</Words>
  <Application>Microsoft Office PowerPoint</Application>
  <PresentationFormat>Affichage à l'écran (16:9)</PresentationFormat>
  <Paragraphs>880</Paragraphs>
  <Slides>130</Slides>
  <Notes>113</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130</vt:i4>
      </vt:variant>
    </vt:vector>
  </HeadingPairs>
  <TitlesOfParts>
    <vt:vector size="140" baseType="lpstr">
      <vt:lpstr>Arial</vt:lpstr>
      <vt:lpstr>Barlow SemiBold</vt:lpstr>
      <vt:lpstr>Barlow Light</vt:lpstr>
      <vt:lpstr>Palatino Linotype</vt:lpstr>
      <vt:lpstr>Wingdings</vt:lpstr>
      <vt:lpstr>Cambria Math</vt:lpstr>
      <vt:lpstr>Courier New</vt:lpstr>
      <vt:lpstr>Times New Roman</vt:lpstr>
      <vt:lpstr>Calibri</vt:lpstr>
      <vt:lpstr>Lodovico template</vt:lpstr>
      <vt:lpstr>Machine Mining</vt:lpstr>
      <vt:lpstr>Arbre de décision</vt:lpstr>
      <vt:lpstr>Arbre de décision: Définition</vt:lpstr>
      <vt:lpstr>Arbre de décision: Principe</vt:lpstr>
      <vt:lpstr>Diapositive 5</vt:lpstr>
      <vt:lpstr>Arbre de décision: vocabulaire</vt:lpstr>
      <vt:lpstr>Diapositive 7</vt:lpstr>
      <vt:lpstr>Diapositive 8</vt:lpstr>
      <vt:lpstr>Arbre de décision: induction</vt:lpstr>
      <vt:lpstr>Arbre de décision: induction</vt:lpstr>
      <vt:lpstr>Arbre de décision: Construction</vt:lpstr>
      <vt:lpstr>Arbre de décision: Construction</vt:lpstr>
      <vt:lpstr>Arbre de décision: Construction</vt:lpstr>
      <vt:lpstr>Arbre de décision: Construction</vt:lpstr>
      <vt:lpstr>Arbre de décision: Construction</vt:lpstr>
      <vt:lpstr>Arbre de décision: Construction</vt:lpstr>
      <vt:lpstr>Arbre de décision: Construction</vt:lpstr>
      <vt:lpstr>Arbre de décision: Construction</vt:lpstr>
      <vt:lpstr>Arbre de décision: Construction</vt:lpstr>
      <vt:lpstr>Choix de l’attribut discriminant</vt:lpstr>
      <vt:lpstr>Attribut nominal / Ordinal</vt:lpstr>
      <vt:lpstr>Attribut continu</vt:lpstr>
      <vt:lpstr>Choix de l’attribut discriminant</vt:lpstr>
      <vt:lpstr>Mesure du désordre : GINI</vt:lpstr>
      <vt:lpstr>Mesure du désordre : GINI</vt:lpstr>
      <vt:lpstr>Mesure du désordre : Gain de GINI</vt:lpstr>
      <vt:lpstr>Attributs binaires : indice de Gini</vt:lpstr>
      <vt:lpstr>Attributs catégoriques : indice de Gini</vt:lpstr>
      <vt:lpstr>Attributs continus : indice de Gini</vt:lpstr>
      <vt:lpstr>Mesure du désordre : Entropie</vt:lpstr>
      <vt:lpstr>Mesure du désordre : Entropie</vt:lpstr>
      <vt:lpstr>Retour sur l’exemple</vt:lpstr>
      <vt:lpstr>Retour sur l’exemple</vt:lpstr>
      <vt:lpstr>Retour sur l’exemple</vt:lpstr>
      <vt:lpstr>Retour sur l’exemple</vt:lpstr>
      <vt:lpstr>Suite de la construction</vt:lpstr>
      <vt:lpstr>Suite de la construction</vt:lpstr>
      <vt:lpstr>Suite de la construction</vt:lpstr>
      <vt:lpstr>Apprentissage des arbres de décision : Généralités</vt:lpstr>
      <vt:lpstr>Algorithmes ID3 </vt:lpstr>
      <vt:lpstr>Algorithmes C4.5 </vt:lpstr>
      <vt:lpstr>Algorithmes CART </vt:lpstr>
      <vt:lpstr>Surapprentissage</vt:lpstr>
      <vt:lpstr>Surapprentissage</vt:lpstr>
      <vt:lpstr>Le pré-élagage</vt:lpstr>
      <vt:lpstr>Le post-élagage</vt:lpstr>
      <vt:lpstr>K-Means</vt:lpstr>
      <vt:lpstr>Clustering: Définition</vt:lpstr>
      <vt:lpstr>Apprentissage non-supervisé</vt:lpstr>
      <vt:lpstr>Apprentissage non-supervisé</vt:lpstr>
      <vt:lpstr>Clustering: Définition</vt:lpstr>
      <vt:lpstr>Clustering : domaines d’applications</vt:lpstr>
      <vt:lpstr>Clustering : les différentes méthodes</vt:lpstr>
      <vt:lpstr>Clustering : par partitionnement</vt:lpstr>
      <vt:lpstr>Clustering : hiérarchique</vt:lpstr>
      <vt:lpstr>K-means: Définition</vt:lpstr>
      <vt:lpstr>K-means: Définition</vt:lpstr>
      <vt:lpstr>Notion de similarité</vt:lpstr>
      <vt:lpstr>Notion de similarité</vt:lpstr>
      <vt:lpstr>La distance euclidienne</vt:lpstr>
      <vt:lpstr>La distance Manhattan </vt:lpstr>
      <vt:lpstr>Choisir K : le nombre de clusters</vt:lpstr>
      <vt:lpstr>Choisir K : le nombre de clusters</vt:lpstr>
      <vt:lpstr>K-means: Algorithme</vt:lpstr>
      <vt:lpstr>K-means: Algorithme</vt:lpstr>
      <vt:lpstr>K-means: Exemple</vt:lpstr>
      <vt:lpstr>K-means: Itération 1</vt:lpstr>
      <vt:lpstr>K-means: Itération 1</vt:lpstr>
      <vt:lpstr>K-means: Itération 1</vt:lpstr>
      <vt:lpstr>K-means: Itération 2</vt:lpstr>
      <vt:lpstr>K-means: Itération 2</vt:lpstr>
      <vt:lpstr>K-means: Itération 3</vt:lpstr>
      <vt:lpstr>K-means: Itération 3</vt:lpstr>
      <vt:lpstr>K-means: Itération 3</vt:lpstr>
      <vt:lpstr>K-means: Exercice</vt:lpstr>
      <vt:lpstr>K-nearest neighbors</vt:lpstr>
      <vt:lpstr>K-NN: Définition</vt:lpstr>
      <vt:lpstr>Regression</vt:lpstr>
      <vt:lpstr>Classification</vt:lpstr>
      <vt:lpstr>K-NN: Définition</vt:lpstr>
      <vt:lpstr>K-NN: Définition</vt:lpstr>
      <vt:lpstr>Comment K-NN effectue une prédiction ?</vt:lpstr>
      <vt:lpstr>Ecriture algorithmique</vt:lpstr>
      <vt:lpstr>Ecriture algorithmique</vt:lpstr>
      <vt:lpstr>Ecriture algorithmique</vt:lpstr>
      <vt:lpstr>Ecriture algorithmique</vt:lpstr>
      <vt:lpstr>Calcul de similarité </vt:lpstr>
      <vt:lpstr>Calcul de similarité </vt:lpstr>
      <vt:lpstr>La distance euclidienne</vt:lpstr>
      <vt:lpstr>La distance Manhattan </vt:lpstr>
      <vt:lpstr>Distance Hamming</vt:lpstr>
      <vt:lpstr>Comment choisir la valeur K ?</vt:lpstr>
      <vt:lpstr>Comment choisir la valeur K ? </vt:lpstr>
      <vt:lpstr>Comment choisir la valeur K ?</vt:lpstr>
      <vt:lpstr>Exemple: classification</vt:lpstr>
      <vt:lpstr>Exemple: classification</vt:lpstr>
      <vt:lpstr>Exemple: classification</vt:lpstr>
      <vt:lpstr>Exemple: régression </vt:lpstr>
      <vt:lpstr>Exemple: régression </vt:lpstr>
      <vt:lpstr>Exemple: régression </vt:lpstr>
      <vt:lpstr>Exemple: régression </vt:lpstr>
      <vt:lpstr>Exemple: régression </vt:lpstr>
      <vt:lpstr>Naive Bayes</vt:lpstr>
      <vt:lpstr>Naive Bayes: Définition</vt:lpstr>
      <vt:lpstr>Probabilités conditionnelles</vt:lpstr>
      <vt:lpstr>Probabilités conditionnelles: Exemple</vt:lpstr>
      <vt:lpstr>Théorème de Bayes</vt:lpstr>
      <vt:lpstr>Théorème de Bayes: Exemple</vt:lpstr>
      <vt:lpstr>Théorème de Bayes: Exemple</vt:lpstr>
      <vt:lpstr>Théorème de Bayes: Exemple</vt:lpstr>
      <vt:lpstr>Théorème de Bayes: Exemple</vt:lpstr>
      <vt:lpstr>Naive Bayes Classifier</vt:lpstr>
      <vt:lpstr>Naive Bayes Classifier</vt:lpstr>
      <vt:lpstr>Naive Bayes: Classification multi-classes</vt:lpstr>
      <vt:lpstr>Naive Bayes: Classification multi-classes</vt:lpstr>
      <vt:lpstr>Naive Bayes: Classification multi-classes</vt:lpstr>
      <vt:lpstr>Naive Bayes: Classification multi-classes</vt:lpstr>
      <vt:lpstr>Naive Bayes: Classification multi-classes</vt:lpstr>
      <vt:lpstr>Naive Bayes: Classification multi-classes</vt:lpstr>
      <vt:lpstr>Naive Bayes: Classification multi-classes</vt:lpstr>
      <vt:lpstr>Naive Bayes: Classification multi-classes</vt:lpstr>
      <vt:lpstr>Naive Bayes: Classification multi-classes</vt:lpstr>
      <vt:lpstr>Naive Bayes: Classification multi-classes</vt:lpstr>
      <vt:lpstr>Naive Bayes: Classification multi-classes</vt:lpstr>
      <vt:lpstr>Naive Bayes: Classification multi-classes</vt:lpstr>
      <vt:lpstr>Naive Bayes: Classification multi-classes</vt:lpstr>
      <vt:lpstr>Naive Bayes: Classification multi-classes</vt:lpstr>
      <vt:lpstr>Naive Bayes: Classification multi-classes</vt:lpstr>
      <vt:lpstr>Naive Bayes: Classification multi-classes</vt:lpstr>
      <vt:lpstr>Exercice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dc:title>
  <cp:lastModifiedBy>user</cp:lastModifiedBy>
  <cp:revision>224</cp:revision>
  <dcterms:modified xsi:type="dcterms:W3CDTF">2024-11-30T17:24:56Z</dcterms:modified>
</cp:coreProperties>
</file>