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s/slide207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72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s/slide199.xml" ContentType="application/vnd.openxmlformats-officedocument.presentationml.slide+xml"/>
  <Override PartName="/ppt/slides/slide204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188.xml" ContentType="application/vnd.openxmlformats-officedocument.presentationml.slide+xml"/>
  <Override PartName="/ppt/slides/slide211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ppt/slides/slide191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s/slide18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s/slide20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78.xml" ContentType="application/vnd.openxmlformats-officedocument.presentationml.slide+xml"/>
  <Override PartName="/ppt/slides/slide196.xml" ContentType="application/vnd.openxmlformats-officedocument.presentationml.slide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192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193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4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  <p:sldId id="431" r:id="rId178"/>
    <p:sldId id="432" r:id="rId179"/>
    <p:sldId id="433" r:id="rId180"/>
    <p:sldId id="434" r:id="rId181"/>
    <p:sldId id="435" r:id="rId182"/>
    <p:sldId id="436" r:id="rId183"/>
    <p:sldId id="437" r:id="rId184"/>
    <p:sldId id="438" r:id="rId185"/>
    <p:sldId id="439" r:id="rId186"/>
    <p:sldId id="440" r:id="rId187"/>
    <p:sldId id="441" r:id="rId188"/>
    <p:sldId id="442" r:id="rId189"/>
    <p:sldId id="443" r:id="rId190"/>
    <p:sldId id="444" r:id="rId191"/>
    <p:sldId id="445" r:id="rId192"/>
    <p:sldId id="446" r:id="rId193"/>
    <p:sldId id="447" r:id="rId194"/>
    <p:sldId id="448" r:id="rId195"/>
    <p:sldId id="449" r:id="rId196"/>
    <p:sldId id="450" r:id="rId197"/>
    <p:sldId id="451" r:id="rId198"/>
    <p:sldId id="452" r:id="rId199"/>
    <p:sldId id="453" r:id="rId200"/>
    <p:sldId id="454" r:id="rId201"/>
    <p:sldId id="455" r:id="rId202"/>
    <p:sldId id="456" r:id="rId203"/>
    <p:sldId id="457" r:id="rId204"/>
    <p:sldId id="458" r:id="rId205"/>
    <p:sldId id="459" r:id="rId206"/>
    <p:sldId id="460" r:id="rId207"/>
    <p:sldId id="461" r:id="rId208"/>
    <p:sldId id="462" r:id="rId209"/>
    <p:sldId id="463" r:id="rId210"/>
    <p:sldId id="464" r:id="rId211"/>
    <p:sldId id="465" r:id="rId212"/>
  </p:sldIdLst>
  <p:sldSz cx="10693400" cy="10693400"/>
  <p:notesSz cx="106934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2514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65" Type="http://schemas.openxmlformats.org/officeDocument/2006/relationships/slide" Target="slides/slide164.xml"/><Relationship Id="rId181" Type="http://schemas.openxmlformats.org/officeDocument/2006/relationships/slide" Target="slides/slide180.xml"/><Relationship Id="rId186" Type="http://schemas.openxmlformats.org/officeDocument/2006/relationships/slide" Target="slides/slide185.xml"/><Relationship Id="rId216" Type="http://schemas.openxmlformats.org/officeDocument/2006/relationships/tableStyles" Target="tableStyles.xml"/><Relationship Id="rId211" Type="http://schemas.openxmlformats.org/officeDocument/2006/relationships/slide" Target="slides/slide210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slide" Target="slides/slide154.xml"/><Relationship Id="rId171" Type="http://schemas.openxmlformats.org/officeDocument/2006/relationships/slide" Target="slides/slide170.xml"/><Relationship Id="rId176" Type="http://schemas.openxmlformats.org/officeDocument/2006/relationships/slide" Target="slides/slide175.xml"/><Relationship Id="rId192" Type="http://schemas.openxmlformats.org/officeDocument/2006/relationships/slide" Target="slides/slide191.xml"/><Relationship Id="rId197" Type="http://schemas.openxmlformats.org/officeDocument/2006/relationships/slide" Target="slides/slide196.xml"/><Relationship Id="rId206" Type="http://schemas.openxmlformats.org/officeDocument/2006/relationships/slide" Target="slides/slide205.xml"/><Relationship Id="rId201" Type="http://schemas.openxmlformats.org/officeDocument/2006/relationships/slide" Target="slides/slide200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1683" y="3238385"/>
            <a:ext cx="2870200" cy="201930"/>
          </a:xfrm>
          <a:custGeom>
            <a:avLst/>
            <a:gdLst/>
            <a:ahLst/>
            <a:cxnLst/>
            <a:rect l="l" t="t" r="r" b="b"/>
            <a:pathLst>
              <a:path w="2870200" h="201929">
                <a:moveTo>
                  <a:pt x="2870200" y="0"/>
                </a:moveTo>
                <a:lnTo>
                  <a:pt x="0" y="0"/>
                </a:lnTo>
                <a:lnTo>
                  <a:pt x="0" y="201612"/>
                </a:lnTo>
                <a:lnTo>
                  <a:pt x="2870200" y="201612"/>
                </a:lnTo>
                <a:lnTo>
                  <a:pt x="2870200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871883" y="3238385"/>
            <a:ext cx="2870200" cy="201930"/>
          </a:xfrm>
          <a:custGeom>
            <a:avLst/>
            <a:gdLst/>
            <a:ahLst/>
            <a:cxnLst/>
            <a:rect l="l" t="t" r="r" b="b"/>
            <a:pathLst>
              <a:path w="2870200" h="201929">
                <a:moveTo>
                  <a:pt x="2870198" y="0"/>
                </a:moveTo>
                <a:lnTo>
                  <a:pt x="0" y="0"/>
                </a:lnTo>
                <a:lnTo>
                  <a:pt x="0" y="201612"/>
                </a:lnTo>
                <a:lnTo>
                  <a:pt x="2870198" y="201612"/>
                </a:lnTo>
                <a:lnTo>
                  <a:pt x="2870198" y="0"/>
                </a:lnTo>
                <a:close/>
              </a:path>
            </a:pathLst>
          </a:custGeom>
          <a:solidFill>
            <a:srgbClr val="FFD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742083" y="3238385"/>
            <a:ext cx="2870200" cy="201930"/>
          </a:xfrm>
          <a:custGeom>
            <a:avLst/>
            <a:gdLst/>
            <a:ahLst/>
            <a:cxnLst/>
            <a:rect l="l" t="t" r="r" b="b"/>
            <a:pathLst>
              <a:path w="2870200" h="201929">
                <a:moveTo>
                  <a:pt x="2870198" y="0"/>
                </a:moveTo>
                <a:lnTo>
                  <a:pt x="0" y="0"/>
                </a:lnTo>
                <a:lnTo>
                  <a:pt x="0" y="201612"/>
                </a:lnTo>
                <a:lnTo>
                  <a:pt x="2870198" y="201612"/>
                </a:lnTo>
                <a:lnTo>
                  <a:pt x="2870198" y="0"/>
                </a:lnTo>
                <a:close/>
              </a:path>
            </a:pathLst>
          </a:custGeom>
          <a:solidFill>
            <a:srgbClr val="D84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06075" y="2204604"/>
            <a:ext cx="6083300" cy="92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33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38387" y="3652404"/>
            <a:ext cx="5420359" cy="105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633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605" y="967307"/>
            <a:ext cx="5730875" cy="9525"/>
          </a:xfrm>
          <a:custGeom>
            <a:avLst/>
            <a:gdLst/>
            <a:ahLst/>
            <a:cxnLst/>
            <a:rect l="l" t="t" r="r" b="b"/>
            <a:pathLst>
              <a:path w="5730875" h="9525">
                <a:moveTo>
                  <a:pt x="5730580" y="0"/>
                </a:moveTo>
                <a:lnTo>
                  <a:pt x="0" y="0"/>
                </a:lnTo>
                <a:lnTo>
                  <a:pt x="0" y="9464"/>
                </a:lnTo>
                <a:lnTo>
                  <a:pt x="5730580" y="9464"/>
                </a:lnTo>
                <a:lnTo>
                  <a:pt x="573058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37602" y="967307"/>
            <a:ext cx="5730875" cy="52705"/>
          </a:xfrm>
          <a:custGeom>
            <a:avLst/>
            <a:gdLst/>
            <a:ahLst/>
            <a:cxnLst/>
            <a:rect l="l" t="t" r="r" b="b"/>
            <a:pathLst>
              <a:path w="5730875" h="52705">
                <a:moveTo>
                  <a:pt x="5730583" y="44170"/>
                </a:moveTo>
                <a:lnTo>
                  <a:pt x="0" y="44170"/>
                </a:lnTo>
                <a:lnTo>
                  <a:pt x="0" y="52578"/>
                </a:lnTo>
                <a:lnTo>
                  <a:pt x="5730583" y="52578"/>
                </a:lnTo>
                <a:lnTo>
                  <a:pt x="5730583" y="44170"/>
                </a:lnTo>
                <a:close/>
              </a:path>
              <a:path w="5730875" h="52705">
                <a:moveTo>
                  <a:pt x="5730583" y="17881"/>
                </a:moveTo>
                <a:lnTo>
                  <a:pt x="0" y="17881"/>
                </a:lnTo>
                <a:lnTo>
                  <a:pt x="0" y="35763"/>
                </a:lnTo>
                <a:lnTo>
                  <a:pt x="5730583" y="35763"/>
                </a:lnTo>
                <a:lnTo>
                  <a:pt x="5730583" y="17881"/>
                </a:lnTo>
                <a:close/>
              </a:path>
              <a:path w="5730875" h="52705">
                <a:moveTo>
                  <a:pt x="5730583" y="0"/>
                </a:moveTo>
                <a:lnTo>
                  <a:pt x="0" y="0"/>
                </a:lnTo>
                <a:lnTo>
                  <a:pt x="0" y="9474"/>
                </a:lnTo>
                <a:lnTo>
                  <a:pt x="5730583" y="9474"/>
                </a:lnTo>
                <a:lnTo>
                  <a:pt x="5730583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5646" y="692988"/>
            <a:ext cx="8152706" cy="871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6336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9023" y="1897687"/>
            <a:ext cx="7307580" cy="3890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11/30/2024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3881" y="6446834"/>
            <a:ext cx="26924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‹N°›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oracle.com/cd/B28359_01/server.111/" TargetMode="Externa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70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29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99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08.png"/><Relationship Id="rId3" Type="http://schemas.openxmlformats.org/officeDocument/2006/relationships/image" Target="../media/image110.png"/><Relationship Id="rId7" Type="http://schemas.openxmlformats.org/officeDocument/2006/relationships/image" Target="../media/image113.png"/><Relationship Id="rId12" Type="http://schemas.openxmlformats.org/officeDocument/2006/relationships/image" Target="../media/image107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06.png"/><Relationship Id="rId10" Type="http://schemas.openxmlformats.org/officeDocument/2006/relationships/image" Target="../media/image116.png"/><Relationship Id="rId4" Type="http://schemas.openxmlformats.org/officeDocument/2006/relationships/image" Target="../media/image111.png"/><Relationship Id="rId9" Type="http://schemas.openxmlformats.org/officeDocument/2006/relationships/image" Target="../media/image115.png"/><Relationship Id="rId14" Type="http://schemas.openxmlformats.org/officeDocument/2006/relationships/image" Target="../media/image118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eg"/><Relationship Id="rId1" Type="http://schemas.openxmlformats.org/officeDocument/2006/relationships/slideLayout" Target="../slideLayouts/slideLayout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jpe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300" y="3594100"/>
            <a:ext cx="6553200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8595" marR="5080" indent="-1446530">
              <a:lnSpc>
                <a:spcPct val="100000"/>
              </a:lnSpc>
              <a:spcBef>
                <a:spcPts val="105"/>
              </a:spcBef>
            </a:pPr>
            <a:r>
              <a:rPr lang="fr-FR" sz="5400" b="1" dirty="0" smtClean="0">
                <a:solidFill>
                  <a:srgbClr val="0000FF"/>
                </a:solidFill>
                <a:latin typeface="Tahoma"/>
                <a:cs typeface="Tahoma"/>
              </a:rPr>
              <a:t>Bases de Données Avancées</a:t>
            </a:r>
            <a:endParaRPr sz="54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5700" y="6337300"/>
            <a:ext cx="8610600" cy="2130327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54965" indent="-342265" algn="ctr">
              <a:lnSpc>
                <a:spcPct val="100000"/>
              </a:lnSpc>
              <a:spcBef>
                <a:spcPts val="148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54965" algn="l"/>
              </a:tabLst>
            </a:pPr>
            <a:r>
              <a:rPr lang="fr-FR" sz="3200" spc="-40" dirty="0" smtClean="0">
                <a:latin typeface="Tahoma"/>
                <a:cs typeface="Tahoma"/>
              </a:rPr>
              <a:t>Prof. Mostafa EZZIYYANI</a:t>
            </a:r>
          </a:p>
          <a:p>
            <a:pPr marL="342900" indent="-342900" algn="ctr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fr-FR" sz="2400" dirty="0" smtClean="0"/>
              <a:t>Faculté des Sciences et Techniques de Tanger</a:t>
            </a:r>
          </a:p>
          <a:p>
            <a:pPr marL="342900" indent="-342900" algn="ctr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fr-FR" sz="2400" dirty="0" smtClean="0"/>
              <a:t>Département Génie Informatique</a:t>
            </a:r>
          </a:p>
          <a:p>
            <a:pPr marL="354965" indent="-342265">
              <a:lnSpc>
                <a:spcPct val="100000"/>
              </a:lnSpc>
              <a:spcBef>
                <a:spcPts val="148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54965" algn="l"/>
              </a:tabLst>
            </a:pP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963660" y="7134285"/>
            <a:ext cx="269240" cy="222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7757" y="1079500"/>
            <a:ext cx="715200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8595" marR="5080" indent="-144653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Organisations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unidimentionnelles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: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indexage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et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7633" y="2174611"/>
            <a:ext cx="6070600" cy="4685030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8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54965" algn="l"/>
              </a:tabLst>
            </a:pPr>
            <a:r>
              <a:rPr sz="2500" spc="-40" dirty="0">
                <a:latin typeface="Tahoma"/>
                <a:cs typeface="Tahoma"/>
              </a:rPr>
              <a:t>Sélection</a:t>
            </a:r>
            <a:r>
              <a:rPr sz="2500" spc="-160" dirty="0">
                <a:latin typeface="Tahoma"/>
                <a:cs typeface="Tahoma"/>
              </a:rPr>
              <a:t> </a:t>
            </a:r>
            <a:r>
              <a:rPr sz="2500" spc="-30" dirty="0">
                <a:latin typeface="Tahoma"/>
                <a:cs typeface="Tahoma"/>
              </a:rPr>
              <a:t>basée</a:t>
            </a:r>
            <a:r>
              <a:rPr sz="2500" spc="-165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sur</a:t>
            </a:r>
            <a:r>
              <a:rPr sz="2500" spc="-150" dirty="0">
                <a:latin typeface="Tahoma"/>
                <a:cs typeface="Tahoma"/>
              </a:rPr>
              <a:t> </a:t>
            </a:r>
            <a:r>
              <a:rPr sz="2500" spc="-35" dirty="0">
                <a:latin typeface="Tahoma"/>
                <a:cs typeface="Tahoma"/>
              </a:rPr>
              <a:t>une</a:t>
            </a:r>
            <a:r>
              <a:rPr sz="2500" spc="-16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clé</a:t>
            </a:r>
            <a:r>
              <a:rPr sz="2500" spc="-14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d'accès</a:t>
            </a:r>
            <a:endParaRPr sz="25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96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recherche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associative</a:t>
            </a:r>
            <a:endParaRPr sz="1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Ex: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Chercher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plant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dont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noCatalogue</a:t>
            </a:r>
            <a:r>
              <a:rPr sz="21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=</a:t>
            </a:r>
            <a:r>
              <a:rPr sz="2000" spc="-25" dirty="0">
                <a:latin typeface="Tahoma"/>
                <a:cs typeface="Tahoma"/>
              </a:rPr>
              <a:t> 10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40"/>
              </a:spcBef>
              <a:buClr>
                <a:srgbClr val="B1B1B1"/>
              </a:buClr>
              <a:buSzPct val="71428"/>
              <a:buFont typeface="Wingdings"/>
              <a:buChar char="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Sériel</a:t>
            </a:r>
            <a:endParaRPr sz="21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96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lire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tout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fichier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en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pire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cas</a:t>
            </a:r>
            <a:endParaRPr sz="1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885"/>
              </a:spcBef>
              <a:buClr>
                <a:srgbClr val="FF0000"/>
              </a:buClr>
              <a:buSzPct val="71052"/>
              <a:buFont typeface="Wingdings"/>
              <a:buChar char=""/>
              <a:tabLst>
                <a:tab pos="756285" algn="l"/>
              </a:tabLst>
            </a:pPr>
            <a:r>
              <a:rPr sz="1900" b="1" i="1" spc="-20" dirty="0">
                <a:latin typeface="Verdana"/>
                <a:cs typeface="Verdana"/>
              </a:rPr>
              <a:t>O</a:t>
            </a:r>
            <a:r>
              <a:rPr sz="1800" spc="-20" dirty="0">
                <a:latin typeface="Tahoma"/>
                <a:cs typeface="Tahoma"/>
              </a:rPr>
              <a:t>(N)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44"/>
              </a:spcBef>
              <a:buClr>
                <a:srgbClr val="B1B1B1"/>
              </a:buClr>
              <a:buSzPct val="71428"/>
              <a:buFont typeface="Wingdings"/>
              <a:buChar char="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Indexage</a:t>
            </a:r>
            <a:endParaRPr sz="21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860"/>
              </a:spcBef>
              <a:buClr>
                <a:srgbClr val="FF0000"/>
              </a:buClr>
              <a:buSzPct val="71052"/>
              <a:buFont typeface="Wingdings"/>
              <a:buChar char=""/>
              <a:tabLst>
                <a:tab pos="756285" algn="l"/>
              </a:tabLst>
            </a:pPr>
            <a:r>
              <a:rPr sz="1900" b="1" i="1" spc="-10" dirty="0">
                <a:latin typeface="Verdana"/>
                <a:cs typeface="Verdana"/>
              </a:rPr>
              <a:t>O</a:t>
            </a:r>
            <a:r>
              <a:rPr sz="1800" spc="-10" dirty="0">
                <a:latin typeface="Tahoma"/>
                <a:cs typeface="Tahoma"/>
              </a:rPr>
              <a:t>(log(N))</a:t>
            </a:r>
            <a:endParaRPr sz="1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865"/>
              </a:spcBef>
              <a:buClr>
                <a:srgbClr val="FF0000"/>
              </a:buClr>
              <a:buSzPct val="71052"/>
              <a:buFont typeface="Wingdings"/>
              <a:buChar char=""/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sélection</a:t>
            </a:r>
            <a:r>
              <a:rPr sz="1900" spc="-95" dirty="0">
                <a:latin typeface="Tahoma"/>
                <a:cs typeface="Tahoma"/>
              </a:rPr>
              <a:t> </a:t>
            </a:r>
            <a:r>
              <a:rPr sz="1900" spc="-35" dirty="0">
                <a:latin typeface="Tahoma"/>
                <a:cs typeface="Tahoma"/>
              </a:rPr>
              <a:t>par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intervalle</a:t>
            </a: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44"/>
              </a:spcBef>
              <a:buClr>
                <a:srgbClr val="B1B1B1"/>
              </a:buClr>
              <a:buSzPct val="71428"/>
              <a:buFont typeface="Wingdings"/>
              <a:buChar char="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Hachage</a:t>
            </a:r>
            <a:endParaRPr sz="21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860"/>
              </a:spcBef>
              <a:buClr>
                <a:srgbClr val="FF0000"/>
              </a:buClr>
              <a:buSzPct val="71052"/>
              <a:buFont typeface="Wingdings"/>
              <a:buChar char=""/>
              <a:tabLst>
                <a:tab pos="756285" algn="l"/>
              </a:tabLst>
            </a:pPr>
            <a:r>
              <a:rPr sz="1900" b="1" i="1" spc="-10" dirty="0">
                <a:latin typeface="Verdana"/>
                <a:cs typeface="Verdana"/>
              </a:rPr>
              <a:t>~O</a:t>
            </a:r>
            <a:r>
              <a:rPr sz="1800" spc="-10" dirty="0">
                <a:latin typeface="Tahoma"/>
                <a:cs typeface="Tahoma"/>
              </a:rPr>
              <a:t>(1)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963660" y="7134285"/>
            <a:ext cx="269240" cy="222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0658" y="635888"/>
            <a:ext cx="1968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Indexage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548717"/>
            <a:ext cx="5200015" cy="107124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40"/>
              </a:spcBef>
              <a:buClr>
                <a:srgbClr val="B1B1B1"/>
              </a:buClr>
              <a:buSzPct val="71052"/>
              <a:buFont typeface="Wingdings"/>
              <a:buChar char=""/>
              <a:tabLst>
                <a:tab pos="354965" algn="l"/>
              </a:tabLst>
            </a:pPr>
            <a:r>
              <a:rPr sz="1900" b="1" i="1" spc="-195" dirty="0">
                <a:latin typeface="Verdana"/>
                <a:cs typeface="Verdana"/>
              </a:rPr>
              <a:t>Index</a:t>
            </a:r>
            <a:r>
              <a:rPr sz="1900" b="1" i="1" spc="-114" dirty="0">
                <a:latin typeface="Verdana"/>
                <a:cs typeface="Verdana"/>
              </a:rPr>
              <a:t> </a:t>
            </a:r>
            <a:r>
              <a:rPr sz="1800" b="1" dirty="0">
                <a:latin typeface="Tahoma"/>
                <a:cs typeface="Tahoma"/>
              </a:rPr>
              <a:t>et</a:t>
            </a:r>
            <a:r>
              <a:rPr sz="1800" b="1" spc="35" dirty="0">
                <a:latin typeface="Tahoma"/>
                <a:cs typeface="Tahoma"/>
              </a:rPr>
              <a:t> </a:t>
            </a:r>
            <a:r>
              <a:rPr sz="1900" b="1" i="1" spc="-170" dirty="0">
                <a:latin typeface="Verdana"/>
                <a:cs typeface="Verdana"/>
              </a:rPr>
              <a:t>clé</a:t>
            </a:r>
            <a:r>
              <a:rPr sz="1900" b="1" i="1" spc="-95" dirty="0">
                <a:latin typeface="Verdana"/>
                <a:cs typeface="Verdana"/>
              </a:rPr>
              <a:t> </a:t>
            </a:r>
            <a:r>
              <a:rPr sz="1900" b="1" i="1" spc="-190" dirty="0">
                <a:latin typeface="Verdana"/>
                <a:cs typeface="Verdana"/>
              </a:rPr>
              <a:t>d'index</a:t>
            </a:r>
            <a:r>
              <a:rPr sz="1900" b="1" i="1" spc="-80" dirty="0">
                <a:latin typeface="Verdana"/>
                <a:cs typeface="Verdana"/>
              </a:rPr>
              <a:t> </a:t>
            </a:r>
            <a:r>
              <a:rPr sz="1800" b="1" spc="-165" dirty="0">
                <a:latin typeface="Tahoma"/>
                <a:cs typeface="Tahoma"/>
              </a:rPr>
              <a:t>(</a:t>
            </a:r>
            <a:r>
              <a:rPr sz="1900" b="1" i="1" spc="-165" dirty="0">
                <a:latin typeface="Verdana"/>
                <a:cs typeface="Verdana"/>
              </a:rPr>
              <a:t>index</a:t>
            </a:r>
            <a:r>
              <a:rPr sz="1900" b="1" i="1" spc="-85" dirty="0">
                <a:latin typeface="Verdana"/>
                <a:cs typeface="Verdana"/>
              </a:rPr>
              <a:t> </a:t>
            </a:r>
            <a:r>
              <a:rPr sz="1900" b="1" i="1" spc="-20" dirty="0">
                <a:latin typeface="Verdana"/>
                <a:cs typeface="Verdana"/>
              </a:rPr>
              <a:t>key</a:t>
            </a:r>
            <a:r>
              <a:rPr sz="1800" b="1" spc="-20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79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600" dirty="0">
                <a:latin typeface="Tahoma"/>
                <a:cs typeface="Tahoma"/>
              </a:rPr>
              <a:t>valeur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de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la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clé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=&gt;adresse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de(s)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l'enregistrement</a:t>
            </a:r>
            <a:endParaRPr sz="1600">
              <a:latin typeface="Tahoma"/>
              <a:cs typeface="Tahoma"/>
            </a:endParaRPr>
          </a:p>
          <a:p>
            <a:pPr marR="1044575" algn="r">
              <a:lnSpc>
                <a:spcPct val="100000"/>
              </a:lnSpc>
              <a:spcBef>
                <a:spcPts val="795"/>
              </a:spcBef>
            </a:pPr>
            <a:r>
              <a:rPr sz="1250" spc="-10" dirty="0">
                <a:latin typeface="Arial MT"/>
                <a:cs typeface="Arial MT"/>
              </a:rPr>
              <a:t>Numéro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6678" y="2592440"/>
            <a:ext cx="53340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Arial MT"/>
                <a:cs typeface="Arial MT"/>
              </a:rPr>
              <a:t>de</a:t>
            </a:r>
            <a:r>
              <a:rPr sz="1250" spc="-40" dirty="0"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bloc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92857" y="2257698"/>
            <a:ext cx="1189355" cy="40386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indent="300990">
              <a:lnSpc>
                <a:spcPts val="1480"/>
              </a:lnSpc>
              <a:spcBef>
                <a:spcPts val="160"/>
              </a:spcBef>
            </a:pPr>
            <a:r>
              <a:rPr sz="1250" spc="-10" dirty="0">
                <a:latin typeface="Arial MT"/>
                <a:cs typeface="Arial MT"/>
              </a:rPr>
              <a:t>Numéro </a:t>
            </a:r>
            <a:r>
              <a:rPr sz="1250" spc="-20" dirty="0">
                <a:latin typeface="Arial MT"/>
                <a:cs typeface="Arial MT"/>
              </a:rPr>
              <a:t>d'enregistrement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6795" y="2633676"/>
            <a:ext cx="41529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latin typeface="Arial MT"/>
                <a:cs typeface="Arial MT"/>
              </a:rPr>
              <a:t>relatif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9626" y="3479264"/>
            <a:ext cx="13017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9626" y="5027310"/>
            <a:ext cx="13017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Arial MT"/>
                <a:cs typeface="Arial MT"/>
              </a:rPr>
              <a:t>1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2258" y="2893031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2258" y="3174936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1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42258" y="3456840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2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42258" y="3738588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3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2258" y="4020493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4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2258" y="4441625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5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42258" y="4723373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6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42258" y="5004902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7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42258" y="5286759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8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2258" y="5568601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latin typeface="Arial MT"/>
                <a:cs typeface="Arial MT"/>
              </a:rPr>
              <a:t>9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138" y="4258907"/>
            <a:ext cx="2750300" cy="14261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4138" y="5803315"/>
            <a:ext cx="2750300" cy="142615"/>
          </a:xfrm>
          <a:prstGeom prst="rect">
            <a:avLst/>
          </a:prstGeom>
        </p:spPr>
      </p:pic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4907220" y="2832717"/>
          <a:ext cx="2750185" cy="3769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450"/>
                <a:gridCol w="1692910"/>
                <a:gridCol w="631825"/>
              </a:tblGrid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10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25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25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boule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Epinette</a:t>
                      </a:r>
                      <a:r>
                        <a:rPr sz="125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bleue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90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Pommier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60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2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10" dirty="0">
                          <a:latin typeface="Arial MT"/>
                          <a:cs typeface="Arial MT"/>
                        </a:rPr>
                        <a:t>argenté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50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Chêne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22.99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843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81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Catalpa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95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Génévrier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70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25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2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-20" dirty="0">
                          <a:latin typeface="Arial MT"/>
                          <a:cs typeface="Arial MT"/>
                        </a:rPr>
                        <a:t>puce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20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Sapin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12.99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80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Poirier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50" spc="-10" dirty="0">
                          <a:latin typeface="Arial MT"/>
                          <a:cs typeface="Arial MT"/>
                        </a:rPr>
                        <a:t>26.99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41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75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2379047" y="2843967"/>
            <a:ext cx="854710" cy="293370"/>
            <a:chOff x="2379047" y="2843967"/>
            <a:chExt cx="854710" cy="293370"/>
          </a:xfrm>
        </p:grpSpPr>
        <p:sp>
          <p:nvSpPr>
            <p:cNvPr id="23" name="object 23"/>
            <p:cNvSpPr/>
            <p:nvPr/>
          </p:nvSpPr>
          <p:spPr>
            <a:xfrm>
              <a:off x="2384762" y="2849682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02536" y="2849682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02536" y="2849682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77353" y="2847879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10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79047" y="3125872"/>
            <a:ext cx="854710" cy="293370"/>
            <a:chOff x="2379047" y="3125872"/>
            <a:chExt cx="854710" cy="293370"/>
          </a:xfrm>
        </p:grpSpPr>
        <p:sp>
          <p:nvSpPr>
            <p:cNvPr id="28" name="object 28"/>
            <p:cNvSpPr/>
            <p:nvPr/>
          </p:nvSpPr>
          <p:spPr>
            <a:xfrm>
              <a:off x="2384762" y="3131587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02536" y="3131587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02536" y="3131587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477353" y="3129470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20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8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379047" y="3407620"/>
            <a:ext cx="854710" cy="293370"/>
            <a:chOff x="2379047" y="3407620"/>
            <a:chExt cx="854710" cy="293370"/>
          </a:xfrm>
        </p:grpSpPr>
        <p:sp>
          <p:nvSpPr>
            <p:cNvPr id="33" name="object 33"/>
            <p:cNvSpPr/>
            <p:nvPr/>
          </p:nvSpPr>
          <p:spPr>
            <a:xfrm>
              <a:off x="2384762" y="341333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02536" y="341333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02536" y="341333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477353" y="3411218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40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1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379047" y="3689525"/>
            <a:ext cx="854710" cy="293370"/>
            <a:chOff x="2379047" y="3689525"/>
            <a:chExt cx="854710" cy="293370"/>
          </a:xfrm>
        </p:grpSpPr>
        <p:sp>
          <p:nvSpPr>
            <p:cNvPr id="38" name="object 38"/>
            <p:cNvSpPr/>
            <p:nvPr/>
          </p:nvSpPr>
          <p:spPr>
            <a:xfrm>
              <a:off x="2384762" y="369524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2536" y="369524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02536" y="369524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477353" y="3693123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50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4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379047" y="3971430"/>
            <a:ext cx="854710" cy="293370"/>
            <a:chOff x="2379047" y="3971430"/>
            <a:chExt cx="854710" cy="293370"/>
          </a:xfrm>
        </p:grpSpPr>
        <p:sp>
          <p:nvSpPr>
            <p:cNvPr id="43" name="object 43"/>
            <p:cNvSpPr/>
            <p:nvPr/>
          </p:nvSpPr>
          <p:spPr>
            <a:xfrm>
              <a:off x="2384762" y="397714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02536" y="397714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02536" y="397714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477353" y="3975028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60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3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379047" y="4253240"/>
            <a:ext cx="854710" cy="293370"/>
            <a:chOff x="2379047" y="4253240"/>
            <a:chExt cx="854710" cy="293370"/>
          </a:xfrm>
        </p:grpSpPr>
        <p:sp>
          <p:nvSpPr>
            <p:cNvPr id="48" name="object 48"/>
            <p:cNvSpPr/>
            <p:nvPr/>
          </p:nvSpPr>
          <p:spPr>
            <a:xfrm>
              <a:off x="2384762" y="425895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481"/>
                  </a:moveTo>
                  <a:lnTo>
                    <a:pt x="425295" y="281481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481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802536" y="425895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481"/>
                  </a:lnTo>
                  <a:lnTo>
                    <a:pt x="424919" y="281481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02536" y="4258955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481"/>
                  </a:moveTo>
                  <a:lnTo>
                    <a:pt x="424919" y="281481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481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477353" y="4256776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70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7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379047" y="4534768"/>
            <a:ext cx="854710" cy="293370"/>
            <a:chOff x="2379047" y="4534768"/>
            <a:chExt cx="854710" cy="293370"/>
          </a:xfrm>
        </p:grpSpPr>
        <p:sp>
          <p:nvSpPr>
            <p:cNvPr id="53" name="object 53"/>
            <p:cNvSpPr/>
            <p:nvPr/>
          </p:nvSpPr>
          <p:spPr>
            <a:xfrm>
              <a:off x="2384762" y="4540483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02536" y="4540483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02536" y="4540483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2477353" y="4538680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80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9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379047" y="4816516"/>
            <a:ext cx="854710" cy="293370"/>
            <a:chOff x="2379047" y="4816516"/>
            <a:chExt cx="854710" cy="293370"/>
          </a:xfrm>
        </p:grpSpPr>
        <p:sp>
          <p:nvSpPr>
            <p:cNvPr id="58" name="object 58"/>
            <p:cNvSpPr/>
            <p:nvPr/>
          </p:nvSpPr>
          <p:spPr>
            <a:xfrm>
              <a:off x="2384762" y="4822231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802536" y="4822231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802536" y="4822231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477353" y="4820585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81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5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379047" y="5098405"/>
            <a:ext cx="854710" cy="293370"/>
            <a:chOff x="2379047" y="5098405"/>
            <a:chExt cx="854710" cy="293370"/>
          </a:xfrm>
        </p:grpSpPr>
        <p:sp>
          <p:nvSpPr>
            <p:cNvPr id="63" name="object 63"/>
            <p:cNvSpPr/>
            <p:nvPr/>
          </p:nvSpPr>
          <p:spPr>
            <a:xfrm>
              <a:off x="2384762" y="510412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02536" y="510412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802536" y="5104120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477353" y="5102380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90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2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379047" y="5380263"/>
            <a:ext cx="854710" cy="293370"/>
            <a:chOff x="2379047" y="5380263"/>
            <a:chExt cx="854710" cy="293370"/>
          </a:xfrm>
        </p:grpSpPr>
        <p:sp>
          <p:nvSpPr>
            <p:cNvPr id="68" name="object 68"/>
            <p:cNvSpPr/>
            <p:nvPr/>
          </p:nvSpPr>
          <p:spPr>
            <a:xfrm>
              <a:off x="2384762" y="5385978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5295" y="281857"/>
                  </a:lnTo>
                  <a:lnTo>
                    <a:pt x="425295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02536" y="5385978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424919" y="0"/>
                  </a:moveTo>
                  <a:lnTo>
                    <a:pt x="0" y="0"/>
                  </a:lnTo>
                  <a:lnTo>
                    <a:pt x="0" y="281857"/>
                  </a:lnTo>
                  <a:lnTo>
                    <a:pt x="424919" y="281857"/>
                  </a:lnTo>
                  <a:lnTo>
                    <a:pt x="4249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802536" y="5385978"/>
              <a:ext cx="425450" cy="281940"/>
            </a:xfrm>
            <a:custGeom>
              <a:avLst/>
              <a:gdLst/>
              <a:ahLst/>
              <a:cxnLst/>
              <a:rect l="l" t="t" r="r" b="b"/>
              <a:pathLst>
                <a:path w="425450" h="281939">
                  <a:moveTo>
                    <a:pt x="0" y="281857"/>
                  </a:moveTo>
                  <a:lnTo>
                    <a:pt x="424919" y="281857"/>
                  </a:lnTo>
                  <a:lnTo>
                    <a:pt x="424919" y="0"/>
                  </a:lnTo>
                  <a:lnTo>
                    <a:pt x="0" y="0"/>
                  </a:lnTo>
                  <a:lnTo>
                    <a:pt x="0" y="281857"/>
                  </a:lnTo>
                  <a:close/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477353" y="5384222"/>
            <a:ext cx="60071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82600" algn="l"/>
              </a:tabLst>
            </a:pPr>
            <a:r>
              <a:rPr sz="1450" spc="-25" dirty="0">
                <a:latin typeface="Arial MT"/>
                <a:cs typeface="Arial MT"/>
              </a:rPr>
              <a:t>95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-50" dirty="0">
                <a:latin typeface="Arial MT"/>
                <a:cs typeface="Arial MT"/>
              </a:rPr>
              <a:t>6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2379122" y="2939788"/>
            <a:ext cx="2545080" cy="2773680"/>
            <a:chOff x="2379122" y="2939788"/>
            <a:chExt cx="2545080" cy="2773680"/>
          </a:xfrm>
        </p:grpSpPr>
        <p:sp>
          <p:nvSpPr>
            <p:cNvPr id="73" name="object 73"/>
            <p:cNvSpPr/>
            <p:nvPr/>
          </p:nvSpPr>
          <p:spPr>
            <a:xfrm>
              <a:off x="3092089" y="2992312"/>
              <a:ext cx="1757045" cy="0"/>
            </a:xfrm>
            <a:custGeom>
              <a:avLst/>
              <a:gdLst/>
              <a:ahLst/>
              <a:cxnLst/>
              <a:rect l="l" t="t" r="r" b="b"/>
              <a:pathLst>
                <a:path w="1757045">
                  <a:moveTo>
                    <a:pt x="0" y="0"/>
                  </a:moveTo>
                  <a:lnTo>
                    <a:pt x="1756923" y="0"/>
                  </a:lnTo>
                </a:path>
              </a:pathLst>
            </a:custGeom>
            <a:ln w="11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822664" y="2939788"/>
              <a:ext cx="101600" cy="101600"/>
            </a:xfrm>
            <a:custGeom>
              <a:avLst/>
              <a:gdLst/>
              <a:ahLst/>
              <a:cxnLst/>
              <a:rect l="l" t="t" r="r" b="b"/>
              <a:pathLst>
                <a:path w="101600" h="101600">
                  <a:moveTo>
                    <a:pt x="0" y="0"/>
                  </a:moveTo>
                  <a:lnTo>
                    <a:pt x="11292" y="33709"/>
                  </a:lnTo>
                  <a:lnTo>
                    <a:pt x="11292" y="67575"/>
                  </a:lnTo>
                  <a:lnTo>
                    <a:pt x="0" y="101598"/>
                  </a:lnTo>
                  <a:lnTo>
                    <a:pt x="101473" y="52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092089" y="3274217"/>
              <a:ext cx="1783714" cy="2055495"/>
            </a:xfrm>
            <a:custGeom>
              <a:avLst/>
              <a:gdLst/>
              <a:ahLst/>
              <a:cxnLst/>
              <a:rect l="l" t="t" r="r" b="b"/>
              <a:pathLst>
                <a:path w="1783714" h="2055495">
                  <a:moveTo>
                    <a:pt x="0" y="0"/>
                  </a:moveTo>
                  <a:lnTo>
                    <a:pt x="1783115" y="2055458"/>
                  </a:lnTo>
                </a:path>
              </a:pathLst>
            </a:custGeom>
            <a:ln w="11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18900" y="5277136"/>
              <a:ext cx="105410" cy="109220"/>
            </a:xfrm>
            <a:custGeom>
              <a:avLst/>
              <a:gdLst/>
              <a:ahLst/>
              <a:cxnLst/>
              <a:rect l="l" t="t" r="r" b="b"/>
              <a:pathLst>
                <a:path w="105410" h="109220">
                  <a:moveTo>
                    <a:pt x="78889" y="0"/>
                  </a:moveTo>
                  <a:lnTo>
                    <a:pt x="60068" y="30024"/>
                  </a:lnTo>
                  <a:lnTo>
                    <a:pt x="33876" y="52539"/>
                  </a:lnTo>
                  <a:lnTo>
                    <a:pt x="0" y="63797"/>
                  </a:lnTo>
                  <a:lnTo>
                    <a:pt x="105237" y="108842"/>
                  </a:lnTo>
                  <a:lnTo>
                    <a:pt x="7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92089" y="3285349"/>
              <a:ext cx="1757045" cy="271145"/>
            </a:xfrm>
            <a:custGeom>
              <a:avLst/>
              <a:gdLst/>
              <a:ahLst/>
              <a:cxnLst/>
              <a:rect l="l" t="t" r="r" b="b"/>
              <a:pathLst>
                <a:path w="1757045" h="271145">
                  <a:moveTo>
                    <a:pt x="0" y="270615"/>
                  </a:moveTo>
                  <a:lnTo>
                    <a:pt x="1756923" y="0"/>
                  </a:lnTo>
                </a:path>
              </a:pathLst>
            </a:custGeom>
            <a:ln w="11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815136" y="3236588"/>
              <a:ext cx="109220" cy="101600"/>
            </a:xfrm>
            <a:custGeom>
              <a:avLst/>
              <a:gdLst/>
              <a:ahLst/>
              <a:cxnLst/>
              <a:rect l="l" t="t" r="r" b="b"/>
              <a:pathLst>
                <a:path w="109220" h="101600">
                  <a:moveTo>
                    <a:pt x="0" y="0"/>
                  </a:moveTo>
                  <a:lnTo>
                    <a:pt x="15056" y="33866"/>
                  </a:lnTo>
                  <a:lnTo>
                    <a:pt x="22584" y="67575"/>
                  </a:lnTo>
                  <a:lnTo>
                    <a:pt x="15056" y="101284"/>
                  </a:lnTo>
                  <a:lnTo>
                    <a:pt x="109001" y="3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92089" y="3837870"/>
              <a:ext cx="1757045" cy="267335"/>
            </a:xfrm>
            <a:custGeom>
              <a:avLst/>
              <a:gdLst/>
              <a:ahLst/>
              <a:cxnLst/>
              <a:rect l="l" t="t" r="r" b="b"/>
              <a:pathLst>
                <a:path w="1757045" h="267335">
                  <a:moveTo>
                    <a:pt x="0" y="0"/>
                  </a:moveTo>
                  <a:lnTo>
                    <a:pt x="1756923" y="266853"/>
                  </a:lnTo>
                </a:path>
              </a:pathLst>
            </a:custGeom>
            <a:ln w="11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815136" y="4052199"/>
              <a:ext cx="109220" cy="101600"/>
            </a:xfrm>
            <a:custGeom>
              <a:avLst/>
              <a:gdLst/>
              <a:ahLst/>
              <a:cxnLst/>
              <a:rect l="l" t="t" r="r" b="b"/>
              <a:pathLst>
                <a:path w="109220" h="101600">
                  <a:moveTo>
                    <a:pt x="15056" y="0"/>
                  </a:moveTo>
                  <a:lnTo>
                    <a:pt x="22584" y="33709"/>
                  </a:lnTo>
                  <a:lnTo>
                    <a:pt x="15056" y="67575"/>
                  </a:lnTo>
                  <a:lnTo>
                    <a:pt x="0" y="101284"/>
                  </a:lnTo>
                  <a:lnTo>
                    <a:pt x="109001" y="67575"/>
                  </a:lnTo>
                  <a:lnTo>
                    <a:pt x="150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092089" y="3849158"/>
              <a:ext cx="1757045" cy="271145"/>
            </a:xfrm>
            <a:custGeom>
              <a:avLst/>
              <a:gdLst/>
              <a:ahLst/>
              <a:cxnLst/>
              <a:rect l="l" t="t" r="r" b="b"/>
              <a:pathLst>
                <a:path w="1757045" h="271145">
                  <a:moveTo>
                    <a:pt x="0" y="270615"/>
                  </a:moveTo>
                  <a:lnTo>
                    <a:pt x="1756923" y="0"/>
                  </a:lnTo>
                </a:path>
              </a:pathLst>
            </a:custGeom>
            <a:ln w="11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815136" y="3800241"/>
              <a:ext cx="109220" cy="101600"/>
            </a:xfrm>
            <a:custGeom>
              <a:avLst/>
              <a:gdLst/>
              <a:ahLst/>
              <a:cxnLst/>
              <a:rect l="l" t="t" r="r" b="b"/>
              <a:pathLst>
                <a:path w="109220" h="101600">
                  <a:moveTo>
                    <a:pt x="0" y="0"/>
                  </a:moveTo>
                  <a:lnTo>
                    <a:pt x="15056" y="33866"/>
                  </a:lnTo>
                  <a:lnTo>
                    <a:pt x="22584" y="67575"/>
                  </a:lnTo>
                  <a:lnTo>
                    <a:pt x="15056" y="101441"/>
                  </a:lnTo>
                  <a:lnTo>
                    <a:pt x="109001" y="3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092089" y="4401522"/>
              <a:ext cx="1760855" cy="676910"/>
            </a:xfrm>
            <a:custGeom>
              <a:avLst/>
              <a:gdLst/>
              <a:ahLst/>
              <a:cxnLst/>
              <a:rect l="l" t="t" r="r" b="b"/>
              <a:pathLst>
                <a:path w="1760854" h="676910">
                  <a:moveTo>
                    <a:pt x="0" y="0"/>
                  </a:moveTo>
                  <a:lnTo>
                    <a:pt x="1760687" y="676383"/>
                  </a:lnTo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11372" y="5021619"/>
              <a:ext cx="113030" cy="93980"/>
            </a:xfrm>
            <a:custGeom>
              <a:avLst/>
              <a:gdLst/>
              <a:ahLst/>
              <a:cxnLst/>
              <a:rect l="l" t="t" r="r" b="b"/>
              <a:pathLst>
                <a:path w="113029" h="93979">
                  <a:moveTo>
                    <a:pt x="37640" y="0"/>
                  </a:moveTo>
                  <a:lnTo>
                    <a:pt x="33876" y="33709"/>
                  </a:lnTo>
                  <a:lnTo>
                    <a:pt x="22584" y="67418"/>
                  </a:lnTo>
                  <a:lnTo>
                    <a:pt x="0" y="93759"/>
                  </a:lnTo>
                  <a:lnTo>
                    <a:pt x="112766" y="82470"/>
                  </a:lnTo>
                  <a:lnTo>
                    <a:pt x="37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092089" y="4683427"/>
              <a:ext cx="1764664" cy="947419"/>
            </a:xfrm>
            <a:custGeom>
              <a:avLst/>
              <a:gdLst/>
              <a:ahLst/>
              <a:cxnLst/>
              <a:rect l="l" t="t" r="r" b="b"/>
              <a:pathLst>
                <a:path w="1764664" h="947420">
                  <a:moveTo>
                    <a:pt x="0" y="0"/>
                  </a:moveTo>
                  <a:lnTo>
                    <a:pt x="1764451" y="946873"/>
                  </a:lnTo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811372" y="5573998"/>
              <a:ext cx="113030" cy="93980"/>
            </a:xfrm>
            <a:custGeom>
              <a:avLst/>
              <a:gdLst/>
              <a:ahLst/>
              <a:cxnLst/>
              <a:rect l="l" t="t" r="r" b="b"/>
              <a:pathLst>
                <a:path w="113029" h="93979">
                  <a:moveTo>
                    <a:pt x="48933" y="0"/>
                  </a:moveTo>
                  <a:lnTo>
                    <a:pt x="41405" y="33787"/>
                  </a:lnTo>
                  <a:lnTo>
                    <a:pt x="26348" y="67559"/>
                  </a:lnTo>
                  <a:lnTo>
                    <a:pt x="0" y="90074"/>
                  </a:lnTo>
                  <a:lnTo>
                    <a:pt x="112766" y="93837"/>
                  </a:lnTo>
                  <a:lnTo>
                    <a:pt x="489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092089" y="4559565"/>
              <a:ext cx="1757045" cy="405765"/>
            </a:xfrm>
            <a:custGeom>
              <a:avLst/>
              <a:gdLst/>
              <a:ahLst/>
              <a:cxnLst/>
              <a:rect l="l" t="t" r="r" b="b"/>
              <a:pathLst>
                <a:path w="1757045" h="405764">
                  <a:moveTo>
                    <a:pt x="0" y="405767"/>
                  </a:moveTo>
                  <a:lnTo>
                    <a:pt x="1756923" y="0"/>
                  </a:lnTo>
                </a:path>
              </a:pathLst>
            </a:custGeom>
            <a:ln w="112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815136" y="4514096"/>
              <a:ext cx="109220" cy="98425"/>
            </a:xfrm>
            <a:custGeom>
              <a:avLst/>
              <a:gdLst/>
              <a:ahLst/>
              <a:cxnLst/>
              <a:rect l="l" t="t" r="r" b="b"/>
              <a:pathLst>
                <a:path w="109220" h="98425">
                  <a:moveTo>
                    <a:pt x="0" y="0"/>
                  </a:moveTo>
                  <a:lnTo>
                    <a:pt x="15056" y="30103"/>
                  </a:lnTo>
                  <a:lnTo>
                    <a:pt x="22584" y="64283"/>
                  </a:lnTo>
                  <a:lnTo>
                    <a:pt x="22584" y="97992"/>
                  </a:lnTo>
                  <a:lnTo>
                    <a:pt x="109001" y="263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092089" y="3604726"/>
              <a:ext cx="1776095" cy="1642745"/>
            </a:xfrm>
            <a:custGeom>
              <a:avLst/>
              <a:gdLst/>
              <a:ahLst/>
              <a:cxnLst/>
              <a:rect l="l" t="t" r="r" b="b"/>
              <a:pathLst>
                <a:path w="1776095" h="1642745">
                  <a:moveTo>
                    <a:pt x="0" y="1642384"/>
                  </a:moveTo>
                  <a:lnTo>
                    <a:pt x="1775587" y="0"/>
                  </a:lnTo>
                </a:path>
              </a:pathLst>
            </a:custGeom>
            <a:ln w="11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815136" y="3555965"/>
              <a:ext cx="109220" cy="106045"/>
            </a:xfrm>
            <a:custGeom>
              <a:avLst/>
              <a:gdLst/>
              <a:ahLst/>
              <a:cxnLst/>
              <a:rect l="l" t="t" r="r" b="b"/>
              <a:pathLst>
                <a:path w="109220" h="106045">
                  <a:moveTo>
                    <a:pt x="109001" y="0"/>
                  </a:moveTo>
                  <a:lnTo>
                    <a:pt x="0" y="30103"/>
                  </a:lnTo>
                  <a:lnTo>
                    <a:pt x="30112" y="44998"/>
                  </a:lnTo>
                  <a:lnTo>
                    <a:pt x="52540" y="71338"/>
                  </a:lnTo>
                  <a:lnTo>
                    <a:pt x="67596" y="105518"/>
                  </a:lnTo>
                  <a:lnTo>
                    <a:pt x="1090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092089" y="4848995"/>
              <a:ext cx="1760855" cy="680085"/>
            </a:xfrm>
            <a:custGeom>
              <a:avLst/>
              <a:gdLst/>
              <a:ahLst/>
              <a:cxnLst/>
              <a:rect l="l" t="t" r="r" b="b"/>
              <a:pathLst>
                <a:path w="1760854" h="680085">
                  <a:moveTo>
                    <a:pt x="0" y="679973"/>
                  </a:moveTo>
                  <a:lnTo>
                    <a:pt x="1760687" y="0"/>
                  </a:lnTo>
                </a:path>
              </a:pathLst>
            </a:custGeom>
            <a:ln w="11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811372" y="4811052"/>
              <a:ext cx="113030" cy="94615"/>
            </a:xfrm>
            <a:custGeom>
              <a:avLst/>
              <a:gdLst/>
              <a:ahLst/>
              <a:cxnLst/>
              <a:rect l="l" t="t" r="r" b="b"/>
              <a:pathLst>
                <a:path w="113029" h="94614">
                  <a:moveTo>
                    <a:pt x="0" y="0"/>
                  </a:moveTo>
                  <a:lnTo>
                    <a:pt x="22584" y="26183"/>
                  </a:lnTo>
                  <a:lnTo>
                    <a:pt x="33876" y="60363"/>
                  </a:lnTo>
                  <a:lnTo>
                    <a:pt x="37640" y="94229"/>
                  </a:lnTo>
                  <a:lnTo>
                    <a:pt x="112766" y="11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384762" y="5667836"/>
              <a:ext cx="846455" cy="45085"/>
            </a:xfrm>
            <a:custGeom>
              <a:avLst/>
              <a:gdLst/>
              <a:ahLst/>
              <a:cxnLst/>
              <a:rect l="l" t="t" r="r" b="b"/>
              <a:pathLst>
                <a:path w="846455" h="45085">
                  <a:moveTo>
                    <a:pt x="0" y="0"/>
                  </a:moveTo>
                  <a:lnTo>
                    <a:pt x="0" y="45029"/>
                  </a:lnTo>
                </a:path>
                <a:path w="846455" h="45085">
                  <a:moveTo>
                    <a:pt x="846457" y="0"/>
                  </a:moveTo>
                  <a:lnTo>
                    <a:pt x="846457" y="45029"/>
                  </a:lnTo>
                </a:path>
              </a:pathLst>
            </a:custGeom>
            <a:ln w="11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/>
          <p:nvPr/>
        </p:nvSpPr>
        <p:spPr>
          <a:xfrm>
            <a:off x="2384762" y="5758271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5045"/>
                </a:lnTo>
              </a:path>
            </a:pathLst>
          </a:custGeom>
          <a:ln w="11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384762" y="584834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5045"/>
                </a:lnTo>
              </a:path>
            </a:pathLst>
          </a:custGeom>
          <a:ln w="11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985837" y="5938420"/>
            <a:ext cx="2981325" cy="416559"/>
            <a:chOff x="985837" y="5938420"/>
            <a:chExt cx="2981325" cy="416559"/>
          </a:xfrm>
        </p:grpSpPr>
        <p:sp>
          <p:nvSpPr>
            <p:cNvPr id="97" name="object 97"/>
            <p:cNvSpPr/>
            <p:nvPr/>
          </p:nvSpPr>
          <p:spPr>
            <a:xfrm>
              <a:off x="2384762" y="5938420"/>
              <a:ext cx="846455" cy="11430"/>
            </a:xfrm>
            <a:custGeom>
              <a:avLst/>
              <a:gdLst/>
              <a:ahLst/>
              <a:cxnLst/>
              <a:rect l="l" t="t" r="r" b="b"/>
              <a:pathLst>
                <a:path w="846455" h="11429">
                  <a:moveTo>
                    <a:pt x="0" y="0"/>
                  </a:moveTo>
                  <a:lnTo>
                    <a:pt x="0" y="11257"/>
                  </a:lnTo>
                </a:path>
                <a:path w="846455" h="11429">
                  <a:moveTo>
                    <a:pt x="846457" y="0"/>
                  </a:moveTo>
                  <a:lnTo>
                    <a:pt x="846457" y="11257"/>
                  </a:lnTo>
                </a:path>
              </a:pathLst>
            </a:custGeom>
            <a:ln w="11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990600" y="5943600"/>
              <a:ext cx="2971800" cy="406400"/>
            </a:xfrm>
            <a:custGeom>
              <a:avLst/>
              <a:gdLst/>
              <a:ahLst/>
              <a:cxnLst/>
              <a:rect l="l" t="t" r="r" b="b"/>
              <a:pathLst>
                <a:path w="2971800" h="406400">
                  <a:moveTo>
                    <a:pt x="0" y="406400"/>
                  </a:moveTo>
                  <a:lnTo>
                    <a:pt x="2971800" y="4064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40640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/>
          <p:nvPr/>
        </p:nvSpPr>
        <p:spPr>
          <a:xfrm>
            <a:off x="3231220" y="5758271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5045"/>
                </a:lnTo>
              </a:path>
            </a:pathLst>
          </a:custGeom>
          <a:ln w="11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231220" y="5848346"/>
            <a:ext cx="0" cy="45085"/>
          </a:xfrm>
          <a:custGeom>
            <a:avLst/>
            <a:gdLst/>
            <a:ahLst/>
            <a:cxnLst/>
            <a:rect l="l" t="t" r="r" b="b"/>
            <a:pathLst>
              <a:path h="45085">
                <a:moveTo>
                  <a:pt x="0" y="0"/>
                </a:moveTo>
                <a:lnTo>
                  <a:pt x="0" y="45045"/>
                </a:lnTo>
              </a:path>
            </a:pathLst>
          </a:custGeom>
          <a:ln w="11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2601443" y="2531920"/>
            <a:ext cx="40894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latin typeface="Arial MT"/>
                <a:cs typeface="Arial MT"/>
              </a:rPr>
              <a:t>Index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</a:t>
            </a:fld>
            <a:endParaRPr spc="-25" dirty="0"/>
          </a:p>
        </p:txBody>
      </p:sp>
      <p:sp>
        <p:nvSpPr>
          <p:cNvPr id="102" name="object 102"/>
          <p:cNvSpPr txBox="1"/>
          <p:nvPr/>
        </p:nvSpPr>
        <p:spPr>
          <a:xfrm>
            <a:off x="995362" y="5968695"/>
            <a:ext cx="2962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Index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dense</a:t>
            </a:r>
            <a:r>
              <a:rPr sz="2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secondaire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889" y="635888"/>
            <a:ext cx="51282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Fichier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séquentiel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indexé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4316048"/>
            <a:ext cx="2996565" cy="18548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Non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dense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Index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plus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petit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Accès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séquentiel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rapide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Primaire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80768" y="2183994"/>
            <a:ext cx="433070" cy="292100"/>
          </a:xfrm>
          <a:prstGeom prst="rect">
            <a:avLst/>
          </a:prstGeom>
          <a:ln w="1168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25"/>
              </a:spcBef>
            </a:pPr>
            <a:r>
              <a:rPr sz="1500" spc="-25" dirty="0">
                <a:latin typeface="Arial MT"/>
                <a:cs typeface="Arial MT"/>
              </a:rPr>
              <a:t>10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07430" y="2177962"/>
            <a:ext cx="452755" cy="304165"/>
            <a:chOff x="2507430" y="2177962"/>
            <a:chExt cx="452755" cy="304165"/>
          </a:xfrm>
        </p:grpSpPr>
        <p:sp>
          <p:nvSpPr>
            <p:cNvPr id="6" name="object 6"/>
            <p:cNvSpPr/>
            <p:nvPr/>
          </p:nvSpPr>
          <p:spPr>
            <a:xfrm>
              <a:off x="2513462" y="2183994"/>
              <a:ext cx="440690" cy="292100"/>
            </a:xfrm>
            <a:custGeom>
              <a:avLst/>
              <a:gdLst/>
              <a:ahLst/>
              <a:cxnLst/>
              <a:rect l="l" t="t" r="r" b="b"/>
              <a:pathLst>
                <a:path w="440689" h="292100">
                  <a:moveTo>
                    <a:pt x="440095" y="0"/>
                  </a:moveTo>
                  <a:lnTo>
                    <a:pt x="0" y="0"/>
                  </a:lnTo>
                  <a:lnTo>
                    <a:pt x="0" y="291925"/>
                  </a:lnTo>
                  <a:lnTo>
                    <a:pt x="440095" y="291925"/>
                  </a:lnTo>
                  <a:lnTo>
                    <a:pt x="440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13462" y="2183994"/>
              <a:ext cx="440690" cy="292100"/>
            </a:xfrm>
            <a:custGeom>
              <a:avLst/>
              <a:gdLst/>
              <a:ahLst/>
              <a:cxnLst/>
              <a:rect l="l" t="t" r="r" b="b"/>
              <a:pathLst>
                <a:path w="440689" h="292100">
                  <a:moveTo>
                    <a:pt x="0" y="291925"/>
                  </a:moveTo>
                  <a:lnTo>
                    <a:pt x="440095" y="291925"/>
                  </a:lnTo>
                  <a:lnTo>
                    <a:pt x="440095" y="0"/>
                  </a:lnTo>
                  <a:lnTo>
                    <a:pt x="0" y="0"/>
                  </a:lnTo>
                  <a:lnTo>
                    <a:pt x="0" y="291925"/>
                  </a:lnTo>
                  <a:close/>
                </a:path>
              </a:pathLst>
            </a:custGeom>
            <a:ln w="1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19303" y="2182580"/>
            <a:ext cx="4286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latin typeface="Arial MT"/>
                <a:cs typeface="Arial MT"/>
              </a:rPr>
              <a:t>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80768" y="2475944"/>
            <a:ext cx="433070" cy="292100"/>
          </a:xfrm>
          <a:prstGeom prst="rect">
            <a:avLst/>
          </a:prstGeom>
          <a:ln w="1168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120"/>
              </a:spcBef>
            </a:pPr>
            <a:r>
              <a:rPr sz="1500" spc="-25" dirty="0">
                <a:latin typeface="Arial MT"/>
                <a:cs typeface="Arial MT"/>
              </a:rPr>
              <a:t>70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07430" y="2469936"/>
            <a:ext cx="452755" cy="304165"/>
            <a:chOff x="2507430" y="2469936"/>
            <a:chExt cx="452755" cy="304165"/>
          </a:xfrm>
        </p:grpSpPr>
        <p:sp>
          <p:nvSpPr>
            <p:cNvPr id="11" name="object 11"/>
            <p:cNvSpPr/>
            <p:nvPr/>
          </p:nvSpPr>
          <p:spPr>
            <a:xfrm>
              <a:off x="2513462" y="2475968"/>
              <a:ext cx="440690" cy="292100"/>
            </a:xfrm>
            <a:custGeom>
              <a:avLst/>
              <a:gdLst/>
              <a:ahLst/>
              <a:cxnLst/>
              <a:rect l="l" t="t" r="r" b="b"/>
              <a:pathLst>
                <a:path w="440689" h="292100">
                  <a:moveTo>
                    <a:pt x="440095" y="0"/>
                  </a:moveTo>
                  <a:lnTo>
                    <a:pt x="0" y="0"/>
                  </a:lnTo>
                  <a:lnTo>
                    <a:pt x="0" y="291925"/>
                  </a:lnTo>
                  <a:lnTo>
                    <a:pt x="440095" y="291925"/>
                  </a:lnTo>
                  <a:lnTo>
                    <a:pt x="440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3462" y="2475968"/>
              <a:ext cx="440690" cy="292100"/>
            </a:xfrm>
            <a:custGeom>
              <a:avLst/>
              <a:gdLst/>
              <a:ahLst/>
              <a:cxnLst/>
              <a:rect l="l" t="t" r="r" b="b"/>
              <a:pathLst>
                <a:path w="440689" h="292100">
                  <a:moveTo>
                    <a:pt x="0" y="291925"/>
                  </a:moveTo>
                  <a:lnTo>
                    <a:pt x="440095" y="291925"/>
                  </a:lnTo>
                  <a:lnTo>
                    <a:pt x="440095" y="0"/>
                  </a:lnTo>
                  <a:lnTo>
                    <a:pt x="0" y="0"/>
                  </a:lnTo>
                  <a:lnTo>
                    <a:pt x="0" y="291925"/>
                  </a:lnTo>
                  <a:close/>
                </a:path>
              </a:pathLst>
            </a:custGeom>
            <a:ln w="1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19303" y="2474230"/>
            <a:ext cx="4286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07324" y="2325686"/>
            <a:ext cx="1903730" cy="740410"/>
            <a:chOff x="2807324" y="2325686"/>
            <a:chExt cx="1903730" cy="740410"/>
          </a:xfrm>
        </p:grpSpPr>
        <p:sp>
          <p:nvSpPr>
            <p:cNvPr id="15" name="object 15"/>
            <p:cNvSpPr/>
            <p:nvPr/>
          </p:nvSpPr>
          <p:spPr>
            <a:xfrm>
              <a:off x="2813357" y="2331719"/>
              <a:ext cx="1819910" cy="556895"/>
            </a:xfrm>
            <a:custGeom>
              <a:avLst/>
              <a:gdLst/>
              <a:ahLst/>
              <a:cxnLst/>
              <a:rect l="l" t="t" r="r" b="b"/>
              <a:pathLst>
                <a:path w="1819910" h="556894">
                  <a:moveTo>
                    <a:pt x="0" y="0"/>
                  </a:moveTo>
                  <a:lnTo>
                    <a:pt x="1819670" y="556667"/>
                  </a:lnTo>
                </a:path>
              </a:pathLst>
            </a:custGeom>
            <a:ln w="1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94042" y="2833986"/>
              <a:ext cx="116839" cy="97155"/>
            </a:xfrm>
            <a:custGeom>
              <a:avLst/>
              <a:gdLst/>
              <a:ahLst/>
              <a:cxnLst/>
              <a:rect l="l" t="t" r="r" b="b"/>
              <a:pathLst>
                <a:path w="116839" h="97155">
                  <a:moveTo>
                    <a:pt x="31188" y="0"/>
                  </a:moveTo>
                  <a:lnTo>
                    <a:pt x="31188" y="34913"/>
                  </a:lnTo>
                  <a:lnTo>
                    <a:pt x="23391" y="69826"/>
                  </a:lnTo>
                  <a:lnTo>
                    <a:pt x="0" y="97108"/>
                  </a:lnTo>
                  <a:lnTo>
                    <a:pt x="116793" y="81518"/>
                  </a:lnTo>
                  <a:lnTo>
                    <a:pt x="31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57456" y="2767894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0"/>
                  </a:moveTo>
                  <a:lnTo>
                    <a:pt x="0" y="46605"/>
                  </a:lnTo>
                </a:path>
                <a:path h="292100">
                  <a:moveTo>
                    <a:pt x="0" y="93210"/>
                  </a:moveTo>
                  <a:lnTo>
                    <a:pt x="0" y="139816"/>
                  </a:lnTo>
                </a:path>
                <a:path h="292100">
                  <a:moveTo>
                    <a:pt x="0" y="186584"/>
                  </a:moveTo>
                  <a:lnTo>
                    <a:pt x="0" y="233189"/>
                  </a:lnTo>
                </a:path>
                <a:path h="292100">
                  <a:moveTo>
                    <a:pt x="0" y="280119"/>
                  </a:moveTo>
                  <a:lnTo>
                    <a:pt x="0" y="291811"/>
                  </a:lnTo>
                </a:path>
              </a:pathLst>
            </a:custGeom>
            <a:ln w="1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2080768" y="2861105"/>
            <a:ext cx="0" cy="46990"/>
          </a:xfrm>
          <a:custGeom>
            <a:avLst/>
            <a:gdLst/>
            <a:ahLst/>
            <a:cxnLst/>
            <a:rect l="l" t="t" r="r" b="b"/>
            <a:pathLst>
              <a:path h="46989">
                <a:moveTo>
                  <a:pt x="0" y="0"/>
                </a:moveTo>
                <a:lnTo>
                  <a:pt x="0" y="46605"/>
                </a:lnTo>
              </a:path>
            </a:pathLst>
          </a:custGeom>
          <a:ln w="11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80768" y="2954478"/>
            <a:ext cx="0" cy="46990"/>
          </a:xfrm>
          <a:custGeom>
            <a:avLst/>
            <a:gdLst/>
            <a:ahLst/>
            <a:cxnLst/>
            <a:rect l="l" t="t" r="r" b="b"/>
            <a:pathLst>
              <a:path h="46989">
                <a:moveTo>
                  <a:pt x="0" y="0"/>
                </a:moveTo>
                <a:lnTo>
                  <a:pt x="0" y="46605"/>
                </a:lnTo>
              </a:path>
            </a:pathLst>
          </a:custGeom>
          <a:ln w="11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305641" y="1855335"/>
            <a:ext cx="422909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Arial MT"/>
                <a:cs typeface="Arial MT"/>
              </a:rPr>
              <a:t>Index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1988" y="1723151"/>
            <a:ext cx="607695" cy="4171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9370" marR="5080" indent="-27305">
              <a:lnSpc>
                <a:spcPts val="1530"/>
              </a:lnSpc>
              <a:spcBef>
                <a:spcPts val="165"/>
              </a:spcBef>
            </a:pPr>
            <a:r>
              <a:rPr sz="1300" spc="-20" dirty="0">
                <a:latin typeface="Arial MT"/>
                <a:cs typeface="Arial MT"/>
              </a:rPr>
              <a:t>Numéro </a:t>
            </a:r>
            <a:r>
              <a:rPr sz="1300" dirty="0">
                <a:latin typeface="Arial MT"/>
                <a:cs typeface="Arial MT"/>
              </a:rPr>
              <a:t>de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bloc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64606" y="1571318"/>
            <a:ext cx="1231265" cy="41719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311785">
              <a:lnSpc>
                <a:spcPts val="1530"/>
              </a:lnSpc>
              <a:spcBef>
                <a:spcPts val="165"/>
              </a:spcBef>
            </a:pPr>
            <a:r>
              <a:rPr sz="1300" spc="-10" dirty="0">
                <a:latin typeface="Arial MT"/>
                <a:cs typeface="Arial MT"/>
              </a:rPr>
              <a:t>Numéro </a:t>
            </a:r>
            <a:r>
              <a:rPr sz="1300" spc="-20" dirty="0">
                <a:latin typeface="Arial MT"/>
                <a:cs typeface="Arial MT"/>
              </a:rPr>
              <a:t>d'enregistrement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62256" y="1960725"/>
            <a:ext cx="429259" cy="222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" spc="-10" dirty="0">
                <a:latin typeface="Arial MT"/>
                <a:cs typeface="Arial MT"/>
              </a:rPr>
              <a:t>relatif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9473" y="2836518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latin typeface="Arial MT"/>
                <a:cs typeface="Arial MT"/>
              </a:rPr>
              <a:t>0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99473" y="4439859"/>
            <a:ext cx="13398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-50" dirty="0">
                <a:latin typeface="Arial MT"/>
                <a:cs typeface="Arial MT"/>
              </a:rPr>
              <a:t>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33628" y="2229345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33628" y="2521319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33628" y="2813293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33628" y="3105105"/>
            <a:ext cx="97155" cy="12001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000" spc="-50" dirty="0">
                <a:latin typeface="Arial MT"/>
                <a:cs typeface="Arial MT"/>
              </a:rPr>
              <a:t>4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Arial MT"/>
                <a:cs typeface="Arial MT"/>
              </a:rPr>
              <a:t>5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spc="-50" dirty="0">
                <a:latin typeface="Arial MT"/>
                <a:cs typeface="Arial MT"/>
              </a:rPr>
              <a:t>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33628" y="4416650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7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33628" y="4708576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8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733628" y="5000485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9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0836" y="3643555"/>
            <a:ext cx="2848525" cy="14771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10836" y="5243128"/>
            <a:ext cx="2848525" cy="147710"/>
          </a:xfrm>
          <a:prstGeom prst="rect">
            <a:avLst/>
          </a:prstGeom>
        </p:spPr>
      </p:pic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4693314" y="2166423"/>
          <a:ext cx="2849879" cy="390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690"/>
                <a:gridCol w="1753870"/>
                <a:gridCol w="655319"/>
              </a:tblGrid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10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3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boule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10.99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20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Sapin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12.99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40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Epinette</a:t>
                      </a:r>
                      <a:r>
                        <a:rPr sz="13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bleue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25.99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50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Chêne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22.99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60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3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10" dirty="0">
                          <a:latin typeface="Arial MT"/>
                          <a:cs typeface="Arial MT"/>
                        </a:rPr>
                        <a:t>argenté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15.99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76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70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3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3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300" spc="-20" dirty="0">
                          <a:latin typeface="Arial MT"/>
                          <a:cs typeface="Arial MT"/>
                        </a:rPr>
                        <a:t>puce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10.99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80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Poirier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26.99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81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Catalpa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25.99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90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Pommier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25.00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25" dirty="0">
                          <a:latin typeface="Arial MT"/>
                          <a:cs typeface="Arial MT"/>
                        </a:rPr>
                        <a:t>95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Génévrier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Arial MT"/>
                          <a:cs typeface="Arial MT"/>
                        </a:rPr>
                        <a:t>15.99</a:t>
                      </a:r>
                      <a:endParaRPr sz="13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922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0231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36" name="object 36"/>
          <p:cNvGrpSpPr/>
          <p:nvPr/>
        </p:nvGrpSpPr>
        <p:grpSpPr>
          <a:xfrm>
            <a:off x="2807516" y="2617852"/>
            <a:ext cx="1903730" cy="1757680"/>
            <a:chOff x="2807516" y="2617852"/>
            <a:chExt cx="1903730" cy="1757680"/>
          </a:xfrm>
        </p:grpSpPr>
        <p:sp>
          <p:nvSpPr>
            <p:cNvPr id="37" name="object 37"/>
            <p:cNvSpPr/>
            <p:nvPr/>
          </p:nvSpPr>
          <p:spPr>
            <a:xfrm>
              <a:off x="2813357" y="2623693"/>
              <a:ext cx="1839595" cy="1697355"/>
            </a:xfrm>
            <a:custGeom>
              <a:avLst/>
              <a:gdLst/>
              <a:ahLst/>
              <a:cxnLst/>
              <a:rect l="l" t="t" r="r" b="b"/>
              <a:pathLst>
                <a:path w="1839595" h="1697354">
                  <a:moveTo>
                    <a:pt x="0" y="0"/>
                  </a:moveTo>
                  <a:lnTo>
                    <a:pt x="1839001" y="1696957"/>
                  </a:lnTo>
                </a:path>
              </a:pathLst>
            </a:custGeom>
            <a:ln w="1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97941" y="4262353"/>
              <a:ext cx="113030" cy="113030"/>
            </a:xfrm>
            <a:custGeom>
              <a:avLst/>
              <a:gdLst/>
              <a:ahLst/>
              <a:cxnLst/>
              <a:rect l="l" t="t" r="r" b="b"/>
              <a:pathLst>
                <a:path w="113029" h="113029">
                  <a:moveTo>
                    <a:pt x="70011" y="0"/>
                  </a:moveTo>
                  <a:lnTo>
                    <a:pt x="54416" y="35075"/>
                  </a:lnTo>
                  <a:lnTo>
                    <a:pt x="31188" y="62194"/>
                  </a:lnTo>
                  <a:lnTo>
                    <a:pt x="0" y="77783"/>
                  </a:lnTo>
                  <a:lnTo>
                    <a:pt x="112894" y="112859"/>
                  </a:lnTo>
                  <a:lnTo>
                    <a:pt x="700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729" y="273812"/>
            <a:ext cx="61639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séquentiel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hiérarchique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2758" y="2727447"/>
            <a:ext cx="3111136" cy="14334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882758" y="3435578"/>
            <a:ext cx="3111500" cy="1833245"/>
            <a:chOff x="4882758" y="3435578"/>
            <a:chExt cx="3111500" cy="18332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2758" y="3435578"/>
              <a:ext cx="3111136" cy="1392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2758" y="4139423"/>
              <a:ext cx="3111136" cy="1429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2758" y="4847179"/>
              <a:ext cx="3111136" cy="1392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82756" y="3574744"/>
              <a:ext cx="3111500" cy="1694180"/>
            </a:xfrm>
            <a:custGeom>
              <a:avLst/>
              <a:gdLst/>
              <a:ahLst/>
              <a:cxnLst/>
              <a:rect l="l" t="t" r="r" b="b"/>
              <a:pathLst>
                <a:path w="3111500" h="1694179">
                  <a:moveTo>
                    <a:pt x="480949" y="1411643"/>
                  </a:moveTo>
                  <a:lnTo>
                    <a:pt x="0" y="1411643"/>
                  </a:lnTo>
                  <a:lnTo>
                    <a:pt x="0" y="1693824"/>
                  </a:lnTo>
                  <a:lnTo>
                    <a:pt x="480949" y="1693824"/>
                  </a:lnTo>
                  <a:lnTo>
                    <a:pt x="480949" y="1411643"/>
                  </a:lnTo>
                  <a:close/>
                </a:path>
                <a:path w="3111500" h="1694179">
                  <a:moveTo>
                    <a:pt x="480949" y="707758"/>
                  </a:moveTo>
                  <a:lnTo>
                    <a:pt x="0" y="707758"/>
                  </a:lnTo>
                  <a:lnTo>
                    <a:pt x="0" y="989939"/>
                  </a:lnTo>
                  <a:lnTo>
                    <a:pt x="480949" y="989939"/>
                  </a:lnTo>
                  <a:lnTo>
                    <a:pt x="480949" y="707758"/>
                  </a:lnTo>
                  <a:close/>
                </a:path>
                <a:path w="3111500" h="1694179">
                  <a:moveTo>
                    <a:pt x="480949" y="0"/>
                  </a:moveTo>
                  <a:lnTo>
                    <a:pt x="0" y="0"/>
                  </a:lnTo>
                  <a:lnTo>
                    <a:pt x="0" y="282181"/>
                  </a:lnTo>
                  <a:lnTo>
                    <a:pt x="480949" y="282181"/>
                  </a:lnTo>
                  <a:lnTo>
                    <a:pt x="480949" y="0"/>
                  </a:lnTo>
                  <a:close/>
                </a:path>
                <a:path w="3111500" h="1694179">
                  <a:moveTo>
                    <a:pt x="3111271" y="1411643"/>
                  </a:moveTo>
                  <a:lnTo>
                    <a:pt x="2396007" y="1411643"/>
                  </a:lnTo>
                  <a:lnTo>
                    <a:pt x="480999" y="1411643"/>
                  </a:lnTo>
                  <a:lnTo>
                    <a:pt x="480999" y="1693824"/>
                  </a:lnTo>
                  <a:lnTo>
                    <a:pt x="2396007" y="1693824"/>
                  </a:lnTo>
                  <a:lnTo>
                    <a:pt x="3111271" y="1693824"/>
                  </a:lnTo>
                  <a:lnTo>
                    <a:pt x="3111271" y="1411643"/>
                  </a:lnTo>
                  <a:close/>
                </a:path>
                <a:path w="3111500" h="1694179">
                  <a:moveTo>
                    <a:pt x="3111271" y="707758"/>
                  </a:moveTo>
                  <a:lnTo>
                    <a:pt x="2396007" y="707758"/>
                  </a:lnTo>
                  <a:lnTo>
                    <a:pt x="480999" y="707758"/>
                  </a:lnTo>
                  <a:lnTo>
                    <a:pt x="480999" y="989939"/>
                  </a:lnTo>
                  <a:lnTo>
                    <a:pt x="2396007" y="989939"/>
                  </a:lnTo>
                  <a:lnTo>
                    <a:pt x="3111271" y="989939"/>
                  </a:lnTo>
                  <a:lnTo>
                    <a:pt x="3111271" y="707758"/>
                  </a:lnTo>
                  <a:close/>
                </a:path>
                <a:path w="3111500" h="1694179">
                  <a:moveTo>
                    <a:pt x="3111271" y="0"/>
                  </a:moveTo>
                  <a:lnTo>
                    <a:pt x="2396007" y="0"/>
                  </a:lnTo>
                  <a:lnTo>
                    <a:pt x="480999" y="0"/>
                  </a:lnTo>
                  <a:lnTo>
                    <a:pt x="480999" y="282181"/>
                  </a:lnTo>
                  <a:lnTo>
                    <a:pt x="2396007" y="282181"/>
                  </a:lnTo>
                  <a:lnTo>
                    <a:pt x="3111271" y="282181"/>
                  </a:lnTo>
                  <a:lnTo>
                    <a:pt x="31112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82758" y="5551103"/>
            <a:ext cx="3111136" cy="142969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65665" y="2146090"/>
          <a:ext cx="3110229" cy="4204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695"/>
                <a:gridCol w="1914525"/>
                <a:gridCol w="715009"/>
              </a:tblGrid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10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65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2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65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250" spc="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40" dirty="0">
                          <a:latin typeface="Arial MT"/>
                          <a:cs typeface="Arial MT"/>
                        </a:rPr>
                        <a:t>boule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10.99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20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5" dirty="0">
                          <a:latin typeface="Arial MT"/>
                          <a:cs typeface="Arial MT"/>
                        </a:rPr>
                        <a:t>Sapin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12.99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40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60" dirty="0">
                          <a:latin typeface="Arial MT"/>
                          <a:cs typeface="Arial MT"/>
                        </a:rPr>
                        <a:t>Epinette </a:t>
                      </a:r>
                      <a:r>
                        <a:rPr sz="1250" spc="40" dirty="0">
                          <a:latin typeface="Arial MT"/>
                          <a:cs typeface="Arial MT"/>
                        </a:rPr>
                        <a:t>bleue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25.99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50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5" dirty="0">
                          <a:latin typeface="Arial MT"/>
                          <a:cs typeface="Arial MT"/>
                        </a:rPr>
                        <a:t>Chêne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22.99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60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65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250" spc="50" dirty="0">
                          <a:latin typeface="Arial MT"/>
                          <a:cs typeface="Arial MT"/>
                        </a:rPr>
                        <a:t> argenté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15.99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70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65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2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75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25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50" spc="45" dirty="0">
                          <a:latin typeface="Arial MT"/>
                          <a:cs typeface="Arial MT"/>
                        </a:rPr>
                        <a:t>puce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10.99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2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80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Poirier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26.99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81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5" dirty="0">
                          <a:latin typeface="Arial MT"/>
                          <a:cs typeface="Arial MT"/>
                        </a:rPr>
                        <a:t>Catalpa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25.99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0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90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75" dirty="0">
                          <a:latin typeface="Arial MT"/>
                          <a:cs typeface="Arial MT"/>
                        </a:rPr>
                        <a:t>Pommier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25.00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50" spc="35" dirty="0">
                          <a:latin typeface="Arial MT"/>
                          <a:cs typeface="Arial MT"/>
                        </a:rPr>
                        <a:t>95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50" spc="60" dirty="0">
                          <a:latin typeface="Arial MT"/>
                          <a:cs typeface="Arial MT"/>
                        </a:rPr>
                        <a:t>Génévrier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250" spc="50" dirty="0">
                          <a:latin typeface="Arial MT"/>
                          <a:cs typeface="Arial MT"/>
                        </a:rPr>
                        <a:t>15.99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287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75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967921" y="2163136"/>
            <a:ext cx="481330" cy="282575"/>
          </a:xfrm>
          <a:custGeom>
            <a:avLst/>
            <a:gdLst/>
            <a:ahLst/>
            <a:cxnLst/>
            <a:rect l="l" t="t" r="r" b="b"/>
            <a:pathLst>
              <a:path w="481329" h="282575">
                <a:moveTo>
                  <a:pt x="0" y="282178"/>
                </a:moveTo>
                <a:lnTo>
                  <a:pt x="480957" y="282178"/>
                </a:lnTo>
                <a:lnTo>
                  <a:pt x="480957" y="0"/>
                </a:lnTo>
                <a:lnTo>
                  <a:pt x="0" y="0"/>
                </a:lnTo>
                <a:lnTo>
                  <a:pt x="0" y="282178"/>
                </a:lnTo>
                <a:close/>
              </a:path>
            </a:pathLst>
          </a:custGeom>
          <a:ln w="116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85967" y="2161360"/>
            <a:ext cx="44894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0"/>
              </a:spcBef>
            </a:pPr>
            <a:r>
              <a:rPr sz="1450" spc="90" dirty="0">
                <a:latin typeface="Arial MT"/>
                <a:cs typeface="Arial MT"/>
              </a:rPr>
              <a:t>10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61889" y="2157104"/>
            <a:ext cx="965835" cy="576580"/>
            <a:chOff x="2961889" y="2157104"/>
            <a:chExt cx="965835" cy="576580"/>
          </a:xfrm>
        </p:grpSpPr>
        <p:sp>
          <p:nvSpPr>
            <p:cNvPr id="14" name="object 14"/>
            <p:cNvSpPr/>
            <p:nvPr/>
          </p:nvSpPr>
          <p:spPr>
            <a:xfrm>
              <a:off x="3440436" y="2163136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29" h="282575">
                  <a:moveTo>
                    <a:pt x="480957" y="0"/>
                  </a:moveTo>
                  <a:lnTo>
                    <a:pt x="0" y="0"/>
                  </a:lnTo>
                  <a:lnTo>
                    <a:pt x="0" y="282178"/>
                  </a:lnTo>
                  <a:lnTo>
                    <a:pt x="480957" y="282178"/>
                  </a:lnTo>
                  <a:lnTo>
                    <a:pt x="480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7922" y="2163136"/>
              <a:ext cx="953769" cy="564515"/>
            </a:xfrm>
            <a:custGeom>
              <a:avLst/>
              <a:gdLst/>
              <a:ahLst/>
              <a:cxnLst/>
              <a:rect l="l" t="t" r="r" b="b"/>
              <a:pathLst>
                <a:path w="953770" h="564514">
                  <a:moveTo>
                    <a:pt x="472514" y="282178"/>
                  </a:moveTo>
                  <a:lnTo>
                    <a:pt x="953471" y="282178"/>
                  </a:lnTo>
                  <a:lnTo>
                    <a:pt x="953471" y="0"/>
                  </a:lnTo>
                  <a:lnTo>
                    <a:pt x="472514" y="0"/>
                  </a:lnTo>
                  <a:lnTo>
                    <a:pt x="472514" y="282178"/>
                  </a:lnTo>
                  <a:close/>
                </a:path>
                <a:path w="953770" h="564514">
                  <a:moveTo>
                    <a:pt x="0" y="564310"/>
                  </a:moveTo>
                  <a:lnTo>
                    <a:pt x="480957" y="564310"/>
                  </a:lnTo>
                  <a:lnTo>
                    <a:pt x="480957" y="282131"/>
                  </a:lnTo>
                  <a:lnTo>
                    <a:pt x="0" y="282131"/>
                  </a:lnTo>
                  <a:lnTo>
                    <a:pt x="0" y="564310"/>
                  </a:lnTo>
                  <a:close/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85967" y="2443649"/>
            <a:ext cx="44894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0"/>
              </a:spcBef>
            </a:pPr>
            <a:r>
              <a:rPr sz="1450" spc="90" dirty="0">
                <a:latin typeface="Arial MT"/>
                <a:cs typeface="Arial MT"/>
              </a:rPr>
              <a:t>40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34404" y="2439235"/>
            <a:ext cx="497840" cy="1707514"/>
            <a:chOff x="3434404" y="2439235"/>
            <a:chExt cx="497840" cy="1707514"/>
          </a:xfrm>
        </p:grpSpPr>
        <p:sp>
          <p:nvSpPr>
            <p:cNvPr id="18" name="object 18"/>
            <p:cNvSpPr/>
            <p:nvPr/>
          </p:nvSpPr>
          <p:spPr>
            <a:xfrm>
              <a:off x="3440436" y="2445268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29" h="282575">
                  <a:moveTo>
                    <a:pt x="480957" y="0"/>
                  </a:moveTo>
                  <a:lnTo>
                    <a:pt x="0" y="0"/>
                  </a:lnTo>
                  <a:lnTo>
                    <a:pt x="0" y="282178"/>
                  </a:lnTo>
                  <a:lnTo>
                    <a:pt x="480957" y="282178"/>
                  </a:lnTo>
                  <a:lnTo>
                    <a:pt x="480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40436" y="2445268"/>
              <a:ext cx="485140" cy="1694814"/>
            </a:xfrm>
            <a:custGeom>
              <a:avLst/>
              <a:gdLst/>
              <a:ahLst/>
              <a:cxnLst/>
              <a:rect l="l" t="t" r="r" b="b"/>
              <a:pathLst>
                <a:path w="485139" h="1694814">
                  <a:moveTo>
                    <a:pt x="0" y="282178"/>
                  </a:moveTo>
                  <a:lnTo>
                    <a:pt x="480957" y="282178"/>
                  </a:lnTo>
                  <a:lnTo>
                    <a:pt x="480957" y="0"/>
                  </a:lnTo>
                  <a:lnTo>
                    <a:pt x="0" y="0"/>
                  </a:lnTo>
                  <a:lnTo>
                    <a:pt x="0" y="282178"/>
                  </a:lnTo>
                  <a:close/>
                </a:path>
                <a:path w="485139" h="1694814">
                  <a:moveTo>
                    <a:pt x="485089" y="1411648"/>
                  </a:moveTo>
                  <a:lnTo>
                    <a:pt x="485089" y="1456757"/>
                  </a:lnTo>
                </a:path>
                <a:path w="485139" h="1694814">
                  <a:moveTo>
                    <a:pt x="485089" y="1502024"/>
                  </a:moveTo>
                  <a:lnTo>
                    <a:pt x="485089" y="1547134"/>
                  </a:lnTo>
                </a:path>
                <a:path w="485139" h="1694814">
                  <a:moveTo>
                    <a:pt x="485089" y="1592243"/>
                  </a:moveTo>
                  <a:lnTo>
                    <a:pt x="485089" y="1637353"/>
                  </a:lnTo>
                </a:path>
                <a:path w="485139" h="1694814">
                  <a:moveTo>
                    <a:pt x="485089" y="1682934"/>
                  </a:moveTo>
                  <a:lnTo>
                    <a:pt x="485089" y="1694251"/>
                  </a:lnTo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78507" y="1750941"/>
            <a:ext cx="737235" cy="40449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88900" marR="5080" indent="-76835">
              <a:lnSpc>
                <a:spcPts val="1490"/>
              </a:lnSpc>
              <a:spcBef>
                <a:spcPts val="155"/>
              </a:spcBef>
            </a:pPr>
            <a:r>
              <a:rPr sz="1250" spc="80" dirty="0">
                <a:latin typeface="Arial MT"/>
                <a:cs typeface="Arial MT"/>
              </a:rPr>
              <a:t>Niveau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25" dirty="0">
                <a:latin typeface="Arial MT"/>
                <a:cs typeface="Arial MT"/>
              </a:rPr>
              <a:t>2 </a:t>
            </a:r>
            <a:r>
              <a:rPr sz="1250" spc="45" dirty="0">
                <a:latin typeface="Arial MT"/>
                <a:cs typeface="Arial MT"/>
              </a:rPr>
              <a:t>d'index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76435" y="2727494"/>
            <a:ext cx="476884" cy="282575"/>
          </a:xfrm>
          <a:custGeom>
            <a:avLst/>
            <a:gdLst/>
            <a:ahLst/>
            <a:cxnLst/>
            <a:rect l="l" t="t" r="r" b="b"/>
            <a:pathLst>
              <a:path w="476885" h="282575">
                <a:moveTo>
                  <a:pt x="0" y="282555"/>
                </a:moveTo>
                <a:lnTo>
                  <a:pt x="476718" y="282555"/>
                </a:lnTo>
                <a:lnTo>
                  <a:pt x="476718" y="0"/>
                </a:lnTo>
                <a:lnTo>
                  <a:pt x="0" y="0"/>
                </a:lnTo>
                <a:lnTo>
                  <a:pt x="0" y="282555"/>
                </a:lnTo>
                <a:close/>
              </a:path>
            </a:pathLst>
          </a:custGeom>
          <a:ln w="11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985967" y="2726095"/>
            <a:ext cx="447040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30"/>
              </a:spcBef>
            </a:pPr>
            <a:r>
              <a:rPr sz="1450" spc="90" dirty="0">
                <a:latin typeface="Arial MT"/>
                <a:cs typeface="Arial MT"/>
              </a:rPr>
              <a:t>60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67921" y="3947292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109"/>
                </a:lnTo>
              </a:path>
            </a:pathLst>
          </a:custGeom>
          <a:ln w="12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67921" y="4037512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109"/>
                </a:lnTo>
              </a:path>
            </a:pathLst>
          </a:custGeom>
          <a:ln w="12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2949824" y="2145086"/>
            <a:ext cx="994410" cy="1764030"/>
            <a:chOff x="2949824" y="2145086"/>
            <a:chExt cx="994410" cy="1764030"/>
          </a:xfrm>
        </p:grpSpPr>
        <p:sp>
          <p:nvSpPr>
            <p:cNvPr id="26" name="object 26"/>
            <p:cNvSpPr/>
            <p:nvPr/>
          </p:nvSpPr>
          <p:spPr>
            <a:xfrm>
              <a:off x="2976435" y="2727494"/>
              <a:ext cx="949325" cy="847725"/>
            </a:xfrm>
            <a:custGeom>
              <a:avLst/>
              <a:gdLst/>
              <a:ahLst/>
              <a:cxnLst/>
              <a:rect l="l" t="t" r="r" b="b"/>
              <a:pathLst>
                <a:path w="949325" h="847725">
                  <a:moveTo>
                    <a:pt x="472514" y="282555"/>
                  </a:moveTo>
                  <a:lnTo>
                    <a:pt x="949232" y="282555"/>
                  </a:lnTo>
                  <a:lnTo>
                    <a:pt x="949232" y="0"/>
                  </a:lnTo>
                  <a:lnTo>
                    <a:pt x="472514" y="0"/>
                  </a:lnTo>
                  <a:lnTo>
                    <a:pt x="472514" y="282555"/>
                  </a:lnTo>
                  <a:close/>
                </a:path>
                <a:path w="949325" h="847725">
                  <a:moveTo>
                    <a:pt x="0" y="564687"/>
                  </a:moveTo>
                  <a:lnTo>
                    <a:pt x="476718" y="564687"/>
                  </a:lnTo>
                  <a:lnTo>
                    <a:pt x="476718" y="282508"/>
                  </a:lnTo>
                  <a:lnTo>
                    <a:pt x="0" y="282508"/>
                  </a:lnTo>
                  <a:lnTo>
                    <a:pt x="0" y="564687"/>
                  </a:lnTo>
                  <a:close/>
                </a:path>
                <a:path w="949325" h="847725">
                  <a:moveTo>
                    <a:pt x="472514" y="564687"/>
                  </a:moveTo>
                  <a:lnTo>
                    <a:pt x="949232" y="564687"/>
                  </a:lnTo>
                  <a:lnTo>
                    <a:pt x="949232" y="282508"/>
                  </a:lnTo>
                  <a:lnTo>
                    <a:pt x="472514" y="282508"/>
                  </a:lnTo>
                  <a:lnTo>
                    <a:pt x="472514" y="564687"/>
                  </a:lnTo>
                  <a:close/>
                </a:path>
                <a:path w="949325" h="847725">
                  <a:moveTo>
                    <a:pt x="0" y="847290"/>
                  </a:moveTo>
                  <a:lnTo>
                    <a:pt x="476718" y="847290"/>
                  </a:lnTo>
                  <a:lnTo>
                    <a:pt x="476718" y="564734"/>
                  </a:lnTo>
                  <a:lnTo>
                    <a:pt x="0" y="564734"/>
                  </a:lnTo>
                  <a:lnTo>
                    <a:pt x="0" y="847290"/>
                  </a:lnTo>
                  <a:close/>
                </a:path>
                <a:path w="949325" h="847725">
                  <a:moveTo>
                    <a:pt x="472514" y="847290"/>
                  </a:moveTo>
                  <a:lnTo>
                    <a:pt x="949232" y="847290"/>
                  </a:lnTo>
                  <a:lnTo>
                    <a:pt x="949232" y="564734"/>
                  </a:lnTo>
                  <a:lnTo>
                    <a:pt x="472514" y="564734"/>
                  </a:lnTo>
                  <a:lnTo>
                    <a:pt x="472514" y="847290"/>
                  </a:lnTo>
                  <a:close/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67921" y="2163183"/>
              <a:ext cx="958215" cy="847090"/>
            </a:xfrm>
            <a:custGeom>
              <a:avLst/>
              <a:gdLst/>
              <a:ahLst/>
              <a:cxnLst/>
              <a:rect l="l" t="t" r="r" b="b"/>
              <a:pathLst>
                <a:path w="958214" h="847089">
                  <a:moveTo>
                    <a:pt x="0" y="846866"/>
                  </a:moveTo>
                  <a:lnTo>
                    <a:pt x="957604" y="846866"/>
                  </a:lnTo>
                  <a:lnTo>
                    <a:pt x="957604" y="0"/>
                  </a:lnTo>
                  <a:lnTo>
                    <a:pt x="0" y="0"/>
                  </a:lnTo>
                  <a:lnTo>
                    <a:pt x="0" y="846866"/>
                  </a:lnTo>
                </a:path>
              </a:pathLst>
            </a:custGeom>
            <a:ln w="35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67921" y="3574784"/>
              <a:ext cx="481330" cy="327660"/>
            </a:xfrm>
            <a:custGeom>
              <a:avLst/>
              <a:gdLst/>
              <a:ahLst/>
              <a:cxnLst/>
              <a:rect l="l" t="t" r="r" b="b"/>
              <a:pathLst>
                <a:path w="481329" h="327660">
                  <a:moveTo>
                    <a:pt x="0" y="282131"/>
                  </a:moveTo>
                  <a:lnTo>
                    <a:pt x="0" y="327241"/>
                  </a:lnTo>
                </a:path>
                <a:path w="481329" h="327660">
                  <a:moveTo>
                    <a:pt x="0" y="282131"/>
                  </a:moveTo>
                  <a:lnTo>
                    <a:pt x="481028" y="282131"/>
                  </a:lnTo>
                  <a:lnTo>
                    <a:pt x="481028" y="0"/>
                  </a:lnTo>
                  <a:lnTo>
                    <a:pt x="0" y="0"/>
                  </a:lnTo>
                  <a:lnTo>
                    <a:pt x="0" y="282131"/>
                  </a:lnTo>
                  <a:close/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440436" y="3574737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29" h="282575">
                  <a:moveTo>
                    <a:pt x="480957" y="0"/>
                  </a:moveTo>
                  <a:lnTo>
                    <a:pt x="0" y="0"/>
                  </a:lnTo>
                  <a:lnTo>
                    <a:pt x="0" y="282178"/>
                  </a:lnTo>
                  <a:lnTo>
                    <a:pt x="480957" y="282178"/>
                  </a:lnTo>
                  <a:lnTo>
                    <a:pt x="480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40436" y="3574737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29" h="282575">
                  <a:moveTo>
                    <a:pt x="0" y="282178"/>
                  </a:moveTo>
                  <a:lnTo>
                    <a:pt x="480957" y="282178"/>
                  </a:lnTo>
                  <a:lnTo>
                    <a:pt x="480957" y="0"/>
                  </a:lnTo>
                  <a:lnTo>
                    <a:pt x="0" y="0"/>
                  </a:lnTo>
                  <a:lnTo>
                    <a:pt x="0" y="282178"/>
                  </a:lnTo>
                  <a:close/>
                </a:path>
              </a:pathLst>
            </a:custGeom>
            <a:ln w="1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17854" y="2952045"/>
            <a:ext cx="3440429" cy="288353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177415">
              <a:lnSpc>
                <a:spcPct val="100000"/>
              </a:lnSpc>
              <a:spcBef>
                <a:spcPts val="575"/>
              </a:spcBef>
            </a:pPr>
            <a:r>
              <a:rPr sz="1450" spc="90" dirty="0">
                <a:latin typeface="Arial MT"/>
                <a:cs typeface="Arial MT"/>
              </a:rPr>
              <a:t>80</a:t>
            </a:r>
            <a:endParaRPr sz="1450">
              <a:latin typeface="Arial MT"/>
              <a:cs typeface="Arial MT"/>
            </a:endParaRPr>
          </a:p>
          <a:p>
            <a:pPr marL="2177415">
              <a:lnSpc>
                <a:spcPct val="100000"/>
              </a:lnSpc>
              <a:spcBef>
                <a:spcPts val="484"/>
              </a:spcBef>
            </a:pPr>
            <a:r>
              <a:rPr sz="1450" spc="90" dirty="0">
                <a:latin typeface="Arial MT"/>
                <a:cs typeface="Arial MT"/>
              </a:rPr>
              <a:t>90</a:t>
            </a:r>
            <a:endParaRPr sz="1450">
              <a:latin typeface="Arial MT"/>
              <a:cs typeface="Arial MT"/>
            </a:endParaRPr>
          </a:p>
          <a:p>
            <a:pPr marL="2198370">
              <a:lnSpc>
                <a:spcPct val="100000"/>
              </a:lnSpc>
              <a:spcBef>
                <a:spcPts val="480"/>
              </a:spcBef>
              <a:tabLst>
                <a:tab pos="2670810" algn="l"/>
              </a:tabLst>
            </a:pPr>
            <a:r>
              <a:rPr sz="1450" spc="35" dirty="0">
                <a:latin typeface="Arial MT"/>
                <a:cs typeface="Arial MT"/>
              </a:rPr>
              <a:t>...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35" dirty="0">
                <a:latin typeface="Arial MT"/>
                <a:cs typeface="Arial MT"/>
              </a:rPr>
              <a:t>...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4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Ex: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ISAM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IBM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Zone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débordement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Réorganisations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chroniques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65912" y="2157104"/>
            <a:ext cx="3517265" cy="1718310"/>
            <a:chOff x="1365912" y="2157104"/>
            <a:chExt cx="3517265" cy="1718310"/>
          </a:xfrm>
        </p:grpSpPr>
        <p:sp>
          <p:nvSpPr>
            <p:cNvPr id="33" name="object 33"/>
            <p:cNvSpPr/>
            <p:nvPr/>
          </p:nvSpPr>
          <p:spPr>
            <a:xfrm>
              <a:off x="2967922" y="3010050"/>
              <a:ext cx="958215" cy="847090"/>
            </a:xfrm>
            <a:custGeom>
              <a:avLst/>
              <a:gdLst/>
              <a:ahLst/>
              <a:cxnLst/>
              <a:rect l="l" t="t" r="r" b="b"/>
              <a:pathLst>
                <a:path w="958214" h="847089">
                  <a:moveTo>
                    <a:pt x="0" y="846866"/>
                  </a:moveTo>
                  <a:lnTo>
                    <a:pt x="957604" y="846866"/>
                  </a:lnTo>
                  <a:lnTo>
                    <a:pt x="957604" y="0"/>
                  </a:lnTo>
                  <a:lnTo>
                    <a:pt x="0" y="0"/>
                  </a:lnTo>
                  <a:lnTo>
                    <a:pt x="0" y="846866"/>
                  </a:lnTo>
                </a:path>
              </a:pathLst>
            </a:custGeom>
            <a:ln w="35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67850" y="2306057"/>
              <a:ext cx="949325" cy="128270"/>
            </a:xfrm>
            <a:custGeom>
              <a:avLst/>
              <a:gdLst/>
              <a:ahLst/>
              <a:cxnLst/>
              <a:rect l="l" t="t" r="r" b="b"/>
              <a:pathLst>
                <a:path w="949325" h="128269">
                  <a:moveTo>
                    <a:pt x="0" y="0"/>
                  </a:moveTo>
                  <a:lnTo>
                    <a:pt x="949073" y="127941"/>
                  </a:lnTo>
                </a:path>
              </a:pathLst>
            </a:custGeom>
            <a:ln w="113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83046" y="2381344"/>
              <a:ext cx="119380" cy="97790"/>
            </a:xfrm>
            <a:custGeom>
              <a:avLst/>
              <a:gdLst/>
              <a:ahLst/>
              <a:cxnLst/>
              <a:rect l="l" t="t" r="r" b="b"/>
              <a:pathLst>
                <a:path w="119379" h="97789">
                  <a:moveTo>
                    <a:pt x="16849" y="0"/>
                  </a:moveTo>
                  <a:lnTo>
                    <a:pt x="21106" y="33792"/>
                  </a:lnTo>
                  <a:lnTo>
                    <a:pt x="16849" y="67743"/>
                  </a:lnTo>
                  <a:lnTo>
                    <a:pt x="0" y="97763"/>
                  </a:lnTo>
                  <a:lnTo>
                    <a:pt x="119011" y="63970"/>
                  </a:lnTo>
                  <a:lnTo>
                    <a:pt x="168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67850" y="2588345"/>
              <a:ext cx="1038860" cy="523240"/>
            </a:xfrm>
            <a:custGeom>
              <a:avLst/>
              <a:gdLst/>
              <a:ahLst/>
              <a:cxnLst/>
              <a:rect l="l" t="t" r="r" b="b"/>
              <a:pathLst>
                <a:path w="1038860" h="523239">
                  <a:moveTo>
                    <a:pt x="0" y="0"/>
                  </a:moveTo>
                  <a:lnTo>
                    <a:pt x="1038464" y="523240"/>
                  </a:lnTo>
                </a:path>
              </a:pathLst>
            </a:custGeom>
            <a:ln w="11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55233" y="3058931"/>
              <a:ext cx="127635" cy="94615"/>
            </a:xfrm>
            <a:custGeom>
              <a:avLst/>
              <a:gdLst/>
              <a:ahLst/>
              <a:cxnLst/>
              <a:rect l="l" t="t" r="r" b="b"/>
              <a:pathLst>
                <a:path w="127635" h="94614">
                  <a:moveTo>
                    <a:pt x="55337" y="0"/>
                  </a:moveTo>
                  <a:lnTo>
                    <a:pt x="46824" y="33792"/>
                  </a:lnTo>
                  <a:lnTo>
                    <a:pt x="29797" y="63970"/>
                  </a:lnTo>
                  <a:lnTo>
                    <a:pt x="0" y="86604"/>
                  </a:lnTo>
                  <a:lnTo>
                    <a:pt x="127524" y="93991"/>
                  </a:lnTo>
                  <a:lnTo>
                    <a:pt x="55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71944" y="2163136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30" h="282575">
                  <a:moveTo>
                    <a:pt x="0" y="282178"/>
                  </a:moveTo>
                  <a:lnTo>
                    <a:pt x="480957" y="282178"/>
                  </a:lnTo>
                  <a:lnTo>
                    <a:pt x="480957" y="0"/>
                  </a:lnTo>
                  <a:lnTo>
                    <a:pt x="0" y="0"/>
                  </a:lnTo>
                  <a:lnTo>
                    <a:pt x="0" y="282178"/>
                  </a:lnTo>
                  <a:close/>
                </a:path>
              </a:pathLst>
            </a:custGeom>
            <a:ln w="1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389990" y="2161360"/>
            <a:ext cx="44894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0"/>
              </a:spcBef>
            </a:pPr>
            <a:r>
              <a:rPr sz="1450" spc="90" dirty="0">
                <a:latin typeface="Arial MT"/>
                <a:cs typeface="Arial MT"/>
              </a:rPr>
              <a:t>10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65912" y="2157104"/>
            <a:ext cx="965835" cy="576580"/>
            <a:chOff x="1365912" y="2157104"/>
            <a:chExt cx="965835" cy="576580"/>
          </a:xfrm>
        </p:grpSpPr>
        <p:sp>
          <p:nvSpPr>
            <p:cNvPr id="41" name="object 41"/>
            <p:cNvSpPr/>
            <p:nvPr/>
          </p:nvSpPr>
          <p:spPr>
            <a:xfrm>
              <a:off x="1844411" y="2163136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30" h="282575">
                  <a:moveTo>
                    <a:pt x="480957" y="0"/>
                  </a:moveTo>
                  <a:lnTo>
                    <a:pt x="0" y="0"/>
                  </a:lnTo>
                  <a:lnTo>
                    <a:pt x="0" y="282178"/>
                  </a:lnTo>
                  <a:lnTo>
                    <a:pt x="480957" y="282178"/>
                  </a:lnTo>
                  <a:lnTo>
                    <a:pt x="480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71944" y="2163136"/>
              <a:ext cx="953769" cy="564515"/>
            </a:xfrm>
            <a:custGeom>
              <a:avLst/>
              <a:gdLst/>
              <a:ahLst/>
              <a:cxnLst/>
              <a:rect l="l" t="t" r="r" b="b"/>
              <a:pathLst>
                <a:path w="953769" h="564514">
                  <a:moveTo>
                    <a:pt x="472466" y="282178"/>
                  </a:moveTo>
                  <a:lnTo>
                    <a:pt x="953423" y="282178"/>
                  </a:lnTo>
                  <a:lnTo>
                    <a:pt x="953423" y="0"/>
                  </a:lnTo>
                  <a:lnTo>
                    <a:pt x="472466" y="0"/>
                  </a:lnTo>
                  <a:lnTo>
                    <a:pt x="472466" y="282178"/>
                  </a:lnTo>
                  <a:close/>
                </a:path>
                <a:path w="953769" h="564514">
                  <a:moveTo>
                    <a:pt x="0" y="564310"/>
                  </a:moveTo>
                  <a:lnTo>
                    <a:pt x="480957" y="564310"/>
                  </a:lnTo>
                  <a:lnTo>
                    <a:pt x="480957" y="282131"/>
                  </a:lnTo>
                  <a:lnTo>
                    <a:pt x="0" y="282131"/>
                  </a:lnTo>
                  <a:lnTo>
                    <a:pt x="0" y="564310"/>
                  </a:lnTo>
                  <a:close/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389990" y="2443649"/>
            <a:ext cx="448945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30"/>
              </a:spcBef>
            </a:pPr>
            <a:r>
              <a:rPr sz="1450" spc="90" dirty="0">
                <a:latin typeface="Arial MT"/>
                <a:cs typeface="Arial MT"/>
              </a:rPr>
              <a:t>80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374418" y="2439235"/>
            <a:ext cx="962025" cy="859790"/>
            <a:chOff x="1374418" y="2439235"/>
            <a:chExt cx="962025" cy="859790"/>
          </a:xfrm>
        </p:grpSpPr>
        <p:sp>
          <p:nvSpPr>
            <p:cNvPr id="45" name="object 45"/>
            <p:cNvSpPr/>
            <p:nvPr/>
          </p:nvSpPr>
          <p:spPr>
            <a:xfrm>
              <a:off x="1844411" y="2445268"/>
              <a:ext cx="481330" cy="282575"/>
            </a:xfrm>
            <a:custGeom>
              <a:avLst/>
              <a:gdLst/>
              <a:ahLst/>
              <a:cxnLst/>
              <a:rect l="l" t="t" r="r" b="b"/>
              <a:pathLst>
                <a:path w="481330" h="282575">
                  <a:moveTo>
                    <a:pt x="480957" y="0"/>
                  </a:moveTo>
                  <a:lnTo>
                    <a:pt x="0" y="0"/>
                  </a:lnTo>
                  <a:lnTo>
                    <a:pt x="0" y="282178"/>
                  </a:lnTo>
                  <a:lnTo>
                    <a:pt x="480957" y="282178"/>
                  </a:lnTo>
                  <a:lnTo>
                    <a:pt x="480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80451" y="2445268"/>
              <a:ext cx="949325" cy="847090"/>
            </a:xfrm>
            <a:custGeom>
              <a:avLst/>
              <a:gdLst/>
              <a:ahLst/>
              <a:cxnLst/>
              <a:rect l="l" t="t" r="r" b="b"/>
              <a:pathLst>
                <a:path w="949325" h="847089">
                  <a:moveTo>
                    <a:pt x="463960" y="282178"/>
                  </a:moveTo>
                  <a:lnTo>
                    <a:pt x="944917" y="282178"/>
                  </a:lnTo>
                  <a:lnTo>
                    <a:pt x="944917" y="0"/>
                  </a:lnTo>
                  <a:lnTo>
                    <a:pt x="463960" y="0"/>
                  </a:lnTo>
                  <a:lnTo>
                    <a:pt x="463960" y="282178"/>
                  </a:lnTo>
                  <a:close/>
                </a:path>
                <a:path w="949325" h="847089">
                  <a:moveTo>
                    <a:pt x="949174" y="564781"/>
                  </a:moveTo>
                  <a:lnTo>
                    <a:pt x="949174" y="609891"/>
                  </a:lnTo>
                </a:path>
                <a:path w="949325" h="847089">
                  <a:moveTo>
                    <a:pt x="949174" y="655001"/>
                  </a:moveTo>
                  <a:lnTo>
                    <a:pt x="949174" y="700267"/>
                  </a:lnTo>
                </a:path>
                <a:path w="949325" h="847089">
                  <a:moveTo>
                    <a:pt x="949174" y="745377"/>
                  </a:moveTo>
                  <a:lnTo>
                    <a:pt x="949174" y="790487"/>
                  </a:lnTo>
                </a:path>
                <a:path w="949325" h="847089">
                  <a:moveTo>
                    <a:pt x="949174" y="835596"/>
                  </a:moveTo>
                  <a:lnTo>
                    <a:pt x="949174" y="846913"/>
                  </a:lnTo>
                </a:path>
                <a:path w="949325" h="847089">
                  <a:moveTo>
                    <a:pt x="0" y="564781"/>
                  </a:moveTo>
                  <a:lnTo>
                    <a:pt x="476712" y="564781"/>
                  </a:lnTo>
                  <a:lnTo>
                    <a:pt x="476712" y="282178"/>
                  </a:lnTo>
                  <a:lnTo>
                    <a:pt x="0" y="282178"/>
                  </a:lnTo>
                  <a:lnTo>
                    <a:pt x="0" y="564781"/>
                  </a:lnTo>
                  <a:close/>
                </a:path>
                <a:path w="949325" h="847089">
                  <a:moveTo>
                    <a:pt x="472456" y="564781"/>
                  </a:moveTo>
                  <a:lnTo>
                    <a:pt x="949174" y="564781"/>
                  </a:lnTo>
                  <a:lnTo>
                    <a:pt x="949174" y="282225"/>
                  </a:lnTo>
                  <a:lnTo>
                    <a:pt x="472456" y="282225"/>
                  </a:lnTo>
                  <a:lnTo>
                    <a:pt x="472456" y="564781"/>
                  </a:lnTo>
                  <a:close/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389990" y="2726095"/>
            <a:ext cx="922019" cy="252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  <a:tabLst>
                <a:tab pos="611505" algn="l"/>
              </a:tabLst>
            </a:pPr>
            <a:r>
              <a:rPr sz="1450" spc="35" dirty="0">
                <a:latin typeface="Arial MT"/>
                <a:cs typeface="Arial MT"/>
              </a:rPr>
              <a:t>...</a:t>
            </a:r>
            <a:r>
              <a:rPr sz="1450" dirty="0">
                <a:latin typeface="Arial MT"/>
                <a:cs typeface="Arial MT"/>
              </a:rPr>
              <a:t>	</a:t>
            </a:r>
            <a:r>
              <a:rPr sz="1450" spc="35" dirty="0">
                <a:latin typeface="Arial MT"/>
                <a:cs typeface="Arial MT"/>
              </a:rPr>
              <a:t>...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371944" y="3100269"/>
            <a:ext cx="0" cy="45720"/>
          </a:xfrm>
          <a:custGeom>
            <a:avLst/>
            <a:gdLst/>
            <a:ahLst/>
            <a:cxnLst/>
            <a:rect l="l" t="t" r="r" b="b"/>
            <a:pathLst>
              <a:path h="45719">
                <a:moveTo>
                  <a:pt x="0" y="0"/>
                </a:moveTo>
                <a:lnTo>
                  <a:pt x="0" y="45266"/>
                </a:lnTo>
              </a:path>
            </a:pathLst>
          </a:custGeom>
          <a:ln w="12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71944" y="3190645"/>
            <a:ext cx="0" cy="45720"/>
          </a:xfrm>
          <a:custGeom>
            <a:avLst/>
            <a:gdLst/>
            <a:ahLst/>
            <a:cxnLst/>
            <a:rect l="l" t="t" r="r" b="b"/>
            <a:pathLst>
              <a:path h="45719">
                <a:moveTo>
                  <a:pt x="0" y="0"/>
                </a:moveTo>
                <a:lnTo>
                  <a:pt x="0" y="45109"/>
                </a:lnTo>
              </a:path>
            </a:pathLst>
          </a:custGeom>
          <a:ln w="127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0" name="object 50"/>
          <p:cNvGrpSpPr/>
          <p:nvPr/>
        </p:nvGrpSpPr>
        <p:grpSpPr>
          <a:xfrm>
            <a:off x="1353847" y="2145086"/>
            <a:ext cx="3529329" cy="3123565"/>
            <a:chOff x="1353847" y="2145086"/>
            <a:chExt cx="3529329" cy="3123565"/>
          </a:xfrm>
        </p:grpSpPr>
        <p:sp>
          <p:nvSpPr>
            <p:cNvPr id="51" name="object 51"/>
            <p:cNvSpPr/>
            <p:nvPr/>
          </p:nvSpPr>
          <p:spPr>
            <a:xfrm>
              <a:off x="1371944" y="2163183"/>
              <a:ext cx="958215" cy="847090"/>
            </a:xfrm>
            <a:custGeom>
              <a:avLst/>
              <a:gdLst/>
              <a:ahLst/>
              <a:cxnLst/>
              <a:rect l="l" t="t" r="r" b="b"/>
              <a:pathLst>
                <a:path w="958214" h="847089">
                  <a:moveTo>
                    <a:pt x="0" y="846866"/>
                  </a:moveTo>
                  <a:lnTo>
                    <a:pt x="957680" y="846866"/>
                  </a:lnTo>
                  <a:lnTo>
                    <a:pt x="957680" y="0"/>
                  </a:lnTo>
                  <a:lnTo>
                    <a:pt x="0" y="0"/>
                  </a:lnTo>
                  <a:lnTo>
                    <a:pt x="0" y="846866"/>
                  </a:lnTo>
                </a:path>
              </a:pathLst>
            </a:custGeom>
            <a:ln w="358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71944" y="2870791"/>
              <a:ext cx="3451860" cy="934085"/>
            </a:xfrm>
            <a:custGeom>
              <a:avLst/>
              <a:gdLst/>
              <a:ahLst/>
              <a:cxnLst/>
              <a:rect l="l" t="t" r="r" b="b"/>
              <a:pathLst>
                <a:path w="3451860" h="934085">
                  <a:moveTo>
                    <a:pt x="0" y="139258"/>
                  </a:moveTo>
                  <a:lnTo>
                    <a:pt x="0" y="184367"/>
                  </a:lnTo>
                </a:path>
                <a:path w="3451860" h="934085">
                  <a:moveTo>
                    <a:pt x="2395905" y="0"/>
                  </a:moveTo>
                  <a:lnTo>
                    <a:pt x="3451396" y="933470"/>
                  </a:lnTo>
                </a:path>
              </a:pathLst>
            </a:custGeom>
            <a:ln w="120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59490" y="3747836"/>
              <a:ext cx="123825" cy="109220"/>
            </a:xfrm>
            <a:custGeom>
              <a:avLst/>
              <a:gdLst/>
              <a:ahLst/>
              <a:cxnLst/>
              <a:rect l="l" t="t" r="r" b="b"/>
              <a:pathLst>
                <a:path w="123825" h="109220">
                  <a:moveTo>
                    <a:pt x="80877" y="0"/>
                  </a:moveTo>
                  <a:lnTo>
                    <a:pt x="63850" y="33792"/>
                  </a:lnTo>
                  <a:lnTo>
                    <a:pt x="38310" y="56426"/>
                  </a:lnTo>
                  <a:lnTo>
                    <a:pt x="0" y="75287"/>
                  </a:lnTo>
                  <a:lnTo>
                    <a:pt x="123267" y="109080"/>
                  </a:lnTo>
                  <a:lnTo>
                    <a:pt x="808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67850" y="3152923"/>
              <a:ext cx="1064260" cy="1348105"/>
            </a:xfrm>
            <a:custGeom>
              <a:avLst/>
              <a:gdLst/>
              <a:ahLst/>
              <a:cxnLst/>
              <a:rect l="l" t="t" r="r" b="b"/>
              <a:pathLst>
                <a:path w="1064260" h="1348104">
                  <a:moveTo>
                    <a:pt x="0" y="0"/>
                  </a:moveTo>
                  <a:lnTo>
                    <a:pt x="1064004" y="1347787"/>
                  </a:lnTo>
                </a:path>
              </a:pathLst>
            </a:custGeom>
            <a:ln w="12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68004" y="4451829"/>
              <a:ext cx="114935" cy="113030"/>
            </a:xfrm>
            <a:custGeom>
              <a:avLst/>
              <a:gdLst/>
              <a:ahLst/>
              <a:cxnLst/>
              <a:rect l="l" t="t" r="r" b="b"/>
              <a:pathLst>
                <a:path w="114935" h="113029">
                  <a:moveTo>
                    <a:pt x="97904" y="0"/>
                  </a:moveTo>
                  <a:lnTo>
                    <a:pt x="72364" y="26248"/>
                  </a:lnTo>
                  <a:lnTo>
                    <a:pt x="38310" y="45109"/>
                  </a:lnTo>
                  <a:lnTo>
                    <a:pt x="0" y="56426"/>
                  </a:lnTo>
                  <a:lnTo>
                    <a:pt x="114754" y="112852"/>
                  </a:lnTo>
                  <a:lnTo>
                    <a:pt x="97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67850" y="3435526"/>
              <a:ext cx="1072515" cy="1765935"/>
            </a:xfrm>
            <a:custGeom>
              <a:avLst/>
              <a:gdLst/>
              <a:ahLst/>
              <a:cxnLst/>
              <a:rect l="l" t="t" r="r" b="b"/>
              <a:pathLst>
                <a:path w="1072514" h="1765935">
                  <a:moveTo>
                    <a:pt x="0" y="0"/>
                  </a:moveTo>
                  <a:lnTo>
                    <a:pt x="1072518" y="1765310"/>
                  </a:lnTo>
                </a:path>
              </a:pathLst>
            </a:custGeom>
            <a:ln w="12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776517" y="5155680"/>
              <a:ext cx="106680" cy="113030"/>
            </a:xfrm>
            <a:custGeom>
              <a:avLst/>
              <a:gdLst/>
              <a:ahLst/>
              <a:cxnLst/>
              <a:rect l="l" t="t" r="r" b="b"/>
              <a:pathLst>
                <a:path w="106679" h="113029">
                  <a:moveTo>
                    <a:pt x="101984" y="0"/>
                  </a:moveTo>
                  <a:lnTo>
                    <a:pt x="76621" y="26342"/>
                  </a:lnTo>
                  <a:lnTo>
                    <a:pt x="38310" y="41400"/>
                  </a:lnTo>
                  <a:lnTo>
                    <a:pt x="0" y="48913"/>
                  </a:lnTo>
                  <a:lnTo>
                    <a:pt x="106240" y="112884"/>
                  </a:lnTo>
                  <a:lnTo>
                    <a:pt x="1019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482571" y="1750941"/>
            <a:ext cx="737235" cy="40449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88900" marR="5080" indent="-76835">
              <a:lnSpc>
                <a:spcPts val="1490"/>
              </a:lnSpc>
              <a:spcBef>
                <a:spcPts val="155"/>
              </a:spcBef>
            </a:pPr>
            <a:r>
              <a:rPr sz="1250" spc="80" dirty="0">
                <a:latin typeface="Arial MT"/>
                <a:cs typeface="Arial MT"/>
              </a:rPr>
              <a:t>Niveau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25" dirty="0">
                <a:latin typeface="Arial MT"/>
                <a:cs typeface="Arial MT"/>
              </a:rPr>
              <a:t>1 </a:t>
            </a:r>
            <a:r>
              <a:rPr sz="1250" spc="45" dirty="0">
                <a:latin typeface="Arial MT"/>
                <a:cs typeface="Arial MT"/>
              </a:rPr>
              <a:t>d'index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166187" y="2300305"/>
            <a:ext cx="802005" cy="1135380"/>
            <a:chOff x="2166187" y="2300305"/>
            <a:chExt cx="802005" cy="1135380"/>
          </a:xfrm>
        </p:grpSpPr>
        <p:sp>
          <p:nvSpPr>
            <p:cNvPr id="60" name="object 60"/>
            <p:cNvSpPr/>
            <p:nvPr/>
          </p:nvSpPr>
          <p:spPr>
            <a:xfrm>
              <a:off x="2172268" y="2306057"/>
              <a:ext cx="715010" cy="252729"/>
            </a:xfrm>
            <a:custGeom>
              <a:avLst/>
              <a:gdLst/>
              <a:ahLst/>
              <a:cxnLst/>
              <a:rect l="l" t="t" r="r" b="b"/>
              <a:pathLst>
                <a:path w="715010" h="252730">
                  <a:moveTo>
                    <a:pt x="0" y="0"/>
                  </a:moveTo>
                  <a:lnTo>
                    <a:pt x="714864" y="252110"/>
                  </a:lnTo>
                </a:path>
              </a:pathLst>
            </a:custGeom>
            <a:ln w="11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840344" y="2501741"/>
              <a:ext cx="127635" cy="94615"/>
            </a:xfrm>
            <a:custGeom>
              <a:avLst/>
              <a:gdLst/>
              <a:ahLst/>
              <a:cxnLst/>
              <a:rect l="l" t="t" r="r" b="b"/>
              <a:pathLst>
                <a:path w="127635" h="94614">
                  <a:moveTo>
                    <a:pt x="42531" y="0"/>
                  </a:moveTo>
                  <a:lnTo>
                    <a:pt x="38275" y="33792"/>
                  </a:lnTo>
                  <a:lnTo>
                    <a:pt x="25522" y="67743"/>
                  </a:lnTo>
                  <a:lnTo>
                    <a:pt x="0" y="93991"/>
                  </a:lnTo>
                  <a:lnTo>
                    <a:pt x="127577" y="86604"/>
                  </a:lnTo>
                  <a:lnTo>
                    <a:pt x="425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72268" y="2588345"/>
              <a:ext cx="740410" cy="786765"/>
            </a:xfrm>
            <a:custGeom>
              <a:avLst/>
              <a:gdLst/>
              <a:ahLst/>
              <a:cxnLst/>
              <a:rect l="l" t="t" r="r" b="b"/>
              <a:pathLst>
                <a:path w="740410" h="786764">
                  <a:moveTo>
                    <a:pt x="0" y="0"/>
                  </a:moveTo>
                  <a:lnTo>
                    <a:pt x="740369" y="786667"/>
                  </a:lnTo>
                </a:path>
              </a:pathLst>
            </a:custGeom>
            <a:ln w="120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848857" y="3322359"/>
              <a:ext cx="119380" cy="113664"/>
            </a:xfrm>
            <a:custGeom>
              <a:avLst/>
              <a:gdLst/>
              <a:ahLst/>
              <a:cxnLst/>
              <a:rect l="l" t="t" r="r" b="b"/>
              <a:pathLst>
                <a:path w="119380" h="113664">
                  <a:moveTo>
                    <a:pt x="89302" y="0"/>
                  </a:moveTo>
                  <a:lnTo>
                    <a:pt x="68036" y="30020"/>
                  </a:lnTo>
                  <a:lnTo>
                    <a:pt x="38275" y="52654"/>
                  </a:lnTo>
                  <a:lnTo>
                    <a:pt x="0" y="67743"/>
                  </a:lnTo>
                  <a:lnTo>
                    <a:pt x="119064" y="113166"/>
                  </a:lnTo>
                  <a:lnTo>
                    <a:pt x="893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606" y="635888"/>
            <a:ext cx="701103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Indexage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Arbre-B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variantes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494447"/>
            <a:ext cx="5717540" cy="409638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895"/>
              </a:spcBef>
              <a:buClr>
                <a:srgbClr val="B1B1B1"/>
              </a:buClr>
              <a:buSzPct val="71186"/>
              <a:buFont typeface="Wingdings"/>
              <a:buChar char=""/>
              <a:tabLst>
                <a:tab pos="354965" algn="l"/>
              </a:tabLst>
            </a:pPr>
            <a:r>
              <a:rPr sz="2950" b="1" i="1" spc="-285" dirty="0">
                <a:latin typeface="Verdana"/>
                <a:cs typeface="Verdana"/>
              </a:rPr>
              <a:t>Arbre-</a:t>
            </a:r>
            <a:r>
              <a:rPr sz="2950" b="1" i="1" spc="-340" dirty="0">
                <a:latin typeface="Verdana"/>
                <a:cs typeface="Verdana"/>
              </a:rPr>
              <a:t>B</a:t>
            </a:r>
            <a:r>
              <a:rPr sz="2950" b="1" i="1" spc="-155" dirty="0">
                <a:latin typeface="Verdana"/>
                <a:cs typeface="Verdana"/>
              </a:rPr>
              <a:t> </a:t>
            </a:r>
            <a:r>
              <a:rPr sz="2800" b="1" spc="-195" dirty="0">
                <a:latin typeface="Tahoma"/>
                <a:cs typeface="Tahoma"/>
              </a:rPr>
              <a:t>(</a:t>
            </a:r>
            <a:r>
              <a:rPr sz="2950" b="1" i="1" spc="-195" dirty="0">
                <a:latin typeface="Verdana"/>
                <a:cs typeface="Verdana"/>
              </a:rPr>
              <a:t>B-</a:t>
            </a:r>
            <a:r>
              <a:rPr sz="2950" b="1" i="1" spc="-280" dirty="0">
                <a:latin typeface="Verdana"/>
                <a:cs typeface="Verdana"/>
              </a:rPr>
              <a:t>arbre,</a:t>
            </a:r>
            <a:r>
              <a:rPr sz="2950" b="1" i="1" spc="-110" dirty="0">
                <a:latin typeface="Verdana"/>
                <a:cs typeface="Verdana"/>
              </a:rPr>
              <a:t> </a:t>
            </a:r>
            <a:r>
              <a:rPr sz="2950" b="1" i="1" spc="-280" dirty="0">
                <a:latin typeface="Verdana"/>
                <a:cs typeface="Verdana"/>
              </a:rPr>
              <a:t>B-</a:t>
            </a:r>
            <a:r>
              <a:rPr sz="2950" b="1" i="1" spc="-10" dirty="0">
                <a:latin typeface="Verdana"/>
                <a:cs typeface="Verdana"/>
              </a:rPr>
              <a:t>tree</a:t>
            </a:r>
            <a:r>
              <a:rPr sz="2800" b="1" spc="-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46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forme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’index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hiérarchique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48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spc="-10" dirty="0">
                <a:latin typeface="Tahoma"/>
                <a:cs typeface="Tahoma"/>
              </a:rPr>
              <a:t>équilibré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39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756285" algn="l"/>
              </a:tabLst>
            </a:pPr>
            <a:r>
              <a:rPr sz="2500" b="1" i="1" spc="-50" dirty="0">
                <a:latin typeface="Verdana"/>
                <a:cs typeface="Verdana"/>
              </a:rPr>
              <a:t>O</a:t>
            </a:r>
            <a:r>
              <a:rPr sz="2400" spc="-50" dirty="0">
                <a:latin typeface="Tahoma"/>
                <a:cs typeface="Tahoma"/>
              </a:rPr>
              <a:t>(</a:t>
            </a:r>
            <a:r>
              <a:rPr sz="2500" spc="-50" dirty="0">
                <a:latin typeface="Tahoma"/>
                <a:cs typeface="Tahoma"/>
              </a:rPr>
              <a:t>log</a:t>
            </a:r>
            <a:r>
              <a:rPr sz="2400" spc="-50" dirty="0">
                <a:latin typeface="Tahoma"/>
                <a:cs typeface="Tahoma"/>
              </a:rPr>
              <a:t>(</a:t>
            </a:r>
            <a:r>
              <a:rPr sz="2500" spc="-50" dirty="0">
                <a:latin typeface="Tahoma"/>
                <a:cs typeface="Tahoma"/>
              </a:rPr>
              <a:t>N</a:t>
            </a:r>
            <a:r>
              <a:rPr sz="2400" spc="-50" dirty="0">
                <a:latin typeface="Tahoma"/>
                <a:cs typeface="Tahoma"/>
              </a:rPr>
              <a:t>))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pire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cas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51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Réorganisation</a:t>
            </a:r>
            <a:r>
              <a:rPr sz="2800" spc="-1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dynamique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4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division/fusion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blocs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4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taux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’occupation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minimum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50%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1326" y="45212"/>
            <a:ext cx="19450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Arbre-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B+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555777"/>
            <a:ext cx="663067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Hypothèse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initiale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: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clé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simple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unique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Nœud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bloc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1627" y="5299138"/>
          <a:ext cx="1347470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35"/>
                <a:gridCol w="139065"/>
                <a:gridCol w="277495"/>
                <a:gridCol w="140970"/>
                <a:gridCol w="277495"/>
                <a:gridCol w="138430"/>
                <a:gridCol w="93980"/>
              </a:tblGrid>
              <a:tr h="16383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10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20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60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4021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46120" y="4002512"/>
            <a:ext cx="382270" cy="335915"/>
            <a:chOff x="2346120" y="4002512"/>
            <a:chExt cx="382270" cy="335915"/>
          </a:xfrm>
        </p:grpSpPr>
        <p:sp>
          <p:nvSpPr>
            <p:cNvPr id="7" name="object 7"/>
            <p:cNvSpPr/>
            <p:nvPr/>
          </p:nvSpPr>
          <p:spPr>
            <a:xfrm>
              <a:off x="2350565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388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388" y="324034"/>
                  </a:lnTo>
                  <a:lnTo>
                    <a:pt x="9438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0565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0" y="324034"/>
                  </a:moveTo>
                  <a:lnTo>
                    <a:pt x="94388" y="324034"/>
                  </a:lnTo>
                  <a:lnTo>
                    <a:pt x="94388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45005" y="4008227"/>
              <a:ext cx="277495" cy="324485"/>
            </a:xfrm>
            <a:custGeom>
              <a:avLst/>
              <a:gdLst/>
              <a:ahLst/>
              <a:cxnLst/>
              <a:rect l="l" t="t" r="r" b="b"/>
              <a:pathLst>
                <a:path w="277494" h="324485">
                  <a:moveTo>
                    <a:pt x="277472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277472" y="324034"/>
                  </a:lnTo>
                  <a:lnTo>
                    <a:pt x="27747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45005" y="4008227"/>
              <a:ext cx="277495" cy="324485"/>
            </a:xfrm>
            <a:custGeom>
              <a:avLst/>
              <a:gdLst/>
              <a:ahLst/>
              <a:cxnLst/>
              <a:rect l="l" t="t" r="r" b="b"/>
              <a:pathLst>
                <a:path w="277494" h="324485">
                  <a:moveTo>
                    <a:pt x="0" y="324034"/>
                  </a:moveTo>
                  <a:lnTo>
                    <a:pt x="277472" y="324034"/>
                  </a:lnTo>
                  <a:lnTo>
                    <a:pt x="277472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9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50606" y="4008127"/>
            <a:ext cx="2667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1700" spc="-434" dirty="0">
                <a:latin typeface="Arial MT"/>
                <a:cs typeface="Arial MT"/>
              </a:rPr>
              <a:t>25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7991" y="4003782"/>
            <a:ext cx="103505" cy="333375"/>
            <a:chOff x="2717991" y="4003782"/>
            <a:chExt cx="103505" cy="333375"/>
          </a:xfrm>
        </p:grpSpPr>
        <p:sp>
          <p:nvSpPr>
            <p:cNvPr id="13" name="object 13"/>
            <p:cNvSpPr/>
            <p:nvPr/>
          </p:nvSpPr>
          <p:spPr>
            <a:xfrm>
              <a:off x="2722436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22436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16572" y="4008227"/>
            <a:ext cx="278130" cy="324485"/>
          </a:xfrm>
          <a:prstGeom prst="rect">
            <a:avLst/>
          </a:prstGeom>
          <a:solidFill>
            <a:srgbClr val="FFFF00"/>
          </a:solidFill>
          <a:ln w="1125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5"/>
              </a:spcBef>
            </a:pPr>
            <a:r>
              <a:rPr sz="1700" spc="-434" dirty="0">
                <a:latin typeface="Arial MT"/>
                <a:cs typeface="Arial MT"/>
              </a:rPr>
              <a:t>40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89863" y="4002512"/>
            <a:ext cx="382270" cy="335915"/>
            <a:chOff x="3089863" y="4002512"/>
            <a:chExt cx="382270" cy="335915"/>
          </a:xfrm>
        </p:grpSpPr>
        <p:sp>
          <p:nvSpPr>
            <p:cNvPr id="17" name="object 17"/>
            <p:cNvSpPr/>
            <p:nvPr/>
          </p:nvSpPr>
          <p:spPr>
            <a:xfrm>
              <a:off x="3094308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94308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88438" y="4008227"/>
              <a:ext cx="277495" cy="324485"/>
            </a:xfrm>
            <a:custGeom>
              <a:avLst/>
              <a:gdLst/>
              <a:ahLst/>
              <a:cxnLst/>
              <a:rect l="l" t="t" r="r" b="b"/>
              <a:pathLst>
                <a:path w="277495" h="324485">
                  <a:moveTo>
                    <a:pt x="277472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277472" y="324034"/>
                  </a:lnTo>
                  <a:lnTo>
                    <a:pt x="27747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88438" y="4008227"/>
              <a:ext cx="277495" cy="324485"/>
            </a:xfrm>
            <a:custGeom>
              <a:avLst/>
              <a:gdLst/>
              <a:ahLst/>
              <a:cxnLst/>
              <a:rect l="l" t="t" r="r" b="b"/>
              <a:pathLst>
                <a:path w="277495" h="324485">
                  <a:moveTo>
                    <a:pt x="0" y="324034"/>
                  </a:moveTo>
                  <a:lnTo>
                    <a:pt x="277472" y="324034"/>
                  </a:lnTo>
                  <a:lnTo>
                    <a:pt x="277472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97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94070" y="4008127"/>
            <a:ext cx="26670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5"/>
              </a:spcBef>
            </a:pPr>
            <a:r>
              <a:rPr sz="1700" spc="-434" dirty="0">
                <a:latin typeface="Arial MT"/>
                <a:cs typeface="Arial MT"/>
              </a:rPr>
              <a:t>45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61425" y="4003782"/>
            <a:ext cx="103505" cy="333375"/>
            <a:chOff x="3461425" y="4003782"/>
            <a:chExt cx="103505" cy="333375"/>
          </a:xfrm>
        </p:grpSpPr>
        <p:sp>
          <p:nvSpPr>
            <p:cNvPr id="23" name="object 23"/>
            <p:cNvSpPr/>
            <p:nvPr/>
          </p:nvSpPr>
          <p:spPr>
            <a:xfrm>
              <a:off x="3465870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65870" y="4008227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97380" y="3684092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49458" y="4166533"/>
            <a:ext cx="1725930" cy="987425"/>
            <a:chOff x="1049458" y="4166533"/>
            <a:chExt cx="1725930" cy="987425"/>
          </a:xfrm>
        </p:grpSpPr>
        <p:sp>
          <p:nvSpPr>
            <p:cNvPr id="27" name="object 27"/>
            <p:cNvSpPr/>
            <p:nvPr/>
          </p:nvSpPr>
          <p:spPr>
            <a:xfrm>
              <a:off x="1103963" y="4172615"/>
              <a:ext cx="1294130" cy="929005"/>
            </a:xfrm>
            <a:custGeom>
              <a:avLst/>
              <a:gdLst/>
              <a:ahLst/>
              <a:cxnLst/>
              <a:rect l="l" t="t" r="r" b="b"/>
              <a:pathLst>
                <a:path w="1294130" h="929004">
                  <a:moveTo>
                    <a:pt x="1293718" y="0"/>
                  </a:moveTo>
                  <a:lnTo>
                    <a:pt x="0" y="928952"/>
                  </a:lnTo>
                </a:path>
              </a:pathLst>
            </a:custGeom>
            <a:ln w="110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49458" y="5045473"/>
              <a:ext cx="74930" cy="107950"/>
            </a:xfrm>
            <a:custGeom>
              <a:avLst/>
              <a:gdLst/>
              <a:ahLst/>
              <a:cxnLst/>
              <a:rect l="l" t="t" r="r" b="b"/>
              <a:pathLst>
                <a:path w="74930" h="107950">
                  <a:moveTo>
                    <a:pt x="49555" y="0"/>
                  </a:moveTo>
                  <a:lnTo>
                    <a:pt x="0" y="99227"/>
                  </a:lnTo>
                  <a:lnTo>
                    <a:pt x="74322" y="107861"/>
                  </a:lnTo>
                  <a:lnTo>
                    <a:pt x="49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09421" y="4172615"/>
              <a:ext cx="560705" cy="899160"/>
            </a:xfrm>
            <a:custGeom>
              <a:avLst/>
              <a:gdLst/>
              <a:ahLst/>
              <a:cxnLst/>
              <a:rect l="l" t="t" r="r" b="b"/>
              <a:pathLst>
                <a:path w="560705" h="899160">
                  <a:moveTo>
                    <a:pt x="560132" y="0"/>
                  </a:moveTo>
                  <a:lnTo>
                    <a:pt x="0" y="898742"/>
                  </a:lnTo>
                </a:path>
              </a:pathLst>
            </a:custGeom>
            <a:ln w="89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64784" y="5019589"/>
              <a:ext cx="72390" cy="125730"/>
            </a:xfrm>
            <a:custGeom>
              <a:avLst/>
              <a:gdLst/>
              <a:ahLst/>
              <a:cxnLst/>
              <a:rect l="l" t="t" r="r" b="b"/>
              <a:pathLst>
                <a:path w="72389" h="125729">
                  <a:moveTo>
                    <a:pt x="27278" y="0"/>
                  </a:moveTo>
                  <a:lnTo>
                    <a:pt x="0" y="125111"/>
                  </a:lnTo>
                  <a:lnTo>
                    <a:pt x="71811" y="86285"/>
                  </a:lnTo>
                  <a:lnTo>
                    <a:pt x="27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601494" y="5299137"/>
          <a:ext cx="1344293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35"/>
                <a:gridCol w="138430"/>
                <a:gridCol w="279400"/>
                <a:gridCol w="138430"/>
                <a:gridCol w="276859"/>
                <a:gridCol w="140334"/>
                <a:gridCol w="90805"/>
              </a:tblGrid>
              <a:tr h="163830"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25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30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60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2" name="object 32"/>
          <p:cNvSpPr/>
          <p:nvPr/>
        </p:nvSpPr>
        <p:spPr>
          <a:xfrm>
            <a:off x="2982612" y="5408334"/>
            <a:ext cx="67310" cy="116839"/>
          </a:xfrm>
          <a:custGeom>
            <a:avLst/>
            <a:gdLst/>
            <a:ahLst/>
            <a:cxnLst/>
            <a:rect l="l" t="t" r="r" b="b"/>
            <a:pathLst>
              <a:path w="67310" h="116839">
                <a:moveTo>
                  <a:pt x="0" y="0"/>
                </a:moveTo>
                <a:lnTo>
                  <a:pt x="0" y="116493"/>
                </a:lnTo>
                <a:lnTo>
                  <a:pt x="66852" y="604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53844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3043837" y="5299137"/>
          <a:ext cx="1343658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38429"/>
                <a:gridCol w="280034"/>
                <a:gridCol w="138430"/>
                <a:gridCol w="279400"/>
                <a:gridCol w="138430"/>
                <a:gridCol w="91440"/>
              </a:tblGrid>
              <a:tr h="16383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40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43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44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60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3094007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540279" y="5408334"/>
            <a:ext cx="67310" cy="116839"/>
          </a:xfrm>
          <a:custGeom>
            <a:avLst/>
            <a:gdLst/>
            <a:ahLst/>
            <a:cxnLst/>
            <a:rect l="l" t="t" r="r" b="b"/>
            <a:pathLst>
              <a:path w="67309" h="116839">
                <a:moveTo>
                  <a:pt x="0" y="0"/>
                </a:moveTo>
                <a:lnTo>
                  <a:pt x="0" y="116493"/>
                </a:lnTo>
                <a:lnTo>
                  <a:pt x="66852" y="604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3136444" y="4166407"/>
            <a:ext cx="2049780" cy="995680"/>
            <a:chOff x="3136444" y="4166407"/>
            <a:chExt cx="2049780" cy="995680"/>
          </a:xfrm>
        </p:grpSpPr>
        <p:sp>
          <p:nvSpPr>
            <p:cNvPr id="38" name="object 38"/>
            <p:cNvSpPr/>
            <p:nvPr/>
          </p:nvSpPr>
          <p:spPr>
            <a:xfrm>
              <a:off x="3141425" y="4172615"/>
              <a:ext cx="471170" cy="894715"/>
            </a:xfrm>
            <a:custGeom>
              <a:avLst/>
              <a:gdLst/>
              <a:ahLst/>
              <a:cxnLst/>
              <a:rect l="l" t="t" r="r" b="b"/>
              <a:pathLst>
                <a:path w="471170" h="894714">
                  <a:moveTo>
                    <a:pt x="0" y="0"/>
                  </a:moveTo>
                  <a:lnTo>
                    <a:pt x="470651" y="894434"/>
                  </a:lnTo>
                </a:path>
              </a:pathLst>
            </a:custGeom>
            <a:ln w="8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82318" y="5015264"/>
              <a:ext cx="69850" cy="129539"/>
            </a:xfrm>
            <a:custGeom>
              <a:avLst/>
              <a:gdLst/>
              <a:ahLst/>
              <a:cxnLst/>
              <a:rect l="l" t="t" r="r" b="b"/>
              <a:pathLst>
                <a:path w="69850" h="129539">
                  <a:moveTo>
                    <a:pt x="49596" y="0"/>
                  </a:moveTo>
                  <a:lnTo>
                    <a:pt x="0" y="81977"/>
                  </a:lnTo>
                  <a:lnTo>
                    <a:pt x="69435" y="129437"/>
                  </a:lnTo>
                  <a:lnTo>
                    <a:pt x="49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12986" y="4172615"/>
              <a:ext cx="1618615" cy="937894"/>
            </a:xfrm>
            <a:custGeom>
              <a:avLst/>
              <a:gdLst/>
              <a:ahLst/>
              <a:cxnLst/>
              <a:rect l="l" t="t" r="r" b="b"/>
              <a:pathLst>
                <a:path w="1618614" h="937895">
                  <a:moveTo>
                    <a:pt x="0" y="0"/>
                  </a:moveTo>
                  <a:lnTo>
                    <a:pt x="1618504" y="937568"/>
                  </a:lnTo>
                </a:path>
              </a:pathLst>
            </a:custGeom>
            <a:ln w="11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11652" y="5049781"/>
              <a:ext cx="74295" cy="112395"/>
            </a:xfrm>
            <a:custGeom>
              <a:avLst/>
              <a:gdLst/>
              <a:ahLst/>
              <a:cxnLst/>
              <a:rect l="l" t="t" r="r" b="b"/>
              <a:pathLst>
                <a:path w="74295" h="112395">
                  <a:moveTo>
                    <a:pt x="22318" y="0"/>
                  </a:moveTo>
                  <a:lnTo>
                    <a:pt x="0" y="112187"/>
                  </a:lnTo>
                  <a:lnTo>
                    <a:pt x="74291" y="94919"/>
                  </a:lnTo>
                  <a:lnTo>
                    <a:pt x="2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7388400" y="5299137"/>
          <a:ext cx="1343658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38429"/>
                <a:gridCol w="279400"/>
                <a:gridCol w="138430"/>
                <a:gridCol w="280034"/>
                <a:gridCol w="138430"/>
                <a:gridCol w="91440"/>
              </a:tblGrid>
              <a:tr h="32385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60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70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7440844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4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422672" y="5408334"/>
            <a:ext cx="67310" cy="116839"/>
          </a:xfrm>
          <a:custGeom>
            <a:avLst/>
            <a:gdLst/>
            <a:ahLst/>
            <a:cxnLst/>
            <a:rect l="l" t="t" r="r" b="b"/>
            <a:pathLst>
              <a:path w="67310" h="116839">
                <a:moveTo>
                  <a:pt x="0" y="0"/>
                </a:moveTo>
                <a:lnTo>
                  <a:pt x="0" y="116493"/>
                </a:lnTo>
                <a:lnTo>
                  <a:pt x="66852" y="604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929480" y="5304775"/>
            <a:ext cx="280035" cy="324485"/>
          </a:xfrm>
          <a:prstGeom prst="rect">
            <a:avLst/>
          </a:prstGeom>
          <a:solidFill>
            <a:srgbClr val="C0C0C0"/>
          </a:solidFill>
          <a:ln w="11273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700" spc="-434" dirty="0">
                <a:latin typeface="Arial MT"/>
                <a:cs typeface="Arial MT"/>
              </a:rPr>
              <a:t>50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204684" y="5300068"/>
            <a:ext cx="148590" cy="334010"/>
            <a:chOff x="6204684" y="5300068"/>
            <a:chExt cx="148590" cy="334010"/>
          </a:xfrm>
        </p:grpSpPr>
        <p:sp>
          <p:nvSpPr>
            <p:cNvPr id="47" name="object 47"/>
            <p:cNvSpPr/>
            <p:nvPr/>
          </p:nvSpPr>
          <p:spPr>
            <a:xfrm>
              <a:off x="6209391" y="5304775"/>
              <a:ext cx="139065" cy="324485"/>
            </a:xfrm>
            <a:custGeom>
              <a:avLst/>
              <a:gdLst/>
              <a:ahLst/>
              <a:cxnLst/>
              <a:rect l="l" t="t" r="r" b="b"/>
              <a:pathLst>
                <a:path w="139064" h="324485">
                  <a:moveTo>
                    <a:pt x="138736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138736" y="324034"/>
                  </a:lnTo>
                  <a:lnTo>
                    <a:pt x="13873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09391" y="5304775"/>
              <a:ext cx="139065" cy="324485"/>
            </a:xfrm>
            <a:custGeom>
              <a:avLst/>
              <a:gdLst/>
              <a:ahLst/>
              <a:cxnLst/>
              <a:rect l="l" t="t" r="r" b="b"/>
              <a:pathLst>
                <a:path w="139064" h="324485">
                  <a:moveTo>
                    <a:pt x="0" y="324034"/>
                  </a:moveTo>
                  <a:lnTo>
                    <a:pt x="138736" y="324034"/>
                  </a:lnTo>
                  <a:lnTo>
                    <a:pt x="138736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82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7179004" y="5300330"/>
            <a:ext cx="103505" cy="333375"/>
            <a:chOff x="7179004" y="5300330"/>
            <a:chExt cx="103505" cy="333375"/>
          </a:xfrm>
        </p:grpSpPr>
        <p:sp>
          <p:nvSpPr>
            <p:cNvPr id="50" name="object 50"/>
            <p:cNvSpPr/>
            <p:nvPr/>
          </p:nvSpPr>
          <p:spPr>
            <a:xfrm>
              <a:off x="7183449" y="5304775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5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83449" y="5304775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5" h="324485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976192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5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48143" y="5304775"/>
            <a:ext cx="278130" cy="324485"/>
          </a:xfrm>
          <a:prstGeom prst="rect">
            <a:avLst/>
          </a:prstGeom>
          <a:solidFill>
            <a:srgbClr val="C0C0C0"/>
          </a:solidFill>
          <a:ln w="11255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700" spc="-434" dirty="0">
                <a:latin typeface="Arial MT"/>
                <a:cs typeface="Arial MT"/>
              </a:rPr>
              <a:t>53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621067" y="5299147"/>
            <a:ext cx="773430" cy="335915"/>
            <a:chOff x="6621067" y="5299147"/>
            <a:chExt cx="773430" cy="335915"/>
          </a:xfrm>
        </p:grpSpPr>
        <p:sp>
          <p:nvSpPr>
            <p:cNvPr id="55" name="object 55"/>
            <p:cNvSpPr/>
            <p:nvPr/>
          </p:nvSpPr>
          <p:spPr>
            <a:xfrm>
              <a:off x="6625796" y="5304775"/>
              <a:ext cx="141605" cy="324485"/>
            </a:xfrm>
            <a:custGeom>
              <a:avLst/>
              <a:gdLst/>
              <a:ahLst/>
              <a:cxnLst/>
              <a:rect l="l" t="t" r="r" b="b"/>
              <a:pathLst>
                <a:path w="141604" h="324485">
                  <a:moveTo>
                    <a:pt x="141216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141216" y="324034"/>
                  </a:lnTo>
                  <a:lnTo>
                    <a:pt x="1412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625796" y="5304775"/>
              <a:ext cx="709295" cy="324485"/>
            </a:xfrm>
            <a:custGeom>
              <a:avLst/>
              <a:gdLst/>
              <a:ahLst/>
              <a:cxnLst/>
              <a:rect l="l" t="t" r="r" b="b"/>
              <a:pathLst>
                <a:path w="709295" h="324485">
                  <a:moveTo>
                    <a:pt x="0" y="324034"/>
                  </a:moveTo>
                  <a:lnTo>
                    <a:pt x="141216" y="324034"/>
                  </a:lnTo>
                  <a:lnTo>
                    <a:pt x="141216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  <a:path w="709295" h="324485">
                  <a:moveTo>
                    <a:pt x="141247" y="324034"/>
                  </a:moveTo>
                  <a:lnTo>
                    <a:pt x="418967" y="324034"/>
                  </a:lnTo>
                  <a:lnTo>
                    <a:pt x="418967" y="0"/>
                  </a:lnTo>
                  <a:lnTo>
                    <a:pt x="141247" y="0"/>
                  </a:lnTo>
                  <a:lnTo>
                    <a:pt x="141247" y="324034"/>
                  </a:lnTo>
                  <a:close/>
                </a:path>
                <a:path w="709295" h="324485">
                  <a:moveTo>
                    <a:pt x="418988" y="324034"/>
                  </a:moveTo>
                  <a:lnTo>
                    <a:pt x="557724" y="324034"/>
                  </a:lnTo>
                  <a:lnTo>
                    <a:pt x="557724" y="0"/>
                  </a:lnTo>
                  <a:lnTo>
                    <a:pt x="418988" y="0"/>
                  </a:lnTo>
                  <a:lnTo>
                    <a:pt x="418988" y="324034"/>
                  </a:lnTo>
                  <a:close/>
                </a:path>
                <a:path w="709295" h="324485">
                  <a:moveTo>
                    <a:pt x="627087" y="163960"/>
                  </a:moveTo>
                  <a:lnTo>
                    <a:pt x="708818" y="163960"/>
                  </a:lnTo>
                </a:path>
              </a:pathLst>
            </a:custGeom>
            <a:ln w="10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27175" y="5408334"/>
              <a:ext cx="67310" cy="116839"/>
            </a:xfrm>
            <a:custGeom>
              <a:avLst/>
              <a:gdLst/>
              <a:ahLst/>
              <a:cxnLst/>
              <a:rect l="l" t="t" r="r" b="b"/>
              <a:pathLst>
                <a:path w="67309" h="116839">
                  <a:moveTo>
                    <a:pt x="0" y="0"/>
                  </a:moveTo>
                  <a:lnTo>
                    <a:pt x="0" y="116493"/>
                  </a:lnTo>
                  <a:lnTo>
                    <a:pt x="66852" y="60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6274278" y="4002512"/>
            <a:ext cx="382270" cy="335915"/>
            <a:chOff x="6274278" y="4002512"/>
            <a:chExt cx="382270" cy="335915"/>
          </a:xfrm>
        </p:grpSpPr>
        <p:sp>
          <p:nvSpPr>
            <p:cNvPr id="59" name="object 59"/>
            <p:cNvSpPr/>
            <p:nvPr/>
          </p:nvSpPr>
          <p:spPr>
            <a:xfrm>
              <a:off x="6278723" y="4008227"/>
              <a:ext cx="92075" cy="324485"/>
            </a:xfrm>
            <a:custGeom>
              <a:avLst/>
              <a:gdLst/>
              <a:ahLst/>
              <a:cxnLst/>
              <a:rect l="l" t="t" r="r" b="b"/>
              <a:pathLst>
                <a:path w="92075" h="324485">
                  <a:moveTo>
                    <a:pt x="9191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1910" y="324034"/>
                  </a:lnTo>
                  <a:lnTo>
                    <a:pt x="9191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278723" y="4008227"/>
              <a:ext cx="92075" cy="324485"/>
            </a:xfrm>
            <a:custGeom>
              <a:avLst/>
              <a:gdLst/>
              <a:ahLst/>
              <a:cxnLst/>
              <a:rect l="l" t="t" r="r" b="b"/>
              <a:pathLst>
                <a:path w="92075" h="324485">
                  <a:moveTo>
                    <a:pt x="0" y="324034"/>
                  </a:moveTo>
                  <a:lnTo>
                    <a:pt x="91910" y="324034"/>
                  </a:lnTo>
                  <a:lnTo>
                    <a:pt x="9191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70684" y="4008227"/>
              <a:ext cx="280035" cy="324485"/>
            </a:xfrm>
            <a:custGeom>
              <a:avLst/>
              <a:gdLst/>
              <a:ahLst/>
              <a:cxnLst/>
              <a:rect l="l" t="t" r="r" b="b"/>
              <a:pathLst>
                <a:path w="280034" h="324485">
                  <a:moveTo>
                    <a:pt x="279942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279942" y="324034"/>
                  </a:lnTo>
                  <a:lnTo>
                    <a:pt x="2799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370684" y="4008227"/>
              <a:ext cx="280035" cy="324485"/>
            </a:xfrm>
            <a:custGeom>
              <a:avLst/>
              <a:gdLst/>
              <a:ahLst/>
              <a:cxnLst/>
              <a:rect l="l" t="t" r="r" b="b"/>
              <a:pathLst>
                <a:path w="280034" h="324485">
                  <a:moveTo>
                    <a:pt x="0" y="324034"/>
                  </a:moveTo>
                  <a:lnTo>
                    <a:pt x="279942" y="324034"/>
                  </a:lnTo>
                  <a:lnTo>
                    <a:pt x="279942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9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376296" y="4008127"/>
            <a:ext cx="26924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105"/>
              </a:spcBef>
            </a:pPr>
            <a:r>
              <a:rPr sz="1700" spc="-434" dirty="0">
                <a:latin typeface="Arial MT"/>
                <a:cs typeface="Arial MT"/>
              </a:rPr>
              <a:t>60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319361" y="4002589"/>
            <a:ext cx="1677035" cy="1146810"/>
            <a:chOff x="6319361" y="4002589"/>
            <a:chExt cx="1677035" cy="1146810"/>
          </a:xfrm>
        </p:grpSpPr>
        <p:sp>
          <p:nvSpPr>
            <p:cNvPr id="65" name="object 65"/>
            <p:cNvSpPr/>
            <p:nvPr/>
          </p:nvSpPr>
          <p:spPr>
            <a:xfrm>
              <a:off x="6650595" y="4008227"/>
              <a:ext cx="92075" cy="324485"/>
            </a:xfrm>
            <a:custGeom>
              <a:avLst/>
              <a:gdLst/>
              <a:ahLst/>
              <a:cxnLst/>
              <a:rect l="l" t="t" r="r" b="b"/>
              <a:pathLst>
                <a:path w="92075" h="324485">
                  <a:moveTo>
                    <a:pt x="91663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1663" y="324034"/>
                  </a:lnTo>
                  <a:lnTo>
                    <a:pt x="916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650595" y="4008227"/>
              <a:ext cx="1294130" cy="1093470"/>
            </a:xfrm>
            <a:custGeom>
              <a:avLst/>
              <a:gdLst/>
              <a:ahLst/>
              <a:cxnLst/>
              <a:rect l="l" t="t" r="r" b="b"/>
              <a:pathLst>
                <a:path w="1294129" h="1093470">
                  <a:moveTo>
                    <a:pt x="0" y="324034"/>
                  </a:moveTo>
                  <a:lnTo>
                    <a:pt x="91663" y="324034"/>
                  </a:lnTo>
                  <a:lnTo>
                    <a:pt x="91663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  <a:path w="1294129" h="1093470">
                  <a:moveTo>
                    <a:pt x="91650" y="324034"/>
                  </a:moveTo>
                  <a:lnTo>
                    <a:pt x="371840" y="324034"/>
                  </a:lnTo>
                  <a:lnTo>
                    <a:pt x="371840" y="0"/>
                  </a:lnTo>
                  <a:lnTo>
                    <a:pt x="91650" y="0"/>
                  </a:lnTo>
                  <a:lnTo>
                    <a:pt x="91650" y="324034"/>
                  </a:lnTo>
                  <a:close/>
                </a:path>
                <a:path w="1294129" h="1093470">
                  <a:moveTo>
                    <a:pt x="371871" y="324034"/>
                  </a:moveTo>
                  <a:lnTo>
                    <a:pt x="463535" y="324034"/>
                  </a:lnTo>
                  <a:lnTo>
                    <a:pt x="463535" y="0"/>
                  </a:lnTo>
                  <a:lnTo>
                    <a:pt x="371871" y="0"/>
                  </a:lnTo>
                  <a:lnTo>
                    <a:pt x="371871" y="324034"/>
                  </a:lnTo>
                  <a:close/>
                </a:path>
                <a:path w="1294129" h="1093470">
                  <a:moveTo>
                    <a:pt x="463522" y="324034"/>
                  </a:moveTo>
                  <a:lnTo>
                    <a:pt x="743464" y="324034"/>
                  </a:lnTo>
                  <a:lnTo>
                    <a:pt x="743464" y="0"/>
                  </a:lnTo>
                  <a:lnTo>
                    <a:pt x="463522" y="0"/>
                  </a:lnTo>
                  <a:lnTo>
                    <a:pt x="463522" y="324034"/>
                  </a:lnTo>
                  <a:close/>
                </a:path>
                <a:path w="1294129" h="1093470">
                  <a:moveTo>
                    <a:pt x="743433" y="324034"/>
                  </a:moveTo>
                  <a:lnTo>
                    <a:pt x="835097" y="324034"/>
                  </a:lnTo>
                  <a:lnTo>
                    <a:pt x="835097" y="0"/>
                  </a:lnTo>
                  <a:lnTo>
                    <a:pt x="743433" y="0"/>
                  </a:lnTo>
                  <a:lnTo>
                    <a:pt x="743433" y="324034"/>
                  </a:lnTo>
                  <a:close/>
                </a:path>
                <a:path w="1294129" h="1093470">
                  <a:moveTo>
                    <a:pt x="44636" y="164387"/>
                  </a:moveTo>
                  <a:lnTo>
                    <a:pt x="1293749" y="1093340"/>
                  </a:lnTo>
                </a:path>
              </a:pathLst>
            </a:custGeom>
            <a:ln w="10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22026" y="5041165"/>
              <a:ext cx="74295" cy="107950"/>
            </a:xfrm>
            <a:custGeom>
              <a:avLst/>
              <a:gdLst/>
              <a:ahLst/>
              <a:cxnLst/>
              <a:rect l="l" t="t" r="r" b="b"/>
              <a:pathLst>
                <a:path w="74295" h="107950">
                  <a:moveTo>
                    <a:pt x="27174" y="0"/>
                  </a:moveTo>
                  <a:lnTo>
                    <a:pt x="0" y="107861"/>
                  </a:lnTo>
                  <a:lnTo>
                    <a:pt x="74291" y="103535"/>
                  </a:lnTo>
                  <a:lnTo>
                    <a:pt x="27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323360" y="4172614"/>
              <a:ext cx="168910" cy="873125"/>
            </a:xfrm>
            <a:custGeom>
              <a:avLst/>
              <a:gdLst/>
              <a:ahLst/>
              <a:cxnLst/>
              <a:rect l="l" t="t" r="r" b="b"/>
              <a:pathLst>
                <a:path w="168910" h="873125">
                  <a:moveTo>
                    <a:pt x="0" y="0"/>
                  </a:moveTo>
                  <a:lnTo>
                    <a:pt x="168731" y="872858"/>
                  </a:lnTo>
                </a:path>
              </a:pathLst>
            </a:custGeom>
            <a:ln w="76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457374" y="5015263"/>
              <a:ext cx="64769" cy="129539"/>
            </a:xfrm>
            <a:custGeom>
              <a:avLst/>
              <a:gdLst/>
              <a:ahLst/>
              <a:cxnLst/>
              <a:rect l="l" t="t" r="r" b="b"/>
              <a:pathLst>
                <a:path w="64770" h="129539">
                  <a:moveTo>
                    <a:pt x="64372" y="0"/>
                  </a:moveTo>
                  <a:lnTo>
                    <a:pt x="0" y="34517"/>
                  </a:lnTo>
                  <a:lnTo>
                    <a:pt x="51973" y="129437"/>
                  </a:lnTo>
                  <a:lnTo>
                    <a:pt x="643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325539" y="3684092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6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438065" y="2707715"/>
            <a:ext cx="103505" cy="333375"/>
            <a:chOff x="4438065" y="2707715"/>
            <a:chExt cx="103505" cy="333375"/>
          </a:xfrm>
        </p:grpSpPr>
        <p:sp>
          <p:nvSpPr>
            <p:cNvPr id="72" name="object 72"/>
            <p:cNvSpPr/>
            <p:nvPr/>
          </p:nvSpPr>
          <p:spPr>
            <a:xfrm>
              <a:off x="4442510" y="2712160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42510" y="2712160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</a:pathLst>
            </a:custGeom>
            <a:ln w="78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536646" y="2712160"/>
            <a:ext cx="277495" cy="324485"/>
          </a:xfrm>
          <a:prstGeom prst="rect">
            <a:avLst/>
          </a:prstGeom>
          <a:solidFill>
            <a:srgbClr val="FFFF00"/>
          </a:solidFill>
          <a:ln w="11252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100"/>
              </a:spcBef>
            </a:pPr>
            <a:r>
              <a:rPr sz="1700" spc="-434" dirty="0">
                <a:latin typeface="Arial MT"/>
                <a:cs typeface="Arial MT"/>
              </a:rPr>
              <a:t>50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89223" y="2387899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7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2955334" y="2870331"/>
            <a:ext cx="1540510" cy="991235"/>
            <a:chOff x="2955334" y="2870331"/>
            <a:chExt cx="1540510" cy="991235"/>
          </a:xfrm>
        </p:grpSpPr>
        <p:sp>
          <p:nvSpPr>
            <p:cNvPr id="77" name="object 77"/>
            <p:cNvSpPr/>
            <p:nvPr/>
          </p:nvSpPr>
          <p:spPr>
            <a:xfrm>
              <a:off x="3009787" y="2876494"/>
              <a:ext cx="1480185" cy="933450"/>
            </a:xfrm>
            <a:custGeom>
              <a:avLst/>
              <a:gdLst/>
              <a:ahLst/>
              <a:cxnLst/>
              <a:rect l="l" t="t" r="r" b="b"/>
              <a:pathLst>
                <a:path w="1480185" h="933450">
                  <a:moveTo>
                    <a:pt x="1479736" y="0"/>
                  </a:moveTo>
                  <a:lnTo>
                    <a:pt x="0" y="933332"/>
                  </a:lnTo>
                </a:path>
              </a:pathLst>
            </a:custGeom>
            <a:ln w="113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955334" y="3753228"/>
              <a:ext cx="74295" cy="108585"/>
            </a:xfrm>
            <a:custGeom>
              <a:avLst/>
              <a:gdLst/>
              <a:ahLst/>
              <a:cxnLst/>
              <a:rect l="l" t="t" r="r" b="b"/>
              <a:pathLst>
                <a:path w="74294" h="108585">
                  <a:moveTo>
                    <a:pt x="51973" y="0"/>
                  </a:moveTo>
                  <a:lnTo>
                    <a:pt x="0" y="95352"/>
                  </a:lnTo>
                  <a:lnTo>
                    <a:pt x="74291" y="108311"/>
                  </a:lnTo>
                  <a:lnTo>
                    <a:pt x="51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4809790" y="2706533"/>
            <a:ext cx="2049145" cy="1163955"/>
            <a:chOff x="4809790" y="2706533"/>
            <a:chExt cx="2049145" cy="1163955"/>
          </a:xfrm>
        </p:grpSpPr>
        <p:sp>
          <p:nvSpPr>
            <p:cNvPr id="80" name="object 80"/>
            <p:cNvSpPr/>
            <p:nvPr/>
          </p:nvSpPr>
          <p:spPr>
            <a:xfrm>
              <a:off x="4814072" y="2712160"/>
              <a:ext cx="94615" cy="324485"/>
            </a:xfrm>
            <a:custGeom>
              <a:avLst/>
              <a:gdLst/>
              <a:ahLst/>
              <a:cxnLst/>
              <a:rect l="l" t="t" r="r" b="b"/>
              <a:pathLst>
                <a:path w="94614" h="324485">
                  <a:moveTo>
                    <a:pt x="94140" y="0"/>
                  </a:moveTo>
                  <a:lnTo>
                    <a:pt x="0" y="0"/>
                  </a:lnTo>
                  <a:lnTo>
                    <a:pt x="0" y="324034"/>
                  </a:lnTo>
                  <a:lnTo>
                    <a:pt x="94140" y="324034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14072" y="2712160"/>
              <a:ext cx="1988185" cy="1106805"/>
            </a:xfrm>
            <a:custGeom>
              <a:avLst/>
              <a:gdLst/>
              <a:ahLst/>
              <a:cxnLst/>
              <a:rect l="l" t="t" r="r" b="b"/>
              <a:pathLst>
                <a:path w="1988184" h="1106804">
                  <a:moveTo>
                    <a:pt x="0" y="324034"/>
                  </a:moveTo>
                  <a:lnTo>
                    <a:pt x="94140" y="324034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324034"/>
                  </a:lnTo>
                  <a:close/>
                </a:path>
                <a:path w="1988184" h="1106804">
                  <a:moveTo>
                    <a:pt x="94130" y="324034"/>
                  </a:moveTo>
                  <a:lnTo>
                    <a:pt x="371850" y="324034"/>
                  </a:lnTo>
                  <a:lnTo>
                    <a:pt x="371850" y="0"/>
                  </a:lnTo>
                  <a:lnTo>
                    <a:pt x="94130" y="0"/>
                  </a:lnTo>
                  <a:lnTo>
                    <a:pt x="94130" y="324034"/>
                  </a:lnTo>
                  <a:close/>
                </a:path>
                <a:path w="1988184" h="1106804">
                  <a:moveTo>
                    <a:pt x="371871" y="324034"/>
                  </a:moveTo>
                  <a:lnTo>
                    <a:pt x="466012" y="324034"/>
                  </a:lnTo>
                  <a:lnTo>
                    <a:pt x="466012" y="0"/>
                  </a:lnTo>
                  <a:lnTo>
                    <a:pt x="371871" y="0"/>
                  </a:lnTo>
                  <a:lnTo>
                    <a:pt x="371871" y="324034"/>
                  </a:lnTo>
                  <a:close/>
                </a:path>
                <a:path w="1988184" h="1106804">
                  <a:moveTo>
                    <a:pt x="466001" y="324034"/>
                  </a:moveTo>
                  <a:lnTo>
                    <a:pt x="743474" y="324034"/>
                  </a:lnTo>
                  <a:lnTo>
                    <a:pt x="743474" y="0"/>
                  </a:lnTo>
                  <a:lnTo>
                    <a:pt x="466001" y="0"/>
                  </a:lnTo>
                  <a:lnTo>
                    <a:pt x="466001" y="324034"/>
                  </a:lnTo>
                  <a:close/>
                </a:path>
                <a:path w="1988184" h="1106804">
                  <a:moveTo>
                    <a:pt x="743536" y="324034"/>
                  </a:moveTo>
                  <a:lnTo>
                    <a:pt x="837677" y="324034"/>
                  </a:lnTo>
                  <a:lnTo>
                    <a:pt x="837677" y="0"/>
                  </a:lnTo>
                  <a:lnTo>
                    <a:pt x="743536" y="0"/>
                  </a:lnTo>
                  <a:lnTo>
                    <a:pt x="743536" y="324034"/>
                  </a:lnTo>
                  <a:close/>
                </a:path>
                <a:path w="1988184" h="1106804">
                  <a:moveTo>
                    <a:pt x="47116" y="164333"/>
                  </a:moveTo>
                  <a:lnTo>
                    <a:pt x="1987689" y="1106318"/>
                  </a:lnTo>
                </a:path>
              </a:pathLst>
            </a:custGeom>
            <a:ln w="10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84402" y="3757914"/>
              <a:ext cx="74295" cy="112395"/>
            </a:xfrm>
            <a:custGeom>
              <a:avLst/>
              <a:gdLst/>
              <a:ahLst/>
              <a:cxnLst/>
              <a:rect l="l" t="t" r="r" b="b"/>
              <a:pathLst>
                <a:path w="74295" h="112395">
                  <a:moveTo>
                    <a:pt x="19838" y="0"/>
                  </a:moveTo>
                  <a:lnTo>
                    <a:pt x="0" y="112241"/>
                  </a:lnTo>
                  <a:lnTo>
                    <a:pt x="74291" y="90665"/>
                  </a:lnTo>
                  <a:lnTo>
                    <a:pt x="198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4483898" y="5299138"/>
          <a:ext cx="1345563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40970"/>
                <a:gridCol w="277495"/>
                <a:gridCol w="138429"/>
                <a:gridCol w="279400"/>
                <a:gridCol w="138430"/>
                <a:gridCol w="93344"/>
              </a:tblGrid>
              <a:tr h="16383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45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434" dirty="0">
                          <a:latin typeface="Arial MT"/>
                          <a:cs typeface="Arial MT"/>
                        </a:rPr>
                        <a:t>48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60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4" name="object 84"/>
          <p:cNvSpPr/>
          <p:nvPr/>
        </p:nvSpPr>
        <p:spPr>
          <a:xfrm>
            <a:off x="5862525" y="5408334"/>
            <a:ext cx="67310" cy="116839"/>
          </a:xfrm>
          <a:custGeom>
            <a:avLst/>
            <a:gdLst/>
            <a:ahLst/>
            <a:cxnLst/>
            <a:rect l="l" t="t" r="r" b="b"/>
            <a:pathLst>
              <a:path w="67310" h="116839">
                <a:moveTo>
                  <a:pt x="0" y="0"/>
                </a:moveTo>
                <a:lnTo>
                  <a:pt x="0" y="116493"/>
                </a:lnTo>
                <a:lnTo>
                  <a:pt x="66955" y="604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536340" y="4980213"/>
            <a:ext cx="37211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55" dirty="0">
                <a:latin typeface="Arial MT"/>
                <a:cs typeface="Arial MT"/>
              </a:rPr>
              <a:t>Bloc</a:t>
            </a:r>
            <a:r>
              <a:rPr sz="1700" spc="-200" dirty="0">
                <a:latin typeface="Arial MT"/>
                <a:cs typeface="Arial MT"/>
              </a:rPr>
              <a:t> </a:t>
            </a:r>
            <a:r>
              <a:rPr sz="1700" spc="-459" dirty="0">
                <a:latin typeface="Arial MT"/>
                <a:cs typeface="Arial MT"/>
              </a:rPr>
              <a:t>8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1725" y="635888"/>
            <a:ext cx="4704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Structure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’une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feuille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754" y="1751202"/>
            <a:ext cx="4096385" cy="109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065" indent="-342265">
              <a:lnSpc>
                <a:spcPts val="2245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000" dirty="0">
                <a:latin typeface="Tahoma"/>
                <a:cs typeface="Tahoma"/>
              </a:rPr>
              <a:t>1.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Remplie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à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moitié au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minimum</a:t>
            </a:r>
            <a:endParaRPr sz="2000">
              <a:latin typeface="Tahoma"/>
              <a:cs typeface="Tahoma"/>
            </a:endParaRPr>
          </a:p>
          <a:p>
            <a:pPr marL="393065">
              <a:lnSpc>
                <a:spcPts val="2365"/>
              </a:lnSpc>
            </a:pPr>
            <a:r>
              <a:rPr sz="2100" spc="-35" dirty="0">
                <a:solidFill>
                  <a:srgbClr val="FF0000"/>
                </a:solidFill>
                <a:latin typeface="Tahoma"/>
                <a:cs typeface="Tahoma"/>
              </a:rPr>
              <a:t>clés</a:t>
            </a:r>
            <a:r>
              <a:rPr sz="2100" spc="-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≤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FBM</a:t>
            </a:r>
            <a:r>
              <a:rPr sz="1950" spc="-30" baseline="-21367" dirty="0">
                <a:latin typeface="Tahoma"/>
                <a:cs typeface="Tahoma"/>
              </a:rPr>
              <a:t>f</a:t>
            </a:r>
            <a:endParaRPr sz="1950" baseline="-21367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12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000" dirty="0">
                <a:latin typeface="Tahoma"/>
                <a:cs typeface="Tahoma"/>
              </a:rPr>
              <a:t>2.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triées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 i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&lt;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j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ahoma"/>
                <a:cs typeface="Tahoma"/>
              </a:rPr>
              <a:t>C</a:t>
            </a:r>
            <a:r>
              <a:rPr sz="1950" baseline="-21367" dirty="0">
                <a:latin typeface="Tahoma"/>
                <a:cs typeface="Tahoma"/>
              </a:rPr>
              <a:t>i</a:t>
            </a:r>
            <a:r>
              <a:rPr sz="1950" spc="-22" baseline="-21367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&lt;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C</a:t>
            </a:r>
            <a:r>
              <a:rPr sz="1950" spc="-37" baseline="-21367" dirty="0">
                <a:latin typeface="Tahoma"/>
                <a:cs typeface="Tahoma"/>
              </a:rPr>
              <a:t>j</a:t>
            </a:r>
            <a:endParaRPr sz="1950" baseline="-213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65064" y="1737438"/>
            <a:ext cx="309181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000" spc="-10" dirty="0">
                <a:latin typeface="Symbol"/>
                <a:cs typeface="Symbol"/>
              </a:rPr>
              <a:t></a:t>
            </a:r>
            <a:r>
              <a:rPr sz="2100" spc="-10" dirty="0">
                <a:latin typeface="Tahoma"/>
                <a:cs typeface="Tahoma"/>
              </a:rPr>
              <a:t>FBM</a:t>
            </a:r>
            <a:r>
              <a:rPr sz="1950" spc="-15" baseline="-21367" dirty="0">
                <a:latin typeface="Tahoma"/>
                <a:cs typeface="Tahoma"/>
              </a:rPr>
              <a:t>f</a:t>
            </a:r>
            <a:r>
              <a:rPr sz="2000" spc="-10" dirty="0">
                <a:latin typeface="Tahoma"/>
                <a:cs typeface="Tahoma"/>
              </a:rPr>
              <a:t>/2</a:t>
            </a:r>
            <a:r>
              <a:rPr sz="2000" spc="-10" dirty="0">
                <a:latin typeface="Symbol"/>
                <a:cs typeface="Symbol"/>
              </a:rPr>
              <a:t>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ahoma"/>
                <a:cs typeface="Tahoma"/>
              </a:rPr>
              <a:t>≤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</a:t>
            </a:r>
            <a:r>
              <a:rPr sz="21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=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100" spc="-45" dirty="0">
                <a:solidFill>
                  <a:srgbClr val="FF0000"/>
                </a:solidFill>
                <a:latin typeface="Tahoma"/>
                <a:cs typeface="Tahoma"/>
              </a:rPr>
              <a:t>nombre</a:t>
            </a:r>
            <a:r>
              <a:rPr sz="21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100" spc="-25" dirty="0">
                <a:solidFill>
                  <a:srgbClr val="FF0000"/>
                </a:solidFill>
                <a:latin typeface="Tahoma"/>
                <a:cs typeface="Tahoma"/>
              </a:rPr>
              <a:t>de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854" y="3004185"/>
            <a:ext cx="503428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  <a:tab pos="2960370" algn="l"/>
              </a:tabLst>
            </a:pPr>
            <a:r>
              <a:rPr sz="2000" dirty="0">
                <a:latin typeface="Tahoma"/>
                <a:cs typeface="Tahoma"/>
              </a:rPr>
              <a:t>3.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d'une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feuille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&lt;</a:t>
            </a:r>
            <a:r>
              <a:rPr sz="2000" dirty="0">
                <a:latin typeface="Tahoma"/>
                <a:cs typeface="Tahoma"/>
              </a:rPr>
              <a:t>	clés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10" dirty="0">
                <a:latin typeface="Tahoma"/>
                <a:cs typeface="Tahoma"/>
              </a:rPr>
              <a:t> suivante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4.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Au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même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niveau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(équilibré)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054" y="5202428"/>
            <a:ext cx="6660515" cy="130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indent="-342265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05765" algn="l"/>
              </a:tabLst>
            </a:pP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21367" dirty="0">
                <a:latin typeface="Arial MT"/>
                <a:cs typeface="Arial MT"/>
              </a:rPr>
              <a:t>i</a:t>
            </a:r>
            <a:r>
              <a:rPr sz="1950" spc="270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5" dirty="0">
                <a:latin typeface="Arial MT"/>
                <a:cs typeface="Arial MT"/>
              </a:rPr>
              <a:t> Clé</a:t>
            </a:r>
            <a:endParaRPr sz="2000">
              <a:latin typeface="Arial MT"/>
              <a:cs typeface="Arial MT"/>
            </a:endParaRPr>
          </a:p>
          <a:p>
            <a:pPr marL="405765" indent="-342265">
              <a:lnSpc>
                <a:spcPct val="100000"/>
              </a:lnSpc>
              <a:spcBef>
                <a:spcPts val="14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05765" algn="l"/>
              </a:tabLst>
            </a:pPr>
            <a:r>
              <a:rPr sz="2000" dirty="0">
                <a:latin typeface="Arial MT"/>
                <a:cs typeface="Arial MT"/>
              </a:rPr>
              <a:t>R</a:t>
            </a:r>
            <a:r>
              <a:rPr sz="1950" baseline="-21367" dirty="0">
                <a:latin typeface="Arial MT"/>
                <a:cs typeface="Arial MT"/>
              </a:rPr>
              <a:t>i</a:t>
            </a:r>
            <a:r>
              <a:rPr sz="1950" spc="254" baseline="-2136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l'enregistrement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</a:t>
            </a:r>
            <a:r>
              <a:rPr sz="2000" spc="-10" dirty="0">
                <a:latin typeface="Arial MT"/>
                <a:cs typeface="Arial MT"/>
              </a:rPr>
              <a:t> référence</a:t>
            </a:r>
            <a:endParaRPr sz="2000">
              <a:latin typeface="Arial MT"/>
              <a:cs typeface="Arial MT"/>
            </a:endParaRPr>
          </a:p>
          <a:p>
            <a:pPr marL="405765" indent="-342265">
              <a:lnSpc>
                <a:spcPct val="100000"/>
              </a:lnSpc>
              <a:spcBef>
                <a:spcPts val="145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05765" algn="l"/>
              </a:tabLst>
            </a:pPr>
            <a:r>
              <a:rPr sz="2000" dirty="0">
                <a:latin typeface="Arial MT"/>
                <a:cs typeface="Arial MT"/>
              </a:rPr>
              <a:t>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Pointeur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bloc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suivant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feuilles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39554" y="3911212"/>
          <a:ext cx="5028564" cy="83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838200"/>
                <a:gridCol w="1675764"/>
                <a:gridCol w="838200"/>
                <a:gridCol w="838200"/>
              </a:tblGrid>
              <a:tr h="835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67970">
                        <a:lnSpc>
                          <a:spcPct val="100000"/>
                        </a:lnSpc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2175" spc="-37" baseline="-28735" dirty="0">
                          <a:latin typeface="Arial MT"/>
                          <a:cs typeface="Arial MT"/>
                        </a:rPr>
                        <a:t>1</a:t>
                      </a:r>
                      <a:endParaRPr sz="2175" baseline="-2873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67970">
                        <a:lnSpc>
                          <a:spcPct val="100000"/>
                        </a:lnSpc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2175" spc="-37" baseline="-28735" dirty="0">
                          <a:latin typeface="Arial MT"/>
                          <a:cs typeface="Arial MT"/>
                        </a:rPr>
                        <a:t>1</a:t>
                      </a:r>
                      <a:endParaRPr sz="2175" baseline="-2873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...</a:t>
                      </a:r>
                      <a:endParaRPr sz="2200">
                        <a:latin typeface="Arial MT"/>
                        <a:cs typeface="Arial MT"/>
                      </a:endParaRPr>
                    </a:p>
                  </a:txBody>
                  <a:tcPr marL="0" marR="0" marT="2222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67970">
                        <a:lnSpc>
                          <a:spcPct val="100000"/>
                        </a:lnSpc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2175" spc="-37" baseline="-28735" dirty="0">
                          <a:latin typeface="Arial MT"/>
                          <a:cs typeface="Arial MT"/>
                        </a:rPr>
                        <a:t>n</a:t>
                      </a:r>
                      <a:endParaRPr sz="2175" baseline="-2873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67970">
                        <a:lnSpc>
                          <a:spcPct val="100000"/>
                        </a:lnSpc>
                      </a:pPr>
                      <a:r>
                        <a:rPr sz="2200" spc="-25" dirty="0">
                          <a:latin typeface="Arial MT"/>
                          <a:cs typeface="Arial MT"/>
                        </a:rPr>
                        <a:t>R</a:t>
                      </a:r>
                      <a:r>
                        <a:rPr sz="2175" spc="-37" baseline="-28735" dirty="0">
                          <a:latin typeface="Arial MT"/>
                          <a:cs typeface="Arial MT"/>
                        </a:rPr>
                        <a:t>n</a:t>
                      </a:r>
                      <a:endParaRPr sz="2175" baseline="-2873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653609" y="3919570"/>
            <a:ext cx="838835" cy="836294"/>
          </a:xfrm>
          <a:prstGeom prst="rect">
            <a:avLst/>
          </a:prstGeom>
          <a:ln w="16715">
            <a:solidFill>
              <a:srgbClr val="000000"/>
            </a:solidFill>
          </a:ln>
        </p:spPr>
        <p:txBody>
          <a:bodyPr vert="horz" wrap="square" lIns="0" tIns="22225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750"/>
              </a:spcBef>
            </a:pPr>
            <a:r>
              <a:rPr sz="2200" spc="-50" dirty="0">
                <a:latin typeface="Arial MT"/>
                <a:cs typeface="Arial MT"/>
              </a:rPr>
              <a:t>S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7542" y="3919570"/>
            <a:ext cx="1676136" cy="83567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38958" y="3962459"/>
            <a:ext cx="957580" cy="694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7645" marR="5080" indent="-1955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rial MT"/>
                <a:cs typeface="Arial MT"/>
              </a:rPr>
              <a:t>Espace libre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9136" y="324992"/>
            <a:ext cx="48196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Structure</a:t>
            </a:r>
            <a:r>
              <a:rPr sz="2800" b="1" spc="-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d’un</a:t>
            </a:r>
            <a:r>
              <a:rPr sz="2800" b="1" spc="-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bloc</a:t>
            </a:r>
            <a:r>
              <a:rPr sz="28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interne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254" y="1360940"/>
            <a:ext cx="7414895" cy="2364740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63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latin typeface="Tahoma"/>
                <a:cs typeface="Tahoma"/>
              </a:rPr>
              <a:t>1.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Rempli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à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moitié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minimum:</a:t>
            </a:r>
            <a:endParaRPr sz="2400">
              <a:latin typeface="Tahoma"/>
              <a:cs typeface="Tahoma"/>
            </a:endParaRPr>
          </a:p>
          <a:p>
            <a:pPr marL="874394" lvl="1" indent="-379730">
              <a:lnSpc>
                <a:spcPct val="100000"/>
              </a:lnSpc>
              <a:spcBef>
                <a:spcPts val="165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874394" algn="l"/>
              </a:tabLst>
            </a:pPr>
            <a:r>
              <a:rPr sz="2400" spc="-20" dirty="0">
                <a:latin typeface="Symbol"/>
                <a:cs typeface="Symbol"/>
              </a:rPr>
              <a:t></a:t>
            </a:r>
            <a:r>
              <a:rPr sz="2500" spc="-20" dirty="0">
                <a:latin typeface="Tahoma"/>
                <a:cs typeface="Tahoma"/>
              </a:rPr>
              <a:t>Ordre</a:t>
            </a:r>
            <a:r>
              <a:rPr sz="2475" spc="-30" baseline="-20202" dirty="0">
                <a:latin typeface="Tahoma"/>
                <a:cs typeface="Tahoma"/>
              </a:rPr>
              <a:t>I</a:t>
            </a:r>
            <a:r>
              <a:rPr sz="2475" spc="217" baseline="-20202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/2</a:t>
            </a:r>
            <a:r>
              <a:rPr sz="2400" dirty="0">
                <a:latin typeface="Symbol"/>
                <a:cs typeface="Symbol"/>
              </a:rPr>
              <a:t>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≤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n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=</a:t>
            </a:r>
            <a:r>
              <a:rPr sz="2500" spc="-105" dirty="0"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FF0000"/>
                </a:solidFill>
                <a:latin typeface="Tahoma"/>
                <a:cs typeface="Tahoma"/>
              </a:rPr>
              <a:t>nombre</a:t>
            </a:r>
            <a:r>
              <a:rPr sz="2500" spc="-1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500" dirty="0">
                <a:solidFill>
                  <a:srgbClr val="FF0000"/>
                </a:solidFill>
                <a:latin typeface="Tahoma"/>
                <a:cs typeface="Tahoma"/>
              </a:rPr>
              <a:t>de</a:t>
            </a:r>
            <a:r>
              <a:rPr sz="2500" spc="-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500" spc="-40" dirty="0">
                <a:solidFill>
                  <a:srgbClr val="FF0000"/>
                </a:solidFill>
                <a:latin typeface="Tahoma"/>
                <a:cs typeface="Tahoma"/>
              </a:rPr>
              <a:t>pointeurs</a:t>
            </a:r>
            <a:r>
              <a:rPr sz="2500" spc="-1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≤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Ordre</a:t>
            </a:r>
            <a:r>
              <a:rPr sz="2475" spc="-15" baseline="-20202" dirty="0">
                <a:latin typeface="Tahoma"/>
                <a:cs typeface="Tahoma"/>
              </a:rPr>
              <a:t>I</a:t>
            </a:r>
            <a:endParaRPr sz="2475" baseline="-20202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165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Clés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triées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ahoma"/>
                <a:cs typeface="Tahoma"/>
              </a:rPr>
              <a:t>C</a:t>
            </a:r>
            <a:r>
              <a:rPr sz="2400" baseline="-20833" dirty="0">
                <a:latin typeface="Tahoma"/>
                <a:cs typeface="Tahoma"/>
              </a:rPr>
              <a:t>i</a:t>
            </a:r>
            <a:r>
              <a:rPr sz="2400" spc="-30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C</a:t>
            </a:r>
            <a:r>
              <a:rPr sz="2400" spc="-37" baseline="-20833" dirty="0">
                <a:latin typeface="Tahoma"/>
                <a:cs typeface="Tahoma"/>
              </a:rPr>
              <a:t>j</a:t>
            </a:r>
            <a:endParaRPr sz="2400" baseline="-20833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16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latin typeface="Tahoma"/>
                <a:cs typeface="Tahoma"/>
              </a:rPr>
              <a:t>3.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500" spc="-35" dirty="0">
                <a:latin typeface="Tahoma"/>
                <a:cs typeface="Tahoma"/>
              </a:rPr>
              <a:t>C</a:t>
            </a:r>
            <a:r>
              <a:rPr sz="2400" spc="-52" baseline="-20833" dirty="0">
                <a:latin typeface="Tahoma"/>
                <a:cs typeface="Tahoma"/>
              </a:rPr>
              <a:t>i-</a:t>
            </a:r>
            <a:r>
              <a:rPr sz="2400" baseline="-20833" dirty="0">
                <a:latin typeface="Tahoma"/>
                <a:cs typeface="Tahoma"/>
              </a:rPr>
              <a:t>1</a:t>
            </a:r>
            <a:r>
              <a:rPr sz="2400" spc="375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Clés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sous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500" spc="-35" dirty="0">
                <a:latin typeface="Tahoma"/>
                <a:cs typeface="Tahoma"/>
              </a:rPr>
              <a:t>P</a:t>
            </a:r>
            <a:r>
              <a:rPr sz="2400" spc="-52" baseline="-20833" dirty="0">
                <a:latin typeface="Tahoma"/>
                <a:cs typeface="Tahoma"/>
              </a:rPr>
              <a:t>i-</a:t>
            </a:r>
            <a:r>
              <a:rPr sz="2400" baseline="-20833" dirty="0">
                <a:latin typeface="Tahoma"/>
                <a:cs typeface="Tahoma"/>
              </a:rPr>
              <a:t>1</a:t>
            </a:r>
            <a:r>
              <a:rPr sz="2400" spc="375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C</a:t>
            </a:r>
            <a:r>
              <a:rPr sz="2400" spc="-37" baseline="-20833" dirty="0">
                <a:latin typeface="Tahoma"/>
                <a:cs typeface="Tahoma"/>
              </a:rPr>
              <a:t>i</a:t>
            </a:r>
            <a:endParaRPr sz="2400" baseline="-20833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1606" y="3901597"/>
          <a:ext cx="6690359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75"/>
                <a:gridCol w="257175"/>
                <a:gridCol w="514350"/>
                <a:gridCol w="514984"/>
                <a:gridCol w="1028700"/>
                <a:gridCol w="514985"/>
                <a:gridCol w="257810"/>
                <a:gridCol w="257810"/>
                <a:gridCol w="514985"/>
                <a:gridCol w="1028700"/>
                <a:gridCol w="514985"/>
                <a:gridCol w="514350"/>
                <a:gridCol w="257175"/>
                <a:gridCol w="257175"/>
              </a:tblGrid>
              <a:tr h="51371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37" baseline="-27777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27777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350" spc="-37" baseline="-27777" dirty="0">
                          <a:latin typeface="Arial MT"/>
                          <a:cs typeface="Arial MT"/>
                        </a:rPr>
                        <a:t>1</a:t>
                      </a:r>
                      <a:endParaRPr sz="1350" baseline="-27777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37" baseline="-27777" dirty="0">
                          <a:latin typeface="Arial MT"/>
                          <a:cs typeface="Arial MT"/>
                        </a:rPr>
                        <a:t>2</a:t>
                      </a:r>
                      <a:endParaRPr sz="1350" baseline="-27777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...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2025" spc="-15" baseline="18518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i-</a:t>
                      </a:r>
                      <a:r>
                        <a:rPr sz="900" spc="-6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025" spc="-15" baseline="18518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i-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350" spc="-37" baseline="-27777" dirty="0">
                          <a:latin typeface="Arial MT"/>
                          <a:cs typeface="Arial MT"/>
                        </a:rPr>
                        <a:t>i</a:t>
                      </a:r>
                      <a:endParaRPr sz="1350" baseline="-27777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...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9380">
                        <a:lnSpc>
                          <a:spcPct val="100000"/>
                        </a:lnSpc>
                      </a:pPr>
                      <a:r>
                        <a:rPr sz="2025" spc="-30" baseline="18518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900" spc="-20" dirty="0">
                          <a:latin typeface="Arial MT"/>
                          <a:cs typeface="Arial MT"/>
                        </a:rPr>
                        <a:t>n-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2025" spc="-15" baseline="18518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900" spc="-10" dirty="0">
                          <a:latin typeface="Arial MT"/>
                          <a:cs typeface="Arial MT"/>
                        </a:rPr>
                        <a:t>n-</a:t>
                      </a:r>
                      <a:r>
                        <a:rPr sz="900" spc="-50" dirty="0">
                          <a:latin typeface="Arial MT"/>
                          <a:cs typeface="Arial MT"/>
                        </a:rPr>
                        <a:t>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70815">
                        <a:lnSpc>
                          <a:spcPct val="100000"/>
                        </a:lnSpc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P</a:t>
                      </a:r>
                      <a:r>
                        <a:rPr sz="1350" spc="-37" baseline="-27777" dirty="0">
                          <a:latin typeface="Arial MT"/>
                          <a:cs typeface="Arial MT"/>
                        </a:rPr>
                        <a:t>n</a:t>
                      </a:r>
                      <a:endParaRPr sz="1350" baseline="-27777">
                        <a:latin typeface="Arial MT"/>
                        <a:cs typeface="Arial M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31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410174" y="4934355"/>
            <a:ext cx="2057400" cy="1028065"/>
          </a:xfrm>
          <a:custGeom>
            <a:avLst/>
            <a:gdLst/>
            <a:ahLst/>
            <a:cxnLst/>
            <a:rect l="l" t="t" r="r" b="b"/>
            <a:pathLst>
              <a:path w="2057400" h="1028064">
                <a:moveTo>
                  <a:pt x="2056862" y="1027705"/>
                </a:moveTo>
                <a:lnTo>
                  <a:pt x="1028502" y="0"/>
                </a:lnTo>
                <a:lnTo>
                  <a:pt x="0" y="1027705"/>
                </a:lnTo>
              </a:path>
              <a:path w="2057400" h="1028064">
                <a:moveTo>
                  <a:pt x="0" y="1027705"/>
                </a:moveTo>
                <a:lnTo>
                  <a:pt x="2056862" y="1027705"/>
                </a:lnTo>
              </a:path>
            </a:pathLst>
          </a:custGeom>
          <a:ln w="102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20723" y="5541700"/>
            <a:ext cx="10852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C</a:t>
            </a:r>
            <a:r>
              <a:rPr sz="1350" spc="-15" baseline="-27777" dirty="0">
                <a:latin typeface="Arial MT"/>
                <a:cs typeface="Arial MT"/>
              </a:rPr>
              <a:t>i-</a:t>
            </a:r>
            <a:r>
              <a:rPr sz="1350" baseline="-27777" dirty="0">
                <a:latin typeface="Arial MT"/>
                <a:cs typeface="Arial MT"/>
              </a:rPr>
              <a:t>1</a:t>
            </a:r>
            <a:r>
              <a:rPr sz="1350" spc="157" baseline="-27777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&lt;=</a:t>
            </a:r>
            <a:r>
              <a:rPr sz="1350" spc="-1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C &lt;</a:t>
            </a:r>
            <a:r>
              <a:rPr sz="1350" spc="-10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C</a:t>
            </a:r>
            <a:r>
              <a:rPr sz="1350" spc="-37" baseline="-27777" dirty="0">
                <a:latin typeface="Arial MT"/>
                <a:cs typeface="Arial MT"/>
              </a:rPr>
              <a:t>i</a:t>
            </a:r>
            <a:endParaRPr sz="1350" baseline="-27777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0452" y="3906735"/>
            <a:ext cx="1028402" cy="51401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997722" y="3928145"/>
            <a:ext cx="5975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 marR="5080" indent="-120014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Espace libre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94084" y="484207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10" h="92710">
                <a:moveTo>
                  <a:pt x="92473" y="0"/>
                </a:moveTo>
                <a:lnTo>
                  <a:pt x="0" y="0"/>
                </a:lnTo>
                <a:lnTo>
                  <a:pt x="44593" y="92277"/>
                </a:lnTo>
                <a:lnTo>
                  <a:pt x="924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5361" y="4934355"/>
            <a:ext cx="2056764" cy="1028065"/>
          </a:xfrm>
          <a:custGeom>
            <a:avLst/>
            <a:gdLst/>
            <a:ahLst/>
            <a:cxnLst/>
            <a:rect l="l" t="t" r="r" b="b"/>
            <a:pathLst>
              <a:path w="2056764" h="1028064">
                <a:moveTo>
                  <a:pt x="2056739" y="1027705"/>
                </a:moveTo>
                <a:lnTo>
                  <a:pt x="1028408" y="0"/>
                </a:lnTo>
                <a:lnTo>
                  <a:pt x="0" y="1027705"/>
                </a:lnTo>
              </a:path>
              <a:path w="2056764" h="1028064">
                <a:moveTo>
                  <a:pt x="0" y="1027705"/>
                </a:moveTo>
                <a:lnTo>
                  <a:pt x="2056739" y="1027705"/>
                </a:lnTo>
              </a:path>
            </a:pathLst>
          </a:custGeom>
          <a:ln w="102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5504" y="5541700"/>
            <a:ext cx="58166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C</a:t>
            </a:r>
            <a:r>
              <a:rPr sz="1350" spc="-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&lt;</a:t>
            </a:r>
            <a:r>
              <a:rPr sz="1350" spc="-5" dirty="0">
                <a:latin typeface="Arial MT"/>
                <a:cs typeface="Arial MT"/>
              </a:rPr>
              <a:t> </a:t>
            </a:r>
            <a:r>
              <a:rPr sz="1350" spc="-35" dirty="0">
                <a:latin typeface="Arial MT"/>
                <a:cs typeface="Arial MT"/>
              </a:rPr>
              <a:t>C</a:t>
            </a:r>
            <a:r>
              <a:rPr sz="1350" spc="-52" baseline="-27777" dirty="0">
                <a:latin typeface="Arial MT"/>
                <a:cs typeface="Arial MT"/>
              </a:rPr>
              <a:t>1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09219" y="484207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92516" y="0"/>
                </a:moveTo>
                <a:lnTo>
                  <a:pt x="0" y="0"/>
                </a:lnTo>
                <a:lnTo>
                  <a:pt x="44550" y="92277"/>
                </a:lnTo>
                <a:lnTo>
                  <a:pt x="92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95396" y="4934355"/>
            <a:ext cx="2056764" cy="1028065"/>
          </a:xfrm>
          <a:custGeom>
            <a:avLst/>
            <a:gdLst/>
            <a:ahLst/>
            <a:cxnLst/>
            <a:rect l="l" t="t" r="r" b="b"/>
            <a:pathLst>
              <a:path w="2056765" h="1028064">
                <a:moveTo>
                  <a:pt x="2056576" y="1027705"/>
                </a:moveTo>
                <a:lnTo>
                  <a:pt x="1028073" y="0"/>
                </a:lnTo>
                <a:lnTo>
                  <a:pt x="0" y="1027705"/>
                </a:lnTo>
              </a:path>
              <a:path w="2056765" h="1028064">
                <a:moveTo>
                  <a:pt x="0" y="1027705"/>
                </a:moveTo>
                <a:lnTo>
                  <a:pt x="2056576" y="1027705"/>
                </a:lnTo>
              </a:path>
            </a:pathLst>
          </a:custGeom>
          <a:ln w="102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59877" y="5541700"/>
            <a:ext cx="77914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C</a:t>
            </a:r>
            <a:r>
              <a:rPr sz="1350" spc="-15" baseline="-27777" dirty="0">
                <a:latin typeface="Arial MT"/>
                <a:cs typeface="Arial MT"/>
              </a:rPr>
              <a:t>n-</a:t>
            </a:r>
            <a:r>
              <a:rPr sz="1350" baseline="-27777" dirty="0">
                <a:latin typeface="Arial MT"/>
                <a:cs typeface="Arial MT"/>
              </a:rPr>
              <a:t>1</a:t>
            </a:r>
            <a:r>
              <a:rPr sz="1350" spc="150" baseline="-27777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&lt;=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C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479020" y="4842078"/>
            <a:ext cx="92710" cy="92710"/>
          </a:xfrm>
          <a:custGeom>
            <a:avLst/>
            <a:gdLst/>
            <a:ahLst/>
            <a:cxnLst/>
            <a:rect l="l" t="t" r="r" b="b"/>
            <a:pathLst>
              <a:path w="92709" h="92710">
                <a:moveTo>
                  <a:pt x="92473" y="0"/>
                </a:moveTo>
                <a:lnTo>
                  <a:pt x="0" y="0"/>
                </a:lnTo>
                <a:lnTo>
                  <a:pt x="44450" y="92277"/>
                </a:lnTo>
                <a:lnTo>
                  <a:pt x="924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3166" y="635888"/>
            <a:ext cx="29813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Rechercher</a:t>
            </a:r>
            <a:r>
              <a:rPr sz="32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43</a:t>
            </a:r>
            <a:endParaRPr sz="32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9005" y="4836741"/>
          <a:ext cx="1347470" cy="23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35"/>
                <a:gridCol w="139065"/>
                <a:gridCol w="277495"/>
                <a:gridCol w="140970"/>
                <a:gridCol w="277495"/>
                <a:gridCol w="138430"/>
                <a:gridCol w="93980"/>
              </a:tblGrid>
              <a:tr h="12065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10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20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18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90221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2637" y="3879168"/>
            <a:ext cx="381000" cy="248920"/>
            <a:chOff x="2422637" y="3879168"/>
            <a:chExt cx="381000" cy="248920"/>
          </a:xfrm>
        </p:grpSpPr>
        <p:sp>
          <p:nvSpPr>
            <p:cNvPr id="6" name="object 6"/>
            <p:cNvSpPr/>
            <p:nvPr/>
          </p:nvSpPr>
          <p:spPr>
            <a:xfrm>
              <a:off x="2426765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94388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388" y="239242"/>
                  </a:lnTo>
                  <a:lnTo>
                    <a:pt x="9438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26765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0" y="239242"/>
                  </a:moveTo>
                  <a:lnTo>
                    <a:pt x="94388" y="239242"/>
                  </a:lnTo>
                  <a:lnTo>
                    <a:pt x="94388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1205" y="3883930"/>
              <a:ext cx="277495" cy="239395"/>
            </a:xfrm>
            <a:custGeom>
              <a:avLst/>
              <a:gdLst/>
              <a:ahLst/>
              <a:cxnLst/>
              <a:rect l="l" t="t" r="r" b="b"/>
              <a:pathLst>
                <a:path w="277494" h="239395">
                  <a:moveTo>
                    <a:pt x="277472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277472" y="239242"/>
                  </a:lnTo>
                  <a:lnTo>
                    <a:pt x="27747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21205" y="3883930"/>
              <a:ext cx="277495" cy="239395"/>
            </a:xfrm>
            <a:custGeom>
              <a:avLst/>
              <a:gdLst/>
              <a:ahLst/>
              <a:cxnLst/>
              <a:rect l="l" t="t" r="r" b="b"/>
              <a:pathLst>
                <a:path w="277494" h="239395">
                  <a:moveTo>
                    <a:pt x="0" y="239242"/>
                  </a:moveTo>
                  <a:lnTo>
                    <a:pt x="277472" y="239242"/>
                  </a:lnTo>
                  <a:lnTo>
                    <a:pt x="277472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8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525634" y="3880533"/>
            <a:ext cx="268605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25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4509" y="3879803"/>
            <a:ext cx="102870" cy="247650"/>
            <a:chOff x="2794509" y="3879803"/>
            <a:chExt cx="102870" cy="247650"/>
          </a:xfrm>
        </p:grpSpPr>
        <p:sp>
          <p:nvSpPr>
            <p:cNvPr id="12" name="object 12"/>
            <p:cNvSpPr/>
            <p:nvPr/>
          </p:nvSpPr>
          <p:spPr>
            <a:xfrm>
              <a:off x="2798636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98636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92772" y="3883930"/>
            <a:ext cx="278130" cy="239395"/>
          </a:xfrm>
          <a:prstGeom prst="rect">
            <a:avLst/>
          </a:prstGeom>
          <a:solidFill>
            <a:srgbClr val="FFFF00"/>
          </a:solidFill>
          <a:ln w="891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80"/>
              </a:spcBef>
            </a:pPr>
            <a:r>
              <a:rPr sz="1250" spc="-25" dirty="0"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66380" y="3879168"/>
            <a:ext cx="381000" cy="248920"/>
            <a:chOff x="3166380" y="3879168"/>
            <a:chExt cx="381000" cy="248920"/>
          </a:xfrm>
        </p:grpSpPr>
        <p:sp>
          <p:nvSpPr>
            <p:cNvPr id="16" name="object 16"/>
            <p:cNvSpPr/>
            <p:nvPr/>
          </p:nvSpPr>
          <p:spPr>
            <a:xfrm>
              <a:off x="3170508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70508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64638" y="3883930"/>
              <a:ext cx="277495" cy="239395"/>
            </a:xfrm>
            <a:custGeom>
              <a:avLst/>
              <a:gdLst/>
              <a:ahLst/>
              <a:cxnLst/>
              <a:rect l="l" t="t" r="r" b="b"/>
              <a:pathLst>
                <a:path w="277495" h="239395">
                  <a:moveTo>
                    <a:pt x="277472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277472" y="239242"/>
                  </a:lnTo>
                  <a:lnTo>
                    <a:pt x="27747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64638" y="3883930"/>
              <a:ext cx="277495" cy="239395"/>
            </a:xfrm>
            <a:custGeom>
              <a:avLst/>
              <a:gdLst/>
              <a:ahLst/>
              <a:cxnLst/>
              <a:rect l="l" t="t" r="r" b="b"/>
              <a:pathLst>
                <a:path w="277495" h="239395">
                  <a:moveTo>
                    <a:pt x="0" y="239242"/>
                  </a:moveTo>
                  <a:lnTo>
                    <a:pt x="277472" y="239242"/>
                  </a:lnTo>
                  <a:lnTo>
                    <a:pt x="277472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86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269098" y="3880533"/>
            <a:ext cx="268605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45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537942" y="3879803"/>
            <a:ext cx="102870" cy="247650"/>
            <a:chOff x="3537942" y="3879803"/>
            <a:chExt cx="102870" cy="247650"/>
          </a:xfrm>
        </p:grpSpPr>
        <p:sp>
          <p:nvSpPr>
            <p:cNvPr id="22" name="object 22"/>
            <p:cNvSpPr/>
            <p:nvPr/>
          </p:nvSpPr>
          <p:spPr>
            <a:xfrm>
              <a:off x="3542070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42070" y="3883930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5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473580" y="3641291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2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25658" y="4000670"/>
            <a:ext cx="1724660" cy="728980"/>
            <a:chOff x="1125658" y="4000670"/>
            <a:chExt cx="1724660" cy="728980"/>
          </a:xfrm>
        </p:grpSpPr>
        <p:sp>
          <p:nvSpPr>
            <p:cNvPr id="26" name="object 26"/>
            <p:cNvSpPr/>
            <p:nvPr/>
          </p:nvSpPr>
          <p:spPr>
            <a:xfrm>
              <a:off x="1180163" y="4005302"/>
              <a:ext cx="1294130" cy="686435"/>
            </a:xfrm>
            <a:custGeom>
              <a:avLst/>
              <a:gdLst/>
              <a:ahLst/>
              <a:cxnLst/>
              <a:rect l="l" t="t" r="r" b="b"/>
              <a:pathLst>
                <a:path w="1294130" h="686435">
                  <a:moveTo>
                    <a:pt x="1293718" y="0"/>
                  </a:moveTo>
                  <a:lnTo>
                    <a:pt x="0" y="685866"/>
                  </a:lnTo>
                </a:path>
              </a:pathLst>
            </a:custGeom>
            <a:ln w="91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25658" y="4649753"/>
              <a:ext cx="74930" cy="80010"/>
            </a:xfrm>
            <a:custGeom>
              <a:avLst/>
              <a:gdLst/>
              <a:ahLst/>
              <a:cxnLst/>
              <a:rect l="l" t="t" r="r" b="b"/>
              <a:pathLst>
                <a:path w="74930" h="80010">
                  <a:moveTo>
                    <a:pt x="49555" y="0"/>
                  </a:moveTo>
                  <a:lnTo>
                    <a:pt x="0" y="73261"/>
                  </a:lnTo>
                  <a:lnTo>
                    <a:pt x="74322" y="79636"/>
                  </a:lnTo>
                  <a:lnTo>
                    <a:pt x="495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85621" y="4005302"/>
              <a:ext cx="560705" cy="663575"/>
            </a:xfrm>
            <a:custGeom>
              <a:avLst/>
              <a:gdLst/>
              <a:ahLst/>
              <a:cxnLst/>
              <a:rect l="l" t="t" r="r" b="b"/>
              <a:pathLst>
                <a:path w="560705" h="663575">
                  <a:moveTo>
                    <a:pt x="560132" y="0"/>
                  </a:moveTo>
                  <a:lnTo>
                    <a:pt x="0" y="663561"/>
                  </a:lnTo>
                </a:path>
              </a:pathLst>
            </a:custGeom>
            <a:ln w="83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40984" y="4630642"/>
              <a:ext cx="72390" cy="92710"/>
            </a:xfrm>
            <a:custGeom>
              <a:avLst/>
              <a:gdLst/>
              <a:ahLst/>
              <a:cxnLst/>
              <a:rect l="l" t="t" r="r" b="b"/>
              <a:pathLst>
                <a:path w="72389" h="92710">
                  <a:moveTo>
                    <a:pt x="27278" y="0"/>
                  </a:moveTo>
                  <a:lnTo>
                    <a:pt x="0" y="92372"/>
                  </a:lnTo>
                  <a:lnTo>
                    <a:pt x="71811" y="63706"/>
                  </a:lnTo>
                  <a:lnTo>
                    <a:pt x="27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5958" y="4837275"/>
            <a:ext cx="189706" cy="247093"/>
          </a:xfrm>
          <a:prstGeom prst="rect">
            <a:avLst/>
          </a:prstGeom>
        </p:spPr>
      </p:pic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678872" y="4836741"/>
          <a:ext cx="1253488" cy="23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035"/>
                <a:gridCol w="138430"/>
                <a:gridCol w="279400"/>
                <a:gridCol w="138430"/>
                <a:gridCol w="276859"/>
                <a:gridCol w="140334"/>
              </a:tblGrid>
              <a:tr h="23876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25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30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1730044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3</a:t>
            </a:r>
            <a:endParaRPr sz="1250">
              <a:latin typeface="Arial MT"/>
              <a:cs typeface="Arial MT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121209" y="4836741"/>
          <a:ext cx="1343658" cy="23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38429"/>
                <a:gridCol w="280034"/>
                <a:gridCol w="138430"/>
                <a:gridCol w="279400"/>
                <a:gridCol w="138430"/>
                <a:gridCol w="91440"/>
              </a:tblGrid>
              <a:tr h="12065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43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44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18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3170207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1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616479" y="4917660"/>
            <a:ext cx="67310" cy="86360"/>
          </a:xfrm>
          <a:custGeom>
            <a:avLst/>
            <a:gdLst/>
            <a:ahLst/>
            <a:cxnLst/>
            <a:rect l="l" t="t" r="r" b="b"/>
            <a:pathLst>
              <a:path w="67310" h="86360">
                <a:moveTo>
                  <a:pt x="0" y="0"/>
                </a:moveTo>
                <a:lnTo>
                  <a:pt x="0" y="86009"/>
                </a:lnTo>
                <a:lnTo>
                  <a:pt x="66852" y="445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3213180" y="4000539"/>
            <a:ext cx="2049145" cy="735330"/>
            <a:chOff x="3213180" y="4000539"/>
            <a:chExt cx="2049145" cy="735330"/>
          </a:xfrm>
        </p:grpSpPr>
        <p:sp>
          <p:nvSpPr>
            <p:cNvPr id="37" name="object 37"/>
            <p:cNvSpPr/>
            <p:nvPr/>
          </p:nvSpPr>
          <p:spPr>
            <a:xfrm>
              <a:off x="3217625" y="4005302"/>
              <a:ext cx="471170" cy="660400"/>
            </a:xfrm>
            <a:custGeom>
              <a:avLst/>
              <a:gdLst/>
              <a:ahLst/>
              <a:cxnLst/>
              <a:rect l="l" t="t" r="r" b="b"/>
              <a:pathLst>
                <a:path w="471170" h="660400">
                  <a:moveTo>
                    <a:pt x="0" y="0"/>
                  </a:moveTo>
                  <a:lnTo>
                    <a:pt x="470651" y="660380"/>
                  </a:lnTo>
                </a:path>
              </a:pathLst>
            </a:custGeom>
            <a:ln w="81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8518" y="4627448"/>
              <a:ext cx="69850" cy="95885"/>
            </a:xfrm>
            <a:custGeom>
              <a:avLst/>
              <a:gdLst/>
              <a:ahLst/>
              <a:cxnLst/>
              <a:rect l="l" t="t" r="r" b="b"/>
              <a:pathLst>
                <a:path w="69850" h="95885">
                  <a:moveTo>
                    <a:pt x="49596" y="0"/>
                  </a:moveTo>
                  <a:lnTo>
                    <a:pt x="0" y="60525"/>
                  </a:lnTo>
                  <a:lnTo>
                    <a:pt x="69435" y="95566"/>
                  </a:lnTo>
                  <a:lnTo>
                    <a:pt x="49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89186" y="4005302"/>
              <a:ext cx="1618615" cy="692785"/>
            </a:xfrm>
            <a:custGeom>
              <a:avLst/>
              <a:gdLst/>
              <a:ahLst/>
              <a:cxnLst/>
              <a:rect l="l" t="t" r="r" b="b"/>
              <a:pathLst>
                <a:path w="1618614" h="692785">
                  <a:moveTo>
                    <a:pt x="0" y="0"/>
                  </a:moveTo>
                  <a:lnTo>
                    <a:pt x="1618504" y="692227"/>
                  </a:lnTo>
                </a:path>
              </a:pathLst>
            </a:custGeom>
            <a:ln w="92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87852" y="4652933"/>
              <a:ext cx="74295" cy="83185"/>
            </a:xfrm>
            <a:custGeom>
              <a:avLst/>
              <a:gdLst/>
              <a:ahLst/>
              <a:cxnLst/>
              <a:rect l="l" t="t" r="r" b="b"/>
              <a:pathLst>
                <a:path w="74295" h="83185">
                  <a:moveTo>
                    <a:pt x="22318" y="0"/>
                  </a:moveTo>
                  <a:lnTo>
                    <a:pt x="0" y="82830"/>
                  </a:lnTo>
                  <a:lnTo>
                    <a:pt x="74291" y="70081"/>
                  </a:lnTo>
                  <a:lnTo>
                    <a:pt x="2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7465772" y="4836741"/>
          <a:ext cx="1343658" cy="23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38429"/>
                <a:gridCol w="279400"/>
                <a:gridCol w="138430"/>
                <a:gridCol w="280034"/>
                <a:gridCol w="138430"/>
                <a:gridCol w="91440"/>
              </a:tblGrid>
              <a:tr h="23876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60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70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7517044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4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498872" y="4917660"/>
            <a:ext cx="67310" cy="86360"/>
          </a:xfrm>
          <a:custGeom>
            <a:avLst/>
            <a:gdLst/>
            <a:ahLst/>
            <a:cxnLst/>
            <a:rect l="l" t="t" r="r" b="b"/>
            <a:pathLst>
              <a:path w="67310" h="86360">
                <a:moveTo>
                  <a:pt x="0" y="0"/>
                </a:moveTo>
                <a:lnTo>
                  <a:pt x="0" y="86009"/>
                </a:lnTo>
                <a:lnTo>
                  <a:pt x="66852" y="445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005680" y="4841201"/>
            <a:ext cx="280035" cy="239395"/>
          </a:xfrm>
          <a:prstGeom prst="rect">
            <a:avLst/>
          </a:prstGeom>
          <a:solidFill>
            <a:srgbClr val="C0C0C0"/>
          </a:solidFill>
          <a:ln w="891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80"/>
              </a:spcBef>
            </a:pPr>
            <a:r>
              <a:rPr sz="1250" spc="-25" dirty="0">
                <a:latin typeface="Arial MT"/>
                <a:cs typeface="Arial MT"/>
              </a:rPr>
              <a:t>50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81492" y="4837101"/>
            <a:ext cx="147320" cy="247650"/>
            <a:chOff x="6281492" y="4837101"/>
            <a:chExt cx="147320" cy="247650"/>
          </a:xfrm>
        </p:grpSpPr>
        <p:sp>
          <p:nvSpPr>
            <p:cNvPr id="46" name="object 46"/>
            <p:cNvSpPr/>
            <p:nvPr/>
          </p:nvSpPr>
          <p:spPr>
            <a:xfrm>
              <a:off x="6285591" y="4841200"/>
              <a:ext cx="139065" cy="239395"/>
            </a:xfrm>
            <a:custGeom>
              <a:avLst/>
              <a:gdLst/>
              <a:ahLst/>
              <a:cxnLst/>
              <a:rect l="l" t="t" r="r" b="b"/>
              <a:pathLst>
                <a:path w="139064" h="239395">
                  <a:moveTo>
                    <a:pt x="138736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138736" y="239242"/>
                  </a:lnTo>
                  <a:lnTo>
                    <a:pt x="13873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85591" y="4841200"/>
              <a:ext cx="139065" cy="239395"/>
            </a:xfrm>
            <a:custGeom>
              <a:avLst/>
              <a:gdLst/>
              <a:ahLst/>
              <a:cxnLst/>
              <a:rect l="l" t="t" r="r" b="b"/>
              <a:pathLst>
                <a:path w="139064" h="239395">
                  <a:moveTo>
                    <a:pt x="0" y="239242"/>
                  </a:moveTo>
                  <a:lnTo>
                    <a:pt x="138736" y="239242"/>
                  </a:lnTo>
                  <a:lnTo>
                    <a:pt x="138736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255521" y="4837073"/>
            <a:ext cx="102870" cy="247650"/>
            <a:chOff x="7255521" y="4837073"/>
            <a:chExt cx="102870" cy="247650"/>
          </a:xfrm>
        </p:grpSpPr>
        <p:sp>
          <p:nvSpPr>
            <p:cNvPr id="49" name="object 49"/>
            <p:cNvSpPr/>
            <p:nvPr/>
          </p:nvSpPr>
          <p:spPr>
            <a:xfrm>
              <a:off x="7259648" y="4841201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5" h="239395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59648" y="4841201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5" h="239395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052392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5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24343" y="4841201"/>
            <a:ext cx="278130" cy="239395"/>
          </a:xfrm>
          <a:prstGeom prst="rect">
            <a:avLst/>
          </a:prstGeom>
          <a:solidFill>
            <a:srgbClr val="C0C0C0"/>
          </a:solidFill>
          <a:ln w="891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80"/>
              </a:spcBef>
            </a:pPr>
            <a:r>
              <a:rPr sz="1250" spc="-25" dirty="0">
                <a:latin typeface="Arial MT"/>
                <a:cs typeface="Arial MT"/>
              </a:rPr>
              <a:t>53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697888" y="4836745"/>
            <a:ext cx="772795" cy="248285"/>
            <a:chOff x="6697888" y="4836745"/>
            <a:chExt cx="772795" cy="248285"/>
          </a:xfrm>
        </p:grpSpPr>
        <p:sp>
          <p:nvSpPr>
            <p:cNvPr id="54" name="object 54"/>
            <p:cNvSpPr/>
            <p:nvPr/>
          </p:nvSpPr>
          <p:spPr>
            <a:xfrm>
              <a:off x="6701996" y="4841200"/>
              <a:ext cx="141605" cy="239395"/>
            </a:xfrm>
            <a:custGeom>
              <a:avLst/>
              <a:gdLst/>
              <a:ahLst/>
              <a:cxnLst/>
              <a:rect l="l" t="t" r="r" b="b"/>
              <a:pathLst>
                <a:path w="141604" h="239395">
                  <a:moveTo>
                    <a:pt x="141216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141216" y="239242"/>
                  </a:lnTo>
                  <a:lnTo>
                    <a:pt x="14121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701996" y="4841200"/>
              <a:ext cx="709295" cy="239395"/>
            </a:xfrm>
            <a:custGeom>
              <a:avLst/>
              <a:gdLst/>
              <a:ahLst/>
              <a:cxnLst/>
              <a:rect l="l" t="t" r="r" b="b"/>
              <a:pathLst>
                <a:path w="709295" h="239395">
                  <a:moveTo>
                    <a:pt x="0" y="239242"/>
                  </a:moveTo>
                  <a:lnTo>
                    <a:pt x="141216" y="239242"/>
                  </a:lnTo>
                  <a:lnTo>
                    <a:pt x="141216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  <a:path w="709295" h="239395">
                  <a:moveTo>
                    <a:pt x="141247" y="239242"/>
                  </a:moveTo>
                  <a:lnTo>
                    <a:pt x="418967" y="239242"/>
                  </a:lnTo>
                  <a:lnTo>
                    <a:pt x="418967" y="0"/>
                  </a:lnTo>
                  <a:lnTo>
                    <a:pt x="141247" y="0"/>
                  </a:lnTo>
                  <a:lnTo>
                    <a:pt x="141247" y="239242"/>
                  </a:lnTo>
                  <a:close/>
                </a:path>
                <a:path w="709295" h="239395">
                  <a:moveTo>
                    <a:pt x="418988" y="239242"/>
                  </a:moveTo>
                  <a:lnTo>
                    <a:pt x="557724" y="239242"/>
                  </a:lnTo>
                  <a:lnTo>
                    <a:pt x="557724" y="0"/>
                  </a:lnTo>
                  <a:lnTo>
                    <a:pt x="418988" y="0"/>
                  </a:lnTo>
                  <a:lnTo>
                    <a:pt x="418988" y="239242"/>
                  </a:lnTo>
                  <a:close/>
                </a:path>
                <a:path w="709295" h="239395">
                  <a:moveTo>
                    <a:pt x="627087" y="121055"/>
                  </a:moveTo>
                  <a:lnTo>
                    <a:pt x="708818" y="121055"/>
                  </a:lnTo>
                </a:path>
              </a:pathLst>
            </a:custGeom>
            <a:ln w="85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03376" y="4917660"/>
              <a:ext cx="67310" cy="86360"/>
            </a:xfrm>
            <a:custGeom>
              <a:avLst/>
              <a:gdLst/>
              <a:ahLst/>
              <a:cxnLst/>
              <a:rect l="l" t="t" r="r" b="b"/>
              <a:pathLst>
                <a:path w="67309" h="86360">
                  <a:moveTo>
                    <a:pt x="0" y="0"/>
                  </a:moveTo>
                  <a:lnTo>
                    <a:pt x="0" y="86009"/>
                  </a:lnTo>
                  <a:lnTo>
                    <a:pt x="66852" y="44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57"/>
          <p:cNvGrpSpPr/>
          <p:nvPr/>
        </p:nvGrpSpPr>
        <p:grpSpPr>
          <a:xfrm>
            <a:off x="6350796" y="3879168"/>
            <a:ext cx="381000" cy="248920"/>
            <a:chOff x="6350796" y="3879168"/>
            <a:chExt cx="381000" cy="248920"/>
          </a:xfrm>
        </p:grpSpPr>
        <p:sp>
          <p:nvSpPr>
            <p:cNvPr id="58" name="object 58"/>
            <p:cNvSpPr/>
            <p:nvPr/>
          </p:nvSpPr>
          <p:spPr>
            <a:xfrm>
              <a:off x="6354923" y="3883930"/>
              <a:ext cx="92075" cy="239395"/>
            </a:xfrm>
            <a:custGeom>
              <a:avLst/>
              <a:gdLst/>
              <a:ahLst/>
              <a:cxnLst/>
              <a:rect l="l" t="t" r="r" b="b"/>
              <a:pathLst>
                <a:path w="92075" h="239395">
                  <a:moveTo>
                    <a:pt x="9191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1910" y="239242"/>
                  </a:lnTo>
                  <a:lnTo>
                    <a:pt x="9191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54923" y="3883930"/>
              <a:ext cx="92075" cy="239395"/>
            </a:xfrm>
            <a:custGeom>
              <a:avLst/>
              <a:gdLst/>
              <a:ahLst/>
              <a:cxnLst/>
              <a:rect l="l" t="t" r="r" b="b"/>
              <a:pathLst>
                <a:path w="92075" h="239395">
                  <a:moveTo>
                    <a:pt x="0" y="239242"/>
                  </a:moveTo>
                  <a:lnTo>
                    <a:pt x="91910" y="239242"/>
                  </a:lnTo>
                  <a:lnTo>
                    <a:pt x="9191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46884" y="3883930"/>
              <a:ext cx="280035" cy="239395"/>
            </a:xfrm>
            <a:custGeom>
              <a:avLst/>
              <a:gdLst/>
              <a:ahLst/>
              <a:cxnLst/>
              <a:rect l="l" t="t" r="r" b="b"/>
              <a:pathLst>
                <a:path w="280034" h="239395">
                  <a:moveTo>
                    <a:pt x="279942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279942" y="239242"/>
                  </a:lnTo>
                  <a:lnTo>
                    <a:pt x="2799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446884" y="3883930"/>
              <a:ext cx="280035" cy="239395"/>
            </a:xfrm>
            <a:custGeom>
              <a:avLst/>
              <a:gdLst/>
              <a:ahLst/>
              <a:cxnLst/>
              <a:rect l="l" t="t" r="r" b="b"/>
              <a:pathLst>
                <a:path w="280034" h="239395">
                  <a:moveTo>
                    <a:pt x="0" y="239242"/>
                  </a:moveTo>
                  <a:lnTo>
                    <a:pt x="279942" y="239242"/>
                  </a:lnTo>
                  <a:lnTo>
                    <a:pt x="279942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8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451318" y="3880533"/>
            <a:ext cx="271145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60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395735" y="3879471"/>
            <a:ext cx="1677035" cy="847090"/>
            <a:chOff x="6395735" y="3879471"/>
            <a:chExt cx="1677035" cy="847090"/>
          </a:xfrm>
        </p:grpSpPr>
        <p:sp>
          <p:nvSpPr>
            <p:cNvPr id="64" name="object 64"/>
            <p:cNvSpPr/>
            <p:nvPr/>
          </p:nvSpPr>
          <p:spPr>
            <a:xfrm>
              <a:off x="6726795" y="3883930"/>
              <a:ext cx="92075" cy="239395"/>
            </a:xfrm>
            <a:custGeom>
              <a:avLst/>
              <a:gdLst/>
              <a:ahLst/>
              <a:cxnLst/>
              <a:rect l="l" t="t" r="r" b="b"/>
              <a:pathLst>
                <a:path w="92075" h="239395">
                  <a:moveTo>
                    <a:pt x="91663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1663" y="239242"/>
                  </a:lnTo>
                  <a:lnTo>
                    <a:pt x="916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726795" y="3883930"/>
              <a:ext cx="1294130" cy="807720"/>
            </a:xfrm>
            <a:custGeom>
              <a:avLst/>
              <a:gdLst/>
              <a:ahLst/>
              <a:cxnLst/>
              <a:rect l="l" t="t" r="r" b="b"/>
              <a:pathLst>
                <a:path w="1294129" h="807720">
                  <a:moveTo>
                    <a:pt x="0" y="239242"/>
                  </a:moveTo>
                  <a:lnTo>
                    <a:pt x="91663" y="239242"/>
                  </a:lnTo>
                  <a:lnTo>
                    <a:pt x="91663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  <a:path w="1294129" h="807720">
                  <a:moveTo>
                    <a:pt x="91650" y="239242"/>
                  </a:moveTo>
                  <a:lnTo>
                    <a:pt x="371840" y="239242"/>
                  </a:lnTo>
                  <a:lnTo>
                    <a:pt x="371840" y="0"/>
                  </a:lnTo>
                  <a:lnTo>
                    <a:pt x="91650" y="0"/>
                  </a:lnTo>
                  <a:lnTo>
                    <a:pt x="91650" y="239242"/>
                  </a:lnTo>
                  <a:close/>
                </a:path>
                <a:path w="1294129" h="807720">
                  <a:moveTo>
                    <a:pt x="371871" y="239242"/>
                  </a:moveTo>
                  <a:lnTo>
                    <a:pt x="463535" y="239242"/>
                  </a:lnTo>
                  <a:lnTo>
                    <a:pt x="463535" y="0"/>
                  </a:lnTo>
                  <a:lnTo>
                    <a:pt x="371871" y="0"/>
                  </a:lnTo>
                  <a:lnTo>
                    <a:pt x="371871" y="239242"/>
                  </a:lnTo>
                  <a:close/>
                </a:path>
                <a:path w="1294129" h="807720">
                  <a:moveTo>
                    <a:pt x="463522" y="239242"/>
                  </a:moveTo>
                  <a:lnTo>
                    <a:pt x="743464" y="239242"/>
                  </a:lnTo>
                  <a:lnTo>
                    <a:pt x="743464" y="0"/>
                  </a:lnTo>
                  <a:lnTo>
                    <a:pt x="463522" y="0"/>
                  </a:lnTo>
                  <a:lnTo>
                    <a:pt x="463522" y="239242"/>
                  </a:lnTo>
                  <a:close/>
                </a:path>
                <a:path w="1294129" h="807720">
                  <a:moveTo>
                    <a:pt x="743433" y="239242"/>
                  </a:moveTo>
                  <a:lnTo>
                    <a:pt x="835097" y="239242"/>
                  </a:lnTo>
                  <a:lnTo>
                    <a:pt x="835097" y="0"/>
                  </a:lnTo>
                  <a:lnTo>
                    <a:pt x="743433" y="0"/>
                  </a:lnTo>
                  <a:lnTo>
                    <a:pt x="743433" y="239242"/>
                  </a:lnTo>
                  <a:close/>
                </a:path>
                <a:path w="1294129" h="807720">
                  <a:moveTo>
                    <a:pt x="44636" y="121371"/>
                  </a:moveTo>
                  <a:lnTo>
                    <a:pt x="1293749" y="807237"/>
                  </a:lnTo>
                </a:path>
              </a:pathLst>
            </a:custGeom>
            <a:ln w="85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998226" y="4646572"/>
              <a:ext cx="74295" cy="80010"/>
            </a:xfrm>
            <a:custGeom>
              <a:avLst/>
              <a:gdLst/>
              <a:ahLst/>
              <a:cxnLst/>
              <a:rect l="l" t="t" r="r" b="b"/>
              <a:pathLst>
                <a:path w="74295" h="80010">
                  <a:moveTo>
                    <a:pt x="27174" y="0"/>
                  </a:moveTo>
                  <a:lnTo>
                    <a:pt x="0" y="79636"/>
                  </a:lnTo>
                  <a:lnTo>
                    <a:pt x="74291" y="76442"/>
                  </a:lnTo>
                  <a:lnTo>
                    <a:pt x="271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99560" y="4005301"/>
              <a:ext cx="168910" cy="644525"/>
            </a:xfrm>
            <a:custGeom>
              <a:avLst/>
              <a:gdLst/>
              <a:ahLst/>
              <a:cxnLst/>
              <a:rect l="l" t="t" r="r" b="b"/>
              <a:pathLst>
                <a:path w="168909" h="644525">
                  <a:moveTo>
                    <a:pt x="0" y="0"/>
                  </a:moveTo>
                  <a:lnTo>
                    <a:pt x="168731" y="644450"/>
                  </a:lnTo>
                </a:path>
              </a:pathLst>
            </a:custGeom>
            <a:ln w="75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33574" y="4627448"/>
              <a:ext cx="64769" cy="95885"/>
            </a:xfrm>
            <a:custGeom>
              <a:avLst/>
              <a:gdLst/>
              <a:ahLst/>
              <a:cxnLst/>
              <a:rect l="l" t="t" r="r" b="b"/>
              <a:pathLst>
                <a:path w="64770" h="95885">
                  <a:moveTo>
                    <a:pt x="64372" y="0"/>
                  </a:moveTo>
                  <a:lnTo>
                    <a:pt x="0" y="25485"/>
                  </a:lnTo>
                  <a:lnTo>
                    <a:pt x="51973" y="95566"/>
                  </a:lnTo>
                  <a:lnTo>
                    <a:pt x="643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6401739" y="3641291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6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514583" y="2922888"/>
            <a:ext cx="102870" cy="247650"/>
            <a:chOff x="4514583" y="2922888"/>
            <a:chExt cx="102870" cy="247650"/>
          </a:xfrm>
        </p:grpSpPr>
        <p:sp>
          <p:nvSpPr>
            <p:cNvPr id="71" name="object 71"/>
            <p:cNvSpPr/>
            <p:nvPr/>
          </p:nvSpPr>
          <p:spPr>
            <a:xfrm>
              <a:off x="4518710" y="2927016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4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518710" y="2927016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4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</a:pathLst>
            </a:custGeom>
            <a:ln w="77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612846" y="2927016"/>
            <a:ext cx="277495" cy="239395"/>
          </a:xfrm>
          <a:prstGeom prst="rect">
            <a:avLst/>
          </a:prstGeom>
          <a:solidFill>
            <a:srgbClr val="FFFF00"/>
          </a:solidFill>
          <a:ln w="891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80"/>
              </a:spcBef>
            </a:pPr>
            <a:r>
              <a:rPr sz="1250" spc="-25" dirty="0">
                <a:latin typeface="Arial MT"/>
                <a:cs typeface="Arial MT"/>
              </a:rPr>
              <a:t>50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886337" y="2922560"/>
            <a:ext cx="2049145" cy="859790"/>
            <a:chOff x="4886337" y="2922560"/>
            <a:chExt cx="2049145" cy="859790"/>
          </a:xfrm>
        </p:grpSpPr>
        <p:sp>
          <p:nvSpPr>
            <p:cNvPr id="75" name="object 75"/>
            <p:cNvSpPr/>
            <p:nvPr/>
          </p:nvSpPr>
          <p:spPr>
            <a:xfrm>
              <a:off x="4890272" y="2927016"/>
              <a:ext cx="94615" cy="239395"/>
            </a:xfrm>
            <a:custGeom>
              <a:avLst/>
              <a:gdLst/>
              <a:ahLst/>
              <a:cxnLst/>
              <a:rect l="l" t="t" r="r" b="b"/>
              <a:pathLst>
                <a:path w="94614" h="239394">
                  <a:moveTo>
                    <a:pt x="94140" y="0"/>
                  </a:moveTo>
                  <a:lnTo>
                    <a:pt x="0" y="0"/>
                  </a:lnTo>
                  <a:lnTo>
                    <a:pt x="0" y="239242"/>
                  </a:lnTo>
                  <a:lnTo>
                    <a:pt x="94140" y="239242"/>
                  </a:lnTo>
                  <a:lnTo>
                    <a:pt x="941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890272" y="2927016"/>
              <a:ext cx="1988185" cy="817244"/>
            </a:xfrm>
            <a:custGeom>
              <a:avLst/>
              <a:gdLst/>
              <a:ahLst/>
              <a:cxnLst/>
              <a:rect l="l" t="t" r="r" b="b"/>
              <a:pathLst>
                <a:path w="1988184" h="817245">
                  <a:moveTo>
                    <a:pt x="0" y="239242"/>
                  </a:moveTo>
                  <a:lnTo>
                    <a:pt x="94140" y="239242"/>
                  </a:lnTo>
                  <a:lnTo>
                    <a:pt x="94140" y="0"/>
                  </a:lnTo>
                  <a:lnTo>
                    <a:pt x="0" y="0"/>
                  </a:lnTo>
                  <a:lnTo>
                    <a:pt x="0" y="239242"/>
                  </a:lnTo>
                  <a:close/>
                </a:path>
                <a:path w="1988184" h="817245">
                  <a:moveTo>
                    <a:pt x="94130" y="239242"/>
                  </a:moveTo>
                  <a:lnTo>
                    <a:pt x="371850" y="239242"/>
                  </a:lnTo>
                  <a:lnTo>
                    <a:pt x="371850" y="0"/>
                  </a:lnTo>
                  <a:lnTo>
                    <a:pt x="94130" y="0"/>
                  </a:lnTo>
                  <a:lnTo>
                    <a:pt x="94130" y="239242"/>
                  </a:lnTo>
                  <a:close/>
                </a:path>
                <a:path w="1988184" h="817245">
                  <a:moveTo>
                    <a:pt x="371871" y="239242"/>
                  </a:moveTo>
                  <a:lnTo>
                    <a:pt x="466012" y="239242"/>
                  </a:lnTo>
                  <a:lnTo>
                    <a:pt x="466012" y="0"/>
                  </a:lnTo>
                  <a:lnTo>
                    <a:pt x="371871" y="0"/>
                  </a:lnTo>
                  <a:lnTo>
                    <a:pt x="371871" y="239242"/>
                  </a:lnTo>
                  <a:close/>
                </a:path>
                <a:path w="1988184" h="817245">
                  <a:moveTo>
                    <a:pt x="466001" y="239242"/>
                  </a:moveTo>
                  <a:lnTo>
                    <a:pt x="743474" y="239242"/>
                  </a:lnTo>
                  <a:lnTo>
                    <a:pt x="743474" y="0"/>
                  </a:lnTo>
                  <a:lnTo>
                    <a:pt x="466001" y="0"/>
                  </a:lnTo>
                  <a:lnTo>
                    <a:pt x="466001" y="239242"/>
                  </a:lnTo>
                  <a:close/>
                </a:path>
                <a:path w="1988184" h="817245">
                  <a:moveTo>
                    <a:pt x="743536" y="239242"/>
                  </a:moveTo>
                  <a:lnTo>
                    <a:pt x="837677" y="239242"/>
                  </a:lnTo>
                  <a:lnTo>
                    <a:pt x="837677" y="0"/>
                  </a:lnTo>
                  <a:lnTo>
                    <a:pt x="743536" y="0"/>
                  </a:lnTo>
                  <a:lnTo>
                    <a:pt x="743536" y="239242"/>
                  </a:lnTo>
                  <a:close/>
                </a:path>
                <a:path w="1988184" h="817245">
                  <a:moveTo>
                    <a:pt x="47116" y="121331"/>
                  </a:moveTo>
                  <a:lnTo>
                    <a:pt x="1987689" y="816819"/>
                  </a:lnTo>
                </a:path>
              </a:pathLst>
            </a:custGeom>
            <a:ln w="85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60603" y="3699119"/>
              <a:ext cx="74295" cy="83185"/>
            </a:xfrm>
            <a:custGeom>
              <a:avLst/>
              <a:gdLst/>
              <a:ahLst/>
              <a:cxnLst/>
              <a:rect l="l" t="t" r="r" b="b"/>
              <a:pathLst>
                <a:path w="74295" h="83185">
                  <a:moveTo>
                    <a:pt x="19838" y="0"/>
                  </a:moveTo>
                  <a:lnTo>
                    <a:pt x="0" y="82870"/>
                  </a:lnTo>
                  <a:lnTo>
                    <a:pt x="74291" y="66940"/>
                  </a:lnTo>
                  <a:lnTo>
                    <a:pt x="198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565423" y="2684283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7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031534" y="3043684"/>
            <a:ext cx="1549400" cy="732155"/>
            <a:chOff x="3031534" y="3043684"/>
            <a:chExt cx="1549400" cy="732155"/>
          </a:xfrm>
        </p:grpSpPr>
        <p:sp>
          <p:nvSpPr>
            <p:cNvPr id="80" name="object 80"/>
            <p:cNvSpPr/>
            <p:nvPr/>
          </p:nvSpPr>
          <p:spPr>
            <a:xfrm>
              <a:off x="3085987" y="3048347"/>
              <a:ext cx="1480185" cy="689610"/>
            </a:xfrm>
            <a:custGeom>
              <a:avLst/>
              <a:gdLst/>
              <a:ahLst/>
              <a:cxnLst/>
              <a:rect l="l" t="t" r="r" b="b"/>
              <a:pathLst>
                <a:path w="1480185" h="689610">
                  <a:moveTo>
                    <a:pt x="1479736" y="0"/>
                  </a:moveTo>
                  <a:lnTo>
                    <a:pt x="0" y="689100"/>
                  </a:lnTo>
                </a:path>
              </a:pathLst>
            </a:custGeom>
            <a:ln w="9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031534" y="3695659"/>
              <a:ext cx="74295" cy="80010"/>
            </a:xfrm>
            <a:custGeom>
              <a:avLst/>
              <a:gdLst/>
              <a:ahLst/>
              <a:cxnLst/>
              <a:rect l="l" t="t" r="r" b="b"/>
              <a:pathLst>
                <a:path w="74294" h="80010">
                  <a:moveTo>
                    <a:pt x="51973" y="0"/>
                  </a:moveTo>
                  <a:lnTo>
                    <a:pt x="0" y="70400"/>
                  </a:lnTo>
                  <a:lnTo>
                    <a:pt x="74291" y="79969"/>
                  </a:lnTo>
                  <a:lnTo>
                    <a:pt x="51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505199" y="3107182"/>
              <a:ext cx="1075690" cy="550545"/>
            </a:xfrm>
            <a:custGeom>
              <a:avLst/>
              <a:gdLst/>
              <a:ahLst/>
              <a:cxnLst/>
              <a:rect l="l" t="t" r="r" b="b"/>
              <a:pathLst>
                <a:path w="1075689" h="550545">
                  <a:moveTo>
                    <a:pt x="76708" y="448182"/>
                  </a:moveTo>
                  <a:lnTo>
                    <a:pt x="0" y="550417"/>
                  </a:lnTo>
                  <a:lnTo>
                    <a:pt x="127762" y="550417"/>
                  </a:lnTo>
                  <a:lnTo>
                    <a:pt x="115014" y="524890"/>
                  </a:lnTo>
                  <a:lnTo>
                    <a:pt x="93725" y="524890"/>
                  </a:lnTo>
                  <a:lnTo>
                    <a:pt x="76708" y="490727"/>
                  </a:lnTo>
                  <a:lnTo>
                    <a:pt x="93709" y="482228"/>
                  </a:lnTo>
                  <a:lnTo>
                    <a:pt x="76708" y="448182"/>
                  </a:lnTo>
                  <a:close/>
                </a:path>
                <a:path w="1075689" h="550545">
                  <a:moveTo>
                    <a:pt x="93709" y="482228"/>
                  </a:moveTo>
                  <a:lnTo>
                    <a:pt x="76708" y="490727"/>
                  </a:lnTo>
                  <a:lnTo>
                    <a:pt x="93725" y="524890"/>
                  </a:lnTo>
                  <a:lnTo>
                    <a:pt x="110760" y="516372"/>
                  </a:lnTo>
                  <a:lnTo>
                    <a:pt x="93709" y="482228"/>
                  </a:lnTo>
                  <a:close/>
                </a:path>
                <a:path w="1075689" h="550545">
                  <a:moveTo>
                    <a:pt x="110760" y="516372"/>
                  </a:moveTo>
                  <a:lnTo>
                    <a:pt x="93725" y="524890"/>
                  </a:lnTo>
                  <a:lnTo>
                    <a:pt x="115014" y="524890"/>
                  </a:lnTo>
                  <a:lnTo>
                    <a:pt x="110760" y="516372"/>
                  </a:lnTo>
                  <a:close/>
                </a:path>
                <a:path w="1075689" h="550545">
                  <a:moveTo>
                    <a:pt x="1058290" y="0"/>
                  </a:moveTo>
                  <a:lnTo>
                    <a:pt x="93709" y="482228"/>
                  </a:lnTo>
                  <a:lnTo>
                    <a:pt x="110760" y="516372"/>
                  </a:lnTo>
                  <a:lnTo>
                    <a:pt x="1075309" y="34035"/>
                  </a:lnTo>
                  <a:lnTo>
                    <a:pt x="10582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4561269" y="4836741"/>
          <a:ext cx="1345563" cy="23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495"/>
                <a:gridCol w="140970"/>
                <a:gridCol w="277495"/>
                <a:gridCol w="138429"/>
                <a:gridCol w="279400"/>
                <a:gridCol w="138430"/>
                <a:gridCol w="93344"/>
              </a:tblGrid>
              <a:tr h="120650"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45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48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1181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4" name="object 84"/>
          <p:cNvSpPr/>
          <p:nvPr/>
        </p:nvSpPr>
        <p:spPr>
          <a:xfrm>
            <a:off x="5938725" y="4917660"/>
            <a:ext cx="67310" cy="86360"/>
          </a:xfrm>
          <a:custGeom>
            <a:avLst/>
            <a:gdLst/>
            <a:ahLst/>
            <a:cxnLst/>
            <a:rect l="l" t="t" r="r" b="b"/>
            <a:pathLst>
              <a:path w="67310" h="86360">
                <a:moveTo>
                  <a:pt x="0" y="0"/>
                </a:moveTo>
                <a:lnTo>
                  <a:pt x="0" y="86009"/>
                </a:lnTo>
                <a:lnTo>
                  <a:pt x="66955" y="445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612540" y="4598246"/>
            <a:ext cx="372110" cy="21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145" dirty="0">
                <a:latin typeface="Arial MT"/>
                <a:cs typeface="Arial MT"/>
              </a:rPr>
              <a:t>Bloc</a:t>
            </a:r>
            <a:r>
              <a:rPr sz="1250" spc="-50" dirty="0">
                <a:latin typeface="Arial MT"/>
                <a:cs typeface="Arial MT"/>
              </a:rPr>
              <a:t> </a:t>
            </a:r>
            <a:r>
              <a:rPr sz="1250" spc="-85" dirty="0">
                <a:latin typeface="Arial MT"/>
                <a:cs typeface="Arial MT"/>
              </a:rPr>
              <a:t>8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870325" y="4256659"/>
            <a:ext cx="320675" cy="467995"/>
          </a:xfrm>
          <a:custGeom>
            <a:avLst/>
            <a:gdLst/>
            <a:ahLst/>
            <a:cxnLst/>
            <a:rect l="l" t="t" r="r" b="b"/>
            <a:pathLst>
              <a:path w="320675" h="467995">
                <a:moveTo>
                  <a:pt x="241423" y="383217"/>
                </a:moveTo>
                <a:lnTo>
                  <a:pt x="209676" y="404368"/>
                </a:lnTo>
                <a:lnTo>
                  <a:pt x="320675" y="467741"/>
                </a:lnTo>
                <a:lnTo>
                  <a:pt x="312069" y="399034"/>
                </a:lnTo>
                <a:lnTo>
                  <a:pt x="251967" y="399034"/>
                </a:lnTo>
                <a:lnTo>
                  <a:pt x="241423" y="383217"/>
                </a:lnTo>
                <a:close/>
              </a:path>
              <a:path w="320675" h="467995">
                <a:moveTo>
                  <a:pt x="273141" y="362086"/>
                </a:moveTo>
                <a:lnTo>
                  <a:pt x="241423" y="383217"/>
                </a:lnTo>
                <a:lnTo>
                  <a:pt x="251967" y="399034"/>
                </a:lnTo>
                <a:lnTo>
                  <a:pt x="283717" y="377952"/>
                </a:lnTo>
                <a:lnTo>
                  <a:pt x="273141" y="362086"/>
                </a:lnTo>
                <a:close/>
              </a:path>
              <a:path w="320675" h="467995">
                <a:moveTo>
                  <a:pt x="304800" y="340995"/>
                </a:moveTo>
                <a:lnTo>
                  <a:pt x="273141" y="362086"/>
                </a:lnTo>
                <a:lnTo>
                  <a:pt x="283717" y="377952"/>
                </a:lnTo>
                <a:lnTo>
                  <a:pt x="251967" y="399034"/>
                </a:lnTo>
                <a:lnTo>
                  <a:pt x="312069" y="399034"/>
                </a:lnTo>
                <a:lnTo>
                  <a:pt x="304800" y="340995"/>
                </a:lnTo>
                <a:close/>
              </a:path>
              <a:path w="320675" h="467995">
                <a:moveTo>
                  <a:pt x="31750" y="0"/>
                </a:moveTo>
                <a:lnTo>
                  <a:pt x="0" y="21082"/>
                </a:lnTo>
                <a:lnTo>
                  <a:pt x="241423" y="383217"/>
                </a:lnTo>
                <a:lnTo>
                  <a:pt x="273141" y="362086"/>
                </a:lnTo>
                <a:lnTo>
                  <a:pt x="317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134" y="92455"/>
            <a:ext cx="73983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0390" marR="5080" indent="-310832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Complexité</a:t>
            </a:r>
            <a:r>
              <a:rPr sz="2800" b="1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28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la</a:t>
            </a:r>
            <a:r>
              <a:rPr sz="2800" b="1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recherche</a:t>
            </a:r>
            <a:r>
              <a:rPr sz="28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2800" b="1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hauteur</a:t>
            </a:r>
            <a:r>
              <a:rPr sz="28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0000FF"/>
                </a:solidFill>
                <a:latin typeface="Tahoma"/>
                <a:cs typeface="Tahoma"/>
              </a:rPr>
              <a:t>de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l'arbre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39973" y="2339720"/>
            <a:ext cx="516572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Tahoma"/>
                <a:cs typeface="Tahoma"/>
              </a:rPr>
              <a:t>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2,000</a:t>
            </a:r>
            <a:r>
              <a:rPr sz="2400" spc="-20" dirty="0">
                <a:latin typeface="Tahoma"/>
                <a:cs typeface="Tahoma"/>
              </a:rPr>
              <a:t> clés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ahoma"/>
                <a:cs typeface="Tahoma"/>
              </a:rPr>
              <a:t>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200,000clés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754" y="1008813"/>
            <a:ext cx="6076315" cy="267335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71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93065" algn="l"/>
              </a:tabLst>
            </a:pPr>
            <a:r>
              <a:rPr sz="2500" dirty="0">
                <a:latin typeface="Tahoma"/>
                <a:cs typeface="Tahoma"/>
              </a:rPr>
              <a:t>FBM</a:t>
            </a:r>
            <a:r>
              <a:rPr sz="2400" baseline="-20833" dirty="0">
                <a:latin typeface="Tahoma"/>
                <a:cs typeface="Tahoma"/>
              </a:rPr>
              <a:t>f</a:t>
            </a:r>
            <a:r>
              <a:rPr sz="2400" spc="225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Ordre</a:t>
            </a:r>
            <a:r>
              <a:rPr sz="2400" spc="-15" baseline="-20833" dirty="0">
                <a:latin typeface="Tahoma"/>
                <a:cs typeface="Tahoma"/>
              </a:rPr>
              <a:t>I</a:t>
            </a:r>
            <a:r>
              <a:rPr sz="2400" spc="240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200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5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nombre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niveaux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5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  <a:tab pos="1878964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50" dirty="0">
                <a:latin typeface="Tahoma"/>
                <a:cs typeface="Tahoma"/>
              </a:rPr>
              <a:t> 2</a:t>
            </a:r>
            <a:r>
              <a:rPr sz="2400" dirty="0">
                <a:latin typeface="Tahoma"/>
                <a:cs typeface="Tahoma"/>
              </a:rPr>
              <a:t>	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clés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(pire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cas)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9973" y="3290696"/>
            <a:ext cx="433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10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7054" y="3487569"/>
            <a:ext cx="7548880" cy="253809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455"/>
              </a:spcBef>
            </a:pPr>
            <a:r>
              <a:rPr sz="2400" dirty="0">
                <a:latin typeface="Tahoma"/>
                <a:cs typeface="Tahoma"/>
              </a:rPr>
              <a:t>20,000,000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clés</a:t>
            </a:r>
            <a:endParaRPr sz="2400">
              <a:latin typeface="Tahoma"/>
              <a:cs typeface="Tahoma"/>
            </a:endParaRPr>
          </a:p>
          <a:p>
            <a:pPr marL="405765" indent="-342265">
              <a:lnSpc>
                <a:spcPct val="100000"/>
              </a:lnSpc>
              <a:spcBef>
                <a:spcPts val="146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05765" algn="l"/>
                <a:tab pos="1985010" algn="l"/>
              </a:tabLst>
            </a:pPr>
            <a:r>
              <a:rPr sz="2400" dirty="0">
                <a:latin typeface="Tahoma"/>
                <a:cs typeface="Tahoma"/>
              </a:rPr>
              <a:t>Hauteur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500" spc="-50" dirty="0">
                <a:latin typeface="Tahoma"/>
                <a:cs typeface="Tahoma"/>
              </a:rPr>
              <a:t>H</a:t>
            </a:r>
            <a:r>
              <a:rPr sz="2500" dirty="0">
                <a:latin typeface="Tahoma"/>
                <a:cs typeface="Tahoma"/>
              </a:rPr>
              <a:t>	</a:t>
            </a:r>
            <a:r>
              <a:rPr sz="2400" dirty="0">
                <a:latin typeface="Tahoma"/>
                <a:cs typeface="Tahoma"/>
              </a:rPr>
              <a:t>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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ahoma"/>
                <a:cs typeface="Tahoma"/>
              </a:rPr>
              <a:t>2*</a:t>
            </a:r>
            <a:r>
              <a:rPr sz="2400" spc="-20" dirty="0">
                <a:latin typeface="Symbol"/>
                <a:cs typeface="Symbol"/>
              </a:rPr>
              <a:t></a:t>
            </a:r>
            <a:r>
              <a:rPr sz="2500" spc="-20" dirty="0">
                <a:latin typeface="Tahoma"/>
                <a:cs typeface="Tahoma"/>
              </a:rPr>
              <a:t>Ordre</a:t>
            </a:r>
            <a:r>
              <a:rPr sz="2475" spc="-30" baseline="-20202" dirty="0">
                <a:latin typeface="Tahoma"/>
                <a:cs typeface="Tahoma"/>
              </a:rPr>
              <a:t>I</a:t>
            </a:r>
            <a:r>
              <a:rPr sz="2475" spc="262" baseline="-20202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/2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5" baseline="24305" dirty="0">
                <a:latin typeface="Tahoma"/>
                <a:cs typeface="Tahoma"/>
              </a:rPr>
              <a:t>H-</a:t>
            </a:r>
            <a:r>
              <a:rPr sz="2400" baseline="24305" dirty="0">
                <a:latin typeface="Tahoma"/>
                <a:cs typeface="Tahoma"/>
              </a:rPr>
              <a:t>2</a:t>
            </a:r>
            <a:r>
              <a:rPr sz="2400" spc="315" baseline="243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</a:t>
            </a:r>
            <a:r>
              <a:rPr sz="2500" dirty="0">
                <a:latin typeface="Tahoma"/>
                <a:cs typeface="Tahoma"/>
              </a:rPr>
              <a:t>FBM</a:t>
            </a:r>
            <a:r>
              <a:rPr sz="2400" baseline="-20833" dirty="0">
                <a:latin typeface="Tahoma"/>
                <a:cs typeface="Tahoma"/>
              </a:rPr>
              <a:t>f</a:t>
            </a:r>
            <a:r>
              <a:rPr sz="2400" dirty="0">
                <a:latin typeface="Tahoma"/>
                <a:cs typeface="Tahoma"/>
              </a:rPr>
              <a:t>/2</a:t>
            </a:r>
            <a:r>
              <a:rPr sz="2400" dirty="0">
                <a:latin typeface="Symbol"/>
                <a:cs typeface="Symbol"/>
              </a:rPr>
              <a:t>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pour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H</a:t>
            </a:r>
            <a:r>
              <a:rPr sz="2500" spc="-90" dirty="0">
                <a:latin typeface="Tahoma"/>
                <a:cs typeface="Tahoma"/>
              </a:rPr>
              <a:t> </a:t>
            </a:r>
            <a:r>
              <a:rPr sz="2400" spc="-50" dirty="0">
                <a:latin typeface="Symbol"/>
                <a:cs typeface="Symbol"/>
              </a:rPr>
              <a:t></a:t>
            </a:r>
            <a:endParaRPr sz="2400">
              <a:latin typeface="Symbol"/>
              <a:cs typeface="Symbol"/>
            </a:endParaRPr>
          </a:p>
          <a:p>
            <a:pPr marL="405765">
              <a:lnSpc>
                <a:spcPct val="100000"/>
              </a:lnSpc>
              <a:spcBef>
                <a:spcPts val="15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  <a:p>
            <a:pPr marL="405765" indent="-342265">
              <a:lnSpc>
                <a:spcPct val="100000"/>
              </a:lnSpc>
              <a:spcBef>
                <a:spcPts val="45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405765" algn="l"/>
              </a:tabLst>
            </a:pPr>
            <a:r>
              <a:rPr sz="2500" dirty="0">
                <a:latin typeface="Tahoma"/>
                <a:cs typeface="Tahoma"/>
              </a:rPr>
              <a:t>H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400" dirty="0">
                <a:latin typeface="Symbol"/>
                <a:cs typeface="Symbol"/>
              </a:rPr>
              <a:t>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log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400" spc="-30" baseline="-20833" dirty="0">
                <a:latin typeface="Symbol"/>
                <a:cs typeface="Symbol"/>
              </a:rPr>
              <a:t></a:t>
            </a:r>
            <a:r>
              <a:rPr sz="2475" spc="-30" baseline="-20202" dirty="0">
                <a:latin typeface="Tahoma"/>
                <a:cs typeface="Tahoma"/>
              </a:rPr>
              <a:t>OrdreI</a:t>
            </a:r>
            <a:r>
              <a:rPr sz="2475" spc="-67" baseline="-20202" dirty="0">
                <a:latin typeface="Tahoma"/>
                <a:cs typeface="Tahoma"/>
              </a:rPr>
              <a:t> </a:t>
            </a:r>
            <a:r>
              <a:rPr sz="2400" baseline="-20833" dirty="0">
                <a:latin typeface="Tahoma"/>
                <a:cs typeface="Tahoma"/>
              </a:rPr>
              <a:t>/2</a:t>
            </a:r>
            <a:r>
              <a:rPr sz="2400" baseline="-20833" dirty="0">
                <a:latin typeface="Symbol"/>
                <a:cs typeface="Symbol"/>
              </a:rPr>
              <a:t></a:t>
            </a:r>
            <a:r>
              <a:rPr sz="2400" spc="97" baseline="-2083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ahoma"/>
                <a:cs typeface="Tahoma"/>
              </a:rPr>
              <a:t>(</a:t>
            </a:r>
            <a:r>
              <a:rPr sz="2500" dirty="0">
                <a:latin typeface="Tahoma"/>
                <a:cs typeface="Tahoma"/>
              </a:rPr>
              <a:t>N</a:t>
            </a:r>
            <a:r>
              <a:rPr sz="2500" spc="-9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/(2*</a:t>
            </a:r>
            <a:r>
              <a:rPr sz="2400" spc="-10" dirty="0">
                <a:latin typeface="Symbol"/>
                <a:cs typeface="Symbol"/>
              </a:rPr>
              <a:t></a:t>
            </a:r>
            <a:r>
              <a:rPr sz="2500" spc="-10" dirty="0">
                <a:latin typeface="Tahoma"/>
                <a:cs typeface="Tahoma"/>
              </a:rPr>
              <a:t>FBM</a:t>
            </a:r>
            <a:r>
              <a:rPr sz="2400" spc="-15" baseline="-20833" dirty="0">
                <a:latin typeface="Tahoma"/>
                <a:cs typeface="Tahoma"/>
              </a:rPr>
              <a:t>f</a:t>
            </a:r>
            <a:r>
              <a:rPr sz="2400" spc="-10" dirty="0">
                <a:latin typeface="Tahoma"/>
                <a:cs typeface="Tahoma"/>
              </a:rPr>
              <a:t>/2</a:t>
            </a:r>
            <a:r>
              <a:rPr sz="2400" spc="-10" dirty="0">
                <a:latin typeface="Symbol"/>
                <a:cs typeface="Symbol"/>
              </a:rPr>
              <a:t></a:t>
            </a:r>
            <a:r>
              <a:rPr sz="2400" spc="-10" dirty="0">
                <a:latin typeface="Tahoma"/>
                <a:cs typeface="Tahoma"/>
              </a:rPr>
              <a:t>))</a:t>
            </a:r>
            <a:endParaRPr sz="2400">
              <a:latin typeface="Tahoma"/>
              <a:cs typeface="Tahoma"/>
            </a:endParaRPr>
          </a:p>
          <a:p>
            <a:pPr marL="807085" lvl="1" indent="-287020">
              <a:lnSpc>
                <a:spcPct val="100000"/>
              </a:lnSpc>
              <a:spcBef>
                <a:spcPts val="76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807085" algn="l"/>
              </a:tabLst>
            </a:pPr>
            <a:r>
              <a:rPr sz="2400" b="1" spc="-20" dirty="0">
                <a:latin typeface="Tahoma"/>
                <a:cs typeface="Tahoma"/>
              </a:rPr>
              <a:t>O</a:t>
            </a:r>
            <a:r>
              <a:rPr sz="2400" spc="-20" dirty="0">
                <a:latin typeface="Tahoma"/>
                <a:cs typeface="Tahoma"/>
              </a:rPr>
              <a:t>(</a:t>
            </a:r>
            <a:r>
              <a:rPr sz="2500" spc="-20" dirty="0">
                <a:latin typeface="Tahoma"/>
                <a:cs typeface="Tahoma"/>
              </a:rPr>
              <a:t>log</a:t>
            </a:r>
            <a:r>
              <a:rPr sz="2500" spc="-14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N</a:t>
            </a:r>
            <a:r>
              <a:rPr sz="3200" spc="-25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645" y="635888"/>
            <a:ext cx="36842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Hauteur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moyenne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61994" y="1953193"/>
            <a:ext cx="159258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5" dirty="0">
                <a:latin typeface="Tahoma"/>
                <a:cs typeface="Tahoma"/>
              </a:rPr>
              <a:t>OrdreMoyenI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454" y="1709063"/>
            <a:ext cx="6398895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30"/>
              </a:spcBef>
              <a:buClr>
                <a:srgbClr val="B1B1B1"/>
              </a:buClr>
              <a:buSzPct val="71641"/>
              <a:buFont typeface="Wingdings"/>
              <a:buChar char=""/>
              <a:tabLst>
                <a:tab pos="380365" algn="l"/>
                <a:tab pos="4660900" algn="l"/>
              </a:tabLst>
            </a:pPr>
            <a:r>
              <a:rPr sz="3350" dirty="0">
                <a:latin typeface="Tahoma"/>
                <a:cs typeface="Tahoma"/>
              </a:rPr>
              <a:t>H</a:t>
            </a:r>
            <a:r>
              <a:rPr sz="335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~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1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+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20" dirty="0">
                <a:latin typeface="Symbol"/>
                <a:cs typeface="Symbol"/>
              </a:rPr>
              <a:t></a:t>
            </a:r>
            <a:r>
              <a:rPr sz="3350" spc="-20" dirty="0">
                <a:latin typeface="Tahoma"/>
                <a:cs typeface="Tahoma"/>
              </a:rPr>
              <a:t>log</a:t>
            </a:r>
            <a:r>
              <a:rPr sz="3350" dirty="0">
                <a:latin typeface="Tahoma"/>
                <a:cs typeface="Tahoma"/>
              </a:rPr>
              <a:t>	</a:t>
            </a:r>
            <a:r>
              <a:rPr sz="3200" dirty="0">
                <a:latin typeface="Tahoma"/>
                <a:cs typeface="Tahoma"/>
              </a:rPr>
              <a:t>(</a:t>
            </a:r>
            <a:r>
              <a:rPr sz="3350" dirty="0">
                <a:latin typeface="Tahoma"/>
                <a:cs typeface="Tahoma"/>
              </a:rPr>
              <a:t>N</a:t>
            </a:r>
            <a:r>
              <a:rPr sz="3350" spc="-130" dirty="0">
                <a:latin typeface="Tahoma"/>
                <a:cs typeface="Tahoma"/>
              </a:rPr>
              <a:t> </a:t>
            </a:r>
            <a:r>
              <a:rPr sz="3350" dirty="0">
                <a:latin typeface="Tahoma"/>
                <a:cs typeface="Tahoma"/>
              </a:rPr>
              <a:t>/</a:t>
            </a:r>
            <a:r>
              <a:rPr sz="3350" spc="-130" dirty="0">
                <a:latin typeface="Tahoma"/>
                <a:cs typeface="Tahoma"/>
              </a:rPr>
              <a:t> </a:t>
            </a:r>
            <a:r>
              <a:rPr sz="3350" spc="-10" dirty="0">
                <a:latin typeface="Tahoma"/>
                <a:cs typeface="Tahoma"/>
              </a:rPr>
              <a:t>FB</a:t>
            </a:r>
            <a:r>
              <a:rPr sz="3150" spc="-15" baseline="-21164" dirty="0">
                <a:latin typeface="Tahoma"/>
                <a:cs typeface="Tahoma"/>
              </a:rPr>
              <a:t>f</a:t>
            </a:r>
            <a:r>
              <a:rPr sz="3200" spc="-10" dirty="0">
                <a:latin typeface="Tahoma"/>
                <a:cs typeface="Tahoma"/>
              </a:rPr>
              <a:t>)</a:t>
            </a:r>
            <a:r>
              <a:rPr sz="3200" spc="-10" dirty="0">
                <a:latin typeface="Symbol"/>
                <a:cs typeface="Symbol"/>
              </a:rPr>
              <a:t>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454" y="2224080"/>
            <a:ext cx="5276215" cy="320230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781685" indent="-287020">
              <a:lnSpc>
                <a:spcPct val="100000"/>
              </a:lnSpc>
              <a:spcBef>
                <a:spcPts val="145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81685" algn="l"/>
              </a:tabLst>
            </a:pPr>
            <a:r>
              <a:rPr sz="2950" spc="-85" dirty="0">
                <a:latin typeface="Tahoma"/>
                <a:cs typeface="Tahoma"/>
              </a:rPr>
              <a:t>OrdreMoyen</a:t>
            </a:r>
            <a:r>
              <a:rPr sz="2925" spc="-127" baseline="-19943" dirty="0">
                <a:latin typeface="Tahoma"/>
                <a:cs typeface="Tahoma"/>
              </a:rPr>
              <a:t>I</a:t>
            </a:r>
            <a:r>
              <a:rPr sz="2925" spc="-104" baseline="-19943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</a:t>
            </a:r>
            <a:r>
              <a:rPr sz="2800" dirty="0">
                <a:latin typeface="Tahoma"/>
                <a:cs typeface="Tahoma"/>
              </a:rPr>
              <a:t>2/3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Ordre</a:t>
            </a:r>
            <a:r>
              <a:rPr sz="2925" spc="-52" baseline="-19943" dirty="0">
                <a:latin typeface="Tahoma"/>
                <a:cs typeface="Tahoma"/>
              </a:rPr>
              <a:t>I</a:t>
            </a:r>
            <a:r>
              <a:rPr sz="2925" spc="240" baseline="-19943" dirty="0">
                <a:latin typeface="Tahoma"/>
                <a:cs typeface="Tahoma"/>
              </a:rPr>
              <a:t> </a:t>
            </a:r>
            <a:r>
              <a:rPr sz="2800" spc="-50" dirty="0">
                <a:latin typeface="Symbol"/>
                <a:cs typeface="Symbol"/>
              </a:rPr>
              <a:t></a:t>
            </a:r>
            <a:endParaRPr sz="2800">
              <a:latin typeface="Symbol"/>
              <a:cs typeface="Symbol"/>
            </a:endParaRPr>
          </a:p>
          <a:p>
            <a:pPr marL="781685" indent="-287020">
              <a:lnSpc>
                <a:spcPct val="100000"/>
              </a:lnSpc>
              <a:spcBef>
                <a:spcPts val="135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81685" algn="l"/>
              </a:tabLst>
            </a:pPr>
            <a:r>
              <a:rPr sz="2950" dirty="0">
                <a:latin typeface="Tahoma"/>
                <a:cs typeface="Tahoma"/>
              </a:rPr>
              <a:t>FB</a:t>
            </a:r>
            <a:r>
              <a:rPr sz="2775" baseline="-21021" dirty="0">
                <a:latin typeface="Tahoma"/>
                <a:cs typeface="Tahoma"/>
              </a:rPr>
              <a:t>f</a:t>
            </a:r>
            <a:r>
              <a:rPr sz="2775" spc="270" baseline="-21021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</a:t>
            </a:r>
            <a:r>
              <a:rPr sz="2800" dirty="0">
                <a:latin typeface="Tahoma"/>
                <a:cs typeface="Tahoma"/>
              </a:rPr>
              <a:t>2/3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950" spc="-55" dirty="0">
                <a:latin typeface="Tahoma"/>
                <a:cs typeface="Tahoma"/>
              </a:rPr>
              <a:t>FBM</a:t>
            </a:r>
            <a:r>
              <a:rPr sz="2775" spc="-82" baseline="-21021" dirty="0">
                <a:latin typeface="Tahoma"/>
                <a:cs typeface="Tahoma"/>
              </a:rPr>
              <a:t>f</a:t>
            </a:r>
            <a:r>
              <a:rPr sz="2775" spc="-67" baseline="-21021" dirty="0">
                <a:latin typeface="Tahoma"/>
                <a:cs typeface="Tahoma"/>
              </a:rPr>
              <a:t> </a:t>
            </a:r>
            <a:r>
              <a:rPr sz="2800" spc="-50" dirty="0">
                <a:latin typeface="Symbol"/>
                <a:cs typeface="Symbol"/>
              </a:rPr>
              <a:t></a:t>
            </a:r>
            <a:endParaRPr sz="2800">
              <a:latin typeface="Symbol"/>
              <a:cs typeface="Symbol"/>
            </a:endParaRPr>
          </a:p>
          <a:p>
            <a:pPr marL="380365" indent="-342265">
              <a:lnSpc>
                <a:spcPct val="100000"/>
              </a:lnSpc>
              <a:spcBef>
                <a:spcPts val="15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3200" dirty="0">
                <a:latin typeface="Tahoma"/>
                <a:cs typeface="Tahoma"/>
              </a:rPr>
              <a:t>Index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secondaire</a:t>
            </a:r>
            <a:endParaRPr sz="32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1390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81685" algn="l"/>
              </a:tabLst>
            </a:pPr>
            <a:r>
              <a:rPr sz="2950" dirty="0">
                <a:latin typeface="Tahoma"/>
                <a:cs typeface="Tahoma"/>
              </a:rPr>
              <a:t>FB</a:t>
            </a:r>
            <a:r>
              <a:rPr sz="2775" baseline="-21021" dirty="0">
                <a:latin typeface="Tahoma"/>
                <a:cs typeface="Tahoma"/>
              </a:rPr>
              <a:t>f</a:t>
            </a:r>
            <a:r>
              <a:rPr sz="2775" spc="270" baseline="-21021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~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OrdreMoyen</a:t>
            </a:r>
            <a:r>
              <a:rPr sz="2925" spc="-15" baseline="-19943" dirty="0">
                <a:latin typeface="Tahoma"/>
                <a:cs typeface="Tahoma"/>
              </a:rPr>
              <a:t>I</a:t>
            </a:r>
            <a:endParaRPr sz="2925" baseline="-19943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1330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81685" algn="l"/>
              </a:tabLst>
            </a:pPr>
            <a:r>
              <a:rPr sz="2950" dirty="0">
                <a:latin typeface="Tahoma"/>
                <a:cs typeface="Tahoma"/>
              </a:rPr>
              <a:t>H</a:t>
            </a:r>
            <a:r>
              <a:rPr sz="2950" spc="-1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45" dirty="0">
                <a:latin typeface="Symbol"/>
                <a:cs typeface="Symbol"/>
              </a:rPr>
              <a:t></a:t>
            </a:r>
            <a:r>
              <a:rPr sz="2950" spc="-45" dirty="0">
                <a:latin typeface="Tahoma"/>
                <a:cs typeface="Tahoma"/>
              </a:rPr>
              <a:t>log</a:t>
            </a:r>
            <a:r>
              <a:rPr sz="2925" spc="-67" baseline="-19943" dirty="0">
                <a:latin typeface="Tahoma"/>
                <a:cs typeface="Tahoma"/>
              </a:rPr>
              <a:t>OrdreMoyenI</a:t>
            </a:r>
            <a:r>
              <a:rPr sz="2925" spc="-97" baseline="-19943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(</a:t>
            </a:r>
            <a:r>
              <a:rPr sz="2950" spc="-20" dirty="0">
                <a:latin typeface="Tahoma"/>
                <a:cs typeface="Tahoma"/>
              </a:rPr>
              <a:t>N</a:t>
            </a:r>
            <a:r>
              <a:rPr sz="2800" spc="-20" dirty="0">
                <a:latin typeface="Tahoma"/>
                <a:cs typeface="Tahoma"/>
              </a:rPr>
              <a:t>)</a:t>
            </a:r>
            <a:r>
              <a:rPr sz="2800" spc="-20" dirty="0">
                <a:latin typeface="Symbol"/>
                <a:cs typeface="Symbol"/>
              </a:rPr>
              <a:t></a:t>
            </a:r>
            <a:endParaRPr sz="28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0473" y="553592"/>
            <a:ext cx="4928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28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dans</a:t>
            </a:r>
            <a:r>
              <a:rPr sz="28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un</a:t>
            </a:r>
            <a:r>
              <a:rPr sz="28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0000FF"/>
                </a:solidFill>
                <a:latin typeface="Tahoma"/>
                <a:cs typeface="Tahoma"/>
              </a:rPr>
              <a:t>arbre-B+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768246"/>
            <a:ext cx="3177540" cy="1115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30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80365" algn="l"/>
              </a:tabLst>
            </a:pPr>
            <a:r>
              <a:rPr sz="2500" spc="-20" dirty="0">
                <a:latin typeface="Tahoma"/>
                <a:cs typeface="Tahoma"/>
              </a:rPr>
              <a:t>FBM</a:t>
            </a:r>
            <a:r>
              <a:rPr sz="2500" spc="-1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3,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Ordre</a:t>
            </a:r>
            <a:r>
              <a:rPr sz="2400" spc="-15" baseline="-20833" dirty="0">
                <a:latin typeface="Tahoma"/>
                <a:cs typeface="Tahoma"/>
              </a:rPr>
              <a:t>I</a:t>
            </a:r>
            <a:r>
              <a:rPr sz="2400" spc="240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2605"/>
              </a:spcBef>
            </a:pPr>
            <a:r>
              <a:rPr sz="2450" dirty="0">
                <a:latin typeface="Arial MT"/>
                <a:cs typeface="Arial MT"/>
              </a:rPr>
              <a:t>Bloc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spc="-50" dirty="0">
                <a:latin typeface="Arial MT"/>
                <a:cs typeface="Arial MT"/>
              </a:rPr>
              <a:t>0</a:t>
            </a:r>
            <a:endParaRPr sz="24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18877" y="2936205"/>
          <a:ext cx="7314563" cy="46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565"/>
                <a:gridCol w="1647825"/>
                <a:gridCol w="711200"/>
                <a:gridCol w="1647825"/>
                <a:gridCol w="710564"/>
                <a:gridCol w="1647825"/>
                <a:gridCol w="238759"/>
              </a:tblGrid>
              <a:tr h="469265"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40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18877" y="4231606"/>
          <a:ext cx="7314563" cy="46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565"/>
                <a:gridCol w="1647825"/>
                <a:gridCol w="711200"/>
                <a:gridCol w="1647825"/>
                <a:gridCol w="710564"/>
                <a:gridCol w="1647825"/>
                <a:gridCol w="238759"/>
              </a:tblGrid>
              <a:tr h="469265"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20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40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66349" y="3776727"/>
            <a:ext cx="904240" cy="1697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Arial MT"/>
                <a:cs typeface="Arial MT"/>
              </a:rPr>
              <a:t>Bloc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spc="-50" dirty="0">
                <a:latin typeface="Arial MT"/>
                <a:cs typeface="Arial MT"/>
              </a:rPr>
              <a:t>0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latin typeface="Arial MT"/>
                <a:cs typeface="Arial MT"/>
              </a:rPr>
              <a:t>Bloc</a:t>
            </a:r>
            <a:r>
              <a:rPr sz="2450" spc="55" dirty="0">
                <a:latin typeface="Arial MT"/>
                <a:cs typeface="Arial MT"/>
              </a:rPr>
              <a:t> </a:t>
            </a:r>
            <a:r>
              <a:rPr sz="2450" spc="-50" dirty="0">
                <a:latin typeface="Arial MT"/>
                <a:cs typeface="Arial MT"/>
              </a:rPr>
              <a:t>0</a:t>
            </a:r>
            <a:endParaRPr sz="245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8877" y="5527006"/>
          <a:ext cx="7314563" cy="469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565"/>
                <a:gridCol w="1647825"/>
                <a:gridCol w="711200"/>
                <a:gridCol w="1647825"/>
                <a:gridCol w="710564"/>
                <a:gridCol w="1647825"/>
                <a:gridCol w="238759"/>
              </a:tblGrid>
              <a:tr h="469265"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20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40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60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50" spc="-25" dirty="0">
                          <a:latin typeface="Arial MT"/>
                          <a:cs typeface="Arial MT"/>
                        </a:rPr>
                        <a:t>...</a:t>
                      </a:r>
                      <a:endParaRPr sz="2450">
                        <a:latin typeface="Arial MT"/>
                        <a:cs typeface="Arial MT"/>
                      </a:endParaRPr>
                    </a:p>
                  </a:txBody>
                  <a:tcPr marL="0" marR="0" marT="203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609600" y="3505200"/>
            <a:ext cx="8077200" cy="533400"/>
            <a:chOff x="609600" y="3505200"/>
            <a:chExt cx="8077200" cy="533400"/>
          </a:xfrm>
        </p:grpSpPr>
        <p:sp>
          <p:nvSpPr>
            <p:cNvPr id="9" name="object 9"/>
            <p:cNvSpPr/>
            <p:nvPr/>
          </p:nvSpPr>
          <p:spPr>
            <a:xfrm>
              <a:off x="4667250" y="35052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" y="37338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85800" y="4800600"/>
            <a:ext cx="8077200" cy="533400"/>
            <a:chOff x="685800" y="4800600"/>
            <a:chExt cx="8077200" cy="533400"/>
          </a:xfrm>
        </p:grpSpPr>
        <p:sp>
          <p:nvSpPr>
            <p:cNvPr id="12" name="object 12"/>
            <p:cNvSpPr/>
            <p:nvPr/>
          </p:nvSpPr>
          <p:spPr>
            <a:xfrm>
              <a:off x="4667250" y="4800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800" y="50292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7885" y="83312"/>
            <a:ext cx="50406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Débordement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division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949" y="720979"/>
            <a:ext cx="5304790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Insertion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Débordement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division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bloc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40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promue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Nouvelle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racine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06543" y="3324881"/>
          <a:ext cx="4073524" cy="260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5605"/>
                <a:gridCol w="917575"/>
                <a:gridCol w="396239"/>
                <a:gridCol w="917575"/>
                <a:gridCol w="395605"/>
                <a:gridCol w="917575"/>
                <a:gridCol w="133350"/>
              </a:tblGrid>
              <a:tr h="26098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...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...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...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83010" y="3066305"/>
            <a:ext cx="514350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5800" y="3810000"/>
            <a:ext cx="8077200" cy="533400"/>
            <a:chOff x="685800" y="3810000"/>
            <a:chExt cx="8077200" cy="533400"/>
          </a:xfrm>
        </p:grpSpPr>
        <p:sp>
          <p:nvSpPr>
            <p:cNvPr id="7" name="object 7"/>
            <p:cNvSpPr/>
            <p:nvPr/>
          </p:nvSpPr>
          <p:spPr>
            <a:xfrm>
              <a:off x="4667250" y="38100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40386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0290" y="5654758"/>
            <a:ext cx="379095" cy="254635"/>
            <a:chOff x="700290" y="5654758"/>
            <a:chExt cx="379095" cy="254635"/>
          </a:xfrm>
        </p:grpSpPr>
        <p:sp>
          <p:nvSpPr>
            <p:cNvPr id="10" name="object 10"/>
            <p:cNvSpPr/>
            <p:nvPr/>
          </p:nvSpPr>
          <p:spPr>
            <a:xfrm>
              <a:off x="705370" y="5659838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4" h="244475">
                  <a:moveTo>
                    <a:pt x="368897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368897" y="244022"/>
                  </a:lnTo>
                  <a:lnTo>
                    <a:pt x="3688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5370" y="5659838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4" h="244475">
                  <a:moveTo>
                    <a:pt x="0" y="244022"/>
                  </a:moveTo>
                  <a:lnTo>
                    <a:pt x="368897" y="244022"/>
                  </a:lnTo>
                  <a:lnTo>
                    <a:pt x="368897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83999" y="5656625"/>
            <a:ext cx="208279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9193" y="5654758"/>
            <a:ext cx="865505" cy="254635"/>
            <a:chOff x="1069193" y="5654758"/>
            <a:chExt cx="865505" cy="254635"/>
          </a:xfrm>
        </p:grpSpPr>
        <p:sp>
          <p:nvSpPr>
            <p:cNvPr id="14" name="object 14"/>
            <p:cNvSpPr/>
            <p:nvPr/>
          </p:nvSpPr>
          <p:spPr>
            <a:xfrm>
              <a:off x="1074273" y="5659838"/>
              <a:ext cx="855344" cy="244475"/>
            </a:xfrm>
            <a:custGeom>
              <a:avLst/>
              <a:gdLst/>
              <a:ahLst/>
              <a:cxnLst/>
              <a:rect l="l" t="t" r="r" b="b"/>
              <a:pathLst>
                <a:path w="855344" h="244475">
                  <a:moveTo>
                    <a:pt x="854897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854897" y="244022"/>
                  </a:lnTo>
                  <a:lnTo>
                    <a:pt x="8548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4273" y="5659838"/>
              <a:ext cx="855344" cy="244475"/>
            </a:xfrm>
            <a:custGeom>
              <a:avLst/>
              <a:gdLst/>
              <a:ahLst/>
              <a:cxnLst/>
              <a:rect l="l" t="t" r="r" b="b"/>
              <a:pathLst>
                <a:path w="855344" h="244475">
                  <a:moveTo>
                    <a:pt x="0" y="244022"/>
                  </a:moveTo>
                  <a:lnTo>
                    <a:pt x="854897" y="244022"/>
                  </a:lnTo>
                  <a:lnTo>
                    <a:pt x="854897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20363" y="5656625"/>
            <a:ext cx="162560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latin typeface="Arial MT"/>
                <a:cs typeface="Arial MT"/>
              </a:rPr>
              <a:t>...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24091" y="5654758"/>
            <a:ext cx="379095" cy="254635"/>
            <a:chOff x="1924091" y="5654758"/>
            <a:chExt cx="379095" cy="254635"/>
          </a:xfrm>
        </p:grpSpPr>
        <p:sp>
          <p:nvSpPr>
            <p:cNvPr id="18" name="object 18"/>
            <p:cNvSpPr/>
            <p:nvPr/>
          </p:nvSpPr>
          <p:spPr>
            <a:xfrm>
              <a:off x="1929171" y="5659838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5" h="244475">
                  <a:moveTo>
                    <a:pt x="368571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368571" y="244022"/>
                  </a:lnTo>
                  <a:lnTo>
                    <a:pt x="36857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9171" y="5659838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5" h="244475">
                  <a:moveTo>
                    <a:pt x="0" y="244022"/>
                  </a:moveTo>
                  <a:lnTo>
                    <a:pt x="368571" y="244022"/>
                  </a:lnTo>
                  <a:lnTo>
                    <a:pt x="368571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007794" y="5656625"/>
            <a:ext cx="208279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latin typeface="Arial MT"/>
                <a:cs typeface="Arial MT"/>
              </a:rPr>
              <a:t>30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92648" y="5654758"/>
            <a:ext cx="865505" cy="254635"/>
            <a:chOff x="2292648" y="5654758"/>
            <a:chExt cx="865505" cy="254635"/>
          </a:xfrm>
        </p:grpSpPr>
        <p:sp>
          <p:nvSpPr>
            <p:cNvPr id="22" name="object 22"/>
            <p:cNvSpPr/>
            <p:nvPr/>
          </p:nvSpPr>
          <p:spPr>
            <a:xfrm>
              <a:off x="2297728" y="5659838"/>
              <a:ext cx="855344" cy="244475"/>
            </a:xfrm>
            <a:custGeom>
              <a:avLst/>
              <a:gdLst/>
              <a:ahLst/>
              <a:cxnLst/>
              <a:rect l="l" t="t" r="r" b="b"/>
              <a:pathLst>
                <a:path w="855344" h="244475">
                  <a:moveTo>
                    <a:pt x="854897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854897" y="244022"/>
                  </a:lnTo>
                  <a:lnTo>
                    <a:pt x="8548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97728" y="5659838"/>
              <a:ext cx="855344" cy="244475"/>
            </a:xfrm>
            <a:custGeom>
              <a:avLst/>
              <a:gdLst/>
              <a:ahLst/>
              <a:cxnLst/>
              <a:rect l="l" t="t" r="r" b="b"/>
              <a:pathLst>
                <a:path w="855344" h="244475">
                  <a:moveTo>
                    <a:pt x="0" y="244022"/>
                  </a:moveTo>
                  <a:lnTo>
                    <a:pt x="854897" y="244022"/>
                  </a:lnTo>
                  <a:lnTo>
                    <a:pt x="854897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44172" y="5656625"/>
            <a:ext cx="162560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spc="-25" dirty="0">
                <a:latin typeface="Arial MT"/>
                <a:cs typeface="Arial MT"/>
              </a:rPr>
              <a:t>...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147519" y="5654758"/>
            <a:ext cx="1358265" cy="254635"/>
            <a:chOff x="3147519" y="5654758"/>
            <a:chExt cx="1358265" cy="254635"/>
          </a:xfrm>
        </p:grpSpPr>
        <p:sp>
          <p:nvSpPr>
            <p:cNvPr id="26" name="object 26"/>
            <p:cNvSpPr/>
            <p:nvPr/>
          </p:nvSpPr>
          <p:spPr>
            <a:xfrm>
              <a:off x="3152599" y="5659838"/>
              <a:ext cx="1224280" cy="244475"/>
            </a:xfrm>
            <a:custGeom>
              <a:avLst/>
              <a:gdLst/>
              <a:ahLst/>
              <a:cxnLst/>
              <a:rect l="l" t="t" r="r" b="b"/>
              <a:pathLst>
                <a:path w="1224279" h="244475">
                  <a:moveTo>
                    <a:pt x="0" y="244022"/>
                  </a:moveTo>
                  <a:lnTo>
                    <a:pt x="368897" y="244022"/>
                  </a:lnTo>
                  <a:lnTo>
                    <a:pt x="368897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  <a:path w="1224279" h="244475">
                  <a:moveTo>
                    <a:pt x="368938" y="244022"/>
                  </a:moveTo>
                  <a:lnTo>
                    <a:pt x="1223836" y="244022"/>
                  </a:lnTo>
                  <a:lnTo>
                    <a:pt x="1223836" y="0"/>
                  </a:lnTo>
                  <a:lnTo>
                    <a:pt x="368938" y="0"/>
                  </a:lnTo>
                  <a:lnTo>
                    <a:pt x="368938" y="244022"/>
                  </a:lnTo>
                  <a:close/>
                </a:path>
              </a:pathLst>
            </a:custGeom>
            <a:ln w="9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76408" y="5659838"/>
              <a:ext cx="124460" cy="244475"/>
            </a:xfrm>
            <a:custGeom>
              <a:avLst/>
              <a:gdLst/>
              <a:ahLst/>
              <a:cxnLst/>
              <a:rect l="l" t="t" r="r" b="b"/>
              <a:pathLst>
                <a:path w="124460" h="244475">
                  <a:moveTo>
                    <a:pt x="123946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123946" y="244022"/>
                  </a:lnTo>
                  <a:lnTo>
                    <a:pt x="12394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76408" y="5659838"/>
              <a:ext cx="124460" cy="244475"/>
            </a:xfrm>
            <a:custGeom>
              <a:avLst/>
              <a:gdLst/>
              <a:ahLst/>
              <a:cxnLst/>
              <a:rect l="l" t="t" r="r" b="b"/>
              <a:pathLst>
                <a:path w="124460" h="244475">
                  <a:moveTo>
                    <a:pt x="0" y="244022"/>
                  </a:moveTo>
                  <a:lnTo>
                    <a:pt x="123946" y="244022"/>
                  </a:lnTo>
                  <a:lnTo>
                    <a:pt x="123946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70951" y="5412605"/>
            <a:ext cx="4819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861122" y="5654947"/>
          <a:ext cx="3794123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300"/>
                <a:gridCol w="854710"/>
                <a:gridCol w="368934"/>
                <a:gridCol w="854709"/>
                <a:gridCol w="368935"/>
                <a:gridCol w="854710"/>
                <a:gridCol w="123825"/>
              </a:tblGrid>
              <a:tr h="243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...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60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...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/>
          <p:cNvSpPr txBox="1"/>
          <p:nvPr/>
        </p:nvSpPr>
        <p:spPr>
          <a:xfrm>
            <a:off x="4931671" y="5412605"/>
            <a:ext cx="4819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1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61056" y="4678033"/>
            <a:ext cx="1599565" cy="254635"/>
            <a:chOff x="3761056" y="4678033"/>
            <a:chExt cx="1599565" cy="254635"/>
          </a:xfrm>
        </p:grpSpPr>
        <p:sp>
          <p:nvSpPr>
            <p:cNvPr id="33" name="object 33"/>
            <p:cNvSpPr/>
            <p:nvPr/>
          </p:nvSpPr>
          <p:spPr>
            <a:xfrm>
              <a:off x="3766136" y="4683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120684" y="0"/>
                  </a:moveTo>
                  <a:lnTo>
                    <a:pt x="0" y="0"/>
                  </a:lnTo>
                  <a:lnTo>
                    <a:pt x="0" y="244347"/>
                  </a:lnTo>
                  <a:lnTo>
                    <a:pt x="120684" y="244347"/>
                  </a:lnTo>
                  <a:lnTo>
                    <a:pt x="12068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66136" y="4683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0" y="244347"/>
                  </a:moveTo>
                  <a:lnTo>
                    <a:pt x="120684" y="244347"/>
                  </a:lnTo>
                  <a:lnTo>
                    <a:pt x="120684" y="0"/>
                  </a:lnTo>
                  <a:lnTo>
                    <a:pt x="0" y="0"/>
                  </a:lnTo>
                  <a:lnTo>
                    <a:pt x="0" y="244347"/>
                  </a:lnTo>
                  <a:close/>
                </a:path>
              </a:pathLst>
            </a:custGeom>
            <a:ln w="9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86802" y="4683113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5" h="244475">
                  <a:moveTo>
                    <a:pt x="368897" y="0"/>
                  </a:moveTo>
                  <a:lnTo>
                    <a:pt x="0" y="0"/>
                  </a:lnTo>
                  <a:lnTo>
                    <a:pt x="0" y="244347"/>
                  </a:lnTo>
                  <a:lnTo>
                    <a:pt x="368897" y="244347"/>
                  </a:lnTo>
                  <a:lnTo>
                    <a:pt x="36889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86802" y="4683113"/>
              <a:ext cx="368935" cy="244475"/>
            </a:xfrm>
            <a:custGeom>
              <a:avLst/>
              <a:gdLst/>
              <a:ahLst/>
              <a:cxnLst/>
              <a:rect l="l" t="t" r="r" b="b"/>
              <a:pathLst>
                <a:path w="368935" h="244475">
                  <a:moveTo>
                    <a:pt x="0" y="244347"/>
                  </a:moveTo>
                  <a:lnTo>
                    <a:pt x="368897" y="244347"/>
                  </a:lnTo>
                  <a:lnTo>
                    <a:pt x="368897" y="0"/>
                  </a:lnTo>
                  <a:lnTo>
                    <a:pt x="0" y="0"/>
                  </a:lnTo>
                  <a:lnTo>
                    <a:pt x="0" y="244347"/>
                  </a:lnTo>
                  <a:close/>
                </a:path>
              </a:pathLst>
            </a:custGeom>
            <a:ln w="97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255741" y="4683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120683" y="0"/>
                  </a:moveTo>
                  <a:lnTo>
                    <a:pt x="0" y="0"/>
                  </a:lnTo>
                  <a:lnTo>
                    <a:pt x="0" y="244347"/>
                  </a:lnTo>
                  <a:lnTo>
                    <a:pt x="120683" y="244347"/>
                  </a:lnTo>
                  <a:lnTo>
                    <a:pt x="1206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55741" y="4683113"/>
              <a:ext cx="1099820" cy="244475"/>
            </a:xfrm>
            <a:custGeom>
              <a:avLst/>
              <a:gdLst/>
              <a:ahLst/>
              <a:cxnLst/>
              <a:rect l="l" t="t" r="r" b="b"/>
              <a:pathLst>
                <a:path w="1099820" h="244475">
                  <a:moveTo>
                    <a:pt x="0" y="244347"/>
                  </a:moveTo>
                  <a:lnTo>
                    <a:pt x="120683" y="244347"/>
                  </a:lnTo>
                  <a:lnTo>
                    <a:pt x="120683" y="0"/>
                  </a:lnTo>
                  <a:lnTo>
                    <a:pt x="0" y="0"/>
                  </a:lnTo>
                  <a:lnTo>
                    <a:pt x="0" y="244347"/>
                  </a:lnTo>
                  <a:close/>
                </a:path>
                <a:path w="1099820" h="244475">
                  <a:moveTo>
                    <a:pt x="120666" y="244347"/>
                  </a:moveTo>
                  <a:lnTo>
                    <a:pt x="489564" y="244347"/>
                  </a:lnTo>
                  <a:lnTo>
                    <a:pt x="489564" y="0"/>
                  </a:lnTo>
                  <a:lnTo>
                    <a:pt x="120666" y="0"/>
                  </a:lnTo>
                  <a:lnTo>
                    <a:pt x="120666" y="244347"/>
                  </a:lnTo>
                  <a:close/>
                </a:path>
                <a:path w="1099820" h="244475">
                  <a:moveTo>
                    <a:pt x="489605" y="244347"/>
                  </a:moveTo>
                  <a:lnTo>
                    <a:pt x="610288" y="244347"/>
                  </a:lnTo>
                  <a:lnTo>
                    <a:pt x="610288" y="0"/>
                  </a:lnTo>
                  <a:lnTo>
                    <a:pt x="489605" y="0"/>
                  </a:lnTo>
                  <a:lnTo>
                    <a:pt x="489605" y="244347"/>
                  </a:lnTo>
                  <a:close/>
                </a:path>
                <a:path w="1099820" h="244475">
                  <a:moveTo>
                    <a:pt x="610271" y="244347"/>
                  </a:moveTo>
                  <a:lnTo>
                    <a:pt x="978843" y="244347"/>
                  </a:lnTo>
                  <a:lnTo>
                    <a:pt x="978843" y="0"/>
                  </a:lnTo>
                  <a:lnTo>
                    <a:pt x="610271" y="0"/>
                  </a:lnTo>
                  <a:lnTo>
                    <a:pt x="610271" y="244347"/>
                  </a:lnTo>
                  <a:close/>
                </a:path>
                <a:path w="1099820" h="244475">
                  <a:moveTo>
                    <a:pt x="978802" y="244347"/>
                  </a:moveTo>
                  <a:lnTo>
                    <a:pt x="1099485" y="244347"/>
                  </a:lnTo>
                  <a:lnTo>
                    <a:pt x="1099485" y="0"/>
                  </a:lnTo>
                  <a:lnTo>
                    <a:pt x="978802" y="0"/>
                  </a:lnTo>
                  <a:lnTo>
                    <a:pt x="978802" y="244347"/>
                  </a:lnTo>
                  <a:close/>
                </a:path>
              </a:pathLst>
            </a:custGeom>
            <a:ln w="9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828529" y="4387520"/>
            <a:ext cx="481965" cy="51371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2</a:t>
            </a:r>
            <a:endParaRPr sz="125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420"/>
              </a:spcBef>
            </a:pPr>
            <a:r>
              <a:rPr sz="1250" spc="-25" dirty="0"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053130" y="4802039"/>
            <a:ext cx="4281805" cy="747395"/>
            <a:chOff x="2053130" y="4802039"/>
            <a:chExt cx="4281805" cy="747395"/>
          </a:xfrm>
        </p:grpSpPr>
        <p:sp>
          <p:nvSpPr>
            <p:cNvPr id="41" name="object 41"/>
            <p:cNvSpPr/>
            <p:nvPr/>
          </p:nvSpPr>
          <p:spPr>
            <a:xfrm>
              <a:off x="2121558" y="4806922"/>
              <a:ext cx="1703705" cy="700405"/>
            </a:xfrm>
            <a:custGeom>
              <a:avLst/>
              <a:gdLst/>
              <a:ahLst/>
              <a:cxnLst/>
              <a:rect l="l" t="t" r="r" b="b"/>
              <a:pathLst>
                <a:path w="1703704" h="700404">
                  <a:moveTo>
                    <a:pt x="1703347" y="0"/>
                  </a:moveTo>
                  <a:lnTo>
                    <a:pt x="0" y="699882"/>
                  </a:lnTo>
                </a:path>
              </a:pathLst>
            </a:custGeom>
            <a:ln w="9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53130" y="5464562"/>
              <a:ext cx="98425" cy="81280"/>
            </a:xfrm>
            <a:custGeom>
              <a:avLst/>
              <a:gdLst/>
              <a:ahLst/>
              <a:cxnLst/>
              <a:rect l="l" t="t" r="r" b="b"/>
              <a:pathLst>
                <a:path w="98425" h="81279">
                  <a:moveTo>
                    <a:pt x="61897" y="0"/>
                  </a:moveTo>
                  <a:lnTo>
                    <a:pt x="0" y="74739"/>
                  </a:lnTo>
                  <a:lnTo>
                    <a:pt x="97812" y="81227"/>
                  </a:lnTo>
                  <a:lnTo>
                    <a:pt x="61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14510" y="4806922"/>
              <a:ext cx="1948814" cy="703580"/>
            </a:xfrm>
            <a:custGeom>
              <a:avLst/>
              <a:gdLst/>
              <a:ahLst/>
              <a:cxnLst/>
              <a:rect l="l" t="t" r="r" b="b"/>
              <a:pathLst>
                <a:path w="1948814" h="703579">
                  <a:moveTo>
                    <a:pt x="0" y="0"/>
                  </a:moveTo>
                  <a:lnTo>
                    <a:pt x="1948217" y="703126"/>
                  </a:lnTo>
                </a:path>
              </a:pathLst>
            </a:custGeom>
            <a:ln w="9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36608" y="5467806"/>
              <a:ext cx="98425" cy="81280"/>
            </a:xfrm>
            <a:custGeom>
              <a:avLst/>
              <a:gdLst/>
              <a:ahLst/>
              <a:cxnLst/>
              <a:rect l="l" t="t" r="r" b="b"/>
              <a:pathLst>
                <a:path w="98425" h="81279">
                  <a:moveTo>
                    <a:pt x="29384" y="0"/>
                  </a:moveTo>
                  <a:lnTo>
                    <a:pt x="0" y="81241"/>
                  </a:lnTo>
                  <a:lnTo>
                    <a:pt x="97812" y="71494"/>
                  </a:lnTo>
                  <a:lnTo>
                    <a:pt x="29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4438441" y="5737823"/>
            <a:ext cx="427990" cy="88265"/>
            <a:chOff x="4438441" y="5737823"/>
            <a:chExt cx="427990" cy="88265"/>
          </a:xfrm>
        </p:grpSpPr>
        <p:sp>
          <p:nvSpPr>
            <p:cNvPr id="46" name="object 46"/>
            <p:cNvSpPr/>
            <p:nvPr/>
          </p:nvSpPr>
          <p:spPr>
            <a:xfrm>
              <a:off x="4438441" y="5783635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>
                  <a:moveTo>
                    <a:pt x="0" y="0"/>
                  </a:moveTo>
                  <a:lnTo>
                    <a:pt x="349348" y="0"/>
                  </a:lnTo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77995" y="5737823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4">
                  <a:moveTo>
                    <a:pt x="0" y="0"/>
                  </a:moveTo>
                  <a:lnTo>
                    <a:pt x="0" y="88055"/>
                  </a:lnTo>
                  <a:lnTo>
                    <a:pt x="88017" y="45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3250" y="613028"/>
            <a:ext cx="31629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25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5800" y="3429000"/>
            <a:ext cx="8077200" cy="533400"/>
            <a:chOff x="685800" y="34290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4667250" y="34290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36576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1570" y="2992838"/>
            <a:ext cx="368935" cy="244475"/>
          </a:xfrm>
          <a:prstGeom prst="rect">
            <a:avLst/>
          </a:prstGeom>
          <a:solidFill>
            <a:srgbClr val="C0C0C0"/>
          </a:solidFill>
          <a:ln w="9773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20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0470" y="2992838"/>
            <a:ext cx="855344" cy="244475"/>
          </a:xfrm>
          <a:prstGeom prst="rect">
            <a:avLst/>
          </a:prstGeom>
          <a:solidFill>
            <a:srgbClr val="C0C0C0"/>
          </a:solidFill>
          <a:ln w="9770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...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5371" y="2992838"/>
            <a:ext cx="368935" cy="244475"/>
          </a:xfrm>
          <a:prstGeom prst="rect">
            <a:avLst/>
          </a:prstGeom>
          <a:solidFill>
            <a:srgbClr val="C0C0C0"/>
          </a:solidFill>
          <a:ln w="9781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30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3935" y="2992838"/>
            <a:ext cx="855344" cy="244475"/>
          </a:xfrm>
          <a:prstGeom prst="rect">
            <a:avLst/>
          </a:prstGeom>
          <a:solidFill>
            <a:srgbClr val="C0C0C0"/>
          </a:solidFill>
          <a:ln w="9795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...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23719" y="2987758"/>
            <a:ext cx="1358265" cy="254635"/>
            <a:chOff x="3223719" y="2987758"/>
            <a:chExt cx="1358265" cy="254635"/>
          </a:xfrm>
        </p:grpSpPr>
        <p:sp>
          <p:nvSpPr>
            <p:cNvPr id="11" name="object 11"/>
            <p:cNvSpPr/>
            <p:nvPr/>
          </p:nvSpPr>
          <p:spPr>
            <a:xfrm>
              <a:off x="3228799" y="2992838"/>
              <a:ext cx="1224280" cy="244475"/>
            </a:xfrm>
            <a:custGeom>
              <a:avLst/>
              <a:gdLst/>
              <a:ahLst/>
              <a:cxnLst/>
              <a:rect l="l" t="t" r="r" b="b"/>
              <a:pathLst>
                <a:path w="1224279" h="244475">
                  <a:moveTo>
                    <a:pt x="0" y="244022"/>
                  </a:moveTo>
                  <a:lnTo>
                    <a:pt x="368897" y="244022"/>
                  </a:lnTo>
                  <a:lnTo>
                    <a:pt x="368897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  <a:path w="1224279" h="244475">
                  <a:moveTo>
                    <a:pt x="368938" y="244022"/>
                  </a:moveTo>
                  <a:lnTo>
                    <a:pt x="1223836" y="244022"/>
                  </a:lnTo>
                  <a:lnTo>
                    <a:pt x="1223836" y="0"/>
                  </a:lnTo>
                  <a:lnTo>
                    <a:pt x="368938" y="0"/>
                  </a:lnTo>
                  <a:lnTo>
                    <a:pt x="368938" y="244022"/>
                  </a:lnTo>
                  <a:close/>
                </a:path>
              </a:pathLst>
            </a:custGeom>
            <a:ln w="9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52608" y="2992838"/>
              <a:ext cx="124460" cy="244475"/>
            </a:xfrm>
            <a:custGeom>
              <a:avLst/>
              <a:gdLst/>
              <a:ahLst/>
              <a:cxnLst/>
              <a:rect l="l" t="t" r="r" b="b"/>
              <a:pathLst>
                <a:path w="124460" h="244475">
                  <a:moveTo>
                    <a:pt x="123946" y="0"/>
                  </a:moveTo>
                  <a:lnTo>
                    <a:pt x="0" y="0"/>
                  </a:lnTo>
                  <a:lnTo>
                    <a:pt x="0" y="244022"/>
                  </a:lnTo>
                  <a:lnTo>
                    <a:pt x="123946" y="244022"/>
                  </a:lnTo>
                  <a:lnTo>
                    <a:pt x="12394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52608" y="2992838"/>
              <a:ext cx="124460" cy="244475"/>
            </a:xfrm>
            <a:custGeom>
              <a:avLst/>
              <a:gdLst/>
              <a:ahLst/>
              <a:cxnLst/>
              <a:rect l="l" t="t" r="r" b="b"/>
              <a:pathLst>
                <a:path w="124460" h="244475">
                  <a:moveTo>
                    <a:pt x="0" y="244022"/>
                  </a:moveTo>
                  <a:lnTo>
                    <a:pt x="123946" y="244022"/>
                  </a:lnTo>
                  <a:lnTo>
                    <a:pt x="123946" y="0"/>
                  </a:lnTo>
                  <a:lnTo>
                    <a:pt x="0" y="0"/>
                  </a:lnTo>
                  <a:lnTo>
                    <a:pt x="0" y="244022"/>
                  </a:lnTo>
                  <a:close/>
                </a:path>
              </a:pathLst>
            </a:custGeom>
            <a:ln w="9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47151" y="2745605"/>
            <a:ext cx="4819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0</a:t>
            </a:r>
            <a:endParaRPr sz="1250">
              <a:latin typeface="Arial MT"/>
              <a:cs typeface="Arial MT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937322" y="2987947"/>
          <a:ext cx="3794123" cy="24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300"/>
                <a:gridCol w="854710"/>
                <a:gridCol w="368934"/>
                <a:gridCol w="854709"/>
                <a:gridCol w="368935"/>
                <a:gridCol w="854710"/>
                <a:gridCol w="123825"/>
              </a:tblGrid>
              <a:tr h="243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40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...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60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250" spc="-25" dirty="0">
                          <a:latin typeface="Arial MT"/>
                          <a:cs typeface="Arial MT"/>
                        </a:rPr>
                        <a:t>...</a:t>
                      </a:r>
                      <a:endParaRPr sz="1250">
                        <a:latin typeface="Arial MT"/>
                        <a:cs typeface="Arial MT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5007871" y="2745605"/>
            <a:ext cx="4819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1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37256" y="2011033"/>
            <a:ext cx="131445" cy="254635"/>
            <a:chOff x="3837256" y="2011033"/>
            <a:chExt cx="131445" cy="254635"/>
          </a:xfrm>
        </p:grpSpPr>
        <p:sp>
          <p:nvSpPr>
            <p:cNvPr id="18" name="object 18"/>
            <p:cNvSpPr/>
            <p:nvPr/>
          </p:nvSpPr>
          <p:spPr>
            <a:xfrm>
              <a:off x="3842336" y="2016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120684" y="0"/>
                  </a:moveTo>
                  <a:lnTo>
                    <a:pt x="0" y="0"/>
                  </a:lnTo>
                  <a:lnTo>
                    <a:pt x="0" y="244347"/>
                  </a:lnTo>
                  <a:lnTo>
                    <a:pt x="120684" y="244347"/>
                  </a:lnTo>
                  <a:lnTo>
                    <a:pt x="12068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42336" y="2016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0" y="244347"/>
                  </a:moveTo>
                  <a:lnTo>
                    <a:pt x="120684" y="244347"/>
                  </a:lnTo>
                  <a:lnTo>
                    <a:pt x="120684" y="0"/>
                  </a:lnTo>
                  <a:lnTo>
                    <a:pt x="0" y="0"/>
                  </a:lnTo>
                  <a:lnTo>
                    <a:pt x="0" y="244347"/>
                  </a:lnTo>
                  <a:close/>
                </a:path>
              </a:pathLst>
            </a:custGeom>
            <a:ln w="97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63011" y="2016113"/>
            <a:ext cx="368935" cy="244475"/>
          </a:xfrm>
          <a:prstGeom prst="rect">
            <a:avLst/>
          </a:prstGeom>
          <a:solidFill>
            <a:srgbClr val="FFFF00"/>
          </a:solidFill>
          <a:ln w="9816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sz="1250" spc="-25" dirty="0">
                <a:latin typeface="Arial MT"/>
                <a:cs typeface="Arial MT"/>
              </a:rPr>
              <a:t>40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4729" y="1768879"/>
            <a:ext cx="481965" cy="221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65" dirty="0">
                <a:latin typeface="Arial MT"/>
                <a:cs typeface="Arial MT"/>
              </a:rPr>
              <a:t> </a:t>
            </a:r>
            <a:r>
              <a:rPr sz="1250" spc="-50" dirty="0">
                <a:latin typeface="Arial MT"/>
                <a:cs typeface="Arial MT"/>
              </a:rPr>
              <a:t>2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129330" y="2135039"/>
            <a:ext cx="1776730" cy="744220"/>
            <a:chOff x="2129330" y="2135039"/>
            <a:chExt cx="1776730" cy="744220"/>
          </a:xfrm>
        </p:grpSpPr>
        <p:sp>
          <p:nvSpPr>
            <p:cNvPr id="23" name="object 23"/>
            <p:cNvSpPr/>
            <p:nvPr/>
          </p:nvSpPr>
          <p:spPr>
            <a:xfrm>
              <a:off x="2197758" y="2139922"/>
              <a:ext cx="1703705" cy="700405"/>
            </a:xfrm>
            <a:custGeom>
              <a:avLst/>
              <a:gdLst/>
              <a:ahLst/>
              <a:cxnLst/>
              <a:rect l="l" t="t" r="r" b="b"/>
              <a:pathLst>
                <a:path w="1703704" h="700405">
                  <a:moveTo>
                    <a:pt x="1703347" y="0"/>
                  </a:moveTo>
                  <a:lnTo>
                    <a:pt x="0" y="699882"/>
                  </a:lnTo>
                </a:path>
              </a:pathLst>
            </a:custGeom>
            <a:ln w="9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29330" y="2797562"/>
              <a:ext cx="98425" cy="81280"/>
            </a:xfrm>
            <a:custGeom>
              <a:avLst/>
              <a:gdLst/>
              <a:ahLst/>
              <a:cxnLst/>
              <a:rect l="l" t="t" r="r" b="b"/>
              <a:pathLst>
                <a:path w="98425" h="81280">
                  <a:moveTo>
                    <a:pt x="61897" y="0"/>
                  </a:moveTo>
                  <a:lnTo>
                    <a:pt x="0" y="74739"/>
                  </a:lnTo>
                  <a:lnTo>
                    <a:pt x="97812" y="81227"/>
                  </a:lnTo>
                  <a:lnTo>
                    <a:pt x="618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4327050" y="2011222"/>
            <a:ext cx="2084070" cy="871219"/>
            <a:chOff x="4327050" y="2011222"/>
            <a:chExt cx="2084070" cy="871219"/>
          </a:xfrm>
        </p:grpSpPr>
        <p:sp>
          <p:nvSpPr>
            <p:cNvPr id="26" name="object 26"/>
            <p:cNvSpPr/>
            <p:nvPr/>
          </p:nvSpPr>
          <p:spPr>
            <a:xfrm>
              <a:off x="4331941" y="2016113"/>
              <a:ext cx="121285" cy="244475"/>
            </a:xfrm>
            <a:custGeom>
              <a:avLst/>
              <a:gdLst/>
              <a:ahLst/>
              <a:cxnLst/>
              <a:rect l="l" t="t" r="r" b="b"/>
              <a:pathLst>
                <a:path w="121285" h="244475">
                  <a:moveTo>
                    <a:pt x="120683" y="0"/>
                  </a:moveTo>
                  <a:lnTo>
                    <a:pt x="0" y="0"/>
                  </a:lnTo>
                  <a:lnTo>
                    <a:pt x="0" y="244347"/>
                  </a:lnTo>
                  <a:lnTo>
                    <a:pt x="120683" y="244347"/>
                  </a:lnTo>
                  <a:lnTo>
                    <a:pt x="1206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31941" y="2016113"/>
              <a:ext cx="2007235" cy="827405"/>
            </a:xfrm>
            <a:custGeom>
              <a:avLst/>
              <a:gdLst/>
              <a:ahLst/>
              <a:cxnLst/>
              <a:rect l="l" t="t" r="r" b="b"/>
              <a:pathLst>
                <a:path w="2007235" h="827405">
                  <a:moveTo>
                    <a:pt x="0" y="244347"/>
                  </a:moveTo>
                  <a:lnTo>
                    <a:pt x="120683" y="244347"/>
                  </a:lnTo>
                  <a:lnTo>
                    <a:pt x="120683" y="0"/>
                  </a:lnTo>
                  <a:lnTo>
                    <a:pt x="0" y="0"/>
                  </a:lnTo>
                  <a:lnTo>
                    <a:pt x="0" y="244347"/>
                  </a:lnTo>
                  <a:close/>
                </a:path>
                <a:path w="2007235" h="827405">
                  <a:moveTo>
                    <a:pt x="120666" y="244347"/>
                  </a:moveTo>
                  <a:lnTo>
                    <a:pt x="489564" y="244347"/>
                  </a:lnTo>
                  <a:lnTo>
                    <a:pt x="489564" y="0"/>
                  </a:lnTo>
                  <a:lnTo>
                    <a:pt x="120666" y="0"/>
                  </a:lnTo>
                  <a:lnTo>
                    <a:pt x="120666" y="244347"/>
                  </a:lnTo>
                  <a:close/>
                </a:path>
                <a:path w="2007235" h="827405">
                  <a:moveTo>
                    <a:pt x="489605" y="244347"/>
                  </a:moveTo>
                  <a:lnTo>
                    <a:pt x="610288" y="244347"/>
                  </a:lnTo>
                  <a:lnTo>
                    <a:pt x="610288" y="0"/>
                  </a:lnTo>
                  <a:lnTo>
                    <a:pt x="489605" y="0"/>
                  </a:lnTo>
                  <a:lnTo>
                    <a:pt x="489605" y="244347"/>
                  </a:lnTo>
                  <a:close/>
                </a:path>
                <a:path w="2007235" h="827405">
                  <a:moveTo>
                    <a:pt x="610271" y="244347"/>
                  </a:moveTo>
                  <a:lnTo>
                    <a:pt x="978843" y="244347"/>
                  </a:lnTo>
                  <a:lnTo>
                    <a:pt x="978843" y="0"/>
                  </a:lnTo>
                  <a:lnTo>
                    <a:pt x="610271" y="0"/>
                  </a:lnTo>
                  <a:lnTo>
                    <a:pt x="610271" y="244347"/>
                  </a:lnTo>
                  <a:close/>
                </a:path>
                <a:path w="2007235" h="827405">
                  <a:moveTo>
                    <a:pt x="978802" y="244347"/>
                  </a:moveTo>
                  <a:lnTo>
                    <a:pt x="1099485" y="244347"/>
                  </a:lnTo>
                  <a:lnTo>
                    <a:pt x="1099485" y="0"/>
                  </a:lnTo>
                  <a:lnTo>
                    <a:pt x="978802" y="0"/>
                  </a:lnTo>
                  <a:lnTo>
                    <a:pt x="978802" y="244347"/>
                  </a:lnTo>
                  <a:close/>
                </a:path>
                <a:path w="2007235" h="827405">
                  <a:moveTo>
                    <a:pt x="58768" y="123809"/>
                  </a:moveTo>
                  <a:lnTo>
                    <a:pt x="2006986" y="826935"/>
                  </a:lnTo>
                </a:path>
              </a:pathLst>
            </a:custGeom>
            <a:ln w="9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12808" y="2800806"/>
              <a:ext cx="98425" cy="81280"/>
            </a:xfrm>
            <a:custGeom>
              <a:avLst/>
              <a:gdLst/>
              <a:ahLst/>
              <a:cxnLst/>
              <a:rect l="l" t="t" r="r" b="b"/>
              <a:pathLst>
                <a:path w="98425" h="81280">
                  <a:moveTo>
                    <a:pt x="29384" y="0"/>
                  </a:moveTo>
                  <a:lnTo>
                    <a:pt x="0" y="81241"/>
                  </a:lnTo>
                  <a:lnTo>
                    <a:pt x="97812" y="71494"/>
                  </a:lnTo>
                  <a:lnTo>
                    <a:pt x="29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514641" y="3070823"/>
            <a:ext cx="427990" cy="88265"/>
            <a:chOff x="4514641" y="3070823"/>
            <a:chExt cx="427990" cy="88265"/>
          </a:xfrm>
        </p:grpSpPr>
        <p:sp>
          <p:nvSpPr>
            <p:cNvPr id="30" name="object 30"/>
            <p:cNvSpPr/>
            <p:nvPr/>
          </p:nvSpPr>
          <p:spPr>
            <a:xfrm>
              <a:off x="4514641" y="3116635"/>
              <a:ext cx="349885" cy="0"/>
            </a:xfrm>
            <a:custGeom>
              <a:avLst/>
              <a:gdLst/>
              <a:ahLst/>
              <a:cxnLst/>
              <a:rect l="l" t="t" r="r" b="b"/>
              <a:pathLst>
                <a:path w="349885">
                  <a:moveTo>
                    <a:pt x="0" y="0"/>
                  </a:moveTo>
                  <a:lnTo>
                    <a:pt x="349348" y="0"/>
                  </a:lnTo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54195" y="3070823"/>
              <a:ext cx="88265" cy="88265"/>
            </a:xfrm>
            <a:custGeom>
              <a:avLst/>
              <a:gdLst/>
              <a:ahLst/>
              <a:cxnLst/>
              <a:rect l="l" t="t" r="r" b="b"/>
              <a:pathLst>
                <a:path w="88264" h="88264">
                  <a:moveTo>
                    <a:pt x="0" y="0"/>
                  </a:moveTo>
                  <a:lnTo>
                    <a:pt x="0" y="88055"/>
                  </a:lnTo>
                  <a:lnTo>
                    <a:pt x="88017" y="45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060618" y="4384173"/>
            <a:ext cx="179070" cy="340360"/>
            <a:chOff x="4060618" y="4384173"/>
            <a:chExt cx="179070" cy="340360"/>
          </a:xfrm>
        </p:grpSpPr>
        <p:sp>
          <p:nvSpPr>
            <p:cNvPr id="33" name="object 33"/>
            <p:cNvSpPr/>
            <p:nvPr/>
          </p:nvSpPr>
          <p:spPr>
            <a:xfrm>
              <a:off x="4067286" y="43908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165547" y="0"/>
                  </a:moveTo>
                  <a:lnTo>
                    <a:pt x="0" y="0"/>
                  </a:lnTo>
                  <a:lnTo>
                    <a:pt x="0" y="326661"/>
                  </a:lnTo>
                  <a:lnTo>
                    <a:pt x="165547" y="326661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67286" y="43908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0" y="326661"/>
                  </a:moveTo>
                  <a:lnTo>
                    <a:pt x="165547" y="326661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661"/>
                  </a:lnTo>
                  <a:close/>
                </a:path>
              </a:pathLst>
            </a:custGeom>
            <a:ln w="13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232824" y="4390840"/>
            <a:ext cx="488950" cy="327025"/>
          </a:xfrm>
          <a:prstGeom prst="rect">
            <a:avLst/>
          </a:prstGeom>
          <a:solidFill>
            <a:srgbClr val="FFFF00"/>
          </a:solidFill>
          <a:ln w="1309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40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59064" y="4064599"/>
            <a:ext cx="635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003791" y="4549828"/>
            <a:ext cx="1153160" cy="986155"/>
            <a:chOff x="3003791" y="4549828"/>
            <a:chExt cx="1153160" cy="986155"/>
          </a:xfrm>
        </p:grpSpPr>
        <p:sp>
          <p:nvSpPr>
            <p:cNvPr id="38" name="object 38"/>
            <p:cNvSpPr/>
            <p:nvPr/>
          </p:nvSpPr>
          <p:spPr>
            <a:xfrm>
              <a:off x="3082213" y="4556358"/>
              <a:ext cx="1068070" cy="909955"/>
            </a:xfrm>
            <a:custGeom>
              <a:avLst/>
              <a:gdLst/>
              <a:ahLst/>
              <a:cxnLst/>
              <a:rect l="l" t="t" r="r" b="b"/>
              <a:pathLst>
                <a:path w="1068070" h="909954">
                  <a:moveTo>
                    <a:pt x="1067746" y="0"/>
                  </a:moveTo>
                  <a:lnTo>
                    <a:pt x="0" y="909592"/>
                  </a:lnTo>
                </a:path>
              </a:pathLst>
            </a:custGeom>
            <a:ln w="130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03791" y="5413814"/>
              <a:ext cx="130810" cy="121920"/>
            </a:xfrm>
            <a:custGeom>
              <a:avLst/>
              <a:gdLst/>
              <a:ahLst/>
              <a:cxnLst/>
              <a:rect l="l" t="t" r="r" b="b"/>
              <a:pathLst>
                <a:path w="130810" h="121920">
                  <a:moveTo>
                    <a:pt x="52275" y="0"/>
                  </a:moveTo>
                  <a:lnTo>
                    <a:pt x="0" y="121638"/>
                  </a:lnTo>
                  <a:lnTo>
                    <a:pt x="130697" y="86887"/>
                  </a:lnTo>
                  <a:lnTo>
                    <a:pt x="52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4714694" y="4384307"/>
            <a:ext cx="1641475" cy="1151255"/>
            <a:chOff x="4714694" y="4384307"/>
            <a:chExt cx="1641475" cy="1151255"/>
          </a:xfrm>
        </p:grpSpPr>
        <p:sp>
          <p:nvSpPr>
            <p:cNvPr id="41" name="object 41"/>
            <p:cNvSpPr/>
            <p:nvPr/>
          </p:nvSpPr>
          <p:spPr>
            <a:xfrm>
              <a:off x="4721227" y="43908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165547" y="0"/>
                  </a:moveTo>
                  <a:lnTo>
                    <a:pt x="0" y="0"/>
                  </a:lnTo>
                  <a:lnTo>
                    <a:pt x="0" y="326661"/>
                  </a:lnTo>
                  <a:lnTo>
                    <a:pt x="165547" y="326661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21227" y="4390840"/>
              <a:ext cx="1547495" cy="1088390"/>
            </a:xfrm>
            <a:custGeom>
              <a:avLst/>
              <a:gdLst/>
              <a:ahLst/>
              <a:cxnLst/>
              <a:rect l="l" t="t" r="r" b="b"/>
              <a:pathLst>
                <a:path w="1547495" h="1088389">
                  <a:moveTo>
                    <a:pt x="0" y="326661"/>
                  </a:moveTo>
                  <a:lnTo>
                    <a:pt x="165547" y="326661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661"/>
                  </a:lnTo>
                  <a:close/>
                </a:path>
                <a:path w="1547495" h="1088389">
                  <a:moveTo>
                    <a:pt x="165529" y="326661"/>
                  </a:moveTo>
                  <a:lnTo>
                    <a:pt x="653468" y="326661"/>
                  </a:lnTo>
                  <a:lnTo>
                    <a:pt x="653468" y="0"/>
                  </a:lnTo>
                  <a:lnTo>
                    <a:pt x="165529" y="0"/>
                  </a:lnTo>
                  <a:lnTo>
                    <a:pt x="165529" y="326661"/>
                  </a:lnTo>
                  <a:close/>
                </a:path>
                <a:path w="1547495" h="1088389">
                  <a:moveTo>
                    <a:pt x="653396" y="326661"/>
                  </a:moveTo>
                  <a:lnTo>
                    <a:pt x="819379" y="326661"/>
                  </a:lnTo>
                  <a:lnTo>
                    <a:pt x="819379" y="0"/>
                  </a:lnTo>
                  <a:lnTo>
                    <a:pt x="653396" y="0"/>
                  </a:lnTo>
                  <a:lnTo>
                    <a:pt x="653396" y="326661"/>
                  </a:lnTo>
                  <a:close/>
                </a:path>
                <a:path w="1547495" h="1088389">
                  <a:moveTo>
                    <a:pt x="819288" y="326661"/>
                  </a:moveTo>
                  <a:lnTo>
                    <a:pt x="1307228" y="326661"/>
                  </a:lnTo>
                  <a:lnTo>
                    <a:pt x="1307228" y="0"/>
                  </a:lnTo>
                  <a:lnTo>
                    <a:pt x="819288" y="0"/>
                  </a:lnTo>
                  <a:lnTo>
                    <a:pt x="819288" y="326661"/>
                  </a:lnTo>
                  <a:close/>
                </a:path>
                <a:path w="1547495" h="1088389">
                  <a:moveTo>
                    <a:pt x="1307337" y="326661"/>
                  </a:moveTo>
                  <a:lnTo>
                    <a:pt x="1472884" y="326661"/>
                  </a:lnTo>
                  <a:lnTo>
                    <a:pt x="1472884" y="0"/>
                  </a:lnTo>
                  <a:lnTo>
                    <a:pt x="1307337" y="0"/>
                  </a:lnTo>
                  <a:lnTo>
                    <a:pt x="1307337" y="326661"/>
                  </a:lnTo>
                  <a:close/>
                </a:path>
                <a:path w="1547495" h="1088389">
                  <a:moveTo>
                    <a:pt x="82673" y="165517"/>
                  </a:moveTo>
                  <a:lnTo>
                    <a:pt x="1547364" y="1088139"/>
                  </a:lnTo>
                </a:path>
              </a:pathLst>
            </a:custGeom>
            <a:ln w="13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24620" y="5422507"/>
              <a:ext cx="131445" cy="113030"/>
            </a:xfrm>
            <a:custGeom>
              <a:avLst/>
              <a:gdLst/>
              <a:ahLst/>
              <a:cxnLst/>
              <a:rect l="l" t="t" r="r" b="b"/>
              <a:pathLst>
                <a:path w="131445" h="113029">
                  <a:moveTo>
                    <a:pt x="61414" y="0"/>
                  </a:moveTo>
                  <a:lnTo>
                    <a:pt x="0" y="95561"/>
                  </a:lnTo>
                  <a:lnTo>
                    <a:pt x="131006" y="112945"/>
                  </a:lnTo>
                  <a:lnTo>
                    <a:pt x="61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78739" y="5696595"/>
            <a:ext cx="492759" cy="326390"/>
          </a:xfrm>
          <a:prstGeom prst="rect">
            <a:avLst/>
          </a:prstGeom>
          <a:solidFill>
            <a:srgbClr val="C0C0C0"/>
          </a:solidFill>
          <a:ln w="1306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20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264933" y="5690063"/>
            <a:ext cx="257175" cy="339725"/>
            <a:chOff x="2264933" y="5690063"/>
            <a:chExt cx="257175" cy="339725"/>
          </a:xfrm>
        </p:grpSpPr>
        <p:sp>
          <p:nvSpPr>
            <p:cNvPr id="46" name="object 46"/>
            <p:cNvSpPr/>
            <p:nvPr/>
          </p:nvSpPr>
          <p:spPr>
            <a:xfrm>
              <a:off x="2271464" y="56965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243969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3969" y="326225"/>
                  </a:lnTo>
                  <a:lnTo>
                    <a:pt x="2439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71464" y="56965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0" y="326225"/>
                  </a:moveTo>
                  <a:lnTo>
                    <a:pt x="243969" y="326225"/>
                  </a:lnTo>
                  <a:lnTo>
                    <a:pt x="243969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3977763" y="5689927"/>
            <a:ext cx="1314450" cy="339725"/>
            <a:chOff x="3977763" y="5689927"/>
            <a:chExt cx="1314450" cy="339725"/>
          </a:xfrm>
        </p:grpSpPr>
        <p:sp>
          <p:nvSpPr>
            <p:cNvPr id="49" name="object 49"/>
            <p:cNvSpPr/>
            <p:nvPr/>
          </p:nvSpPr>
          <p:spPr>
            <a:xfrm>
              <a:off x="3984430" y="5696594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5" h="326389">
                  <a:moveTo>
                    <a:pt x="165547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165547" y="326225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984430" y="5696594"/>
              <a:ext cx="1207770" cy="326390"/>
            </a:xfrm>
            <a:custGeom>
              <a:avLst/>
              <a:gdLst/>
              <a:ahLst/>
              <a:cxnLst/>
              <a:rect l="l" t="t" r="r" b="b"/>
              <a:pathLst>
                <a:path w="1207770" h="326389">
                  <a:moveTo>
                    <a:pt x="0" y="326225"/>
                  </a:moveTo>
                  <a:lnTo>
                    <a:pt x="165547" y="326225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  <a:path w="1207770" h="326389">
                  <a:moveTo>
                    <a:pt x="82855" y="165501"/>
                  </a:moveTo>
                  <a:lnTo>
                    <a:pt x="1207220" y="165501"/>
                  </a:lnTo>
                </a:path>
              </a:pathLst>
            </a:custGeom>
            <a:ln w="13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74207" y="580085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0" y="0"/>
                  </a:moveTo>
                  <a:lnTo>
                    <a:pt x="0" y="117718"/>
                  </a:lnTo>
                  <a:lnTo>
                    <a:pt x="117560" y="61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870595" y="5370355"/>
            <a:ext cx="635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515434" y="5696595"/>
            <a:ext cx="488950" cy="326390"/>
          </a:xfrm>
          <a:prstGeom prst="rect">
            <a:avLst/>
          </a:prstGeom>
          <a:solidFill>
            <a:srgbClr val="C0C0C0"/>
          </a:solidFill>
          <a:ln w="1307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25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997260" y="5690063"/>
            <a:ext cx="261620" cy="339725"/>
            <a:chOff x="2997260" y="5690063"/>
            <a:chExt cx="261620" cy="339725"/>
          </a:xfrm>
        </p:grpSpPr>
        <p:sp>
          <p:nvSpPr>
            <p:cNvPr id="55" name="object 55"/>
            <p:cNvSpPr/>
            <p:nvPr/>
          </p:nvSpPr>
          <p:spPr>
            <a:xfrm>
              <a:off x="3003791" y="5696595"/>
              <a:ext cx="248920" cy="326390"/>
            </a:xfrm>
            <a:custGeom>
              <a:avLst/>
              <a:gdLst/>
              <a:ahLst/>
              <a:cxnLst/>
              <a:rect l="l" t="t" r="r" b="b"/>
              <a:pathLst>
                <a:path w="248920" h="326389">
                  <a:moveTo>
                    <a:pt x="248330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8330" y="326225"/>
                  </a:lnTo>
                  <a:lnTo>
                    <a:pt x="24833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03791" y="5696595"/>
              <a:ext cx="248920" cy="326390"/>
            </a:xfrm>
            <a:custGeom>
              <a:avLst/>
              <a:gdLst/>
              <a:ahLst/>
              <a:cxnLst/>
              <a:rect l="l" t="t" r="r" b="b"/>
              <a:pathLst>
                <a:path w="248920" h="326389">
                  <a:moveTo>
                    <a:pt x="0" y="326225"/>
                  </a:moveTo>
                  <a:lnTo>
                    <a:pt x="248330" y="326225"/>
                  </a:lnTo>
                  <a:lnTo>
                    <a:pt x="248330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252122" y="5696595"/>
            <a:ext cx="488315" cy="326390"/>
          </a:xfrm>
          <a:prstGeom prst="rect">
            <a:avLst/>
          </a:prstGeom>
          <a:solidFill>
            <a:srgbClr val="C0C0C0"/>
          </a:solidFill>
          <a:ln w="1307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30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733511" y="5690063"/>
            <a:ext cx="257810" cy="339725"/>
            <a:chOff x="3733511" y="5690063"/>
            <a:chExt cx="257810" cy="339725"/>
          </a:xfrm>
        </p:grpSpPr>
        <p:sp>
          <p:nvSpPr>
            <p:cNvPr id="59" name="object 59"/>
            <p:cNvSpPr/>
            <p:nvPr/>
          </p:nvSpPr>
          <p:spPr>
            <a:xfrm>
              <a:off x="3740043" y="56965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244405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4405" y="326225"/>
                  </a:lnTo>
                  <a:lnTo>
                    <a:pt x="24440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40043" y="56965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0" y="326225"/>
                  </a:moveTo>
                  <a:lnTo>
                    <a:pt x="244405" y="326225"/>
                  </a:lnTo>
                  <a:lnTo>
                    <a:pt x="244405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5285235" y="5690061"/>
          <a:ext cx="2371086" cy="32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759"/>
                <a:gridCol w="243840"/>
                <a:gridCol w="492759"/>
                <a:gridCol w="243840"/>
                <a:gridCol w="488314"/>
                <a:gridCol w="248285"/>
                <a:gridCol w="161289"/>
              </a:tblGrid>
              <a:tr h="32575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40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60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15</a:t>
            </a:fld>
            <a:endParaRPr spc="-25" dirty="0"/>
          </a:p>
        </p:txBody>
      </p:sp>
      <p:sp>
        <p:nvSpPr>
          <p:cNvPr id="62" name="object 62"/>
          <p:cNvSpPr txBox="1"/>
          <p:nvPr/>
        </p:nvSpPr>
        <p:spPr>
          <a:xfrm>
            <a:off x="5383727" y="5370355"/>
            <a:ext cx="635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5170" y="55879"/>
            <a:ext cx="2767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2800" b="1" spc="-1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2800" b="1" spc="-10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0000FF"/>
                </a:solidFill>
                <a:latin typeface="Tahoma"/>
                <a:cs typeface="Tahoma"/>
              </a:rPr>
              <a:t>10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5800" y="3962400"/>
            <a:ext cx="8077200" cy="533400"/>
            <a:chOff x="685800" y="39624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4667250" y="39624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41910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060618" y="2402973"/>
            <a:ext cx="179070" cy="340360"/>
            <a:chOff x="4060618" y="2402973"/>
            <a:chExt cx="179070" cy="340360"/>
          </a:xfrm>
        </p:grpSpPr>
        <p:sp>
          <p:nvSpPr>
            <p:cNvPr id="7" name="object 7"/>
            <p:cNvSpPr/>
            <p:nvPr/>
          </p:nvSpPr>
          <p:spPr>
            <a:xfrm>
              <a:off x="4067286" y="24096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165547" y="0"/>
                  </a:moveTo>
                  <a:lnTo>
                    <a:pt x="0" y="0"/>
                  </a:lnTo>
                  <a:lnTo>
                    <a:pt x="0" y="326661"/>
                  </a:lnTo>
                  <a:lnTo>
                    <a:pt x="165547" y="326661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67286" y="24096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0" y="326661"/>
                  </a:moveTo>
                  <a:lnTo>
                    <a:pt x="165547" y="326661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661"/>
                  </a:lnTo>
                  <a:close/>
                </a:path>
              </a:pathLst>
            </a:custGeom>
            <a:ln w="130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32824" y="2409640"/>
            <a:ext cx="488950" cy="327025"/>
          </a:xfrm>
          <a:prstGeom prst="rect">
            <a:avLst/>
          </a:prstGeom>
          <a:solidFill>
            <a:srgbClr val="FFFF00"/>
          </a:solidFill>
          <a:ln w="1309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40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454" y="568579"/>
            <a:ext cx="5304790" cy="18021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Débordement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division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bloc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promue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2400">
              <a:latin typeface="Tahoma"/>
              <a:cs typeface="Tahoma"/>
            </a:endParaRPr>
          </a:p>
          <a:p>
            <a:pPr marL="340614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03791" y="2568628"/>
            <a:ext cx="1153160" cy="986155"/>
            <a:chOff x="3003791" y="2568628"/>
            <a:chExt cx="1153160" cy="986155"/>
          </a:xfrm>
        </p:grpSpPr>
        <p:sp>
          <p:nvSpPr>
            <p:cNvPr id="12" name="object 12"/>
            <p:cNvSpPr/>
            <p:nvPr/>
          </p:nvSpPr>
          <p:spPr>
            <a:xfrm>
              <a:off x="3082213" y="2575158"/>
              <a:ext cx="1068070" cy="909955"/>
            </a:xfrm>
            <a:custGeom>
              <a:avLst/>
              <a:gdLst/>
              <a:ahLst/>
              <a:cxnLst/>
              <a:rect l="l" t="t" r="r" b="b"/>
              <a:pathLst>
                <a:path w="1068070" h="909954">
                  <a:moveTo>
                    <a:pt x="1067746" y="0"/>
                  </a:moveTo>
                  <a:lnTo>
                    <a:pt x="0" y="909592"/>
                  </a:lnTo>
                </a:path>
              </a:pathLst>
            </a:custGeom>
            <a:ln w="130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03791" y="3432614"/>
              <a:ext cx="130810" cy="121920"/>
            </a:xfrm>
            <a:custGeom>
              <a:avLst/>
              <a:gdLst/>
              <a:ahLst/>
              <a:cxnLst/>
              <a:rect l="l" t="t" r="r" b="b"/>
              <a:pathLst>
                <a:path w="130810" h="121920">
                  <a:moveTo>
                    <a:pt x="52275" y="0"/>
                  </a:moveTo>
                  <a:lnTo>
                    <a:pt x="0" y="121638"/>
                  </a:lnTo>
                  <a:lnTo>
                    <a:pt x="130697" y="86887"/>
                  </a:lnTo>
                  <a:lnTo>
                    <a:pt x="52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714694" y="2403107"/>
            <a:ext cx="1641475" cy="1151255"/>
            <a:chOff x="4714694" y="2403107"/>
            <a:chExt cx="1641475" cy="1151255"/>
          </a:xfrm>
        </p:grpSpPr>
        <p:sp>
          <p:nvSpPr>
            <p:cNvPr id="15" name="object 15"/>
            <p:cNvSpPr/>
            <p:nvPr/>
          </p:nvSpPr>
          <p:spPr>
            <a:xfrm>
              <a:off x="4721227" y="2409640"/>
              <a:ext cx="165735" cy="327025"/>
            </a:xfrm>
            <a:custGeom>
              <a:avLst/>
              <a:gdLst/>
              <a:ahLst/>
              <a:cxnLst/>
              <a:rect l="l" t="t" r="r" b="b"/>
              <a:pathLst>
                <a:path w="165735" h="327025">
                  <a:moveTo>
                    <a:pt x="165547" y="0"/>
                  </a:moveTo>
                  <a:lnTo>
                    <a:pt x="0" y="0"/>
                  </a:lnTo>
                  <a:lnTo>
                    <a:pt x="0" y="326661"/>
                  </a:lnTo>
                  <a:lnTo>
                    <a:pt x="165547" y="326661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21227" y="2409640"/>
              <a:ext cx="1547495" cy="1088390"/>
            </a:xfrm>
            <a:custGeom>
              <a:avLst/>
              <a:gdLst/>
              <a:ahLst/>
              <a:cxnLst/>
              <a:rect l="l" t="t" r="r" b="b"/>
              <a:pathLst>
                <a:path w="1547495" h="1088389">
                  <a:moveTo>
                    <a:pt x="0" y="326661"/>
                  </a:moveTo>
                  <a:lnTo>
                    <a:pt x="165547" y="326661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661"/>
                  </a:lnTo>
                  <a:close/>
                </a:path>
                <a:path w="1547495" h="1088389">
                  <a:moveTo>
                    <a:pt x="165529" y="326661"/>
                  </a:moveTo>
                  <a:lnTo>
                    <a:pt x="653468" y="326661"/>
                  </a:lnTo>
                  <a:lnTo>
                    <a:pt x="653468" y="0"/>
                  </a:lnTo>
                  <a:lnTo>
                    <a:pt x="165529" y="0"/>
                  </a:lnTo>
                  <a:lnTo>
                    <a:pt x="165529" y="326661"/>
                  </a:lnTo>
                  <a:close/>
                </a:path>
                <a:path w="1547495" h="1088389">
                  <a:moveTo>
                    <a:pt x="653396" y="326661"/>
                  </a:moveTo>
                  <a:lnTo>
                    <a:pt x="819379" y="326661"/>
                  </a:lnTo>
                  <a:lnTo>
                    <a:pt x="819379" y="0"/>
                  </a:lnTo>
                  <a:lnTo>
                    <a:pt x="653396" y="0"/>
                  </a:lnTo>
                  <a:lnTo>
                    <a:pt x="653396" y="326661"/>
                  </a:lnTo>
                  <a:close/>
                </a:path>
                <a:path w="1547495" h="1088389">
                  <a:moveTo>
                    <a:pt x="819288" y="326661"/>
                  </a:moveTo>
                  <a:lnTo>
                    <a:pt x="1307228" y="326661"/>
                  </a:lnTo>
                  <a:lnTo>
                    <a:pt x="1307228" y="0"/>
                  </a:lnTo>
                  <a:lnTo>
                    <a:pt x="819288" y="0"/>
                  </a:lnTo>
                  <a:lnTo>
                    <a:pt x="819288" y="326661"/>
                  </a:lnTo>
                  <a:close/>
                </a:path>
                <a:path w="1547495" h="1088389">
                  <a:moveTo>
                    <a:pt x="1307337" y="326661"/>
                  </a:moveTo>
                  <a:lnTo>
                    <a:pt x="1472884" y="326661"/>
                  </a:lnTo>
                  <a:lnTo>
                    <a:pt x="1472884" y="0"/>
                  </a:lnTo>
                  <a:lnTo>
                    <a:pt x="1307337" y="0"/>
                  </a:lnTo>
                  <a:lnTo>
                    <a:pt x="1307337" y="326661"/>
                  </a:lnTo>
                  <a:close/>
                </a:path>
                <a:path w="1547495" h="1088389">
                  <a:moveTo>
                    <a:pt x="82673" y="165517"/>
                  </a:moveTo>
                  <a:lnTo>
                    <a:pt x="1547364" y="1088139"/>
                  </a:lnTo>
                </a:path>
              </a:pathLst>
            </a:custGeom>
            <a:ln w="13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24620" y="3441307"/>
              <a:ext cx="131445" cy="113030"/>
            </a:xfrm>
            <a:custGeom>
              <a:avLst/>
              <a:gdLst/>
              <a:ahLst/>
              <a:cxnLst/>
              <a:rect l="l" t="t" r="r" b="b"/>
              <a:pathLst>
                <a:path w="131445" h="113029">
                  <a:moveTo>
                    <a:pt x="61414" y="0"/>
                  </a:moveTo>
                  <a:lnTo>
                    <a:pt x="0" y="95561"/>
                  </a:lnTo>
                  <a:lnTo>
                    <a:pt x="131006" y="112945"/>
                  </a:lnTo>
                  <a:lnTo>
                    <a:pt x="61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78739" y="3715395"/>
            <a:ext cx="492759" cy="326390"/>
          </a:xfrm>
          <a:prstGeom prst="rect">
            <a:avLst/>
          </a:prstGeom>
          <a:solidFill>
            <a:srgbClr val="C0C0C0"/>
          </a:solidFill>
          <a:ln w="1306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20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64933" y="3708863"/>
            <a:ext cx="257175" cy="339725"/>
            <a:chOff x="2264933" y="3708863"/>
            <a:chExt cx="257175" cy="339725"/>
          </a:xfrm>
        </p:grpSpPr>
        <p:sp>
          <p:nvSpPr>
            <p:cNvPr id="20" name="object 20"/>
            <p:cNvSpPr/>
            <p:nvPr/>
          </p:nvSpPr>
          <p:spPr>
            <a:xfrm>
              <a:off x="2271464" y="37153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243969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3969" y="326225"/>
                  </a:lnTo>
                  <a:lnTo>
                    <a:pt x="24396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71464" y="37153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0" y="326225"/>
                  </a:moveTo>
                  <a:lnTo>
                    <a:pt x="243969" y="326225"/>
                  </a:lnTo>
                  <a:lnTo>
                    <a:pt x="243969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977763" y="3708727"/>
            <a:ext cx="1314450" cy="339725"/>
            <a:chOff x="3977763" y="3708727"/>
            <a:chExt cx="1314450" cy="339725"/>
          </a:xfrm>
        </p:grpSpPr>
        <p:sp>
          <p:nvSpPr>
            <p:cNvPr id="23" name="object 23"/>
            <p:cNvSpPr/>
            <p:nvPr/>
          </p:nvSpPr>
          <p:spPr>
            <a:xfrm>
              <a:off x="3984430" y="3715394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5" h="326389">
                  <a:moveTo>
                    <a:pt x="165547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165547" y="326225"/>
                  </a:lnTo>
                  <a:lnTo>
                    <a:pt x="16554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84430" y="3715394"/>
              <a:ext cx="1207770" cy="326390"/>
            </a:xfrm>
            <a:custGeom>
              <a:avLst/>
              <a:gdLst/>
              <a:ahLst/>
              <a:cxnLst/>
              <a:rect l="l" t="t" r="r" b="b"/>
              <a:pathLst>
                <a:path w="1207770" h="326389">
                  <a:moveTo>
                    <a:pt x="0" y="326225"/>
                  </a:moveTo>
                  <a:lnTo>
                    <a:pt x="165547" y="326225"/>
                  </a:lnTo>
                  <a:lnTo>
                    <a:pt x="165547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  <a:path w="1207770" h="326389">
                  <a:moveTo>
                    <a:pt x="82855" y="165501"/>
                  </a:moveTo>
                  <a:lnTo>
                    <a:pt x="1207220" y="165501"/>
                  </a:lnTo>
                </a:path>
              </a:pathLst>
            </a:custGeom>
            <a:ln w="130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74207" y="381965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0" y="0"/>
                  </a:moveTo>
                  <a:lnTo>
                    <a:pt x="0" y="117718"/>
                  </a:lnTo>
                  <a:lnTo>
                    <a:pt x="117560" y="61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70595" y="3389155"/>
            <a:ext cx="635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15434" y="3715395"/>
            <a:ext cx="488950" cy="326390"/>
          </a:xfrm>
          <a:prstGeom prst="rect">
            <a:avLst/>
          </a:prstGeom>
          <a:solidFill>
            <a:srgbClr val="C0C0C0"/>
          </a:solidFill>
          <a:ln w="1307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25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997260" y="3708863"/>
            <a:ext cx="261620" cy="339725"/>
            <a:chOff x="2997260" y="3708863"/>
            <a:chExt cx="261620" cy="339725"/>
          </a:xfrm>
        </p:grpSpPr>
        <p:sp>
          <p:nvSpPr>
            <p:cNvPr id="29" name="object 29"/>
            <p:cNvSpPr/>
            <p:nvPr/>
          </p:nvSpPr>
          <p:spPr>
            <a:xfrm>
              <a:off x="3003791" y="3715395"/>
              <a:ext cx="248920" cy="326390"/>
            </a:xfrm>
            <a:custGeom>
              <a:avLst/>
              <a:gdLst/>
              <a:ahLst/>
              <a:cxnLst/>
              <a:rect l="l" t="t" r="r" b="b"/>
              <a:pathLst>
                <a:path w="248920" h="326389">
                  <a:moveTo>
                    <a:pt x="248330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8330" y="326225"/>
                  </a:lnTo>
                  <a:lnTo>
                    <a:pt x="24833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03791" y="3715395"/>
              <a:ext cx="248920" cy="326390"/>
            </a:xfrm>
            <a:custGeom>
              <a:avLst/>
              <a:gdLst/>
              <a:ahLst/>
              <a:cxnLst/>
              <a:rect l="l" t="t" r="r" b="b"/>
              <a:pathLst>
                <a:path w="248920" h="326389">
                  <a:moveTo>
                    <a:pt x="0" y="326225"/>
                  </a:moveTo>
                  <a:lnTo>
                    <a:pt x="248330" y="326225"/>
                  </a:lnTo>
                  <a:lnTo>
                    <a:pt x="248330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252122" y="3715395"/>
            <a:ext cx="488315" cy="326390"/>
          </a:xfrm>
          <a:prstGeom prst="rect">
            <a:avLst/>
          </a:prstGeom>
          <a:solidFill>
            <a:srgbClr val="C0C0C0"/>
          </a:solidFill>
          <a:ln w="13078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4"/>
              </a:spcBef>
            </a:pPr>
            <a:r>
              <a:rPr sz="1700" spc="-25" dirty="0">
                <a:latin typeface="Arial MT"/>
                <a:cs typeface="Arial MT"/>
              </a:rPr>
              <a:t>30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33511" y="3708863"/>
            <a:ext cx="257810" cy="339725"/>
            <a:chOff x="3733511" y="3708863"/>
            <a:chExt cx="257810" cy="339725"/>
          </a:xfrm>
        </p:grpSpPr>
        <p:sp>
          <p:nvSpPr>
            <p:cNvPr id="33" name="object 33"/>
            <p:cNvSpPr/>
            <p:nvPr/>
          </p:nvSpPr>
          <p:spPr>
            <a:xfrm>
              <a:off x="3740043" y="37153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244405" y="0"/>
                  </a:moveTo>
                  <a:lnTo>
                    <a:pt x="0" y="0"/>
                  </a:lnTo>
                  <a:lnTo>
                    <a:pt x="0" y="326225"/>
                  </a:lnTo>
                  <a:lnTo>
                    <a:pt x="244405" y="326225"/>
                  </a:lnTo>
                  <a:lnTo>
                    <a:pt x="24440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40043" y="3715395"/>
              <a:ext cx="244475" cy="326390"/>
            </a:xfrm>
            <a:custGeom>
              <a:avLst/>
              <a:gdLst/>
              <a:ahLst/>
              <a:cxnLst/>
              <a:rect l="l" t="t" r="r" b="b"/>
              <a:pathLst>
                <a:path w="244475" h="326389">
                  <a:moveTo>
                    <a:pt x="0" y="326225"/>
                  </a:moveTo>
                  <a:lnTo>
                    <a:pt x="244405" y="326225"/>
                  </a:lnTo>
                  <a:lnTo>
                    <a:pt x="244405" y="0"/>
                  </a:lnTo>
                  <a:lnTo>
                    <a:pt x="0" y="0"/>
                  </a:lnTo>
                  <a:lnTo>
                    <a:pt x="0" y="326225"/>
                  </a:lnTo>
                  <a:close/>
                </a:path>
              </a:pathLst>
            </a:custGeom>
            <a:ln w="130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5285235" y="3708861"/>
          <a:ext cx="2371086" cy="32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759"/>
                <a:gridCol w="243840"/>
                <a:gridCol w="492759"/>
                <a:gridCol w="243840"/>
                <a:gridCol w="488314"/>
                <a:gridCol w="248285"/>
                <a:gridCol w="161289"/>
              </a:tblGrid>
              <a:tr h="32575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40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60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5383727" y="3389155"/>
            <a:ext cx="63500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389534" y="5930623"/>
          <a:ext cx="2171063" cy="29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50"/>
                <a:gridCol w="223520"/>
                <a:gridCol w="447040"/>
                <a:gridCol w="227330"/>
                <a:gridCol w="447040"/>
                <a:gridCol w="223519"/>
                <a:gridCol w="76200"/>
                <a:gridCol w="75564"/>
              </a:tblGrid>
              <a:tr h="151130">
                <a:tc rowSpan="2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10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20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46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1478454" y="5637022"/>
            <a:ext cx="58293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Bloc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0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782112" y="4735851"/>
            <a:ext cx="163830" cy="311150"/>
            <a:chOff x="3782112" y="4735851"/>
            <a:chExt cx="163830" cy="311150"/>
          </a:xfrm>
        </p:grpSpPr>
        <p:sp>
          <p:nvSpPr>
            <p:cNvPr id="40" name="object 40"/>
            <p:cNvSpPr/>
            <p:nvPr/>
          </p:nvSpPr>
          <p:spPr>
            <a:xfrm>
              <a:off x="3788145" y="4741883"/>
              <a:ext cx="151765" cy="299085"/>
            </a:xfrm>
            <a:custGeom>
              <a:avLst/>
              <a:gdLst/>
              <a:ahLst/>
              <a:cxnLst/>
              <a:rect l="l" t="t" r="r" b="b"/>
              <a:pathLst>
                <a:path w="151764" h="299085">
                  <a:moveTo>
                    <a:pt x="151435" y="0"/>
                  </a:moveTo>
                  <a:lnTo>
                    <a:pt x="0" y="0"/>
                  </a:lnTo>
                  <a:lnTo>
                    <a:pt x="0" y="298882"/>
                  </a:lnTo>
                  <a:lnTo>
                    <a:pt x="151435" y="298882"/>
                  </a:lnTo>
                  <a:lnTo>
                    <a:pt x="15143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88145" y="4741883"/>
              <a:ext cx="151765" cy="299085"/>
            </a:xfrm>
            <a:custGeom>
              <a:avLst/>
              <a:gdLst/>
              <a:ahLst/>
              <a:cxnLst/>
              <a:rect l="l" t="t" r="r" b="b"/>
              <a:pathLst>
                <a:path w="151764" h="299085">
                  <a:moveTo>
                    <a:pt x="0" y="298882"/>
                  </a:moveTo>
                  <a:lnTo>
                    <a:pt x="151435" y="298882"/>
                  </a:lnTo>
                  <a:lnTo>
                    <a:pt x="151435" y="0"/>
                  </a:lnTo>
                  <a:lnTo>
                    <a:pt x="0" y="0"/>
                  </a:lnTo>
                  <a:lnTo>
                    <a:pt x="0" y="298882"/>
                  </a:lnTo>
                  <a:close/>
                </a:path>
              </a:pathLst>
            </a:custGeom>
            <a:ln w="11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939572" y="4741883"/>
            <a:ext cx="447040" cy="299085"/>
          </a:xfrm>
          <a:prstGeom prst="rect">
            <a:avLst/>
          </a:prstGeom>
          <a:solidFill>
            <a:srgbClr val="FFFF00"/>
          </a:solidFill>
          <a:ln w="11983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10"/>
              </a:spcBef>
            </a:pPr>
            <a:r>
              <a:rPr sz="1550" spc="-25" dirty="0">
                <a:latin typeface="Arial MT"/>
                <a:cs typeface="Arial MT"/>
              </a:rPr>
              <a:t>25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380307" y="4735851"/>
            <a:ext cx="610235" cy="311150"/>
            <a:chOff x="4380307" y="4735851"/>
            <a:chExt cx="610235" cy="311150"/>
          </a:xfrm>
        </p:grpSpPr>
        <p:sp>
          <p:nvSpPr>
            <p:cNvPr id="44" name="object 44"/>
            <p:cNvSpPr/>
            <p:nvPr/>
          </p:nvSpPr>
          <p:spPr>
            <a:xfrm>
              <a:off x="4386339" y="4741883"/>
              <a:ext cx="151765" cy="299085"/>
            </a:xfrm>
            <a:custGeom>
              <a:avLst/>
              <a:gdLst/>
              <a:ahLst/>
              <a:cxnLst/>
              <a:rect l="l" t="t" r="r" b="b"/>
              <a:pathLst>
                <a:path w="151764" h="299085">
                  <a:moveTo>
                    <a:pt x="151435" y="0"/>
                  </a:moveTo>
                  <a:lnTo>
                    <a:pt x="0" y="0"/>
                  </a:lnTo>
                  <a:lnTo>
                    <a:pt x="0" y="298882"/>
                  </a:lnTo>
                  <a:lnTo>
                    <a:pt x="151435" y="298882"/>
                  </a:lnTo>
                  <a:lnTo>
                    <a:pt x="15143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86339" y="4741883"/>
              <a:ext cx="151765" cy="299085"/>
            </a:xfrm>
            <a:custGeom>
              <a:avLst/>
              <a:gdLst/>
              <a:ahLst/>
              <a:cxnLst/>
              <a:rect l="l" t="t" r="r" b="b"/>
              <a:pathLst>
                <a:path w="151764" h="299085">
                  <a:moveTo>
                    <a:pt x="0" y="298882"/>
                  </a:moveTo>
                  <a:lnTo>
                    <a:pt x="151435" y="298882"/>
                  </a:lnTo>
                  <a:lnTo>
                    <a:pt x="151435" y="0"/>
                  </a:lnTo>
                  <a:lnTo>
                    <a:pt x="0" y="0"/>
                  </a:lnTo>
                  <a:lnTo>
                    <a:pt x="0" y="298882"/>
                  </a:lnTo>
                  <a:close/>
                </a:path>
              </a:pathLst>
            </a:custGeom>
            <a:ln w="11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537758" y="4741883"/>
              <a:ext cx="447040" cy="299085"/>
            </a:xfrm>
            <a:custGeom>
              <a:avLst/>
              <a:gdLst/>
              <a:ahLst/>
              <a:cxnLst/>
              <a:rect l="l" t="t" r="r" b="b"/>
              <a:pathLst>
                <a:path w="447039" h="299085">
                  <a:moveTo>
                    <a:pt x="446742" y="0"/>
                  </a:moveTo>
                  <a:lnTo>
                    <a:pt x="0" y="0"/>
                  </a:lnTo>
                  <a:lnTo>
                    <a:pt x="0" y="298882"/>
                  </a:lnTo>
                  <a:lnTo>
                    <a:pt x="446742" y="298882"/>
                  </a:lnTo>
                  <a:lnTo>
                    <a:pt x="4467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537758" y="4741883"/>
              <a:ext cx="447040" cy="299085"/>
            </a:xfrm>
            <a:custGeom>
              <a:avLst/>
              <a:gdLst/>
              <a:ahLst/>
              <a:cxnLst/>
              <a:rect l="l" t="t" r="r" b="b"/>
              <a:pathLst>
                <a:path w="447039" h="299085">
                  <a:moveTo>
                    <a:pt x="0" y="298882"/>
                  </a:moveTo>
                  <a:lnTo>
                    <a:pt x="446742" y="298882"/>
                  </a:lnTo>
                  <a:lnTo>
                    <a:pt x="446742" y="0"/>
                  </a:lnTo>
                  <a:lnTo>
                    <a:pt x="0" y="0"/>
                  </a:lnTo>
                  <a:lnTo>
                    <a:pt x="0" y="298882"/>
                  </a:lnTo>
                  <a:close/>
                </a:path>
              </a:pathLst>
            </a:custGeom>
            <a:ln w="119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543749" y="4740790"/>
            <a:ext cx="43497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20"/>
              </a:spcBef>
            </a:pPr>
            <a:r>
              <a:rPr sz="1550" spc="-25" dirty="0">
                <a:latin typeface="Arial MT"/>
                <a:cs typeface="Arial MT"/>
              </a:rPr>
              <a:t>40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871183" y="4442305"/>
            <a:ext cx="58293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Bloc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2</a:t>
            </a:r>
            <a:endParaRPr sz="15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815011" y="4887352"/>
            <a:ext cx="1055370" cy="902335"/>
            <a:chOff x="2815011" y="4887352"/>
            <a:chExt cx="1055370" cy="902335"/>
          </a:xfrm>
        </p:grpSpPr>
        <p:sp>
          <p:nvSpPr>
            <p:cNvPr id="51" name="object 51"/>
            <p:cNvSpPr/>
            <p:nvPr/>
          </p:nvSpPr>
          <p:spPr>
            <a:xfrm>
              <a:off x="2887147" y="4893326"/>
              <a:ext cx="977265" cy="832485"/>
            </a:xfrm>
            <a:custGeom>
              <a:avLst/>
              <a:gdLst/>
              <a:ahLst/>
              <a:cxnLst/>
              <a:rect l="l" t="t" r="r" b="b"/>
              <a:pathLst>
                <a:path w="977264" h="832485">
                  <a:moveTo>
                    <a:pt x="976790" y="0"/>
                  </a:moveTo>
                  <a:lnTo>
                    <a:pt x="0" y="832242"/>
                  </a:lnTo>
                </a:path>
              </a:pathLst>
            </a:custGeom>
            <a:ln w="119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15011" y="5677866"/>
              <a:ext cx="120014" cy="111760"/>
            </a:xfrm>
            <a:custGeom>
              <a:avLst/>
              <a:gdLst/>
              <a:ahLst/>
              <a:cxnLst/>
              <a:rect l="l" t="t" r="r" b="b"/>
              <a:pathLst>
                <a:path w="120014" h="111760">
                  <a:moveTo>
                    <a:pt x="48234" y="0"/>
                  </a:moveTo>
                  <a:lnTo>
                    <a:pt x="0" y="111294"/>
                  </a:lnTo>
                  <a:lnTo>
                    <a:pt x="119954" y="79498"/>
                  </a:lnTo>
                  <a:lnTo>
                    <a:pt x="482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4456099" y="4735851"/>
            <a:ext cx="1284605" cy="1053465"/>
            <a:chOff x="4456099" y="4735851"/>
            <a:chExt cx="1284605" cy="1053465"/>
          </a:xfrm>
        </p:grpSpPr>
        <p:sp>
          <p:nvSpPr>
            <p:cNvPr id="54" name="object 54"/>
            <p:cNvSpPr/>
            <p:nvPr/>
          </p:nvSpPr>
          <p:spPr>
            <a:xfrm>
              <a:off x="4984534" y="4741883"/>
              <a:ext cx="151765" cy="299085"/>
            </a:xfrm>
            <a:custGeom>
              <a:avLst/>
              <a:gdLst/>
              <a:ahLst/>
              <a:cxnLst/>
              <a:rect l="l" t="t" r="r" b="b"/>
              <a:pathLst>
                <a:path w="151764" h="299085">
                  <a:moveTo>
                    <a:pt x="151435" y="0"/>
                  </a:moveTo>
                  <a:lnTo>
                    <a:pt x="0" y="0"/>
                  </a:lnTo>
                  <a:lnTo>
                    <a:pt x="0" y="298882"/>
                  </a:lnTo>
                  <a:lnTo>
                    <a:pt x="151435" y="298882"/>
                  </a:lnTo>
                  <a:lnTo>
                    <a:pt x="15143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462132" y="4741883"/>
              <a:ext cx="1272540" cy="952500"/>
            </a:xfrm>
            <a:custGeom>
              <a:avLst/>
              <a:gdLst/>
              <a:ahLst/>
              <a:cxnLst/>
              <a:rect l="l" t="t" r="r" b="b"/>
              <a:pathLst>
                <a:path w="1272539" h="952500">
                  <a:moveTo>
                    <a:pt x="522401" y="298882"/>
                  </a:moveTo>
                  <a:lnTo>
                    <a:pt x="673837" y="298882"/>
                  </a:lnTo>
                  <a:lnTo>
                    <a:pt x="673837" y="0"/>
                  </a:lnTo>
                  <a:lnTo>
                    <a:pt x="522401" y="0"/>
                  </a:lnTo>
                  <a:lnTo>
                    <a:pt x="522401" y="298882"/>
                  </a:lnTo>
                  <a:close/>
                </a:path>
                <a:path w="1272539" h="952500">
                  <a:moveTo>
                    <a:pt x="673820" y="298882"/>
                  </a:moveTo>
                  <a:lnTo>
                    <a:pt x="1120563" y="298882"/>
                  </a:lnTo>
                  <a:lnTo>
                    <a:pt x="1120563" y="0"/>
                  </a:lnTo>
                  <a:lnTo>
                    <a:pt x="673820" y="0"/>
                  </a:lnTo>
                  <a:lnTo>
                    <a:pt x="673820" y="298882"/>
                  </a:lnTo>
                  <a:close/>
                </a:path>
                <a:path w="1272539" h="952500">
                  <a:moveTo>
                    <a:pt x="1120596" y="298882"/>
                  </a:moveTo>
                  <a:lnTo>
                    <a:pt x="1272031" y="298882"/>
                  </a:lnTo>
                  <a:lnTo>
                    <a:pt x="1272031" y="0"/>
                  </a:lnTo>
                  <a:lnTo>
                    <a:pt x="1120596" y="0"/>
                  </a:lnTo>
                  <a:lnTo>
                    <a:pt x="1120596" y="298882"/>
                  </a:lnTo>
                  <a:close/>
                </a:path>
                <a:path w="1272539" h="952500">
                  <a:moveTo>
                    <a:pt x="0" y="151442"/>
                  </a:moveTo>
                  <a:lnTo>
                    <a:pt x="131473" y="951888"/>
                  </a:lnTo>
                </a:path>
              </a:pathLst>
            </a:custGeom>
            <a:ln w="11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37758" y="5673897"/>
              <a:ext cx="108585" cy="115570"/>
            </a:xfrm>
            <a:custGeom>
              <a:avLst/>
              <a:gdLst/>
              <a:ahLst/>
              <a:cxnLst/>
              <a:rect l="l" t="t" r="r" b="b"/>
              <a:pathLst>
                <a:path w="108585" h="115570">
                  <a:moveTo>
                    <a:pt x="108037" y="0"/>
                  </a:moveTo>
                  <a:lnTo>
                    <a:pt x="0" y="15889"/>
                  </a:lnTo>
                  <a:lnTo>
                    <a:pt x="71803" y="115262"/>
                  </a:lnTo>
                  <a:lnTo>
                    <a:pt x="1080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3706542" y="5930623"/>
          <a:ext cx="2171062" cy="297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850"/>
                <a:gridCol w="223520"/>
                <a:gridCol w="450849"/>
                <a:gridCol w="223519"/>
                <a:gridCol w="447039"/>
                <a:gridCol w="227330"/>
                <a:gridCol w="71755"/>
                <a:gridCol w="76200"/>
              </a:tblGrid>
              <a:tr h="151130">
                <a:tc rowSpan="2"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25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30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46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5925788" y="6031989"/>
            <a:ext cx="107950" cy="107950"/>
          </a:xfrm>
          <a:custGeom>
            <a:avLst/>
            <a:gdLst/>
            <a:ahLst/>
            <a:cxnLst/>
            <a:rect l="l" t="t" r="r" b="b"/>
            <a:pathLst>
              <a:path w="107950" h="107950">
                <a:moveTo>
                  <a:pt x="0" y="0"/>
                </a:moveTo>
                <a:lnTo>
                  <a:pt x="0" y="107708"/>
                </a:lnTo>
                <a:lnTo>
                  <a:pt x="107704" y="560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795390" y="5637022"/>
            <a:ext cx="58293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Bloc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3</a:t>
            </a:r>
            <a:endParaRPr sz="1550">
              <a:latin typeface="Arial MT"/>
              <a:cs typeface="Arial MT"/>
            </a:endParaRPr>
          </a:p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6027516" y="5930623"/>
          <a:ext cx="2162808" cy="298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6405"/>
                <a:gridCol w="222885"/>
                <a:gridCol w="450215"/>
                <a:gridCol w="222884"/>
                <a:gridCol w="450215"/>
                <a:gridCol w="222885"/>
                <a:gridCol w="147319"/>
              </a:tblGrid>
              <a:tr h="298450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40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550" spc="-25" dirty="0">
                          <a:latin typeface="Arial MT"/>
                          <a:cs typeface="Arial MT"/>
                        </a:rPr>
                        <a:t>60</a:t>
                      </a:r>
                      <a:endParaRPr sz="15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6112375" y="5637022"/>
            <a:ext cx="58293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dirty="0">
                <a:latin typeface="Arial MT"/>
                <a:cs typeface="Arial MT"/>
              </a:rPr>
              <a:t>Bloc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-50" dirty="0">
                <a:latin typeface="Arial MT"/>
                <a:cs typeface="Arial MT"/>
              </a:rPr>
              <a:t>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3604814" y="6031989"/>
            <a:ext cx="107950" cy="107950"/>
          </a:xfrm>
          <a:custGeom>
            <a:avLst/>
            <a:gdLst/>
            <a:ahLst/>
            <a:cxnLst/>
            <a:rect l="l" t="t" r="r" b="b"/>
            <a:pathLst>
              <a:path w="107950" h="107950">
                <a:moveTo>
                  <a:pt x="0" y="0"/>
                </a:moveTo>
                <a:lnTo>
                  <a:pt x="0" y="107708"/>
                </a:lnTo>
                <a:lnTo>
                  <a:pt x="107704" y="560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3" name="object 63"/>
          <p:cNvGrpSpPr/>
          <p:nvPr/>
        </p:nvGrpSpPr>
        <p:grpSpPr>
          <a:xfrm>
            <a:off x="5054353" y="4887353"/>
            <a:ext cx="1948814" cy="902335"/>
            <a:chOff x="5054353" y="4887353"/>
            <a:chExt cx="1948814" cy="902335"/>
          </a:xfrm>
        </p:grpSpPr>
        <p:sp>
          <p:nvSpPr>
            <p:cNvPr id="64" name="object 64"/>
            <p:cNvSpPr/>
            <p:nvPr/>
          </p:nvSpPr>
          <p:spPr>
            <a:xfrm>
              <a:off x="5060326" y="4893326"/>
              <a:ext cx="1858645" cy="856615"/>
            </a:xfrm>
            <a:custGeom>
              <a:avLst/>
              <a:gdLst/>
              <a:ahLst/>
              <a:cxnLst/>
              <a:rect l="l" t="t" r="r" b="b"/>
              <a:pathLst>
                <a:path w="1858645" h="856614">
                  <a:moveTo>
                    <a:pt x="0" y="0"/>
                  </a:moveTo>
                  <a:lnTo>
                    <a:pt x="1858241" y="856085"/>
                  </a:lnTo>
                </a:path>
              </a:pathLst>
            </a:custGeom>
            <a:ln w="119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82666" y="5693772"/>
              <a:ext cx="120014" cy="95885"/>
            </a:xfrm>
            <a:custGeom>
              <a:avLst/>
              <a:gdLst/>
              <a:ahLst/>
              <a:cxnLst/>
              <a:rect l="l" t="t" r="r" b="b"/>
              <a:pathLst>
                <a:path w="120015" h="95885">
                  <a:moveTo>
                    <a:pt x="43879" y="0"/>
                  </a:moveTo>
                  <a:lnTo>
                    <a:pt x="0" y="95388"/>
                  </a:lnTo>
                  <a:lnTo>
                    <a:pt x="120004" y="95388"/>
                  </a:lnTo>
                  <a:lnTo>
                    <a:pt x="43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4650" y="365201"/>
            <a:ext cx="3163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70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3657600"/>
            <a:ext cx="8077200" cy="533400"/>
            <a:chOff x="609600" y="36576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4667250" y="3657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3962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2321" y="3065590"/>
          <a:ext cx="2581272" cy="35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265430"/>
                <a:gridCol w="531495"/>
                <a:gridCol w="270509"/>
                <a:gridCol w="531494"/>
                <a:gridCol w="265430"/>
                <a:gridCol w="90805"/>
                <a:gridCol w="90169"/>
              </a:tblGrid>
              <a:tr h="179705"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10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20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74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10437" y="2718812"/>
            <a:ext cx="68770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0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46712" y="1644514"/>
            <a:ext cx="194945" cy="370205"/>
            <a:chOff x="3246712" y="1644514"/>
            <a:chExt cx="194945" cy="370205"/>
          </a:xfrm>
        </p:grpSpPr>
        <p:sp>
          <p:nvSpPr>
            <p:cNvPr id="9" name="object 9"/>
            <p:cNvSpPr/>
            <p:nvPr/>
          </p:nvSpPr>
          <p:spPr>
            <a:xfrm>
              <a:off x="3254014" y="1651816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462"/>
                  </a:lnTo>
                  <a:lnTo>
                    <a:pt x="180040" y="355462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54014" y="1651816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0" y="355462"/>
                  </a:moveTo>
                  <a:lnTo>
                    <a:pt x="180040" y="355462"/>
                  </a:lnTo>
                  <a:lnTo>
                    <a:pt x="180040" y="0"/>
                  </a:lnTo>
                  <a:lnTo>
                    <a:pt x="0" y="0"/>
                  </a:lnTo>
                  <a:lnTo>
                    <a:pt x="0" y="355462"/>
                  </a:lnTo>
                  <a:close/>
                </a:path>
              </a:pathLst>
            </a:custGeom>
            <a:ln w="14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34045" y="1651816"/>
            <a:ext cx="531495" cy="355600"/>
          </a:xfrm>
          <a:prstGeom prst="rect">
            <a:avLst/>
          </a:prstGeom>
          <a:solidFill>
            <a:srgbClr val="FFFF00"/>
          </a:solidFill>
          <a:ln w="14248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Arial MT"/>
                <a:cs typeface="Arial MT"/>
              </a:rPr>
              <a:t>25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957901" y="1644514"/>
            <a:ext cx="725805" cy="370205"/>
            <a:chOff x="3957901" y="1644514"/>
            <a:chExt cx="725805" cy="370205"/>
          </a:xfrm>
        </p:grpSpPr>
        <p:sp>
          <p:nvSpPr>
            <p:cNvPr id="13" name="object 13"/>
            <p:cNvSpPr/>
            <p:nvPr/>
          </p:nvSpPr>
          <p:spPr>
            <a:xfrm>
              <a:off x="3965203" y="1651816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462"/>
                  </a:lnTo>
                  <a:lnTo>
                    <a:pt x="180040" y="355462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65203" y="1651816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0" y="355462"/>
                  </a:moveTo>
                  <a:lnTo>
                    <a:pt x="180040" y="355462"/>
                  </a:lnTo>
                  <a:lnTo>
                    <a:pt x="180040" y="0"/>
                  </a:lnTo>
                  <a:lnTo>
                    <a:pt x="0" y="0"/>
                  </a:lnTo>
                  <a:lnTo>
                    <a:pt x="0" y="355462"/>
                  </a:lnTo>
                  <a:close/>
                </a:path>
              </a:pathLst>
            </a:custGeom>
            <a:ln w="14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45224" y="1651816"/>
              <a:ext cx="531495" cy="355600"/>
            </a:xfrm>
            <a:custGeom>
              <a:avLst/>
              <a:gdLst/>
              <a:ahLst/>
              <a:cxnLst/>
              <a:rect l="l" t="t" r="r" b="b"/>
              <a:pathLst>
                <a:path w="531495" h="355600">
                  <a:moveTo>
                    <a:pt x="531129" y="0"/>
                  </a:moveTo>
                  <a:lnTo>
                    <a:pt x="0" y="0"/>
                  </a:lnTo>
                  <a:lnTo>
                    <a:pt x="0" y="355462"/>
                  </a:lnTo>
                  <a:lnTo>
                    <a:pt x="531129" y="355462"/>
                  </a:lnTo>
                  <a:lnTo>
                    <a:pt x="53112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45224" y="1651816"/>
              <a:ext cx="531495" cy="355600"/>
            </a:xfrm>
            <a:custGeom>
              <a:avLst/>
              <a:gdLst/>
              <a:ahLst/>
              <a:cxnLst/>
              <a:rect l="l" t="t" r="r" b="b"/>
              <a:pathLst>
                <a:path w="531495" h="355600">
                  <a:moveTo>
                    <a:pt x="0" y="355462"/>
                  </a:moveTo>
                  <a:lnTo>
                    <a:pt x="531129" y="355462"/>
                  </a:lnTo>
                  <a:lnTo>
                    <a:pt x="531129" y="0"/>
                  </a:lnTo>
                  <a:lnTo>
                    <a:pt x="0" y="0"/>
                  </a:lnTo>
                  <a:lnTo>
                    <a:pt x="0" y="355462"/>
                  </a:lnTo>
                  <a:close/>
                </a:path>
              </a:pathLst>
            </a:custGeom>
            <a:ln w="142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152348" y="1652919"/>
            <a:ext cx="51752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14"/>
              </a:spcBef>
            </a:pPr>
            <a:r>
              <a:rPr sz="1850" spc="-25" dirty="0">
                <a:latin typeface="Arial MT"/>
                <a:cs typeface="Arial MT"/>
              </a:rPr>
              <a:t>40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55136" y="1297931"/>
            <a:ext cx="68770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2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97062" y="1824823"/>
            <a:ext cx="1254760" cy="1073150"/>
            <a:chOff x="2097062" y="1824823"/>
            <a:chExt cx="1254760" cy="1073150"/>
          </a:xfrm>
        </p:grpSpPr>
        <p:sp>
          <p:nvSpPr>
            <p:cNvPr id="20" name="object 20"/>
            <p:cNvSpPr/>
            <p:nvPr/>
          </p:nvSpPr>
          <p:spPr>
            <a:xfrm>
              <a:off x="2182824" y="1831927"/>
              <a:ext cx="1161415" cy="989965"/>
            </a:xfrm>
            <a:custGeom>
              <a:avLst/>
              <a:gdLst/>
              <a:ahLst/>
              <a:cxnLst/>
              <a:rect l="l" t="t" r="r" b="b"/>
              <a:pathLst>
                <a:path w="1161414" h="989964">
                  <a:moveTo>
                    <a:pt x="1161299" y="0"/>
                  </a:moveTo>
                  <a:lnTo>
                    <a:pt x="0" y="989788"/>
                  </a:lnTo>
                </a:path>
              </a:pathLst>
            </a:custGeom>
            <a:ln w="142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97062" y="2764983"/>
              <a:ext cx="142875" cy="132715"/>
            </a:xfrm>
            <a:custGeom>
              <a:avLst/>
              <a:gdLst/>
              <a:ahLst/>
              <a:cxnLst/>
              <a:rect l="l" t="t" r="r" b="b"/>
              <a:pathLst>
                <a:path w="142875" h="132714">
                  <a:moveTo>
                    <a:pt x="57345" y="0"/>
                  </a:moveTo>
                  <a:lnTo>
                    <a:pt x="0" y="132362"/>
                  </a:lnTo>
                  <a:lnTo>
                    <a:pt x="142613" y="94547"/>
                  </a:lnTo>
                  <a:lnTo>
                    <a:pt x="57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048010" y="1644514"/>
            <a:ext cx="1527175" cy="1252855"/>
            <a:chOff x="4048010" y="1644514"/>
            <a:chExt cx="1527175" cy="1252855"/>
          </a:xfrm>
        </p:grpSpPr>
        <p:sp>
          <p:nvSpPr>
            <p:cNvPr id="23" name="object 23"/>
            <p:cNvSpPr/>
            <p:nvPr/>
          </p:nvSpPr>
          <p:spPr>
            <a:xfrm>
              <a:off x="4676393" y="1651816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462"/>
                  </a:lnTo>
                  <a:lnTo>
                    <a:pt x="180040" y="355462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55313" y="1651816"/>
              <a:ext cx="1512570" cy="1132205"/>
            </a:xfrm>
            <a:custGeom>
              <a:avLst/>
              <a:gdLst/>
              <a:ahLst/>
              <a:cxnLst/>
              <a:rect l="l" t="t" r="r" b="b"/>
              <a:pathLst>
                <a:path w="1512570" h="1132205">
                  <a:moveTo>
                    <a:pt x="621080" y="355462"/>
                  </a:moveTo>
                  <a:lnTo>
                    <a:pt x="801120" y="355462"/>
                  </a:lnTo>
                  <a:lnTo>
                    <a:pt x="801120" y="0"/>
                  </a:lnTo>
                  <a:lnTo>
                    <a:pt x="621080" y="0"/>
                  </a:lnTo>
                  <a:lnTo>
                    <a:pt x="621080" y="355462"/>
                  </a:lnTo>
                  <a:close/>
                </a:path>
                <a:path w="1512570" h="1132205">
                  <a:moveTo>
                    <a:pt x="801100" y="355462"/>
                  </a:moveTo>
                  <a:lnTo>
                    <a:pt x="1332229" y="355462"/>
                  </a:lnTo>
                  <a:lnTo>
                    <a:pt x="1332229" y="0"/>
                  </a:lnTo>
                  <a:lnTo>
                    <a:pt x="801100" y="0"/>
                  </a:lnTo>
                  <a:lnTo>
                    <a:pt x="801100" y="355462"/>
                  </a:lnTo>
                  <a:close/>
                </a:path>
                <a:path w="1512570" h="1132205">
                  <a:moveTo>
                    <a:pt x="1332269" y="355462"/>
                  </a:moveTo>
                  <a:lnTo>
                    <a:pt x="1512309" y="355462"/>
                  </a:lnTo>
                  <a:lnTo>
                    <a:pt x="1512309" y="0"/>
                  </a:lnTo>
                  <a:lnTo>
                    <a:pt x="1332269" y="0"/>
                  </a:lnTo>
                  <a:lnTo>
                    <a:pt x="1332269" y="355462"/>
                  </a:lnTo>
                  <a:close/>
                </a:path>
                <a:path w="1512570" h="1132205">
                  <a:moveTo>
                    <a:pt x="0" y="180110"/>
                  </a:moveTo>
                  <a:lnTo>
                    <a:pt x="156307" y="1132084"/>
                  </a:lnTo>
                </a:path>
              </a:pathLst>
            </a:custGeom>
            <a:ln w="142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45224" y="2760263"/>
              <a:ext cx="128905" cy="137160"/>
            </a:xfrm>
            <a:custGeom>
              <a:avLst/>
              <a:gdLst/>
              <a:ahLst/>
              <a:cxnLst/>
              <a:rect l="l" t="t" r="r" b="b"/>
              <a:pathLst>
                <a:path w="128904" h="137160">
                  <a:moveTo>
                    <a:pt x="128444" y="0"/>
                  </a:moveTo>
                  <a:lnTo>
                    <a:pt x="0" y="18897"/>
                  </a:lnTo>
                  <a:lnTo>
                    <a:pt x="85366" y="137082"/>
                  </a:lnTo>
                  <a:lnTo>
                    <a:pt x="128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652969" y="3186143"/>
            <a:ext cx="271145" cy="128270"/>
            <a:chOff x="5652969" y="3186143"/>
            <a:chExt cx="271145" cy="128270"/>
          </a:xfrm>
        </p:grpSpPr>
        <p:sp>
          <p:nvSpPr>
            <p:cNvPr id="27" name="object 27"/>
            <p:cNvSpPr/>
            <p:nvPr/>
          </p:nvSpPr>
          <p:spPr>
            <a:xfrm>
              <a:off x="5652969" y="325278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>
                  <a:moveTo>
                    <a:pt x="0" y="0"/>
                  </a:moveTo>
                  <a:lnTo>
                    <a:pt x="156702" y="0"/>
                  </a:lnTo>
                </a:path>
              </a:pathLst>
            </a:custGeom>
            <a:ln w="142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95444" y="3186143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70" h="128270">
                  <a:moveTo>
                    <a:pt x="0" y="0"/>
                  </a:moveTo>
                  <a:lnTo>
                    <a:pt x="0" y="128097"/>
                  </a:lnTo>
                  <a:lnTo>
                    <a:pt x="128049" y="666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3156997" y="3065590"/>
          <a:ext cx="2578732" cy="35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265430"/>
                <a:gridCol w="535940"/>
                <a:gridCol w="265430"/>
                <a:gridCol w="530859"/>
                <a:gridCol w="269875"/>
                <a:gridCol w="85089"/>
                <a:gridCol w="90169"/>
              </a:tblGrid>
              <a:tr h="179705">
                <a:tc row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25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30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74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3265027" y="2718812"/>
            <a:ext cx="68770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3</a:t>
            </a:r>
            <a:endParaRPr sz="1850">
              <a:latin typeface="Arial MT"/>
              <a:cs typeface="Arial M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916388" y="3065590"/>
          <a:ext cx="2571114" cy="354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860"/>
                <a:gridCol w="264795"/>
                <a:gridCol w="535305"/>
                <a:gridCol w="264795"/>
                <a:gridCol w="535305"/>
                <a:gridCol w="264794"/>
                <a:gridCol w="175260"/>
              </a:tblGrid>
              <a:tr h="354965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40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60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6019675" y="2718812"/>
            <a:ext cx="687705" cy="310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1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98716" y="3186143"/>
            <a:ext cx="265430" cy="128270"/>
            <a:chOff x="2898716" y="3186143"/>
            <a:chExt cx="265430" cy="128270"/>
          </a:xfrm>
        </p:grpSpPr>
        <p:sp>
          <p:nvSpPr>
            <p:cNvPr id="34" name="object 34"/>
            <p:cNvSpPr/>
            <p:nvPr/>
          </p:nvSpPr>
          <p:spPr>
            <a:xfrm>
              <a:off x="2898716" y="3252788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>
                  <a:moveTo>
                    <a:pt x="0" y="0"/>
                  </a:moveTo>
                  <a:lnTo>
                    <a:pt x="156307" y="0"/>
                  </a:lnTo>
                </a:path>
              </a:pathLst>
            </a:custGeom>
            <a:ln w="142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36053" y="3186143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69" h="128270">
                  <a:moveTo>
                    <a:pt x="0" y="0"/>
                  </a:moveTo>
                  <a:lnTo>
                    <a:pt x="0" y="128097"/>
                  </a:lnTo>
                  <a:lnTo>
                    <a:pt x="128049" y="666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759399" y="1824824"/>
            <a:ext cx="2316480" cy="1073150"/>
            <a:chOff x="4759399" y="1824824"/>
            <a:chExt cx="2316480" cy="1073150"/>
          </a:xfrm>
        </p:grpSpPr>
        <p:sp>
          <p:nvSpPr>
            <p:cNvPr id="37" name="object 37"/>
            <p:cNvSpPr/>
            <p:nvPr/>
          </p:nvSpPr>
          <p:spPr>
            <a:xfrm>
              <a:off x="4766502" y="1831927"/>
              <a:ext cx="2209800" cy="1018540"/>
            </a:xfrm>
            <a:custGeom>
              <a:avLst/>
              <a:gdLst/>
              <a:ahLst/>
              <a:cxnLst/>
              <a:rect l="l" t="t" r="r" b="b"/>
              <a:pathLst>
                <a:path w="2209800" h="1018539">
                  <a:moveTo>
                    <a:pt x="0" y="0"/>
                  </a:moveTo>
                  <a:lnTo>
                    <a:pt x="2209251" y="1018145"/>
                  </a:lnTo>
                </a:path>
              </a:pathLst>
            </a:custGeom>
            <a:ln w="1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33070" y="2783900"/>
              <a:ext cx="142875" cy="113664"/>
            </a:xfrm>
            <a:custGeom>
              <a:avLst/>
              <a:gdLst/>
              <a:ahLst/>
              <a:cxnLst/>
              <a:rect l="l" t="t" r="r" b="b"/>
              <a:pathLst>
                <a:path w="142875" h="113664">
                  <a:moveTo>
                    <a:pt x="52168" y="0"/>
                  </a:moveTo>
                  <a:lnTo>
                    <a:pt x="0" y="113445"/>
                  </a:lnTo>
                  <a:lnTo>
                    <a:pt x="142672" y="113445"/>
                  </a:lnTo>
                  <a:lnTo>
                    <a:pt x="52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477925" y="5842424"/>
          <a:ext cx="2505707" cy="34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/>
                <a:gridCol w="257809"/>
                <a:gridCol w="516254"/>
                <a:gridCol w="262255"/>
                <a:gridCol w="516255"/>
                <a:gridCol w="257810"/>
                <a:gridCol w="87630"/>
                <a:gridCol w="86994"/>
              </a:tblGrid>
              <a:tr h="174625">
                <a:tc row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69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582651" y="5505315"/>
            <a:ext cx="66929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Bloc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242678" y="4462564"/>
            <a:ext cx="189230" cy="359410"/>
            <a:chOff x="3242678" y="4462564"/>
            <a:chExt cx="189230" cy="359410"/>
          </a:xfrm>
        </p:grpSpPr>
        <p:sp>
          <p:nvSpPr>
            <p:cNvPr id="42" name="object 42"/>
            <p:cNvSpPr/>
            <p:nvPr/>
          </p:nvSpPr>
          <p:spPr>
            <a:xfrm>
              <a:off x="3249663" y="4469549"/>
              <a:ext cx="175260" cy="345440"/>
            </a:xfrm>
            <a:custGeom>
              <a:avLst/>
              <a:gdLst/>
              <a:ahLst/>
              <a:cxnLst/>
              <a:rect l="l" t="t" r="r" b="b"/>
              <a:pathLst>
                <a:path w="175260" h="345439">
                  <a:moveTo>
                    <a:pt x="174992" y="0"/>
                  </a:moveTo>
                  <a:lnTo>
                    <a:pt x="0" y="0"/>
                  </a:lnTo>
                  <a:lnTo>
                    <a:pt x="0" y="345180"/>
                  </a:lnTo>
                  <a:lnTo>
                    <a:pt x="174992" y="345180"/>
                  </a:lnTo>
                  <a:lnTo>
                    <a:pt x="17499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49663" y="4469549"/>
              <a:ext cx="175260" cy="345440"/>
            </a:xfrm>
            <a:custGeom>
              <a:avLst/>
              <a:gdLst/>
              <a:ahLst/>
              <a:cxnLst/>
              <a:rect l="l" t="t" r="r" b="b"/>
              <a:pathLst>
                <a:path w="175260" h="345439">
                  <a:moveTo>
                    <a:pt x="0" y="345180"/>
                  </a:moveTo>
                  <a:lnTo>
                    <a:pt x="174992" y="345180"/>
                  </a:lnTo>
                  <a:lnTo>
                    <a:pt x="174992" y="0"/>
                  </a:lnTo>
                  <a:lnTo>
                    <a:pt x="0" y="0"/>
                  </a:lnTo>
                  <a:lnTo>
                    <a:pt x="0" y="345180"/>
                  </a:lnTo>
                  <a:close/>
                </a:path>
              </a:pathLst>
            </a:custGeom>
            <a:ln w="1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424646" y="4469549"/>
            <a:ext cx="516255" cy="345440"/>
          </a:xfrm>
          <a:prstGeom prst="rect">
            <a:avLst/>
          </a:prstGeom>
          <a:solidFill>
            <a:srgbClr val="FFFF00"/>
          </a:solidFill>
          <a:ln w="13843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20"/>
              </a:spcBef>
            </a:pPr>
            <a:r>
              <a:rPr sz="1800" spc="-25" dirty="0">
                <a:latin typeface="Arial MT"/>
                <a:cs typeface="Arial MT"/>
              </a:rPr>
              <a:t>25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933927" y="4462564"/>
            <a:ext cx="705485" cy="359410"/>
            <a:chOff x="3933927" y="4462564"/>
            <a:chExt cx="705485" cy="359410"/>
          </a:xfrm>
        </p:grpSpPr>
        <p:sp>
          <p:nvSpPr>
            <p:cNvPr id="46" name="object 46"/>
            <p:cNvSpPr/>
            <p:nvPr/>
          </p:nvSpPr>
          <p:spPr>
            <a:xfrm>
              <a:off x="3940912" y="4469549"/>
              <a:ext cx="175260" cy="345440"/>
            </a:xfrm>
            <a:custGeom>
              <a:avLst/>
              <a:gdLst/>
              <a:ahLst/>
              <a:cxnLst/>
              <a:rect l="l" t="t" r="r" b="b"/>
              <a:pathLst>
                <a:path w="175260" h="345439">
                  <a:moveTo>
                    <a:pt x="174992" y="0"/>
                  </a:moveTo>
                  <a:lnTo>
                    <a:pt x="0" y="0"/>
                  </a:lnTo>
                  <a:lnTo>
                    <a:pt x="0" y="345180"/>
                  </a:lnTo>
                  <a:lnTo>
                    <a:pt x="174992" y="345180"/>
                  </a:lnTo>
                  <a:lnTo>
                    <a:pt x="17499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940912" y="4469549"/>
              <a:ext cx="175260" cy="345440"/>
            </a:xfrm>
            <a:custGeom>
              <a:avLst/>
              <a:gdLst/>
              <a:ahLst/>
              <a:cxnLst/>
              <a:rect l="l" t="t" r="r" b="b"/>
              <a:pathLst>
                <a:path w="175260" h="345439">
                  <a:moveTo>
                    <a:pt x="0" y="345180"/>
                  </a:moveTo>
                  <a:lnTo>
                    <a:pt x="174992" y="345180"/>
                  </a:lnTo>
                  <a:lnTo>
                    <a:pt x="174992" y="0"/>
                  </a:lnTo>
                  <a:lnTo>
                    <a:pt x="0" y="0"/>
                  </a:lnTo>
                  <a:lnTo>
                    <a:pt x="0" y="345180"/>
                  </a:lnTo>
                  <a:close/>
                </a:path>
              </a:pathLst>
            </a:custGeom>
            <a:ln w="138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15885" y="4469549"/>
              <a:ext cx="516255" cy="345440"/>
            </a:xfrm>
            <a:custGeom>
              <a:avLst/>
              <a:gdLst/>
              <a:ahLst/>
              <a:cxnLst/>
              <a:rect l="l" t="t" r="r" b="b"/>
              <a:pathLst>
                <a:path w="516254" h="345439">
                  <a:moveTo>
                    <a:pt x="516237" y="0"/>
                  </a:moveTo>
                  <a:lnTo>
                    <a:pt x="0" y="0"/>
                  </a:lnTo>
                  <a:lnTo>
                    <a:pt x="0" y="345180"/>
                  </a:lnTo>
                  <a:lnTo>
                    <a:pt x="516237" y="345180"/>
                  </a:lnTo>
                  <a:lnTo>
                    <a:pt x="51623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15885" y="4469549"/>
              <a:ext cx="516255" cy="345440"/>
            </a:xfrm>
            <a:custGeom>
              <a:avLst/>
              <a:gdLst/>
              <a:ahLst/>
              <a:cxnLst/>
              <a:rect l="l" t="t" r="r" b="b"/>
              <a:pathLst>
                <a:path w="516254" h="345439">
                  <a:moveTo>
                    <a:pt x="0" y="345180"/>
                  </a:moveTo>
                  <a:lnTo>
                    <a:pt x="516237" y="345180"/>
                  </a:lnTo>
                  <a:lnTo>
                    <a:pt x="516237" y="0"/>
                  </a:lnTo>
                  <a:lnTo>
                    <a:pt x="0" y="0"/>
                  </a:lnTo>
                  <a:lnTo>
                    <a:pt x="0" y="345180"/>
                  </a:lnTo>
                  <a:close/>
                </a:path>
              </a:pathLst>
            </a:custGeom>
            <a:ln w="13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122807" y="4470253"/>
            <a:ext cx="50292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347593" y="4125533"/>
            <a:ext cx="66929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Bloc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125148" y="4637549"/>
            <a:ext cx="1219200" cy="1042035"/>
            <a:chOff x="2125148" y="4637549"/>
            <a:chExt cx="1219200" cy="1042035"/>
          </a:xfrm>
        </p:grpSpPr>
        <p:sp>
          <p:nvSpPr>
            <p:cNvPr id="53" name="object 53"/>
            <p:cNvSpPr/>
            <p:nvPr/>
          </p:nvSpPr>
          <p:spPr>
            <a:xfrm>
              <a:off x="2208506" y="4644450"/>
              <a:ext cx="1129030" cy="961390"/>
            </a:xfrm>
            <a:custGeom>
              <a:avLst/>
              <a:gdLst/>
              <a:ahLst/>
              <a:cxnLst/>
              <a:rect l="l" t="t" r="r" b="b"/>
              <a:pathLst>
                <a:path w="1129029" h="961389">
                  <a:moveTo>
                    <a:pt x="1128739" y="0"/>
                  </a:moveTo>
                  <a:lnTo>
                    <a:pt x="0" y="961159"/>
                  </a:lnTo>
                </a:path>
              </a:pathLst>
            </a:custGeom>
            <a:ln w="138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125148" y="5550517"/>
              <a:ext cx="139065" cy="128905"/>
            </a:xfrm>
            <a:custGeom>
              <a:avLst/>
              <a:gdLst/>
              <a:ahLst/>
              <a:cxnLst/>
              <a:rect l="l" t="t" r="r" b="b"/>
              <a:pathLst>
                <a:path w="139064" h="128904">
                  <a:moveTo>
                    <a:pt x="55737" y="0"/>
                  </a:moveTo>
                  <a:lnTo>
                    <a:pt x="0" y="128534"/>
                  </a:lnTo>
                  <a:lnTo>
                    <a:pt x="138614" y="91812"/>
                  </a:lnTo>
                  <a:lnTo>
                    <a:pt x="557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5" name="object 55"/>
          <p:cNvGrpSpPr/>
          <p:nvPr/>
        </p:nvGrpSpPr>
        <p:grpSpPr>
          <a:xfrm>
            <a:off x="4021510" y="4462564"/>
            <a:ext cx="1483995" cy="1216660"/>
            <a:chOff x="4021510" y="4462564"/>
            <a:chExt cx="1483995" cy="1216660"/>
          </a:xfrm>
        </p:grpSpPr>
        <p:sp>
          <p:nvSpPr>
            <p:cNvPr id="56" name="object 56"/>
            <p:cNvSpPr/>
            <p:nvPr/>
          </p:nvSpPr>
          <p:spPr>
            <a:xfrm>
              <a:off x="4632162" y="4469549"/>
              <a:ext cx="175260" cy="345440"/>
            </a:xfrm>
            <a:custGeom>
              <a:avLst/>
              <a:gdLst/>
              <a:ahLst/>
              <a:cxnLst/>
              <a:rect l="l" t="t" r="r" b="b"/>
              <a:pathLst>
                <a:path w="175260" h="345439">
                  <a:moveTo>
                    <a:pt x="174992" y="0"/>
                  </a:moveTo>
                  <a:lnTo>
                    <a:pt x="0" y="0"/>
                  </a:lnTo>
                  <a:lnTo>
                    <a:pt x="0" y="345180"/>
                  </a:lnTo>
                  <a:lnTo>
                    <a:pt x="174992" y="345180"/>
                  </a:lnTo>
                  <a:lnTo>
                    <a:pt x="17499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28495" y="4469549"/>
              <a:ext cx="1470025" cy="1099820"/>
            </a:xfrm>
            <a:custGeom>
              <a:avLst/>
              <a:gdLst/>
              <a:ahLst/>
              <a:cxnLst/>
              <a:rect l="l" t="t" r="r" b="b"/>
              <a:pathLst>
                <a:path w="1470025" h="1099820">
                  <a:moveTo>
                    <a:pt x="603666" y="345180"/>
                  </a:moveTo>
                  <a:lnTo>
                    <a:pt x="778659" y="345180"/>
                  </a:lnTo>
                  <a:lnTo>
                    <a:pt x="778659" y="0"/>
                  </a:lnTo>
                  <a:lnTo>
                    <a:pt x="603666" y="0"/>
                  </a:lnTo>
                  <a:lnTo>
                    <a:pt x="603666" y="345180"/>
                  </a:lnTo>
                  <a:close/>
                </a:path>
                <a:path w="1470025" h="1099820">
                  <a:moveTo>
                    <a:pt x="778639" y="345180"/>
                  </a:moveTo>
                  <a:lnTo>
                    <a:pt x="1294877" y="345180"/>
                  </a:lnTo>
                  <a:lnTo>
                    <a:pt x="1294877" y="0"/>
                  </a:lnTo>
                  <a:lnTo>
                    <a:pt x="778639" y="0"/>
                  </a:lnTo>
                  <a:lnTo>
                    <a:pt x="778639" y="345180"/>
                  </a:lnTo>
                  <a:close/>
                </a:path>
                <a:path w="1470025" h="1099820">
                  <a:moveTo>
                    <a:pt x="1294916" y="345180"/>
                  </a:moveTo>
                  <a:lnTo>
                    <a:pt x="1469908" y="345180"/>
                  </a:lnTo>
                  <a:lnTo>
                    <a:pt x="1469908" y="0"/>
                  </a:lnTo>
                  <a:lnTo>
                    <a:pt x="1294916" y="0"/>
                  </a:lnTo>
                  <a:lnTo>
                    <a:pt x="1294916" y="345180"/>
                  </a:lnTo>
                  <a:close/>
                </a:path>
                <a:path w="1470025" h="1099820">
                  <a:moveTo>
                    <a:pt x="0" y="174900"/>
                  </a:moveTo>
                  <a:lnTo>
                    <a:pt x="151925" y="1099338"/>
                  </a:lnTo>
                </a:path>
              </a:pathLst>
            </a:custGeom>
            <a:ln w="138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15885" y="5545934"/>
              <a:ext cx="125095" cy="133350"/>
            </a:xfrm>
            <a:custGeom>
              <a:avLst/>
              <a:gdLst/>
              <a:ahLst/>
              <a:cxnLst/>
              <a:rect l="l" t="t" r="r" b="b"/>
              <a:pathLst>
                <a:path w="125095" h="133350">
                  <a:moveTo>
                    <a:pt x="124843" y="0"/>
                  </a:moveTo>
                  <a:lnTo>
                    <a:pt x="0" y="18351"/>
                  </a:lnTo>
                  <a:lnTo>
                    <a:pt x="82972" y="133117"/>
                  </a:lnTo>
                  <a:lnTo>
                    <a:pt x="1248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5581357" y="5959495"/>
            <a:ext cx="263525" cy="124460"/>
            <a:chOff x="5581357" y="5959495"/>
            <a:chExt cx="263525" cy="124460"/>
          </a:xfrm>
        </p:grpSpPr>
        <p:sp>
          <p:nvSpPr>
            <p:cNvPr id="60" name="object 60"/>
            <p:cNvSpPr/>
            <p:nvPr/>
          </p:nvSpPr>
          <p:spPr>
            <a:xfrm>
              <a:off x="5581357" y="6024213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309" y="0"/>
                  </a:lnTo>
                </a:path>
              </a:pathLst>
            </a:custGeom>
            <a:ln w="13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719838" y="5959495"/>
              <a:ext cx="124460" cy="124460"/>
            </a:xfrm>
            <a:custGeom>
              <a:avLst/>
              <a:gdLst/>
              <a:ahLst/>
              <a:cxnLst/>
              <a:rect l="l" t="t" r="r" b="b"/>
              <a:pathLst>
                <a:path w="124460" h="124460">
                  <a:moveTo>
                    <a:pt x="0" y="0"/>
                  </a:moveTo>
                  <a:lnTo>
                    <a:pt x="0" y="124392"/>
                  </a:lnTo>
                  <a:lnTo>
                    <a:pt x="124459" y="64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3155367" y="5842424"/>
          <a:ext cx="2505708" cy="34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0700"/>
                <a:gridCol w="257809"/>
                <a:gridCol w="520700"/>
                <a:gridCol w="257809"/>
                <a:gridCol w="516255"/>
                <a:gridCol w="262255"/>
                <a:gridCol w="82550"/>
                <a:gridCol w="87630"/>
              </a:tblGrid>
              <a:tr h="174625">
                <a:tc rowSpan="2"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69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63" name="object 63"/>
          <p:cNvSpPr txBox="1"/>
          <p:nvPr/>
        </p:nvSpPr>
        <p:spPr>
          <a:xfrm>
            <a:off x="3260011" y="5505315"/>
            <a:ext cx="66929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Bloc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5837392" y="5842424"/>
          <a:ext cx="2501898" cy="34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6255"/>
                <a:gridCol w="257810"/>
                <a:gridCol w="520700"/>
                <a:gridCol w="257809"/>
                <a:gridCol w="520700"/>
                <a:gridCol w="257810"/>
                <a:gridCol w="170814"/>
              </a:tblGrid>
              <a:tr h="34417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60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70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5" name="object 65"/>
          <p:cNvSpPr txBox="1"/>
          <p:nvPr/>
        </p:nvSpPr>
        <p:spPr>
          <a:xfrm>
            <a:off x="5937426" y="5505315"/>
            <a:ext cx="66929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Bloc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904326" y="5959495"/>
            <a:ext cx="258445" cy="124460"/>
            <a:chOff x="2904326" y="5959495"/>
            <a:chExt cx="258445" cy="124460"/>
          </a:xfrm>
        </p:grpSpPr>
        <p:sp>
          <p:nvSpPr>
            <p:cNvPr id="67" name="object 67"/>
            <p:cNvSpPr/>
            <p:nvPr/>
          </p:nvSpPr>
          <p:spPr>
            <a:xfrm>
              <a:off x="2904326" y="6024213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1925" y="0"/>
                  </a:lnTo>
                </a:path>
              </a:pathLst>
            </a:custGeom>
            <a:ln w="13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037813" y="5959495"/>
              <a:ext cx="124460" cy="124460"/>
            </a:xfrm>
            <a:custGeom>
              <a:avLst/>
              <a:gdLst/>
              <a:ahLst/>
              <a:cxnLst/>
              <a:rect l="l" t="t" r="r" b="b"/>
              <a:pathLst>
                <a:path w="124460" h="124460">
                  <a:moveTo>
                    <a:pt x="0" y="0"/>
                  </a:moveTo>
                  <a:lnTo>
                    <a:pt x="0" y="124392"/>
                  </a:lnTo>
                  <a:lnTo>
                    <a:pt x="124459" y="64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4712846" y="4637551"/>
            <a:ext cx="2251710" cy="1042035"/>
            <a:chOff x="4712846" y="4637551"/>
            <a:chExt cx="2251710" cy="1042035"/>
          </a:xfrm>
        </p:grpSpPr>
        <p:sp>
          <p:nvSpPr>
            <p:cNvPr id="70" name="object 70"/>
            <p:cNvSpPr/>
            <p:nvPr/>
          </p:nvSpPr>
          <p:spPr>
            <a:xfrm>
              <a:off x="4719744" y="4644450"/>
              <a:ext cx="2147570" cy="988694"/>
            </a:xfrm>
            <a:custGeom>
              <a:avLst/>
              <a:gdLst/>
              <a:ahLst/>
              <a:cxnLst/>
              <a:rect l="l" t="t" r="r" b="b"/>
              <a:pathLst>
                <a:path w="2147570" h="988695">
                  <a:moveTo>
                    <a:pt x="0" y="0"/>
                  </a:moveTo>
                  <a:lnTo>
                    <a:pt x="2147309" y="988695"/>
                  </a:lnTo>
                </a:path>
              </a:pathLst>
            </a:custGeom>
            <a:ln w="13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25568" y="5568887"/>
              <a:ext cx="139065" cy="110489"/>
            </a:xfrm>
            <a:custGeom>
              <a:avLst/>
              <a:gdLst/>
              <a:ahLst/>
              <a:cxnLst/>
              <a:rect l="l" t="t" r="r" b="b"/>
              <a:pathLst>
                <a:path w="139065" h="110489">
                  <a:moveTo>
                    <a:pt x="50705" y="0"/>
                  </a:moveTo>
                  <a:lnTo>
                    <a:pt x="0" y="110163"/>
                  </a:lnTo>
                  <a:lnTo>
                    <a:pt x="138672" y="110163"/>
                  </a:lnTo>
                  <a:lnTo>
                    <a:pt x="50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8450" y="289001"/>
            <a:ext cx="3163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50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9600" y="4038600"/>
            <a:ext cx="8077200" cy="533400"/>
            <a:chOff x="609600" y="40386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4667250" y="4038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42672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3723" y="3469092"/>
          <a:ext cx="2581272" cy="35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265430"/>
                <a:gridCol w="531495"/>
                <a:gridCol w="270509"/>
                <a:gridCol w="531494"/>
                <a:gridCol w="265430"/>
                <a:gridCol w="90805"/>
                <a:gridCol w="90169"/>
              </a:tblGrid>
              <a:tr h="179705"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10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20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74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81837" y="3122555"/>
            <a:ext cx="68770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0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18112" y="2049022"/>
            <a:ext cx="194945" cy="370205"/>
            <a:chOff x="3018112" y="2049022"/>
            <a:chExt cx="194945" cy="370205"/>
          </a:xfrm>
        </p:grpSpPr>
        <p:sp>
          <p:nvSpPr>
            <p:cNvPr id="9" name="object 9"/>
            <p:cNvSpPr/>
            <p:nvPr/>
          </p:nvSpPr>
          <p:spPr>
            <a:xfrm>
              <a:off x="3025414" y="2056324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210"/>
                  </a:lnTo>
                  <a:lnTo>
                    <a:pt x="180040" y="355210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5414" y="2056324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0" y="355210"/>
                  </a:moveTo>
                  <a:lnTo>
                    <a:pt x="180040" y="355210"/>
                  </a:lnTo>
                  <a:lnTo>
                    <a:pt x="180040" y="0"/>
                  </a:lnTo>
                  <a:lnTo>
                    <a:pt x="0" y="0"/>
                  </a:lnTo>
                  <a:lnTo>
                    <a:pt x="0" y="355210"/>
                  </a:lnTo>
                  <a:close/>
                </a:path>
              </a:pathLst>
            </a:custGeom>
            <a:ln w="14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05445" y="2056324"/>
            <a:ext cx="531495" cy="355600"/>
          </a:xfrm>
          <a:prstGeom prst="rect">
            <a:avLst/>
          </a:prstGeom>
          <a:solidFill>
            <a:srgbClr val="FFFF00"/>
          </a:solidFill>
          <a:ln w="14244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Arial MT"/>
                <a:cs typeface="Arial MT"/>
              </a:rPr>
              <a:t>25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29301" y="2049022"/>
            <a:ext cx="725805" cy="370205"/>
            <a:chOff x="3729301" y="2049022"/>
            <a:chExt cx="725805" cy="370205"/>
          </a:xfrm>
        </p:grpSpPr>
        <p:sp>
          <p:nvSpPr>
            <p:cNvPr id="13" name="object 13"/>
            <p:cNvSpPr/>
            <p:nvPr/>
          </p:nvSpPr>
          <p:spPr>
            <a:xfrm>
              <a:off x="3736603" y="2056324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210"/>
                  </a:lnTo>
                  <a:lnTo>
                    <a:pt x="180040" y="355210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36603" y="2056324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0" y="355210"/>
                  </a:moveTo>
                  <a:lnTo>
                    <a:pt x="180040" y="355210"/>
                  </a:lnTo>
                  <a:lnTo>
                    <a:pt x="180040" y="0"/>
                  </a:lnTo>
                  <a:lnTo>
                    <a:pt x="0" y="0"/>
                  </a:lnTo>
                  <a:lnTo>
                    <a:pt x="0" y="355210"/>
                  </a:lnTo>
                  <a:close/>
                </a:path>
              </a:pathLst>
            </a:custGeom>
            <a:ln w="142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16624" y="2056324"/>
              <a:ext cx="531495" cy="355600"/>
            </a:xfrm>
            <a:custGeom>
              <a:avLst/>
              <a:gdLst/>
              <a:ahLst/>
              <a:cxnLst/>
              <a:rect l="l" t="t" r="r" b="b"/>
              <a:pathLst>
                <a:path w="531495" h="355600">
                  <a:moveTo>
                    <a:pt x="531129" y="0"/>
                  </a:moveTo>
                  <a:lnTo>
                    <a:pt x="0" y="0"/>
                  </a:lnTo>
                  <a:lnTo>
                    <a:pt x="0" y="355210"/>
                  </a:lnTo>
                  <a:lnTo>
                    <a:pt x="531129" y="355210"/>
                  </a:lnTo>
                  <a:lnTo>
                    <a:pt x="53112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16624" y="2056324"/>
              <a:ext cx="531495" cy="355600"/>
            </a:xfrm>
            <a:custGeom>
              <a:avLst/>
              <a:gdLst/>
              <a:ahLst/>
              <a:cxnLst/>
              <a:rect l="l" t="t" r="r" b="b"/>
              <a:pathLst>
                <a:path w="531495" h="355600">
                  <a:moveTo>
                    <a:pt x="0" y="355210"/>
                  </a:moveTo>
                  <a:lnTo>
                    <a:pt x="531129" y="355210"/>
                  </a:lnTo>
                  <a:lnTo>
                    <a:pt x="531129" y="0"/>
                  </a:lnTo>
                  <a:lnTo>
                    <a:pt x="0" y="0"/>
                  </a:lnTo>
                  <a:lnTo>
                    <a:pt x="0" y="355210"/>
                  </a:lnTo>
                  <a:close/>
                </a:path>
              </a:pathLst>
            </a:custGeom>
            <a:ln w="14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23746" y="2057417"/>
            <a:ext cx="51752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14"/>
              </a:spcBef>
            </a:pPr>
            <a:r>
              <a:rPr sz="1850" spc="-25" dirty="0">
                <a:latin typeface="Arial MT"/>
                <a:cs typeface="Arial MT"/>
              </a:rPr>
              <a:t>40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8949" y="873379"/>
            <a:ext cx="5310505" cy="11391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Débordement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division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bloc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ts val="2695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60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promue</a:t>
            </a:r>
            <a:endParaRPr sz="2400">
              <a:latin typeface="Tahoma"/>
              <a:cs typeface="Tahoma"/>
            </a:endParaRPr>
          </a:p>
          <a:p>
            <a:pPr marL="252729" algn="ctr">
              <a:lnSpc>
                <a:spcPts val="2035"/>
              </a:lnSpc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2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68462" y="2229206"/>
            <a:ext cx="1254760" cy="1071880"/>
            <a:chOff x="1868462" y="2229206"/>
            <a:chExt cx="1254760" cy="1071880"/>
          </a:xfrm>
        </p:grpSpPr>
        <p:sp>
          <p:nvSpPr>
            <p:cNvPr id="20" name="object 20"/>
            <p:cNvSpPr/>
            <p:nvPr/>
          </p:nvSpPr>
          <p:spPr>
            <a:xfrm>
              <a:off x="1954224" y="2236307"/>
              <a:ext cx="1161415" cy="989330"/>
            </a:xfrm>
            <a:custGeom>
              <a:avLst/>
              <a:gdLst/>
              <a:ahLst/>
              <a:cxnLst/>
              <a:rect l="l" t="t" r="r" b="b"/>
              <a:pathLst>
                <a:path w="1161414" h="989330">
                  <a:moveTo>
                    <a:pt x="1161299" y="0"/>
                  </a:moveTo>
                  <a:lnTo>
                    <a:pt x="0" y="989087"/>
                  </a:lnTo>
                </a:path>
              </a:pathLst>
            </a:custGeom>
            <a:ln w="142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68462" y="3168702"/>
              <a:ext cx="142875" cy="132715"/>
            </a:xfrm>
            <a:custGeom>
              <a:avLst/>
              <a:gdLst/>
              <a:ahLst/>
              <a:cxnLst/>
              <a:rect l="l" t="t" r="r" b="b"/>
              <a:pathLst>
                <a:path w="142875" h="132714">
                  <a:moveTo>
                    <a:pt x="57345" y="0"/>
                  </a:moveTo>
                  <a:lnTo>
                    <a:pt x="0" y="132269"/>
                  </a:lnTo>
                  <a:lnTo>
                    <a:pt x="142613" y="94480"/>
                  </a:lnTo>
                  <a:lnTo>
                    <a:pt x="57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819410" y="2049022"/>
            <a:ext cx="1527175" cy="1252220"/>
            <a:chOff x="3819410" y="2049022"/>
            <a:chExt cx="1527175" cy="1252220"/>
          </a:xfrm>
        </p:grpSpPr>
        <p:sp>
          <p:nvSpPr>
            <p:cNvPr id="23" name="object 23"/>
            <p:cNvSpPr/>
            <p:nvPr/>
          </p:nvSpPr>
          <p:spPr>
            <a:xfrm>
              <a:off x="4447793" y="2056324"/>
              <a:ext cx="180340" cy="355600"/>
            </a:xfrm>
            <a:custGeom>
              <a:avLst/>
              <a:gdLst/>
              <a:ahLst/>
              <a:cxnLst/>
              <a:rect l="l" t="t" r="r" b="b"/>
              <a:pathLst>
                <a:path w="180339" h="355600">
                  <a:moveTo>
                    <a:pt x="180040" y="0"/>
                  </a:moveTo>
                  <a:lnTo>
                    <a:pt x="0" y="0"/>
                  </a:lnTo>
                  <a:lnTo>
                    <a:pt x="0" y="355210"/>
                  </a:lnTo>
                  <a:lnTo>
                    <a:pt x="180040" y="355210"/>
                  </a:lnTo>
                  <a:lnTo>
                    <a:pt x="1800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26713" y="2056324"/>
              <a:ext cx="1512570" cy="1131570"/>
            </a:xfrm>
            <a:custGeom>
              <a:avLst/>
              <a:gdLst/>
              <a:ahLst/>
              <a:cxnLst/>
              <a:rect l="l" t="t" r="r" b="b"/>
              <a:pathLst>
                <a:path w="1512570" h="1131570">
                  <a:moveTo>
                    <a:pt x="621080" y="355210"/>
                  </a:moveTo>
                  <a:lnTo>
                    <a:pt x="801120" y="355210"/>
                  </a:lnTo>
                  <a:lnTo>
                    <a:pt x="801120" y="0"/>
                  </a:lnTo>
                  <a:lnTo>
                    <a:pt x="621080" y="0"/>
                  </a:lnTo>
                  <a:lnTo>
                    <a:pt x="621080" y="355210"/>
                  </a:lnTo>
                  <a:close/>
                </a:path>
                <a:path w="1512570" h="1131570">
                  <a:moveTo>
                    <a:pt x="801100" y="355210"/>
                  </a:moveTo>
                  <a:lnTo>
                    <a:pt x="1332229" y="355210"/>
                  </a:lnTo>
                  <a:lnTo>
                    <a:pt x="1332229" y="0"/>
                  </a:lnTo>
                  <a:lnTo>
                    <a:pt x="801100" y="0"/>
                  </a:lnTo>
                  <a:lnTo>
                    <a:pt x="801100" y="355210"/>
                  </a:lnTo>
                  <a:close/>
                </a:path>
                <a:path w="1512570" h="1131570">
                  <a:moveTo>
                    <a:pt x="1332269" y="355210"/>
                  </a:moveTo>
                  <a:lnTo>
                    <a:pt x="1512309" y="355210"/>
                  </a:lnTo>
                  <a:lnTo>
                    <a:pt x="1512309" y="0"/>
                  </a:lnTo>
                  <a:lnTo>
                    <a:pt x="1332269" y="0"/>
                  </a:lnTo>
                  <a:lnTo>
                    <a:pt x="1332269" y="355210"/>
                  </a:lnTo>
                  <a:close/>
                </a:path>
                <a:path w="1512570" h="1131570">
                  <a:moveTo>
                    <a:pt x="0" y="179982"/>
                  </a:moveTo>
                  <a:lnTo>
                    <a:pt x="156307" y="1131282"/>
                  </a:lnTo>
                </a:path>
              </a:pathLst>
            </a:custGeom>
            <a:ln w="142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16624" y="3163986"/>
              <a:ext cx="128905" cy="137160"/>
            </a:xfrm>
            <a:custGeom>
              <a:avLst/>
              <a:gdLst/>
              <a:ahLst/>
              <a:cxnLst/>
              <a:rect l="l" t="t" r="r" b="b"/>
              <a:pathLst>
                <a:path w="128904" h="137160">
                  <a:moveTo>
                    <a:pt x="128444" y="0"/>
                  </a:moveTo>
                  <a:lnTo>
                    <a:pt x="0" y="18884"/>
                  </a:lnTo>
                  <a:lnTo>
                    <a:pt x="85366" y="136985"/>
                  </a:lnTo>
                  <a:lnTo>
                    <a:pt x="1284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424369" y="3589563"/>
            <a:ext cx="271145" cy="128270"/>
            <a:chOff x="5424369" y="3589563"/>
            <a:chExt cx="271145" cy="128270"/>
          </a:xfrm>
        </p:grpSpPr>
        <p:sp>
          <p:nvSpPr>
            <p:cNvPr id="27" name="object 27"/>
            <p:cNvSpPr/>
            <p:nvPr/>
          </p:nvSpPr>
          <p:spPr>
            <a:xfrm>
              <a:off x="5424369" y="365616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5">
                  <a:moveTo>
                    <a:pt x="0" y="0"/>
                  </a:moveTo>
                  <a:lnTo>
                    <a:pt x="156702" y="0"/>
                  </a:lnTo>
                </a:path>
              </a:pathLst>
            </a:custGeom>
            <a:ln w="141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66844" y="3589563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70" h="128270">
                  <a:moveTo>
                    <a:pt x="0" y="0"/>
                  </a:moveTo>
                  <a:lnTo>
                    <a:pt x="0" y="128006"/>
                  </a:lnTo>
                  <a:lnTo>
                    <a:pt x="128049" y="66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2928398" y="3469092"/>
          <a:ext cx="2578732" cy="35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940"/>
                <a:gridCol w="265430"/>
                <a:gridCol w="535940"/>
                <a:gridCol w="265430"/>
                <a:gridCol w="530859"/>
                <a:gridCol w="269875"/>
                <a:gridCol w="85089"/>
                <a:gridCol w="90169"/>
              </a:tblGrid>
              <a:tr h="179705">
                <a:tc rowSpan="2"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25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30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74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0" name="object 30"/>
          <p:cNvSpPr txBox="1"/>
          <p:nvPr/>
        </p:nvSpPr>
        <p:spPr>
          <a:xfrm>
            <a:off x="3036427" y="3122555"/>
            <a:ext cx="68770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3</a:t>
            </a:r>
            <a:endParaRPr sz="1850">
              <a:latin typeface="Arial MT"/>
              <a:cs typeface="Arial M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5687789" y="3469092"/>
          <a:ext cx="2571114" cy="35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0860"/>
                <a:gridCol w="264795"/>
                <a:gridCol w="535305"/>
                <a:gridCol w="264795"/>
                <a:gridCol w="535305"/>
                <a:gridCol w="264794"/>
                <a:gridCol w="175260"/>
              </a:tblGrid>
              <a:tr h="35433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40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60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50" spc="-25" dirty="0">
                          <a:latin typeface="Arial MT"/>
                          <a:cs typeface="Arial MT"/>
                        </a:rPr>
                        <a:t>70</a:t>
                      </a:r>
                      <a:endParaRPr sz="1850">
                        <a:latin typeface="Arial MT"/>
                        <a:cs typeface="Arial MT"/>
                      </a:endParaRPr>
                    </a:p>
                  </a:txBody>
                  <a:tcPr marL="0" marR="0" marT="158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5791075" y="3122555"/>
            <a:ext cx="687705" cy="309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50" dirty="0">
                <a:latin typeface="Arial MT"/>
                <a:cs typeface="Arial MT"/>
              </a:rPr>
              <a:t>Bloc</a:t>
            </a:r>
            <a:r>
              <a:rPr sz="1850" spc="35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1</a:t>
            </a:r>
            <a:endParaRPr sz="1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670116" y="3589563"/>
            <a:ext cx="265430" cy="128270"/>
            <a:chOff x="2670116" y="3589563"/>
            <a:chExt cx="265430" cy="128270"/>
          </a:xfrm>
        </p:grpSpPr>
        <p:sp>
          <p:nvSpPr>
            <p:cNvPr id="34" name="object 34"/>
            <p:cNvSpPr/>
            <p:nvPr/>
          </p:nvSpPr>
          <p:spPr>
            <a:xfrm>
              <a:off x="2670116" y="3656162"/>
              <a:ext cx="156845" cy="0"/>
            </a:xfrm>
            <a:custGeom>
              <a:avLst/>
              <a:gdLst/>
              <a:ahLst/>
              <a:cxnLst/>
              <a:rect l="l" t="t" r="r" b="b"/>
              <a:pathLst>
                <a:path w="156844">
                  <a:moveTo>
                    <a:pt x="0" y="0"/>
                  </a:moveTo>
                  <a:lnTo>
                    <a:pt x="156307" y="0"/>
                  </a:lnTo>
                </a:path>
              </a:pathLst>
            </a:custGeom>
            <a:ln w="141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807453" y="3589563"/>
              <a:ext cx="128270" cy="128270"/>
            </a:xfrm>
            <a:custGeom>
              <a:avLst/>
              <a:gdLst/>
              <a:ahLst/>
              <a:cxnLst/>
              <a:rect l="l" t="t" r="r" b="b"/>
              <a:pathLst>
                <a:path w="128269" h="128270">
                  <a:moveTo>
                    <a:pt x="0" y="0"/>
                  </a:moveTo>
                  <a:lnTo>
                    <a:pt x="0" y="128006"/>
                  </a:lnTo>
                  <a:lnTo>
                    <a:pt x="128049" y="66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530803" y="2229208"/>
            <a:ext cx="2316480" cy="1071880"/>
            <a:chOff x="4530803" y="2229208"/>
            <a:chExt cx="2316480" cy="1071880"/>
          </a:xfrm>
        </p:grpSpPr>
        <p:sp>
          <p:nvSpPr>
            <p:cNvPr id="37" name="object 37"/>
            <p:cNvSpPr/>
            <p:nvPr/>
          </p:nvSpPr>
          <p:spPr>
            <a:xfrm>
              <a:off x="4537902" y="2236307"/>
              <a:ext cx="2209800" cy="1017905"/>
            </a:xfrm>
            <a:custGeom>
              <a:avLst/>
              <a:gdLst/>
              <a:ahLst/>
              <a:cxnLst/>
              <a:rect l="l" t="t" r="r" b="b"/>
              <a:pathLst>
                <a:path w="2209800" h="1017904">
                  <a:moveTo>
                    <a:pt x="0" y="0"/>
                  </a:moveTo>
                  <a:lnTo>
                    <a:pt x="2209251" y="1017423"/>
                  </a:lnTo>
                </a:path>
              </a:pathLst>
            </a:custGeom>
            <a:ln w="14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04470" y="3187606"/>
              <a:ext cx="142875" cy="113664"/>
            </a:xfrm>
            <a:custGeom>
              <a:avLst/>
              <a:gdLst/>
              <a:ahLst/>
              <a:cxnLst/>
              <a:rect l="l" t="t" r="r" b="b"/>
              <a:pathLst>
                <a:path w="142875" h="113664">
                  <a:moveTo>
                    <a:pt x="52168" y="0"/>
                  </a:moveTo>
                  <a:lnTo>
                    <a:pt x="0" y="113365"/>
                  </a:lnTo>
                  <a:lnTo>
                    <a:pt x="142672" y="113365"/>
                  </a:lnTo>
                  <a:lnTo>
                    <a:pt x="52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68790" y="6150852"/>
          <a:ext cx="2037713" cy="31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909"/>
                <a:gridCol w="209550"/>
                <a:gridCol w="419100"/>
                <a:gridCol w="213359"/>
                <a:gridCol w="419100"/>
                <a:gridCol w="210185"/>
                <a:gridCol w="71755"/>
                <a:gridCol w="71755"/>
              </a:tblGrid>
              <a:tr h="158115">
                <a:tc rowSpan="2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10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20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251880" y="5844495"/>
            <a:ext cx="54864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5" dirty="0">
                <a:latin typeface="Arial MT"/>
                <a:cs typeface="Arial MT"/>
              </a:rPr>
              <a:t>Bloc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0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465041" y="4902416"/>
            <a:ext cx="574040" cy="325120"/>
            <a:chOff x="3465041" y="4902416"/>
            <a:chExt cx="574040" cy="325120"/>
          </a:xfrm>
        </p:grpSpPr>
        <p:sp>
          <p:nvSpPr>
            <p:cNvPr id="42" name="object 42"/>
            <p:cNvSpPr/>
            <p:nvPr/>
          </p:nvSpPr>
          <p:spPr>
            <a:xfrm>
              <a:off x="3471073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142095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142095" y="312246"/>
                  </a:lnTo>
                  <a:lnTo>
                    <a:pt x="14209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71073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0" y="312246"/>
                  </a:moveTo>
                  <a:lnTo>
                    <a:pt x="142095" y="312246"/>
                  </a:lnTo>
                  <a:lnTo>
                    <a:pt x="142095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1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13153" y="4908766"/>
              <a:ext cx="419734" cy="312420"/>
            </a:xfrm>
            <a:custGeom>
              <a:avLst/>
              <a:gdLst/>
              <a:ahLst/>
              <a:cxnLst/>
              <a:rect l="l" t="t" r="r" b="b"/>
              <a:pathLst>
                <a:path w="419735" h="312420">
                  <a:moveTo>
                    <a:pt x="419189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419189" y="312246"/>
                  </a:lnTo>
                  <a:lnTo>
                    <a:pt x="41918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13153" y="4908766"/>
              <a:ext cx="419734" cy="312420"/>
            </a:xfrm>
            <a:custGeom>
              <a:avLst/>
              <a:gdLst/>
              <a:ahLst/>
              <a:cxnLst/>
              <a:rect l="l" t="t" r="r" b="b"/>
              <a:pathLst>
                <a:path w="419735" h="312420">
                  <a:moveTo>
                    <a:pt x="0" y="312246"/>
                  </a:moveTo>
                  <a:lnTo>
                    <a:pt x="419189" y="312246"/>
                  </a:lnTo>
                  <a:lnTo>
                    <a:pt x="419189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20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619204" y="4908191"/>
            <a:ext cx="40767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90"/>
              </a:spcBef>
            </a:pPr>
            <a:r>
              <a:rPr sz="1650" spc="-25" dirty="0">
                <a:latin typeface="Arial MT"/>
                <a:cs typeface="Arial MT"/>
              </a:rPr>
              <a:t>25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4026341" y="4902733"/>
            <a:ext cx="154305" cy="324485"/>
            <a:chOff x="4026341" y="4902733"/>
            <a:chExt cx="154305" cy="324485"/>
          </a:xfrm>
        </p:grpSpPr>
        <p:sp>
          <p:nvSpPr>
            <p:cNvPr id="48" name="object 48"/>
            <p:cNvSpPr/>
            <p:nvPr/>
          </p:nvSpPr>
          <p:spPr>
            <a:xfrm>
              <a:off x="4032373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142095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142095" y="312246"/>
                  </a:lnTo>
                  <a:lnTo>
                    <a:pt x="14209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32373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0" y="312246"/>
                  </a:moveTo>
                  <a:lnTo>
                    <a:pt x="142095" y="312246"/>
                  </a:lnTo>
                  <a:lnTo>
                    <a:pt x="142095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1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174461" y="4908766"/>
            <a:ext cx="419100" cy="312420"/>
          </a:xfrm>
          <a:prstGeom prst="rect">
            <a:avLst/>
          </a:prstGeom>
          <a:solidFill>
            <a:srgbClr val="FFFF00"/>
          </a:solidFill>
          <a:ln w="12086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85"/>
              </a:spcBef>
            </a:pPr>
            <a:r>
              <a:rPr sz="1650" spc="-25" dirty="0">
                <a:latin typeface="Arial MT"/>
                <a:cs typeface="Arial MT"/>
              </a:rPr>
              <a:t>40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587173" y="4902416"/>
            <a:ext cx="574040" cy="325120"/>
            <a:chOff x="4587173" y="4902416"/>
            <a:chExt cx="574040" cy="325120"/>
          </a:xfrm>
        </p:grpSpPr>
        <p:sp>
          <p:nvSpPr>
            <p:cNvPr id="52" name="object 52"/>
            <p:cNvSpPr/>
            <p:nvPr/>
          </p:nvSpPr>
          <p:spPr>
            <a:xfrm>
              <a:off x="4593206" y="4908766"/>
              <a:ext cx="142875" cy="312420"/>
            </a:xfrm>
            <a:custGeom>
              <a:avLst/>
              <a:gdLst/>
              <a:ahLst/>
              <a:cxnLst/>
              <a:rect l="l" t="t" r="r" b="b"/>
              <a:pathLst>
                <a:path w="142875" h="312420">
                  <a:moveTo>
                    <a:pt x="142469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142469" y="312246"/>
                  </a:lnTo>
                  <a:lnTo>
                    <a:pt x="14246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593206" y="4908766"/>
              <a:ext cx="142875" cy="312420"/>
            </a:xfrm>
            <a:custGeom>
              <a:avLst/>
              <a:gdLst/>
              <a:ahLst/>
              <a:cxnLst/>
              <a:rect l="l" t="t" r="r" b="b"/>
              <a:pathLst>
                <a:path w="142875" h="312420">
                  <a:moveTo>
                    <a:pt x="0" y="312246"/>
                  </a:moveTo>
                  <a:lnTo>
                    <a:pt x="142469" y="312246"/>
                  </a:lnTo>
                  <a:lnTo>
                    <a:pt x="142469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1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35753" y="4908766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418815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418815" y="312246"/>
                  </a:lnTo>
                  <a:lnTo>
                    <a:pt x="4188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35753" y="4908766"/>
              <a:ext cx="419100" cy="312420"/>
            </a:xfrm>
            <a:custGeom>
              <a:avLst/>
              <a:gdLst/>
              <a:ahLst/>
              <a:cxnLst/>
              <a:rect l="l" t="t" r="r" b="b"/>
              <a:pathLst>
                <a:path w="419100" h="312420">
                  <a:moveTo>
                    <a:pt x="0" y="312246"/>
                  </a:moveTo>
                  <a:lnTo>
                    <a:pt x="418815" y="312246"/>
                  </a:lnTo>
                  <a:lnTo>
                    <a:pt x="418815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20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741758" y="4908191"/>
            <a:ext cx="407034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90"/>
              </a:spcBef>
            </a:pPr>
            <a:r>
              <a:rPr sz="1650" spc="-25" dirty="0">
                <a:latin typeface="Arial MT"/>
                <a:cs typeface="Arial MT"/>
              </a:rPr>
              <a:t>60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148474" y="4902733"/>
            <a:ext cx="154305" cy="324485"/>
            <a:chOff x="5148474" y="4902733"/>
            <a:chExt cx="154305" cy="324485"/>
          </a:xfrm>
        </p:grpSpPr>
        <p:sp>
          <p:nvSpPr>
            <p:cNvPr id="58" name="object 58"/>
            <p:cNvSpPr/>
            <p:nvPr/>
          </p:nvSpPr>
          <p:spPr>
            <a:xfrm>
              <a:off x="5154506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142095" y="0"/>
                  </a:moveTo>
                  <a:lnTo>
                    <a:pt x="0" y="0"/>
                  </a:lnTo>
                  <a:lnTo>
                    <a:pt x="0" y="312246"/>
                  </a:lnTo>
                  <a:lnTo>
                    <a:pt x="142095" y="312246"/>
                  </a:lnTo>
                  <a:lnTo>
                    <a:pt x="14209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154506" y="4908766"/>
              <a:ext cx="142240" cy="312420"/>
            </a:xfrm>
            <a:custGeom>
              <a:avLst/>
              <a:gdLst/>
              <a:ahLst/>
              <a:cxnLst/>
              <a:rect l="l" t="t" r="r" b="b"/>
              <a:pathLst>
                <a:path w="142239" h="312420">
                  <a:moveTo>
                    <a:pt x="0" y="312246"/>
                  </a:moveTo>
                  <a:lnTo>
                    <a:pt x="142095" y="312246"/>
                  </a:lnTo>
                  <a:lnTo>
                    <a:pt x="142095" y="0"/>
                  </a:lnTo>
                  <a:lnTo>
                    <a:pt x="0" y="0"/>
                  </a:lnTo>
                  <a:lnTo>
                    <a:pt x="0" y="312246"/>
                  </a:lnTo>
                  <a:close/>
                </a:path>
              </a:pathLst>
            </a:custGeom>
            <a:ln w="114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3548050" y="4596361"/>
            <a:ext cx="54864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5" dirty="0">
                <a:latin typeface="Arial MT"/>
                <a:cs typeface="Arial MT"/>
              </a:rPr>
              <a:t>Bloc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2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06788" y="5060832"/>
            <a:ext cx="2602865" cy="950594"/>
            <a:chOff x="1506788" y="5060832"/>
            <a:chExt cx="2602865" cy="950594"/>
          </a:xfrm>
        </p:grpSpPr>
        <p:sp>
          <p:nvSpPr>
            <p:cNvPr id="62" name="object 62"/>
            <p:cNvSpPr/>
            <p:nvPr/>
          </p:nvSpPr>
          <p:spPr>
            <a:xfrm>
              <a:off x="1589057" y="5066979"/>
              <a:ext cx="1953260" cy="894715"/>
            </a:xfrm>
            <a:custGeom>
              <a:avLst/>
              <a:gdLst/>
              <a:ahLst/>
              <a:cxnLst/>
              <a:rect l="l" t="t" r="r" b="b"/>
              <a:pathLst>
                <a:path w="1953260" h="894714">
                  <a:moveTo>
                    <a:pt x="1953134" y="0"/>
                  </a:moveTo>
                  <a:lnTo>
                    <a:pt x="0" y="894361"/>
                  </a:lnTo>
                </a:path>
              </a:pathLst>
            </a:custGeom>
            <a:ln w="12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06788" y="5907360"/>
              <a:ext cx="112395" cy="104139"/>
            </a:xfrm>
            <a:custGeom>
              <a:avLst/>
              <a:gdLst/>
              <a:ahLst/>
              <a:cxnLst/>
              <a:rect l="l" t="t" r="r" b="b"/>
              <a:pathLst>
                <a:path w="112394" h="104139">
                  <a:moveTo>
                    <a:pt x="74798" y="0"/>
                  </a:moveTo>
                  <a:lnTo>
                    <a:pt x="0" y="95507"/>
                  </a:lnTo>
                  <a:lnTo>
                    <a:pt x="112182" y="103798"/>
                  </a:lnTo>
                  <a:lnTo>
                    <a:pt x="747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257564" y="5066979"/>
              <a:ext cx="845819" cy="865505"/>
            </a:xfrm>
            <a:custGeom>
              <a:avLst/>
              <a:gdLst/>
              <a:ahLst/>
              <a:cxnLst/>
              <a:rect l="l" t="t" r="r" b="b"/>
              <a:pathLst>
                <a:path w="845820" h="865504">
                  <a:moveTo>
                    <a:pt x="845771" y="0"/>
                  </a:moveTo>
                  <a:lnTo>
                    <a:pt x="0" y="865290"/>
                  </a:lnTo>
                </a:path>
              </a:pathLst>
            </a:custGeom>
            <a:ln w="118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190189" y="5882451"/>
              <a:ext cx="109220" cy="120650"/>
            </a:xfrm>
            <a:custGeom>
              <a:avLst/>
              <a:gdLst/>
              <a:ahLst/>
              <a:cxnLst/>
              <a:rect l="l" t="t" r="r" b="b"/>
              <a:pathLst>
                <a:path w="109220" h="120650">
                  <a:moveTo>
                    <a:pt x="41173" y="0"/>
                  </a:moveTo>
                  <a:lnTo>
                    <a:pt x="0" y="120416"/>
                  </a:lnTo>
                  <a:lnTo>
                    <a:pt x="108860" y="83035"/>
                  </a:lnTo>
                  <a:lnTo>
                    <a:pt x="41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2342427" y="6150852"/>
          <a:ext cx="2035807" cy="31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909"/>
                <a:gridCol w="209550"/>
                <a:gridCol w="422909"/>
                <a:gridCol w="209550"/>
                <a:gridCol w="419100"/>
                <a:gridCol w="213360"/>
                <a:gridCol w="67310"/>
                <a:gridCol w="71119"/>
              </a:tblGrid>
              <a:tr h="158115">
                <a:tc row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25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30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67" name="object 67"/>
          <p:cNvSpPr/>
          <p:nvPr/>
        </p:nvSpPr>
        <p:spPr>
          <a:xfrm>
            <a:off x="4424925" y="6256553"/>
            <a:ext cx="101600" cy="113030"/>
          </a:xfrm>
          <a:custGeom>
            <a:avLst/>
            <a:gdLst/>
            <a:ahLst/>
            <a:cxnLst/>
            <a:rect l="l" t="t" r="r" b="b"/>
            <a:pathLst>
              <a:path w="101600" h="113029">
                <a:moveTo>
                  <a:pt x="0" y="0"/>
                </a:moveTo>
                <a:lnTo>
                  <a:pt x="0" y="112523"/>
                </a:lnTo>
                <a:lnTo>
                  <a:pt x="101062" y="585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2425606" y="5844495"/>
            <a:ext cx="54864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5" dirty="0">
                <a:latin typeface="Arial MT"/>
                <a:cs typeface="Arial MT"/>
              </a:rPr>
              <a:t>Bloc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3</a:t>
            </a:r>
            <a:endParaRPr sz="1650">
              <a:latin typeface="Arial MT"/>
              <a:cs typeface="Arial MT"/>
            </a:endParaRPr>
          </a:p>
        </p:txBody>
      </p:sp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4519943" y="6150852"/>
          <a:ext cx="2031997" cy="31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209550"/>
                <a:gridCol w="422909"/>
                <a:gridCol w="209550"/>
                <a:gridCol w="422909"/>
                <a:gridCol w="209550"/>
                <a:gridCol w="71119"/>
                <a:gridCol w="67310"/>
              </a:tblGrid>
              <a:tr h="158115">
                <a:tc rowSpan="2"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40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50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0" name="object 70"/>
          <p:cNvSpPr txBox="1"/>
          <p:nvPr/>
        </p:nvSpPr>
        <p:spPr>
          <a:xfrm>
            <a:off x="4599221" y="5844495"/>
            <a:ext cx="54864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5" dirty="0">
                <a:latin typeface="Arial MT"/>
                <a:cs typeface="Arial MT"/>
              </a:rPr>
              <a:t>Bloc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1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247567" y="6256553"/>
            <a:ext cx="100965" cy="113030"/>
          </a:xfrm>
          <a:custGeom>
            <a:avLst/>
            <a:gdLst/>
            <a:ahLst/>
            <a:cxnLst/>
            <a:rect l="l" t="t" r="r" b="b"/>
            <a:pathLst>
              <a:path w="100964" h="113029">
                <a:moveTo>
                  <a:pt x="0" y="0"/>
                </a:moveTo>
                <a:lnTo>
                  <a:pt x="0" y="112523"/>
                </a:lnTo>
                <a:lnTo>
                  <a:pt x="100906" y="585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4658603" y="5060946"/>
            <a:ext cx="777240" cy="942340"/>
            <a:chOff x="4658603" y="5060946"/>
            <a:chExt cx="777240" cy="942340"/>
          </a:xfrm>
        </p:grpSpPr>
        <p:sp>
          <p:nvSpPr>
            <p:cNvPr id="73" name="object 73"/>
            <p:cNvSpPr/>
            <p:nvPr/>
          </p:nvSpPr>
          <p:spPr>
            <a:xfrm>
              <a:off x="4664636" y="5066979"/>
              <a:ext cx="711200" cy="861694"/>
            </a:xfrm>
            <a:custGeom>
              <a:avLst/>
              <a:gdLst/>
              <a:ahLst/>
              <a:cxnLst/>
              <a:rect l="l" t="t" r="r" b="b"/>
              <a:pathLst>
                <a:path w="711200" h="861695">
                  <a:moveTo>
                    <a:pt x="0" y="0"/>
                  </a:moveTo>
                  <a:lnTo>
                    <a:pt x="710865" y="861144"/>
                  </a:lnTo>
                </a:path>
              </a:pathLst>
            </a:custGeom>
            <a:ln w="117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30273" y="5878288"/>
              <a:ext cx="105410" cy="125095"/>
            </a:xfrm>
            <a:custGeom>
              <a:avLst/>
              <a:gdLst/>
              <a:ahLst/>
              <a:cxnLst/>
              <a:rect l="l" t="t" r="r" b="b"/>
              <a:pathLst>
                <a:path w="105410" h="125095">
                  <a:moveTo>
                    <a:pt x="75172" y="0"/>
                  </a:moveTo>
                  <a:lnTo>
                    <a:pt x="0" y="78907"/>
                  </a:lnTo>
                  <a:lnTo>
                    <a:pt x="105117" y="124579"/>
                  </a:lnTo>
                  <a:lnTo>
                    <a:pt x="751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6693558" y="6150852"/>
          <a:ext cx="2035807" cy="311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213359"/>
                <a:gridCol w="419100"/>
                <a:gridCol w="209550"/>
                <a:gridCol w="422909"/>
                <a:gridCol w="209550"/>
                <a:gridCol w="142239"/>
              </a:tblGrid>
              <a:tr h="31178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60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50" spc="-25" dirty="0">
                          <a:latin typeface="Arial MT"/>
                          <a:cs typeface="Arial MT"/>
                        </a:rPr>
                        <a:t>70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6777047" y="5844495"/>
            <a:ext cx="548640" cy="27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50" spc="-95" dirty="0">
                <a:latin typeface="Arial MT"/>
                <a:cs typeface="Arial MT"/>
              </a:rPr>
              <a:t>Bloc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50" dirty="0">
                <a:latin typeface="Arial MT"/>
                <a:cs typeface="Arial MT"/>
              </a:rPr>
              <a:t>4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598696" y="6256553"/>
            <a:ext cx="100965" cy="113030"/>
          </a:xfrm>
          <a:custGeom>
            <a:avLst/>
            <a:gdLst/>
            <a:ahLst/>
            <a:cxnLst/>
            <a:rect l="l" t="t" r="r" b="b"/>
            <a:pathLst>
              <a:path w="100965" h="113029">
                <a:moveTo>
                  <a:pt x="0" y="0"/>
                </a:moveTo>
                <a:lnTo>
                  <a:pt x="0" y="112523"/>
                </a:lnTo>
                <a:lnTo>
                  <a:pt x="100906" y="5854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5219455" y="5060810"/>
            <a:ext cx="2393315" cy="955040"/>
            <a:chOff x="5219455" y="5060810"/>
            <a:chExt cx="2393315" cy="955040"/>
          </a:xfrm>
        </p:grpSpPr>
        <p:sp>
          <p:nvSpPr>
            <p:cNvPr id="79" name="object 79"/>
            <p:cNvSpPr/>
            <p:nvPr/>
          </p:nvSpPr>
          <p:spPr>
            <a:xfrm>
              <a:off x="5225624" y="5066979"/>
              <a:ext cx="2301240" cy="902969"/>
            </a:xfrm>
            <a:custGeom>
              <a:avLst/>
              <a:gdLst/>
              <a:ahLst/>
              <a:cxnLst/>
              <a:rect l="l" t="t" r="r" b="b"/>
              <a:pathLst>
                <a:path w="2301240" h="902970">
                  <a:moveTo>
                    <a:pt x="0" y="0"/>
                  </a:moveTo>
                  <a:lnTo>
                    <a:pt x="2301190" y="902670"/>
                  </a:lnTo>
                </a:path>
              </a:pathLst>
            </a:custGeom>
            <a:ln w="123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500613" y="5911506"/>
              <a:ext cx="112395" cy="104139"/>
            </a:xfrm>
            <a:custGeom>
              <a:avLst/>
              <a:gdLst/>
              <a:ahLst/>
              <a:cxnLst/>
              <a:rect l="l" t="t" r="r" b="b"/>
              <a:pathLst>
                <a:path w="112395" h="104139">
                  <a:moveTo>
                    <a:pt x="33687" y="0"/>
                  </a:moveTo>
                  <a:lnTo>
                    <a:pt x="0" y="103816"/>
                  </a:lnTo>
                  <a:lnTo>
                    <a:pt x="112135" y="91361"/>
                  </a:lnTo>
                  <a:lnTo>
                    <a:pt x="336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0850" y="403301"/>
            <a:ext cx="31635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53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5800" y="3581400"/>
            <a:ext cx="8077200" cy="533400"/>
            <a:chOff x="685800" y="35814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4667250" y="35814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37338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01586" y="3081575"/>
          <a:ext cx="1913888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3700"/>
                <a:gridCol w="200659"/>
                <a:gridCol w="393700"/>
                <a:gridCol w="197484"/>
                <a:gridCol w="6731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10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78330" y="28218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3471" y="2030687"/>
            <a:ext cx="537845" cy="273685"/>
            <a:chOff x="3793471" y="2030687"/>
            <a:chExt cx="537845" cy="273685"/>
          </a:xfrm>
        </p:grpSpPr>
        <p:sp>
          <p:nvSpPr>
            <p:cNvPr id="9" name="object 9"/>
            <p:cNvSpPr/>
            <p:nvPr/>
          </p:nvSpPr>
          <p:spPr>
            <a:xfrm>
              <a:off x="3798869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8869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2146" y="20360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393219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3219" y="262866"/>
                  </a:lnTo>
                  <a:lnTo>
                    <a:pt x="3932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32146" y="20360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0" y="262866"/>
                  </a:moveTo>
                  <a:lnTo>
                    <a:pt x="393219" y="262866"/>
                  </a:lnTo>
                  <a:lnTo>
                    <a:pt x="393219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37418" y="20335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19997" y="2030687"/>
            <a:ext cx="144145" cy="273685"/>
            <a:chOff x="4319997" y="2030687"/>
            <a:chExt cx="144145" cy="273685"/>
          </a:xfrm>
        </p:grpSpPr>
        <p:sp>
          <p:nvSpPr>
            <p:cNvPr id="15" name="object 15"/>
            <p:cNvSpPr/>
            <p:nvPr/>
          </p:nvSpPr>
          <p:spPr>
            <a:xfrm>
              <a:off x="4325395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5395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58679" y="2036084"/>
            <a:ext cx="393065" cy="262890"/>
          </a:xfrm>
          <a:prstGeom prst="rect">
            <a:avLst/>
          </a:prstGeom>
          <a:solidFill>
            <a:srgbClr val="FFFF00"/>
          </a:solidFill>
          <a:ln w="10572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1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46084" y="2030687"/>
            <a:ext cx="537845" cy="273685"/>
            <a:chOff x="4846084" y="2030687"/>
            <a:chExt cx="537845" cy="273685"/>
          </a:xfrm>
        </p:grpSpPr>
        <p:sp>
          <p:nvSpPr>
            <p:cNvPr id="19" name="object 19"/>
            <p:cNvSpPr/>
            <p:nvPr/>
          </p:nvSpPr>
          <p:spPr>
            <a:xfrm>
              <a:off x="4851481" y="20360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133642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642" y="262866"/>
                  </a:lnTo>
                  <a:lnTo>
                    <a:pt x="1336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1481" y="20360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0" y="262866"/>
                  </a:moveTo>
                  <a:lnTo>
                    <a:pt x="133642" y="262866"/>
                  </a:lnTo>
                  <a:lnTo>
                    <a:pt x="133642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85198" y="20360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392867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2867" y="262866"/>
                  </a:lnTo>
                  <a:lnTo>
                    <a:pt x="392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85198" y="20360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0" y="262866"/>
                  </a:moveTo>
                  <a:lnTo>
                    <a:pt x="392867" y="262866"/>
                  </a:lnTo>
                  <a:lnTo>
                    <a:pt x="392867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0455" y="20335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60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72610" y="2030687"/>
            <a:ext cx="144145" cy="273685"/>
            <a:chOff x="5372610" y="2030687"/>
            <a:chExt cx="144145" cy="273685"/>
          </a:xfrm>
        </p:grpSpPr>
        <p:sp>
          <p:nvSpPr>
            <p:cNvPr id="25" name="object 25"/>
            <p:cNvSpPr/>
            <p:nvPr/>
          </p:nvSpPr>
          <p:spPr>
            <a:xfrm>
              <a:off x="5378007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78007" y="20360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70290" y="1771075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56278" y="2164021"/>
            <a:ext cx="2440940" cy="800735"/>
            <a:chOff x="1956278" y="2164021"/>
            <a:chExt cx="2440940" cy="800735"/>
          </a:xfrm>
        </p:grpSpPr>
        <p:sp>
          <p:nvSpPr>
            <p:cNvPr id="29" name="object 29"/>
            <p:cNvSpPr/>
            <p:nvPr/>
          </p:nvSpPr>
          <p:spPr>
            <a:xfrm>
              <a:off x="2033450" y="2169277"/>
              <a:ext cx="1832610" cy="753110"/>
            </a:xfrm>
            <a:custGeom>
              <a:avLst/>
              <a:gdLst/>
              <a:ahLst/>
              <a:cxnLst/>
              <a:rect l="l" t="t" r="r" b="b"/>
              <a:pathLst>
                <a:path w="1832610" h="753110">
                  <a:moveTo>
                    <a:pt x="1832130" y="0"/>
                  </a:moveTo>
                  <a:lnTo>
                    <a:pt x="0" y="752925"/>
                  </a:lnTo>
                </a:path>
              </a:pathLst>
            </a:custGeom>
            <a:ln w="10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56278" y="287675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10" h="87630">
                  <a:moveTo>
                    <a:pt x="70164" y="0"/>
                  </a:moveTo>
                  <a:lnTo>
                    <a:pt x="0" y="80403"/>
                  </a:lnTo>
                  <a:lnTo>
                    <a:pt x="105231" y="87383"/>
                  </a:lnTo>
                  <a:lnTo>
                    <a:pt x="70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98588" y="2169277"/>
              <a:ext cx="793750" cy="728980"/>
            </a:xfrm>
            <a:custGeom>
              <a:avLst/>
              <a:gdLst/>
              <a:ahLst/>
              <a:cxnLst/>
              <a:rect l="l" t="t" r="r" b="b"/>
              <a:pathLst>
                <a:path w="793750" h="728980">
                  <a:moveTo>
                    <a:pt x="793372" y="0"/>
                  </a:moveTo>
                  <a:lnTo>
                    <a:pt x="0" y="728451"/>
                  </a:lnTo>
                </a:path>
              </a:pathLst>
            </a:custGeom>
            <a:ln w="10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35387" y="2855789"/>
              <a:ext cx="102235" cy="101600"/>
            </a:xfrm>
            <a:custGeom>
              <a:avLst/>
              <a:gdLst/>
              <a:ahLst/>
              <a:cxnLst/>
              <a:rect l="l" t="t" r="r" b="b"/>
              <a:pathLst>
                <a:path w="102235" h="101600">
                  <a:moveTo>
                    <a:pt x="38622" y="0"/>
                  </a:moveTo>
                  <a:lnTo>
                    <a:pt x="0" y="101373"/>
                  </a:lnTo>
                  <a:lnTo>
                    <a:pt x="102115" y="69904"/>
                  </a:lnTo>
                  <a:lnTo>
                    <a:pt x="38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740558" y="3081575"/>
          <a:ext cx="1912620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6875"/>
                <a:gridCol w="196850"/>
                <a:gridCol w="393700"/>
                <a:gridCol w="200660"/>
                <a:gridCol w="6350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30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4693626" y="31707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800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817385" y="28218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783167" y="3081575"/>
          <a:ext cx="1903727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196215"/>
                <a:gridCol w="396239"/>
                <a:gridCol w="196215"/>
                <a:gridCol w="396240"/>
                <a:gridCol w="196214"/>
                <a:gridCol w="66675"/>
                <a:gridCol w="62864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4856337" y="28218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51163" y="31707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4913088" y="2163880"/>
            <a:ext cx="728980" cy="793750"/>
            <a:chOff x="4913088" y="2163880"/>
            <a:chExt cx="728980" cy="793750"/>
          </a:xfrm>
        </p:grpSpPr>
        <p:sp>
          <p:nvSpPr>
            <p:cNvPr id="40" name="object 40"/>
            <p:cNvSpPr/>
            <p:nvPr/>
          </p:nvSpPr>
          <p:spPr>
            <a:xfrm>
              <a:off x="4918486" y="2169277"/>
              <a:ext cx="667385" cy="725170"/>
            </a:xfrm>
            <a:custGeom>
              <a:avLst/>
              <a:gdLst/>
              <a:ahLst/>
              <a:cxnLst/>
              <a:rect l="l" t="t" r="r" b="b"/>
              <a:pathLst>
                <a:path w="667385" h="725169">
                  <a:moveTo>
                    <a:pt x="0" y="0"/>
                  </a:moveTo>
                  <a:lnTo>
                    <a:pt x="666825" y="724961"/>
                  </a:lnTo>
                </a:path>
              </a:pathLst>
            </a:custGeom>
            <a:ln w="10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2885" y="2852284"/>
              <a:ext cx="99060" cy="105410"/>
            </a:xfrm>
            <a:custGeom>
              <a:avLst/>
              <a:gdLst/>
              <a:ahLst/>
              <a:cxnLst/>
              <a:rect l="l" t="t" r="r" b="b"/>
              <a:pathLst>
                <a:path w="99060" h="105410">
                  <a:moveTo>
                    <a:pt x="70515" y="0"/>
                  </a:moveTo>
                  <a:lnTo>
                    <a:pt x="0" y="66428"/>
                  </a:lnTo>
                  <a:lnTo>
                    <a:pt x="98604" y="104878"/>
                  </a:lnTo>
                  <a:lnTo>
                    <a:pt x="70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822119" y="3081575"/>
          <a:ext cx="1908810" cy="26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200025"/>
                <a:gridCol w="393065"/>
                <a:gridCol w="196215"/>
                <a:gridCol w="396875"/>
                <a:gridCol w="196215"/>
                <a:gridCol w="133350"/>
              </a:tblGrid>
              <a:tr h="26225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6899238" y="28218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732724" y="31707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5439466" y="2164024"/>
            <a:ext cx="2244725" cy="803910"/>
            <a:chOff x="5439466" y="2164024"/>
            <a:chExt cx="2244725" cy="803910"/>
          </a:xfrm>
        </p:grpSpPr>
        <p:sp>
          <p:nvSpPr>
            <p:cNvPr id="46" name="object 46"/>
            <p:cNvSpPr/>
            <p:nvPr/>
          </p:nvSpPr>
          <p:spPr>
            <a:xfrm>
              <a:off x="5444719" y="2169277"/>
              <a:ext cx="2159000" cy="760095"/>
            </a:xfrm>
            <a:custGeom>
              <a:avLst/>
              <a:gdLst/>
              <a:ahLst/>
              <a:cxnLst/>
              <a:rect l="l" t="t" r="r" b="b"/>
              <a:pathLst>
                <a:path w="2159000" h="760094">
                  <a:moveTo>
                    <a:pt x="0" y="0"/>
                  </a:moveTo>
                  <a:lnTo>
                    <a:pt x="2158623" y="759920"/>
                  </a:lnTo>
                </a:path>
              </a:pathLst>
            </a:custGeom>
            <a:ln w="105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78764" y="288024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09" h="87630">
                  <a:moveTo>
                    <a:pt x="31600" y="0"/>
                  </a:moveTo>
                  <a:lnTo>
                    <a:pt x="0" y="87398"/>
                  </a:lnTo>
                  <a:lnTo>
                    <a:pt x="105188" y="76913"/>
                  </a:lnTo>
                  <a:lnTo>
                    <a:pt x="31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701586" y="5596175"/>
          <a:ext cx="1913888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3700"/>
                <a:gridCol w="200659"/>
                <a:gridCol w="393700"/>
                <a:gridCol w="197484"/>
                <a:gridCol w="6731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10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778330" y="53364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793471" y="4545286"/>
            <a:ext cx="537845" cy="273685"/>
            <a:chOff x="3793471" y="4545286"/>
            <a:chExt cx="537845" cy="273685"/>
          </a:xfrm>
        </p:grpSpPr>
        <p:sp>
          <p:nvSpPr>
            <p:cNvPr id="51" name="object 51"/>
            <p:cNvSpPr/>
            <p:nvPr/>
          </p:nvSpPr>
          <p:spPr>
            <a:xfrm>
              <a:off x="3798869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98869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932146" y="45506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393219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3219" y="262866"/>
                  </a:lnTo>
                  <a:lnTo>
                    <a:pt x="3932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32146" y="45506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0" y="262866"/>
                  </a:moveTo>
                  <a:lnTo>
                    <a:pt x="393219" y="262866"/>
                  </a:lnTo>
                  <a:lnTo>
                    <a:pt x="393219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937418" y="45481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319997" y="4545286"/>
            <a:ext cx="144145" cy="273685"/>
            <a:chOff x="4319997" y="4545286"/>
            <a:chExt cx="144145" cy="273685"/>
          </a:xfrm>
        </p:grpSpPr>
        <p:sp>
          <p:nvSpPr>
            <p:cNvPr id="57" name="object 57"/>
            <p:cNvSpPr/>
            <p:nvPr/>
          </p:nvSpPr>
          <p:spPr>
            <a:xfrm>
              <a:off x="4325395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325395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458679" y="4550684"/>
            <a:ext cx="393065" cy="262890"/>
          </a:xfrm>
          <a:prstGeom prst="rect">
            <a:avLst/>
          </a:prstGeom>
          <a:solidFill>
            <a:srgbClr val="FFFF00"/>
          </a:solidFill>
          <a:ln w="10572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1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846084" y="4545286"/>
            <a:ext cx="537845" cy="273685"/>
            <a:chOff x="4846084" y="4545286"/>
            <a:chExt cx="537845" cy="273685"/>
          </a:xfrm>
        </p:grpSpPr>
        <p:sp>
          <p:nvSpPr>
            <p:cNvPr id="61" name="object 61"/>
            <p:cNvSpPr/>
            <p:nvPr/>
          </p:nvSpPr>
          <p:spPr>
            <a:xfrm>
              <a:off x="4851481" y="45506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133642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642" y="262866"/>
                  </a:lnTo>
                  <a:lnTo>
                    <a:pt x="1336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851481" y="45506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0" y="262866"/>
                  </a:moveTo>
                  <a:lnTo>
                    <a:pt x="133642" y="262866"/>
                  </a:lnTo>
                  <a:lnTo>
                    <a:pt x="133642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985198" y="45506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392867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2867" y="262866"/>
                  </a:lnTo>
                  <a:lnTo>
                    <a:pt x="392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985198" y="45506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0" y="262866"/>
                  </a:moveTo>
                  <a:lnTo>
                    <a:pt x="392867" y="262866"/>
                  </a:lnTo>
                  <a:lnTo>
                    <a:pt x="392867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4990455" y="45481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60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372610" y="4545286"/>
            <a:ext cx="144145" cy="273685"/>
            <a:chOff x="5372610" y="4545286"/>
            <a:chExt cx="144145" cy="273685"/>
          </a:xfrm>
        </p:grpSpPr>
        <p:sp>
          <p:nvSpPr>
            <p:cNvPr id="67" name="object 67"/>
            <p:cNvSpPr/>
            <p:nvPr/>
          </p:nvSpPr>
          <p:spPr>
            <a:xfrm>
              <a:off x="5378007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78007" y="45506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870290" y="4285675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956278" y="4678621"/>
            <a:ext cx="2440940" cy="800735"/>
            <a:chOff x="1956278" y="4678621"/>
            <a:chExt cx="2440940" cy="800735"/>
          </a:xfrm>
        </p:grpSpPr>
        <p:sp>
          <p:nvSpPr>
            <p:cNvPr id="71" name="object 71"/>
            <p:cNvSpPr/>
            <p:nvPr/>
          </p:nvSpPr>
          <p:spPr>
            <a:xfrm>
              <a:off x="2033450" y="4683877"/>
              <a:ext cx="1832610" cy="753110"/>
            </a:xfrm>
            <a:custGeom>
              <a:avLst/>
              <a:gdLst/>
              <a:ahLst/>
              <a:cxnLst/>
              <a:rect l="l" t="t" r="r" b="b"/>
              <a:pathLst>
                <a:path w="1832610" h="753110">
                  <a:moveTo>
                    <a:pt x="1832130" y="0"/>
                  </a:moveTo>
                  <a:lnTo>
                    <a:pt x="0" y="752925"/>
                  </a:lnTo>
                </a:path>
              </a:pathLst>
            </a:custGeom>
            <a:ln w="10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56278" y="539135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10" h="87629">
                  <a:moveTo>
                    <a:pt x="70164" y="0"/>
                  </a:moveTo>
                  <a:lnTo>
                    <a:pt x="0" y="80403"/>
                  </a:lnTo>
                  <a:lnTo>
                    <a:pt x="105231" y="87383"/>
                  </a:lnTo>
                  <a:lnTo>
                    <a:pt x="70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598588" y="4683877"/>
              <a:ext cx="793750" cy="728980"/>
            </a:xfrm>
            <a:custGeom>
              <a:avLst/>
              <a:gdLst/>
              <a:ahLst/>
              <a:cxnLst/>
              <a:rect l="l" t="t" r="r" b="b"/>
              <a:pathLst>
                <a:path w="793750" h="728979">
                  <a:moveTo>
                    <a:pt x="793372" y="0"/>
                  </a:moveTo>
                  <a:lnTo>
                    <a:pt x="0" y="728451"/>
                  </a:lnTo>
                </a:path>
              </a:pathLst>
            </a:custGeom>
            <a:ln w="10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35387" y="5370389"/>
              <a:ext cx="102235" cy="101600"/>
            </a:xfrm>
            <a:custGeom>
              <a:avLst/>
              <a:gdLst/>
              <a:ahLst/>
              <a:cxnLst/>
              <a:rect l="l" t="t" r="r" b="b"/>
              <a:pathLst>
                <a:path w="102235" h="101600">
                  <a:moveTo>
                    <a:pt x="38622" y="0"/>
                  </a:moveTo>
                  <a:lnTo>
                    <a:pt x="0" y="101373"/>
                  </a:lnTo>
                  <a:lnTo>
                    <a:pt x="102115" y="69904"/>
                  </a:lnTo>
                  <a:lnTo>
                    <a:pt x="38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2740558" y="5596175"/>
          <a:ext cx="1912620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6875"/>
                <a:gridCol w="196850"/>
                <a:gridCol w="393700"/>
                <a:gridCol w="200660"/>
                <a:gridCol w="6350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30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6" name="object 76"/>
          <p:cNvSpPr/>
          <p:nvPr/>
        </p:nvSpPr>
        <p:spPr>
          <a:xfrm>
            <a:off x="4693626" y="56853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800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2817385" y="53364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78" name="object 78"/>
          <p:cNvGraphicFramePr>
            <a:graphicFrameLocks noGrp="1"/>
          </p:cNvGraphicFramePr>
          <p:nvPr/>
        </p:nvGraphicFramePr>
        <p:xfrm>
          <a:off x="4783167" y="5596175"/>
          <a:ext cx="1903727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196215"/>
                <a:gridCol w="396239"/>
                <a:gridCol w="196215"/>
                <a:gridCol w="396240"/>
                <a:gridCol w="196214"/>
                <a:gridCol w="66675"/>
                <a:gridCol w="62864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53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9" name="object 79"/>
          <p:cNvSpPr txBox="1"/>
          <p:nvPr/>
        </p:nvSpPr>
        <p:spPr>
          <a:xfrm>
            <a:off x="4856337" y="53364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651163" y="56853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4913088" y="4678480"/>
            <a:ext cx="728980" cy="793750"/>
            <a:chOff x="4913088" y="4678480"/>
            <a:chExt cx="728980" cy="793750"/>
          </a:xfrm>
        </p:grpSpPr>
        <p:sp>
          <p:nvSpPr>
            <p:cNvPr id="82" name="object 82"/>
            <p:cNvSpPr/>
            <p:nvPr/>
          </p:nvSpPr>
          <p:spPr>
            <a:xfrm>
              <a:off x="4918486" y="4683877"/>
              <a:ext cx="667385" cy="725170"/>
            </a:xfrm>
            <a:custGeom>
              <a:avLst/>
              <a:gdLst/>
              <a:ahLst/>
              <a:cxnLst/>
              <a:rect l="l" t="t" r="r" b="b"/>
              <a:pathLst>
                <a:path w="667385" h="725170">
                  <a:moveTo>
                    <a:pt x="0" y="0"/>
                  </a:moveTo>
                  <a:lnTo>
                    <a:pt x="666825" y="724961"/>
                  </a:lnTo>
                </a:path>
              </a:pathLst>
            </a:custGeom>
            <a:ln w="10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542885" y="5366884"/>
              <a:ext cx="99060" cy="105410"/>
            </a:xfrm>
            <a:custGeom>
              <a:avLst/>
              <a:gdLst/>
              <a:ahLst/>
              <a:cxnLst/>
              <a:rect l="l" t="t" r="r" b="b"/>
              <a:pathLst>
                <a:path w="99060" h="105410">
                  <a:moveTo>
                    <a:pt x="70515" y="0"/>
                  </a:moveTo>
                  <a:lnTo>
                    <a:pt x="0" y="66428"/>
                  </a:lnTo>
                  <a:lnTo>
                    <a:pt x="98604" y="104878"/>
                  </a:lnTo>
                  <a:lnTo>
                    <a:pt x="70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4" name="object 84"/>
          <p:cNvGraphicFramePr>
            <a:graphicFrameLocks noGrp="1"/>
          </p:cNvGraphicFramePr>
          <p:nvPr/>
        </p:nvGraphicFramePr>
        <p:xfrm>
          <a:off x="6822119" y="5596175"/>
          <a:ext cx="1908810" cy="26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200025"/>
                <a:gridCol w="393065"/>
                <a:gridCol w="196215"/>
                <a:gridCol w="396875"/>
                <a:gridCol w="196215"/>
                <a:gridCol w="133350"/>
              </a:tblGrid>
              <a:tr h="26225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5" name="object 85"/>
          <p:cNvSpPr txBox="1"/>
          <p:nvPr/>
        </p:nvSpPr>
        <p:spPr>
          <a:xfrm>
            <a:off x="6899238" y="53364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732724" y="56853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5439466" y="4678624"/>
            <a:ext cx="2244725" cy="803910"/>
            <a:chOff x="5439466" y="4678624"/>
            <a:chExt cx="2244725" cy="803910"/>
          </a:xfrm>
        </p:grpSpPr>
        <p:sp>
          <p:nvSpPr>
            <p:cNvPr id="88" name="object 88"/>
            <p:cNvSpPr/>
            <p:nvPr/>
          </p:nvSpPr>
          <p:spPr>
            <a:xfrm>
              <a:off x="5444719" y="4683877"/>
              <a:ext cx="2159000" cy="760095"/>
            </a:xfrm>
            <a:custGeom>
              <a:avLst/>
              <a:gdLst/>
              <a:ahLst/>
              <a:cxnLst/>
              <a:rect l="l" t="t" r="r" b="b"/>
              <a:pathLst>
                <a:path w="2159000" h="760095">
                  <a:moveTo>
                    <a:pt x="0" y="0"/>
                  </a:moveTo>
                  <a:lnTo>
                    <a:pt x="2158623" y="759920"/>
                  </a:lnTo>
                </a:path>
              </a:pathLst>
            </a:custGeom>
            <a:ln w="105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578764" y="539484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09" h="87629">
                  <a:moveTo>
                    <a:pt x="31600" y="0"/>
                  </a:moveTo>
                  <a:lnTo>
                    <a:pt x="0" y="87398"/>
                  </a:lnTo>
                  <a:lnTo>
                    <a:pt x="105188" y="76913"/>
                  </a:lnTo>
                  <a:lnTo>
                    <a:pt x="31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7050" y="250951"/>
            <a:ext cx="31629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45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5800" y="3810000"/>
            <a:ext cx="8077200" cy="533400"/>
            <a:chOff x="685800" y="3810000"/>
            <a:chExt cx="8077200" cy="533400"/>
          </a:xfrm>
        </p:grpSpPr>
        <p:sp>
          <p:nvSpPr>
            <p:cNvPr id="4" name="object 4"/>
            <p:cNvSpPr/>
            <p:nvPr/>
          </p:nvSpPr>
          <p:spPr>
            <a:xfrm>
              <a:off x="3981450" y="38100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5800" y="40386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01586" y="3386375"/>
          <a:ext cx="1913888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3700"/>
                <a:gridCol w="200659"/>
                <a:gridCol w="393700"/>
                <a:gridCol w="197484"/>
                <a:gridCol w="6731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10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78330" y="31266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3471" y="2335487"/>
            <a:ext cx="537845" cy="273685"/>
            <a:chOff x="3793471" y="2335487"/>
            <a:chExt cx="537845" cy="273685"/>
          </a:xfrm>
        </p:grpSpPr>
        <p:sp>
          <p:nvSpPr>
            <p:cNvPr id="9" name="object 9"/>
            <p:cNvSpPr/>
            <p:nvPr/>
          </p:nvSpPr>
          <p:spPr>
            <a:xfrm>
              <a:off x="3798869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8869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32146" y="23408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393219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3219" y="262866"/>
                  </a:lnTo>
                  <a:lnTo>
                    <a:pt x="3932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32146" y="2340884"/>
              <a:ext cx="393700" cy="262890"/>
            </a:xfrm>
            <a:custGeom>
              <a:avLst/>
              <a:gdLst/>
              <a:ahLst/>
              <a:cxnLst/>
              <a:rect l="l" t="t" r="r" b="b"/>
              <a:pathLst>
                <a:path w="393700" h="262889">
                  <a:moveTo>
                    <a:pt x="0" y="262866"/>
                  </a:moveTo>
                  <a:lnTo>
                    <a:pt x="393219" y="262866"/>
                  </a:lnTo>
                  <a:lnTo>
                    <a:pt x="393219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37418" y="23383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19997" y="2335487"/>
            <a:ext cx="144145" cy="273685"/>
            <a:chOff x="4319997" y="2335487"/>
            <a:chExt cx="144145" cy="273685"/>
          </a:xfrm>
        </p:grpSpPr>
        <p:sp>
          <p:nvSpPr>
            <p:cNvPr id="15" name="object 15"/>
            <p:cNvSpPr/>
            <p:nvPr/>
          </p:nvSpPr>
          <p:spPr>
            <a:xfrm>
              <a:off x="4325395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5395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58679" y="2340884"/>
            <a:ext cx="393065" cy="262890"/>
          </a:xfrm>
          <a:prstGeom prst="rect">
            <a:avLst/>
          </a:prstGeom>
          <a:solidFill>
            <a:srgbClr val="FFFF00"/>
          </a:solidFill>
          <a:ln w="10572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1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46084" y="2335487"/>
            <a:ext cx="537845" cy="273685"/>
            <a:chOff x="4846084" y="2335487"/>
            <a:chExt cx="537845" cy="273685"/>
          </a:xfrm>
        </p:grpSpPr>
        <p:sp>
          <p:nvSpPr>
            <p:cNvPr id="19" name="object 19"/>
            <p:cNvSpPr/>
            <p:nvPr/>
          </p:nvSpPr>
          <p:spPr>
            <a:xfrm>
              <a:off x="4851481" y="23408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133642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642" y="262866"/>
                  </a:lnTo>
                  <a:lnTo>
                    <a:pt x="13364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1481" y="2340884"/>
              <a:ext cx="133985" cy="262890"/>
            </a:xfrm>
            <a:custGeom>
              <a:avLst/>
              <a:gdLst/>
              <a:ahLst/>
              <a:cxnLst/>
              <a:rect l="l" t="t" r="r" b="b"/>
              <a:pathLst>
                <a:path w="133985" h="262889">
                  <a:moveTo>
                    <a:pt x="0" y="262866"/>
                  </a:moveTo>
                  <a:lnTo>
                    <a:pt x="133642" y="262866"/>
                  </a:lnTo>
                  <a:lnTo>
                    <a:pt x="133642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85198" y="23408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392867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392867" y="262866"/>
                  </a:lnTo>
                  <a:lnTo>
                    <a:pt x="392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85198" y="2340884"/>
              <a:ext cx="393065" cy="262890"/>
            </a:xfrm>
            <a:custGeom>
              <a:avLst/>
              <a:gdLst/>
              <a:ahLst/>
              <a:cxnLst/>
              <a:rect l="l" t="t" r="r" b="b"/>
              <a:pathLst>
                <a:path w="393064" h="262889">
                  <a:moveTo>
                    <a:pt x="0" y="262866"/>
                  </a:moveTo>
                  <a:lnTo>
                    <a:pt x="392867" y="262866"/>
                  </a:lnTo>
                  <a:lnTo>
                    <a:pt x="392867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0455" y="2338391"/>
            <a:ext cx="3829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Arial MT"/>
                <a:cs typeface="Arial MT"/>
              </a:rPr>
              <a:t>60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72610" y="2335487"/>
            <a:ext cx="144145" cy="273685"/>
            <a:chOff x="5372610" y="2335487"/>
            <a:chExt cx="144145" cy="273685"/>
          </a:xfrm>
        </p:grpSpPr>
        <p:sp>
          <p:nvSpPr>
            <p:cNvPr id="25" name="object 25"/>
            <p:cNvSpPr/>
            <p:nvPr/>
          </p:nvSpPr>
          <p:spPr>
            <a:xfrm>
              <a:off x="5378007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133291" y="0"/>
                  </a:moveTo>
                  <a:lnTo>
                    <a:pt x="0" y="0"/>
                  </a:lnTo>
                  <a:lnTo>
                    <a:pt x="0" y="262866"/>
                  </a:lnTo>
                  <a:lnTo>
                    <a:pt x="133291" y="262866"/>
                  </a:lnTo>
                  <a:lnTo>
                    <a:pt x="133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78007" y="2340884"/>
              <a:ext cx="133350" cy="262890"/>
            </a:xfrm>
            <a:custGeom>
              <a:avLst/>
              <a:gdLst/>
              <a:ahLst/>
              <a:cxnLst/>
              <a:rect l="l" t="t" r="r" b="b"/>
              <a:pathLst>
                <a:path w="133350" h="262889">
                  <a:moveTo>
                    <a:pt x="0" y="262866"/>
                  </a:moveTo>
                  <a:lnTo>
                    <a:pt x="133291" y="262866"/>
                  </a:lnTo>
                  <a:lnTo>
                    <a:pt x="133291" y="0"/>
                  </a:lnTo>
                  <a:lnTo>
                    <a:pt x="0" y="0"/>
                  </a:lnTo>
                  <a:lnTo>
                    <a:pt x="0" y="262866"/>
                  </a:lnTo>
                  <a:close/>
                </a:path>
              </a:pathLst>
            </a:custGeom>
            <a:ln w="105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870290" y="2075875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56278" y="2468821"/>
            <a:ext cx="2440940" cy="800735"/>
            <a:chOff x="1956278" y="2468821"/>
            <a:chExt cx="2440940" cy="800735"/>
          </a:xfrm>
        </p:grpSpPr>
        <p:sp>
          <p:nvSpPr>
            <p:cNvPr id="29" name="object 29"/>
            <p:cNvSpPr/>
            <p:nvPr/>
          </p:nvSpPr>
          <p:spPr>
            <a:xfrm>
              <a:off x="2033450" y="2474077"/>
              <a:ext cx="1832610" cy="753110"/>
            </a:xfrm>
            <a:custGeom>
              <a:avLst/>
              <a:gdLst/>
              <a:ahLst/>
              <a:cxnLst/>
              <a:rect l="l" t="t" r="r" b="b"/>
              <a:pathLst>
                <a:path w="1832610" h="753110">
                  <a:moveTo>
                    <a:pt x="1832130" y="0"/>
                  </a:moveTo>
                  <a:lnTo>
                    <a:pt x="0" y="752925"/>
                  </a:lnTo>
                </a:path>
              </a:pathLst>
            </a:custGeom>
            <a:ln w="105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56278" y="318155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10" h="87629">
                  <a:moveTo>
                    <a:pt x="70164" y="0"/>
                  </a:moveTo>
                  <a:lnTo>
                    <a:pt x="0" y="80403"/>
                  </a:lnTo>
                  <a:lnTo>
                    <a:pt x="105231" y="87383"/>
                  </a:lnTo>
                  <a:lnTo>
                    <a:pt x="701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98588" y="2474077"/>
              <a:ext cx="793750" cy="728980"/>
            </a:xfrm>
            <a:custGeom>
              <a:avLst/>
              <a:gdLst/>
              <a:ahLst/>
              <a:cxnLst/>
              <a:rect l="l" t="t" r="r" b="b"/>
              <a:pathLst>
                <a:path w="793750" h="728980">
                  <a:moveTo>
                    <a:pt x="793372" y="0"/>
                  </a:moveTo>
                  <a:lnTo>
                    <a:pt x="0" y="728451"/>
                  </a:lnTo>
                </a:path>
              </a:pathLst>
            </a:custGeom>
            <a:ln w="10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35387" y="3160589"/>
              <a:ext cx="102235" cy="101600"/>
            </a:xfrm>
            <a:custGeom>
              <a:avLst/>
              <a:gdLst/>
              <a:ahLst/>
              <a:cxnLst/>
              <a:rect l="l" t="t" r="r" b="b"/>
              <a:pathLst>
                <a:path w="102235" h="101600">
                  <a:moveTo>
                    <a:pt x="38622" y="0"/>
                  </a:moveTo>
                  <a:lnTo>
                    <a:pt x="0" y="101373"/>
                  </a:lnTo>
                  <a:lnTo>
                    <a:pt x="102115" y="69904"/>
                  </a:lnTo>
                  <a:lnTo>
                    <a:pt x="38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740558" y="3386375"/>
          <a:ext cx="1912620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875"/>
                <a:gridCol w="196850"/>
                <a:gridCol w="396875"/>
                <a:gridCol w="196850"/>
                <a:gridCol w="393700"/>
                <a:gridCol w="200660"/>
                <a:gridCol w="63500"/>
                <a:gridCol w="67310"/>
              </a:tblGrid>
              <a:tr h="132715"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30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4693626" y="34755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800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817385" y="31266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4783167" y="3386375"/>
          <a:ext cx="1903727" cy="261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196215"/>
                <a:gridCol w="396239"/>
                <a:gridCol w="196215"/>
                <a:gridCol w="396240"/>
                <a:gridCol w="196214"/>
                <a:gridCol w="66675"/>
                <a:gridCol w="62864"/>
              </a:tblGrid>
              <a:tr h="132715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53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89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4856337" y="31266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651163" y="34755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4913088" y="2468680"/>
            <a:ext cx="728980" cy="793750"/>
            <a:chOff x="4913088" y="2468680"/>
            <a:chExt cx="728980" cy="793750"/>
          </a:xfrm>
        </p:grpSpPr>
        <p:sp>
          <p:nvSpPr>
            <p:cNvPr id="40" name="object 40"/>
            <p:cNvSpPr/>
            <p:nvPr/>
          </p:nvSpPr>
          <p:spPr>
            <a:xfrm>
              <a:off x="4918486" y="2474077"/>
              <a:ext cx="667385" cy="725170"/>
            </a:xfrm>
            <a:custGeom>
              <a:avLst/>
              <a:gdLst/>
              <a:ahLst/>
              <a:cxnLst/>
              <a:rect l="l" t="t" r="r" b="b"/>
              <a:pathLst>
                <a:path w="667385" h="725169">
                  <a:moveTo>
                    <a:pt x="0" y="0"/>
                  </a:moveTo>
                  <a:lnTo>
                    <a:pt x="666825" y="724961"/>
                  </a:lnTo>
                </a:path>
              </a:pathLst>
            </a:custGeom>
            <a:ln w="105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42885" y="3157084"/>
              <a:ext cx="99060" cy="105410"/>
            </a:xfrm>
            <a:custGeom>
              <a:avLst/>
              <a:gdLst/>
              <a:ahLst/>
              <a:cxnLst/>
              <a:rect l="l" t="t" r="r" b="b"/>
              <a:pathLst>
                <a:path w="99060" h="105410">
                  <a:moveTo>
                    <a:pt x="70515" y="0"/>
                  </a:moveTo>
                  <a:lnTo>
                    <a:pt x="0" y="66428"/>
                  </a:lnTo>
                  <a:lnTo>
                    <a:pt x="98604" y="104878"/>
                  </a:lnTo>
                  <a:lnTo>
                    <a:pt x="705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6822119" y="3386375"/>
          <a:ext cx="1908810" cy="262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3065"/>
                <a:gridCol w="200025"/>
                <a:gridCol w="393065"/>
                <a:gridCol w="196215"/>
                <a:gridCol w="396875"/>
                <a:gridCol w="196215"/>
                <a:gridCol w="133350"/>
              </a:tblGrid>
              <a:tr h="26225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6899238" y="3126627"/>
            <a:ext cx="51625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6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732724" y="347553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0" y="94729"/>
                </a:lnTo>
                <a:lnTo>
                  <a:pt x="94654" y="492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5439466" y="2468824"/>
            <a:ext cx="2244725" cy="803910"/>
            <a:chOff x="5439466" y="2468824"/>
            <a:chExt cx="2244725" cy="803910"/>
          </a:xfrm>
        </p:grpSpPr>
        <p:sp>
          <p:nvSpPr>
            <p:cNvPr id="46" name="object 46"/>
            <p:cNvSpPr/>
            <p:nvPr/>
          </p:nvSpPr>
          <p:spPr>
            <a:xfrm>
              <a:off x="5444719" y="2474077"/>
              <a:ext cx="2159000" cy="760095"/>
            </a:xfrm>
            <a:custGeom>
              <a:avLst/>
              <a:gdLst/>
              <a:ahLst/>
              <a:cxnLst/>
              <a:rect l="l" t="t" r="r" b="b"/>
              <a:pathLst>
                <a:path w="2159000" h="760094">
                  <a:moveTo>
                    <a:pt x="0" y="0"/>
                  </a:moveTo>
                  <a:lnTo>
                    <a:pt x="2158623" y="759920"/>
                  </a:lnTo>
                </a:path>
              </a:pathLst>
            </a:custGeom>
            <a:ln w="105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78764" y="3185049"/>
              <a:ext cx="105410" cy="87630"/>
            </a:xfrm>
            <a:custGeom>
              <a:avLst/>
              <a:gdLst/>
              <a:ahLst/>
              <a:cxnLst/>
              <a:rect l="l" t="t" r="r" b="b"/>
              <a:pathLst>
                <a:path w="105409" h="87629">
                  <a:moveTo>
                    <a:pt x="31600" y="0"/>
                  </a:moveTo>
                  <a:lnTo>
                    <a:pt x="0" y="87398"/>
                  </a:lnTo>
                  <a:lnTo>
                    <a:pt x="105188" y="76913"/>
                  </a:lnTo>
                  <a:lnTo>
                    <a:pt x="31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698257" y="6007407"/>
          <a:ext cx="1512568" cy="20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/>
                <a:gridCol w="155575"/>
                <a:gridCol w="311784"/>
                <a:gridCol w="158115"/>
                <a:gridCol w="311784"/>
                <a:gridCol w="155575"/>
                <a:gridCol w="52705"/>
                <a:gridCol w="52705"/>
              </a:tblGrid>
              <a:tr h="105410">
                <a:tc rowSpan="2"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10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28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9" name="object 49"/>
          <p:cNvSpPr txBox="1"/>
          <p:nvPr/>
        </p:nvSpPr>
        <p:spPr>
          <a:xfrm>
            <a:off x="756603" y="5798104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150783" y="5171603"/>
            <a:ext cx="844550" cy="217804"/>
            <a:chOff x="3150783" y="5171603"/>
            <a:chExt cx="844550" cy="217804"/>
          </a:xfrm>
        </p:grpSpPr>
        <p:sp>
          <p:nvSpPr>
            <p:cNvPr id="51" name="object 51"/>
            <p:cNvSpPr/>
            <p:nvPr/>
          </p:nvSpPr>
          <p:spPr>
            <a:xfrm>
              <a:off x="3155228" y="5176048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10586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5864" y="208756"/>
                  </a:lnTo>
                  <a:lnTo>
                    <a:pt x="10586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155228" y="5176048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0" y="208756"/>
                  </a:moveTo>
                  <a:lnTo>
                    <a:pt x="105864" y="208756"/>
                  </a:lnTo>
                  <a:lnTo>
                    <a:pt x="105864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261082" y="5176048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311939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311939" y="208756"/>
                  </a:lnTo>
                  <a:lnTo>
                    <a:pt x="31193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61082" y="5176048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0" y="208756"/>
                  </a:moveTo>
                  <a:lnTo>
                    <a:pt x="311939" y="208756"/>
                  </a:lnTo>
                  <a:lnTo>
                    <a:pt x="311939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73079" y="5176048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105581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5581" y="208756"/>
                  </a:lnTo>
                  <a:lnTo>
                    <a:pt x="10558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73079" y="5176048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0" y="208756"/>
                  </a:moveTo>
                  <a:lnTo>
                    <a:pt x="105581" y="208756"/>
                  </a:lnTo>
                  <a:lnTo>
                    <a:pt x="105581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78585" y="5176048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311939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311939" y="208756"/>
                  </a:lnTo>
                  <a:lnTo>
                    <a:pt x="31193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78585" y="5176048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0" y="208756"/>
                  </a:moveTo>
                  <a:lnTo>
                    <a:pt x="311939" y="208756"/>
                  </a:lnTo>
                  <a:lnTo>
                    <a:pt x="311939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326178" y="5171533"/>
            <a:ext cx="60515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9895" algn="l"/>
              </a:tabLst>
            </a:pPr>
            <a:r>
              <a:rPr sz="1100" spc="-25" dirty="0">
                <a:latin typeface="Arial MT"/>
                <a:cs typeface="Arial MT"/>
              </a:rPr>
              <a:t>25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25" dirty="0"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693779" y="5171603"/>
            <a:ext cx="2825115" cy="742950"/>
            <a:chOff x="1693779" y="5171603"/>
            <a:chExt cx="2825115" cy="742950"/>
          </a:xfrm>
        </p:grpSpPr>
        <p:sp>
          <p:nvSpPr>
            <p:cNvPr id="61" name="object 61"/>
            <p:cNvSpPr/>
            <p:nvPr/>
          </p:nvSpPr>
          <p:spPr>
            <a:xfrm>
              <a:off x="3990583" y="5176048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10586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5864" y="208756"/>
                  </a:lnTo>
                  <a:lnTo>
                    <a:pt x="10586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754927" y="5176048"/>
              <a:ext cx="2759075" cy="704850"/>
            </a:xfrm>
            <a:custGeom>
              <a:avLst/>
              <a:gdLst/>
              <a:ahLst/>
              <a:cxnLst/>
              <a:rect l="l" t="t" r="r" b="b"/>
              <a:pathLst>
                <a:path w="2759075" h="704850">
                  <a:moveTo>
                    <a:pt x="2235656" y="208756"/>
                  </a:moveTo>
                  <a:lnTo>
                    <a:pt x="2341520" y="208756"/>
                  </a:lnTo>
                  <a:lnTo>
                    <a:pt x="2341520" y="0"/>
                  </a:lnTo>
                  <a:lnTo>
                    <a:pt x="2235656" y="0"/>
                  </a:lnTo>
                  <a:lnTo>
                    <a:pt x="2235656" y="208756"/>
                  </a:lnTo>
                  <a:close/>
                </a:path>
                <a:path w="2759075" h="704850">
                  <a:moveTo>
                    <a:pt x="2341510" y="208756"/>
                  </a:moveTo>
                  <a:lnTo>
                    <a:pt x="2653159" y="208756"/>
                  </a:lnTo>
                  <a:lnTo>
                    <a:pt x="2653159" y="0"/>
                  </a:lnTo>
                  <a:lnTo>
                    <a:pt x="2341510" y="0"/>
                  </a:lnTo>
                  <a:lnTo>
                    <a:pt x="2341510" y="208756"/>
                  </a:lnTo>
                  <a:close/>
                </a:path>
                <a:path w="2759075" h="704850">
                  <a:moveTo>
                    <a:pt x="2653159" y="208756"/>
                  </a:moveTo>
                  <a:lnTo>
                    <a:pt x="2759024" y="208756"/>
                  </a:lnTo>
                  <a:lnTo>
                    <a:pt x="2759024" y="0"/>
                  </a:lnTo>
                  <a:lnTo>
                    <a:pt x="2653159" y="0"/>
                  </a:lnTo>
                  <a:lnTo>
                    <a:pt x="2653159" y="208756"/>
                  </a:lnTo>
                  <a:close/>
                </a:path>
                <a:path w="2759075" h="704850">
                  <a:moveTo>
                    <a:pt x="1453286" y="105781"/>
                  </a:moveTo>
                  <a:lnTo>
                    <a:pt x="0" y="704771"/>
                  </a:lnTo>
                </a:path>
              </a:pathLst>
            </a:custGeom>
            <a:ln w="8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93779" y="5844525"/>
              <a:ext cx="83820" cy="69850"/>
            </a:xfrm>
            <a:custGeom>
              <a:avLst/>
              <a:gdLst/>
              <a:ahLst/>
              <a:cxnLst/>
              <a:rect l="l" t="t" r="r" b="b"/>
              <a:pathLst>
                <a:path w="83819" h="69850">
                  <a:moveTo>
                    <a:pt x="55477" y="0"/>
                  </a:moveTo>
                  <a:lnTo>
                    <a:pt x="0" y="64152"/>
                  </a:lnTo>
                  <a:lnTo>
                    <a:pt x="83500" y="69497"/>
                  </a:lnTo>
                  <a:lnTo>
                    <a:pt x="554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996736" y="5281829"/>
              <a:ext cx="629285" cy="579755"/>
            </a:xfrm>
            <a:custGeom>
              <a:avLst/>
              <a:gdLst/>
              <a:ahLst/>
              <a:cxnLst/>
              <a:rect l="l" t="t" r="r" b="b"/>
              <a:pathLst>
                <a:path w="629285" h="579754">
                  <a:moveTo>
                    <a:pt x="628980" y="0"/>
                  </a:moveTo>
                  <a:lnTo>
                    <a:pt x="0" y="579296"/>
                  </a:lnTo>
                </a:path>
              </a:pathLst>
            </a:custGeom>
            <a:ln w="84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946650" y="5827647"/>
              <a:ext cx="80645" cy="81280"/>
            </a:xfrm>
            <a:custGeom>
              <a:avLst/>
              <a:gdLst/>
              <a:ahLst/>
              <a:cxnLst/>
              <a:rect l="l" t="t" r="r" b="b"/>
              <a:pathLst>
                <a:path w="80644" h="81279">
                  <a:moveTo>
                    <a:pt x="30492" y="0"/>
                  </a:moveTo>
                  <a:lnTo>
                    <a:pt x="0" y="81029"/>
                  </a:lnTo>
                  <a:lnTo>
                    <a:pt x="80579" y="55701"/>
                  </a:lnTo>
                  <a:lnTo>
                    <a:pt x="30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209310" y="4962499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7328" y="6007406"/>
            <a:ext cx="213168" cy="217241"/>
          </a:xfrm>
          <a:prstGeom prst="rect">
            <a:avLst/>
          </a:prstGeom>
        </p:spPr>
      </p:pic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2315981" y="6007410"/>
          <a:ext cx="1409699" cy="20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/>
                <a:gridCol w="155575"/>
                <a:gridCol w="314325"/>
                <a:gridCol w="155575"/>
                <a:gridCol w="311784"/>
                <a:gridCol w="158115"/>
              </a:tblGrid>
              <a:tr h="208279"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30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9" name="object 69"/>
          <p:cNvSpPr txBox="1"/>
          <p:nvPr/>
        </p:nvSpPr>
        <p:spPr>
          <a:xfrm>
            <a:off x="2374302" y="5798104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3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70" name="object 70"/>
          <p:cNvGraphicFramePr>
            <a:graphicFrameLocks noGrp="1"/>
          </p:cNvGraphicFramePr>
          <p:nvPr/>
        </p:nvGraphicFramePr>
        <p:xfrm>
          <a:off x="3936254" y="6007406"/>
          <a:ext cx="1513837" cy="20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85"/>
                <a:gridCol w="156210"/>
                <a:gridCol w="314960"/>
                <a:gridCol w="156209"/>
                <a:gridCol w="314959"/>
                <a:gridCol w="156209"/>
                <a:gridCol w="53340"/>
                <a:gridCol w="50165"/>
              </a:tblGrid>
              <a:tr h="105410">
                <a:tc rowSpan="2"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28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1" name="object 71"/>
          <p:cNvSpPr txBox="1"/>
          <p:nvPr/>
        </p:nvSpPr>
        <p:spPr>
          <a:xfrm>
            <a:off x="3991680" y="5798104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244859" y="6078321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4" h="75564">
                <a:moveTo>
                  <a:pt x="0" y="0"/>
                </a:moveTo>
                <a:lnTo>
                  <a:pt x="0" y="75405"/>
                </a:lnTo>
                <a:lnTo>
                  <a:pt x="75361" y="391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3" name="object 73"/>
          <p:cNvGrpSpPr/>
          <p:nvPr/>
        </p:nvGrpSpPr>
        <p:grpSpPr>
          <a:xfrm>
            <a:off x="4039214" y="5277592"/>
            <a:ext cx="577850" cy="631190"/>
            <a:chOff x="4039214" y="5277592"/>
            <a:chExt cx="577850" cy="631190"/>
          </a:xfrm>
        </p:grpSpPr>
        <p:sp>
          <p:nvSpPr>
            <p:cNvPr id="74" name="object 74"/>
            <p:cNvSpPr/>
            <p:nvPr/>
          </p:nvSpPr>
          <p:spPr>
            <a:xfrm>
              <a:off x="4043452" y="5281829"/>
              <a:ext cx="529590" cy="576580"/>
            </a:xfrm>
            <a:custGeom>
              <a:avLst/>
              <a:gdLst/>
              <a:ahLst/>
              <a:cxnLst/>
              <a:rect l="l" t="t" r="r" b="b"/>
              <a:pathLst>
                <a:path w="529589" h="576579">
                  <a:moveTo>
                    <a:pt x="0" y="0"/>
                  </a:moveTo>
                  <a:lnTo>
                    <a:pt x="529038" y="576479"/>
                  </a:lnTo>
                </a:path>
              </a:pathLst>
            </a:custGeom>
            <a:ln w="8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539100" y="5825107"/>
              <a:ext cx="78105" cy="83820"/>
            </a:xfrm>
            <a:custGeom>
              <a:avLst/>
              <a:gdLst/>
              <a:ahLst/>
              <a:cxnLst/>
              <a:rect l="l" t="t" r="r" b="b"/>
              <a:pathLst>
                <a:path w="78104" h="83820">
                  <a:moveTo>
                    <a:pt x="55535" y="0"/>
                  </a:moveTo>
                  <a:lnTo>
                    <a:pt x="0" y="52896"/>
                  </a:lnTo>
                  <a:lnTo>
                    <a:pt x="77912" y="83569"/>
                  </a:lnTo>
                  <a:lnTo>
                    <a:pt x="555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7224226" y="6007407"/>
          <a:ext cx="1515105" cy="20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85"/>
                <a:gridCol w="158749"/>
                <a:gridCol w="311784"/>
                <a:gridCol w="155575"/>
                <a:gridCol w="314959"/>
                <a:gridCol w="156209"/>
                <a:gridCol w="106044"/>
              </a:tblGrid>
              <a:tr h="20827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60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7282550" y="5798104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4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5482860" y="6007204"/>
            <a:ext cx="419100" cy="217804"/>
            <a:chOff x="5482860" y="6007204"/>
            <a:chExt cx="419100" cy="217804"/>
          </a:xfrm>
        </p:grpSpPr>
        <p:sp>
          <p:nvSpPr>
            <p:cNvPr id="79" name="object 79"/>
            <p:cNvSpPr/>
            <p:nvPr/>
          </p:nvSpPr>
          <p:spPr>
            <a:xfrm>
              <a:off x="5482860" y="6078321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4" h="75564">
                  <a:moveTo>
                    <a:pt x="0" y="0"/>
                  </a:moveTo>
                  <a:lnTo>
                    <a:pt x="0" y="75405"/>
                  </a:lnTo>
                  <a:lnTo>
                    <a:pt x="75013" y="39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583033" y="6011649"/>
              <a:ext cx="314960" cy="208915"/>
            </a:xfrm>
            <a:custGeom>
              <a:avLst/>
              <a:gdLst/>
              <a:ahLst/>
              <a:cxnLst/>
              <a:rect l="l" t="t" r="r" b="b"/>
              <a:pathLst>
                <a:path w="314960" h="208914">
                  <a:moveTo>
                    <a:pt x="314478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314478" y="208756"/>
                  </a:lnTo>
                  <a:lnTo>
                    <a:pt x="31447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583033" y="6011649"/>
              <a:ext cx="314960" cy="208915"/>
            </a:xfrm>
            <a:custGeom>
              <a:avLst/>
              <a:gdLst/>
              <a:ahLst/>
              <a:cxnLst/>
              <a:rect l="l" t="t" r="r" b="b"/>
              <a:pathLst>
                <a:path w="314960" h="208914">
                  <a:moveTo>
                    <a:pt x="0" y="208756"/>
                  </a:moveTo>
                  <a:lnTo>
                    <a:pt x="314478" y="208756"/>
                  </a:lnTo>
                  <a:lnTo>
                    <a:pt x="314478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651028" y="6007140"/>
            <a:ext cx="1873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Arial MT"/>
                <a:cs typeface="Arial MT"/>
              </a:rPr>
              <a:t>50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893136" y="6007204"/>
            <a:ext cx="1209040" cy="217804"/>
            <a:chOff x="5893136" y="6007204"/>
            <a:chExt cx="1209040" cy="217804"/>
          </a:xfrm>
        </p:grpSpPr>
        <p:sp>
          <p:nvSpPr>
            <p:cNvPr id="84" name="object 84"/>
            <p:cNvSpPr/>
            <p:nvPr/>
          </p:nvSpPr>
          <p:spPr>
            <a:xfrm>
              <a:off x="5897581" y="6011649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155963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55963" y="208756"/>
                  </a:lnTo>
                  <a:lnTo>
                    <a:pt x="15596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897581" y="6011649"/>
              <a:ext cx="156210" cy="208915"/>
            </a:xfrm>
            <a:custGeom>
              <a:avLst/>
              <a:gdLst/>
              <a:ahLst/>
              <a:cxnLst/>
              <a:rect l="l" t="t" r="r" b="b"/>
              <a:pathLst>
                <a:path w="156210" h="208914">
                  <a:moveTo>
                    <a:pt x="0" y="208756"/>
                  </a:moveTo>
                  <a:lnTo>
                    <a:pt x="155963" y="208756"/>
                  </a:lnTo>
                  <a:lnTo>
                    <a:pt x="155963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991832" y="6011649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10586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5864" y="208756"/>
                  </a:lnTo>
                  <a:lnTo>
                    <a:pt x="10586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991832" y="6011649"/>
              <a:ext cx="106045" cy="208915"/>
            </a:xfrm>
            <a:custGeom>
              <a:avLst/>
              <a:gdLst/>
              <a:ahLst/>
              <a:cxnLst/>
              <a:rect l="l" t="t" r="r" b="b"/>
              <a:pathLst>
                <a:path w="106045" h="208914">
                  <a:moveTo>
                    <a:pt x="0" y="208756"/>
                  </a:moveTo>
                  <a:lnTo>
                    <a:pt x="105864" y="208756"/>
                  </a:lnTo>
                  <a:lnTo>
                    <a:pt x="105864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053522" y="6011649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311939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311939" y="208756"/>
                  </a:lnTo>
                  <a:lnTo>
                    <a:pt x="311939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053522" y="6011649"/>
              <a:ext cx="312420" cy="208915"/>
            </a:xfrm>
            <a:custGeom>
              <a:avLst/>
              <a:gdLst/>
              <a:ahLst/>
              <a:cxnLst/>
              <a:rect l="l" t="t" r="r" b="b"/>
              <a:pathLst>
                <a:path w="312420" h="208914">
                  <a:moveTo>
                    <a:pt x="0" y="208756"/>
                  </a:moveTo>
                  <a:lnTo>
                    <a:pt x="311939" y="208756"/>
                  </a:lnTo>
                  <a:lnTo>
                    <a:pt x="311939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637115" y="5798104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118966" y="6007140"/>
            <a:ext cx="1873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Arial MT"/>
                <a:cs typeface="Arial MT"/>
              </a:rPr>
              <a:t>53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6361164" y="6007410"/>
            <a:ext cx="867410" cy="217804"/>
            <a:chOff x="6361164" y="6007410"/>
            <a:chExt cx="867410" cy="217804"/>
          </a:xfrm>
        </p:grpSpPr>
        <p:sp>
          <p:nvSpPr>
            <p:cNvPr id="93" name="object 93"/>
            <p:cNvSpPr/>
            <p:nvPr/>
          </p:nvSpPr>
          <p:spPr>
            <a:xfrm>
              <a:off x="6365403" y="6011649"/>
              <a:ext cx="158750" cy="208915"/>
            </a:xfrm>
            <a:custGeom>
              <a:avLst/>
              <a:gdLst/>
              <a:ahLst/>
              <a:cxnLst/>
              <a:rect l="l" t="t" r="r" b="b"/>
              <a:pathLst>
                <a:path w="158750" h="208914">
                  <a:moveTo>
                    <a:pt x="15851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58514" y="208756"/>
                  </a:lnTo>
                  <a:lnTo>
                    <a:pt x="15851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365403" y="6011649"/>
              <a:ext cx="796290" cy="208915"/>
            </a:xfrm>
            <a:custGeom>
              <a:avLst/>
              <a:gdLst/>
              <a:ahLst/>
              <a:cxnLst/>
              <a:rect l="l" t="t" r="r" b="b"/>
              <a:pathLst>
                <a:path w="796290" h="208914">
                  <a:moveTo>
                    <a:pt x="0" y="208756"/>
                  </a:moveTo>
                  <a:lnTo>
                    <a:pt x="158514" y="208756"/>
                  </a:lnTo>
                  <a:lnTo>
                    <a:pt x="158514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  <a:path w="796290" h="208914">
                  <a:moveTo>
                    <a:pt x="158491" y="208756"/>
                  </a:moveTo>
                  <a:lnTo>
                    <a:pt x="470430" y="208756"/>
                  </a:lnTo>
                  <a:lnTo>
                    <a:pt x="470430" y="0"/>
                  </a:lnTo>
                  <a:lnTo>
                    <a:pt x="158491" y="0"/>
                  </a:lnTo>
                  <a:lnTo>
                    <a:pt x="158491" y="208756"/>
                  </a:lnTo>
                  <a:close/>
                </a:path>
                <a:path w="796290" h="208914">
                  <a:moveTo>
                    <a:pt x="470488" y="208756"/>
                  </a:moveTo>
                  <a:lnTo>
                    <a:pt x="626452" y="208756"/>
                  </a:lnTo>
                  <a:lnTo>
                    <a:pt x="626452" y="0"/>
                  </a:lnTo>
                  <a:lnTo>
                    <a:pt x="470488" y="0"/>
                  </a:lnTo>
                  <a:lnTo>
                    <a:pt x="470488" y="208756"/>
                  </a:lnTo>
                  <a:close/>
                </a:path>
                <a:path w="796290" h="208914">
                  <a:moveTo>
                    <a:pt x="707124" y="105784"/>
                  </a:moveTo>
                  <a:lnTo>
                    <a:pt x="796283" y="105784"/>
                  </a:lnTo>
                </a:path>
              </a:pathLst>
            </a:custGeom>
            <a:ln w="8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153223" y="6078321"/>
              <a:ext cx="75565" cy="75565"/>
            </a:xfrm>
            <a:custGeom>
              <a:avLst/>
              <a:gdLst/>
              <a:ahLst/>
              <a:cxnLst/>
              <a:rect l="l" t="t" r="r" b="b"/>
              <a:pathLst>
                <a:path w="75565" h="75564">
                  <a:moveTo>
                    <a:pt x="0" y="0"/>
                  </a:moveTo>
                  <a:lnTo>
                    <a:pt x="0" y="75405"/>
                  </a:lnTo>
                  <a:lnTo>
                    <a:pt x="75245" y="391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6" name="object 96"/>
          <p:cNvGrpSpPr/>
          <p:nvPr/>
        </p:nvGrpSpPr>
        <p:grpSpPr>
          <a:xfrm>
            <a:off x="5971164" y="5171603"/>
            <a:ext cx="426720" cy="217804"/>
            <a:chOff x="5971164" y="5171603"/>
            <a:chExt cx="426720" cy="217804"/>
          </a:xfrm>
        </p:grpSpPr>
        <p:sp>
          <p:nvSpPr>
            <p:cNvPr id="97" name="object 97"/>
            <p:cNvSpPr/>
            <p:nvPr/>
          </p:nvSpPr>
          <p:spPr>
            <a:xfrm>
              <a:off x="5975609" y="5176048"/>
              <a:ext cx="103505" cy="208915"/>
            </a:xfrm>
            <a:custGeom>
              <a:avLst/>
              <a:gdLst/>
              <a:ahLst/>
              <a:cxnLst/>
              <a:rect l="l" t="t" r="r" b="b"/>
              <a:pathLst>
                <a:path w="103504" h="208914">
                  <a:moveTo>
                    <a:pt x="10303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3034" y="208756"/>
                  </a:lnTo>
                  <a:lnTo>
                    <a:pt x="10303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5975609" y="5176048"/>
              <a:ext cx="103505" cy="208915"/>
            </a:xfrm>
            <a:custGeom>
              <a:avLst/>
              <a:gdLst/>
              <a:ahLst/>
              <a:cxnLst/>
              <a:rect l="l" t="t" r="r" b="b"/>
              <a:pathLst>
                <a:path w="103504" h="208914">
                  <a:moveTo>
                    <a:pt x="0" y="208756"/>
                  </a:moveTo>
                  <a:lnTo>
                    <a:pt x="103034" y="208756"/>
                  </a:lnTo>
                  <a:lnTo>
                    <a:pt x="103034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078681" y="5176048"/>
              <a:ext cx="314960" cy="208915"/>
            </a:xfrm>
            <a:custGeom>
              <a:avLst/>
              <a:gdLst/>
              <a:ahLst/>
              <a:cxnLst/>
              <a:rect l="l" t="t" r="r" b="b"/>
              <a:pathLst>
                <a:path w="314960" h="208914">
                  <a:moveTo>
                    <a:pt x="314478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314478" y="208756"/>
                  </a:lnTo>
                  <a:lnTo>
                    <a:pt x="31447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078681" y="5176048"/>
              <a:ext cx="314960" cy="208915"/>
            </a:xfrm>
            <a:custGeom>
              <a:avLst/>
              <a:gdLst/>
              <a:ahLst/>
              <a:cxnLst/>
              <a:rect l="l" t="t" r="r" b="b"/>
              <a:pathLst>
                <a:path w="314960" h="208914">
                  <a:moveTo>
                    <a:pt x="0" y="208756"/>
                  </a:moveTo>
                  <a:lnTo>
                    <a:pt x="314478" y="208756"/>
                  </a:lnTo>
                  <a:lnTo>
                    <a:pt x="314478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</a:pathLst>
            </a:custGeom>
            <a:ln w="84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6146676" y="5171533"/>
            <a:ext cx="1873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25" dirty="0">
                <a:latin typeface="Arial MT"/>
                <a:cs typeface="Arial MT"/>
              </a:rPr>
              <a:t>60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6024350" y="5171806"/>
            <a:ext cx="1884045" cy="739775"/>
            <a:chOff x="6024350" y="5171806"/>
            <a:chExt cx="1884045" cy="739775"/>
          </a:xfrm>
        </p:grpSpPr>
        <p:sp>
          <p:nvSpPr>
            <p:cNvPr id="103" name="object 103"/>
            <p:cNvSpPr/>
            <p:nvPr/>
          </p:nvSpPr>
          <p:spPr>
            <a:xfrm>
              <a:off x="6393113" y="5176048"/>
              <a:ext cx="103505" cy="208915"/>
            </a:xfrm>
            <a:custGeom>
              <a:avLst/>
              <a:gdLst/>
              <a:ahLst/>
              <a:cxnLst/>
              <a:rect l="l" t="t" r="r" b="b"/>
              <a:pathLst>
                <a:path w="103504" h="208914">
                  <a:moveTo>
                    <a:pt x="103034" y="0"/>
                  </a:moveTo>
                  <a:lnTo>
                    <a:pt x="0" y="0"/>
                  </a:lnTo>
                  <a:lnTo>
                    <a:pt x="0" y="208756"/>
                  </a:lnTo>
                  <a:lnTo>
                    <a:pt x="103034" y="208756"/>
                  </a:lnTo>
                  <a:lnTo>
                    <a:pt x="10303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393113" y="5176048"/>
              <a:ext cx="1453515" cy="704850"/>
            </a:xfrm>
            <a:custGeom>
              <a:avLst/>
              <a:gdLst/>
              <a:ahLst/>
              <a:cxnLst/>
              <a:rect l="l" t="t" r="r" b="b"/>
              <a:pathLst>
                <a:path w="1453515" h="704850">
                  <a:moveTo>
                    <a:pt x="0" y="208756"/>
                  </a:moveTo>
                  <a:lnTo>
                    <a:pt x="103034" y="208756"/>
                  </a:lnTo>
                  <a:lnTo>
                    <a:pt x="103034" y="0"/>
                  </a:lnTo>
                  <a:lnTo>
                    <a:pt x="0" y="0"/>
                  </a:lnTo>
                  <a:lnTo>
                    <a:pt x="0" y="208756"/>
                  </a:lnTo>
                  <a:close/>
                </a:path>
                <a:path w="1453515" h="704850">
                  <a:moveTo>
                    <a:pt x="103071" y="208756"/>
                  </a:moveTo>
                  <a:lnTo>
                    <a:pt x="417550" y="208756"/>
                  </a:lnTo>
                  <a:lnTo>
                    <a:pt x="417550" y="0"/>
                  </a:lnTo>
                  <a:lnTo>
                    <a:pt x="103071" y="0"/>
                  </a:lnTo>
                  <a:lnTo>
                    <a:pt x="103071" y="208756"/>
                  </a:lnTo>
                  <a:close/>
                </a:path>
                <a:path w="1453515" h="704850">
                  <a:moveTo>
                    <a:pt x="417619" y="208756"/>
                  </a:moveTo>
                  <a:lnTo>
                    <a:pt x="520654" y="208756"/>
                  </a:lnTo>
                  <a:lnTo>
                    <a:pt x="520654" y="0"/>
                  </a:lnTo>
                  <a:lnTo>
                    <a:pt x="417619" y="0"/>
                  </a:lnTo>
                  <a:lnTo>
                    <a:pt x="417619" y="208756"/>
                  </a:lnTo>
                  <a:close/>
                </a:path>
                <a:path w="1453515" h="704850">
                  <a:moveTo>
                    <a:pt x="520575" y="208756"/>
                  </a:moveTo>
                  <a:lnTo>
                    <a:pt x="835343" y="208756"/>
                  </a:lnTo>
                  <a:lnTo>
                    <a:pt x="835343" y="0"/>
                  </a:lnTo>
                  <a:lnTo>
                    <a:pt x="520575" y="0"/>
                  </a:lnTo>
                  <a:lnTo>
                    <a:pt x="520575" y="208756"/>
                  </a:lnTo>
                  <a:close/>
                </a:path>
                <a:path w="1453515" h="704850">
                  <a:moveTo>
                    <a:pt x="835355" y="208756"/>
                  </a:moveTo>
                  <a:lnTo>
                    <a:pt x="938389" y="208756"/>
                  </a:lnTo>
                  <a:lnTo>
                    <a:pt x="938389" y="0"/>
                  </a:lnTo>
                  <a:lnTo>
                    <a:pt x="835355" y="0"/>
                  </a:lnTo>
                  <a:lnTo>
                    <a:pt x="835355" y="208756"/>
                  </a:lnTo>
                  <a:close/>
                </a:path>
                <a:path w="1453515" h="704850">
                  <a:moveTo>
                    <a:pt x="52985" y="105781"/>
                  </a:moveTo>
                  <a:lnTo>
                    <a:pt x="1453320" y="704771"/>
                  </a:lnTo>
                </a:path>
              </a:pathLst>
            </a:custGeom>
            <a:ln w="8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21507" y="5841708"/>
              <a:ext cx="86995" cy="69850"/>
            </a:xfrm>
            <a:custGeom>
              <a:avLst/>
              <a:gdLst/>
              <a:ahLst/>
              <a:cxnLst/>
              <a:rect l="l" t="t" r="r" b="b"/>
              <a:pathLst>
                <a:path w="86995" h="69850">
                  <a:moveTo>
                    <a:pt x="30608" y="0"/>
                  </a:moveTo>
                  <a:lnTo>
                    <a:pt x="0" y="69497"/>
                  </a:lnTo>
                  <a:lnTo>
                    <a:pt x="86376" y="66968"/>
                  </a:lnTo>
                  <a:lnTo>
                    <a:pt x="306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028595" y="5281829"/>
              <a:ext cx="186690" cy="563245"/>
            </a:xfrm>
            <a:custGeom>
              <a:avLst/>
              <a:gdLst/>
              <a:ahLst/>
              <a:cxnLst/>
              <a:rect l="l" t="t" r="r" b="b"/>
              <a:pathLst>
                <a:path w="186689" h="563245">
                  <a:moveTo>
                    <a:pt x="0" y="0"/>
                  </a:moveTo>
                  <a:lnTo>
                    <a:pt x="186549" y="562695"/>
                  </a:lnTo>
                </a:path>
              </a:pathLst>
            </a:custGeom>
            <a:ln w="84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176072" y="5825107"/>
              <a:ext cx="73025" cy="83820"/>
            </a:xfrm>
            <a:custGeom>
              <a:avLst/>
              <a:gdLst/>
              <a:ahLst/>
              <a:cxnLst/>
              <a:rect l="l" t="t" r="r" b="b"/>
              <a:pathLst>
                <a:path w="73025" h="83820">
                  <a:moveTo>
                    <a:pt x="72463" y="0"/>
                  </a:moveTo>
                  <a:lnTo>
                    <a:pt x="0" y="22234"/>
                  </a:lnTo>
                  <a:lnTo>
                    <a:pt x="61100" y="83569"/>
                  </a:lnTo>
                  <a:lnTo>
                    <a:pt x="72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6029807" y="4962499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6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109" name="object 109"/>
          <p:cNvGraphicFramePr>
            <a:graphicFrameLocks noGrp="1"/>
          </p:cNvGraphicFramePr>
          <p:nvPr/>
        </p:nvGraphicFramePr>
        <p:xfrm>
          <a:off x="4562568" y="4336155"/>
          <a:ext cx="1354453" cy="20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870"/>
                <a:gridCol w="314325"/>
                <a:gridCol w="102870"/>
                <a:gridCol w="314325"/>
                <a:gridCol w="102869"/>
                <a:gridCol w="314325"/>
                <a:gridCol w="102869"/>
              </a:tblGrid>
              <a:tr h="2082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0" name="object 110"/>
          <p:cNvSpPr txBox="1"/>
          <p:nvPr/>
        </p:nvSpPr>
        <p:spPr>
          <a:xfrm>
            <a:off x="4618109" y="4126918"/>
            <a:ext cx="4184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latin typeface="Arial MT"/>
                <a:cs typeface="Arial MT"/>
              </a:rPr>
              <a:t>Bloc </a:t>
            </a:r>
            <a:r>
              <a:rPr sz="1100" spc="-50" dirty="0">
                <a:latin typeface="Arial MT"/>
                <a:cs typeface="Arial MT"/>
              </a:rPr>
              <a:t>7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3834526" y="4441944"/>
            <a:ext cx="786765" cy="631190"/>
            <a:chOff x="3834526" y="4441944"/>
            <a:chExt cx="786765" cy="631190"/>
          </a:xfrm>
        </p:grpSpPr>
        <p:sp>
          <p:nvSpPr>
            <p:cNvPr id="112" name="object 112"/>
            <p:cNvSpPr/>
            <p:nvPr/>
          </p:nvSpPr>
          <p:spPr>
            <a:xfrm>
              <a:off x="3884729" y="4446179"/>
              <a:ext cx="732790" cy="585470"/>
            </a:xfrm>
            <a:custGeom>
              <a:avLst/>
              <a:gdLst/>
              <a:ahLst/>
              <a:cxnLst/>
              <a:rect l="l" t="t" r="r" b="b"/>
              <a:pathLst>
                <a:path w="732789" h="585470">
                  <a:moveTo>
                    <a:pt x="732283" y="0"/>
                  </a:moveTo>
                  <a:lnTo>
                    <a:pt x="0" y="584952"/>
                  </a:lnTo>
                </a:path>
              </a:pathLst>
            </a:custGeom>
            <a:ln w="84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834526" y="4994882"/>
              <a:ext cx="83820" cy="78740"/>
            </a:xfrm>
            <a:custGeom>
              <a:avLst/>
              <a:gdLst/>
              <a:ahLst/>
              <a:cxnLst/>
              <a:rect l="l" t="t" r="r" b="b"/>
              <a:pathLst>
                <a:path w="83820" h="78739">
                  <a:moveTo>
                    <a:pt x="36289" y="0"/>
                  </a:moveTo>
                  <a:lnTo>
                    <a:pt x="0" y="78155"/>
                  </a:lnTo>
                  <a:lnTo>
                    <a:pt x="83593" y="58529"/>
                  </a:lnTo>
                  <a:lnTo>
                    <a:pt x="36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/>
          <p:nvPr/>
        </p:nvSpPr>
        <p:spPr>
          <a:xfrm>
            <a:off x="5034516" y="4446179"/>
            <a:ext cx="1556385" cy="601980"/>
          </a:xfrm>
          <a:custGeom>
            <a:avLst/>
            <a:gdLst/>
            <a:ahLst/>
            <a:cxnLst/>
            <a:rect l="l" t="t" r="r" b="b"/>
            <a:pathLst>
              <a:path w="1556384" h="601979">
                <a:moveTo>
                  <a:pt x="0" y="0"/>
                </a:moveTo>
                <a:lnTo>
                  <a:pt x="1556276" y="601576"/>
                </a:lnTo>
              </a:path>
            </a:pathLst>
          </a:custGeom>
          <a:ln w="84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568647" y="5008967"/>
            <a:ext cx="86995" cy="69850"/>
          </a:xfrm>
          <a:custGeom>
            <a:avLst/>
            <a:gdLst/>
            <a:ahLst/>
            <a:cxnLst/>
            <a:rect l="l" t="t" r="r" b="b"/>
            <a:pathLst>
              <a:path w="86995" h="69850">
                <a:moveTo>
                  <a:pt x="27709" y="0"/>
                </a:moveTo>
                <a:lnTo>
                  <a:pt x="0" y="69497"/>
                </a:lnTo>
                <a:lnTo>
                  <a:pt x="86376" y="64071"/>
                </a:lnTo>
                <a:lnTo>
                  <a:pt x="277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307949" y="797179"/>
            <a:ext cx="3060065" cy="1342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Division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bloc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50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promue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Division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racine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7" name="object 1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533" y="121412"/>
            <a:ext cx="62541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Suppression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dans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un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arbre-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B+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873379"/>
            <a:ext cx="3602354" cy="16789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Cas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simple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minimum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préservé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pas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la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première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90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2</a:t>
            </a:r>
            <a:endParaRPr sz="14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40540" y="3678752"/>
          <a:ext cx="2005963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925"/>
                <a:gridCol w="206375"/>
                <a:gridCol w="412750"/>
                <a:gridCol w="210184"/>
                <a:gridCol w="412750"/>
                <a:gridCol w="206375"/>
                <a:gridCol w="71119"/>
                <a:gridCol w="70485"/>
              </a:tblGrid>
              <a:tr h="139065">
                <a:tc row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10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20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52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21555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46887" y="2577401"/>
            <a:ext cx="151130" cy="287020"/>
            <a:chOff x="3746887" y="2577401"/>
            <a:chExt cx="151130" cy="287020"/>
          </a:xfrm>
        </p:grpSpPr>
        <p:sp>
          <p:nvSpPr>
            <p:cNvPr id="7" name="object 7"/>
            <p:cNvSpPr/>
            <p:nvPr/>
          </p:nvSpPr>
          <p:spPr>
            <a:xfrm>
              <a:off x="3752602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2602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0" y="275474"/>
                  </a:moveTo>
                  <a:lnTo>
                    <a:pt x="139657" y="275474"/>
                  </a:lnTo>
                  <a:lnTo>
                    <a:pt x="13965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92252" y="2583116"/>
            <a:ext cx="412115" cy="275590"/>
          </a:xfrm>
          <a:prstGeom prst="rect">
            <a:avLst/>
          </a:prstGeom>
          <a:solidFill>
            <a:srgbClr val="FFFF00"/>
          </a:solidFill>
          <a:ln w="1104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0"/>
              </a:spcBef>
            </a:pPr>
            <a:r>
              <a:rPr sz="1450" spc="-25" dirty="0">
                <a:latin typeface="Arial MT"/>
                <a:cs typeface="Arial MT"/>
              </a:rPr>
              <a:t>25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98558" y="2577401"/>
            <a:ext cx="563245" cy="287020"/>
            <a:chOff x="4298558" y="2577401"/>
            <a:chExt cx="563245" cy="287020"/>
          </a:xfrm>
        </p:grpSpPr>
        <p:sp>
          <p:nvSpPr>
            <p:cNvPr id="11" name="object 11"/>
            <p:cNvSpPr/>
            <p:nvPr/>
          </p:nvSpPr>
          <p:spPr>
            <a:xfrm>
              <a:off x="430427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0427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0" y="275474"/>
                  </a:moveTo>
                  <a:lnTo>
                    <a:pt x="139657" y="275474"/>
                  </a:lnTo>
                  <a:lnTo>
                    <a:pt x="13965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3915" y="2583116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41199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411997" y="275474"/>
                  </a:lnTo>
                  <a:lnTo>
                    <a:pt x="41199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3915" y="2583116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0" y="275474"/>
                  </a:moveTo>
                  <a:lnTo>
                    <a:pt x="411997" y="275474"/>
                  </a:lnTo>
                  <a:lnTo>
                    <a:pt x="41199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49439" y="2581113"/>
            <a:ext cx="40132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40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55152" y="2717190"/>
            <a:ext cx="973455" cy="831215"/>
            <a:chOff x="2855152" y="2717190"/>
            <a:chExt cx="973455" cy="831215"/>
          </a:xfrm>
        </p:grpSpPr>
        <p:sp>
          <p:nvSpPr>
            <p:cNvPr id="17" name="object 17"/>
            <p:cNvSpPr/>
            <p:nvPr/>
          </p:nvSpPr>
          <p:spPr>
            <a:xfrm>
              <a:off x="2921678" y="2722697"/>
              <a:ext cx="901065" cy="767080"/>
            </a:xfrm>
            <a:custGeom>
              <a:avLst/>
              <a:gdLst/>
              <a:ahLst/>
              <a:cxnLst/>
              <a:rect l="l" t="t" r="r" b="b"/>
              <a:pathLst>
                <a:path w="901064" h="767079">
                  <a:moveTo>
                    <a:pt x="900822" y="0"/>
                  </a:moveTo>
                  <a:lnTo>
                    <a:pt x="0" y="767062"/>
                  </a:lnTo>
                </a:path>
              </a:pathLst>
            </a:custGeom>
            <a:ln w="11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5152" y="3445794"/>
              <a:ext cx="111125" cy="102870"/>
            </a:xfrm>
            <a:custGeom>
              <a:avLst/>
              <a:gdLst/>
              <a:ahLst/>
              <a:cxnLst/>
              <a:rect l="l" t="t" r="r" b="b"/>
              <a:pathLst>
                <a:path w="111125" h="102870">
                  <a:moveTo>
                    <a:pt x="44483" y="0"/>
                  </a:moveTo>
                  <a:lnTo>
                    <a:pt x="0" y="102578"/>
                  </a:lnTo>
                  <a:lnTo>
                    <a:pt x="110625" y="73272"/>
                  </a:lnTo>
                  <a:lnTo>
                    <a:pt x="444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368455" y="2577401"/>
            <a:ext cx="1184910" cy="971550"/>
            <a:chOff x="4368455" y="2577401"/>
            <a:chExt cx="1184910" cy="971550"/>
          </a:xfrm>
        </p:grpSpPr>
        <p:sp>
          <p:nvSpPr>
            <p:cNvPr id="20" name="object 20"/>
            <p:cNvSpPr/>
            <p:nvPr/>
          </p:nvSpPr>
          <p:spPr>
            <a:xfrm>
              <a:off x="485594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74170" y="2583116"/>
              <a:ext cx="1173480" cy="877569"/>
            </a:xfrm>
            <a:custGeom>
              <a:avLst/>
              <a:gdLst/>
              <a:ahLst/>
              <a:cxnLst/>
              <a:rect l="l" t="t" r="r" b="b"/>
              <a:pathLst>
                <a:path w="1173479" h="877570">
                  <a:moveTo>
                    <a:pt x="481773" y="275474"/>
                  </a:moveTo>
                  <a:lnTo>
                    <a:pt x="621430" y="275474"/>
                  </a:lnTo>
                  <a:lnTo>
                    <a:pt x="621430" y="0"/>
                  </a:lnTo>
                  <a:lnTo>
                    <a:pt x="481773" y="0"/>
                  </a:lnTo>
                  <a:lnTo>
                    <a:pt x="481773" y="275474"/>
                  </a:lnTo>
                  <a:close/>
                </a:path>
                <a:path w="1173479" h="877570">
                  <a:moveTo>
                    <a:pt x="621415" y="275474"/>
                  </a:moveTo>
                  <a:lnTo>
                    <a:pt x="1033413" y="275474"/>
                  </a:lnTo>
                  <a:lnTo>
                    <a:pt x="1033413" y="0"/>
                  </a:lnTo>
                  <a:lnTo>
                    <a:pt x="621415" y="0"/>
                  </a:lnTo>
                  <a:lnTo>
                    <a:pt x="621415" y="275474"/>
                  </a:lnTo>
                  <a:close/>
                </a:path>
                <a:path w="1173479" h="877570">
                  <a:moveTo>
                    <a:pt x="1033443" y="275474"/>
                  </a:moveTo>
                  <a:lnTo>
                    <a:pt x="1173101" y="275474"/>
                  </a:lnTo>
                  <a:lnTo>
                    <a:pt x="1173101" y="0"/>
                  </a:lnTo>
                  <a:lnTo>
                    <a:pt x="1033443" y="0"/>
                  </a:lnTo>
                  <a:lnTo>
                    <a:pt x="1033443" y="275474"/>
                  </a:lnTo>
                  <a:close/>
                </a:path>
                <a:path w="1173479" h="877570">
                  <a:moveTo>
                    <a:pt x="0" y="139581"/>
                  </a:moveTo>
                  <a:lnTo>
                    <a:pt x="121247" y="877338"/>
                  </a:lnTo>
                </a:path>
              </a:pathLst>
            </a:custGeom>
            <a:ln w="110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43915" y="3442136"/>
              <a:ext cx="99695" cy="106680"/>
            </a:xfrm>
            <a:custGeom>
              <a:avLst/>
              <a:gdLst/>
              <a:ahLst/>
              <a:cxnLst/>
              <a:rect l="l" t="t" r="r" b="b"/>
              <a:pathLst>
                <a:path w="99695" h="106679">
                  <a:moveTo>
                    <a:pt x="99634" y="0"/>
                  </a:moveTo>
                  <a:lnTo>
                    <a:pt x="0" y="14645"/>
                  </a:lnTo>
                  <a:lnTo>
                    <a:pt x="66218" y="106235"/>
                  </a:lnTo>
                  <a:lnTo>
                    <a:pt x="99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677347" y="3678752"/>
          <a:ext cx="20085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925"/>
                <a:gridCol w="206375"/>
                <a:gridCol w="416559"/>
                <a:gridCol w="207009"/>
                <a:gridCol w="413384"/>
                <a:gridCol w="210819"/>
                <a:gridCol w="67310"/>
                <a:gridCol w="71119"/>
              </a:tblGrid>
              <a:tr h="139065">
                <a:tc rowSpan="2"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25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30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52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723993" y="3772182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0" y="0"/>
                </a:moveTo>
                <a:lnTo>
                  <a:pt x="0" y="99272"/>
                </a:lnTo>
                <a:lnTo>
                  <a:pt x="99328" y="51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58296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3</a:t>
            </a:r>
            <a:endParaRPr sz="145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817811" y="3678752"/>
          <a:ext cx="1997074" cy="274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/>
                <a:gridCol w="205740"/>
                <a:gridCol w="415925"/>
                <a:gridCol w="205740"/>
                <a:gridCol w="415290"/>
                <a:gridCol w="205739"/>
                <a:gridCol w="136525"/>
              </a:tblGrid>
              <a:tr h="274955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40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60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70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5895082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1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83529" y="3772182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0" y="0"/>
                </a:moveTo>
                <a:lnTo>
                  <a:pt x="0" y="99272"/>
                </a:lnTo>
                <a:lnTo>
                  <a:pt x="99328" y="51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920336" y="2717192"/>
            <a:ext cx="1797050" cy="831215"/>
            <a:chOff x="4920336" y="2717192"/>
            <a:chExt cx="1797050" cy="831215"/>
          </a:xfrm>
        </p:grpSpPr>
        <p:sp>
          <p:nvSpPr>
            <p:cNvPr id="30" name="object 30"/>
            <p:cNvSpPr/>
            <p:nvPr/>
          </p:nvSpPr>
          <p:spPr>
            <a:xfrm>
              <a:off x="4925841" y="2722697"/>
              <a:ext cx="1713864" cy="789305"/>
            </a:xfrm>
            <a:custGeom>
              <a:avLst/>
              <a:gdLst/>
              <a:ahLst/>
              <a:cxnLst/>
              <a:rect l="l" t="t" r="r" b="b"/>
              <a:pathLst>
                <a:path w="1713865" h="789304">
                  <a:moveTo>
                    <a:pt x="0" y="0"/>
                  </a:moveTo>
                  <a:lnTo>
                    <a:pt x="1713720" y="789038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06452" y="3460454"/>
              <a:ext cx="111125" cy="88265"/>
            </a:xfrm>
            <a:custGeom>
              <a:avLst/>
              <a:gdLst/>
              <a:ahLst/>
              <a:cxnLst/>
              <a:rect l="l" t="t" r="r" b="b"/>
              <a:pathLst>
                <a:path w="111125" h="88264">
                  <a:moveTo>
                    <a:pt x="40467" y="0"/>
                  </a:moveTo>
                  <a:lnTo>
                    <a:pt x="0" y="87917"/>
                  </a:lnTo>
                  <a:lnTo>
                    <a:pt x="110671" y="87917"/>
                  </a:lnTo>
                  <a:lnTo>
                    <a:pt x="4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1540341" y="5947789"/>
          <a:ext cx="1980561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203835"/>
                <a:gridCol w="407669"/>
                <a:gridCol w="207644"/>
                <a:gridCol w="407669"/>
                <a:gridCol w="203835"/>
                <a:gridCol w="69850"/>
                <a:gridCol w="69214"/>
              </a:tblGrid>
              <a:tr h="137795"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1620226" y="5679338"/>
            <a:ext cx="53340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720015" y="4859755"/>
            <a:ext cx="149860" cy="283845"/>
            <a:chOff x="3720015" y="4859755"/>
            <a:chExt cx="149860" cy="283845"/>
          </a:xfrm>
        </p:grpSpPr>
        <p:sp>
          <p:nvSpPr>
            <p:cNvPr id="35" name="object 35"/>
            <p:cNvSpPr/>
            <p:nvPr/>
          </p:nvSpPr>
          <p:spPr>
            <a:xfrm>
              <a:off x="3725730" y="4865470"/>
              <a:ext cx="138430" cy="272415"/>
            </a:xfrm>
            <a:custGeom>
              <a:avLst/>
              <a:gdLst/>
              <a:ahLst/>
              <a:cxnLst/>
              <a:rect l="l" t="t" r="r" b="b"/>
              <a:pathLst>
                <a:path w="138429" h="272414">
                  <a:moveTo>
                    <a:pt x="137973" y="0"/>
                  </a:moveTo>
                  <a:lnTo>
                    <a:pt x="0" y="0"/>
                  </a:lnTo>
                  <a:lnTo>
                    <a:pt x="0" y="272126"/>
                  </a:lnTo>
                  <a:lnTo>
                    <a:pt x="137973" y="272126"/>
                  </a:lnTo>
                  <a:lnTo>
                    <a:pt x="13797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25730" y="4865470"/>
              <a:ext cx="138430" cy="272415"/>
            </a:xfrm>
            <a:custGeom>
              <a:avLst/>
              <a:gdLst/>
              <a:ahLst/>
              <a:cxnLst/>
              <a:rect l="l" t="t" r="r" b="b"/>
              <a:pathLst>
                <a:path w="138429" h="272414">
                  <a:moveTo>
                    <a:pt x="0" y="272126"/>
                  </a:moveTo>
                  <a:lnTo>
                    <a:pt x="137973" y="272126"/>
                  </a:lnTo>
                  <a:lnTo>
                    <a:pt x="137973" y="0"/>
                  </a:lnTo>
                  <a:lnTo>
                    <a:pt x="0" y="0"/>
                  </a:lnTo>
                  <a:lnTo>
                    <a:pt x="0" y="272126"/>
                  </a:lnTo>
                  <a:close/>
                </a:path>
              </a:pathLst>
            </a:custGeom>
            <a:ln w="108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863696" y="4865470"/>
            <a:ext cx="407034" cy="272415"/>
          </a:xfrm>
          <a:prstGeom prst="rect">
            <a:avLst/>
          </a:prstGeom>
          <a:solidFill>
            <a:srgbClr val="FFFF00"/>
          </a:solidFill>
          <a:ln w="10914">
            <a:solidFill>
              <a:srgbClr val="00000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latin typeface="Arial MT"/>
                <a:cs typeface="Arial MT"/>
              </a:rPr>
              <a:t>25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265034" y="4859755"/>
            <a:ext cx="556895" cy="283845"/>
            <a:chOff x="4265034" y="4859755"/>
            <a:chExt cx="556895" cy="283845"/>
          </a:xfrm>
        </p:grpSpPr>
        <p:sp>
          <p:nvSpPr>
            <p:cNvPr id="39" name="object 39"/>
            <p:cNvSpPr/>
            <p:nvPr/>
          </p:nvSpPr>
          <p:spPr>
            <a:xfrm>
              <a:off x="4270749" y="4865470"/>
              <a:ext cx="138430" cy="272415"/>
            </a:xfrm>
            <a:custGeom>
              <a:avLst/>
              <a:gdLst/>
              <a:ahLst/>
              <a:cxnLst/>
              <a:rect l="l" t="t" r="r" b="b"/>
              <a:pathLst>
                <a:path w="138429" h="272414">
                  <a:moveTo>
                    <a:pt x="137973" y="0"/>
                  </a:moveTo>
                  <a:lnTo>
                    <a:pt x="0" y="0"/>
                  </a:lnTo>
                  <a:lnTo>
                    <a:pt x="0" y="272126"/>
                  </a:lnTo>
                  <a:lnTo>
                    <a:pt x="137973" y="272126"/>
                  </a:lnTo>
                  <a:lnTo>
                    <a:pt x="13797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70749" y="4865470"/>
              <a:ext cx="138430" cy="272415"/>
            </a:xfrm>
            <a:custGeom>
              <a:avLst/>
              <a:gdLst/>
              <a:ahLst/>
              <a:cxnLst/>
              <a:rect l="l" t="t" r="r" b="b"/>
              <a:pathLst>
                <a:path w="138429" h="272414">
                  <a:moveTo>
                    <a:pt x="0" y="272126"/>
                  </a:moveTo>
                  <a:lnTo>
                    <a:pt x="137973" y="272126"/>
                  </a:lnTo>
                  <a:lnTo>
                    <a:pt x="137973" y="0"/>
                  </a:lnTo>
                  <a:lnTo>
                    <a:pt x="0" y="0"/>
                  </a:lnTo>
                  <a:lnTo>
                    <a:pt x="0" y="272126"/>
                  </a:lnTo>
                  <a:close/>
                </a:path>
              </a:pathLst>
            </a:custGeom>
            <a:ln w="108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408707" y="4865470"/>
              <a:ext cx="407034" cy="272415"/>
            </a:xfrm>
            <a:custGeom>
              <a:avLst/>
              <a:gdLst/>
              <a:ahLst/>
              <a:cxnLst/>
              <a:rect l="l" t="t" r="r" b="b"/>
              <a:pathLst>
                <a:path w="407035" h="272414">
                  <a:moveTo>
                    <a:pt x="407030" y="0"/>
                  </a:moveTo>
                  <a:lnTo>
                    <a:pt x="0" y="0"/>
                  </a:lnTo>
                  <a:lnTo>
                    <a:pt x="0" y="272126"/>
                  </a:lnTo>
                  <a:lnTo>
                    <a:pt x="407030" y="272126"/>
                  </a:lnTo>
                  <a:lnTo>
                    <a:pt x="40703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08707" y="4865470"/>
              <a:ext cx="407034" cy="272415"/>
            </a:xfrm>
            <a:custGeom>
              <a:avLst/>
              <a:gdLst/>
              <a:ahLst/>
              <a:cxnLst/>
              <a:rect l="l" t="t" r="r" b="b"/>
              <a:pathLst>
                <a:path w="407035" h="272414">
                  <a:moveTo>
                    <a:pt x="0" y="272126"/>
                  </a:moveTo>
                  <a:lnTo>
                    <a:pt x="407030" y="272126"/>
                  </a:lnTo>
                  <a:lnTo>
                    <a:pt x="407030" y="0"/>
                  </a:lnTo>
                  <a:lnTo>
                    <a:pt x="0" y="0"/>
                  </a:lnTo>
                  <a:lnTo>
                    <a:pt x="0" y="272126"/>
                  </a:lnTo>
                  <a:close/>
                </a:path>
              </a:pathLst>
            </a:custGeom>
            <a:ln w="108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414165" y="4863337"/>
            <a:ext cx="39624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30"/>
              </a:spcBef>
            </a:pPr>
            <a:r>
              <a:rPr sz="1400" spc="-25" dirty="0">
                <a:latin typeface="Arial MT"/>
                <a:cs typeface="Arial MT"/>
              </a:rPr>
              <a:t>40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00257" y="4591573"/>
            <a:ext cx="53340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839102" y="4997914"/>
            <a:ext cx="961390" cy="821690"/>
            <a:chOff x="2839102" y="4997914"/>
            <a:chExt cx="961390" cy="821690"/>
          </a:xfrm>
        </p:grpSpPr>
        <p:sp>
          <p:nvSpPr>
            <p:cNvPr id="46" name="object 46"/>
            <p:cNvSpPr/>
            <p:nvPr/>
          </p:nvSpPr>
          <p:spPr>
            <a:xfrm>
              <a:off x="2904825" y="5003355"/>
              <a:ext cx="890269" cy="758190"/>
            </a:xfrm>
            <a:custGeom>
              <a:avLst/>
              <a:gdLst/>
              <a:ahLst/>
              <a:cxnLst/>
              <a:rect l="l" t="t" r="r" b="b"/>
              <a:pathLst>
                <a:path w="890270" h="758189">
                  <a:moveTo>
                    <a:pt x="889960" y="0"/>
                  </a:moveTo>
                  <a:lnTo>
                    <a:pt x="0" y="757739"/>
                  </a:lnTo>
                </a:path>
              </a:pathLst>
            </a:custGeom>
            <a:ln w="10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839102" y="5717662"/>
              <a:ext cx="109855" cy="101600"/>
            </a:xfrm>
            <a:custGeom>
              <a:avLst/>
              <a:gdLst/>
              <a:ahLst/>
              <a:cxnLst/>
              <a:rect l="l" t="t" r="r" b="b"/>
              <a:pathLst>
                <a:path w="109855" h="101600">
                  <a:moveTo>
                    <a:pt x="43946" y="0"/>
                  </a:moveTo>
                  <a:lnTo>
                    <a:pt x="0" y="101331"/>
                  </a:lnTo>
                  <a:lnTo>
                    <a:pt x="109291" y="72381"/>
                  </a:lnTo>
                  <a:lnTo>
                    <a:pt x="43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4334089" y="4859755"/>
            <a:ext cx="1170940" cy="959485"/>
            <a:chOff x="4334089" y="4859755"/>
            <a:chExt cx="1170940" cy="959485"/>
          </a:xfrm>
        </p:grpSpPr>
        <p:sp>
          <p:nvSpPr>
            <p:cNvPr id="49" name="object 49"/>
            <p:cNvSpPr/>
            <p:nvPr/>
          </p:nvSpPr>
          <p:spPr>
            <a:xfrm>
              <a:off x="4815768" y="4865470"/>
              <a:ext cx="138430" cy="272415"/>
            </a:xfrm>
            <a:custGeom>
              <a:avLst/>
              <a:gdLst/>
              <a:ahLst/>
              <a:cxnLst/>
              <a:rect l="l" t="t" r="r" b="b"/>
              <a:pathLst>
                <a:path w="138429" h="272414">
                  <a:moveTo>
                    <a:pt x="137973" y="0"/>
                  </a:moveTo>
                  <a:lnTo>
                    <a:pt x="0" y="0"/>
                  </a:lnTo>
                  <a:lnTo>
                    <a:pt x="0" y="272126"/>
                  </a:lnTo>
                  <a:lnTo>
                    <a:pt x="137973" y="272126"/>
                  </a:lnTo>
                  <a:lnTo>
                    <a:pt x="13797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39804" y="4865470"/>
              <a:ext cx="1159510" cy="866775"/>
            </a:xfrm>
            <a:custGeom>
              <a:avLst/>
              <a:gdLst/>
              <a:ahLst/>
              <a:cxnLst/>
              <a:rect l="l" t="t" r="r" b="b"/>
              <a:pathLst>
                <a:path w="1159510" h="866775">
                  <a:moveTo>
                    <a:pt x="475963" y="272126"/>
                  </a:moveTo>
                  <a:lnTo>
                    <a:pt x="613937" y="272126"/>
                  </a:lnTo>
                  <a:lnTo>
                    <a:pt x="613937" y="0"/>
                  </a:lnTo>
                  <a:lnTo>
                    <a:pt x="475963" y="0"/>
                  </a:lnTo>
                  <a:lnTo>
                    <a:pt x="475963" y="272126"/>
                  </a:lnTo>
                  <a:close/>
                </a:path>
                <a:path w="1159510" h="866775">
                  <a:moveTo>
                    <a:pt x="613922" y="272126"/>
                  </a:moveTo>
                  <a:lnTo>
                    <a:pt x="1020952" y="272126"/>
                  </a:lnTo>
                  <a:lnTo>
                    <a:pt x="1020952" y="0"/>
                  </a:lnTo>
                  <a:lnTo>
                    <a:pt x="613922" y="0"/>
                  </a:lnTo>
                  <a:lnTo>
                    <a:pt x="613922" y="272126"/>
                  </a:lnTo>
                  <a:close/>
                </a:path>
                <a:path w="1159510" h="866775">
                  <a:moveTo>
                    <a:pt x="1020982" y="272126"/>
                  </a:moveTo>
                  <a:lnTo>
                    <a:pt x="1158956" y="272126"/>
                  </a:lnTo>
                  <a:lnTo>
                    <a:pt x="1158956" y="0"/>
                  </a:lnTo>
                  <a:lnTo>
                    <a:pt x="1020982" y="0"/>
                  </a:lnTo>
                  <a:lnTo>
                    <a:pt x="1020982" y="272126"/>
                  </a:lnTo>
                  <a:close/>
                </a:path>
                <a:path w="1159510" h="866775">
                  <a:moveTo>
                    <a:pt x="0" y="137884"/>
                  </a:moveTo>
                  <a:lnTo>
                    <a:pt x="119786" y="866674"/>
                  </a:lnTo>
                </a:path>
              </a:pathLst>
            </a:custGeom>
            <a:ln w="108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08707" y="5714049"/>
              <a:ext cx="99060" cy="105410"/>
            </a:xfrm>
            <a:custGeom>
              <a:avLst/>
              <a:gdLst/>
              <a:ahLst/>
              <a:cxnLst/>
              <a:rect l="l" t="t" r="r" b="b"/>
              <a:pathLst>
                <a:path w="99060" h="105410">
                  <a:moveTo>
                    <a:pt x="98433" y="0"/>
                  </a:moveTo>
                  <a:lnTo>
                    <a:pt x="0" y="14467"/>
                  </a:lnTo>
                  <a:lnTo>
                    <a:pt x="65420" y="104944"/>
                  </a:lnTo>
                  <a:lnTo>
                    <a:pt x="98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3651382" y="5947789"/>
          <a:ext cx="1984374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845"/>
                <a:gridCol w="203835"/>
                <a:gridCol w="411480"/>
                <a:gridCol w="204469"/>
                <a:gridCol w="408305"/>
                <a:gridCol w="208280"/>
                <a:gridCol w="66675"/>
                <a:gridCol w="70485"/>
              </a:tblGrid>
              <a:tr h="137795">
                <a:tc row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33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3" name="object 53"/>
          <p:cNvSpPr/>
          <p:nvPr/>
        </p:nvSpPr>
        <p:spPr>
          <a:xfrm>
            <a:off x="5673351" y="604008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065"/>
                </a:lnTo>
                <a:lnTo>
                  <a:pt x="98130" y="51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731202" y="5679338"/>
            <a:ext cx="53340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55" name="object 55"/>
          <p:cNvGraphicFramePr>
            <a:graphicFrameLocks noGrp="1"/>
          </p:cNvGraphicFramePr>
          <p:nvPr/>
        </p:nvGraphicFramePr>
        <p:xfrm>
          <a:off x="5766037" y="5947789"/>
          <a:ext cx="1972307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4"/>
                <a:gridCol w="203200"/>
                <a:gridCol w="410845"/>
                <a:gridCol w="203200"/>
                <a:gridCol w="410209"/>
                <a:gridCol w="203200"/>
                <a:gridCol w="134619"/>
              </a:tblGrid>
              <a:tr h="271145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40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60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6" name="object 56"/>
          <p:cNvSpPr txBox="1"/>
          <p:nvPr/>
        </p:nvSpPr>
        <p:spPr>
          <a:xfrm>
            <a:off x="5842223" y="5679338"/>
            <a:ext cx="53340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558696" y="6040084"/>
            <a:ext cx="98425" cy="98425"/>
          </a:xfrm>
          <a:custGeom>
            <a:avLst/>
            <a:gdLst/>
            <a:ahLst/>
            <a:cxnLst/>
            <a:rect l="l" t="t" r="r" b="b"/>
            <a:pathLst>
              <a:path w="98425" h="98425">
                <a:moveTo>
                  <a:pt x="0" y="0"/>
                </a:moveTo>
                <a:lnTo>
                  <a:pt x="0" y="98065"/>
                </a:lnTo>
                <a:lnTo>
                  <a:pt x="98130" y="510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4879384" y="4997916"/>
            <a:ext cx="1775460" cy="821690"/>
            <a:chOff x="4879384" y="4997916"/>
            <a:chExt cx="1775460" cy="821690"/>
          </a:xfrm>
        </p:grpSpPr>
        <p:sp>
          <p:nvSpPr>
            <p:cNvPr id="59" name="object 59"/>
            <p:cNvSpPr/>
            <p:nvPr/>
          </p:nvSpPr>
          <p:spPr>
            <a:xfrm>
              <a:off x="4884822" y="5003355"/>
              <a:ext cx="1693545" cy="779780"/>
            </a:xfrm>
            <a:custGeom>
              <a:avLst/>
              <a:gdLst/>
              <a:ahLst/>
              <a:cxnLst/>
              <a:rect l="l" t="t" r="r" b="b"/>
              <a:pathLst>
                <a:path w="1693545" h="779779">
                  <a:moveTo>
                    <a:pt x="0" y="0"/>
                  </a:moveTo>
                  <a:lnTo>
                    <a:pt x="1693056" y="779447"/>
                  </a:lnTo>
                </a:path>
              </a:pathLst>
            </a:custGeom>
            <a:ln w="108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45169" y="5732144"/>
              <a:ext cx="109855" cy="86995"/>
            </a:xfrm>
            <a:custGeom>
              <a:avLst/>
              <a:gdLst/>
              <a:ahLst/>
              <a:cxnLst/>
              <a:rect l="l" t="t" r="r" b="b"/>
              <a:pathLst>
                <a:path w="109854" h="86995">
                  <a:moveTo>
                    <a:pt x="39979" y="0"/>
                  </a:moveTo>
                  <a:lnTo>
                    <a:pt x="0" y="86848"/>
                  </a:lnTo>
                  <a:lnTo>
                    <a:pt x="109336" y="86848"/>
                  </a:lnTo>
                  <a:lnTo>
                    <a:pt x="39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/>
          <p:nvPr/>
        </p:nvSpPr>
        <p:spPr>
          <a:xfrm>
            <a:off x="7010400" y="3429000"/>
            <a:ext cx="457200" cy="762000"/>
          </a:xfrm>
          <a:custGeom>
            <a:avLst/>
            <a:gdLst/>
            <a:ahLst/>
            <a:cxnLst/>
            <a:rect l="l" t="t" r="r" b="b"/>
            <a:pathLst>
              <a:path w="457200" h="762000">
                <a:moveTo>
                  <a:pt x="0" y="0"/>
                </a:moveTo>
                <a:lnTo>
                  <a:pt x="457200" y="762000"/>
                </a:lnTo>
              </a:path>
              <a:path w="457200" h="762000">
                <a:moveTo>
                  <a:pt x="457200" y="0"/>
                </a:moveTo>
                <a:lnTo>
                  <a:pt x="76200" y="76200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2" name="object 62"/>
          <p:cNvGrpSpPr/>
          <p:nvPr/>
        </p:nvGrpSpPr>
        <p:grpSpPr>
          <a:xfrm>
            <a:off x="609600" y="4114800"/>
            <a:ext cx="8077200" cy="533400"/>
            <a:chOff x="609600" y="4114800"/>
            <a:chExt cx="8077200" cy="533400"/>
          </a:xfrm>
        </p:grpSpPr>
        <p:sp>
          <p:nvSpPr>
            <p:cNvPr id="63" name="object 63"/>
            <p:cNvSpPr/>
            <p:nvPr/>
          </p:nvSpPr>
          <p:spPr>
            <a:xfrm>
              <a:off x="4667250" y="41148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9600" y="4343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322" y="454533"/>
            <a:ext cx="698245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8780" marR="5080" indent="-292671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Première</a:t>
            </a:r>
            <a:r>
              <a:rPr sz="28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clé</a:t>
            </a:r>
            <a:r>
              <a:rPr sz="28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28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bloc</a:t>
            </a:r>
            <a:r>
              <a:rPr sz="28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28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pas</a:t>
            </a:r>
            <a:r>
              <a:rPr sz="28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la</a:t>
            </a:r>
            <a:r>
              <a:rPr sz="28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première feuille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600900"/>
            <a:ext cx="7045325" cy="9512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Remplacer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dans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parent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(si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«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aîné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»)</a:t>
            </a:r>
            <a:endParaRPr sz="2800">
              <a:latin typeface="Tahoma"/>
              <a:cs typeface="Tahoma"/>
            </a:endParaRPr>
          </a:p>
          <a:p>
            <a:pPr marR="676910" algn="ctr">
              <a:lnSpc>
                <a:spcPct val="100000"/>
              </a:lnSpc>
              <a:spcBef>
                <a:spcPts val="750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2</a:t>
            </a:r>
            <a:endParaRPr sz="145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40540" y="3678752"/>
          <a:ext cx="2005963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5925"/>
                <a:gridCol w="206375"/>
                <a:gridCol w="412750"/>
                <a:gridCol w="210184"/>
                <a:gridCol w="412750"/>
                <a:gridCol w="206375"/>
                <a:gridCol w="71119"/>
                <a:gridCol w="70485"/>
              </a:tblGrid>
              <a:tr h="139065">
                <a:tc row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10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20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52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21555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746887" y="2577401"/>
            <a:ext cx="151130" cy="287020"/>
            <a:chOff x="3746887" y="2577401"/>
            <a:chExt cx="151130" cy="287020"/>
          </a:xfrm>
        </p:grpSpPr>
        <p:sp>
          <p:nvSpPr>
            <p:cNvPr id="7" name="object 7"/>
            <p:cNvSpPr/>
            <p:nvPr/>
          </p:nvSpPr>
          <p:spPr>
            <a:xfrm>
              <a:off x="3752602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52602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0" y="275474"/>
                  </a:moveTo>
                  <a:lnTo>
                    <a:pt x="139657" y="275474"/>
                  </a:lnTo>
                  <a:lnTo>
                    <a:pt x="13965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92252" y="2583116"/>
            <a:ext cx="412115" cy="275590"/>
          </a:xfrm>
          <a:prstGeom prst="rect">
            <a:avLst/>
          </a:prstGeom>
          <a:solidFill>
            <a:srgbClr val="FFFF00"/>
          </a:solidFill>
          <a:ln w="1104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0"/>
              </a:spcBef>
            </a:pPr>
            <a:r>
              <a:rPr sz="1450" spc="-25" dirty="0">
                <a:latin typeface="Arial MT"/>
                <a:cs typeface="Arial MT"/>
              </a:rPr>
              <a:t>25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98558" y="2577401"/>
            <a:ext cx="563245" cy="287020"/>
            <a:chOff x="4298558" y="2577401"/>
            <a:chExt cx="563245" cy="287020"/>
          </a:xfrm>
        </p:grpSpPr>
        <p:sp>
          <p:nvSpPr>
            <p:cNvPr id="11" name="object 11"/>
            <p:cNvSpPr/>
            <p:nvPr/>
          </p:nvSpPr>
          <p:spPr>
            <a:xfrm>
              <a:off x="430427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0427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0" y="275474"/>
                  </a:moveTo>
                  <a:lnTo>
                    <a:pt x="139657" y="275474"/>
                  </a:lnTo>
                  <a:lnTo>
                    <a:pt x="13965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43915" y="2583116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41199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411997" y="275474"/>
                  </a:lnTo>
                  <a:lnTo>
                    <a:pt x="41199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43915" y="2583116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0" y="275474"/>
                  </a:moveTo>
                  <a:lnTo>
                    <a:pt x="411997" y="275474"/>
                  </a:lnTo>
                  <a:lnTo>
                    <a:pt x="411997" y="0"/>
                  </a:lnTo>
                  <a:lnTo>
                    <a:pt x="0" y="0"/>
                  </a:lnTo>
                  <a:lnTo>
                    <a:pt x="0" y="275474"/>
                  </a:lnTo>
                  <a:close/>
                </a:path>
              </a:pathLst>
            </a:custGeom>
            <a:ln w="11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49439" y="2581113"/>
            <a:ext cx="40132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40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55152" y="2717190"/>
            <a:ext cx="973455" cy="831215"/>
            <a:chOff x="2855152" y="2717190"/>
            <a:chExt cx="973455" cy="831215"/>
          </a:xfrm>
        </p:grpSpPr>
        <p:sp>
          <p:nvSpPr>
            <p:cNvPr id="17" name="object 17"/>
            <p:cNvSpPr/>
            <p:nvPr/>
          </p:nvSpPr>
          <p:spPr>
            <a:xfrm>
              <a:off x="2921678" y="2722697"/>
              <a:ext cx="901065" cy="767080"/>
            </a:xfrm>
            <a:custGeom>
              <a:avLst/>
              <a:gdLst/>
              <a:ahLst/>
              <a:cxnLst/>
              <a:rect l="l" t="t" r="r" b="b"/>
              <a:pathLst>
                <a:path w="901064" h="767079">
                  <a:moveTo>
                    <a:pt x="900822" y="0"/>
                  </a:moveTo>
                  <a:lnTo>
                    <a:pt x="0" y="767062"/>
                  </a:lnTo>
                </a:path>
              </a:pathLst>
            </a:custGeom>
            <a:ln w="110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55152" y="3445794"/>
              <a:ext cx="111125" cy="102870"/>
            </a:xfrm>
            <a:custGeom>
              <a:avLst/>
              <a:gdLst/>
              <a:ahLst/>
              <a:cxnLst/>
              <a:rect l="l" t="t" r="r" b="b"/>
              <a:pathLst>
                <a:path w="111125" h="102870">
                  <a:moveTo>
                    <a:pt x="44483" y="0"/>
                  </a:moveTo>
                  <a:lnTo>
                    <a:pt x="0" y="102578"/>
                  </a:lnTo>
                  <a:lnTo>
                    <a:pt x="110625" y="73272"/>
                  </a:lnTo>
                  <a:lnTo>
                    <a:pt x="444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368455" y="2577401"/>
            <a:ext cx="1184910" cy="971550"/>
            <a:chOff x="4368455" y="2577401"/>
            <a:chExt cx="1184910" cy="971550"/>
          </a:xfrm>
        </p:grpSpPr>
        <p:sp>
          <p:nvSpPr>
            <p:cNvPr id="20" name="object 20"/>
            <p:cNvSpPr/>
            <p:nvPr/>
          </p:nvSpPr>
          <p:spPr>
            <a:xfrm>
              <a:off x="4855943" y="2583116"/>
              <a:ext cx="139700" cy="275590"/>
            </a:xfrm>
            <a:custGeom>
              <a:avLst/>
              <a:gdLst/>
              <a:ahLst/>
              <a:cxnLst/>
              <a:rect l="l" t="t" r="r" b="b"/>
              <a:pathLst>
                <a:path w="139700" h="275589">
                  <a:moveTo>
                    <a:pt x="139657" y="0"/>
                  </a:moveTo>
                  <a:lnTo>
                    <a:pt x="0" y="0"/>
                  </a:lnTo>
                  <a:lnTo>
                    <a:pt x="0" y="275474"/>
                  </a:lnTo>
                  <a:lnTo>
                    <a:pt x="139657" y="275474"/>
                  </a:lnTo>
                  <a:lnTo>
                    <a:pt x="13965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74170" y="2583116"/>
              <a:ext cx="1173480" cy="877569"/>
            </a:xfrm>
            <a:custGeom>
              <a:avLst/>
              <a:gdLst/>
              <a:ahLst/>
              <a:cxnLst/>
              <a:rect l="l" t="t" r="r" b="b"/>
              <a:pathLst>
                <a:path w="1173479" h="877570">
                  <a:moveTo>
                    <a:pt x="481773" y="275474"/>
                  </a:moveTo>
                  <a:lnTo>
                    <a:pt x="621430" y="275474"/>
                  </a:lnTo>
                  <a:lnTo>
                    <a:pt x="621430" y="0"/>
                  </a:lnTo>
                  <a:lnTo>
                    <a:pt x="481773" y="0"/>
                  </a:lnTo>
                  <a:lnTo>
                    <a:pt x="481773" y="275474"/>
                  </a:lnTo>
                  <a:close/>
                </a:path>
                <a:path w="1173479" h="877570">
                  <a:moveTo>
                    <a:pt x="621415" y="275474"/>
                  </a:moveTo>
                  <a:lnTo>
                    <a:pt x="1033413" y="275474"/>
                  </a:lnTo>
                  <a:lnTo>
                    <a:pt x="1033413" y="0"/>
                  </a:lnTo>
                  <a:lnTo>
                    <a:pt x="621415" y="0"/>
                  </a:lnTo>
                  <a:lnTo>
                    <a:pt x="621415" y="275474"/>
                  </a:lnTo>
                  <a:close/>
                </a:path>
                <a:path w="1173479" h="877570">
                  <a:moveTo>
                    <a:pt x="1033443" y="275474"/>
                  </a:moveTo>
                  <a:lnTo>
                    <a:pt x="1173101" y="275474"/>
                  </a:lnTo>
                  <a:lnTo>
                    <a:pt x="1173101" y="0"/>
                  </a:lnTo>
                  <a:lnTo>
                    <a:pt x="1033443" y="0"/>
                  </a:lnTo>
                  <a:lnTo>
                    <a:pt x="1033443" y="275474"/>
                  </a:lnTo>
                  <a:close/>
                </a:path>
                <a:path w="1173479" h="877570">
                  <a:moveTo>
                    <a:pt x="0" y="139581"/>
                  </a:moveTo>
                  <a:lnTo>
                    <a:pt x="121247" y="877338"/>
                  </a:lnTo>
                </a:path>
              </a:pathLst>
            </a:custGeom>
            <a:ln w="110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43915" y="3442136"/>
              <a:ext cx="99695" cy="106680"/>
            </a:xfrm>
            <a:custGeom>
              <a:avLst/>
              <a:gdLst/>
              <a:ahLst/>
              <a:cxnLst/>
              <a:rect l="l" t="t" r="r" b="b"/>
              <a:pathLst>
                <a:path w="99695" h="106679">
                  <a:moveTo>
                    <a:pt x="99634" y="0"/>
                  </a:moveTo>
                  <a:lnTo>
                    <a:pt x="0" y="14645"/>
                  </a:lnTo>
                  <a:lnTo>
                    <a:pt x="66218" y="106235"/>
                  </a:lnTo>
                  <a:lnTo>
                    <a:pt x="996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82858" y="3684263"/>
            <a:ext cx="415925" cy="275590"/>
          </a:xfrm>
          <a:prstGeom prst="rect">
            <a:avLst/>
          </a:prstGeom>
          <a:solidFill>
            <a:srgbClr val="C0C0C0"/>
          </a:solidFill>
          <a:ln w="11123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80"/>
              </a:spcBef>
            </a:pPr>
            <a:r>
              <a:rPr sz="1450" spc="-25" dirty="0">
                <a:latin typeface="Arial MT"/>
                <a:cs typeface="Arial MT"/>
              </a:rPr>
              <a:t>25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92697" y="3678548"/>
            <a:ext cx="1731010" cy="287020"/>
            <a:chOff x="4092697" y="3678548"/>
            <a:chExt cx="1731010" cy="287020"/>
          </a:xfrm>
        </p:grpSpPr>
        <p:sp>
          <p:nvSpPr>
            <p:cNvPr id="25" name="object 25"/>
            <p:cNvSpPr/>
            <p:nvPr/>
          </p:nvSpPr>
          <p:spPr>
            <a:xfrm>
              <a:off x="4098412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205815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205815" y="275107"/>
                  </a:lnTo>
                  <a:lnTo>
                    <a:pt x="20581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98412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0" y="275107"/>
                  </a:moveTo>
                  <a:lnTo>
                    <a:pt x="205815" y="275107"/>
                  </a:lnTo>
                  <a:lnTo>
                    <a:pt x="205815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47256" y="3684263"/>
              <a:ext cx="136525" cy="275590"/>
            </a:xfrm>
            <a:custGeom>
              <a:avLst/>
              <a:gdLst/>
              <a:ahLst/>
              <a:cxnLst/>
              <a:rect l="l" t="t" r="r" b="b"/>
              <a:pathLst>
                <a:path w="136525" h="275589">
                  <a:moveTo>
                    <a:pt x="136349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136349" y="275107"/>
                  </a:lnTo>
                  <a:lnTo>
                    <a:pt x="13634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47256" y="3684263"/>
              <a:ext cx="187960" cy="275590"/>
            </a:xfrm>
            <a:custGeom>
              <a:avLst/>
              <a:gdLst/>
              <a:ahLst/>
              <a:cxnLst/>
              <a:rect l="l" t="t" r="r" b="b"/>
              <a:pathLst>
                <a:path w="187960" h="275589">
                  <a:moveTo>
                    <a:pt x="0" y="275107"/>
                  </a:moveTo>
                  <a:lnTo>
                    <a:pt x="136349" y="275107"/>
                  </a:lnTo>
                  <a:lnTo>
                    <a:pt x="136349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  <a:path w="187960" h="275589">
                  <a:moveTo>
                    <a:pt x="66218" y="139567"/>
                  </a:moveTo>
                  <a:lnTo>
                    <a:pt x="187773" y="139567"/>
                  </a:lnTo>
                </a:path>
              </a:pathLst>
            </a:custGeom>
            <a:ln w="110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23993" y="3772182"/>
              <a:ext cx="99695" cy="99695"/>
            </a:xfrm>
            <a:custGeom>
              <a:avLst/>
              <a:gdLst/>
              <a:ahLst/>
              <a:cxnLst/>
              <a:rect l="l" t="t" r="r" b="b"/>
              <a:pathLst>
                <a:path w="99695" h="99695">
                  <a:moveTo>
                    <a:pt x="0" y="0"/>
                  </a:moveTo>
                  <a:lnTo>
                    <a:pt x="0" y="99272"/>
                  </a:lnTo>
                  <a:lnTo>
                    <a:pt x="99328" y="516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58296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3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298558" y="3678548"/>
            <a:ext cx="427355" cy="287020"/>
            <a:chOff x="4298558" y="3678548"/>
            <a:chExt cx="427355" cy="287020"/>
          </a:xfrm>
        </p:grpSpPr>
        <p:sp>
          <p:nvSpPr>
            <p:cNvPr id="32" name="object 32"/>
            <p:cNvSpPr/>
            <p:nvPr/>
          </p:nvSpPr>
          <p:spPr>
            <a:xfrm>
              <a:off x="4304273" y="3684263"/>
              <a:ext cx="415925" cy="275590"/>
            </a:xfrm>
            <a:custGeom>
              <a:avLst/>
              <a:gdLst/>
              <a:ahLst/>
              <a:cxnLst/>
              <a:rect l="l" t="t" r="r" b="b"/>
              <a:pathLst>
                <a:path w="415925" h="275589">
                  <a:moveTo>
                    <a:pt x="415661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415661" y="275107"/>
                  </a:lnTo>
                  <a:lnTo>
                    <a:pt x="41566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04273" y="3684263"/>
              <a:ext cx="415925" cy="275590"/>
            </a:xfrm>
            <a:custGeom>
              <a:avLst/>
              <a:gdLst/>
              <a:ahLst/>
              <a:cxnLst/>
              <a:rect l="l" t="t" r="r" b="b"/>
              <a:pathLst>
                <a:path w="415925" h="275589">
                  <a:moveTo>
                    <a:pt x="0" y="275107"/>
                  </a:moveTo>
                  <a:lnTo>
                    <a:pt x="415661" y="275107"/>
                  </a:lnTo>
                  <a:lnTo>
                    <a:pt x="415661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09781" y="3682259"/>
            <a:ext cx="4051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30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714265" y="3678548"/>
            <a:ext cx="1527175" cy="287020"/>
            <a:chOff x="4714265" y="3678548"/>
            <a:chExt cx="1527175" cy="287020"/>
          </a:xfrm>
        </p:grpSpPr>
        <p:sp>
          <p:nvSpPr>
            <p:cNvPr id="36" name="object 36"/>
            <p:cNvSpPr/>
            <p:nvPr/>
          </p:nvSpPr>
          <p:spPr>
            <a:xfrm>
              <a:off x="4719980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205815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205815" y="275107"/>
                  </a:lnTo>
                  <a:lnTo>
                    <a:pt x="20581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19980" y="3684263"/>
              <a:ext cx="827405" cy="275590"/>
            </a:xfrm>
            <a:custGeom>
              <a:avLst/>
              <a:gdLst/>
              <a:ahLst/>
              <a:cxnLst/>
              <a:rect l="l" t="t" r="r" b="b"/>
              <a:pathLst>
                <a:path w="827404" h="275589">
                  <a:moveTo>
                    <a:pt x="0" y="275107"/>
                  </a:moveTo>
                  <a:lnTo>
                    <a:pt x="205815" y="275107"/>
                  </a:lnTo>
                  <a:lnTo>
                    <a:pt x="205815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  <a:path w="827404" h="275589">
                  <a:moveTo>
                    <a:pt x="205861" y="275107"/>
                  </a:moveTo>
                  <a:lnTo>
                    <a:pt x="617858" y="275107"/>
                  </a:lnTo>
                  <a:lnTo>
                    <a:pt x="617858" y="0"/>
                  </a:lnTo>
                  <a:lnTo>
                    <a:pt x="205861" y="0"/>
                  </a:lnTo>
                  <a:lnTo>
                    <a:pt x="205861" y="275107"/>
                  </a:lnTo>
                  <a:close/>
                </a:path>
                <a:path w="827404" h="275589">
                  <a:moveTo>
                    <a:pt x="617736" y="275107"/>
                  </a:moveTo>
                  <a:lnTo>
                    <a:pt x="827230" y="275107"/>
                  </a:lnTo>
                  <a:lnTo>
                    <a:pt x="827230" y="0"/>
                  </a:lnTo>
                  <a:lnTo>
                    <a:pt x="617736" y="0"/>
                  </a:lnTo>
                  <a:lnTo>
                    <a:pt x="617736" y="275107"/>
                  </a:lnTo>
                  <a:close/>
                </a:path>
              </a:pathLst>
            </a:custGeom>
            <a:ln w="110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3322" y="3684263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411997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411997" y="275107"/>
                  </a:lnTo>
                  <a:lnTo>
                    <a:pt x="41199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23322" y="3684263"/>
              <a:ext cx="412115" cy="275590"/>
            </a:xfrm>
            <a:custGeom>
              <a:avLst/>
              <a:gdLst/>
              <a:ahLst/>
              <a:cxnLst/>
              <a:rect l="l" t="t" r="r" b="b"/>
              <a:pathLst>
                <a:path w="412114" h="275589">
                  <a:moveTo>
                    <a:pt x="0" y="275107"/>
                  </a:moveTo>
                  <a:lnTo>
                    <a:pt x="411997" y="275107"/>
                  </a:lnTo>
                  <a:lnTo>
                    <a:pt x="411997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828828" y="3682259"/>
            <a:ext cx="40132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40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29482" y="3678548"/>
            <a:ext cx="217804" cy="287020"/>
            <a:chOff x="6229482" y="3678548"/>
            <a:chExt cx="217804" cy="287020"/>
          </a:xfrm>
        </p:grpSpPr>
        <p:sp>
          <p:nvSpPr>
            <p:cNvPr id="42" name="object 42"/>
            <p:cNvSpPr/>
            <p:nvPr/>
          </p:nvSpPr>
          <p:spPr>
            <a:xfrm>
              <a:off x="6235197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205815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205815" y="275107"/>
                  </a:lnTo>
                  <a:lnTo>
                    <a:pt x="20581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35197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0" y="275107"/>
                  </a:moveTo>
                  <a:lnTo>
                    <a:pt x="205815" y="275107"/>
                  </a:lnTo>
                  <a:lnTo>
                    <a:pt x="205815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/>
          <p:nvPr/>
        </p:nvSpPr>
        <p:spPr>
          <a:xfrm>
            <a:off x="7684041" y="3684263"/>
            <a:ext cx="136525" cy="275590"/>
          </a:xfrm>
          <a:custGeom>
            <a:avLst/>
            <a:gdLst/>
            <a:ahLst/>
            <a:cxnLst/>
            <a:rect l="l" t="t" r="r" b="b"/>
            <a:pathLst>
              <a:path w="136525" h="275589">
                <a:moveTo>
                  <a:pt x="0" y="275107"/>
                </a:moveTo>
                <a:lnTo>
                  <a:pt x="136349" y="275107"/>
                </a:lnTo>
                <a:lnTo>
                  <a:pt x="136349" y="0"/>
                </a:lnTo>
                <a:lnTo>
                  <a:pt x="0" y="0"/>
                </a:lnTo>
                <a:lnTo>
                  <a:pt x="0" y="275107"/>
                </a:lnTo>
                <a:close/>
              </a:path>
            </a:pathLst>
          </a:custGeom>
          <a:ln w="11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5895082" y="3407154"/>
            <a:ext cx="5397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dirty="0">
                <a:latin typeface="Arial MT"/>
                <a:cs typeface="Arial MT"/>
              </a:rPr>
              <a:t>Bloc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50" dirty="0">
                <a:latin typeface="Arial MT"/>
                <a:cs typeface="Arial MT"/>
              </a:rPr>
              <a:t>1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435343" y="3678548"/>
            <a:ext cx="427355" cy="287020"/>
            <a:chOff x="6435343" y="3678548"/>
            <a:chExt cx="427355" cy="287020"/>
          </a:xfrm>
        </p:grpSpPr>
        <p:sp>
          <p:nvSpPr>
            <p:cNvPr id="47" name="object 47"/>
            <p:cNvSpPr/>
            <p:nvPr/>
          </p:nvSpPr>
          <p:spPr>
            <a:xfrm>
              <a:off x="6441058" y="3684263"/>
              <a:ext cx="415925" cy="275590"/>
            </a:xfrm>
            <a:custGeom>
              <a:avLst/>
              <a:gdLst/>
              <a:ahLst/>
              <a:cxnLst/>
              <a:rect l="l" t="t" r="r" b="b"/>
              <a:pathLst>
                <a:path w="415925" h="275589">
                  <a:moveTo>
                    <a:pt x="415661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415661" y="275107"/>
                  </a:lnTo>
                  <a:lnTo>
                    <a:pt x="41566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41058" y="3684263"/>
              <a:ext cx="415925" cy="275590"/>
            </a:xfrm>
            <a:custGeom>
              <a:avLst/>
              <a:gdLst/>
              <a:ahLst/>
              <a:cxnLst/>
              <a:rect l="l" t="t" r="r" b="b"/>
              <a:pathLst>
                <a:path w="415925" h="275589">
                  <a:moveTo>
                    <a:pt x="0" y="275107"/>
                  </a:moveTo>
                  <a:lnTo>
                    <a:pt x="415661" y="275107"/>
                  </a:lnTo>
                  <a:lnTo>
                    <a:pt x="415661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46566" y="3682259"/>
            <a:ext cx="40513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60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851050" y="3678548"/>
            <a:ext cx="217804" cy="287020"/>
            <a:chOff x="6851050" y="3678548"/>
            <a:chExt cx="217804" cy="287020"/>
          </a:xfrm>
        </p:grpSpPr>
        <p:sp>
          <p:nvSpPr>
            <p:cNvPr id="51" name="object 51"/>
            <p:cNvSpPr/>
            <p:nvPr/>
          </p:nvSpPr>
          <p:spPr>
            <a:xfrm>
              <a:off x="6856765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205815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205815" y="275107"/>
                  </a:lnTo>
                  <a:lnTo>
                    <a:pt x="20581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56765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0" y="275107"/>
                  </a:moveTo>
                  <a:lnTo>
                    <a:pt x="205815" y="275107"/>
                  </a:lnTo>
                  <a:lnTo>
                    <a:pt x="205815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062527" y="3684263"/>
            <a:ext cx="415925" cy="275590"/>
          </a:xfrm>
          <a:prstGeom prst="rect">
            <a:avLst/>
          </a:prstGeom>
          <a:solidFill>
            <a:srgbClr val="C0C0C0"/>
          </a:solidFill>
          <a:ln w="11062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0"/>
              </a:spcBef>
            </a:pPr>
            <a:r>
              <a:rPr sz="1450" spc="-25" dirty="0">
                <a:latin typeface="Arial MT"/>
                <a:cs typeface="Arial MT"/>
              </a:rPr>
              <a:t>70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472671" y="3678754"/>
            <a:ext cx="217170" cy="286385"/>
            <a:chOff x="7472671" y="3678754"/>
            <a:chExt cx="217170" cy="286385"/>
          </a:xfrm>
        </p:grpSpPr>
        <p:sp>
          <p:nvSpPr>
            <p:cNvPr id="55" name="object 55"/>
            <p:cNvSpPr/>
            <p:nvPr/>
          </p:nvSpPr>
          <p:spPr>
            <a:xfrm>
              <a:off x="7478181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205815" y="0"/>
                  </a:moveTo>
                  <a:lnTo>
                    <a:pt x="0" y="0"/>
                  </a:lnTo>
                  <a:lnTo>
                    <a:pt x="0" y="275107"/>
                  </a:lnTo>
                  <a:lnTo>
                    <a:pt x="205815" y="275107"/>
                  </a:lnTo>
                  <a:lnTo>
                    <a:pt x="20581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478181" y="3684263"/>
              <a:ext cx="206375" cy="275590"/>
            </a:xfrm>
            <a:custGeom>
              <a:avLst/>
              <a:gdLst/>
              <a:ahLst/>
              <a:cxnLst/>
              <a:rect l="l" t="t" r="r" b="b"/>
              <a:pathLst>
                <a:path w="206375" h="275589">
                  <a:moveTo>
                    <a:pt x="0" y="275107"/>
                  </a:moveTo>
                  <a:lnTo>
                    <a:pt x="205815" y="275107"/>
                  </a:lnTo>
                  <a:lnTo>
                    <a:pt x="205815" y="0"/>
                  </a:lnTo>
                  <a:lnTo>
                    <a:pt x="0" y="0"/>
                  </a:lnTo>
                  <a:lnTo>
                    <a:pt x="0" y="275107"/>
                  </a:lnTo>
                  <a:close/>
                </a:path>
              </a:pathLst>
            </a:custGeom>
            <a:ln w="110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3583529" y="3772182"/>
            <a:ext cx="99695" cy="99695"/>
          </a:xfrm>
          <a:custGeom>
            <a:avLst/>
            <a:gdLst/>
            <a:ahLst/>
            <a:cxnLst/>
            <a:rect l="l" t="t" r="r" b="b"/>
            <a:pathLst>
              <a:path w="99695" h="99695">
                <a:moveTo>
                  <a:pt x="0" y="0"/>
                </a:moveTo>
                <a:lnTo>
                  <a:pt x="0" y="99272"/>
                </a:lnTo>
                <a:lnTo>
                  <a:pt x="99328" y="516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4920336" y="2717192"/>
            <a:ext cx="1797050" cy="1478915"/>
            <a:chOff x="4920336" y="2717192"/>
            <a:chExt cx="1797050" cy="1478915"/>
          </a:xfrm>
        </p:grpSpPr>
        <p:sp>
          <p:nvSpPr>
            <p:cNvPr id="59" name="object 59"/>
            <p:cNvSpPr/>
            <p:nvPr/>
          </p:nvSpPr>
          <p:spPr>
            <a:xfrm>
              <a:off x="4925841" y="2722697"/>
              <a:ext cx="1713864" cy="789305"/>
            </a:xfrm>
            <a:custGeom>
              <a:avLst/>
              <a:gdLst/>
              <a:ahLst/>
              <a:cxnLst/>
              <a:rect l="l" t="t" r="r" b="b"/>
              <a:pathLst>
                <a:path w="1713865" h="789304">
                  <a:moveTo>
                    <a:pt x="0" y="0"/>
                  </a:moveTo>
                  <a:lnTo>
                    <a:pt x="1713720" y="789038"/>
                  </a:lnTo>
                </a:path>
              </a:pathLst>
            </a:custGeom>
            <a:ln w="11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606452" y="3460454"/>
              <a:ext cx="111125" cy="88265"/>
            </a:xfrm>
            <a:custGeom>
              <a:avLst/>
              <a:gdLst/>
              <a:ahLst/>
              <a:cxnLst/>
              <a:rect l="l" t="t" r="r" b="b"/>
              <a:pathLst>
                <a:path w="111125" h="88264">
                  <a:moveTo>
                    <a:pt x="40467" y="0"/>
                  </a:moveTo>
                  <a:lnTo>
                    <a:pt x="0" y="87917"/>
                  </a:lnTo>
                  <a:lnTo>
                    <a:pt x="110671" y="87917"/>
                  </a:lnTo>
                  <a:lnTo>
                    <a:pt x="404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791200" y="3428999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0"/>
                  </a:moveTo>
                  <a:lnTo>
                    <a:pt x="457200" y="762000"/>
                  </a:lnTo>
                </a:path>
                <a:path w="457200" h="762000">
                  <a:moveTo>
                    <a:pt x="457200" y="0"/>
                  </a:moveTo>
                  <a:lnTo>
                    <a:pt x="76200" y="762000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2" name="object 62"/>
          <p:cNvGrpSpPr/>
          <p:nvPr/>
        </p:nvGrpSpPr>
        <p:grpSpPr>
          <a:xfrm>
            <a:off x="609600" y="4114800"/>
            <a:ext cx="8077200" cy="533400"/>
            <a:chOff x="609600" y="4114800"/>
            <a:chExt cx="8077200" cy="533400"/>
          </a:xfrm>
        </p:grpSpPr>
        <p:sp>
          <p:nvSpPr>
            <p:cNvPr id="63" name="object 63"/>
            <p:cNvSpPr/>
            <p:nvPr/>
          </p:nvSpPr>
          <p:spPr>
            <a:xfrm>
              <a:off x="4667250" y="41148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09600" y="4343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1616343" y="5929578"/>
          <a:ext cx="1951988" cy="267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65"/>
                <a:gridCol w="200660"/>
                <a:gridCol w="401955"/>
                <a:gridCol w="204469"/>
                <a:gridCol w="401955"/>
                <a:gridCol w="200660"/>
                <a:gridCol w="68580"/>
                <a:gridCol w="67944"/>
              </a:tblGrid>
              <a:tr h="135890"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2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66" name="object 66"/>
          <p:cNvSpPr txBox="1"/>
          <p:nvPr/>
        </p:nvSpPr>
        <p:spPr>
          <a:xfrm>
            <a:off x="1695098" y="5664515"/>
            <a:ext cx="5270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769693" y="4856185"/>
            <a:ext cx="147320" cy="279400"/>
            <a:chOff x="3769693" y="4856185"/>
            <a:chExt cx="147320" cy="279400"/>
          </a:xfrm>
        </p:grpSpPr>
        <p:sp>
          <p:nvSpPr>
            <p:cNvPr id="68" name="object 68"/>
            <p:cNvSpPr/>
            <p:nvPr/>
          </p:nvSpPr>
          <p:spPr>
            <a:xfrm>
              <a:off x="3775091" y="4861582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136291" y="0"/>
                  </a:moveTo>
                  <a:lnTo>
                    <a:pt x="0" y="0"/>
                  </a:lnTo>
                  <a:lnTo>
                    <a:pt x="0" y="268526"/>
                  </a:lnTo>
                  <a:lnTo>
                    <a:pt x="136291" y="268526"/>
                  </a:lnTo>
                  <a:lnTo>
                    <a:pt x="136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75091" y="4861582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0" y="268526"/>
                  </a:moveTo>
                  <a:lnTo>
                    <a:pt x="136291" y="268526"/>
                  </a:lnTo>
                  <a:lnTo>
                    <a:pt x="136291" y="0"/>
                  </a:lnTo>
                  <a:lnTo>
                    <a:pt x="0" y="0"/>
                  </a:lnTo>
                  <a:lnTo>
                    <a:pt x="0" y="268526"/>
                  </a:lnTo>
                  <a:close/>
                </a:path>
              </a:pathLst>
            </a:custGeom>
            <a:ln w="10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911374" y="4861582"/>
            <a:ext cx="402590" cy="268605"/>
          </a:xfrm>
          <a:prstGeom prst="rect">
            <a:avLst/>
          </a:prstGeom>
          <a:solidFill>
            <a:srgbClr val="FFFF00"/>
          </a:solidFill>
          <a:ln w="10776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Arial MT"/>
                <a:cs typeface="Arial MT"/>
              </a:rPr>
              <a:t>25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4308068" y="4856185"/>
            <a:ext cx="549275" cy="279400"/>
            <a:chOff x="4308068" y="4856185"/>
            <a:chExt cx="549275" cy="279400"/>
          </a:xfrm>
        </p:grpSpPr>
        <p:sp>
          <p:nvSpPr>
            <p:cNvPr id="72" name="object 72"/>
            <p:cNvSpPr/>
            <p:nvPr/>
          </p:nvSpPr>
          <p:spPr>
            <a:xfrm>
              <a:off x="4313465" y="4861582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136291" y="0"/>
                  </a:moveTo>
                  <a:lnTo>
                    <a:pt x="0" y="0"/>
                  </a:lnTo>
                  <a:lnTo>
                    <a:pt x="0" y="268526"/>
                  </a:lnTo>
                  <a:lnTo>
                    <a:pt x="136291" y="268526"/>
                  </a:lnTo>
                  <a:lnTo>
                    <a:pt x="136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313465" y="4861582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0" y="268526"/>
                  </a:moveTo>
                  <a:lnTo>
                    <a:pt x="136291" y="268526"/>
                  </a:lnTo>
                  <a:lnTo>
                    <a:pt x="136291" y="0"/>
                  </a:lnTo>
                  <a:lnTo>
                    <a:pt x="0" y="0"/>
                  </a:lnTo>
                  <a:lnTo>
                    <a:pt x="0" y="268526"/>
                  </a:lnTo>
                  <a:close/>
                </a:path>
              </a:pathLst>
            </a:custGeom>
            <a:ln w="10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449742" y="4861582"/>
              <a:ext cx="402590" cy="268605"/>
            </a:xfrm>
            <a:custGeom>
              <a:avLst/>
              <a:gdLst/>
              <a:ahLst/>
              <a:cxnLst/>
              <a:rect l="l" t="t" r="r" b="b"/>
              <a:pathLst>
                <a:path w="402589" h="268604">
                  <a:moveTo>
                    <a:pt x="402068" y="0"/>
                  </a:moveTo>
                  <a:lnTo>
                    <a:pt x="0" y="0"/>
                  </a:lnTo>
                  <a:lnTo>
                    <a:pt x="0" y="268526"/>
                  </a:lnTo>
                  <a:lnTo>
                    <a:pt x="402068" y="268526"/>
                  </a:lnTo>
                  <a:lnTo>
                    <a:pt x="40206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449742" y="4861582"/>
              <a:ext cx="402590" cy="268605"/>
            </a:xfrm>
            <a:custGeom>
              <a:avLst/>
              <a:gdLst/>
              <a:ahLst/>
              <a:cxnLst/>
              <a:rect l="l" t="t" r="r" b="b"/>
              <a:pathLst>
                <a:path w="402589" h="268604">
                  <a:moveTo>
                    <a:pt x="0" y="268526"/>
                  </a:moveTo>
                  <a:lnTo>
                    <a:pt x="402068" y="268526"/>
                  </a:lnTo>
                  <a:lnTo>
                    <a:pt x="402068" y="0"/>
                  </a:lnTo>
                  <a:lnTo>
                    <a:pt x="0" y="0"/>
                  </a:lnTo>
                  <a:lnTo>
                    <a:pt x="0" y="268526"/>
                  </a:lnTo>
                  <a:close/>
                </a:path>
              </a:pathLst>
            </a:custGeom>
            <a:ln w="107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455130" y="4859309"/>
            <a:ext cx="39179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10"/>
              </a:spcBef>
            </a:pPr>
            <a:r>
              <a:rPr sz="1400" spc="-25" dirty="0">
                <a:latin typeface="Arial MT"/>
                <a:cs typeface="Arial MT"/>
              </a:rPr>
              <a:t>60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848554" y="4591141"/>
            <a:ext cx="5270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899270" y="4992272"/>
            <a:ext cx="949960" cy="810260"/>
            <a:chOff x="2899270" y="4992272"/>
            <a:chExt cx="949960" cy="810260"/>
          </a:xfrm>
        </p:grpSpPr>
        <p:sp>
          <p:nvSpPr>
            <p:cNvPr id="79" name="object 79"/>
            <p:cNvSpPr/>
            <p:nvPr/>
          </p:nvSpPr>
          <p:spPr>
            <a:xfrm>
              <a:off x="2964192" y="4997643"/>
              <a:ext cx="879475" cy="748030"/>
            </a:xfrm>
            <a:custGeom>
              <a:avLst/>
              <a:gdLst/>
              <a:ahLst/>
              <a:cxnLst/>
              <a:rect l="l" t="t" r="r" b="b"/>
              <a:pathLst>
                <a:path w="879475" h="748029">
                  <a:moveTo>
                    <a:pt x="879111" y="0"/>
                  </a:moveTo>
                  <a:lnTo>
                    <a:pt x="0" y="747714"/>
                  </a:lnTo>
                </a:path>
              </a:pathLst>
            </a:custGeom>
            <a:ln w="107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899270" y="5702500"/>
              <a:ext cx="108585" cy="100330"/>
            </a:xfrm>
            <a:custGeom>
              <a:avLst/>
              <a:gdLst/>
              <a:ahLst/>
              <a:cxnLst/>
              <a:rect l="l" t="t" r="r" b="b"/>
              <a:pathLst>
                <a:path w="108585" h="100329">
                  <a:moveTo>
                    <a:pt x="43411" y="0"/>
                  </a:moveTo>
                  <a:lnTo>
                    <a:pt x="0" y="99990"/>
                  </a:lnTo>
                  <a:lnTo>
                    <a:pt x="107959" y="71424"/>
                  </a:lnTo>
                  <a:lnTo>
                    <a:pt x="434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1" name="object 81"/>
          <p:cNvGrpSpPr/>
          <p:nvPr/>
        </p:nvGrpSpPr>
        <p:grpSpPr>
          <a:xfrm>
            <a:off x="4376281" y="4856185"/>
            <a:ext cx="1155700" cy="946785"/>
            <a:chOff x="4376281" y="4856185"/>
            <a:chExt cx="1155700" cy="946785"/>
          </a:xfrm>
        </p:grpSpPr>
        <p:sp>
          <p:nvSpPr>
            <p:cNvPr id="82" name="object 82"/>
            <p:cNvSpPr/>
            <p:nvPr/>
          </p:nvSpPr>
          <p:spPr>
            <a:xfrm>
              <a:off x="4851840" y="4861582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136291" y="0"/>
                  </a:moveTo>
                  <a:lnTo>
                    <a:pt x="0" y="0"/>
                  </a:lnTo>
                  <a:lnTo>
                    <a:pt x="0" y="268526"/>
                  </a:lnTo>
                  <a:lnTo>
                    <a:pt x="136291" y="268526"/>
                  </a:lnTo>
                  <a:lnTo>
                    <a:pt x="13629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381678" y="4861582"/>
              <a:ext cx="1144905" cy="855344"/>
            </a:xfrm>
            <a:custGeom>
              <a:avLst/>
              <a:gdLst/>
              <a:ahLst/>
              <a:cxnLst/>
              <a:rect l="l" t="t" r="r" b="b"/>
              <a:pathLst>
                <a:path w="1144904" h="855345">
                  <a:moveTo>
                    <a:pt x="470161" y="268526"/>
                  </a:moveTo>
                  <a:lnTo>
                    <a:pt x="606453" y="268526"/>
                  </a:lnTo>
                  <a:lnTo>
                    <a:pt x="606453" y="0"/>
                  </a:lnTo>
                  <a:lnTo>
                    <a:pt x="470161" y="0"/>
                  </a:lnTo>
                  <a:lnTo>
                    <a:pt x="470161" y="268526"/>
                  </a:lnTo>
                  <a:close/>
                </a:path>
                <a:path w="1144904" h="855345">
                  <a:moveTo>
                    <a:pt x="606438" y="268526"/>
                  </a:moveTo>
                  <a:lnTo>
                    <a:pt x="1008506" y="268526"/>
                  </a:lnTo>
                  <a:lnTo>
                    <a:pt x="1008506" y="0"/>
                  </a:lnTo>
                  <a:lnTo>
                    <a:pt x="606438" y="0"/>
                  </a:lnTo>
                  <a:lnTo>
                    <a:pt x="606438" y="268526"/>
                  </a:lnTo>
                  <a:close/>
                </a:path>
                <a:path w="1144904" h="855345">
                  <a:moveTo>
                    <a:pt x="1008536" y="268526"/>
                  </a:moveTo>
                  <a:lnTo>
                    <a:pt x="1144828" y="268526"/>
                  </a:lnTo>
                  <a:lnTo>
                    <a:pt x="1144828" y="0"/>
                  </a:lnTo>
                  <a:lnTo>
                    <a:pt x="1008536" y="0"/>
                  </a:lnTo>
                  <a:lnTo>
                    <a:pt x="1008536" y="268526"/>
                  </a:lnTo>
                  <a:close/>
                </a:path>
                <a:path w="1144904" h="855345">
                  <a:moveTo>
                    <a:pt x="0" y="136060"/>
                  </a:moveTo>
                  <a:lnTo>
                    <a:pt x="118325" y="855208"/>
                  </a:lnTo>
                </a:path>
              </a:pathLst>
            </a:custGeom>
            <a:ln w="107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449742" y="5698935"/>
              <a:ext cx="97790" cy="104139"/>
            </a:xfrm>
            <a:custGeom>
              <a:avLst/>
              <a:gdLst/>
              <a:ahLst/>
              <a:cxnLst/>
              <a:rect l="l" t="t" r="r" b="b"/>
              <a:pathLst>
                <a:path w="97789" h="104139">
                  <a:moveTo>
                    <a:pt x="97233" y="0"/>
                  </a:moveTo>
                  <a:lnTo>
                    <a:pt x="0" y="14275"/>
                  </a:lnTo>
                  <a:lnTo>
                    <a:pt x="64622" y="103555"/>
                  </a:lnTo>
                  <a:lnTo>
                    <a:pt x="972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5" name="object 85"/>
          <p:cNvGraphicFramePr>
            <a:graphicFrameLocks noGrp="1"/>
          </p:cNvGraphicFramePr>
          <p:nvPr/>
        </p:nvGraphicFramePr>
        <p:xfrm>
          <a:off x="3701650" y="5929578"/>
          <a:ext cx="1957067" cy="267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765"/>
                <a:gridCol w="201294"/>
                <a:gridCol w="406400"/>
                <a:gridCol w="201294"/>
                <a:gridCol w="402590"/>
                <a:gridCol w="205105"/>
                <a:gridCol w="65405"/>
                <a:gridCol w="69214"/>
              </a:tblGrid>
              <a:tr h="135890">
                <a:tc rowSpan="2"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30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32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6" name="object 86"/>
          <p:cNvSpPr/>
          <p:nvPr/>
        </p:nvSpPr>
        <p:spPr>
          <a:xfrm>
            <a:off x="5698969" y="6020656"/>
            <a:ext cx="97155" cy="97155"/>
          </a:xfrm>
          <a:custGeom>
            <a:avLst/>
            <a:gdLst/>
            <a:ahLst/>
            <a:cxnLst/>
            <a:rect l="l" t="t" r="r" b="b"/>
            <a:pathLst>
              <a:path w="97154" h="97154">
                <a:moveTo>
                  <a:pt x="0" y="0"/>
                </a:moveTo>
                <a:lnTo>
                  <a:pt x="0" y="96768"/>
                </a:lnTo>
                <a:lnTo>
                  <a:pt x="96934" y="50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3780341" y="5664515"/>
            <a:ext cx="5270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88" name="object 88"/>
          <p:cNvGraphicFramePr>
            <a:graphicFrameLocks noGrp="1"/>
          </p:cNvGraphicFramePr>
          <p:nvPr/>
        </p:nvGraphicFramePr>
        <p:xfrm>
          <a:off x="5790527" y="5929578"/>
          <a:ext cx="1949448" cy="267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955"/>
                <a:gridCol w="200660"/>
                <a:gridCol w="405765"/>
                <a:gridCol w="200659"/>
                <a:gridCol w="405765"/>
                <a:gridCol w="201294"/>
                <a:gridCol w="133350"/>
              </a:tblGrid>
              <a:tr h="267970"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60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70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9" name="object 89"/>
          <p:cNvSpPr txBox="1"/>
          <p:nvPr/>
        </p:nvSpPr>
        <p:spPr>
          <a:xfrm>
            <a:off x="5865628" y="5664515"/>
            <a:ext cx="5270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610092" y="6020656"/>
            <a:ext cx="97155" cy="97155"/>
          </a:xfrm>
          <a:custGeom>
            <a:avLst/>
            <a:gdLst/>
            <a:ahLst/>
            <a:cxnLst/>
            <a:rect l="l" t="t" r="r" b="b"/>
            <a:pathLst>
              <a:path w="97154" h="97154">
                <a:moveTo>
                  <a:pt x="0" y="0"/>
                </a:moveTo>
                <a:lnTo>
                  <a:pt x="0" y="96768"/>
                </a:lnTo>
                <a:lnTo>
                  <a:pt x="96934" y="503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1" name="object 91"/>
          <p:cNvGrpSpPr/>
          <p:nvPr/>
        </p:nvGrpSpPr>
        <p:grpSpPr>
          <a:xfrm>
            <a:off x="4914686" y="4992275"/>
            <a:ext cx="1753870" cy="810260"/>
            <a:chOff x="4914686" y="4992275"/>
            <a:chExt cx="1753870" cy="810260"/>
          </a:xfrm>
        </p:grpSpPr>
        <p:sp>
          <p:nvSpPr>
            <p:cNvPr id="92" name="object 92"/>
            <p:cNvSpPr/>
            <p:nvPr/>
          </p:nvSpPr>
          <p:spPr>
            <a:xfrm>
              <a:off x="4920053" y="4997643"/>
              <a:ext cx="1672589" cy="769620"/>
            </a:xfrm>
            <a:custGeom>
              <a:avLst/>
              <a:gdLst/>
              <a:ahLst/>
              <a:cxnLst/>
              <a:rect l="l" t="t" r="r" b="b"/>
              <a:pathLst>
                <a:path w="1672590" h="769620">
                  <a:moveTo>
                    <a:pt x="0" y="0"/>
                  </a:moveTo>
                  <a:lnTo>
                    <a:pt x="1672417" y="769136"/>
                  </a:lnTo>
                </a:path>
              </a:pathLst>
            </a:custGeom>
            <a:ln w="10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560159" y="5716791"/>
              <a:ext cx="108585" cy="85725"/>
            </a:xfrm>
            <a:custGeom>
              <a:avLst/>
              <a:gdLst/>
              <a:ahLst/>
              <a:cxnLst/>
              <a:rect l="l" t="t" r="r" b="b"/>
              <a:pathLst>
                <a:path w="108584" h="85725">
                  <a:moveTo>
                    <a:pt x="39491" y="0"/>
                  </a:moveTo>
                  <a:lnTo>
                    <a:pt x="0" y="85699"/>
                  </a:lnTo>
                  <a:lnTo>
                    <a:pt x="108004" y="85699"/>
                  </a:lnTo>
                  <a:lnTo>
                    <a:pt x="39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/>
          <p:nvPr/>
        </p:nvSpPr>
        <p:spPr>
          <a:xfrm>
            <a:off x="4648200" y="2814447"/>
            <a:ext cx="1908175" cy="1001394"/>
          </a:xfrm>
          <a:custGeom>
            <a:avLst/>
            <a:gdLst/>
            <a:ahLst/>
            <a:cxnLst/>
            <a:rect l="l" t="t" r="r" b="b"/>
            <a:pathLst>
              <a:path w="1908175" h="1001395">
                <a:moveTo>
                  <a:pt x="35069" y="15986"/>
                </a:moveTo>
                <a:lnTo>
                  <a:pt x="22352" y="16609"/>
                </a:lnTo>
                <a:lnTo>
                  <a:pt x="29039" y="27190"/>
                </a:lnTo>
                <a:lnTo>
                  <a:pt x="1902078" y="1001140"/>
                </a:lnTo>
                <a:lnTo>
                  <a:pt x="1907921" y="989964"/>
                </a:lnTo>
                <a:lnTo>
                  <a:pt x="35069" y="15986"/>
                </a:lnTo>
                <a:close/>
              </a:path>
              <a:path w="1908175" h="1001395">
                <a:moveTo>
                  <a:pt x="102488" y="0"/>
                </a:moveTo>
                <a:lnTo>
                  <a:pt x="98933" y="126"/>
                </a:lnTo>
                <a:lnTo>
                  <a:pt x="0" y="4952"/>
                </a:lnTo>
                <a:lnTo>
                  <a:pt x="52914" y="88900"/>
                </a:lnTo>
                <a:lnTo>
                  <a:pt x="54737" y="91693"/>
                </a:lnTo>
                <a:lnTo>
                  <a:pt x="58674" y="92582"/>
                </a:lnTo>
                <a:lnTo>
                  <a:pt x="61595" y="90677"/>
                </a:lnTo>
                <a:lnTo>
                  <a:pt x="64642" y="88900"/>
                </a:lnTo>
                <a:lnTo>
                  <a:pt x="65532" y="84962"/>
                </a:lnTo>
                <a:lnTo>
                  <a:pt x="63626" y="81914"/>
                </a:lnTo>
                <a:lnTo>
                  <a:pt x="29039" y="27190"/>
                </a:lnTo>
                <a:lnTo>
                  <a:pt x="8254" y="16382"/>
                </a:lnTo>
                <a:lnTo>
                  <a:pt x="14097" y="5079"/>
                </a:lnTo>
                <a:lnTo>
                  <a:pt x="105582" y="5079"/>
                </a:lnTo>
                <a:lnTo>
                  <a:pt x="105410" y="2666"/>
                </a:lnTo>
                <a:lnTo>
                  <a:pt x="102488" y="0"/>
                </a:lnTo>
                <a:close/>
              </a:path>
              <a:path w="1908175" h="1001395">
                <a:moveTo>
                  <a:pt x="14097" y="5079"/>
                </a:moveTo>
                <a:lnTo>
                  <a:pt x="8254" y="16382"/>
                </a:lnTo>
                <a:lnTo>
                  <a:pt x="29039" y="27190"/>
                </a:lnTo>
                <a:lnTo>
                  <a:pt x="22690" y="17144"/>
                </a:lnTo>
                <a:lnTo>
                  <a:pt x="11429" y="17144"/>
                </a:lnTo>
                <a:lnTo>
                  <a:pt x="16510" y="7365"/>
                </a:lnTo>
                <a:lnTo>
                  <a:pt x="18492" y="7365"/>
                </a:lnTo>
                <a:lnTo>
                  <a:pt x="14097" y="5079"/>
                </a:lnTo>
                <a:close/>
              </a:path>
              <a:path w="1908175" h="1001395">
                <a:moveTo>
                  <a:pt x="16510" y="7365"/>
                </a:moveTo>
                <a:lnTo>
                  <a:pt x="11429" y="17144"/>
                </a:lnTo>
                <a:lnTo>
                  <a:pt x="22352" y="16609"/>
                </a:lnTo>
                <a:lnTo>
                  <a:pt x="16510" y="7365"/>
                </a:lnTo>
                <a:close/>
              </a:path>
              <a:path w="1908175" h="1001395">
                <a:moveTo>
                  <a:pt x="22352" y="16609"/>
                </a:moveTo>
                <a:lnTo>
                  <a:pt x="11429" y="17144"/>
                </a:lnTo>
                <a:lnTo>
                  <a:pt x="22690" y="17144"/>
                </a:lnTo>
                <a:lnTo>
                  <a:pt x="22352" y="16609"/>
                </a:lnTo>
                <a:close/>
              </a:path>
              <a:path w="1908175" h="1001395">
                <a:moveTo>
                  <a:pt x="18492" y="7365"/>
                </a:moveTo>
                <a:lnTo>
                  <a:pt x="16510" y="7365"/>
                </a:lnTo>
                <a:lnTo>
                  <a:pt x="22352" y="16609"/>
                </a:lnTo>
                <a:lnTo>
                  <a:pt x="35069" y="15986"/>
                </a:lnTo>
                <a:lnTo>
                  <a:pt x="18492" y="7365"/>
                </a:lnTo>
                <a:close/>
              </a:path>
              <a:path w="1908175" h="1001395">
                <a:moveTo>
                  <a:pt x="105582" y="5079"/>
                </a:moveTo>
                <a:lnTo>
                  <a:pt x="14097" y="5079"/>
                </a:lnTo>
                <a:lnTo>
                  <a:pt x="35069" y="15986"/>
                </a:lnTo>
                <a:lnTo>
                  <a:pt x="99567" y="12826"/>
                </a:lnTo>
                <a:lnTo>
                  <a:pt x="103124" y="12700"/>
                </a:lnTo>
                <a:lnTo>
                  <a:pt x="105790" y="9651"/>
                </a:lnTo>
                <a:lnTo>
                  <a:pt x="105663" y="6223"/>
                </a:lnTo>
                <a:lnTo>
                  <a:pt x="105582" y="507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322" y="92455"/>
            <a:ext cx="698245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8780" marR="5080" indent="-2926715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Première</a:t>
            </a:r>
            <a:r>
              <a:rPr sz="28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clé</a:t>
            </a:r>
            <a:r>
              <a:rPr sz="28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28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bloc</a:t>
            </a:r>
            <a:r>
              <a:rPr sz="28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28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pas</a:t>
            </a:r>
            <a:r>
              <a:rPr sz="28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la</a:t>
            </a:r>
            <a:r>
              <a:rPr sz="28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première feuille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022730"/>
            <a:ext cx="67189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Remonter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tant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l'enfant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l’«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aîné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»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67250" y="4038600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96258" y="3787363"/>
          <a:ext cx="1270632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/>
                <a:gridCol w="130810"/>
                <a:gridCol w="260984"/>
                <a:gridCol w="133350"/>
                <a:gridCol w="261620"/>
                <a:gridCol w="131444"/>
                <a:gridCol w="89534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744287" y="3090767"/>
            <a:ext cx="3738879" cy="645160"/>
            <a:chOff x="2744287" y="3090767"/>
            <a:chExt cx="3738879" cy="645160"/>
          </a:xfrm>
        </p:grpSpPr>
        <p:sp>
          <p:nvSpPr>
            <p:cNvPr id="7" name="object 7"/>
            <p:cNvSpPr/>
            <p:nvPr/>
          </p:nvSpPr>
          <p:spPr>
            <a:xfrm>
              <a:off x="6303517" y="3276600"/>
              <a:ext cx="179705" cy="459740"/>
            </a:xfrm>
            <a:custGeom>
              <a:avLst/>
              <a:gdLst/>
              <a:ahLst/>
              <a:cxnLst/>
              <a:rect l="l" t="t" r="r" b="b"/>
              <a:pathLst>
                <a:path w="179704" h="459739">
                  <a:moveTo>
                    <a:pt x="29021" y="23841"/>
                  </a:moveTo>
                  <a:lnTo>
                    <a:pt x="26448" y="36160"/>
                  </a:lnTo>
                  <a:lnTo>
                    <a:pt x="167512" y="459231"/>
                  </a:lnTo>
                  <a:lnTo>
                    <a:pt x="179451" y="455168"/>
                  </a:lnTo>
                  <a:lnTo>
                    <a:pt x="38548" y="32218"/>
                  </a:lnTo>
                  <a:lnTo>
                    <a:pt x="29021" y="23841"/>
                  </a:lnTo>
                  <a:close/>
                </a:path>
                <a:path w="179704" h="459739">
                  <a:moveTo>
                    <a:pt x="21082" y="0"/>
                  </a:moveTo>
                  <a:lnTo>
                    <a:pt x="762" y="97027"/>
                  </a:lnTo>
                  <a:lnTo>
                    <a:pt x="0" y="100457"/>
                  </a:lnTo>
                  <a:lnTo>
                    <a:pt x="2286" y="103759"/>
                  </a:lnTo>
                  <a:lnTo>
                    <a:pt x="5715" y="104521"/>
                  </a:lnTo>
                  <a:lnTo>
                    <a:pt x="9144" y="105155"/>
                  </a:lnTo>
                  <a:lnTo>
                    <a:pt x="12446" y="102997"/>
                  </a:lnTo>
                  <a:lnTo>
                    <a:pt x="13208" y="99567"/>
                  </a:lnTo>
                  <a:lnTo>
                    <a:pt x="26448" y="36160"/>
                  </a:lnTo>
                  <a:lnTo>
                    <a:pt x="19050" y="13970"/>
                  </a:lnTo>
                  <a:lnTo>
                    <a:pt x="31115" y="9905"/>
                  </a:lnTo>
                  <a:lnTo>
                    <a:pt x="32353" y="9905"/>
                  </a:lnTo>
                  <a:lnTo>
                    <a:pt x="21082" y="0"/>
                  </a:lnTo>
                  <a:close/>
                </a:path>
                <a:path w="179704" h="459739">
                  <a:moveTo>
                    <a:pt x="32353" y="9905"/>
                  </a:moveTo>
                  <a:lnTo>
                    <a:pt x="31115" y="9905"/>
                  </a:lnTo>
                  <a:lnTo>
                    <a:pt x="38548" y="32218"/>
                  </a:lnTo>
                  <a:lnTo>
                    <a:pt x="87122" y="74929"/>
                  </a:lnTo>
                  <a:lnTo>
                    <a:pt x="89789" y="77215"/>
                  </a:lnTo>
                  <a:lnTo>
                    <a:pt x="93726" y="76962"/>
                  </a:lnTo>
                  <a:lnTo>
                    <a:pt x="98425" y="71754"/>
                  </a:lnTo>
                  <a:lnTo>
                    <a:pt x="98171" y="67690"/>
                  </a:lnTo>
                  <a:lnTo>
                    <a:pt x="95504" y="65404"/>
                  </a:lnTo>
                  <a:lnTo>
                    <a:pt x="32353" y="9905"/>
                  </a:lnTo>
                  <a:close/>
                </a:path>
                <a:path w="179704" h="459739">
                  <a:moveTo>
                    <a:pt x="31115" y="9905"/>
                  </a:moveTo>
                  <a:lnTo>
                    <a:pt x="19050" y="13970"/>
                  </a:lnTo>
                  <a:lnTo>
                    <a:pt x="26448" y="36160"/>
                  </a:lnTo>
                  <a:lnTo>
                    <a:pt x="29021" y="23841"/>
                  </a:lnTo>
                  <a:lnTo>
                    <a:pt x="20828" y="16637"/>
                  </a:lnTo>
                  <a:lnTo>
                    <a:pt x="31242" y="13208"/>
                  </a:lnTo>
                  <a:lnTo>
                    <a:pt x="32215" y="13208"/>
                  </a:lnTo>
                  <a:lnTo>
                    <a:pt x="31115" y="9905"/>
                  </a:lnTo>
                  <a:close/>
                </a:path>
                <a:path w="179704" h="459739">
                  <a:moveTo>
                    <a:pt x="32215" y="13208"/>
                  </a:moveTo>
                  <a:lnTo>
                    <a:pt x="31242" y="13208"/>
                  </a:lnTo>
                  <a:lnTo>
                    <a:pt x="29021" y="23841"/>
                  </a:lnTo>
                  <a:lnTo>
                    <a:pt x="38548" y="32218"/>
                  </a:lnTo>
                  <a:lnTo>
                    <a:pt x="32215" y="13208"/>
                  </a:lnTo>
                  <a:close/>
                </a:path>
                <a:path w="179704" h="459739">
                  <a:moveTo>
                    <a:pt x="31242" y="13208"/>
                  </a:moveTo>
                  <a:lnTo>
                    <a:pt x="20828" y="16637"/>
                  </a:lnTo>
                  <a:lnTo>
                    <a:pt x="29021" y="23841"/>
                  </a:lnTo>
                  <a:lnTo>
                    <a:pt x="31242" y="132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47780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540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540" y="174092"/>
                  </a:lnTo>
                  <a:lnTo>
                    <a:pt x="885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7780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0" y="174092"/>
                  </a:moveTo>
                  <a:lnTo>
                    <a:pt x="88540" y="174092"/>
                  </a:lnTo>
                  <a:lnTo>
                    <a:pt x="88540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36369" y="3094259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260282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282" y="174092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6369" y="3094259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0" y="174092"/>
                  </a:moveTo>
                  <a:lnTo>
                    <a:pt x="260282" y="174092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6613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96613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0" y="174092"/>
                  </a:moveTo>
                  <a:lnTo>
                    <a:pt x="88308" y="174092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84911" y="3094259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5" h="174625">
                  <a:moveTo>
                    <a:pt x="260514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514" y="174092"/>
                  </a:lnTo>
                  <a:lnTo>
                    <a:pt x="2605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84911" y="3094259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5" h="174625">
                  <a:moveTo>
                    <a:pt x="0" y="174092"/>
                  </a:moveTo>
                  <a:lnTo>
                    <a:pt x="260514" y="174092"/>
                  </a:lnTo>
                  <a:lnTo>
                    <a:pt x="260514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45445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45445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0" y="174092"/>
                  </a:moveTo>
                  <a:lnTo>
                    <a:pt x="88308" y="174092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33744" y="3094259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260282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282" y="174092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33744" y="3094259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0" y="174092"/>
                  </a:moveTo>
                  <a:lnTo>
                    <a:pt x="260282" y="174092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2817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8706" y="3088329"/>
            <a:ext cx="85344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0680" algn="l"/>
                <a:tab pos="709930" algn="l"/>
              </a:tabLst>
            </a:pPr>
            <a:r>
              <a:rPr sz="900" spc="-25" dirty="0">
                <a:latin typeface="Arial MT"/>
                <a:cs typeface="Arial MT"/>
              </a:rPr>
              <a:t>25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40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45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27282" y="3090767"/>
            <a:ext cx="2359025" cy="619125"/>
            <a:chOff x="1527282" y="3090767"/>
            <a:chExt cx="2359025" cy="619125"/>
          </a:xfrm>
        </p:grpSpPr>
        <p:sp>
          <p:nvSpPr>
            <p:cNvPr id="23" name="object 23"/>
            <p:cNvSpPr/>
            <p:nvPr/>
          </p:nvSpPr>
          <p:spPr>
            <a:xfrm>
              <a:off x="3793987" y="3094259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78410" y="3094259"/>
              <a:ext cx="2304415" cy="588010"/>
            </a:xfrm>
            <a:custGeom>
              <a:avLst/>
              <a:gdLst/>
              <a:ahLst/>
              <a:cxnLst/>
              <a:rect l="l" t="t" r="r" b="b"/>
              <a:pathLst>
                <a:path w="2304415" h="588010">
                  <a:moveTo>
                    <a:pt x="2215577" y="174092"/>
                  </a:moveTo>
                  <a:lnTo>
                    <a:pt x="2303885" y="174092"/>
                  </a:lnTo>
                  <a:lnTo>
                    <a:pt x="2303885" y="0"/>
                  </a:lnTo>
                  <a:lnTo>
                    <a:pt x="2215577" y="0"/>
                  </a:lnTo>
                  <a:lnTo>
                    <a:pt x="2215577" y="174092"/>
                  </a:lnTo>
                  <a:close/>
                </a:path>
                <a:path w="2304415" h="588010">
                  <a:moveTo>
                    <a:pt x="1213567" y="88319"/>
                  </a:moveTo>
                  <a:lnTo>
                    <a:pt x="0" y="587412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27282" y="3651534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20">
                  <a:moveTo>
                    <a:pt x="46485" y="0"/>
                  </a:moveTo>
                  <a:lnTo>
                    <a:pt x="0" y="53311"/>
                  </a:lnTo>
                  <a:lnTo>
                    <a:pt x="69718" y="57950"/>
                  </a:lnTo>
                  <a:lnTo>
                    <a:pt x="464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15381" y="3182579"/>
              <a:ext cx="525780" cy="483234"/>
            </a:xfrm>
            <a:custGeom>
              <a:avLst/>
              <a:gdLst/>
              <a:ahLst/>
              <a:cxnLst/>
              <a:rect l="l" t="t" r="r" b="b"/>
              <a:pathLst>
                <a:path w="525780" h="483235">
                  <a:moveTo>
                    <a:pt x="525429" y="0"/>
                  </a:moveTo>
                  <a:lnTo>
                    <a:pt x="0" y="482861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73509" y="3637628"/>
              <a:ext cx="67945" cy="67310"/>
            </a:xfrm>
            <a:custGeom>
              <a:avLst/>
              <a:gdLst/>
              <a:ahLst/>
              <a:cxnLst/>
              <a:rect l="l" t="t" r="r" b="b"/>
              <a:pathLst>
                <a:path w="67944" h="67310">
                  <a:moveTo>
                    <a:pt x="25588" y="0"/>
                  </a:moveTo>
                  <a:lnTo>
                    <a:pt x="0" y="67217"/>
                  </a:lnTo>
                  <a:lnTo>
                    <a:pt x="67362" y="46358"/>
                  </a:lnTo>
                  <a:lnTo>
                    <a:pt x="255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790909" y="2914237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5624" y="3787363"/>
            <a:ext cx="177756" cy="181062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093437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2046920" y="3787363"/>
          <a:ext cx="1179830" cy="17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/>
                <a:gridCol w="130175"/>
                <a:gridCol w="262890"/>
                <a:gridCol w="130810"/>
                <a:gridCol w="260350"/>
                <a:gridCol w="132715"/>
              </a:tblGrid>
              <a:tr h="17399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3444376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399895" y="3787363"/>
          <a:ext cx="1263014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0175"/>
                <a:gridCol w="262890"/>
                <a:gridCol w="130175"/>
                <a:gridCol w="262890"/>
                <a:gridCol w="130175"/>
                <a:gridCol w="86359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/>
          <p:nvPr/>
        </p:nvSpPr>
        <p:spPr>
          <a:xfrm>
            <a:off x="1987695" y="384648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0" y="0"/>
                </a:moveTo>
                <a:lnTo>
                  <a:pt x="0" y="62587"/>
                </a:lnTo>
                <a:lnTo>
                  <a:pt x="62710" y="32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3486151" y="3179086"/>
            <a:ext cx="482600" cy="525780"/>
            <a:chOff x="3486151" y="3179086"/>
            <a:chExt cx="482600" cy="525780"/>
          </a:xfrm>
        </p:grpSpPr>
        <p:sp>
          <p:nvSpPr>
            <p:cNvPr id="36" name="object 36"/>
            <p:cNvSpPr/>
            <p:nvPr/>
          </p:nvSpPr>
          <p:spPr>
            <a:xfrm>
              <a:off x="3489643" y="3182579"/>
              <a:ext cx="441959" cy="480695"/>
            </a:xfrm>
            <a:custGeom>
              <a:avLst/>
              <a:gdLst/>
              <a:ahLst/>
              <a:cxnLst/>
              <a:rect l="l" t="t" r="r" b="b"/>
              <a:pathLst>
                <a:path w="441960" h="480695">
                  <a:moveTo>
                    <a:pt x="0" y="0"/>
                  </a:moveTo>
                  <a:lnTo>
                    <a:pt x="441492" y="480547"/>
                  </a:lnTo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03222" y="3635304"/>
              <a:ext cx="65405" cy="69850"/>
            </a:xfrm>
            <a:custGeom>
              <a:avLst/>
              <a:gdLst/>
              <a:ahLst/>
              <a:cxnLst/>
              <a:rect l="l" t="t" r="r" b="b"/>
              <a:pathLst>
                <a:path w="65404" h="69850">
                  <a:moveTo>
                    <a:pt x="46523" y="0"/>
                  </a:moveTo>
                  <a:lnTo>
                    <a:pt x="0" y="44043"/>
                  </a:lnTo>
                  <a:lnTo>
                    <a:pt x="65133" y="69541"/>
                  </a:lnTo>
                  <a:lnTo>
                    <a:pt x="465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21910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475297" y="3787363"/>
          <a:ext cx="1262380" cy="173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0175"/>
                <a:gridCol w="262890"/>
                <a:gridCol w="130175"/>
                <a:gridCol w="262890"/>
                <a:gridCol w="130175"/>
                <a:gridCol w="85725"/>
              </a:tblGrid>
              <a:tr h="173990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4691512" y="3846486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0" y="0"/>
                </a:moveTo>
                <a:lnTo>
                  <a:pt x="0" y="62587"/>
                </a:lnTo>
                <a:lnTo>
                  <a:pt x="62710" y="324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6101476" y="3787355"/>
            <a:ext cx="269875" cy="181610"/>
            <a:chOff x="6101476" y="3787355"/>
            <a:chExt cx="269875" cy="181610"/>
          </a:xfrm>
        </p:grpSpPr>
        <p:sp>
          <p:nvSpPr>
            <p:cNvPr id="42" name="object 42"/>
            <p:cNvSpPr/>
            <p:nvPr/>
          </p:nvSpPr>
          <p:spPr>
            <a:xfrm>
              <a:off x="6104968" y="3790848"/>
              <a:ext cx="262890" cy="174625"/>
            </a:xfrm>
            <a:custGeom>
              <a:avLst/>
              <a:gdLst/>
              <a:ahLst/>
              <a:cxnLst/>
              <a:rect l="l" t="t" r="r" b="b"/>
              <a:pathLst>
                <a:path w="262889" h="174625">
                  <a:moveTo>
                    <a:pt x="26259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2598" y="174092"/>
                  </a:lnTo>
                  <a:lnTo>
                    <a:pt x="26259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04968" y="3790848"/>
              <a:ext cx="262890" cy="174625"/>
            </a:xfrm>
            <a:custGeom>
              <a:avLst/>
              <a:gdLst/>
              <a:ahLst/>
              <a:cxnLst/>
              <a:rect l="l" t="t" r="r" b="b"/>
              <a:pathLst>
                <a:path w="262889" h="174625">
                  <a:moveTo>
                    <a:pt x="0" y="174092"/>
                  </a:moveTo>
                  <a:lnTo>
                    <a:pt x="262598" y="174092"/>
                  </a:lnTo>
                  <a:lnTo>
                    <a:pt x="26259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157305" y="3784684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364045" y="3787355"/>
            <a:ext cx="1009015" cy="181610"/>
            <a:chOff x="6364045" y="3787355"/>
            <a:chExt cx="1009015" cy="181610"/>
          </a:xfrm>
        </p:grpSpPr>
        <p:sp>
          <p:nvSpPr>
            <p:cNvPr id="46" name="object 46"/>
            <p:cNvSpPr/>
            <p:nvPr/>
          </p:nvSpPr>
          <p:spPr>
            <a:xfrm>
              <a:off x="6367538" y="3790848"/>
              <a:ext cx="130175" cy="174625"/>
            </a:xfrm>
            <a:custGeom>
              <a:avLst/>
              <a:gdLst/>
              <a:ahLst/>
              <a:cxnLst/>
              <a:rect l="l" t="t" r="r" b="b"/>
              <a:pathLst>
                <a:path w="130175" h="174625">
                  <a:moveTo>
                    <a:pt x="130141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130141" y="174092"/>
                  </a:lnTo>
                  <a:lnTo>
                    <a:pt x="13014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67538" y="3790848"/>
              <a:ext cx="130175" cy="174625"/>
            </a:xfrm>
            <a:custGeom>
              <a:avLst/>
              <a:gdLst/>
              <a:ahLst/>
              <a:cxnLst/>
              <a:rect l="l" t="t" r="r" b="b"/>
              <a:pathLst>
                <a:path w="130175" h="174625">
                  <a:moveTo>
                    <a:pt x="0" y="174092"/>
                  </a:moveTo>
                  <a:lnTo>
                    <a:pt x="130141" y="174092"/>
                  </a:lnTo>
                  <a:lnTo>
                    <a:pt x="130141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81249" y="3790848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81249" y="3790848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0" y="174092"/>
                  </a:moveTo>
                  <a:lnTo>
                    <a:pt x="88308" y="174092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148000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494215" y="3787355"/>
            <a:ext cx="267970" cy="181610"/>
            <a:chOff x="6494215" y="3787355"/>
            <a:chExt cx="267970" cy="181610"/>
          </a:xfrm>
        </p:grpSpPr>
        <p:sp>
          <p:nvSpPr>
            <p:cNvPr id="52" name="object 52"/>
            <p:cNvSpPr/>
            <p:nvPr/>
          </p:nvSpPr>
          <p:spPr>
            <a:xfrm>
              <a:off x="6497708" y="3790848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4" h="174625">
                  <a:moveTo>
                    <a:pt x="260514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514" y="174092"/>
                  </a:lnTo>
                  <a:lnTo>
                    <a:pt x="26051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497708" y="3790848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4" h="174625">
                  <a:moveTo>
                    <a:pt x="0" y="174092"/>
                  </a:moveTo>
                  <a:lnTo>
                    <a:pt x="260514" y="174092"/>
                  </a:lnTo>
                  <a:lnTo>
                    <a:pt x="260514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550238" y="3784684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53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754652" y="3787355"/>
            <a:ext cx="400050" cy="181610"/>
            <a:chOff x="6754652" y="3787355"/>
            <a:chExt cx="400050" cy="181610"/>
          </a:xfrm>
        </p:grpSpPr>
        <p:sp>
          <p:nvSpPr>
            <p:cNvPr id="56" name="object 56"/>
            <p:cNvSpPr/>
            <p:nvPr/>
          </p:nvSpPr>
          <p:spPr>
            <a:xfrm>
              <a:off x="6758145" y="3790848"/>
              <a:ext cx="132715" cy="174625"/>
            </a:xfrm>
            <a:custGeom>
              <a:avLst/>
              <a:gdLst/>
              <a:ahLst/>
              <a:cxnLst/>
              <a:rect l="l" t="t" r="r" b="b"/>
              <a:pathLst>
                <a:path w="132715" h="174625">
                  <a:moveTo>
                    <a:pt x="132467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132467" y="174092"/>
                  </a:lnTo>
                  <a:lnTo>
                    <a:pt x="13246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58145" y="3790848"/>
              <a:ext cx="132715" cy="174625"/>
            </a:xfrm>
            <a:custGeom>
              <a:avLst/>
              <a:gdLst/>
              <a:ahLst/>
              <a:cxnLst/>
              <a:rect l="l" t="t" r="r" b="b"/>
              <a:pathLst>
                <a:path w="132715" h="174625">
                  <a:moveTo>
                    <a:pt x="0" y="174092"/>
                  </a:moveTo>
                  <a:lnTo>
                    <a:pt x="132467" y="174092"/>
                  </a:lnTo>
                  <a:lnTo>
                    <a:pt x="132467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90641" y="3790848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4" h="174625">
                  <a:moveTo>
                    <a:pt x="260514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514" y="174092"/>
                  </a:lnTo>
                  <a:lnTo>
                    <a:pt x="26051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90641" y="3790848"/>
              <a:ext cx="260985" cy="174625"/>
            </a:xfrm>
            <a:custGeom>
              <a:avLst/>
              <a:gdLst/>
              <a:ahLst/>
              <a:cxnLst/>
              <a:rect l="l" t="t" r="r" b="b"/>
              <a:pathLst>
                <a:path w="260984" h="174625">
                  <a:moveTo>
                    <a:pt x="0" y="174092"/>
                  </a:moveTo>
                  <a:lnTo>
                    <a:pt x="260514" y="174092"/>
                  </a:lnTo>
                  <a:lnTo>
                    <a:pt x="260514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942978" y="3784684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55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429081" y="3090767"/>
            <a:ext cx="855980" cy="878205"/>
            <a:chOff x="6429081" y="3090767"/>
            <a:chExt cx="855980" cy="878205"/>
          </a:xfrm>
        </p:grpSpPr>
        <p:sp>
          <p:nvSpPr>
            <p:cNvPr id="62" name="object 62"/>
            <p:cNvSpPr/>
            <p:nvPr/>
          </p:nvSpPr>
          <p:spPr>
            <a:xfrm>
              <a:off x="7151175" y="3790848"/>
              <a:ext cx="130175" cy="174625"/>
            </a:xfrm>
            <a:custGeom>
              <a:avLst/>
              <a:gdLst/>
              <a:ahLst/>
              <a:cxnLst/>
              <a:rect l="l" t="t" r="r" b="b"/>
              <a:pathLst>
                <a:path w="130175" h="174625">
                  <a:moveTo>
                    <a:pt x="130141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130141" y="174092"/>
                  </a:lnTo>
                  <a:lnTo>
                    <a:pt x="13014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151175" y="3790848"/>
              <a:ext cx="130175" cy="174625"/>
            </a:xfrm>
            <a:custGeom>
              <a:avLst/>
              <a:gdLst/>
              <a:ahLst/>
              <a:cxnLst/>
              <a:rect l="l" t="t" r="r" b="b"/>
              <a:pathLst>
                <a:path w="130175" h="174625">
                  <a:moveTo>
                    <a:pt x="0" y="174092"/>
                  </a:moveTo>
                  <a:lnTo>
                    <a:pt x="130141" y="174092"/>
                  </a:lnTo>
                  <a:lnTo>
                    <a:pt x="130141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432574" y="3094259"/>
              <a:ext cx="86360" cy="174625"/>
            </a:xfrm>
            <a:custGeom>
              <a:avLst/>
              <a:gdLst/>
              <a:ahLst/>
              <a:cxnLst/>
              <a:rect l="l" t="t" r="r" b="b"/>
              <a:pathLst>
                <a:path w="86359" h="174625">
                  <a:moveTo>
                    <a:pt x="86216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6216" y="174092"/>
                  </a:lnTo>
                  <a:lnTo>
                    <a:pt x="862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432574" y="3094259"/>
              <a:ext cx="86360" cy="174625"/>
            </a:xfrm>
            <a:custGeom>
              <a:avLst/>
              <a:gdLst/>
              <a:ahLst/>
              <a:cxnLst/>
              <a:rect l="l" t="t" r="r" b="b"/>
              <a:pathLst>
                <a:path w="86359" h="174625">
                  <a:moveTo>
                    <a:pt x="0" y="174092"/>
                  </a:moveTo>
                  <a:lnTo>
                    <a:pt x="86216" y="174092"/>
                  </a:lnTo>
                  <a:lnTo>
                    <a:pt x="86216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518837" y="3094259"/>
              <a:ext cx="262890" cy="174625"/>
            </a:xfrm>
            <a:custGeom>
              <a:avLst/>
              <a:gdLst/>
              <a:ahLst/>
              <a:cxnLst/>
              <a:rect l="l" t="t" r="r" b="b"/>
              <a:pathLst>
                <a:path w="262890" h="174625">
                  <a:moveTo>
                    <a:pt x="26259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2598" y="174092"/>
                  </a:lnTo>
                  <a:lnTo>
                    <a:pt x="26259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18837" y="3094259"/>
              <a:ext cx="262890" cy="174625"/>
            </a:xfrm>
            <a:custGeom>
              <a:avLst/>
              <a:gdLst/>
              <a:ahLst/>
              <a:cxnLst/>
              <a:rect l="l" t="t" r="r" b="b"/>
              <a:pathLst>
                <a:path w="262890" h="174625">
                  <a:moveTo>
                    <a:pt x="0" y="174092"/>
                  </a:moveTo>
                  <a:lnTo>
                    <a:pt x="262598" y="174092"/>
                  </a:lnTo>
                  <a:lnTo>
                    <a:pt x="26259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6573501" y="3088329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60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777914" y="3090767"/>
            <a:ext cx="790575" cy="181610"/>
            <a:chOff x="6777914" y="3090767"/>
            <a:chExt cx="790575" cy="181610"/>
          </a:xfrm>
        </p:grpSpPr>
        <p:sp>
          <p:nvSpPr>
            <p:cNvPr id="70" name="object 70"/>
            <p:cNvSpPr/>
            <p:nvPr/>
          </p:nvSpPr>
          <p:spPr>
            <a:xfrm>
              <a:off x="6781407" y="3094259"/>
              <a:ext cx="86360" cy="174625"/>
            </a:xfrm>
            <a:custGeom>
              <a:avLst/>
              <a:gdLst/>
              <a:ahLst/>
              <a:cxnLst/>
              <a:rect l="l" t="t" r="r" b="b"/>
              <a:pathLst>
                <a:path w="86359" h="174625">
                  <a:moveTo>
                    <a:pt x="85984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5984" y="174092"/>
                  </a:lnTo>
                  <a:lnTo>
                    <a:pt x="8598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781407" y="3094259"/>
              <a:ext cx="783590" cy="174625"/>
            </a:xfrm>
            <a:custGeom>
              <a:avLst/>
              <a:gdLst/>
              <a:ahLst/>
              <a:cxnLst/>
              <a:rect l="l" t="t" r="r" b="b"/>
              <a:pathLst>
                <a:path w="783590" h="174625">
                  <a:moveTo>
                    <a:pt x="0" y="174092"/>
                  </a:moveTo>
                  <a:lnTo>
                    <a:pt x="85984" y="174092"/>
                  </a:lnTo>
                  <a:lnTo>
                    <a:pt x="85984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  <a:path w="783590" h="174625">
                  <a:moveTo>
                    <a:pt x="85972" y="174092"/>
                  </a:moveTo>
                  <a:lnTo>
                    <a:pt x="348803" y="174092"/>
                  </a:lnTo>
                  <a:lnTo>
                    <a:pt x="348803" y="0"/>
                  </a:lnTo>
                  <a:lnTo>
                    <a:pt x="85972" y="0"/>
                  </a:lnTo>
                  <a:lnTo>
                    <a:pt x="85972" y="174092"/>
                  </a:lnTo>
                  <a:close/>
                </a:path>
                <a:path w="783590" h="174625">
                  <a:moveTo>
                    <a:pt x="348832" y="174092"/>
                  </a:moveTo>
                  <a:lnTo>
                    <a:pt x="434817" y="174092"/>
                  </a:lnTo>
                  <a:lnTo>
                    <a:pt x="434817" y="0"/>
                  </a:lnTo>
                  <a:lnTo>
                    <a:pt x="348832" y="0"/>
                  </a:lnTo>
                  <a:lnTo>
                    <a:pt x="348832" y="174092"/>
                  </a:lnTo>
                  <a:close/>
                </a:path>
                <a:path w="783590" h="174625">
                  <a:moveTo>
                    <a:pt x="434805" y="174092"/>
                  </a:moveTo>
                  <a:lnTo>
                    <a:pt x="697403" y="174092"/>
                  </a:lnTo>
                  <a:lnTo>
                    <a:pt x="697403" y="0"/>
                  </a:lnTo>
                  <a:lnTo>
                    <a:pt x="434805" y="0"/>
                  </a:lnTo>
                  <a:lnTo>
                    <a:pt x="434805" y="174092"/>
                  </a:lnTo>
                  <a:close/>
                </a:path>
                <a:path w="783590" h="174625">
                  <a:moveTo>
                    <a:pt x="697374" y="174092"/>
                  </a:moveTo>
                  <a:lnTo>
                    <a:pt x="783359" y="174092"/>
                  </a:lnTo>
                  <a:lnTo>
                    <a:pt x="783359" y="0"/>
                  </a:lnTo>
                  <a:lnTo>
                    <a:pt x="697374" y="0"/>
                  </a:lnTo>
                  <a:lnTo>
                    <a:pt x="697374" y="174092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475703" y="2914237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706629" y="2394437"/>
            <a:ext cx="1141730" cy="181610"/>
            <a:chOff x="4706629" y="2394437"/>
            <a:chExt cx="1141730" cy="181610"/>
          </a:xfrm>
        </p:grpSpPr>
        <p:sp>
          <p:nvSpPr>
            <p:cNvPr id="74" name="object 74"/>
            <p:cNvSpPr/>
            <p:nvPr/>
          </p:nvSpPr>
          <p:spPr>
            <a:xfrm>
              <a:off x="4710122" y="2397930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10122" y="2397930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0" y="174092"/>
                  </a:moveTo>
                  <a:lnTo>
                    <a:pt x="88308" y="174092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798420" y="2397930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260282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260282" y="174092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98420" y="2397930"/>
              <a:ext cx="260350" cy="174625"/>
            </a:xfrm>
            <a:custGeom>
              <a:avLst/>
              <a:gdLst/>
              <a:ahLst/>
              <a:cxnLst/>
              <a:rect l="l" t="t" r="r" b="b"/>
              <a:pathLst>
                <a:path w="260350" h="174625">
                  <a:moveTo>
                    <a:pt x="0" y="174092"/>
                  </a:moveTo>
                  <a:lnTo>
                    <a:pt x="260282" y="174092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058664" y="2397930"/>
              <a:ext cx="88900" cy="174625"/>
            </a:xfrm>
            <a:custGeom>
              <a:avLst/>
              <a:gdLst/>
              <a:ahLst/>
              <a:cxnLst/>
              <a:rect l="l" t="t" r="r" b="b"/>
              <a:pathLst>
                <a:path w="88900" h="174625">
                  <a:moveTo>
                    <a:pt x="88308" y="0"/>
                  </a:moveTo>
                  <a:lnTo>
                    <a:pt x="0" y="0"/>
                  </a:lnTo>
                  <a:lnTo>
                    <a:pt x="0" y="174092"/>
                  </a:lnTo>
                  <a:lnTo>
                    <a:pt x="88308" y="174092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058664" y="2397930"/>
              <a:ext cx="786130" cy="174625"/>
            </a:xfrm>
            <a:custGeom>
              <a:avLst/>
              <a:gdLst/>
              <a:ahLst/>
              <a:cxnLst/>
              <a:rect l="l" t="t" r="r" b="b"/>
              <a:pathLst>
                <a:path w="786129" h="174625">
                  <a:moveTo>
                    <a:pt x="0" y="174092"/>
                  </a:moveTo>
                  <a:lnTo>
                    <a:pt x="88308" y="174092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4092"/>
                  </a:lnTo>
                  <a:close/>
                </a:path>
                <a:path w="786129" h="174625">
                  <a:moveTo>
                    <a:pt x="88298" y="174092"/>
                  </a:moveTo>
                  <a:lnTo>
                    <a:pt x="348813" y="174092"/>
                  </a:lnTo>
                  <a:lnTo>
                    <a:pt x="348813" y="0"/>
                  </a:lnTo>
                  <a:lnTo>
                    <a:pt x="88298" y="0"/>
                  </a:lnTo>
                  <a:lnTo>
                    <a:pt x="88298" y="174092"/>
                  </a:lnTo>
                  <a:close/>
                </a:path>
                <a:path w="786129" h="174625">
                  <a:moveTo>
                    <a:pt x="348832" y="174092"/>
                  </a:moveTo>
                  <a:lnTo>
                    <a:pt x="437141" y="174092"/>
                  </a:lnTo>
                  <a:lnTo>
                    <a:pt x="437141" y="0"/>
                  </a:lnTo>
                  <a:lnTo>
                    <a:pt x="348832" y="0"/>
                  </a:lnTo>
                  <a:lnTo>
                    <a:pt x="348832" y="174092"/>
                  </a:lnTo>
                  <a:close/>
                </a:path>
                <a:path w="786129" h="174625">
                  <a:moveTo>
                    <a:pt x="437131" y="174092"/>
                  </a:moveTo>
                  <a:lnTo>
                    <a:pt x="697413" y="174092"/>
                  </a:lnTo>
                  <a:lnTo>
                    <a:pt x="697413" y="0"/>
                  </a:lnTo>
                  <a:lnTo>
                    <a:pt x="437131" y="0"/>
                  </a:lnTo>
                  <a:lnTo>
                    <a:pt x="437131" y="174092"/>
                  </a:lnTo>
                  <a:close/>
                </a:path>
                <a:path w="786129" h="174625">
                  <a:moveTo>
                    <a:pt x="697471" y="174092"/>
                  </a:moveTo>
                  <a:lnTo>
                    <a:pt x="785779" y="174092"/>
                  </a:lnTo>
                  <a:lnTo>
                    <a:pt x="785779" y="0"/>
                  </a:lnTo>
                  <a:lnTo>
                    <a:pt x="697471" y="0"/>
                  </a:lnTo>
                  <a:lnTo>
                    <a:pt x="697471" y="174092"/>
                  </a:lnTo>
                  <a:close/>
                </a:path>
              </a:pathLst>
            </a:custGeom>
            <a:ln w="69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753154" y="2183309"/>
            <a:ext cx="350520" cy="3740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900" spc="-25" dirty="0">
                <a:latin typeface="Arial MT"/>
                <a:cs typeface="Arial MT"/>
              </a:rPr>
              <a:t>50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3315081" y="2482727"/>
            <a:ext cx="4728845" cy="1426845"/>
            <a:chOff x="3315081" y="2482727"/>
            <a:chExt cx="4728845" cy="1426845"/>
          </a:xfrm>
        </p:grpSpPr>
        <p:sp>
          <p:nvSpPr>
            <p:cNvPr id="82" name="object 82"/>
            <p:cNvSpPr/>
            <p:nvPr/>
          </p:nvSpPr>
          <p:spPr>
            <a:xfrm>
              <a:off x="7346382" y="3878938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>
                  <a:moveTo>
                    <a:pt x="0" y="0"/>
                  </a:moveTo>
                  <a:lnTo>
                    <a:pt x="76667" y="0"/>
                  </a:lnTo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416071" y="384648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0"/>
                  </a:moveTo>
                  <a:lnTo>
                    <a:pt x="0" y="62587"/>
                  </a:lnTo>
                  <a:lnTo>
                    <a:pt x="62710" y="32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823278" y="3182579"/>
              <a:ext cx="1172210" cy="499109"/>
            </a:xfrm>
            <a:custGeom>
              <a:avLst/>
              <a:gdLst/>
              <a:ahLst/>
              <a:cxnLst/>
              <a:rect l="l" t="t" r="r" b="b"/>
              <a:pathLst>
                <a:path w="1172209" h="499110">
                  <a:moveTo>
                    <a:pt x="0" y="0"/>
                  </a:moveTo>
                  <a:lnTo>
                    <a:pt x="1171725" y="499092"/>
                  </a:lnTo>
                </a:path>
              </a:pathLst>
            </a:custGeom>
            <a:ln w="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974068" y="3649220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20">
                  <a:moveTo>
                    <a:pt x="25491" y="0"/>
                  </a:moveTo>
                  <a:lnTo>
                    <a:pt x="0" y="57950"/>
                  </a:lnTo>
                  <a:lnTo>
                    <a:pt x="69689" y="55625"/>
                  </a:lnTo>
                  <a:lnTo>
                    <a:pt x="25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474446" y="3182579"/>
              <a:ext cx="158750" cy="469265"/>
            </a:xfrm>
            <a:custGeom>
              <a:avLst/>
              <a:gdLst/>
              <a:ahLst/>
              <a:cxnLst/>
              <a:rect l="l" t="t" r="r" b="b"/>
              <a:pathLst>
                <a:path w="158750" h="469264">
                  <a:moveTo>
                    <a:pt x="0" y="0"/>
                  </a:moveTo>
                  <a:lnTo>
                    <a:pt x="158278" y="468955"/>
                  </a:lnTo>
                </a:path>
              </a:pathLst>
            </a:custGeom>
            <a:ln w="69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00157" y="3635304"/>
              <a:ext cx="60960" cy="69850"/>
            </a:xfrm>
            <a:custGeom>
              <a:avLst/>
              <a:gdLst/>
              <a:ahLst/>
              <a:cxnLst/>
              <a:rect l="l" t="t" r="r" b="b"/>
              <a:pathLst>
                <a:path w="60959" h="69850">
                  <a:moveTo>
                    <a:pt x="60384" y="0"/>
                  </a:moveTo>
                  <a:lnTo>
                    <a:pt x="0" y="18545"/>
                  </a:lnTo>
                  <a:lnTo>
                    <a:pt x="48753" y="69541"/>
                  </a:lnTo>
                  <a:lnTo>
                    <a:pt x="60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366161" y="2486220"/>
              <a:ext cx="1388110" cy="501650"/>
            </a:xfrm>
            <a:custGeom>
              <a:avLst/>
              <a:gdLst/>
              <a:ahLst/>
              <a:cxnLst/>
              <a:rect l="l" t="t" r="r" b="b"/>
              <a:pathLst>
                <a:path w="1388110" h="501650">
                  <a:moveTo>
                    <a:pt x="1388061" y="0"/>
                  </a:moveTo>
                  <a:lnTo>
                    <a:pt x="0" y="501445"/>
                  </a:lnTo>
                </a:path>
              </a:pathLst>
            </a:custGeom>
            <a:ln w="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315081" y="2957257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19">
                  <a:moveTo>
                    <a:pt x="48753" y="0"/>
                  </a:moveTo>
                  <a:lnTo>
                    <a:pt x="0" y="51229"/>
                  </a:lnTo>
                  <a:lnTo>
                    <a:pt x="69689" y="58192"/>
                  </a:lnTo>
                  <a:lnTo>
                    <a:pt x="48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102861" y="2486220"/>
              <a:ext cx="1820545" cy="506095"/>
            </a:xfrm>
            <a:custGeom>
              <a:avLst/>
              <a:gdLst/>
              <a:ahLst/>
              <a:cxnLst/>
              <a:rect l="l" t="t" r="r" b="b"/>
              <a:pathLst>
                <a:path w="1820545" h="506094">
                  <a:moveTo>
                    <a:pt x="0" y="0"/>
                  </a:moveTo>
                  <a:lnTo>
                    <a:pt x="1820346" y="506094"/>
                  </a:lnTo>
                </a:path>
              </a:pathLst>
            </a:custGeom>
            <a:ln w="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906924" y="2959775"/>
              <a:ext cx="69850" cy="60325"/>
            </a:xfrm>
            <a:custGeom>
              <a:avLst/>
              <a:gdLst/>
              <a:ahLst/>
              <a:cxnLst/>
              <a:rect l="l" t="t" r="r" b="b"/>
              <a:pathLst>
                <a:path w="69850" h="60325">
                  <a:moveTo>
                    <a:pt x="18609" y="0"/>
                  </a:moveTo>
                  <a:lnTo>
                    <a:pt x="0" y="60303"/>
                  </a:lnTo>
                  <a:lnTo>
                    <a:pt x="69689" y="48711"/>
                  </a:lnTo>
                  <a:lnTo>
                    <a:pt x="18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2" name="object 92"/>
          <p:cNvGraphicFramePr>
            <a:graphicFrameLocks noGrp="1"/>
          </p:cNvGraphicFramePr>
          <p:nvPr/>
        </p:nvGraphicFramePr>
        <p:xfrm>
          <a:off x="4750737" y="3787363"/>
          <a:ext cx="1269362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2715"/>
                <a:gridCol w="260985"/>
                <a:gridCol w="130809"/>
                <a:gridCol w="263525"/>
                <a:gridCol w="131444"/>
                <a:gridCol w="89534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pSp>
        <p:nvGrpSpPr>
          <p:cNvPr id="93" name="object 93"/>
          <p:cNvGrpSpPr/>
          <p:nvPr/>
        </p:nvGrpSpPr>
        <p:grpSpPr>
          <a:xfrm>
            <a:off x="3834693" y="3179086"/>
            <a:ext cx="2270760" cy="730250"/>
            <a:chOff x="3834693" y="3179086"/>
            <a:chExt cx="2270760" cy="730250"/>
          </a:xfrm>
        </p:grpSpPr>
        <p:sp>
          <p:nvSpPr>
            <p:cNvPr id="94" name="object 94"/>
            <p:cNvSpPr/>
            <p:nvPr/>
          </p:nvSpPr>
          <p:spPr>
            <a:xfrm>
              <a:off x="6042161" y="3846486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0" y="0"/>
                  </a:moveTo>
                  <a:lnTo>
                    <a:pt x="0" y="62587"/>
                  </a:lnTo>
                  <a:lnTo>
                    <a:pt x="62807" y="324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838185" y="3182579"/>
              <a:ext cx="1518285" cy="504190"/>
            </a:xfrm>
            <a:custGeom>
              <a:avLst/>
              <a:gdLst/>
              <a:ahLst/>
              <a:cxnLst/>
              <a:rect l="l" t="t" r="r" b="b"/>
              <a:pathLst>
                <a:path w="1518285" h="504189">
                  <a:moveTo>
                    <a:pt x="0" y="0"/>
                  </a:moveTo>
                  <a:lnTo>
                    <a:pt x="1518231" y="503721"/>
                  </a:lnTo>
                </a:path>
              </a:pathLst>
            </a:custGeom>
            <a:ln w="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337807" y="3653849"/>
              <a:ext cx="69850" cy="60325"/>
            </a:xfrm>
            <a:custGeom>
              <a:avLst/>
              <a:gdLst/>
              <a:ahLst/>
              <a:cxnLst/>
              <a:rect l="l" t="t" r="r" b="b"/>
              <a:pathLst>
                <a:path w="69850" h="60325">
                  <a:moveTo>
                    <a:pt x="20935" y="0"/>
                  </a:moveTo>
                  <a:lnTo>
                    <a:pt x="0" y="60274"/>
                  </a:lnTo>
                  <a:lnTo>
                    <a:pt x="69689" y="50996"/>
                  </a:lnTo>
                  <a:lnTo>
                    <a:pt x="209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4797351" y="3610595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8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5105400" y="2644139"/>
            <a:ext cx="1224280" cy="1475740"/>
            <a:chOff x="5105400" y="2644139"/>
            <a:chExt cx="1224280" cy="1475740"/>
          </a:xfrm>
        </p:grpSpPr>
        <p:sp>
          <p:nvSpPr>
            <p:cNvPr id="99" name="object 99"/>
            <p:cNvSpPr/>
            <p:nvPr/>
          </p:nvSpPr>
          <p:spPr>
            <a:xfrm>
              <a:off x="6096000" y="3657600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228600" y="0"/>
                  </a:moveTo>
                  <a:lnTo>
                    <a:pt x="0" y="457200"/>
                  </a:lnTo>
                </a:path>
                <a:path w="228600" h="457200">
                  <a:moveTo>
                    <a:pt x="0" y="0"/>
                  </a:moveTo>
                  <a:lnTo>
                    <a:pt x="228600" y="457200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105400" y="2644139"/>
              <a:ext cx="1221105" cy="410209"/>
            </a:xfrm>
            <a:custGeom>
              <a:avLst/>
              <a:gdLst/>
              <a:ahLst/>
              <a:cxnLst/>
              <a:rect l="l" t="t" r="r" b="b"/>
              <a:pathLst>
                <a:path w="1221104" h="410210">
                  <a:moveTo>
                    <a:pt x="36201" y="27559"/>
                  </a:moveTo>
                  <a:lnTo>
                    <a:pt x="23960" y="30362"/>
                  </a:lnTo>
                  <a:lnTo>
                    <a:pt x="32395" y="39589"/>
                  </a:lnTo>
                  <a:lnTo>
                    <a:pt x="1217295" y="409956"/>
                  </a:lnTo>
                  <a:lnTo>
                    <a:pt x="1221104" y="397763"/>
                  </a:lnTo>
                  <a:lnTo>
                    <a:pt x="36201" y="27559"/>
                  </a:lnTo>
                  <a:close/>
                </a:path>
                <a:path w="1221104" h="410210">
                  <a:moveTo>
                    <a:pt x="99949" y="0"/>
                  </a:moveTo>
                  <a:lnTo>
                    <a:pt x="0" y="22860"/>
                  </a:lnTo>
                  <a:lnTo>
                    <a:pt x="66801" y="96012"/>
                  </a:lnTo>
                  <a:lnTo>
                    <a:pt x="69087" y="98679"/>
                  </a:lnTo>
                  <a:lnTo>
                    <a:pt x="73151" y="98806"/>
                  </a:lnTo>
                  <a:lnTo>
                    <a:pt x="75691" y="96393"/>
                  </a:lnTo>
                  <a:lnTo>
                    <a:pt x="78359" y="94107"/>
                  </a:lnTo>
                  <a:lnTo>
                    <a:pt x="78486" y="90043"/>
                  </a:lnTo>
                  <a:lnTo>
                    <a:pt x="76200" y="87502"/>
                  </a:lnTo>
                  <a:lnTo>
                    <a:pt x="32395" y="39589"/>
                  </a:lnTo>
                  <a:lnTo>
                    <a:pt x="10160" y="32638"/>
                  </a:lnTo>
                  <a:lnTo>
                    <a:pt x="13842" y="20574"/>
                  </a:lnTo>
                  <a:lnTo>
                    <a:pt x="66713" y="20574"/>
                  </a:lnTo>
                  <a:lnTo>
                    <a:pt x="102870" y="12319"/>
                  </a:lnTo>
                  <a:lnTo>
                    <a:pt x="104901" y="8889"/>
                  </a:lnTo>
                  <a:lnTo>
                    <a:pt x="103377" y="2032"/>
                  </a:lnTo>
                  <a:lnTo>
                    <a:pt x="99949" y="0"/>
                  </a:lnTo>
                  <a:close/>
                </a:path>
                <a:path w="1221104" h="410210">
                  <a:moveTo>
                    <a:pt x="13842" y="20574"/>
                  </a:moveTo>
                  <a:lnTo>
                    <a:pt x="10160" y="32638"/>
                  </a:lnTo>
                  <a:lnTo>
                    <a:pt x="32395" y="39589"/>
                  </a:lnTo>
                  <a:lnTo>
                    <a:pt x="26157" y="32765"/>
                  </a:lnTo>
                  <a:lnTo>
                    <a:pt x="13462" y="32765"/>
                  </a:lnTo>
                  <a:lnTo>
                    <a:pt x="16637" y="22351"/>
                  </a:lnTo>
                  <a:lnTo>
                    <a:pt x="19533" y="22351"/>
                  </a:lnTo>
                  <a:lnTo>
                    <a:pt x="13842" y="20574"/>
                  </a:lnTo>
                  <a:close/>
                </a:path>
                <a:path w="1221104" h="410210">
                  <a:moveTo>
                    <a:pt x="16637" y="22351"/>
                  </a:moveTo>
                  <a:lnTo>
                    <a:pt x="13462" y="32765"/>
                  </a:lnTo>
                  <a:lnTo>
                    <a:pt x="23960" y="30362"/>
                  </a:lnTo>
                  <a:lnTo>
                    <a:pt x="16637" y="22351"/>
                  </a:lnTo>
                  <a:close/>
                </a:path>
                <a:path w="1221104" h="410210">
                  <a:moveTo>
                    <a:pt x="23960" y="30362"/>
                  </a:moveTo>
                  <a:lnTo>
                    <a:pt x="13462" y="32765"/>
                  </a:lnTo>
                  <a:lnTo>
                    <a:pt x="26157" y="32765"/>
                  </a:lnTo>
                  <a:lnTo>
                    <a:pt x="23960" y="30362"/>
                  </a:lnTo>
                  <a:close/>
                </a:path>
                <a:path w="1221104" h="410210">
                  <a:moveTo>
                    <a:pt x="19533" y="22351"/>
                  </a:moveTo>
                  <a:lnTo>
                    <a:pt x="16637" y="22351"/>
                  </a:lnTo>
                  <a:lnTo>
                    <a:pt x="23960" y="30362"/>
                  </a:lnTo>
                  <a:lnTo>
                    <a:pt x="36201" y="27559"/>
                  </a:lnTo>
                  <a:lnTo>
                    <a:pt x="19533" y="22351"/>
                  </a:lnTo>
                  <a:close/>
                </a:path>
                <a:path w="1221104" h="410210">
                  <a:moveTo>
                    <a:pt x="66713" y="20574"/>
                  </a:moveTo>
                  <a:lnTo>
                    <a:pt x="13842" y="20574"/>
                  </a:lnTo>
                  <a:lnTo>
                    <a:pt x="36201" y="27559"/>
                  </a:lnTo>
                  <a:lnTo>
                    <a:pt x="66713" y="205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1" name="object 101"/>
          <p:cNvGraphicFramePr>
            <a:graphicFrameLocks noGrp="1"/>
          </p:cNvGraphicFramePr>
          <p:nvPr/>
        </p:nvGraphicFramePr>
        <p:xfrm>
          <a:off x="696259" y="6071880"/>
          <a:ext cx="1270632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/>
                <a:gridCol w="130810"/>
                <a:gridCol w="260984"/>
                <a:gridCol w="133350"/>
                <a:gridCol w="261620"/>
                <a:gridCol w="131444"/>
                <a:gridCol w="89534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10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02" name="object 102"/>
          <p:cNvSpPr txBox="1"/>
          <p:nvPr/>
        </p:nvSpPr>
        <p:spPr>
          <a:xfrm>
            <a:off x="742817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2744287" y="5375895"/>
            <a:ext cx="1053465" cy="180975"/>
            <a:chOff x="2744287" y="5375895"/>
            <a:chExt cx="1053465" cy="180975"/>
          </a:xfrm>
        </p:grpSpPr>
        <p:sp>
          <p:nvSpPr>
            <p:cNvPr id="104" name="object 104"/>
            <p:cNvSpPr/>
            <p:nvPr/>
          </p:nvSpPr>
          <p:spPr>
            <a:xfrm>
              <a:off x="2747780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540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540" y="173939"/>
                  </a:lnTo>
                  <a:lnTo>
                    <a:pt x="885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747780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0" y="173939"/>
                  </a:moveTo>
                  <a:lnTo>
                    <a:pt x="88540" y="173939"/>
                  </a:lnTo>
                  <a:lnTo>
                    <a:pt x="88540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836369" y="537938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260282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0282" y="173939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836369" y="537938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0" y="173939"/>
                  </a:moveTo>
                  <a:lnTo>
                    <a:pt x="260282" y="173939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096613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096613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0" y="173939"/>
                  </a:moveTo>
                  <a:lnTo>
                    <a:pt x="88308" y="173939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184911" y="5379388"/>
              <a:ext cx="260985" cy="173990"/>
            </a:xfrm>
            <a:custGeom>
              <a:avLst/>
              <a:gdLst/>
              <a:ahLst/>
              <a:cxnLst/>
              <a:rect l="l" t="t" r="r" b="b"/>
              <a:pathLst>
                <a:path w="260985" h="173989">
                  <a:moveTo>
                    <a:pt x="260514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0514" y="173939"/>
                  </a:lnTo>
                  <a:lnTo>
                    <a:pt x="2605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184911" y="5379388"/>
              <a:ext cx="260985" cy="173990"/>
            </a:xfrm>
            <a:custGeom>
              <a:avLst/>
              <a:gdLst/>
              <a:ahLst/>
              <a:cxnLst/>
              <a:rect l="l" t="t" r="r" b="b"/>
              <a:pathLst>
                <a:path w="260985" h="173989">
                  <a:moveTo>
                    <a:pt x="0" y="173939"/>
                  </a:moveTo>
                  <a:lnTo>
                    <a:pt x="260514" y="173939"/>
                  </a:lnTo>
                  <a:lnTo>
                    <a:pt x="260514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445445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445445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0" y="173939"/>
                  </a:moveTo>
                  <a:lnTo>
                    <a:pt x="88308" y="173939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533744" y="537938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260282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0282" y="173939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533744" y="537938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0" y="173939"/>
                  </a:moveTo>
                  <a:lnTo>
                    <a:pt x="260282" y="173939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888706" y="5373451"/>
            <a:ext cx="85344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60680" algn="l"/>
                <a:tab pos="709930" algn="l"/>
              </a:tabLst>
            </a:pPr>
            <a:r>
              <a:rPr sz="900" spc="-25" dirty="0">
                <a:latin typeface="Arial MT"/>
                <a:cs typeface="Arial MT"/>
              </a:rPr>
              <a:t>25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40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-25" dirty="0">
                <a:latin typeface="Arial MT"/>
                <a:cs typeface="Arial MT"/>
              </a:rPr>
              <a:t>45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1527282" y="5375895"/>
            <a:ext cx="2359025" cy="618490"/>
            <a:chOff x="1527282" y="5375895"/>
            <a:chExt cx="2359025" cy="618490"/>
          </a:xfrm>
        </p:grpSpPr>
        <p:sp>
          <p:nvSpPr>
            <p:cNvPr id="118" name="object 118"/>
            <p:cNvSpPr/>
            <p:nvPr/>
          </p:nvSpPr>
          <p:spPr>
            <a:xfrm>
              <a:off x="3793987" y="537938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578410" y="5379388"/>
              <a:ext cx="2304415" cy="587375"/>
            </a:xfrm>
            <a:custGeom>
              <a:avLst/>
              <a:gdLst/>
              <a:ahLst/>
              <a:cxnLst/>
              <a:rect l="l" t="t" r="r" b="b"/>
              <a:pathLst>
                <a:path w="2304415" h="587375">
                  <a:moveTo>
                    <a:pt x="2215577" y="173939"/>
                  </a:moveTo>
                  <a:lnTo>
                    <a:pt x="2303885" y="173939"/>
                  </a:lnTo>
                  <a:lnTo>
                    <a:pt x="2303885" y="0"/>
                  </a:lnTo>
                  <a:lnTo>
                    <a:pt x="2215577" y="0"/>
                  </a:lnTo>
                  <a:lnTo>
                    <a:pt x="2215577" y="173939"/>
                  </a:lnTo>
                  <a:close/>
                </a:path>
                <a:path w="2304415" h="587375">
                  <a:moveTo>
                    <a:pt x="1213567" y="88242"/>
                  </a:moveTo>
                  <a:lnTo>
                    <a:pt x="0" y="586897"/>
                  </a:lnTo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527282" y="5936174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20">
                  <a:moveTo>
                    <a:pt x="46485" y="0"/>
                  </a:moveTo>
                  <a:lnTo>
                    <a:pt x="0" y="53264"/>
                  </a:lnTo>
                  <a:lnTo>
                    <a:pt x="69718" y="57899"/>
                  </a:lnTo>
                  <a:lnTo>
                    <a:pt x="464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615381" y="5467630"/>
              <a:ext cx="525780" cy="482600"/>
            </a:xfrm>
            <a:custGeom>
              <a:avLst/>
              <a:gdLst/>
              <a:ahLst/>
              <a:cxnLst/>
              <a:rect l="l" t="t" r="r" b="b"/>
              <a:pathLst>
                <a:path w="525780" h="482600">
                  <a:moveTo>
                    <a:pt x="525429" y="0"/>
                  </a:moveTo>
                  <a:lnTo>
                    <a:pt x="0" y="482438"/>
                  </a:lnTo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73509" y="5922280"/>
              <a:ext cx="67945" cy="67310"/>
            </a:xfrm>
            <a:custGeom>
              <a:avLst/>
              <a:gdLst/>
              <a:ahLst/>
              <a:cxnLst/>
              <a:rect l="l" t="t" r="r" b="b"/>
              <a:pathLst>
                <a:path w="67944" h="67310">
                  <a:moveTo>
                    <a:pt x="25588" y="0"/>
                  </a:moveTo>
                  <a:lnTo>
                    <a:pt x="0" y="67158"/>
                  </a:lnTo>
                  <a:lnTo>
                    <a:pt x="67362" y="46317"/>
                  </a:lnTo>
                  <a:lnTo>
                    <a:pt x="255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2790909" y="5199511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2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24" name="object 1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5624" y="6071880"/>
            <a:ext cx="177755" cy="180908"/>
          </a:xfrm>
          <a:prstGeom prst="rect">
            <a:avLst/>
          </a:prstGeom>
        </p:spPr>
      </p:pic>
      <p:graphicFrame>
        <p:nvGraphicFramePr>
          <p:cNvPr id="125" name="object 125"/>
          <p:cNvGraphicFramePr>
            <a:graphicFrameLocks noGrp="1"/>
          </p:cNvGraphicFramePr>
          <p:nvPr/>
        </p:nvGraphicFramePr>
        <p:xfrm>
          <a:off x="2046922" y="6071882"/>
          <a:ext cx="1179830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/>
                <a:gridCol w="130175"/>
                <a:gridCol w="262890"/>
                <a:gridCol w="130810"/>
                <a:gridCol w="260350"/>
                <a:gridCol w="132715"/>
              </a:tblGrid>
              <a:tr h="17335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25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30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6" name="object 126"/>
          <p:cNvSpPr txBox="1"/>
          <p:nvPr/>
        </p:nvSpPr>
        <p:spPr>
          <a:xfrm>
            <a:off x="2093437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3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127" name="object 127"/>
          <p:cNvGraphicFramePr>
            <a:graphicFrameLocks noGrp="1"/>
          </p:cNvGraphicFramePr>
          <p:nvPr/>
        </p:nvGraphicFramePr>
        <p:xfrm>
          <a:off x="3399895" y="6071880"/>
          <a:ext cx="1263014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0175"/>
                <a:gridCol w="262890"/>
                <a:gridCol w="130175"/>
                <a:gridCol w="262890"/>
                <a:gridCol w="130175"/>
                <a:gridCol w="86359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8" name="object 128"/>
          <p:cNvSpPr txBox="1"/>
          <p:nvPr/>
        </p:nvSpPr>
        <p:spPr>
          <a:xfrm>
            <a:off x="3444376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1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1987695" y="613095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0" y="0"/>
                </a:moveTo>
                <a:lnTo>
                  <a:pt x="0" y="62532"/>
                </a:lnTo>
                <a:lnTo>
                  <a:pt x="62710" y="32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0" name="object 130"/>
          <p:cNvGrpSpPr/>
          <p:nvPr/>
        </p:nvGrpSpPr>
        <p:grpSpPr>
          <a:xfrm>
            <a:off x="3486160" y="5464147"/>
            <a:ext cx="1921510" cy="534670"/>
            <a:chOff x="3486160" y="5464147"/>
            <a:chExt cx="1921510" cy="534670"/>
          </a:xfrm>
        </p:grpSpPr>
        <p:sp>
          <p:nvSpPr>
            <p:cNvPr id="131" name="object 131"/>
            <p:cNvSpPr/>
            <p:nvPr/>
          </p:nvSpPr>
          <p:spPr>
            <a:xfrm>
              <a:off x="3489643" y="5467630"/>
              <a:ext cx="441959" cy="480695"/>
            </a:xfrm>
            <a:custGeom>
              <a:avLst/>
              <a:gdLst/>
              <a:ahLst/>
              <a:cxnLst/>
              <a:rect l="l" t="t" r="r" b="b"/>
              <a:pathLst>
                <a:path w="441960" h="480695">
                  <a:moveTo>
                    <a:pt x="0" y="0"/>
                  </a:moveTo>
                  <a:lnTo>
                    <a:pt x="441492" y="480126"/>
                  </a:lnTo>
                </a:path>
              </a:pathLst>
            </a:custGeom>
            <a:ln w="69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903222" y="5919958"/>
              <a:ext cx="65405" cy="69850"/>
            </a:xfrm>
            <a:custGeom>
              <a:avLst/>
              <a:gdLst/>
              <a:ahLst/>
              <a:cxnLst/>
              <a:rect l="l" t="t" r="r" b="b"/>
              <a:pathLst>
                <a:path w="65404" h="69850">
                  <a:moveTo>
                    <a:pt x="46523" y="0"/>
                  </a:moveTo>
                  <a:lnTo>
                    <a:pt x="0" y="44004"/>
                  </a:lnTo>
                  <a:lnTo>
                    <a:pt x="65133" y="69480"/>
                  </a:lnTo>
                  <a:lnTo>
                    <a:pt x="465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838185" y="5467630"/>
              <a:ext cx="1518285" cy="503555"/>
            </a:xfrm>
            <a:custGeom>
              <a:avLst/>
              <a:gdLst/>
              <a:ahLst/>
              <a:cxnLst/>
              <a:rect l="l" t="t" r="r" b="b"/>
              <a:pathLst>
                <a:path w="1518285" h="503554">
                  <a:moveTo>
                    <a:pt x="0" y="0"/>
                  </a:moveTo>
                  <a:lnTo>
                    <a:pt x="1518231" y="503279"/>
                  </a:lnTo>
                </a:path>
              </a:pathLst>
            </a:custGeom>
            <a:ln w="69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37807" y="5938486"/>
              <a:ext cx="69850" cy="60325"/>
            </a:xfrm>
            <a:custGeom>
              <a:avLst/>
              <a:gdLst/>
              <a:ahLst/>
              <a:cxnLst/>
              <a:rect l="l" t="t" r="r" b="b"/>
              <a:pathLst>
                <a:path w="69850" h="60325">
                  <a:moveTo>
                    <a:pt x="20935" y="0"/>
                  </a:moveTo>
                  <a:lnTo>
                    <a:pt x="0" y="60221"/>
                  </a:lnTo>
                  <a:lnTo>
                    <a:pt x="69689" y="50952"/>
                  </a:lnTo>
                  <a:lnTo>
                    <a:pt x="209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7521910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4</a:t>
            </a:r>
            <a:endParaRPr sz="900">
              <a:latin typeface="Arial MT"/>
              <a:cs typeface="Arial MT"/>
            </a:endParaRPr>
          </a:p>
        </p:txBody>
      </p:sp>
      <p:graphicFrame>
        <p:nvGraphicFramePr>
          <p:cNvPr id="136" name="object 136"/>
          <p:cNvGraphicFramePr>
            <a:graphicFrameLocks noGrp="1"/>
          </p:cNvGraphicFramePr>
          <p:nvPr/>
        </p:nvGraphicFramePr>
        <p:xfrm>
          <a:off x="7475297" y="6071880"/>
          <a:ext cx="1262380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0175"/>
                <a:gridCol w="262890"/>
                <a:gridCol w="130175"/>
                <a:gridCol w="262890"/>
                <a:gridCol w="130175"/>
                <a:gridCol w="85725"/>
              </a:tblGrid>
              <a:tr h="173355"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60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70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7" name="object 137"/>
          <p:cNvSpPr/>
          <p:nvPr/>
        </p:nvSpPr>
        <p:spPr>
          <a:xfrm>
            <a:off x="4691512" y="613095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0" y="0"/>
                </a:moveTo>
                <a:lnTo>
                  <a:pt x="0" y="62532"/>
                </a:lnTo>
                <a:lnTo>
                  <a:pt x="62710" y="32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8" name="object 138"/>
          <p:cNvGrpSpPr/>
          <p:nvPr/>
        </p:nvGrpSpPr>
        <p:grpSpPr>
          <a:xfrm>
            <a:off x="6101476" y="6071873"/>
            <a:ext cx="269875" cy="180975"/>
            <a:chOff x="6101476" y="6071873"/>
            <a:chExt cx="269875" cy="180975"/>
          </a:xfrm>
        </p:grpSpPr>
        <p:sp>
          <p:nvSpPr>
            <p:cNvPr id="139" name="object 139"/>
            <p:cNvSpPr/>
            <p:nvPr/>
          </p:nvSpPr>
          <p:spPr>
            <a:xfrm>
              <a:off x="6104968" y="6075365"/>
              <a:ext cx="262890" cy="173990"/>
            </a:xfrm>
            <a:custGeom>
              <a:avLst/>
              <a:gdLst/>
              <a:ahLst/>
              <a:cxnLst/>
              <a:rect l="l" t="t" r="r" b="b"/>
              <a:pathLst>
                <a:path w="262889" h="173989">
                  <a:moveTo>
                    <a:pt x="26259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2598" y="173939"/>
                  </a:lnTo>
                  <a:lnTo>
                    <a:pt x="262598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104968" y="6075365"/>
              <a:ext cx="262890" cy="173990"/>
            </a:xfrm>
            <a:custGeom>
              <a:avLst/>
              <a:gdLst/>
              <a:ahLst/>
              <a:cxnLst/>
              <a:rect l="l" t="t" r="r" b="b"/>
              <a:pathLst>
                <a:path w="262889" h="173989">
                  <a:moveTo>
                    <a:pt x="0" y="173939"/>
                  </a:moveTo>
                  <a:lnTo>
                    <a:pt x="262598" y="173939"/>
                  </a:lnTo>
                  <a:lnTo>
                    <a:pt x="26259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6157305" y="6069196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53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6364045" y="6071873"/>
            <a:ext cx="1009015" cy="180975"/>
            <a:chOff x="6364045" y="6071873"/>
            <a:chExt cx="1009015" cy="180975"/>
          </a:xfrm>
        </p:grpSpPr>
        <p:sp>
          <p:nvSpPr>
            <p:cNvPr id="143" name="object 143"/>
            <p:cNvSpPr/>
            <p:nvPr/>
          </p:nvSpPr>
          <p:spPr>
            <a:xfrm>
              <a:off x="6367538" y="6075365"/>
              <a:ext cx="130175" cy="173990"/>
            </a:xfrm>
            <a:custGeom>
              <a:avLst/>
              <a:gdLst/>
              <a:ahLst/>
              <a:cxnLst/>
              <a:rect l="l" t="t" r="r" b="b"/>
              <a:pathLst>
                <a:path w="130175" h="173989">
                  <a:moveTo>
                    <a:pt x="130141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130141" y="173939"/>
                  </a:lnTo>
                  <a:lnTo>
                    <a:pt x="13014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6367538" y="6075365"/>
              <a:ext cx="130175" cy="173990"/>
            </a:xfrm>
            <a:custGeom>
              <a:avLst/>
              <a:gdLst/>
              <a:ahLst/>
              <a:cxnLst/>
              <a:rect l="l" t="t" r="r" b="b"/>
              <a:pathLst>
                <a:path w="130175" h="173989">
                  <a:moveTo>
                    <a:pt x="0" y="173939"/>
                  </a:moveTo>
                  <a:lnTo>
                    <a:pt x="130141" y="173939"/>
                  </a:lnTo>
                  <a:lnTo>
                    <a:pt x="130141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281249" y="6075365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281249" y="6075365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0" y="173939"/>
                  </a:moveTo>
                  <a:lnTo>
                    <a:pt x="88308" y="173939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6148000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6494215" y="6071873"/>
            <a:ext cx="267970" cy="180975"/>
            <a:chOff x="6494215" y="6071873"/>
            <a:chExt cx="267970" cy="180975"/>
          </a:xfrm>
        </p:grpSpPr>
        <p:sp>
          <p:nvSpPr>
            <p:cNvPr id="149" name="object 149"/>
            <p:cNvSpPr/>
            <p:nvPr/>
          </p:nvSpPr>
          <p:spPr>
            <a:xfrm>
              <a:off x="6497708" y="6075365"/>
              <a:ext cx="260985" cy="173990"/>
            </a:xfrm>
            <a:custGeom>
              <a:avLst/>
              <a:gdLst/>
              <a:ahLst/>
              <a:cxnLst/>
              <a:rect l="l" t="t" r="r" b="b"/>
              <a:pathLst>
                <a:path w="260984" h="173989">
                  <a:moveTo>
                    <a:pt x="260514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0514" y="173939"/>
                  </a:lnTo>
                  <a:lnTo>
                    <a:pt x="26051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497708" y="6075365"/>
              <a:ext cx="260985" cy="173990"/>
            </a:xfrm>
            <a:custGeom>
              <a:avLst/>
              <a:gdLst/>
              <a:ahLst/>
              <a:cxnLst/>
              <a:rect l="l" t="t" r="r" b="b"/>
              <a:pathLst>
                <a:path w="260984" h="173989">
                  <a:moveTo>
                    <a:pt x="0" y="173939"/>
                  </a:moveTo>
                  <a:lnTo>
                    <a:pt x="260514" y="173939"/>
                  </a:lnTo>
                  <a:lnTo>
                    <a:pt x="260514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6550238" y="6069196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55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6429081" y="5375895"/>
            <a:ext cx="356235" cy="180975"/>
            <a:chOff x="6429081" y="5375895"/>
            <a:chExt cx="356235" cy="180975"/>
          </a:xfrm>
        </p:grpSpPr>
        <p:sp>
          <p:nvSpPr>
            <p:cNvPr id="153" name="object 153"/>
            <p:cNvSpPr/>
            <p:nvPr/>
          </p:nvSpPr>
          <p:spPr>
            <a:xfrm>
              <a:off x="6432574" y="5379388"/>
              <a:ext cx="86360" cy="173990"/>
            </a:xfrm>
            <a:custGeom>
              <a:avLst/>
              <a:gdLst/>
              <a:ahLst/>
              <a:cxnLst/>
              <a:rect l="l" t="t" r="r" b="b"/>
              <a:pathLst>
                <a:path w="86359" h="173989">
                  <a:moveTo>
                    <a:pt x="86216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6216" y="173939"/>
                  </a:lnTo>
                  <a:lnTo>
                    <a:pt x="862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432574" y="5379388"/>
              <a:ext cx="86360" cy="173990"/>
            </a:xfrm>
            <a:custGeom>
              <a:avLst/>
              <a:gdLst/>
              <a:ahLst/>
              <a:cxnLst/>
              <a:rect l="l" t="t" r="r" b="b"/>
              <a:pathLst>
                <a:path w="86359" h="173989">
                  <a:moveTo>
                    <a:pt x="0" y="173939"/>
                  </a:moveTo>
                  <a:lnTo>
                    <a:pt x="86216" y="173939"/>
                  </a:lnTo>
                  <a:lnTo>
                    <a:pt x="86216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518837" y="5379388"/>
              <a:ext cx="262890" cy="173990"/>
            </a:xfrm>
            <a:custGeom>
              <a:avLst/>
              <a:gdLst/>
              <a:ahLst/>
              <a:cxnLst/>
              <a:rect l="l" t="t" r="r" b="b"/>
              <a:pathLst>
                <a:path w="262890" h="173989">
                  <a:moveTo>
                    <a:pt x="26259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2598" y="173939"/>
                  </a:lnTo>
                  <a:lnTo>
                    <a:pt x="26259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518837" y="5379388"/>
              <a:ext cx="262890" cy="173990"/>
            </a:xfrm>
            <a:custGeom>
              <a:avLst/>
              <a:gdLst/>
              <a:ahLst/>
              <a:cxnLst/>
              <a:rect l="l" t="t" r="r" b="b"/>
              <a:pathLst>
                <a:path w="262890" h="173989">
                  <a:moveTo>
                    <a:pt x="0" y="173939"/>
                  </a:moveTo>
                  <a:lnTo>
                    <a:pt x="262598" y="173939"/>
                  </a:lnTo>
                  <a:lnTo>
                    <a:pt x="26259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6754652" y="6071873"/>
            <a:ext cx="724535" cy="180975"/>
            <a:chOff x="6754652" y="6071873"/>
            <a:chExt cx="724535" cy="180975"/>
          </a:xfrm>
        </p:grpSpPr>
        <p:sp>
          <p:nvSpPr>
            <p:cNvPr id="158" name="object 158"/>
            <p:cNvSpPr/>
            <p:nvPr/>
          </p:nvSpPr>
          <p:spPr>
            <a:xfrm>
              <a:off x="6758145" y="6075365"/>
              <a:ext cx="132715" cy="173990"/>
            </a:xfrm>
            <a:custGeom>
              <a:avLst/>
              <a:gdLst/>
              <a:ahLst/>
              <a:cxnLst/>
              <a:rect l="l" t="t" r="r" b="b"/>
              <a:pathLst>
                <a:path w="132715" h="173989">
                  <a:moveTo>
                    <a:pt x="132467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132467" y="173939"/>
                  </a:lnTo>
                  <a:lnTo>
                    <a:pt x="13246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758145" y="6075365"/>
              <a:ext cx="665480" cy="173990"/>
            </a:xfrm>
            <a:custGeom>
              <a:avLst/>
              <a:gdLst/>
              <a:ahLst/>
              <a:cxnLst/>
              <a:rect l="l" t="t" r="r" b="b"/>
              <a:pathLst>
                <a:path w="665479" h="173989">
                  <a:moveTo>
                    <a:pt x="0" y="173939"/>
                  </a:moveTo>
                  <a:lnTo>
                    <a:pt x="132467" y="173939"/>
                  </a:lnTo>
                  <a:lnTo>
                    <a:pt x="132467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  <a:path w="665479" h="173989">
                  <a:moveTo>
                    <a:pt x="132496" y="173939"/>
                  </a:moveTo>
                  <a:lnTo>
                    <a:pt x="393011" y="173939"/>
                  </a:lnTo>
                  <a:lnTo>
                    <a:pt x="393011" y="0"/>
                  </a:lnTo>
                  <a:lnTo>
                    <a:pt x="132496" y="0"/>
                  </a:lnTo>
                  <a:lnTo>
                    <a:pt x="132496" y="173939"/>
                  </a:lnTo>
                  <a:close/>
                </a:path>
                <a:path w="665479" h="173989">
                  <a:moveTo>
                    <a:pt x="393030" y="173939"/>
                  </a:moveTo>
                  <a:lnTo>
                    <a:pt x="523171" y="173939"/>
                  </a:lnTo>
                  <a:lnTo>
                    <a:pt x="523171" y="0"/>
                  </a:lnTo>
                  <a:lnTo>
                    <a:pt x="393030" y="0"/>
                  </a:lnTo>
                  <a:lnTo>
                    <a:pt x="393030" y="173939"/>
                  </a:lnTo>
                  <a:close/>
                </a:path>
                <a:path w="665479" h="173989">
                  <a:moveTo>
                    <a:pt x="588237" y="88012"/>
                  </a:moveTo>
                  <a:lnTo>
                    <a:pt x="664904" y="88012"/>
                  </a:lnTo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16071" y="613095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0"/>
                  </a:moveTo>
                  <a:lnTo>
                    <a:pt x="0" y="62532"/>
                  </a:lnTo>
                  <a:lnTo>
                    <a:pt x="62710" y="32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6573501" y="5373451"/>
            <a:ext cx="155575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spc="-25" dirty="0">
                <a:latin typeface="Arial MT"/>
                <a:cs typeface="Arial MT"/>
              </a:rPr>
              <a:t>60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6777914" y="5375895"/>
            <a:ext cx="790575" cy="180975"/>
            <a:chOff x="6777914" y="5375895"/>
            <a:chExt cx="790575" cy="180975"/>
          </a:xfrm>
        </p:grpSpPr>
        <p:sp>
          <p:nvSpPr>
            <p:cNvPr id="163" name="object 163"/>
            <p:cNvSpPr/>
            <p:nvPr/>
          </p:nvSpPr>
          <p:spPr>
            <a:xfrm>
              <a:off x="6781407" y="5379388"/>
              <a:ext cx="86360" cy="173990"/>
            </a:xfrm>
            <a:custGeom>
              <a:avLst/>
              <a:gdLst/>
              <a:ahLst/>
              <a:cxnLst/>
              <a:rect l="l" t="t" r="r" b="b"/>
              <a:pathLst>
                <a:path w="86359" h="173989">
                  <a:moveTo>
                    <a:pt x="85984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5984" y="173939"/>
                  </a:lnTo>
                  <a:lnTo>
                    <a:pt x="8598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6781407" y="5379388"/>
              <a:ext cx="783590" cy="173990"/>
            </a:xfrm>
            <a:custGeom>
              <a:avLst/>
              <a:gdLst/>
              <a:ahLst/>
              <a:cxnLst/>
              <a:rect l="l" t="t" r="r" b="b"/>
              <a:pathLst>
                <a:path w="783590" h="173989">
                  <a:moveTo>
                    <a:pt x="0" y="173939"/>
                  </a:moveTo>
                  <a:lnTo>
                    <a:pt x="85984" y="173939"/>
                  </a:lnTo>
                  <a:lnTo>
                    <a:pt x="85984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  <a:path w="783590" h="173989">
                  <a:moveTo>
                    <a:pt x="85972" y="173939"/>
                  </a:moveTo>
                  <a:lnTo>
                    <a:pt x="348803" y="173939"/>
                  </a:lnTo>
                  <a:lnTo>
                    <a:pt x="348803" y="0"/>
                  </a:lnTo>
                  <a:lnTo>
                    <a:pt x="85972" y="0"/>
                  </a:lnTo>
                  <a:lnTo>
                    <a:pt x="85972" y="173939"/>
                  </a:lnTo>
                  <a:close/>
                </a:path>
                <a:path w="783590" h="173989">
                  <a:moveTo>
                    <a:pt x="348832" y="173939"/>
                  </a:moveTo>
                  <a:lnTo>
                    <a:pt x="434817" y="173939"/>
                  </a:lnTo>
                  <a:lnTo>
                    <a:pt x="434817" y="0"/>
                  </a:lnTo>
                  <a:lnTo>
                    <a:pt x="348832" y="0"/>
                  </a:lnTo>
                  <a:lnTo>
                    <a:pt x="348832" y="173939"/>
                  </a:lnTo>
                  <a:close/>
                </a:path>
                <a:path w="783590" h="173989">
                  <a:moveTo>
                    <a:pt x="434805" y="173939"/>
                  </a:moveTo>
                  <a:lnTo>
                    <a:pt x="697403" y="173939"/>
                  </a:lnTo>
                  <a:lnTo>
                    <a:pt x="697403" y="0"/>
                  </a:lnTo>
                  <a:lnTo>
                    <a:pt x="434805" y="0"/>
                  </a:lnTo>
                  <a:lnTo>
                    <a:pt x="434805" y="173939"/>
                  </a:lnTo>
                  <a:close/>
                </a:path>
                <a:path w="783590" h="173989">
                  <a:moveTo>
                    <a:pt x="697374" y="173939"/>
                  </a:moveTo>
                  <a:lnTo>
                    <a:pt x="783359" y="173939"/>
                  </a:lnTo>
                  <a:lnTo>
                    <a:pt x="783359" y="0"/>
                  </a:lnTo>
                  <a:lnTo>
                    <a:pt x="697374" y="0"/>
                  </a:lnTo>
                  <a:lnTo>
                    <a:pt x="697374" y="173939"/>
                  </a:lnTo>
                  <a:close/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6475703" y="5199511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6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4706629" y="4680175"/>
            <a:ext cx="1141730" cy="180975"/>
            <a:chOff x="4706629" y="4680175"/>
            <a:chExt cx="1141730" cy="180975"/>
          </a:xfrm>
        </p:grpSpPr>
        <p:sp>
          <p:nvSpPr>
            <p:cNvPr id="167" name="object 167"/>
            <p:cNvSpPr/>
            <p:nvPr/>
          </p:nvSpPr>
          <p:spPr>
            <a:xfrm>
              <a:off x="4710122" y="468366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710122" y="468366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0" y="173939"/>
                  </a:moveTo>
                  <a:lnTo>
                    <a:pt x="88308" y="173939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4798420" y="468366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260282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260282" y="173939"/>
                  </a:lnTo>
                  <a:lnTo>
                    <a:pt x="2602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4798420" y="4683668"/>
              <a:ext cx="260350" cy="173990"/>
            </a:xfrm>
            <a:custGeom>
              <a:avLst/>
              <a:gdLst/>
              <a:ahLst/>
              <a:cxnLst/>
              <a:rect l="l" t="t" r="r" b="b"/>
              <a:pathLst>
                <a:path w="260350" h="173989">
                  <a:moveTo>
                    <a:pt x="0" y="173939"/>
                  </a:moveTo>
                  <a:lnTo>
                    <a:pt x="260282" y="173939"/>
                  </a:lnTo>
                  <a:lnTo>
                    <a:pt x="260282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</a:pathLst>
            </a:custGeom>
            <a:ln w="69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5058664" y="4683668"/>
              <a:ext cx="88900" cy="173990"/>
            </a:xfrm>
            <a:custGeom>
              <a:avLst/>
              <a:gdLst/>
              <a:ahLst/>
              <a:cxnLst/>
              <a:rect l="l" t="t" r="r" b="b"/>
              <a:pathLst>
                <a:path w="88900" h="173989">
                  <a:moveTo>
                    <a:pt x="88308" y="0"/>
                  </a:moveTo>
                  <a:lnTo>
                    <a:pt x="0" y="0"/>
                  </a:lnTo>
                  <a:lnTo>
                    <a:pt x="0" y="173939"/>
                  </a:lnTo>
                  <a:lnTo>
                    <a:pt x="88308" y="173939"/>
                  </a:lnTo>
                  <a:lnTo>
                    <a:pt x="88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5058664" y="4683668"/>
              <a:ext cx="786130" cy="173990"/>
            </a:xfrm>
            <a:custGeom>
              <a:avLst/>
              <a:gdLst/>
              <a:ahLst/>
              <a:cxnLst/>
              <a:rect l="l" t="t" r="r" b="b"/>
              <a:pathLst>
                <a:path w="786129" h="173989">
                  <a:moveTo>
                    <a:pt x="0" y="173939"/>
                  </a:moveTo>
                  <a:lnTo>
                    <a:pt x="88308" y="173939"/>
                  </a:lnTo>
                  <a:lnTo>
                    <a:pt x="88308" y="0"/>
                  </a:lnTo>
                  <a:lnTo>
                    <a:pt x="0" y="0"/>
                  </a:lnTo>
                  <a:lnTo>
                    <a:pt x="0" y="173939"/>
                  </a:lnTo>
                  <a:close/>
                </a:path>
                <a:path w="786129" h="173989">
                  <a:moveTo>
                    <a:pt x="88298" y="173939"/>
                  </a:moveTo>
                  <a:lnTo>
                    <a:pt x="348813" y="173939"/>
                  </a:lnTo>
                  <a:lnTo>
                    <a:pt x="348813" y="0"/>
                  </a:lnTo>
                  <a:lnTo>
                    <a:pt x="88298" y="0"/>
                  </a:lnTo>
                  <a:lnTo>
                    <a:pt x="88298" y="173939"/>
                  </a:lnTo>
                  <a:close/>
                </a:path>
                <a:path w="786129" h="173989">
                  <a:moveTo>
                    <a:pt x="348832" y="173939"/>
                  </a:moveTo>
                  <a:lnTo>
                    <a:pt x="437141" y="173939"/>
                  </a:lnTo>
                  <a:lnTo>
                    <a:pt x="437141" y="0"/>
                  </a:lnTo>
                  <a:lnTo>
                    <a:pt x="348832" y="0"/>
                  </a:lnTo>
                  <a:lnTo>
                    <a:pt x="348832" y="173939"/>
                  </a:lnTo>
                  <a:close/>
                </a:path>
                <a:path w="786129" h="173989">
                  <a:moveTo>
                    <a:pt x="437131" y="173939"/>
                  </a:moveTo>
                  <a:lnTo>
                    <a:pt x="697413" y="173939"/>
                  </a:lnTo>
                  <a:lnTo>
                    <a:pt x="697413" y="0"/>
                  </a:lnTo>
                  <a:lnTo>
                    <a:pt x="437131" y="0"/>
                  </a:lnTo>
                  <a:lnTo>
                    <a:pt x="437131" y="173939"/>
                  </a:lnTo>
                  <a:close/>
                </a:path>
                <a:path w="786129" h="173989">
                  <a:moveTo>
                    <a:pt x="697471" y="173939"/>
                  </a:moveTo>
                  <a:lnTo>
                    <a:pt x="785779" y="173939"/>
                  </a:lnTo>
                  <a:lnTo>
                    <a:pt x="785779" y="0"/>
                  </a:lnTo>
                  <a:lnTo>
                    <a:pt x="697471" y="0"/>
                  </a:lnTo>
                  <a:lnTo>
                    <a:pt x="697471" y="173939"/>
                  </a:lnTo>
                  <a:close/>
                </a:path>
              </a:pathLst>
            </a:custGeom>
            <a:ln w="69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173"/>
          <p:cNvSpPr txBox="1"/>
          <p:nvPr/>
        </p:nvSpPr>
        <p:spPr>
          <a:xfrm>
            <a:off x="4753154" y="4469224"/>
            <a:ext cx="350520" cy="3733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7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90"/>
              </a:spcBef>
            </a:pPr>
            <a:r>
              <a:rPr sz="900" spc="-25" dirty="0">
                <a:latin typeface="Arial MT"/>
                <a:cs typeface="Arial MT"/>
              </a:rPr>
              <a:t>53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6470960" y="5464144"/>
            <a:ext cx="1572895" cy="527685"/>
            <a:chOff x="6470960" y="5464144"/>
            <a:chExt cx="1572895" cy="527685"/>
          </a:xfrm>
        </p:grpSpPr>
        <p:sp>
          <p:nvSpPr>
            <p:cNvPr id="175" name="object 175"/>
            <p:cNvSpPr/>
            <p:nvPr/>
          </p:nvSpPr>
          <p:spPr>
            <a:xfrm>
              <a:off x="6823278" y="5467630"/>
              <a:ext cx="1172210" cy="499109"/>
            </a:xfrm>
            <a:custGeom>
              <a:avLst/>
              <a:gdLst/>
              <a:ahLst/>
              <a:cxnLst/>
              <a:rect l="l" t="t" r="r" b="b"/>
              <a:pathLst>
                <a:path w="1172209" h="499110">
                  <a:moveTo>
                    <a:pt x="0" y="0"/>
                  </a:moveTo>
                  <a:lnTo>
                    <a:pt x="1171725" y="498654"/>
                  </a:lnTo>
                </a:path>
              </a:pathLst>
            </a:custGeom>
            <a:ln w="69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974068" y="5933861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20">
                  <a:moveTo>
                    <a:pt x="25491" y="0"/>
                  </a:moveTo>
                  <a:lnTo>
                    <a:pt x="0" y="57899"/>
                  </a:lnTo>
                  <a:lnTo>
                    <a:pt x="69689" y="55577"/>
                  </a:lnTo>
                  <a:lnTo>
                    <a:pt x="25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6474446" y="5467630"/>
              <a:ext cx="158750" cy="468630"/>
            </a:xfrm>
            <a:custGeom>
              <a:avLst/>
              <a:gdLst/>
              <a:ahLst/>
              <a:cxnLst/>
              <a:rect l="l" t="t" r="r" b="b"/>
              <a:pathLst>
                <a:path w="158750" h="468629">
                  <a:moveTo>
                    <a:pt x="0" y="0"/>
                  </a:moveTo>
                  <a:lnTo>
                    <a:pt x="158278" y="468544"/>
                  </a:lnTo>
                </a:path>
              </a:pathLst>
            </a:custGeom>
            <a:ln w="6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600157" y="5919957"/>
              <a:ext cx="60960" cy="69850"/>
            </a:xfrm>
            <a:custGeom>
              <a:avLst/>
              <a:gdLst/>
              <a:ahLst/>
              <a:cxnLst/>
              <a:rect l="l" t="t" r="r" b="b"/>
              <a:pathLst>
                <a:path w="60959" h="69850">
                  <a:moveTo>
                    <a:pt x="60384" y="0"/>
                  </a:moveTo>
                  <a:lnTo>
                    <a:pt x="0" y="18528"/>
                  </a:lnTo>
                  <a:lnTo>
                    <a:pt x="48753" y="69480"/>
                  </a:lnTo>
                  <a:lnTo>
                    <a:pt x="603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9" name="object 179"/>
          <p:cNvGrpSpPr/>
          <p:nvPr/>
        </p:nvGrpSpPr>
        <p:grpSpPr>
          <a:xfrm>
            <a:off x="3315081" y="4768401"/>
            <a:ext cx="3662045" cy="537210"/>
            <a:chOff x="3315081" y="4768401"/>
            <a:chExt cx="3662045" cy="537210"/>
          </a:xfrm>
        </p:grpSpPr>
        <p:sp>
          <p:nvSpPr>
            <p:cNvPr id="180" name="object 180"/>
            <p:cNvSpPr/>
            <p:nvPr/>
          </p:nvSpPr>
          <p:spPr>
            <a:xfrm>
              <a:off x="3366161" y="4771881"/>
              <a:ext cx="1388110" cy="501015"/>
            </a:xfrm>
            <a:custGeom>
              <a:avLst/>
              <a:gdLst/>
              <a:ahLst/>
              <a:cxnLst/>
              <a:rect l="l" t="t" r="r" b="b"/>
              <a:pathLst>
                <a:path w="1388110" h="501014">
                  <a:moveTo>
                    <a:pt x="1388061" y="0"/>
                  </a:moveTo>
                  <a:lnTo>
                    <a:pt x="0" y="501006"/>
                  </a:lnTo>
                </a:path>
              </a:pathLst>
            </a:custGeom>
            <a:ln w="69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3315081" y="5242506"/>
              <a:ext cx="69850" cy="58419"/>
            </a:xfrm>
            <a:custGeom>
              <a:avLst/>
              <a:gdLst/>
              <a:ahLst/>
              <a:cxnLst/>
              <a:rect l="l" t="t" r="r" b="b"/>
              <a:pathLst>
                <a:path w="69850" h="58420">
                  <a:moveTo>
                    <a:pt x="48753" y="0"/>
                  </a:moveTo>
                  <a:lnTo>
                    <a:pt x="0" y="51184"/>
                  </a:lnTo>
                  <a:lnTo>
                    <a:pt x="69689" y="58141"/>
                  </a:lnTo>
                  <a:lnTo>
                    <a:pt x="487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5102861" y="4771881"/>
              <a:ext cx="1820545" cy="506095"/>
            </a:xfrm>
            <a:custGeom>
              <a:avLst/>
              <a:gdLst/>
              <a:ahLst/>
              <a:cxnLst/>
              <a:rect l="l" t="t" r="r" b="b"/>
              <a:pathLst>
                <a:path w="1820545" h="506095">
                  <a:moveTo>
                    <a:pt x="0" y="0"/>
                  </a:moveTo>
                  <a:lnTo>
                    <a:pt x="1820346" y="505650"/>
                  </a:lnTo>
                </a:path>
              </a:pathLst>
            </a:custGeom>
            <a:ln w="69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6906924" y="5245021"/>
              <a:ext cx="69850" cy="60325"/>
            </a:xfrm>
            <a:custGeom>
              <a:avLst/>
              <a:gdLst/>
              <a:ahLst/>
              <a:cxnLst/>
              <a:rect l="l" t="t" r="r" b="b"/>
              <a:pathLst>
                <a:path w="69850" h="60325">
                  <a:moveTo>
                    <a:pt x="18609" y="0"/>
                  </a:moveTo>
                  <a:lnTo>
                    <a:pt x="0" y="60250"/>
                  </a:lnTo>
                  <a:lnTo>
                    <a:pt x="69689" y="48668"/>
                  </a:lnTo>
                  <a:lnTo>
                    <a:pt x="18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4" name="object 184"/>
          <p:cNvGraphicFramePr>
            <a:graphicFrameLocks noGrp="1"/>
          </p:cNvGraphicFramePr>
          <p:nvPr/>
        </p:nvGraphicFramePr>
        <p:xfrm>
          <a:off x="4750738" y="6071880"/>
          <a:ext cx="1269362" cy="173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/>
                <a:gridCol w="132715"/>
                <a:gridCol w="260985"/>
                <a:gridCol w="130809"/>
                <a:gridCol w="263525"/>
                <a:gridCol w="131444"/>
                <a:gridCol w="89534"/>
              </a:tblGrid>
              <a:tr h="87630"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45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25" dirty="0">
                          <a:latin typeface="Arial MT"/>
                          <a:cs typeface="Arial MT"/>
                        </a:rPr>
                        <a:t>48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FF00"/>
                    </a:solidFill>
                  </a:tcPr>
                </a:tc>
              </a:tr>
              <a:tr h="85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85" name="object 185"/>
          <p:cNvSpPr/>
          <p:nvPr/>
        </p:nvSpPr>
        <p:spPr>
          <a:xfrm>
            <a:off x="6042161" y="6130955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4" h="62864">
                <a:moveTo>
                  <a:pt x="0" y="0"/>
                </a:moveTo>
                <a:lnTo>
                  <a:pt x="0" y="62532"/>
                </a:lnTo>
                <a:lnTo>
                  <a:pt x="62807" y="324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 txBox="1"/>
          <p:nvPr/>
        </p:nvSpPr>
        <p:spPr>
          <a:xfrm>
            <a:off x="4797351" y="5895260"/>
            <a:ext cx="350520" cy="1651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Arial MT"/>
                <a:cs typeface="Arial MT"/>
              </a:rPr>
              <a:t>Bloc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50" dirty="0">
                <a:latin typeface="Arial MT"/>
                <a:cs typeface="Arial MT"/>
              </a:rPr>
              <a:t>8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4953000" y="4876800"/>
            <a:ext cx="1299845" cy="1224280"/>
          </a:xfrm>
          <a:custGeom>
            <a:avLst/>
            <a:gdLst/>
            <a:ahLst/>
            <a:cxnLst/>
            <a:rect l="l" t="t" r="r" b="b"/>
            <a:pathLst>
              <a:path w="1299845" h="1224279">
                <a:moveTo>
                  <a:pt x="18327" y="17297"/>
                </a:moveTo>
                <a:lnTo>
                  <a:pt x="21860" y="29241"/>
                </a:lnTo>
                <a:lnTo>
                  <a:pt x="1291082" y="1223822"/>
                </a:lnTo>
                <a:lnTo>
                  <a:pt x="1299717" y="1214577"/>
                </a:lnTo>
                <a:lnTo>
                  <a:pt x="30680" y="20143"/>
                </a:lnTo>
                <a:lnTo>
                  <a:pt x="18327" y="17297"/>
                </a:lnTo>
                <a:close/>
              </a:path>
              <a:path w="1299845" h="1224279">
                <a:moveTo>
                  <a:pt x="0" y="0"/>
                </a:moveTo>
                <a:lnTo>
                  <a:pt x="29083" y="98425"/>
                </a:lnTo>
                <a:lnTo>
                  <a:pt x="32638" y="100330"/>
                </a:lnTo>
                <a:lnTo>
                  <a:pt x="35940" y="99313"/>
                </a:lnTo>
                <a:lnTo>
                  <a:pt x="39370" y="98298"/>
                </a:lnTo>
                <a:lnTo>
                  <a:pt x="41275" y="94742"/>
                </a:lnTo>
                <a:lnTo>
                  <a:pt x="40259" y="91439"/>
                </a:lnTo>
                <a:lnTo>
                  <a:pt x="21860" y="29241"/>
                </a:lnTo>
                <a:lnTo>
                  <a:pt x="4825" y="13207"/>
                </a:lnTo>
                <a:lnTo>
                  <a:pt x="13462" y="3937"/>
                </a:lnTo>
                <a:lnTo>
                  <a:pt x="17097" y="3937"/>
                </a:lnTo>
                <a:lnTo>
                  <a:pt x="0" y="0"/>
                </a:lnTo>
                <a:close/>
              </a:path>
              <a:path w="1299845" h="1224279">
                <a:moveTo>
                  <a:pt x="17097" y="3937"/>
                </a:moveTo>
                <a:lnTo>
                  <a:pt x="13462" y="3937"/>
                </a:lnTo>
                <a:lnTo>
                  <a:pt x="30680" y="20143"/>
                </a:lnTo>
                <a:lnTo>
                  <a:pt x="97154" y="35432"/>
                </a:lnTo>
                <a:lnTo>
                  <a:pt x="100457" y="33274"/>
                </a:lnTo>
                <a:lnTo>
                  <a:pt x="101346" y="29844"/>
                </a:lnTo>
                <a:lnTo>
                  <a:pt x="102108" y="26543"/>
                </a:lnTo>
                <a:lnTo>
                  <a:pt x="99949" y="23113"/>
                </a:lnTo>
                <a:lnTo>
                  <a:pt x="96520" y="22225"/>
                </a:lnTo>
                <a:lnTo>
                  <a:pt x="17097" y="3937"/>
                </a:lnTo>
                <a:close/>
              </a:path>
              <a:path w="1299845" h="1224279">
                <a:moveTo>
                  <a:pt x="13462" y="3937"/>
                </a:moveTo>
                <a:lnTo>
                  <a:pt x="4825" y="13207"/>
                </a:lnTo>
                <a:lnTo>
                  <a:pt x="21860" y="29241"/>
                </a:lnTo>
                <a:lnTo>
                  <a:pt x="18327" y="17297"/>
                </a:lnTo>
                <a:lnTo>
                  <a:pt x="7747" y="14858"/>
                </a:lnTo>
                <a:lnTo>
                  <a:pt x="15239" y="6857"/>
                </a:lnTo>
                <a:lnTo>
                  <a:pt x="16565" y="6857"/>
                </a:lnTo>
                <a:lnTo>
                  <a:pt x="13462" y="3937"/>
                </a:lnTo>
                <a:close/>
              </a:path>
              <a:path w="1299845" h="1224279">
                <a:moveTo>
                  <a:pt x="16565" y="6857"/>
                </a:moveTo>
                <a:lnTo>
                  <a:pt x="15239" y="6857"/>
                </a:lnTo>
                <a:lnTo>
                  <a:pt x="18327" y="17297"/>
                </a:lnTo>
                <a:lnTo>
                  <a:pt x="30680" y="20143"/>
                </a:lnTo>
                <a:lnTo>
                  <a:pt x="16565" y="6857"/>
                </a:lnTo>
                <a:close/>
              </a:path>
              <a:path w="1299845" h="1224279">
                <a:moveTo>
                  <a:pt x="15239" y="6857"/>
                </a:moveTo>
                <a:lnTo>
                  <a:pt x="7747" y="14858"/>
                </a:lnTo>
                <a:lnTo>
                  <a:pt x="18327" y="17297"/>
                </a:lnTo>
                <a:lnTo>
                  <a:pt x="15239" y="685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685800" y="42672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464" y="392049"/>
            <a:ext cx="505523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Violation</a:t>
            </a:r>
            <a:r>
              <a:rPr sz="3200" b="1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minimum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: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redistribution</a:t>
            </a:r>
            <a:r>
              <a:rPr sz="32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si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possible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83156"/>
            <a:ext cx="3674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Ajuster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séparateur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05908" y="3895840"/>
            <a:ext cx="6068695" cy="513715"/>
            <a:chOff x="2305908" y="3895840"/>
            <a:chExt cx="6068695" cy="513715"/>
          </a:xfrm>
        </p:grpSpPr>
        <p:sp>
          <p:nvSpPr>
            <p:cNvPr id="5" name="object 5"/>
            <p:cNvSpPr/>
            <p:nvPr/>
          </p:nvSpPr>
          <p:spPr>
            <a:xfrm>
              <a:off x="5676382" y="3902825"/>
              <a:ext cx="0" cy="336550"/>
            </a:xfrm>
            <a:custGeom>
              <a:avLst/>
              <a:gdLst/>
              <a:ahLst/>
              <a:cxnLst/>
              <a:rect l="l" t="t" r="r" b="b"/>
              <a:pathLst>
                <a:path h="336550">
                  <a:moveTo>
                    <a:pt x="0" y="0"/>
                  </a:moveTo>
                  <a:lnTo>
                    <a:pt x="0" y="335930"/>
                  </a:lnTo>
                </a:path>
              </a:pathLst>
            </a:custGeom>
            <a:ln w="1344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18057" y="4225483"/>
              <a:ext cx="121285" cy="184150"/>
            </a:xfrm>
            <a:custGeom>
              <a:avLst/>
              <a:gdLst/>
              <a:ahLst/>
              <a:cxnLst/>
              <a:rect l="l" t="t" r="r" b="b"/>
              <a:pathLst>
                <a:path w="121285" h="184150">
                  <a:moveTo>
                    <a:pt x="120951" y="0"/>
                  </a:moveTo>
                  <a:lnTo>
                    <a:pt x="0" y="0"/>
                  </a:lnTo>
                  <a:lnTo>
                    <a:pt x="58325" y="183761"/>
                  </a:lnTo>
                  <a:lnTo>
                    <a:pt x="1209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12893" y="4073314"/>
              <a:ext cx="6000750" cy="0"/>
            </a:xfrm>
            <a:custGeom>
              <a:avLst/>
              <a:gdLst/>
              <a:ahLst/>
              <a:cxnLst/>
              <a:rect l="l" t="t" r="r" b="b"/>
              <a:pathLst>
                <a:path w="6000750">
                  <a:moveTo>
                    <a:pt x="0" y="0"/>
                  </a:moveTo>
                  <a:lnTo>
                    <a:pt x="6000308" y="0"/>
                  </a:lnTo>
                </a:path>
              </a:pathLst>
            </a:custGeom>
            <a:ln w="1344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40121" y="4073314"/>
              <a:ext cx="27305" cy="0"/>
            </a:xfrm>
            <a:custGeom>
              <a:avLst/>
              <a:gdLst/>
              <a:ahLst/>
              <a:cxnLst/>
              <a:rect l="l" t="t" r="r" b="b"/>
              <a:pathLst>
                <a:path w="27304">
                  <a:moveTo>
                    <a:pt x="0" y="0"/>
                  </a:moveTo>
                  <a:lnTo>
                    <a:pt x="26919" y="0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660471" y="1879882"/>
            <a:ext cx="184785" cy="350520"/>
            <a:chOff x="4660471" y="1879882"/>
            <a:chExt cx="184785" cy="350520"/>
          </a:xfrm>
        </p:grpSpPr>
        <p:sp>
          <p:nvSpPr>
            <p:cNvPr id="10" name="object 10"/>
            <p:cNvSpPr/>
            <p:nvPr/>
          </p:nvSpPr>
          <p:spPr>
            <a:xfrm>
              <a:off x="4667456" y="1886868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304" y="0"/>
                  </a:moveTo>
                  <a:lnTo>
                    <a:pt x="0" y="0"/>
                  </a:lnTo>
                  <a:lnTo>
                    <a:pt x="0" y="336117"/>
                  </a:lnTo>
                  <a:lnTo>
                    <a:pt x="170304" y="336117"/>
                  </a:lnTo>
                  <a:lnTo>
                    <a:pt x="1703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67456" y="1886867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0" y="336117"/>
                  </a:moveTo>
                  <a:lnTo>
                    <a:pt x="170304" y="336117"/>
                  </a:lnTo>
                  <a:lnTo>
                    <a:pt x="170304" y="0"/>
                  </a:lnTo>
                  <a:lnTo>
                    <a:pt x="0" y="0"/>
                  </a:lnTo>
                  <a:lnTo>
                    <a:pt x="0" y="336117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37760" y="1886923"/>
            <a:ext cx="502920" cy="336550"/>
          </a:xfrm>
          <a:prstGeom prst="rect">
            <a:avLst/>
          </a:prstGeom>
          <a:solidFill>
            <a:srgbClr val="FFFF00"/>
          </a:solidFill>
          <a:ln w="13483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20"/>
              </a:spcBef>
            </a:pPr>
            <a:r>
              <a:rPr sz="1750" spc="-25" dirty="0">
                <a:latin typeface="Arial MT"/>
                <a:cs typeface="Arial MT"/>
              </a:rPr>
              <a:t>40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2248" y="1551098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73283" y="2050259"/>
            <a:ext cx="1186180" cy="1015365"/>
            <a:chOff x="3573283" y="2050259"/>
            <a:chExt cx="1186180" cy="1015365"/>
          </a:xfrm>
        </p:grpSpPr>
        <p:sp>
          <p:nvSpPr>
            <p:cNvPr id="15" name="object 15"/>
            <p:cNvSpPr/>
            <p:nvPr/>
          </p:nvSpPr>
          <p:spPr>
            <a:xfrm>
              <a:off x="3653968" y="2056982"/>
              <a:ext cx="1098550" cy="936625"/>
            </a:xfrm>
            <a:custGeom>
              <a:avLst/>
              <a:gdLst/>
              <a:ahLst/>
              <a:cxnLst/>
              <a:rect l="l" t="t" r="r" b="b"/>
              <a:pathLst>
                <a:path w="1098550" h="936625">
                  <a:moveTo>
                    <a:pt x="1098546" y="0"/>
                  </a:moveTo>
                  <a:lnTo>
                    <a:pt x="0" y="936567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73283" y="2939712"/>
              <a:ext cx="134620" cy="125730"/>
            </a:xfrm>
            <a:custGeom>
              <a:avLst/>
              <a:gdLst/>
              <a:ahLst/>
              <a:cxnLst/>
              <a:rect l="l" t="t" r="r" b="b"/>
              <a:pathLst>
                <a:path w="134620" h="125730">
                  <a:moveTo>
                    <a:pt x="53783" y="0"/>
                  </a:moveTo>
                  <a:lnTo>
                    <a:pt x="0" y="125436"/>
                  </a:lnTo>
                  <a:lnTo>
                    <a:pt x="134467" y="89544"/>
                  </a:lnTo>
                  <a:lnTo>
                    <a:pt x="537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575225" y="1879938"/>
            <a:ext cx="2446655" cy="1694180"/>
            <a:chOff x="4575225" y="1879938"/>
            <a:chExt cx="2446655" cy="1694180"/>
          </a:xfrm>
        </p:grpSpPr>
        <p:sp>
          <p:nvSpPr>
            <p:cNvPr id="18" name="object 18"/>
            <p:cNvSpPr/>
            <p:nvPr/>
          </p:nvSpPr>
          <p:spPr>
            <a:xfrm>
              <a:off x="5340261" y="1886923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32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170323" y="336061"/>
                  </a:lnTo>
                  <a:lnTo>
                    <a:pt x="1703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40261" y="1886923"/>
              <a:ext cx="1592580" cy="1120140"/>
            </a:xfrm>
            <a:custGeom>
              <a:avLst/>
              <a:gdLst/>
              <a:ahLst/>
              <a:cxnLst/>
              <a:rect l="l" t="t" r="r" b="b"/>
              <a:pathLst>
                <a:path w="1592579" h="1120139">
                  <a:moveTo>
                    <a:pt x="0" y="336061"/>
                  </a:moveTo>
                  <a:lnTo>
                    <a:pt x="170323" y="336061"/>
                  </a:lnTo>
                  <a:lnTo>
                    <a:pt x="170323" y="0"/>
                  </a:lnTo>
                  <a:lnTo>
                    <a:pt x="0" y="0"/>
                  </a:lnTo>
                  <a:lnTo>
                    <a:pt x="0" y="336061"/>
                  </a:lnTo>
                  <a:close/>
                </a:path>
                <a:path w="1592579" h="1120139">
                  <a:moveTo>
                    <a:pt x="170304" y="336061"/>
                  </a:moveTo>
                  <a:lnTo>
                    <a:pt x="672318" y="336061"/>
                  </a:lnTo>
                  <a:lnTo>
                    <a:pt x="672318" y="0"/>
                  </a:lnTo>
                  <a:lnTo>
                    <a:pt x="170304" y="0"/>
                  </a:lnTo>
                  <a:lnTo>
                    <a:pt x="170304" y="336061"/>
                  </a:lnTo>
                  <a:close/>
                </a:path>
                <a:path w="1592579" h="1120139">
                  <a:moveTo>
                    <a:pt x="672244" y="336061"/>
                  </a:moveTo>
                  <a:lnTo>
                    <a:pt x="843015" y="336061"/>
                  </a:lnTo>
                  <a:lnTo>
                    <a:pt x="843015" y="0"/>
                  </a:lnTo>
                  <a:lnTo>
                    <a:pt x="672244" y="0"/>
                  </a:lnTo>
                  <a:lnTo>
                    <a:pt x="672244" y="336061"/>
                  </a:lnTo>
                  <a:close/>
                </a:path>
                <a:path w="1592579" h="1120139">
                  <a:moveTo>
                    <a:pt x="842922" y="336061"/>
                  </a:moveTo>
                  <a:lnTo>
                    <a:pt x="1344936" y="336061"/>
                  </a:lnTo>
                  <a:lnTo>
                    <a:pt x="1344936" y="0"/>
                  </a:lnTo>
                  <a:lnTo>
                    <a:pt x="842922" y="0"/>
                  </a:lnTo>
                  <a:lnTo>
                    <a:pt x="842922" y="336061"/>
                  </a:lnTo>
                  <a:close/>
                </a:path>
                <a:path w="1592579" h="1120139">
                  <a:moveTo>
                    <a:pt x="1345048" y="336061"/>
                  </a:moveTo>
                  <a:lnTo>
                    <a:pt x="1515371" y="336061"/>
                  </a:lnTo>
                  <a:lnTo>
                    <a:pt x="1515371" y="0"/>
                  </a:lnTo>
                  <a:lnTo>
                    <a:pt x="1345048" y="0"/>
                  </a:lnTo>
                  <a:lnTo>
                    <a:pt x="1345048" y="336061"/>
                  </a:lnTo>
                  <a:close/>
                </a:path>
                <a:path w="1592579" h="1120139">
                  <a:moveTo>
                    <a:pt x="85058" y="170059"/>
                  </a:moveTo>
                  <a:lnTo>
                    <a:pt x="1591999" y="1119899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87020" y="2948685"/>
              <a:ext cx="135255" cy="116839"/>
            </a:xfrm>
            <a:custGeom>
              <a:avLst/>
              <a:gdLst/>
              <a:ahLst/>
              <a:cxnLst/>
              <a:rect l="l" t="t" r="r" b="b"/>
              <a:pathLst>
                <a:path w="135254" h="116839">
                  <a:moveTo>
                    <a:pt x="63186" y="0"/>
                  </a:moveTo>
                  <a:lnTo>
                    <a:pt x="0" y="98517"/>
                  </a:lnTo>
                  <a:lnTo>
                    <a:pt x="134785" y="116463"/>
                  </a:lnTo>
                  <a:lnTo>
                    <a:pt x="631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82210" y="3231095"/>
              <a:ext cx="170815" cy="335915"/>
            </a:xfrm>
            <a:custGeom>
              <a:avLst/>
              <a:gdLst/>
              <a:ahLst/>
              <a:cxnLst/>
              <a:rect l="l" t="t" r="r" b="b"/>
              <a:pathLst>
                <a:path w="170814" h="335914">
                  <a:moveTo>
                    <a:pt x="170323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170323" y="335612"/>
                  </a:lnTo>
                  <a:lnTo>
                    <a:pt x="170323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82210" y="3231095"/>
              <a:ext cx="1242060" cy="335915"/>
            </a:xfrm>
            <a:custGeom>
              <a:avLst/>
              <a:gdLst/>
              <a:ahLst/>
              <a:cxnLst/>
              <a:rect l="l" t="t" r="r" b="b"/>
              <a:pathLst>
                <a:path w="1242060" h="335914">
                  <a:moveTo>
                    <a:pt x="0" y="335612"/>
                  </a:moveTo>
                  <a:lnTo>
                    <a:pt x="170323" y="335612"/>
                  </a:lnTo>
                  <a:lnTo>
                    <a:pt x="170323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  <a:path w="1242060" h="335914">
                  <a:moveTo>
                    <a:pt x="85245" y="169984"/>
                  </a:moveTo>
                  <a:lnTo>
                    <a:pt x="1242043" y="169984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06308" y="3338454"/>
              <a:ext cx="121285" cy="121285"/>
            </a:xfrm>
            <a:custGeom>
              <a:avLst/>
              <a:gdLst/>
              <a:ahLst/>
              <a:cxnLst/>
              <a:rect l="l" t="t" r="r" b="b"/>
              <a:pathLst>
                <a:path w="121285" h="121285">
                  <a:moveTo>
                    <a:pt x="0" y="0"/>
                  </a:moveTo>
                  <a:lnTo>
                    <a:pt x="0" y="120949"/>
                  </a:lnTo>
                  <a:lnTo>
                    <a:pt x="120951" y="626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12893" y="3231095"/>
            <a:ext cx="507365" cy="335915"/>
          </a:xfrm>
          <a:prstGeom prst="rect">
            <a:avLst/>
          </a:prstGeom>
          <a:solidFill>
            <a:srgbClr val="C0C0C0"/>
          </a:solidFill>
          <a:ln w="13453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20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108" y="3224371"/>
            <a:ext cx="264795" cy="349250"/>
            <a:chOff x="2813108" y="3224371"/>
            <a:chExt cx="264795" cy="349250"/>
          </a:xfrm>
        </p:grpSpPr>
        <p:sp>
          <p:nvSpPr>
            <p:cNvPr id="26" name="object 26"/>
            <p:cNvSpPr/>
            <p:nvPr/>
          </p:nvSpPr>
          <p:spPr>
            <a:xfrm>
              <a:off x="2819831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60" h="335914">
                  <a:moveTo>
                    <a:pt x="251007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251007" y="335612"/>
                  </a:lnTo>
                  <a:lnTo>
                    <a:pt x="2510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19831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60" h="335914">
                  <a:moveTo>
                    <a:pt x="0" y="335612"/>
                  </a:moveTo>
                  <a:lnTo>
                    <a:pt x="251007" y="335612"/>
                  </a:lnTo>
                  <a:lnTo>
                    <a:pt x="251007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407765" y="2895008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70839" y="3231095"/>
            <a:ext cx="502920" cy="335915"/>
          </a:xfrm>
          <a:prstGeom prst="rect">
            <a:avLst/>
          </a:prstGeom>
          <a:solidFill>
            <a:srgbClr val="C0C0C0"/>
          </a:solidFill>
          <a:ln w="1346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25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66560" y="3224371"/>
            <a:ext cx="269240" cy="349250"/>
            <a:chOff x="3566560" y="3224371"/>
            <a:chExt cx="269240" cy="349250"/>
          </a:xfrm>
        </p:grpSpPr>
        <p:sp>
          <p:nvSpPr>
            <p:cNvPr id="31" name="object 31"/>
            <p:cNvSpPr/>
            <p:nvPr/>
          </p:nvSpPr>
          <p:spPr>
            <a:xfrm>
              <a:off x="3573283" y="3231095"/>
              <a:ext cx="255904" cy="335915"/>
            </a:xfrm>
            <a:custGeom>
              <a:avLst/>
              <a:gdLst/>
              <a:ahLst/>
              <a:cxnLst/>
              <a:rect l="l" t="t" r="r" b="b"/>
              <a:pathLst>
                <a:path w="255904" h="335914">
                  <a:moveTo>
                    <a:pt x="255493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255493" y="335612"/>
                  </a:lnTo>
                  <a:lnTo>
                    <a:pt x="25549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73283" y="3231095"/>
              <a:ext cx="255904" cy="335915"/>
            </a:xfrm>
            <a:custGeom>
              <a:avLst/>
              <a:gdLst/>
              <a:ahLst/>
              <a:cxnLst/>
              <a:rect l="l" t="t" r="r" b="b"/>
              <a:pathLst>
                <a:path w="255904" h="335914">
                  <a:moveTo>
                    <a:pt x="0" y="335612"/>
                  </a:moveTo>
                  <a:lnTo>
                    <a:pt x="255493" y="335612"/>
                  </a:lnTo>
                  <a:lnTo>
                    <a:pt x="255493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828777" y="3231095"/>
            <a:ext cx="502284" cy="335915"/>
          </a:xfrm>
          <a:prstGeom prst="rect">
            <a:avLst/>
          </a:prstGeom>
          <a:solidFill>
            <a:srgbClr val="C0C0C0"/>
          </a:solidFill>
          <a:ln w="1346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30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323788" y="3224110"/>
            <a:ext cx="2110740" cy="349885"/>
            <a:chOff x="4323788" y="3224110"/>
            <a:chExt cx="2110740" cy="349885"/>
          </a:xfrm>
        </p:grpSpPr>
        <p:sp>
          <p:nvSpPr>
            <p:cNvPr id="35" name="object 35"/>
            <p:cNvSpPr/>
            <p:nvPr/>
          </p:nvSpPr>
          <p:spPr>
            <a:xfrm>
              <a:off x="4330773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60" h="335914">
                  <a:moveTo>
                    <a:pt x="251455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251455" y="335612"/>
                  </a:lnTo>
                  <a:lnTo>
                    <a:pt x="25145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30773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60" h="335914">
                  <a:moveTo>
                    <a:pt x="0" y="335612"/>
                  </a:moveTo>
                  <a:lnTo>
                    <a:pt x="251455" y="335612"/>
                  </a:lnTo>
                  <a:lnTo>
                    <a:pt x="251455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27259" y="3231095"/>
              <a:ext cx="507365" cy="335915"/>
            </a:xfrm>
            <a:custGeom>
              <a:avLst/>
              <a:gdLst/>
              <a:ahLst/>
              <a:cxnLst/>
              <a:rect l="l" t="t" r="r" b="b"/>
              <a:pathLst>
                <a:path w="507364" h="335914">
                  <a:moveTo>
                    <a:pt x="506931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506931" y="335612"/>
                  </a:lnTo>
                  <a:lnTo>
                    <a:pt x="50693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927259" y="3231095"/>
            <a:ext cx="507365" cy="335915"/>
          </a:xfrm>
          <a:prstGeom prst="rect">
            <a:avLst/>
          </a:prstGeom>
          <a:ln w="13502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40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427261" y="3224110"/>
            <a:ext cx="265430" cy="349885"/>
            <a:chOff x="6427261" y="3224110"/>
            <a:chExt cx="265430" cy="349885"/>
          </a:xfrm>
        </p:grpSpPr>
        <p:sp>
          <p:nvSpPr>
            <p:cNvPr id="40" name="object 40"/>
            <p:cNvSpPr/>
            <p:nvPr/>
          </p:nvSpPr>
          <p:spPr>
            <a:xfrm>
              <a:off x="6434246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59" h="335914">
                  <a:moveTo>
                    <a:pt x="251007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251007" y="335612"/>
                  </a:lnTo>
                  <a:lnTo>
                    <a:pt x="2510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34246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59" h="335914">
                  <a:moveTo>
                    <a:pt x="0" y="335612"/>
                  </a:moveTo>
                  <a:lnTo>
                    <a:pt x="251007" y="335612"/>
                  </a:lnTo>
                  <a:lnTo>
                    <a:pt x="251007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/>
          <p:nvPr/>
        </p:nvSpPr>
        <p:spPr>
          <a:xfrm>
            <a:off x="8201224" y="3231095"/>
            <a:ext cx="166370" cy="335915"/>
          </a:xfrm>
          <a:custGeom>
            <a:avLst/>
            <a:gdLst/>
            <a:ahLst/>
            <a:cxnLst/>
            <a:rect l="l" t="t" r="r" b="b"/>
            <a:pathLst>
              <a:path w="166370" h="335914">
                <a:moveTo>
                  <a:pt x="0" y="335612"/>
                </a:moveTo>
                <a:lnTo>
                  <a:pt x="165840" y="335612"/>
                </a:lnTo>
                <a:lnTo>
                  <a:pt x="165840" y="0"/>
                </a:lnTo>
                <a:lnTo>
                  <a:pt x="0" y="0"/>
                </a:lnTo>
                <a:lnTo>
                  <a:pt x="0" y="335612"/>
                </a:lnTo>
                <a:close/>
              </a:path>
            </a:pathLst>
          </a:custGeom>
          <a:ln w="134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022238" y="2895008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85281" y="3231095"/>
            <a:ext cx="507365" cy="335915"/>
          </a:xfrm>
          <a:prstGeom prst="rect">
            <a:avLst/>
          </a:prstGeom>
          <a:solidFill>
            <a:srgbClr val="C0C0C0"/>
          </a:solidFill>
          <a:ln w="13502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60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185573" y="3224371"/>
            <a:ext cx="1022350" cy="349250"/>
            <a:chOff x="7185573" y="3224371"/>
            <a:chExt cx="1022350" cy="349250"/>
          </a:xfrm>
        </p:grpSpPr>
        <p:sp>
          <p:nvSpPr>
            <p:cNvPr id="46" name="object 46"/>
            <p:cNvSpPr/>
            <p:nvPr/>
          </p:nvSpPr>
          <p:spPr>
            <a:xfrm>
              <a:off x="7192297" y="3231095"/>
              <a:ext cx="251460" cy="335915"/>
            </a:xfrm>
            <a:custGeom>
              <a:avLst/>
              <a:gdLst/>
              <a:ahLst/>
              <a:cxnLst/>
              <a:rect l="l" t="t" r="r" b="b"/>
              <a:pathLst>
                <a:path w="251459" h="335914">
                  <a:moveTo>
                    <a:pt x="251007" y="0"/>
                  </a:moveTo>
                  <a:lnTo>
                    <a:pt x="0" y="0"/>
                  </a:lnTo>
                  <a:lnTo>
                    <a:pt x="0" y="335612"/>
                  </a:lnTo>
                  <a:lnTo>
                    <a:pt x="251007" y="335612"/>
                  </a:lnTo>
                  <a:lnTo>
                    <a:pt x="2510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192297" y="3231095"/>
              <a:ext cx="1009015" cy="335915"/>
            </a:xfrm>
            <a:custGeom>
              <a:avLst/>
              <a:gdLst/>
              <a:ahLst/>
              <a:cxnLst/>
              <a:rect l="l" t="t" r="r" b="b"/>
              <a:pathLst>
                <a:path w="1009015" h="335914">
                  <a:moveTo>
                    <a:pt x="0" y="335612"/>
                  </a:moveTo>
                  <a:lnTo>
                    <a:pt x="251007" y="335612"/>
                  </a:lnTo>
                  <a:lnTo>
                    <a:pt x="251007" y="0"/>
                  </a:lnTo>
                  <a:lnTo>
                    <a:pt x="0" y="0"/>
                  </a:lnTo>
                  <a:lnTo>
                    <a:pt x="0" y="335612"/>
                  </a:lnTo>
                  <a:close/>
                </a:path>
                <a:path w="1009015" h="335914">
                  <a:moveTo>
                    <a:pt x="250876" y="335612"/>
                  </a:moveTo>
                  <a:lnTo>
                    <a:pt x="753339" y="335612"/>
                  </a:lnTo>
                  <a:lnTo>
                    <a:pt x="753339" y="0"/>
                  </a:lnTo>
                  <a:lnTo>
                    <a:pt x="250876" y="0"/>
                  </a:lnTo>
                  <a:lnTo>
                    <a:pt x="250876" y="335612"/>
                  </a:lnTo>
                  <a:close/>
                </a:path>
                <a:path w="1009015" h="335914">
                  <a:moveTo>
                    <a:pt x="753376" y="335612"/>
                  </a:moveTo>
                  <a:lnTo>
                    <a:pt x="1008870" y="335612"/>
                  </a:lnTo>
                  <a:lnTo>
                    <a:pt x="1008870" y="0"/>
                  </a:lnTo>
                  <a:lnTo>
                    <a:pt x="753376" y="0"/>
                  </a:lnTo>
                  <a:lnTo>
                    <a:pt x="753376" y="335612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4164955" y="3065148"/>
            <a:ext cx="2269490" cy="838200"/>
          </a:xfrm>
          <a:custGeom>
            <a:avLst/>
            <a:gdLst/>
            <a:ahLst/>
            <a:cxnLst/>
            <a:rect l="l" t="t" r="r" b="b"/>
            <a:pathLst>
              <a:path w="2269490" h="838200">
                <a:moveTo>
                  <a:pt x="1762303" y="0"/>
                </a:moveTo>
                <a:lnTo>
                  <a:pt x="2269290" y="672048"/>
                </a:lnTo>
              </a:path>
              <a:path w="2269490" h="838200">
                <a:moveTo>
                  <a:pt x="2269290" y="0"/>
                </a:moveTo>
                <a:lnTo>
                  <a:pt x="1762303" y="672048"/>
                </a:lnTo>
              </a:path>
              <a:path w="2269490" h="838200">
                <a:moveTo>
                  <a:pt x="0" y="501559"/>
                </a:moveTo>
                <a:lnTo>
                  <a:pt x="4486" y="528852"/>
                </a:lnTo>
              </a:path>
              <a:path w="2269490" h="838200">
                <a:moveTo>
                  <a:pt x="13459" y="551285"/>
                </a:moveTo>
                <a:lnTo>
                  <a:pt x="26919" y="573531"/>
                </a:lnTo>
              </a:path>
              <a:path w="2269490" h="838200">
                <a:moveTo>
                  <a:pt x="44866" y="595963"/>
                </a:moveTo>
                <a:lnTo>
                  <a:pt x="67299" y="613910"/>
                </a:lnTo>
              </a:path>
              <a:path w="2269490" h="838200">
                <a:moveTo>
                  <a:pt x="89545" y="631856"/>
                </a:moveTo>
                <a:lnTo>
                  <a:pt x="111978" y="645128"/>
                </a:lnTo>
              </a:path>
              <a:path w="2269490" h="838200">
                <a:moveTo>
                  <a:pt x="134411" y="658588"/>
                </a:moveTo>
                <a:lnTo>
                  <a:pt x="156844" y="672048"/>
                </a:lnTo>
              </a:path>
              <a:path w="2269490" h="838200">
                <a:moveTo>
                  <a:pt x="183764" y="681021"/>
                </a:moveTo>
                <a:lnTo>
                  <a:pt x="206197" y="694481"/>
                </a:lnTo>
              </a:path>
              <a:path w="2269490" h="838200">
                <a:moveTo>
                  <a:pt x="233490" y="703454"/>
                </a:moveTo>
                <a:lnTo>
                  <a:pt x="260410" y="712240"/>
                </a:lnTo>
              </a:path>
              <a:path w="2269490" h="838200">
                <a:moveTo>
                  <a:pt x="287330" y="721213"/>
                </a:moveTo>
                <a:lnTo>
                  <a:pt x="296303" y="725699"/>
                </a:lnTo>
                <a:lnTo>
                  <a:pt x="314249" y="730186"/>
                </a:lnTo>
              </a:path>
              <a:path w="2269490" h="838200">
                <a:moveTo>
                  <a:pt x="341169" y="739159"/>
                </a:moveTo>
                <a:lnTo>
                  <a:pt x="367902" y="743646"/>
                </a:lnTo>
              </a:path>
              <a:path w="2269490" h="838200">
                <a:moveTo>
                  <a:pt x="394821" y="752619"/>
                </a:moveTo>
                <a:lnTo>
                  <a:pt x="421741" y="757105"/>
                </a:lnTo>
              </a:path>
              <a:path w="2269490" h="838200">
                <a:moveTo>
                  <a:pt x="448661" y="766078"/>
                </a:moveTo>
                <a:lnTo>
                  <a:pt x="475580" y="770565"/>
                </a:lnTo>
              </a:path>
              <a:path w="2269490" h="838200">
                <a:moveTo>
                  <a:pt x="502500" y="779351"/>
                </a:moveTo>
                <a:lnTo>
                  <a:pt x="506987" y="779351"/>
                </a:lnTo>
                <a:lnTo>
                  <a:pt x="529420" y="783838"/>
                </a:lnTo>
              </a:path>
              <a:path w="2269490" h="838200">
                <a:moveTo>
                  <a:pt x="556152" y="788324"/>
                </a:moveTo>
                <a:lnTo>
                  <a:pt x="583072" y="792811"/>
                </a:lnTo>
              </a:path>
              <a:path w="2269490" h="838200">
                <a:moveTo>
                  <a:pt x="609992" y="792811"/>
                </a:moveTo>
                <a:lnTo>
                  <a:pt x="627938" y="797297"/>
                </a:lnTo>
                <a:lnTo>
                  <a:pt x="636911" y="797297"/>
                </a:lnTo>
              </a:path>
              <a:path w="2269490" h="838200">
                <a:moveTo>
                  <a:pt x="663831" y="801784"/>
                </a:moveTo>
                <a:lnTo>
                  <a:pt x="690751" y="806270"/>
                </a:lnTo>
              </a:path>
              <a:path w="2269490" h="838200">
                <a:moveTo>
                  <a:pt x="717670" y="810757"/>
                </a:moveTo>
                <a:lnTo>
                  <a:pt x="744403" y="815244"/>
                </a:lnTo>
              </a:path>
              <a:path w="2269490" h="838200">
                <a:moveTo>
                  <a:pt x="771323" y="815244"/>
                </a:moveTo>
                <a:lnTo>
                  <a:pt x="798243" y="819730"/>
                </a:lnTo>
              </a:path>
              <a:path w="2269490" h="838200">
                <a:moveTo>
                  <a:pt x="825162" y="819730"/>
                </a:moveTo>
                <a:lnTo>
                  <a:pt x="852082" y="824217"/>
                </a:lnTo>
              </a:path>
              <a:path w="2269490" h="838200">
                <a:moveTo>
                  <a:pt x="879002" y="828703"/>
                </a:moveTo>
                <a:lnTo>
                  <a:pt x="892461" y="828703"/>
                </a:lnTo>
                <a:lnTo>
                  <a:pt x="905921" y="828703"/>
                </a:lnTo>
              </a:path>
              <a:path w="2269490" h="838200">
                <a:moveTo>
                  <a:pt x="932654" y="828703"/>
                </a:moveTo>
                <a:lnTo>
                  <a:pt x="959574" y="828703"/>
                </a:lnTo>
              </a:path>
              <a:path w="2269490" h="838200">
                <a:moveTo>
                  <a:pt x="986493" y="833190"/>
                </a:moveTo>
                <a:lnTo>
                  <a:pt x="1013413" y="833190"/>
                </a:lnTo>
              </a:path>
              <a:path w="2269490" h="838200">
                <a:moveTo>
                  <a:pt x="1040333" y="833190"/>
                </a:moveTo>
                <a:lnTo>
                  <a:pt x="1067626" y="833190"/>
                </a:lnTo>
              </a:path>
              <a:path w="2269490" h="838200">
                <a:moveTo>
                  <a:pt x="1094546" y="833190"/>
                </a:moveTo>
                <a:lnTo>
                  <a:pt x="1121466" y="837676"/>
                </a:lnTo>
              </a:path>
              <a:path w="2269490" h="838200">
                <a:moveTo>
                  <a:pt x="1148385" y="837676"/>
                </a:moveTo>
                <a:lnTo>
                  <a:pt x="1175305" y="837676"/>
                </a:lnTo>
              </a:path>
              <a:path w="2269490" h="838200">
                <a:moveTo>
                  <a:pt x="1202038" y="837676"/>
                </a:moveTo>
                <a:lnTo>
                  <a:pt x="1228957" y="837676"/>
                </a:lnTo>
              </a:path>
              <a:path w="2269490" h="838200">
                <a:moveTo>
                  <a:pt x="1255877" y="833190"/>
                </a:moveTo>
                <a:lnTo>
                  <a:pt x="1282797" y="833190"/>
                </a:lnTo>
              </a:path>
              <a:path w="2269490" h="838200">
                <a:moveTo>
                  <a:pt x="1309716" y="833190"/>
                </a:moveTo>
                <a:lnTo>
                  <a:pt x="1336636" y="828703"/>
                </a:lnTo>
              </a:path>
              <a:path w="2269490" h="838200">
                <a:moveTo>
                  <a:pt x="1363556" y="828703"/>
                </a:moveTo>
                <a:lnTo>
                  <a:pt x="1390288" y="824217"/>
                </a:lnTo>
              </a:path>
              <a:path w="2269490" h="838200">
                <a:moveTo>
                  <a:pt x="1417208" y="824217"/>
                </a:moveTo>
                <a:lnTo>
                  <a:pt x="1444128" y="819730"/>
                </a:lnTo>
              </a:path>
              <a:path w="2269490" h="838200">
                <a:moveTo>
                  <a:pt x="1471047" y="815244"/>
                </a:moveTo>
                <a:lnTo>
                  <a:pt x="1497967" y="810757"/>
                </a:lnTo>
              </a:path>
              <a:path w="2269490" h="838200">
                <a:moveTo>
                  <a:pt x="1524887" y="806270"/>
                </a:moveTo>
                <a:lnTo>
                  <a:pt x="1551806" y="801784"/>
                </a:lnTo>
              </a:path>
              <a:path w="2269490" h="838200">
                <a:moveTo>
                  <a:pt x="1578539" y="792811"/>
                </a:moveTo>
                <a:lnTo>
                  <a:pt x="1605459" y="788324"/>
                </a:lnTo>
              </a:path>
              <a:path w="2269490" h="838200">
                <a:moveTo>
                  <a:pt x="1632379" y="783838"/>
                </a:moveTo>
                <a:lnTo>
                  <a:pt x="1659298" y="775052"/>
                </a:lnTo>
              </a:path>
              <a:path w="2269490" h="838200">
                <a:moveTo>
                  <a:pt x="1686218" y="770565"/>
                </a:moveTo>
                <a:lnTo>
                  <a:pt x="1713138" y="761592"/>
                </a:lnTo>
              </a:path>
              <a:path w="2269490" h="838200">
                <a:moveTo>
                  <a:pt x="1740057" y="752619"/>
                </a:moveTo>
                <a:lnTo>
                  <a:pt x="1762303" y="739159"/>
                </a:lnTo>
              </a:path>
              <a:path w="2269490" h="838200">
                <a:moveTo>
                  <a:pt x="1789223" y="730186"/>
                </a:moveTo>
                <a:lnTo>
                  <a:pt x="1811656" y="721213"/>
                </a:lnTo>
                <a:lnTo>
                  <a:pt x="1816143" y="721213"/>
                </a:lnTo>
              </a:path>
              <a:path w="2269490" h="838200">
                <a:moveTo>
                  <a:pt x="1838576" y="707940"/>
                </a:moveTo>
                <a:lnTo>
                  <a:pt x="1861009" y="694481"/>
                </a:lnTo>
              </a:path>
              <a:path w="2269490" h="838200">
                <a:moveTo>
                  <a:pt x="1883442" y="685507"/>
                </a:moveTo>
                <a:lnTo>
                  <a:pt x="1906249" y="667561"/>
                </a:lnTo>
              </a:path>
              <a:path w="2269490" h="838200">
                <a:moveTo>
                  <a:pt x="1928682" y="649615"/>
                </a:moveTo>
                <a:lnTo>
                  <a:pt x="1942142" y="640642"/>
                </a:lnTo>
                <a:lnTo>
                  <a:pt x="1951115" y="631856"/>
                </a:lnTo>
              </a:path>
              <a:path w="2269490" h="838200">
                <a:moveTo>
                  <a:pt x="1969061" y="609423"/>
                </a:moveTo>
                <a:lnTo>
                  <a:pt x="1982521" y="595963"/>
                </a:lnTo>
                <a:lnTo>
                  <a:pt x="1987008" y="586990"/>
                </a:lnTo>
              </a:path>
              <a:path w="2269490" h="838200">
                <a:moveTo>
                  <a:pt x="2000468" y="564744"/>
                </a:moveTo>
                <a:lnTo>
                  <a:pt x="2009441" y="551285"/>
                </a:lnTo>
                <a:lnTo>
                  <a:pt x="2009441" y="542312"/>
                </a:lnTo>
              </a:path>
              <a:path w="2269490" h="838200">
                <a:moveTo>
                  <a:pt x="2013741" y="515392"/>
                </a:moveTo>
                <a:lnTo>
                  <a:pt x="2018227" y="501559"/>
                </a:lnTo>
              </a:path>
              <a:path w="2269490" h="838200">
                <a:moveTo>
                  <a:pt x="2076553" y="564744"/>
                </a:moveTo>
                <a:lnTo>
                  <a:pt x="2018227" y="501559"/>
                </a:lnTo>
                <a:lnTo>
                  <a:pt x="1955602" y="564744"/>
                </a:lnTo>
              </a:path>
            </a:pathLst>
          </a:custGeom>
          <a:ln w="134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4660471" y="4567889"/>
            <a:ext cx="680085" cy="350520"/>
            <a:chOff x="4660471" y="4567889"/>
            <a:chExt cx="680085" cy="350520"/>
          </a:xfrm>
        </p:grpSpPr>
        <p:sp>
          <p:nvSpPr>
            <p:cNvPr id="50" name="object 50"/>
            <p:cNvSpPr/>
            <p:nvPr/>
          </p:nvSpPr>
          <p:spPr>
            <a:xfrm>
              <a:off x="4667456" y="4574874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32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170323" y="336061"/>
                  </a:lnTo>
                  <a:lnTo>
                    <a:pt x="1703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67456" y="4574874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0" y="336061"/>
                  </a:moveTo>
                  <a:lnTo>
                    <a:pt x="170323" y="336061"/>
                  </a:lnTo>
                  <a:lnTo>
                    <a:pt x="170323" y="0"/>
                  </a:lnTo>
                  <a:lnTo>
                    <a:pt x="0" y="0"/>
                  </a:lnTo>
                  <a:lnTo>
                    <a:pt x="0" y="336061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837760" y="4574874"/>
              <a:ext cx="502920" cy="336550"/>
            </a:xfrm>
            <a:custGeom>
              <a:avLst/>
              <a:gdLst/>
              <a:ahLst/>
              <a:cxnLst/>
              <a:rect l="l" t="t" r="r" b="b"/>
              <a:pathLst>
                <a:path w="502920" h="336550">
                  <a:moveTo>
                    <a:pt x="50246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502463" y="336061"/>
                  </a:lnTo>
                  <a:lnTo>
                    <a:pt x="50246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837769" y="4574873"/>
            <a:ext cx="502920" cy="336550"/>
          </a:xfrm>
          <a:prstGeom prst="rect">
            <a:avLst/>
          </a:prstGeom>
          <a:ln w="13483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20"/>
              </a:spcBef>
            </a:pPr>
            <a:r>
              <a:rPr sz="1750" spc="-25" dirty="0">
                <a:latin typeface="Arial MT"/>
                <a:cs typeface="Arial MT"/>
              </a:rPr>
              <a:t>30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573283" y="4567889"/>
            <a:ext cx="3448685" cy="1185545"/>
            <a:chOff x="3573283" y="4567889"/>
            <a:chExt cx="3448685" cy="1185545"/>
          </a:xfrm>
        </p:grpSpPr>
        <p:sp>
          <p:nvSpPr>
            <p:cNvPr id="55" name="object 55"/>
            <p:cNvSpPr/>
            <p:nvPr/>
          </p:nvSpPr>
          <p:spPr>
            <a:xfrm>
              <a:off x="5340261" y="4574874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32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170323" y="336061"/>
                  </a:lnTo>
                  <a:lnTo>
                    <a:pt x="1703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53968" y="4574874"/>
              <a:ext cx="3201670" cy="1106805"/>
            </a:xfrm>
            <a:custGeom>
              <a:avLst/>
              <a:gdLst/>
              <a:ahLst/>
              <a:cxnLst/>
              <a:rect l="l" t="t" r="r" b="b"/>
              <a:pathLst>
                <a:path w="3201670" h="1106804">
                  <a:moveTo>
                    <a:pt x="1686293" y="336061"/>
                  </a:moveTo>
                  <a:lnTo>
                    <a:pt x="1856616" y="336061"/>
                  </a:lnTo>
                  <a:lnTo>
                    <a:pt x="1856616" y="0"/>
                  </a:lnTo>
                  <a:lnTo>
                    <a:pt x="1686293" y="0"/>
                  </a:lnTo>
                  <a:lnTo>
                    <a:pt x="1686293" y="336061"/>
                  </a:lnTo>
                  <a:close/>
                </a:path>
                <a:path w="3201670" h="1106804">
                  <a:moveTo>
                    <a:pt x="1856597" y="336061"/>
                  </a:moveTo>
                  <a:lnTo>
                    <a:pt x="2358611" y="336061"/>
                  </a:lnTo>
                  <a:lnTo>
                    <a:pt x="2358611" y="0"/>
                  </a:lnTo>
                  <a:lnTo>
                    <a:pt x="1856597" y="0"/>
                  </a:lnTo>
                  <a:lnTo>
                    <a:pt x="1856597" y="336061"/>
                  </a:lnTo>
                  <a:close/>
                </a:path>
                <a:path w="3201670" h="1106804">
                  <a:moveTo>
                    <a:pt x="2358537" y="336061"/>
                  </a:moveTo>
                  <a:lnTo>
                    <a:pt x="2529308" y="336061"/>
                  </a:lnTo>
                  <a:lnTo>
                    <a:pt x="2529308" y="0"/>
                  </a:lnTo>
                  <a:lnTo>
                    <a:pt x="2358537" y="0"/>
                  </a:lnTo>
                  <a:lnTo>
                    <a:pt x="2358537" y="336061"/>
                  </a:lnTo>
                  <a:close/>
                </a:path>
                <a:path w="3201670" h="1106804">
                  <a:moveTo>
                    <a:pt x="2529215" y="336061"/>
                  </a:moveTo>
                  <a:lnTo>
                    <a:pt x="3031229" y="336061"/>
                  </a:lnTo>
                  <a:lnTo>
                    <a:pt x="3031229" y="0"/>
                  </a:lnTo>
                  <a:lnTo>
                    <a:pt x="2529215" y="0"/>
                  </a:lnTo>
                  <a:lnTo>
                    <a:pt x="2529215" y="336061"/>
                  </a:lnTo>
                  <a:close/>
                </a:path>
                <a:path w="3201670" h="1106804">
                  <a:moveTo>
                    <a:pt x="3031342" y="336061"/>
                  </a:moveTo>
                  <a:lnTo>
                    <a:pt x="3201665" y="336061"/>
                  </a:lnTo>
                  <a:lnTo>
                    <a:pt x="3201665" y="0"/>
                  </a:lnTo>
                  <a:lnTo>
                    <a:pt x="3031342" y="0"/>
                  </a:lnTo>
                  <a:lnTo>
                    <a:pt x="3031342" y="336061"/>
                  </a:lnTo>
                  <a:close/>
                </a:path>
                <a:path w="3201670" h="1106804">
                  <a:moveTo>
                    <a:pt x="1098546" y="170489"/>
                  </a:moveTo>
                  <a:lnTo>
                    <a:pt x="0" y="1106608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573283" y="5627793"/>
              <a:ext cx="134620" cy="125730"/>
            </a:xfrm>
            <a:custGeom>
              <a:avLst/>
              <a:gdLst/>
              <a:ahLst/>
              <a:cxnLst/>
              <a:rect l="l" t="t" r="r" b="b"/>
              <a:pathLst>
                <a:path w="134620" h="125729">
                  <a:moveTo>
                    <a:pt x="53783" y="0"/>
                  </a:moveTo>
                  <a:lnTo>
                    <a:pt x="0" y="125286"/>
                  </a:lnTo>
                  <a:lnTo>
                    <a:pt x="134467" y="89488"/>
                  </a:lnTo>
                  <a:lnTo>
                    <a:pt x="537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425319" y="4745363"/>
              <a:ext cx="1507490" cy="949960"/>
            </a:xfrm>
            <a:custGeom>
              <a:avLst/>
              <a:gdLst/>
              <a:ahLst/>
              <a:cxnLst/>
              <a:rect l="l" t="t" r="r" b="b"/>
              <a:pathLst>
                <a:path w="1507490" h="949960">
                  <a:moveTo>
                    <a:pt x="0" y="0"/>
                  </a:moveTo>
                  <a:lnTo>
                    <a:pt x="1506940" y="949560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87020" y="5636747"/>
              <a:ext cx="135255" cy="116839"/>
            </a:xfrm>
            <a:custGeom>
              <a:avLst/>
              <a:gdLst/>
              <a:ahLst/>
              <a:cxnLst/>
              <a:rect l="l" t="t" r="r" b="b"/>
              <a:pathLst>
                <a:path w="135254" h="116839">
                  <a:moveTo>
                    <a:pt x="63186" y="0"/>
                  </a:moveTo>
                  <a:lnTo>
                    <a:pt x="0" y="98442"/>
                  </a:lnTo>
                  <a:lnTo>
                    <a:pt x="134785" y="116332"/>
                  </a:lnTo>
                  <a:lnTo>
                    <a:pt x="631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762248" y="4239179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12893" y="5919094"/>
            <a:ext cx="507365" cy="336550"/>
          </a:xfrm>
          <a:prstGeom prst="rect">
            <a:avLst/>
          </a:prstGeom>
          <a:solidFill>
            <a:srgbClr val="C0C0C0"/>
          </a:solidFill>
          <a:ln w="13453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20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813108" y="5912370"/>
            <a:ext cx="264795" cy="349885"/>
            <a:chOff x="2813108" y="5912370"/>
            <a:chExt cx="264795" cy="349885"/>
          </a:xfrm>
        </p:grpSpPr>
        <p:sp>
          <p:nvSpPr>
            <p:cNvPr id="63" name="object 63"/>
            <p:cNvSpPr/>
            <p:nvPr/>
          </p:nvSpPr>
          <p:spPr>
            <a:xfrm>
              <a:off x="2819831" y="5919093"/>
              <a:ext cx="251460" cy="336550"/>
            </a:xfrm>
            <a:custGeom>
              <a:avLst/>
              <a:gdLst/>
              <a:ahLst/>
              <a:cxnLst/>
              <a:rect l="l" t="t" r="r" b="b"/>
              <a:pathLst>
                <a:path w="251460" h="336550">
                  <a:moveTo>
                    <a:pt x="251007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251007" y="336061"/>
                  </a:lnTo>
                  <a:lnTo>
                    <a:pt x="251007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19831" y="5919093"/>
              <a:ext cx="251460" cy="336550"/>
            </a:xfrm>
            <a:custGeom>
              <a:avLst/>
              <a:gdLst/>
              <a:ahLst/>
              <a:cxnLst/>
              <a:rect l="l" t="t" r="r" b="b"/>
              <a:pathLst>
                <a:path w="251460" h="336550">
                  <a:moveTo>
                    <a:pt x="0" y="336061"/>
                  </a:moveTo>
                  <a:lnTo>
                    <a:pt x="251007" y="336061"/>
                  </a:lnTo>
                  <a:lnTo>
                    <a:pt x="251007" y="0"/>
                  </a:lnTo>
                  <a:lnTo>
                    <a:pt x="0" y="0"/>
                  </a:lnTo>
                  <a:lnTo>
                    <a:pt x="0" y="336061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4575225" y="5912108"/>
            <a:ext cx="1352550" cy="350520"/>
            <a:chOff x="4575225" y="5912108"/>
            <a:chExt cx="1352550" cy="350520"/>
          </a:xfrm>
        </p:grpSpPr>
        <p:sp>
          <p:nvSpPr>
            <p:cNvPr id="66" name="object 66"/>
            <p:cNvSpPr/>
            <p:nvPr/>
          </p:nvSpPr>
          <p:spPr>
            <a:xfrm>
              <a:off x="4582210" y="5919093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32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170323" y="336061"/>
                  </a:lnTo>
                  <a:lnTo>
                    <a:pt x="170323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82210" y="5919093"/>
              <a:ext cx="1242060" cy="336550"/>
            </a:xfrm>
            <a:custGeom>
              <a:avLst/>
              <a:gdLst/>
              <a:ahLst/>
              <a:cxnLst/>
              <a:rect l="l" t="t" r="r" b="b"/>
              <a:pathLst>
                <a:path w="1242060" h="336550">
                  <a:moveTo>
                    <a:pt x="0" y="336061"/>
                  </a:moveTo>
                  <a:lnTo>
                    <a:pt x="170323" y="336061"/>
                  </a:lnTo>
                  <a:lnTo>
                    <a:pt x="170323" y="0"/>
                  </a:lnTo>
                  <a:lnTo>
                    <a:pt x="0" y="0"/>
                  </a:lnTo>
                  <a:lnTo>
                    <a:pt x="0" y="336061"/>
                  </a:lnTo>
                  <a:close/>
                </a:path>
                <a:path w="1242060" h="336550">
                  <a:moveTo>
                    <a:pt x="85245" y="170047"/>
                  </a:moveTo>
                  <a:lnTo>
                    <a:pt x="1242043" y="170047"/>
                  </a:lnTo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806308" y="6026498"/>
              <a:ext cx="121285" cy="121285"/>
            </a:xfrm>
            <a:custGeom>
              <a:avLst/>
              <a:gdLst/>
              <a:ahLst/>
              <a:cxnLst/>
              <a:rect l="l" t="t" r="r" b="b"/>
              <a:pathLst>
                <a:path w="121285" h="121285">
                  <a:moveTo>
                    <a:pt x="0" y="0"/>
                  </a:moveTo>
                  <a:lnTo>
                    <a:pt x="0" y="120815"/>
                  </a:lnTo>
                  <a:lnTo>
                    <a:pt x="120951" y="62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407765" y="5582958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070839" y="5919094"/>
            <a:ext cx="502920" cy="336550"/>
          </a:xfrm>
          <a:prstGeom prst="rect">
            <a:avLst/>
          </a:prstGeom>
          <a:solidFill>
            <a:srgbClr val="C0C0C0"/>
          </a:solidFill>
          <a:ln w="1346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14"/>
              </a:spcBef>
            </a:pPr>
            <a:r>
              <a:rPr sz="1750" spc="-25" dirty="0">
                <a:latin typeface="Arial MT"/>
                <a:cs typeface="Arial MT"/>
              </a:rPr>
              <a:t>25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566560" y="5912370"/>
            <a:ext cx="1022985" cy="349885"/>
            <a:chOff x="3566560" y="5912370"/>
            <a:chExt cx="1022985" cy="349885"/>
          </a:xfrm>
        </p:grpSpPr>
        <p:sp>
          <p:nvSpPr>
            <p:cNvPr id="72" name="object 72"/>
            <p:cNvSpPr/>
            <p:nvPr/>
          </p:nvSpPr>
          <p:spPr>
            <a:xfrm>
              <a:off x="3573283" y="5919093"/>
              <a:ext cx="255904" cy="336550"/>
            </a:xfrm>
            <a:custGeom>
              <a:avLst/>
              <a:gdLst/>
              <a:ahLst/>
              <a:cxnLst/>
              <a:rect l="l" t="t" r="r" b="b"/>
              <a:pathLst>
                <a:path w="255904" h="336550">
                  <a:moveTo>
                    <a:pt x="255493" y="0"/>
                  </a:moveTo>
                  <a:lnTo>
                    <a:pt x="0" y="0"/>
                  </a:lnTo>
                  <a:lnTo>
                    <a:pt x="0" y="336061"/>
                  </a:lnTo>
                  <a:lnTo>
                    <a:pt x="255493" y="336061"/>
                  </a:lnTo>
                  <a:lnTo>
                    <a:pt x="255493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573283" y="5919093"/>
              <a:ext cx="1009015" cy="336550"/>
            </a:xfrm>
            <a:custGeom>
              <a:avLst/>
              <a:gdLst/>
              <a:ahLst/>
              <a:cxnLst/>
              <a:rect l="l" t="t" r="r" b="b"/>
              <a:pathLst>
                <a:path w="1009014" h="336550">
                  <a:moveTo>
                    <a:pt x="0" y="336061"/>
                  </a:moveTo>
                  <a:lnTo>
                    <a:pt x="255493" y="336061"/>
                  </a:lnTo>
                  <a:lnTo>
                    <a:pt x="255493" y="0"/>
                  </a:lnTo>
                  <a:lnTo>
                    <a:pt x="0" y="0"/>
                  </a:lnTo>
                  <a:lnTo>
                    <a:pt x="0" y="336061"/>
                  </a:lnTo>
                  <a:close/>
                </a:path>
                <a:path w="1009014" h="336550">
                  <a:moveTo>
                    <a:pt x="255493" y="336061"/>
                  </a:moveTo>
                  <a:lnTo>
                    <a:pt x="757508" y="336061"/>
                  </a:lnTo>
                  <a:lnTo>
                    <a:pt x="757508" y="0"/>
                  </a:lnTo>
                  <a:lnTo>
                    <a:pt x="255493" y="0"/>
                  </a:lnTo>
                  <a:lnTo>
                    <a:pt x="255493" y="336061"/>
                  </a:lnTo>
                  <a:close/>
                </a:path>
                <a:path w="1009014" h="336550">
                  <a:moveTo>
                    <a:pt x="757489" y="336061"/>
                  </a:moveTo>
                  <a:lnTo>
                    <a:pt x="1008945" y="336061"/>
                  </a:lnTo>
                  <a:lnTo>
                    <a:pt x="1008945" y="0"/>
                  </a:lnTo>
                  <a:lnTo>
                    <a:pt x="757489" y="0"/>
                  </a:lnTo>
                  <a:lnTo>
                    <a:pt x="757489" y="336061"/>
                  </a:lnTo>
                  <a:close/>
                </a:path>
              </a:pathLst>
            </a:custGeom>
            <a:ln w="134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022238" y="5582958"/>
            <a:ext cx="6521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5920536" y="5912370"/>
          <a:ext cx="2438398" cy="335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730"/>
                <a:gridCol w="250825"/>
                <a:gridCol w="506730"/>
                <a:gridCol w="250825"/>
                <a:gridCol w="502284"/>
                <a:gridCol w="255269"/>
                <a:gridCol w="165735"/>
              </a:tblGrid>
              <a:tr h="335915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50" spc="-25" dirty="0">
                          <a:latin typeface="Arial MT"/>
                          <a:cs typeface="Arial MT"/>
                        </a:rPr>
                        <a:t>30</a:t>
                      </a:r>
                      <a:endParaRPr sz="17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750" spc="-25" dirty="0">
                          <a:latin typeface="Arial MT"/>
                          <a:cs typeface="Arial MT"/>
                        </a:rPr>
                        <a:t>60</a:t>
                      </a:r>
                      <a:endParaRPr sz="1750">
                        <a:latin typeface="Arial MT"/>
                        <a:cs typeface="Arial MT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6" name="object 76"/>
          <p:cNvSpPr/>
          <p:nvPr/>
        </p:nvSpPr>
        <p:spPr>
          <a:xfrm>
            <a:off x="6057371" y="5932523"/>
            <a:ext cx="126364" cy="156845"/>
          </a:xfrm>
          <a:custGeom>
            <a:avLst/>
            <a:gdLst/>
            <a:ahLst/>
            <a:cxnLst/>
            <a:rect l="l" t="t" r="r" b="b"/>
            <a:pathLst>
              <a:path w="126364" h="156845">
                <a:moveTo>
                  <a:pt x="125812" y="156618"/>
                </a:moveTo>
                <a:lnTo>
                  <a:pt x="108052" y="134241"/>
                </a:lnTo>
              </a:path>
              <a:path w="126364" h="156845">
                <a:moveTo>
                  <a:pt x="90106" y="111864"/>
                </a:moveTo>
                <a:lnTo>
                  <a:pt x="72159" y="89488"/>
                </a:lnTo>
              </a:path>
              <a:path w="126364" h="156845">
                <a:moveTo>
                  <a:pt x="54213" y="67130"/>
                </a:moveTo>
                <a:lnTo>
                  <a:pt x="36266" y="44753"/>
                </a:lnTo>
              </a:path>
              <a:path w="126364" h="156845">
                <a:moveTo>
                  <a:pt x="18320" y="22376"/>
                </a:moveTo>
                <a:lnTo>
                  <a:pt x="0" y="0"/>
                </a:lnTo>
              </a:path>
            </a:pathLst>
          </a:custGeom>
          <a:ln w="134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160422" y="4825915"/>
            <a:ext cx="879475" cy="1084580"/>
          </a:xfrm>
          <a:custGeom>
            <a:avLst/>
            <a:gdLst/>
            <a:ahLst/>
            <a:cxnLst/>
            <a:rect l="l" t="t" r="r" b="b"/>
            <a:pathLst>
              <a:path w="879475" h="1084579">
                <a:moveTo>
                  <a:pt x="879002" y="1084231"/>
                </a:moveTo>
                <a:lnTo>
                  <a:pt x="861055" y="1061854"/>
                </a:lnTo>
              </a:path>
              <a:path w="879475" h="1084579">
                <a:moveTo>
                  <a:pt x="843109" y="1039496"/>
                </a:moveTo>
                <a:lnTo>
                  <a:pt x="825162" y="1017120"/>
                </a:lnTo>
              </a:path>
              <a:path w="879475" h="1084579">
                <a:moveTo>
                  <a:pt x="807216" y="994294"/>
                </a:moveTo>
                <a:lnTo>
                  <a:pt x="789269" y="971918"/>
                </a:lnTo>
              </a:path>
              <a:path w="879475" h="1084579">
                <a:moveTo>
                  <a:pt x="771323" y="949541"/>
                </a:moveTo>
                <a:lnTo>
                  <a:pt x="753376" y="927164"/>
                </a:lnTo>
              </a:path>
              <a:path w="879475" h="1084579">
                <a:moveTo>
                  <a:pt x="735617" y="904788"/>
                </a:moveTo>
                <a:lnTo>
                  <a:pt x="717670" y="882430"/>
                </a:lnTo>
              </a:path>
              <a:path w="879475" h="1084579">
                <a:moveTo>
                  <a:pt x="699724" y="860053"/>
                </a:moveTo>
                <a:lnTo>
                  <a:pt x="681778" y="837676"/>
                </a:lnTo>
              </a:path>
              <a:path w="879475" h="1084579">
                <a:moveTo>
                  <a:pt x="663831" y="815300"/>
                </a:moveTo>
                <a:lnTo>
                  <a:pt x="645885" y="792923"/>
                </a:lnTo>
              </a:path>
              <a:path w="879475" h="1084579">
                <a:moveTo>
                  <a:pt x="627938" y="770546"/>
                </a:moveTo>
                <a:lnTo>
                  <a:pt x="609992" y="748188"/>
                </a:lnTo>
              </a:path>
              <a:path w="879475" h="1084579">
                <a:moveTo>
                  <a:pt x="592045" y="725812"/>
                </a:moveTo>
                <a:lnTo>
                  <a:pt x="574099" y="703435"/>
                </a:lnTo>
              </a:path>
              <a:path w="879475" h="1084579">
                <a:moveTo>
                  <a:pt x="556339" y="681058"/>
                </a:moveTo>
                <a:lnTo>
                  <a:pt x="538393" y="658682"/>
                </a:lnTo>
              </a:path>
              <a:path w="879475" h="1084579">
                <a:moveTo>
                  <a:pt x="520446" y="636305"/>
                </a:moveTo>
                <a:lnTo>
                  <a:pt x="502500" y="613480"/>
                </a:lnTo>
              </a:path>
              <a:path w="879475" h="1084579">
                <a:moveTo>
                  <a:pt x="484554" y="591122"/>
                </a:moveTo>
                <a:lnTo>
                  <a:pt x="466607" y="568745"/>
                </a:lnTo>
              </a:path>
              <a:path w="879475" h="1084579">
                <a:moveTo>
                  <a:pt x="448661" y="546368"/>
                </a:moveTo>
                <a:lnTo>
                  <a:pt x="430714" y="523992"/>
                </a:lnTo>
              </a:path>
              <a:path w="879475" h="1084579">
                <a:moveTo>
                  <a:pt x="412768" y="501615"/>
                </a:moveTo>
                <a:lnTo>
                  <a:pt x="394821" y="479238"/>
                </a:lnTo>
              </a:path>
              <a:path w="879475" h="1084579">
                <a:moveTo>
                  <a:pt x="376875" y="456880"/>
                </a:moveTo>
                <a:lnTo>
                  <a:pt x="359115" y="434503"/>
                </a:lnTo>
              </a:path>
              <a:path w="879475" h="1084579">
                <a:moveTo>
                  <a:pt x="341169" y="412127"/>
                </a:moveTo>
                <a:lnTo>
                  <a:pt x="327709" y="389750"/>
                </a:lnTo>
              </a:path>
              <a:path w="879475" h="1084579">
                <a:moveTo>
                  <a:pt x="309763" y="371841"/>
                </a:moveTo>
                <a:lnTo>
                  <a:pt x="291816" y="349483"/>
                </a:lnTo>
              </a:path>
              <a:path w="879475" h="1084579">
                <a:moveTo>
                  <a:pt x="273870" y="327107"/>
                </a:moveTo>
                <a:lnTo>
                  <a:pt x="255923" y="304730"/>
                </a:lnTo>
              </a:path>
              <a:path w="879475" h="1084579">
                <a:moveTo>
                  <a:pt x="237977" y="282353"/>
                </a:moveTo>
                <a:lnTo>
                  <a:pt x="220030" y="259977"/>
                </a:lnTo>
              </a:path>
              <a:path w="879475" h="1084579">
                <a:moveTo>
                  <a:pt x="202084" y="237151"/>
                </a:moveTo>
                <a:lnTo>
                  <a:pt x="184138" y="214793"/>
                </a:lnTo>
              </a:path>
              <a:path w="879475" h="1084579">
                <a:moveTo>
                  <a:pt x="166378" y="192417"/>
                </a:moveTo>
                <a:lnTo>
                  <a:pt x="148432" y="170040"/>
                </a:lnTo>
              </a:path>
              <a:path w="879475" h="1084579">
                <a:moveTo>
                  <a:pt x="130485" y="147663"/>
                </a:moveTo>
                <a:lnTo>
                  <a:pt x="112539" y="125286"/>
                </a:lnTo>
              </a:path>
              <a:path w="879475" h="1084579">
                <a:moveTo>
                  <a:pt x="94592" y="102910"/>
                </a:moveTo>
                <a:lnTo>
                  <a:pt x="76646" y="80533"/>
                </a:lnTo>
              </a:path>
              <a:path w="879475" h="1084579">
                <a:moveTo>
                  <a:pt x="58325" y="58175"/>
                </a:moveTo>
                <a:lnTo>
                  <a:pt x="40379" y="35798"/>
                </a:lnTo>
              </a:path>
              <a:path w="879475" h="1084579">
                <a:moveTo>
                  <a:pt x="22433" y="13422"/>
                </a:moveTo>
                <a:lnTo>
                  <a:pt x="13459" y="0"/>
                </a:lnTo>
              </a:path>
              <a:path w="879475" h="1084579">
                <a:moveTo>
                  <a:pt x="94592" y="8954"/>
                </a:moveTo>
                <a:lnTo>
                  <a:pt x="13459" y="0"/>
                </a:lnTo>
                <a:lnTo>
                  <a:pt x="0" y="85020"/>
                </a:lnTo>
              </a:path>
            </a:pathLst>
          </a:custGeom>
          <a:ln w="1344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729" y="635888"/>
            <a:ext cx="6165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Violation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minimum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: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fusion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33863" y="2883288"/>
            <a:ext cx="5035550" cy="1010919"/>
          </a:xfrm>
          <a:custGeom>
            <a:avLst/>
            <a:gdLst/>
            <a:ahLst/>
            <a:cxnLst/>
            <a:rect l="l" t="t" r="r" b="b"/>
            <a:pathLst>
              <a:path w="5035550" h="1010920">
                <a:moveTo>
                  <a:pt x="407105" y="1010856"/>
                </a:moveTo>
                <a:lnTo>
                  <a:pt x="4628419" y="1010856"/>
                </a:lnTo>
                <a:lnTo>
                  <a:pt x="4706190" y="1002198"/>
                </a:lnTo>
                <a:lnTo>
                  <a:pt x="4784503" y="980733"/>
                </a:lnTo>
                <a:lnTo>
                  <a:pt x="4853793" y="941770"/>
                </a:lnTo>
                <a:lnTo>
                  <a:pt x="4914422" y="894330"/>
                </a:lnTo>
                <a:lnTo>
                  <a:pt x="4966209" y="829573"/>
                </a:lnTo>
                <a:lnTo>
                  <a:pt x="5000854" y="760487"/>
                </a:lnTo>
                <a:lnTo>
                  <a:pt x="5026838" y="687072"/>
                </a:lnTo>
                <a:lnTo>
                  <a:pt x="5035500" y="604638"/>
                </a:lnTo>
                <a:lnTo>
                  <a:pt x="5035500" y="401709"/>
                </a:lnTo>
                <a:lnTo>
                  <a:pt x="5026838" y="323964"/>
                </a:lnTo>
                <a:lnTo>
                  <a:pt x="5000854" y="246220"/>
                </a:lnTo>
                <a:lnTo>
                  <a:pt x="4966209" y="177134"/>
                </a:lnTo>
                <a:lnTo>
                  <a:pt x="4914422" y="116706"/>
                </a:lnTo>
                <a:lnTo>
                  <a:pt x="4853793" y="64756"/>
                </a:lnTo>
                <a:lnTo>
                  <a:pt x="4784503" y="30304"/>
                </a:lnTo>
                <a:lnTo>
                  <a:pt x="4706190" y="4329"/>
                </a:lnTo>
                <a:lnTo>
                  <a:pt x="4628419" y="0"/>
                </a:lnTo>
                <a:lnTo>
                  <a:pt x="407105" y="0"/>
                </a:lnTo>
                <a:lnTo>
                  <a:pt x="324913" y="4329"/>
                </a:lnTo>
                <a:lnTo>
                  <a:pt x="251365" y="30304"/>
                </a:lnTo>
                <a:lnTo>
                  <a:pt x="181713" y="64756"/>
                </a:lnTo>
                <a:lnTo>
                  <a:pt x="116813" y="116706"/>
                </a:lnTo>
                <a:lnTo>
                  <a:pt x="69223" y="177134"/>
                </a:lnTo>
                <a:lnTo>
                  <a:pt x="30285" y="246220"/>
                </a:lnTo>
                <a:lnTo>
                  <a:pt x="8654" y="323964"/>
                </a:lnTo>
                <a:lnTo>
                  <a:pt x="0" y="401709"/>
                </a:lnTo>
                <a:lnTo>
                  <a:pt x="0" y="604638"/>
                </a:lnTo>
                <a:lnTo>
                  <a:pt x="8654" y="687072"/>
                </a:lnTo>
                <a:lnTo>
                  <a:pt x="30285" y="760487"/>
                </a:lnTo>
                <a:lnTo>
                  <a:pt x="69223" y="829573"/>
                </a:lnTo>
                <a:lnTo>
                  <a:pt x="116813" y="894330"/>
                </a:lnTo>
                <a:lnTo>
                  <a:pt x="181713" y="941770"/>
                </a:lnTo>
                <a:lnTo>
                  <a:pt x="251365" y="980733"/>
                </a:lnTo>
                <a:lnTo>
                  <a:pt x="324913" y="1002198"/>
                </a:lnTo>
                <a:lnTo>
                  <a:pt x="407105" y="1010856"/>
                </a:lnTo>
                <a:close/>
              </a:path>
            </a:pathLst>
          </a:custGeom>
          <a:ln w="21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33863" y="3976219"/>
            <a:ext cx="7456170" cy="484505"/>
            <a:chOff x="1033863" y="3976219"/>
            <a:chExt cx="7456170" cy="484505"/>
          </a:xfrm>
        </p:grpSpPr>
        <p:sp>
          <p:nvSpPr>
            <p:cNvPr id="5" name="object 5"/>
            <p:cNvSpPr/>
            <p:nvPr/>
          </p:nvSpPr>
          <p:spPr>
            <a:xfrm>
              <a:off x="4605785" y="3976219"/>
              <a:ext cx="0" cy="324485"/>
            </a:xfrm>
            <a:custGeom>
              <a:avLst/>
              <a:gdLst/>
              <a:ahLst/>
              <a:cxnLst/>
              <a:rect l="l" t="t" r="r" b="b"/>
              <a:pathLst>
                <a:path h="324485">
                  <a:moveTo>
                    <a:pt x="0" y="0"/>
                  </a:moveTo>
                  <a:lnTo>
                    <a:pt x="0" y="324325"/>
                  </a:lnTo>
                </a:path>
              </a:pathLst>
            </a:custGeom>
            <a:ln w="1297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49487" y="4287016"/>
              <a:ext cx="117475" cy="173355"/>
            </a:xfrm>
            <a:custGeom>
              <a:avLst/>
              <a:gdLst/>
              <a:ahLst/>
              <a:cxnLst/>
              <a:rect l="l" t="t" r="r" b="b"/>
              <a:pathLst>
                <a:path w="117475" h="173354">
                  <a:moveTo>
                    <a:pt x="117288" y="0"/>
                  </a:moveTo>
                  <a:lnTo>
                    <a:pt x="0" y="0"/>
                  </a:lnTo>
                  <a:lnTo>
                    <a:pt x="56298" y="173166"/>
                  </a:lnTo>
                  <a:lnTo>
                    <a:pt x="11728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3863" y="4217930"/>
              <a:ext cx="7404100" cy="0"/>
            </a:xfrm>
            <a:custGeom>
              <a:avLst/>
              <a:gdLst/>
              <a:ahLst/>
              <a:cxnLst/>
              <a:rect l="l" t="t" r="r" b="b"/>
              <a:pathLst>
                <a:path w="7404100">
                  <a:moveTo>
                    <a:pt x="0" y="0"/>
                  </a:moveTo>
                  <a:lnTo>
                    <a:pt x="7403821" y="0"/>
                  </a:lnTo>
                </a:path>
              </a:pathLst>
            </a:custGeom>
            <a:ln w="12974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63487" y="4217930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983" y="0"/>
                  </a:lnTo>
                </a:path>
              </a:pathLst>
            </a:custGeom>
            <a:ln w="12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6065" y="3246062"/>
            <a:ext cx="485140" cy="324485"/>
          </a:xfrm>
          <a:prstGeom prst="rect">
            <a:avLst/>
          </a:prstGeom>
          <a:solidFill>
            <a:srgbClr val="C0C0C0"/>
          </a:solidFill>
          <a:ln w="12977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 MT"/>
                <a:cs typeface="Arial MT"/>
              </a:rPr>
              <a:t>10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94390" y="3239422"/>
            <a:ext cx="1884045" cy="337820"/>
            <a:chOff x="1594390" y="3239422"/>
            <a:chExt cx="1884045" cy="337820"/>
          </a:xfrm>
        </p:grpSpPr>
        <p:sp>
          <p:nvSpPr>
            <p:cNvPr id="11" name="object 11"/>
            <p:cNvSpPr/>
            <p:nvPr/>
          </p:nvSpPr>
          <p:spPr>
            <a:xfrm>
              <a:off x="1601058" y="3246089"/>
              <a:ext cx="247650" cy="324485"/>
            </a:xfrm>
            <a:custGeom>
              <a:avLst/>
              <a:gdLst/>
              <a:ahLst/>
              <a:cxnLst/>
              <a:rect l="l" t="t" r="r" b="b"/>
              <a:pathLst>
                <a:path w="247650" h="324485">
                  <a:moveTo>
                    <a:pt x="247045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247045" y="324271"/>
                  </a:lnTo>
                  <a:lnTo>
                    <a:pt x="24704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01058" y="3246089"/>
              <a:ext cx="247650" cy="324485"/>
            </a:xfrm>
            <a:custGeom>
              <a:avLst/>
              <a:gdLst/>
              <a:ahLst/>
              <a:cxnLst/>
              <a:rect l="l" t="t" r="r" b="b"/>
              <a:pathLst>
                <a:path w="247650" h="324485">
                  <a:moveTo>
                    <a:pt x="0" y="324271"/>
                  </a:moveTo>
                  <a:lnTo>
                    <a:pt x="247045" y="324271"/>
                  </a:lnTo>
                  <a:lnTo>
                    <a:pt x="247045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06953" y="3246089"/>
              <a:ext cx="164465" cy="324485"/>
            </a:xfrm>
            <a:custGeom>
              <a:avLst/>
              <a:gdLst/>
              <a:ahLst/>
              <a:cxnLst/>
              <a:rect l="l" t="t" r="r" b="b"/>
              <a:pathLst>
                <a:path w="164464" h="324485">
                  <a:moveTo>
                    <a:pt x="164402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164402" y="324271"/>
                  </a:lnTo>
                  <a:lnTo>
                    <a:pt x="16440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06953" y="3246089"/>
              <a:ext cx="164465" cy="324485"/>
            </a:xfrm>
            <a:custGeom>
              <a:avLst/>
              <a:gdLst/>
              <a:ahLst/>
              <a:cxnLst/>
              <a:rect l="l" t="t" r="r" b="b"/>
              <a:pathLst>
                <a:path w="164464" h="324485">
                  <a:moveTo>
                    <a:pt x="0" y="324271"/>
                  </a:moveTo>
                  <a:lnTo>
                    <a:pt x="164402" y="324271"/>
                  </a:lnTo>
                  <a:lnTo>
                    <a:pt x="164402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07189" y="2922213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8094" y="3246062"/>
            <a:ext cx="485140" cy="324485"/>
          </a:xfrm>
          <a:prstGeom prst="rect">
            <a:avLst/>
          </a:prstGeom>
          <a:solidFill>
            <a:srgbClr val="C0C0C0"/>
          </a:solidFill>
          <a:ln w="12977">
            <a:solidFill>
              <a:srgbClr val="000000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 MT"/>
                <a:cs typeface="Arial MT"/>
              </a:rPr>
              <a:t>20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25981" y="1943201"/>
            <a:ext cx="1555115" cy="1633855"/>
            <a:chOff x="2325981" y="1943201"/>
            <a:chExt cx="1555115" cy="1633855"/>
          </a:xfrm>
        </p:grpSpPr>
        <p:sp>
          <p:nvSpPr>
            <p:cNvPr id="18" name="object 18"/>
            <p:cNvSpPr/>
            <p:nvPr/>
          </p:nvSpPr>
          <p:spPr>
            <a:xfrm>
              <a:off x="2332648" y="3246089"/>
              <a:ext cx="243204" cy="324485"/>
            </a:xfrm>
            <a:custGeom>
              <a:avLst/>
              <a:gdLst/>
              <a:ahLst/>
              <a:cxnLst/>
              <a:rect l="l" t="t" r="r" b="b"/>
              <a:pathLst>
                <a:path w="243205" h="324485">
                  <a:moveTo>
                    <a:pt x="242714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242714" y="324271"/>
                  </a:lnTo>
                  <a:lnTo>
                    <a:pt x="24271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32648" y="3246089"/>
              <a:ext cx="243204" cy="324485"/>
            </a:xfrm>
            <a:custGeom>
              <a:avLst/>
              <a:gdLst/>
              <a:ahLst/>
              <a:cxnLst/>
              <a:rect l="l" t="t" r="r" b="b"/>
              <a:pathLst>
                <a:path w="243205" h="324485">
                  <a:moveTo>
                    <a:pt x="0" y="324271"/>
                  </a:moveTo>
                  <a:lnTo>
                    <a:pt x="242714" y="324271"/>
                  </a:lnTo>
                  <a:lnTo>
                    <a:pt x="242714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75345" y="3246089"/>
              <a:ext cx="489584" cy="324485"/>
            </a:xfrm>
            <a:custGeom>
              <a:avLst/>
              <a:gdLst/>
              <a:ahLst/>
              <a:cxnLst/>
              <a:rect l="l" t="t" r="r" b="b"/>
              <a:pathLst>
                <a:path w="489585" h="324485">
                  <a:moveTo>
                    <a:pt x="489308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489308" y="324271"/>
                  </a:lnTo>
                  <a:lnTo>
                    <a:pt x="4893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75345" y="3246089"/>
              <a:ext cx="489584" cy="324485"/>
            </a:xfrm>
            <a:custGeom>
              <a:avLst/>
              <a:gdLst/>
              <a:ahLst/>
              <a:cxnLst/>
              <a:rect l="l" t="t" r="r" b="b"/>
              <a:pathLst>
                <a:path w="489585" h="324485">
                  <a:moveTo>
                    <a:pt x="0" y="324271"/>
                  </a:moveTo>
                  <a:lnTo>
                    <a:pt x="489308" y="324271"/>
                  </a:lnTo>
                  <a:lnTo>
                    <a:pt x="489308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64617" y="3246089"/>
              <a:ext cx="242570" cy="324485"/>
            </a:xfrm>
            <a:custGeom>
              <a:avLst/>
              <a:gdLst/>
              <a:ahLst/>
              <a:cxnLst/>
              <a:rect l="l" t="t" r="r" b="b"/>
              <a:pathLst>
                <a:path w="242570" h="324485">
                  <a:moveTo>
                    <a:pt x="242281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242281" y="324271"/>
                  </a:lnTo>
                  <a:lnTo>
                    <a:pt x="242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64617" y="3246089"/>
              <a:ext cx="242570" cy="324485"/>
            </a:xfrm>
            <a:custGeom>
              <a:avLst/>
              <a:gdLst/>
              <a:ahLst/>
              <a:cxnLst/>
              <a:rect l="l" t="t" r="r" b="b"/>
              <a:pathLst>
                <a:path w="242570" h="324485">
                  <a:moveTo>
                    <a:pt x="0" y="324271"/>
                  </a:moveTo>
                  <a:lnTo>
                    <a:pt x="242281" y="324271"/>
                  </a:lnTo>
                  <a:lnTo>
                    <a:pt x="242281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14033" y="1949869"/>
              <a:ext cx="160655" cy="324485"/>
            </a:xfrm>
            <a:custGeom>
              <a:avLst/>
              <a:gdLst/>
              <a:ahLst/>
              <a:cxnLst/>
              <a:rect l="l" t="t" r="r" b="b"/>
              <a:pathLst>
                <a:path w="160654" h="324485">
                  <a:moveTo>
                    <a:pt x="160076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160076" y="324271"/>
                  </a:lnTo>
                  <a:lnTo>
                    <a:pt x="1600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14033" y="1949869"/>
              <a:ext cx="160655" cy="324485"/>
            </a:xfrm>
            <a:custGeom>
              <a:avLst/>
              <a:gdLst/>
              <a:ahLst/>
              <a:cxnLst/>
              <a:rect l="l" t="t" r="r" b="b"/>
              <a:pathLst>
                <a:path w="160654" h="324485">
                  <a:moveTo>
                    <a:pt x="0" y="324271"/>
                  </a:moveTo>
                  <a:lnTo>
                    <a:pt x="160076" y="324271"/>
                  </a:lnTo>
                  <a:lnTo>
                    <a:pt x="160076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74099" y="1949869"/>
            <a:ext cx="489584" cy="324485"/>
          </a:xfrm>
          <a:prstGeom prst="rect">
            <a:avLst/>
          </a:prstGeom>
          <a:solidFill>
            <a:srgbClr val="FFFF00"/>
          </a:solidFill>
          <a:ln w="13031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latin typeface="Arial MT"/>
                <a:cs typeface="Arial MT"/>
              </a:rPr>
              <a:t>25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56782" y="1943201"/>
            <a:ext cx="662940" cy="337820"/>
            <a:chOff x="4356782" y="1943201"/>
            <a:chExt cx="662940" cy="337820"/>
          </a:xfrm>
        </p:grpSpPr>
        <p:sp>
          <p:nvSpPr>
            <p:cNvPr id="28" name="object 28"/>
            <p:cNvSpPr/>
            <p:nvPr/>
          </p:nvSpPr>
          <p:spPr>
            <a:xfrm>
              <a:off x="4363450" y="1949869"/>
              <a:ext cx="160655" cy="324485"/>
            </a:xfrm>
            <a:custGeom>
              <a:avLst/>
              <a:gdLst/>
              <a:ahLst/>
              <a:cxnLst/>
              <a:rect l="l" t="t" r="r" b="b"/>
              <a:pathLst>
                <a:path w="160654" h="324485">
                  <a:moveTo>
                    <a:pt x="160076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160076" y="324271"/>
                  </a:lnTo>
                  <a:lnTo>
                    <a:pt x="1600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63450" y="1949869"/>
              <a:ext cx="160655" cy="324485"/>
            </a:xfrm>
            <a:custGeom>
              <a:avLst/>
              <a:gdLst/>
              <a:ahLst/>
              <a:cxnLst/>
              <a:rect l="l" t="t" r="r" b="b"/>
              <a:pathLst>
                <a:path w="160654" h="324485">
                  <a:moveTo>
                    <a:pt x="0" y="324271"/>
                  </a:moveTo>
                  <a:lnTo>
                    <a:pt x="160076" y="324271"/>
                  </a:lnTo>
                  <a:lnTo>
                    <a:pt x="160076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3503" y="1949869"/>
              <a:ext cx="489584" cy="324485"/>
            </a:xfrm>
            <a:custGeom>
              <a:avLst/>
              <a:gdLst/>
              <a:ahLst/>
              <a:cxnLst/>
              <a:rect l="l" t="t" r="r" b="b"/>
              <a:pathLst>
                <a:path w="489585" h="324485">
                  <a:moveTo>
                    <a:pt x="489308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489308" y="324271"/>
                  </a:lnTo>
                  <a:lnTo>
                    <a:pt x="48930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3503" y="1949869"/>
              <a:ext cx="489584" cy="324485"/>
            </a:xfrm>
            <a:custGeom>
              <a:avLst/>
              <a:gdLst/>
              <a:ahLst/>
              <a:cxnLst/>
              <a:rect l="l" t="t" r="r" b="b"/>
              <a:pathLst>
                <a:path w="489585" h="324485">
                  <a:moveTo>
                    <a:pt x="0" y="324271"/>
                  </a:moveTo>
                  <a:lnTo>
                    <a:pt x="489308" y="324271"/>
                  </a:lnTo>
                  <a:lnTo>
                    <a:pt x="489308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30015" y="1950138"/>
            <a:ext cx="47688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latin typeface="Arial MT"/>
                <a:cs typeface="Arial MT"/>
              </a:rPr>
              <a:t>60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06199" y="1943201"/>
            <a:ext cx="823594" cy="337820"/>
            <a:chOff x="5006199" y="1943201"/>
            <a:chExt cx="823594" cy="337820"/>
          </a:xfrm>
        </p:grpSpPr>
        <p:sp>
          <p:nvSpPr>
            <p:cNvPr id="34" name="object 34"/>
            <p:cNvSpPr/>
            <p:nvPr/>
          </p:nvSpPr>
          <p:spPr>
            <a:xfrm>
              <a:off x="5012866" y="1949869"/>
              <a:ext cx="160655" cy="324485"/>
            </a:xfrm>
            <a:custGeom>
              <a:avLst/>
              <a:gdLst/>
              <a:ahLst/>
              <a:cxnLst/>
              <a:rect l="l" t="t" r="r" b="b"/>
              <a:pathLst>
                <a:path w="160654" h="324485">
                  <a:moveTo>
                    <a:pt x="160076" y="0"/>
                  </a:moveTo>
                  <a:lnTo>
                    <a:pt x="0" y="0"/>
                  </a:lnTo>
                  <a:lnTo>
                    <a:pt x="0" y="324271"/>
                  </a:lnTo>
                  <a:lnTo>
                    <a:pt x="160076" y="324271"/>
                  </a:lnTo>
                  <a:lnTo>
                    <a:pt x="16007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12866" y="1949869"/>
              <a:ext cx="810260" cy="324485"/>
            </a:xfrm>
            <a:custGeom>
              <a:avLst/>
              <a:gdLst/>
              <a:ahLst/>
              <a:cxnLst/>
              <a:rect l="l" t="t" r="r" b="b"/>
              <a:pathLst>
                <a:path w="810260" h="324485">
                  <a:moveTo>
                    <a:pt x="0" y="324271"/>
                  </a:moveTo>
                  <a:lnTo>
                    <a:pt x="160076" y="324271"/>
                  </a:lnTo>
                  <a:lnTo>
                    <a:pt x="160076" y="0"/>
                  </a:lnTo>
                  <a:lnTo>
                    <a:pt x="0" y="0"/>
                  </a:lnTo>
                  <a:lnTo>
                    <a:pt x="0" y="324271"/>
                  </a:lnTo>
                  <a:close/>
                </a:path>
                <a:path w="810260" h="324485">
                  <a:moveTo>
                    <a:pt x="160053" y="324271"/>
                  </a:moveTo>
                  <a:lnTo>
                    <a:pt x="649362" y="324271"/>
                  </a:lnTo>
                  <a:lnTo>
                    <a:pt x="649362" y="0"/>
                  </a:lnTo>
                  <a:lnTo>
                    <a:pt x="160053" y="0"/>
                  </a:lnTo>
                  <a:lnTo>
                    <a:pt x="160053" y="324271"/>
                  </a:lnTo>
                  <a:close/>
                </a:path>
                <a:path w="810260" h="324485">
                  <a:moveTo>
                    <a:pt x="649416" y="324271"/>
                  </a:moveTo>
                  <a:lnTo>
                    <a:pt x="809924" y="324271"/>
                  </a:lnTo>
                  <a:lnTo>
                    <a:pt x="809924" y="0"/>
                  </a:lnTo>
                  <a:lnTo>
                    <a:pt x="649416" y="0"/>
                  </a:lnTo>
                  <a:lnTo>
                    <a:pt x="649416" y="324271"/>
                  </a:lnTo>
                  <a:close/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805269" y="1625993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657555" y="2107655"/>
            <a:ext cx="3489960" cy="1358900"/>
            <a:chOff x="2657555" y="2107655"/>
            <a:chExt cx="3489960" cy="1358900"/>
          </a:xfrm>
        </p:grpSpPr>
        <p:sp>
          <p:nvSpPr>
            <p:cNvPr id="38" name="object 38"/>
            <p:cNvSpPr/>
            <p:nvPr/>
          </p:nvSpPr>
          <p:spPr>
            <a:xfrm>
              <a:off x="2735434" y="2114323"/>
              <a:ext cx="1061085" cy="902969"/>
            </a:xfrm>
            <a:custGeom>
              <a:avLst/>
              <a:gdLst/>
              <a:ahLst/>
              <a:cxnLst/>
              <a:rect l="l" t="t" r="r" b="b"/>
              <a:pathLst>
                <a:path w="1061085" h="902969">
                  <a:moveTo>
                    <a:pt x="1060881" y="0"/>
                  </a:moveTo>
                  <a:lnTo>
                    <a:pt x="0" y="902808"/>
                  </a:lnTo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57555" y="2965362"/>
              <a:ext cx="125730" cy="121285"/>
            </a:xfrm>
            <a:custGeom>
              <a:avLst/>
              <a:gdLst/>
              <a:ahLst/>
              <a:cxnLst/>
              <a:rect l="l" t="t" r="r" b="b"/>
              <a:pathLst>
                <a:path w="125730" h="121285">
                  <a:moveTo>
                    <a:pt x="51913" y="0"/>
                  </a:moveTo>
                  <a:lnTo>
                    <a:pt x="0" y="120855"/>
                  </a:lnTo>
                  <a:lnTo>
                    <a:pt x="125462" y="86402"/>
                  </a:lnTo>
                  <a:lnTo>
                    <a:pt x="519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45732" y="2114323"/>
              <a:ext cx="142875" cy="868680"/>
            </a:xfrm>
            <a:custGeom>
              <a:avLst/>
              <a:gdLst/>
              <a:ahLst/>
              <a:cxnLst/>
              <a:rect l="l" t="t" r="r" b="b"/>
              <a:pathLst>
                <a:path w="142875" h="868680">
                  <a:moveTo>
                    <a:pt x="0" y="0"/>
                  </a:moveTo>
                  <a:lnTo>
                    <a:pt x="142730" y="868355"/>
                  </a:lnTo>
                </a:path>
              </a:pathLst>
            </a:custGeom>
            <a:ln w="129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27834" y="2961033"/>
              <a:ext cx="116839" cy="125730"/>
            </a:xfrm>
            <a:custGeom>
              <a:avLst/>
              <a:gdLst/>
              <a:ahLst/>
              <a:cxnLst/>
              <a:rect l="l" t="t" r="r" b="b"/>
              <a:pathLst>
                <a:path w="116839" h="125730">
                  <a:moveTo>
                    <a:pt x="116746" y="0"/>
                  </a:moveTo>
                  <a:lnTo>
                    <a:pt x="0" y="17316"/>
                  </a:lnTo>
                  <a:lnTo>
                    <a:pt x="77951" y="125184"/>
                  </a:lnTo>
                  <a:lnTo>
                    <a:pt x="1167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04979" y="3410182"/>
              <a:ext cx="142875" cy="0"/>
            </a:xfrm>
            <a:custGeom>
              <a:avLst/>
              <a:gdLst/>
              <a:ahLst/>
              <a:cxnLst/>
              <a:rect l="l" t="t" r="r" b="b"/>
              <a:pathLst>
                <a:path w="142875">
                  <a:moveTo>
                    <a:pt x="0" y="0"/>
                  </a:moveTo>
                  <a:lnTo>
                    <a:pt x="142730" y="0"/>
                  </a:lnTo>
                </a:path>
              </a:pathLst>
            </a:custGeom>
            <a:ln w="12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30387" y="3349754"/>
              <a:ext cx="116839" cy="116839"/>
            </a:xfrm>
            <a:custGeom>
              <a:avLst/>
              <a:gdLst/>
              <a:ahLst/>
              <a:cxnLst/>
              <a:rect l="l" t="t" r="r" b="b"/>
              <a:pathLst>
                <a:path w="116839" h="116839">
                  <a:moveTo>
                    <a:pt x="0" y="0"/>
                  </a:moveTo>
                  <a:lnTo>
                    <a:pt x="0" y="116526"/>
                  </a:lnTo>
                  <a:lnTo>
                    <a:pt x="116746" y="60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722987" y="2922213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094960" y="3246094"/>
            <a:ext cx="728345" cy="324485"/>
          </a:xfrm>
          <a:custGeom>
            <a:avLst/>
            <a:gdLst/>
            <a:ahLst/>
            <a:cxnLst/>
            <a:rect l="l" t="t" r="r" b="b"/>
            <a:pathLst>
              <a:path w="728345" h="324485">
                <a:moveTo>
                  <a:pt x="485000" y="0"/>
                </a:moveTo>
                <a:lnTo>
                  <a:pt x="0" y="0"/>
                </a:lnTo>
                <a:lnTo>
                  <a:pt x="0" y="324269"/>
                </a:lnTo>
                <a:lnTo>
                  <a:pt x="485000" y="324269"/>
                </a:lnTo>
                <a:lnTo>
                  <a:pt x="485000" y="0"/>
                </a:lnTo>
                <a:close/>
              </a:path>
              <a:path w="728345" h="324485">
                <a:moveTo>
                  <a:pt x="727748" y="0"/>
                </a:moveTo>
                <a:lnTo>
                  <a:pt x="485038" y="0"/>
                </a:lnTo>
                <a:lnTo>
                  <a:pt x="485038" y="324269"/>
                </a:lnTo>
                <a:lnTo>
                  <a:pt x="727748" y="324269"/>
                </a:lnTo>
                <a:lnTo>
                  <a:pt x="7277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3625443" y="3239600"/>
          <a:ext cx="2349496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950"/>
                <a:gridCol w="241934"/>
                <a:gridCol w="484504"/>
                <a:gridCol w="245744"/>
                <a:gridCol w="483869"/>
                <a:gridCol w="241935"/>
                <a:gridCol w="81280"/>
                <a:gridCol w="81280"/>
              </a:tblGrid>
              <a:tr h="163830">
                <a:tc row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25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30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60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7" name="object 47"/>
          <p:cNvSpPr txBox="1"/>
          <p:nvPr/>
        </p:nvSpPr>
        <p:spPr>
          <a:xfrm>
            <a:off x="6238369" y="2922213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6140645" y="3239600"/>
          <a:ext cx="2357752" cy="323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84"/>
                <a:gridCol w="242570"/>
                <a:gridCol w="489584"/>
                <a:gridCol w="243205"/>
                <a:gridCol w="485140"/>
                <a:gridCol w="247014"/>
                <a:gridCol w="160655"/>
              </a:tblGrid>
              <a:tr h="323850"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60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70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9" name="object 49"/>
          <p:cNvGrpSpPr/>
          <p:nvPr/>
        </p:nvGrpSpPr>
        <p:grpSpPr>
          <a:xfrm>
            <a:off x="3382568" y="2107655"/>
            <a:ext cx="3821429" cy="1358900"/>
            <a:chOff x="3382568" y="2107655"/>
            <a:chExt cx="3821429" cy="1358900"/>
          </a:xfrm>
        </p:grpSpPr>
        <p:sp>
          <p:nvSpPr>
            <p:cNvPr id="50" name="object 50"/>
            <p:cNvSpPr/>
            <p:nvPr/>
          </p:nvSpPr>
          <p:spPr>
            <a:xfrm>
              <a:off x="3389235" y="3410182"/>
              <a:ext cx="139065" cy="0"/>
            </a:xfrm>
            <a:custGeom>
              <a:avLst/>
              <a:gdLst/>
              <a:ahLst/>
              <a:cxnLst/>
              <a:rect l="l" t="t" r="r" b="b"/>
              <a:pathLst>
                <a:path w="139064">
                  <a:moveTo>
                    <a:pt x="0" y="0"/>
                  </a:moveTo>
                  <a:lnTo>
                    <a:pt x="138761" y="0"/>
                  </a:lnTo>
                </a:path>
              </a:pathLst>
            </a:custGeom>
            <a:ln w="12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14644" y="3349754"/>
              <a:ext cx="117475" cy="116839"/>
            </a:xfrm>
            <a:custGeom>
              <a:avLst/>
              <a:gdLst/>
              <a:ahLst/>
              <a:cxnLst/>
              <a:rect l="l" t="t" r="r" b="b"/>
              <a:pathLst>
                <a:path w="117475" h="116839">
                  <a:moveTo>
                    <a:pt x="0" y="0"/>
                  </a:moveTo>
                  <a:lnTo>
                    <a:pt x="0" y="116526"/>
                  </a:lnTo>
                  <a:lnTo>
                    <a:pt x="117288" y="60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94968" y="2114323"/>
              <a:ext cx="2018030" cy="929005"/>
            </a:xfrm>
            <a:custGeom>
              <a:avLst/>
              <a:gdLst/>
              <a:ahLst/>
              <a:cxnLst/>
              <a:rect l="l" t="t" r="r" b="b"/>
              <a:pathLst>
                <a:path w="2018029" h="929005">
                  <a:moveTo>
                    <a:pt x="0" y="0"/>
                  </a:moveTo>
                  <a:lnTo>
                    <a:pt x="2017899" y="928783"/>
                  </a:lnTo>
                </a:path>
              </a:pathLst>
            </a:custGeom>
            <a:ln w="129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73892" y="2982678"/>
              <a:ext cx="130175" cy="104139"/>
            </a:xfrm>
            <a:custGeom>
              <a:avLst/>
              <a:gdLst/>
              <a:ahLst/>
              <a:cxnLst/>
              <a:rect l="l" t="t" r="r" b="b"/>
              <a:pathLst>
                <a:path w="130175" h="104139">
                  <a:moveTo>
                    <a:pt x="47637" y="0"/>
                  </a:moveTo>
                  <a:lnTo>
                    <a:pt x="0" y="103538"/>
                  </a:lnTo>
                  <a:lnTo>
                    <a:pt x="129738" y="103538"/>
                  </a:lnTo>
                  <a:lnTo>
                    <a:pt x="476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592941" y="3570143"/>
            <a:ext cx="2237740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Fusion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des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deux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frères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700">
              <a:latin typeface="Arial MT"/>
              <a:cs typeface="Arial MT"/>
            </a:endParaRPr>
          </a:p>
          <a:p>
            <a:pPr marL="1142365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33863" y="6002532"/>
            <a:ext cx="489584" cy="323850"/>
          </a:xfrm>
          <a:prstGeom prst="rect">
            <a:avLst/>
          </a:prstGeom>
          <a:solidFill>
            <a:srgbClr val="C0C0C0"/>
          </a:solidFill>
          <a:ln w="12983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65"/>
              </a:spcBef>
            </a:pPr>
            <a:r>
              <a:rPr sz="1700" spc="-25" dirty="0">
                <a:latin typeface="Arial MT"/>
                <a:cs typeface="Arial MT"/>
              </a:rPr>
              <a:t>10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516690" y="5996044"/>
            <a:ext cx="255270" cy="337185"/>
            <a:chOff x="1516690" y="5996044"/>
            <a:chExt cx="255270" cy="337185"/>
          </a:xfrm>
        </p:grpSpPr>
        <p:sp>
          <p:nvSpPr>
            <p:cNvPr id="57" name="object 57"/>
            <p:cNvSpPr/>
            <p:nvPr/>
          </p:nvSpPr>
          <p:spPr>
            <a:xfrm>
              <a:off x="1523179" y="6002532"/>
              <a:ext cx="242570" cy="323850"/>
            </a:xfrm>
            <a:custGeom>
              <a:avLst/>
              <a:gdLst/>
              <a:ahLst/>
              <a:cxnLst/>
              <a:rect l="l" t="t" r="r" b="b"/>
              <a:pathLst>
                <a:path w="242569" h="323850">
                  <a:moveTo>
                    <a:pt x="242281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242281" y="323838"/>
                  </a:lnTo>
                  <a:lnTo>
                    <a:pt x="24228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23179" y="6002532"/>
              <a:ext cx="242570" cy="323850"/>
            </a:xfrm>
            <a:custGeom>
              <a:avLst/>
              <a:gdLst/>
              <a:ahLst/>
              <a:cxnLst/>
              <a:rect l="l" t="t" r="r" b="b"/>
              <a:pathLst>
                <a:path w="242569" h="323850">
                  <a:moveTo>
                    <a:pt x="0" y="323838"/>
                  </a:moveTo>
                  <a:lnTo>
                    <a:pt x="242281" y="323838"/>
                  </a:lnTo>
                  <a:lnTo>
                    <a:pt x="242281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59"/>
          <p:cNvGrpSpPr/>
          <p:nvPr/>
        </p:nvGrpSpPr>
        <p:grpSpPr>
          <a:xfrm>
            <a:off x="3218003" y="5995865"/>
            <a:ext cx="177800" cy="337185"/>
            <a:chOff x="3218003" y="5995865"/>
            <a:chExt cx="177800" cy="337185"/>
          </a:xfrm>
        </p:grpSpPr>
        <p:sp>
          <p:nvSpPr>
            <p:cNvPr id="60" name="object 60"/>
            <p:cNvSpPr/>
            <p:nvPr/>
          </p:nvSpPr>
          <p:spPr>
            <a:xfrm>
              <a:off x="3224671" y="6002532"/>
              <a:ext cx="164465" cy="323850"/>
            </a:xfrm>
            <a:custGeom>
              <a:avLst/>
              <a:gdLst/>
              <a:ahLst/>
              <a:cxnLst/>
              <a:rect l="l" t="t" r="r" b="b"/>
              <a:pathLst>
                <a:path w="164464" h="323850">
                  <a:moveTo>
                    <a:pt x="164402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164402" y="323838"/>
                  </a:lnTo>
                  <a:lnTo>
                    <a:pt x="16440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24671" y="6002532"/>
              <a:ext cx="164465" cy="323850"/>
            </a:xfrm>
            <a:custGeom>
              <a:avLst/>
              <a:gdLst/>
              <a:ahLst/>
              <a:cxnLst/>
              <a:rect l="l" t="t" r="r" b="b"/>
              <a:pathLst>
                <a:path w="164464" h="323850">
                  <a:moveTo>
                    <a:pt x="0" y="323838"/>
                  </a:moveTo>
                  <a:lnTo>
                    <a:pt x="164402" y="323838"/>
                  </a:lnTo>
                  <a:lnTo>
                    <a:pt x="164402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</a:pathLst>
            </a:custGeom>
            <a:ln w="129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124997" y="5674291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765460" y="6002532"/>
            <a:ext cx="485140" cy="323850"/>
          </a:xfrm>
          <a:prstGeom prst="rect">
            <a:avLst/>
          </a:prstGeom>
          <a:solidFill>
            <a:srgbClr val="C0C0C0"/>
          </a:solidFill>
          <a:ln w="12994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65"/>
              </a:spcBef>
            </a:pPr>
            <a:r>
              <a:rPr sz="1700" spc="-25" dirty="0">
                <a:latin typeface="Arial MT"/>
                <a:cs typeface="Arial MT"/>
              </a:rPr>
              <a:t>25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243949" y="5996044"/>
            <a:ext cx="260350" cy="337185"/>
            <a:chOff x="2243949" y="5996044"/>
            <a:chExt cx="260350" cy="337185"/>
          </a:xfrm>
        </p:grpSpPr>
        <p:sp>
          <p:nvSpPr>
            <p:cNvPr id="65" name="object 65"/>
            <p:cNvSpPr/>
            <p:nvPr/>
          </p:nvSpPr>
          <p:spPr>
            <a:xfrm>
              <a:off x="2250438" y="6002532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47650" h="323850">
                  <a:moveTo>
                    <a:pt x="247045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247045" y="323838"/>
                  </a:lnTo>
                  <a:lnTo>
                    <a:pt x="24704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250438" y="6002532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47650" h="323850">
                  <a:moveTo>
                    <a:pt x="0" y="323838"/>
                  </a:moveTo>
                  <a:lnTo>
                    <a:pt x="247045" y="323838"/>
                  </a:lnTo>
                  <a:lnTo>
                    <a:pt x="247045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497483" y="6002532"/>
            <a:ext cx="485140" cy="323850"/>
          </a:xfrm>
          <a:prstGeom prst="rect">
            <a:avLst/>
          </a:prstGeom>
          <a:solidFill>
            <a:srgbClr val="C0C0C0"/>
          </a:solidFill>
          <a:ln w="13012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65"/>
              </a:spcBef>
            </a:pPr>
            <a:r>
              <a:rPr sz="1700" spc="-25" dirty="0">
                <a:latin typeface="Arial MT"/>
                <a:cs typeface="Arial MT"/>
              </a:rPr>
              <a:t>30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975848" y="5995865"/>
            <a:ext cx="255904" cy="337185"/>
            <a:chOff x="2975848" y="5995865"/>
            <a:chExt cx="255904" cy="337185"/>
          </a:xfrm>
        </p:grpSpPr>
        <p:sp>
          <p:nvSpPr>
            <p:cNvPr id="69" name="object 69"/>
            <p:cNvSpPr/>
            <p:nvPr/>
          </p:nvSpPr>
          <p:spPr>
            <a:xfrm>
              <a:off x="2982516" y="6002532"/>
              <a:ext cx="242570" cy="323850"/>
            </a:xfrm>
            <a:custGeom>
              <a:avLst/>
              <a:gdLst/>
              <a:ahLst/>
              <a:cxnLst/>
              <a:rect l="l" t="t" r="r" b="b"/>
              <a:pathLst>
                <a:path w="242569" h="323850">
                  <a:moveTo>
                    <a:pt x="242281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242281" y="323838"/>
                  </a:lnTo>
                  <a:lnTo>
                    <a:pt x="24228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982516" y="6002532"/>
              <a:ext cx="242570" cy="323850"/>
            </a:xfrm>
            <a:custGeom>
              <a:avLst/>
              <a:gdLst/>
              <a:ahLst/>
              <a:cxnLst/>
              <a:rect l="l" t="t" r="r" b="b"/>
              <a:pathLst>
                <a:path w="242569" h="323850">
                  <a:moveTo>
                    <a:pt x="0" y="323838"/>
                  </a:moveTo>
                  <a:lnTo>
                    <a:pt x="242281" y="323838"/>
                  </a:lnTo>
                  <a:lnTo>
                    <a:pt x="242281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</a:pathLst>
            </a:custGeom>
            <a:ln w="129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3625264" y="4699663"/>
            <a:ext cx="177800" cy="337185"/>
            <a:chOff x="3625264" y="4699663"/>
            <a:chExt cx="177800" cy="337185"/>
          </a:xfrm>
        </p:grpSpPr>
        <p:sp>
          <p:nvSpPr>
            <p:cNvPr id="72" name="object 72"/>
            <p:cNvSpPr/>
            <p:nvPr/>
          </p:nvSpPr>
          <p:spPr>
            <a:xfrm>
              <a:off x="3631932" y="4706330"/>
              <a:ext cx="164465" cy="323850"/>
            </a:xfrm>
            <a:custGeom>
              <a:avLst/>
              <a:gdLst/>
              <a:ahLst/>
              <a:cxnLst/>
              <a:rect l="l" t="t" r="r" b="b"/>
              <a:pathLst>
                <a:path w="164464" h="323850">
                  <a:moveTo>
                    <a:pt x="164402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164402" y="323838"/>
                  </a:lnTo>
                  <a:lnTo>
                    <a:pt x="16440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631932" y="4706330"/>
              <a:ext cx="164465" cy="323850"/>
            </a:xfrm>
            <a:custGeom>
              <a:avLst/>
              <a:gdLst/>
              <a:ahLst/>
              <a:cxnLst/>
              <a:rect l="l" t="t" r="r" b="b"/>
              <a:pathLst>
                <a:path w="164464" h="323850">
                  <a:moveTo>
                    <a:pt x="0" y="323838"/>
                  </a:moveTo>
                  <a:lnTo>
                    <a:pt x="164402" y="323838"/>
                  </a:lnTo>
                  <a:lnTo>
                    <a:pt x="164402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</a:pathLst>
            </a:custGeom>
            <a:ln w="129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796325" y="4706330"/>
            <a:ext cx="485140" cy="323850"/>
          </a:xfrm>
          <a:prstGeom prst="rect">
            <a:avLst/>
          </a:prstGeom>
          <a:solidFill>
            <a:srgbClr val="FFFF00"/>
          </a:solidFill>
          <a:ln w="13121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65"/>
              </a:spcBef>
            </a:pPr>
            <a:r>
              <a:rPr sz="1700" spc="-25" dirty="0">
                <a:latin typeface="Arial MT"/>
                <a:cs typeface="Arial MT"/>
              </a:rPr>
              <a:t>60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274500" y="4699663"/>
            <a:ext cx="1477010" cy="337185"/>
            <a:chOff x="4274500" y="4699663"/>
            <a:chExt cx="1477010" cy="337185"/>
          </a:xfrm>
        </p:grpSpPr>
        <p:sp>
          <p:nvSpPr>
            <p:cNvPr id="76" name="object 76"/>
            <p:cNvSpPr/>
            <p:nvPr/>
          </p:nvSpPr>
          <p:spPr>
            <a:xfrm>
              <a:off x="4281167" y="4706330"/>
              <a:ext cx="164465" cy="323850"/>
            </a:xfrm>
            <a:custGeom>
              <a:avLst/>
              <a:gdLst/>
              <a:ahLst/>
              <a:cxnLst/>
              <a:rect l="l" t="t" r="r" b="b"/>
              <a:pathLst>
                <a:path w="164464" h="323850">
                  <a:moveTo>
                    <a:pt x="164402" y="0"/>
                  </a:moveTo>
                  <a:lnTo>
                    <a:pt x="0" y="0"/>
                  </a:lnTo>
                  <a:lnTo>
                    <a:pt x="0" y="323838"/>
                  </a:lnTo>
                  <a:lnTo>
                    <a:pt x="164402" y="323838"/>
                  </a:lnTo>
                  <a:lnTo>
                    <a:pt x="16440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281167" y="4706330"/>
              <a:ext cx="1463675" cy="323850"/>
            </a:xfrm>
            <a:custGeom>
              <a:avLst/>
              <a:gdLst/>
              <a:ahLst/>
              <a:cxnLst/>
              <a:rect l="l" t="t" r="r" b="b"/>
              <a:pathLst>
                <a:path w="1463675" h="323850">
                  <a:moveTo>
                    <a:pt x="0" y="323838"/>
                  </a:moveTo>
                  <a:lnTo>
                    <a:pt x="164402" y="323838"/>
                  </a:lnTo>
                  <a:lnTo>
                    <a:pt x="164402" y="0"/>
                  </a:lnTo>
                  <a:lnTo>
                    <a:pt x="0" y="0"/>
                  </a:lnTo>
                  <a:lnTo>
                    <a:pt x="0" y="323838"/>
                  </a:lnTo>
                  <a:close/>
                </a:path>
                <a:path w="1463675" h="323850">
                  <a:moveTo>
                    <a:pt x="164564" y="323838"/>
                  </a:moveTo>
                  <a:lnTo>
                    <a:pt x="649560" y="323838"/>
                  </a:lnTo>
                  <a:lnTo>
                    <a:pt x="649560" y="0"/>
                  </a:lnTo>
                  <a:lnTo>
                    <a:pt x="164564" y="0"/>
                  </a:lnTo>
                  <a:lnTo>
                    <a:pt x="164564" y="323838"/>
                  </a:lnTo>
                  <a:close/>
                </a:path>
                <a:path w="1463675" h="323850">
                  <a:moveTo>
                    <a:pt x="649416" y="323838"/>
                  </a:moveTo>
                  <a:lnTo>
                    <a:pt x="813818" y="323838"/>
                  </a:lnTo>
                  <a:lnTo>
                    <a:pt x="813818" y="0"/>
                  </a:lnTo>
                  <a:lnTo>
                    <a:pt x="649416" y="0"/>
                  </a:lnTo>
                  <a:lnTo>
                    <a:pt x="649416" y="323838"/>
                  </a:lnTo>
                  <a:close/>
                </a:path>
                <a:path w="1463675" h="323850">
                  <a:moveTo>
                    <a:pt x="813800" y="323838"/>
                  </a:moveTo>
                  <a:lnTo>
                    <a:pt x="1298796" y="323838"/>
                  </a:lnTo>
                  <a:lnTo>
                    <a:pt x="1298796" y="0"/>
                  </a:lnTo>
                  <a:lnTo>
                    <a:pt x="813800" y="0"/>
                  </a:lnTo>
                  <a:lnTo>
                    <a:pt x="813800" y="323838"/>
                  </a:lnTo>
                  <a:close/>
                </a:path>
                <a:path w="1463675" h="323850">
                  <a:moveTo>
                    <a:pt x="1298832" y="323838"/>
                  </a:moveTo>
                  <a:lnTo>
                    <a:pt x="1463234" y="323838"/>
                  </a:lnTo>
                  <a:lnTo>
                    <a:pt x="1463234" y="0"/>
                  </a:lnTo>
                  <a:lnTo>
                    <a:pt x="1298832" y="0"/>
                  </a:lnTo>
                  <a:lnTo>
                    <a:pt x="1298832" y="323838"/>
                  </a:lnTo>
                  <a:close/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8" name="object 78"/>
          <p:cNvGrpSpPr/>
          <p:nvPr/>
        </p:nvGrpSpPr>
        <p:grpSpPr>
          <a:xfrm>
            <a:off x="2575345" y="4859606"/>
            <a:ext cx="1145540" cy="979169"/>
            <a:chOff x="2575345" y="4859606"/>
            <a:chExt cx="1145540" cy="979169"/>
          </a:xfrm>
        </p:grpSpPr>
        <p:sp>
          <p:nvSpPr>
            <p:cNvPr id="79" name="object 79"/>
            <p:cNvSpPr/>
            <p:nvPr/>
          </p:nvSpPr>
          <p:spPr>
            <a:xfrm>
              <a:off x="2653224" y="4866094"/>
              <a:ext cx="1061085" cy="907415"/>
            </a:xfrm>
            <a:custGeom>
              <a:avLst/>
              <a:gdLst/>
              <a:ahLst/>
              <a:cxnLst/>
              <a:rect l="l" t="t" r="r" b="b"/>
              <a:pathLst>
                <a:path w="1061085" h="907414">
                  <a:moveTo>
                    <a:pt x="1060809" y="0"/>
                  </a:moveTo>
                  <a:lnTo>
                    <a:pt x="0" y="907173"/>
                  </a:lnTo>
                </a:path>
              </a:pathLst>
            </a:custGeom>
            <a:ln w="129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575345" y="5717133"/>
              <a:ext cx="130175" cy="121920"/>
            </a:xfrm>
            <a:custGeom>
              <a:avLst/>
              <a:gdLst/>
              <a:ahLst/>
              <a:cxnLst/>
              <a:rect l="l" t="t" r="r" b="b"/>
              <a:pathLst>
                <a:path w="130175" h="121920">
                  <a:moveTo>
                    <a:pt x="51931" y="0"/>
                  </a:moveTo>
                  <a:lnTo>
                    <a:pt x="0" y="121324"/>
                  </a:lnTo>
                  <a:lnTo>
                    <a:pt x="129793" y="90677"/>
                  </a:lnTo>
                  <a:lnTo>
                    <a:pt x="519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6062874" y="5996043"/>
          <a:ext cx="2353944" cy="323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/>
                <a:gridCol w="242570"/>
                <a:gridCol w="489584"/>
                <a:gridCol w="243205"/>
                <a:gridCol w="489585"/>
                <a:gridCol w="243205"/>
                <a:gridCol w="160655"/>
              </a:tblGrid>
              <a:tr h="323215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60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700" spc="-25" dirty="0">
                          <a:latin typeface="Arial MT"/>
                          <a:cs typeface="Arial MT"/>
                        </a:rPr>
                        <a:t>70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2" name="object 82"/>
          <p:cNvSpPr txBox="1"/>
          <p:nvPr/>
        </p:nvSpPr>
        <p:spPr>
          <a:xfrm>
            <a:off x="6156087" y="5674291"/>
            <a:ext cx="6299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306953" y="6106161"/>
            <a:ext cx="2762885" cy="116839"/>
            <a:chOff x="3306953" y="6106161"/>
            <a:chExt cx="2762885" cy="116839"/>
          </a:xfrm>
        </p:grpSpPr>
        <p:sp>
          <p:nvSpPr>
            <p:cNvPr id="84" name="object 84"/>
            <p:cNvSpPr/>
            <p:nvPr/>
          </p:nvSpPr>
          <p:spPr>
            <a:xfrm>
              <a:off x="3306953" y="6162296"/>
              <a:ext cx="2658745" cy="0"/>
            </a:xfrm>
            <a:custGeom>
              <a:avLst/>
              <a:gdLst/>
              <a:ahLst/>
              <a:cxnLst/>
              <a:rect l="l" t="t" r="r" b="b"/>
              <a:pathLst>
                <a:path w="2658745">
                  <a:moveTo>
                    <a:pt x="0" y="0"/>
                  </a:moveTo>
                  <a:lnTo>
                    <a:pt x="2658474" y="0"/>
                  </a:lnTo>
                </a:path>
              </a:pathLst>
            </a:custGeom>
            <a:ln w="129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952616" y="6106161"/>
              <a:ext cx="116839" cy="116839"/>
            </a:xfrm>
            <a:custGeom>
              <a:avLst/>
              <a:gdLst/>
              <a:ahLst/>
              <a:cxnLst/>
              <a:rect l="l" t="t" r="r" b="b"/>
              <a:pathLst>
                <a:path w="116839" h="116839">
                  <a:moveTo>
                    <a:pt x="0" y="0"/>
                  </a:moveTo>
                  <a:lnTo>
                    <a:pt x="0" y="116582"/>
                  </a:lnTo>
                  <a:lnTo>
                    <a:pt x="116746" y="56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6" name="object 86"/>
          <p:cNvGrpSpPr/>
          <p:nvPr/>
        </p:nvGrpSpPr>
        <p:grpSpPr>
          <a:xfrm>
            <a:off x="4356962" y="4859606"/>
            <a:ext cx="2764790" cy="996315"/>
            <a:chOff x="4356962" y="4859606"/>
            <a:chExt cx="2764790" cy="996315"/>
          </a:xfrm>
        </p:grpSpPr>
        <p:sp>
          <p:nvSpPr>
            <p:cNvPr id="87" name="object 87"/>
            <p:cNvSpPr/>
            <p:nvPr/>
          </p:nvSpPr>
          <p:spPr>
            <a:xfrm>
              <a:off x="4363450" y="4866094"/>
              <a:ext cx="2663190" cy="937894"/>
            </a:xfrm>
            <a:custGeom>
              <a:avLst/>
              <a:gdLst/>
              <a:ahLst/>
              <a:cxnLst/>
              <a:rect l="l" t="t" r="r" b="b"/>
              <a:pathLst>
                <a:path w="2663190" h="937895">
                  <a:moveTo>
                    <a:pt x="0" y="0"/>
                  </a:moveTo>
                  <a:lnTo>
                    <a:pt x="2662805" y="937387"/>
                  </a:lnTo>
                </a:path>
              </a:pathLst>
            </a:custGeom>
            <a:ln w="129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991790" y="5743036"/>
              <a:ext cx="130175" cy="113030"/>
            </a:xfrm>
            <a:custGeom>
              <a:avLst/>
              <a:gdLst/>
              <a:ahLst/>
              <a:cxnLst/>
              <a:rect l="l" t="t" r="r" b="b"/>
              <a:pathLst>
                <a:path w="130175" h="113029">
                  <a:moveTo>
                    <a:pt x="38795" y="0"/>
                  </a:moveTo>
                  <a:lnTo>
                    <a:pt x="0" y="112702"/>
                  </a:lnTo>
                  <a:lnTo>
                    <a:pt x="129738" y="95421"/>
                  </a:lnTo>
                  <a:lnTo>
                    <a:pt x="387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9" name="object 89"/>
          <p:cNvGrpSpPr/>
          <p:nvPr/>
        </p:nvGrpSpPr>
        <p:grpSpPr>
          <a:xfrm>
            <a:off x="1841597" y="1861253"/>
            <a:ext cx="2688590" cy="1797685"/>
            <a:chOff x="1841597" y="1861253"/>
            <a:chExt cx="2688590" cy="1797685"/>
          </a:xfrm>
        </p:grpSpPr>
        <p:sp>
          <p:nvSpPr>
            <p:cNvPr id="90" name="object 90"/>
            <p:cNvSpPr/>
            <p:nvPr/>
          </p:nvSpPr>
          <p:spPr>
            <a:xfrm>
              <a:off x="1848085" y="1867741"/>
              <a:ext cx="2675890" cy="1784985"/>
            </a:xfrm>
            <a:custGeom>
              <a:avLst/>
              <a:gdLst/>
              <a:ahLst/>
              <a:cxnLst/>
              <a:rect l="l" t="t" r="r" b="b"/>
              <a:pathLst>
                <a:path w="2675890" h="1784985">
                  <a:moveTo>
                    <a:pt x="0" y="1296220"/>
                  </a:moveTo>
                  <a:lnTo>
                    <a:pt x="727259" y="1784692"/>
                  </a:lnTo>
                </a:path>
                <a:path w="2675890" h="1784985">
                  <a:moveTo>
                    <a:pt x="727259" y="1296220"/>
                  </a:moveTo>
                  <a:lnTo>
                    <a:pt x="0" y="1784692"/>
                  </a:lnTo>
                </a:path>
                <a:path w="2675890" h="1784985">
                  <a:moveTo>
                    <a:pt x="2026001" y="0"/>
                  </a:moveTo>
                  <a:lnTo>
                    <a:pt x="2675418" y="488472"/>
                  </a:lnTo>
                </a:path>
                <a:path w="2675890" h="1784985">
                  <a:moveTo>
                    <a:pt x="2675418" y="0"/>
                  </a:moveTo>
                  <a:lnTo>
                    <a:pt x="2026001" y="488472"/>
                  </a:lnTo>
                </a:path>
              </a:pathLst>
            </a:custGeom>
            <a:ln w="1297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010322" y="2276305"/>
              <a:ext cx="489584" cy="972185"/>
            </a:xfrm>
            <a:custGeom>
              <a:avLst/>
              <a:gdLst/>
              <a:ahLst/>
              <a:cxnLst/>
              <a:rect l="l" t="t" r="r" b="b"/>
              <a:pathLst>
                <a:path w="489585" h="972185">
                  <a:moveTo>
                    <a:pt x="489326" y="0"/>
                  </a:moveTo>
                  <a:lnTo>
                    <a:pt x="0" y="971894"/>
                  </a:lnTo>
                </a:path>
              </a:pathLst>
            </a:custGeom>
            <a:ln w="43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850251" y="1951997"/>
              <a:ext cx="1299210" cy="648335"/>
            </a:xfrm>
            <a:custGeom>
              <a:avLst/>
              <a:gdLst/>
              <a:ahLst/>
              <a:cxnLst/>
              <a:rect l="l" t="t" r="r" b="b"/>
              <a:pathLst>
                <a:path w="1299210" h="648335">
                  <a:moveTo>
                    <a:pt x="1298778" y="0"/>
                  </a:moveTo>
                  <a:lnTo>
                    <a:pt x="0" y="0"/>
                  </a:lnTo>
                  <a:lnTo>
                    <a:pt x="0" y="648092"/>
                  </a:lnTo>
                  <a:lnTo>
                    <a:pt x="1298778" y="648092"/>
                  </a:lnTo>
                  <a:lnTo>
                    <a:pt x="12987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850251" y="1951997"/>
            <a:ext cx="1299210" cy="648335"/>
          </a:xfrm>
          <a:prstGeom prst="rect">
            <a:avLst/>
          </a:prstGeom>
          <a:ln w="4325">
            <a:solidFill>
              <a:srgbClr val="000000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92710" marR="92710" indent="125095">
              <a:lnSpc>
                <a:spcPct val="103000"/>
              </a:lnSpc>
              <a:spcBef>
                <a:spcPts val="1055"/>
              </a:spcBef>
            </a:pPr>
            <a:r>
              <a:rPr sz="1100" spc="-20" dirty="0">
                <a:latin typeface="Arial MT"/>
                <a:cs typeface="Arial MT"/>
              </a:rPr>
              <a:t>Violation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la </a:t>
            </a:r>
            <a:r>
              <a:rPr sz="1100" spc="-10" dirty="0">
                <a:latin typeface="Arial MT"/>
                <a:cs typeface="Arial MT"/>
              </a:rPr>
              <a:t>règle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minimum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3510" y="392049"/>
            <a:ext cx="701865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6164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 fusion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feuilles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de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redistribution</a:t>
            </a:r>
            <a:r>
              <a:rPr sz="32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au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niveau</a:t>
            </a:r>
            <a:r>
              <a:rPr sz="32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parent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94034" y="3198179"/>
            <a:ext cx="3193415" cy="641985"/>
          </a:xfrm>
          <a:custGeom>
            <a:avLst/>
            <a:gdLst/>
            <a:ahLst/>
            <a:cxnLst/>
            <a:rect l="l" t="t" r="r" b="b"/>
            <a:pathLst>
              <a:path w="3193415" h="641985">
                <a:moveTo>
                  <a:pt x="258195" y="641659"/>
                </a:moveTo>
                <a:lnTo>
                  <a:pt x="2937175" y="641659"/>
                </a:lnTo>
                <a:lnTo>
                  <a:pt x="2986546" y="636160"/>
                </a:lnTo>
                <a:lnTo>
                  <a:pt x="3033283" y="622528"/>
                </a:lnTo>
                <a:lnTo>
                  <a:pt x="3080019" y="597782"/>
                </a:lnTo>
                <a:lnTo>
                  <a:pt x="3118737" y="567653"/>
                </a:lnTo>
                <a:lnTo>
                  <a:pt x="3148864" y="526525"/>
                </a:lnTo>
                <a:lnTo>
                  <a:pt x="3173606" y="482648"/>
                </a:lnTo>
                <a:lnTo>
                  <a:pt x="3187352" y="436021"/>
                </a:lnTo>
                <a:lnTo>
                  <a:pt x="3192851" y="383896"/>
                </a:lnTo>
                <a:lnTo>
                  <a:pt x="3192851" y="255014"/>
                </a:lnTo>
                <a:lnTo>
                  <a:pt x="3187352" y="205638"/>
                </a:lnTo>
                <a:lnTo>
                  <a:pt x="3173606" y="156262"/>
                </a:lnTo>
                <a:lnTo>
                  <a:pt x="3148864" y="112384"/>
                </a:lnTo>
                <a:lnTo>
                  <a:pt x="3118737" y="74006"/>
                </a:lnTo>
                <a:lnTo>
                  <a:pt x="3080019" y="41127"/>
                </a:lnTo>
                <a:lnTo>
                  <a:pt x="3033283" y="19246"/>
                </a:lnTo>
                <a:lnTo>
                  <a:pt x="2986546" y="2749"/>
                </a:lnTo>
                <a:lnTo>
                  <a:pt x="2937175" y="0"/>
                </a:lnTo>
                <a:lnTo>
                  <a:pt x="258195" y="0"/>
                </a:lnTo>
                <a:lnTo>
                  <a:pt x="206075" y="2749"/>
                </a:lnTo>
                <a:lnTo>
                  <a:pt x="159339" y="19246"/>
                </a:lnTo>
                <a:lnTo>
                  <a:pt x="112602" y="41127"/>
                </a:lnTo>
                <a:lnTo>
                  <a:pt x="74228" y="74006"/>
                </a:lnTo>
                <a:lnTo>
                  <a:pt x="43987" y="112384"/>
                </a:lnTo>
                <a:lnTo>
                  <a:pt x="19244" y="156262"/>
                </a:lnTo>
                <a:lnTo>
                  <a:pt x="5498" y="205638"/>
                </a:lnTo>
                <a:lnTo>
                  <a:pt x="0" y="255014"/>
                </a:lnTo>
                <a:lnTo>
                  <a:pt x="0" y="383896"/>
                </a:lnTo>
                <a:lnTo>
                  <a:pt x="5498" y="436021"/>
                </a:lnTo>
                <a:lnTo>
                  <a:pt x="19244" y="482648"/>
                </a:lnTo>
                <a:lnTo>
                  <a:pt x="43987" y="526525"/>
                </a:lnTo>
                <a:lnTo>
                  <a:pt x="74228" y="567653"/>
                </a:lnTo>
                <a:lnTo>
                  <a:pt x="112602" y="597782"/>
                </a:lnTo>
                <a:lnTo>
                  <a:pt x="159339" y="622528"/>
                </a:lnTo>
                <a:lnTo>
                  <a:pt x="206075" y="636160"/>
                </a:lnTo>
                <a:lnTo>
                  <a:pt x="258195" y="641659"/>
                </a:lnTo>
                <a:close/>
              </a:path>
            </a:pathLst>
          </a:custGeom>
          <a:ln w="13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8159" y="3424408"/>
          <a:ext cx="1495422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154305"/>
                <a:gridCol w="307975"/>
                <a:gridCol w="156845"/>
                <a:gridCol w="307975"/>
                <a:gridCol w="153669"/>
                <a:gridCol w="52069"/>
                <a:gridCol w="52069"/>
              </a:tblGrid>
              <a:tr h="104139"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55494" y="321815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18952" y="2601390"/>
            <a:ext cx="420370" cy="213995"/>
            <a:chOff x="3118952" y="2601390"/>
            <a:chExt cx="420370" cy="213995"/>
          </a:xfrm>
        </p:grpSpPr>
        <p:sp>
          <p:nvSpPr>
            <p:cNvPr id="7" name="object 7"/>
            <p:cNvSpPr/>
            <p:nvPr/>
          </p:nvSpPr>
          <p:spPr>
            <a:xfrm>
              <a:off x="3123079" y="260551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23079" y="260551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0" y="205672"/>
                  </a:moveTo>
                  <a:lnTo>
                    <a:pt x="104366" y="205672"/>
                  </a:lnTo>
                  <a:lnTo>
                    <a:pt x="10436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27434" y="2605517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307612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07612" y="205672"/>
                  </a:lnTo>
                  <a:lnTo>
                    <a:pt x="3076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27434" y="2605517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0" y="205672"/>
                  </a:moveTo>
                  <a:lnTo>
                    <a:pt x="307612" y="205672"/>
                  </a:lnTo>
                  <a:lnTo>
                    <a:pt x="307612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31566" y="2600894"/>
            <a:ext cx="2997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latin typeface="Arial MT"/>
                <a:cs typeface="Arial MT"/>
              </a:rPr>
              <a:t>25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30873" y="2601390"/>
            <a:ext cx="113030" cy="213995"/>
            <a:chOff x="3530873" y="2601390"/>
            <a:chExt cx="113030" cy="213995"/>
          </a:xfrm>
        </p:grpSpPr>
        <p:sp>
          <p:nvSpPr>
            <p:cNvPr id="13" name="object 13"/>
            <p:cNvSpPr/>
            <p:nvPr/>
          </p:nvSpPr>
          <p:spPr>
            <a:xfrm>
              <a:off x="3535001" y="260551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35001" y="260551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0" y="205672"/>
                  </a:moveTo>
                  <a:lnTo>
                    <a:pt x="104366" y="205672"/>
                  </a:lnTo>
                  <a:lnTo>
                    <a:pt x="10436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39361" y="2605517"/>
            <a:ext cx="307975" cy="205740"/>
          </a:xfrm>
          <a:prstGeom prst="rect">
            <a:avLst/>
          </a:prstGeom>
          <a:solidFill>
            <a:srgbClr val="FFFF00"/>
          </a:solidFill>
          <a:ln w="8262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latin typeface="Arial MT"/>
                <a:cs typeface="Arial MT"/>
              </a:rPr>
              <a:t>40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43139" y="2601390"/>
            <a:ext cx="525145" cy="213995"/>
            <a:chOff x="3943139" y="2601390"/>
            <a:chExt cx="525145" cy="213995"/>
          </a:xfrm>
        </p:grpSpPr>
        <p:sp>
          <p:nvSpPr>
            <p:cNvPr id="17" name="object 17"/>
            <p:cNvSpPr/>
            <p:nvPr/>
          </p:nvSpPr>
          <p:spPr>
            <a:xfrm>
              <a:off x="3947266" y="260551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47266" y="2605517"/>
              <a:ext cx="516890" cy="205740"/>
            </a:xfrm>
            <a:custGeom>
              <a:avLst/>
              <a:gdLst/>
              <a:ahLst/>
              <a:cxnLst/>
              <a:rect l="l" t="t" r="r" b="b"/>
              <a:pathLst>
                <a:path w="516889" h="205739">
                  <a:moveTo>
                    <a:pt x="0" y="205672"/>
                  </a:moveTo>
                  <a:lnTo>
                    <a:pt x="104366" y="205672"/>
                  </a:lnTo>
                  <a:lnTo>
                    <a:pt x="10436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  <a:path w="516889" h="205739">
                  <a:moveTo>
                    <a:pt x="104355" y="205672"/>
                  </a:moveTo>
                  <a:lnTo>
                    <a:pt x="411967" y="205672"/>
                  </a:lnTo>
                  <a:lnTo>
                    <a:pt x="411967" y="0"/>
                  </a:lnTo>
                  <a:lnTo>
                    <a:pt x="104355" y="0"/>
                  </a:lnTo>
                  <a:lnTo>
                    <a:pt x="104355" y="205672"/>
                  </a:lnTo>
                  <a:close/>
                </a:path>
                <a:path w="516889" h="205739">
                  <a:moveTo>
                    <a:pt x="411921" y="205672"/>
                  </a:moveTo>
                  <a:lnTo>
                    <a:pt x="516563" y="205672"/>
                  </a:lnTo>
                  <a:lnTo>
                    <a:pt x="516563" y="0"/>
                  </a:lnTo>
                  <a:lnTo>
                    <a:pt x="411921" y="0"/>
                  </a:lnTo>
                  <a:lnTo>
                    <a:pt x="411921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76245" y="239525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80299" y="2705683"/>
            <a:ext cx="1911350" cy="627380"/>
            <a:chOff x="1680299" y="2705683"/>
            <a:chExt cx="1911350" cy="627380"/>
          </a:xfrm>
        </p:grpSpPr>
        <p:sp>
          <p:nvSpPr>
            <p:cNvPr id="21" name="object 21"/>
            <p:cNvSpPr/>
            <p:nvPr/>
          </p:nvSpPr>
          <p:spPr>
            <a:xfrm>
              <a:off x="1740999" y="2709803"/>
              <a:ext cx="1434465" cy="589915"/>
            </a:xfrm>
            <a:custGeom>
              <a:avLst/>
              <a:gdLst/>
              <a:ahLst/>
              <a:cxnLst/>
              <a:rect l="l" t="t" r="r" b="b"/>
              <a:pathLst>
                <a:path w="1434464" h="589914">
                  <a:moveTo>
                    <a:pt x="1434199" y="0"/>
                  </a:moveTo>
                  <a:lnTo>
                    <a:pt x="0" y="589877"/>
                  </a:lnTo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80299" y="3263937"/>
              <a:ext cx="83185" cy="69215"/>
            </a:xfrm>
            <a:custGeom>
              <a:avLst/>
              <a:gdLst/>
              <a:ahLst/>
              <a:cxnLst/>
              <a:rect l="l" t="t" r="r" b="b"/>
              <a:pathLst>
                <a:path w="83185" h="69214">
                  <a:moveTo>
                    <a:pt x="55213" y="0"/>
                  </a:moveTo>
                  <a:lnTo>
                    <a:pt x="0" y="63123"/>
                  </a:lnTo>
                  <a:lnTo>
                    <a:pt x="82670" y="68622"/>
                  </a:lnTo>
                  <a:lnTo>
                    <a:pt x="552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66260" y="2709803"/>
              <a:ext cx="621030" cy="570865"/>
            </a:xfrm>
            <a:custGeom>
              <a:avLst/>
              <a:gdLst/>
              <a:ahLst/>
              <a:cxnLst/>
              <a:rect l="l" t="t" r="r" b="b"/>
              <a:pathLst>
                <a:path w="621029" h="570864">
                  <a:moveTo>
                    <a:pt x="620975" y="0"/>
                  </a:moveTo>
                  <a:lnTo>
                    <a:pt x="0" y="570631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6775" y="3247555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30241" y="0"/>
                  </a:moveTo>
                  <a:lnTo>
                    <a:pt x="0" y="79505"/>
                  </a:lnTo>
                  <a:lnTo>
                    <a:pt x="79612" y="54875"/>
                  </a:lnTo>
                  <a:lnTo>
                    <a:pt x="302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7471" y="3424408"/>
            <a:ext cx="210309" cy="213912"/>
          </a:xfrm>
          <a:prstGeom prst="rect">
            <a:avLst/>
          </a:prstGeom>
        </p:spPr>
      </p:pic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294428" y="3424408"/>
          <a:ext cx="1393823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153669"/>
                <a:gridCol w="310515"/>
                <a:gridCol w="154305"/>
                <a:gridCol w="307975"/>
                <a:gridCol w="156844"/>
              </a:tblGrid>
              <a:tr h="205104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2351715" y="321815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893661" y="3424408"/>
          <a:ext cx="1490341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340"/>
                <a:gridCol w="153669"/>
                <a:gridCol w="310515"/>
                <a:gridCol w="153669"/>
                <a:gridCol w="309880"/>
                <a:gridCol w="153669"/>
                <a:gridCol w="52069"/>
                <a:gridCol w="49530"/>
              </a:tblGrid>
              <a:tr h="104139"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9" name="object 29"/>
          <p:cNvSpPr txBox="1"/>
          <p:nvPr/>
        </p:nvSpPr>
        <p:spPr>
          <a:xfrm>
            <a:off x="3948312" y="321815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224435" y="3494321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0" y="74006"/>
                </a:lnTo>
                <a:lnTo>
                  <a:pt x="74113" y="383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3995381" y="2705683"/>
            <a:ext cx="570230" cy="621665"/>
            <a:chOff x="3995381" y="2705683"/>
            <a:chExt cx="570230" cy="621665"/>
          </a:xfrm>
        </p:grpSpPr>
        <p:sp>
          <p:nvSpPr>
            <p:cNvPr id="32" name="object 32"/>
            <p:cNvSpPr/>
            <p:nvPr/>
          </p:nvSpPr>
          <p:spPr>
            <a:xfrm>
              <a:off x="3999501" y="2709803"/>
              <a:ext cx="522605" cy="568325"/>
            </a:xfrm>
            <a:custGeom>
              <a:avLst/>
              <a:gdLst/>
              <a:ahLst/>
              <a:cxnLst/>
              <a:rect l="l" t="t" r="r" b="b"/>
              <a:pathLst>
                <a:path w="522604" h="568325">
                  <a:moveTo>
                    <a:pt x="0" y="0"/>
                  </a:moveTo>
                  <a:lnTo>
                    <a:pt x="522004" y="567882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88629" y="3244806"/>
              <a:ext cx="77470" cy="82550"/>
            </a:xfrm>
            <a:custGeom>
              <a:avLst/>
              <a:gdLst/>
              <a:ahLst/>
              <a:cxnLst/>
              <a:rect l="l" t="t" r="r" b="b"/>
              <a:pathLst>
                <a:path w="77470" h="82550">
                  <a:moveTo>
                    <a:pt x="54869" y="0"/>
                  </a:moveTo>
                  <a:lnTo>
                    <a:pt x="0" y="52125"/>
                  </a:lnTo>
                  <a:lnTo>
                    <a:pt x="76863" y="82255"/>
                  </a:lnTo>
                  <a:lnTo>
                    <a:pt x="54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8532816" y="3428528"/>
            <a:ext cx="104775" cy="205740"/>
          </a:xfrm>
          <a:custGeom>
            <a:avLst/>
            <a:gdLst/>
            <a:ahLst/>
            <a:cxnLst/>
            <a:rect l="l" t="t" r="r" b="b"/>
            <a:pathLst>
              <a:path w="104775" h="205739">
                <a:moveTo>
                  <a:pt x="104640" y="0"/>
                </a:moveTo>
                <a:lnTo>
                  <a:pt x="0" y="0"/>
                </a:lnTo>
                <a:lnTo>
                  <a:pt x="0" y="205672"/>
                </a:lnTo>
                <a:lnTo>
                  <a:pt x="104640" y="205672"/>
                </a:lnTo>
                <a:lnTo>
                  <a:pt x="1046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196033" y="321815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4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068653" y="3428529"/>
            <a:ext cx="464184" cy="205740"/>
          </a:xfrm>
          <a:custGeom>
            <a:avLst/>
            <a:gdLst/>
            <a:ahLst/>
            <a:cxnLst/>
            <a:rect l="l" t="t" r="r" b="b"/>
            <a:pathLst>
              <a:path w="464184" h="205739">
                <a:moveTo>
                  <a:pt x="464121" y="0"/>
                </a:moveTo>
                <a:lnTo>
                  <a:pt x="310349" y="0"/>
                </a:lnTo>
                <a:lnTo>
                  <a:pt x="0" y="0"/>
                </a:lnTo>
                <a:lnTo>
                  <a:pt x="0" y="205676"/>
                </a:lnTo>
                <a:lnTo>
                  <a:pt x="310311" y="205676"/>
                </a:lnTo>
                <a:lnTo>
                  <a:pt x="464121" y="205676"/>
                </a:lnTo>
                <a:lnTo>
                  <a:pt x="46412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7138403" y="3424408"/>
          <a:ext cx="1493518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156845"/>
                <a:gridCol w="307975"/>
                <a:gridCol w="153670"/>
                <a:gridCol w="309879"/>
                <a:gridCol w="153034"/>
                <a:gridCol w="104140"/>
              </a:tblGrid>
              <a:tr h="205104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70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5419921" y="3494321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0" y="74006"/>
                </a:lnTo>
                <a:lnTo>
                  <a:pt x="74113" y="383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518777" y="3428528"/>
            <a:ext cx="310515" cy="205740"/>
          </a:xfrm>
          <a:prstGeom prst="rect">
            <a:avLst/>
          </a:prstGeom>
          <a:solidFill>
            <a:srgbClr val="C0C0C0"/>
          </a:solidFill>
          <a:ln w="8320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latin typeface="Arial MT"/>
                <a:cs typeface="Arial MT"/>
              </a:rPr>
              <a:t>50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25080" y="3424401"/>
            <a:ext cx="1192530" cy="213995"/>
            <a:chOff x="5825080" y="3424401"/>
            <a:chExt cx="1192530" cy="213995"/>
          </a:xfrm>
        </p:grpSpPr>
        <p:sp>
          <p:nvSpPr>
            <p:cNvPr id="41" name="object 41"/>
            <p:cNvSpPr/>
            <p:nvPr/>
          </p:nvSpPr>
          <p:spPr>
            <a:xfrm>
              <a:off x="5829207" y="3428528"/>
              <a:ext cx="154305" cy="205740"/>
            </a:xfrm>
            <a:custGeom>
              <a:avLst/>
              <a:gdLst/>
              <a:ahLst/>
              <a:cxnLst/>
              <a:rect l="l" t="t" r="r" b="b"/>
              <a:pathLst>
                <a:path w="154304" h="205739">
                  <a:moveTo>
                    <a:pt x="154081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54081" y="205672"/>
                  </a:lnTo>
                  <a:lnTo>
                    <a:pt x="15408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29207" y="3428528"/>
              <a:ext cx="154305" cy="205740"/>
            </a:xfrm>
            <a:custGeom>
              <a:avLst/>
              <a:gdLst/>
              <a:ahLst/>
              <a:cxnLst/>
              <a:rect l="l" t="t" r="r" b="b"/>
              <a:pathLst>
                <a:path w="154304" h="205739">
                  <a:moveTo>
                    <a:pt x="0" y="205672"/>
                  </a:moveTo>
                  <a:lnTo>
                    <a:pt x="154081" y="205672"/>
                  </a:lnTo>
                  <a:lnTo>
                    <a:pt x="154081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909070" y="3428528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909070" y="3428528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0" y="205672"/>
                  </a:moveTo>
                  <a:lnTo>
                    <a:pt x="104366" y="205672"/>
                  </a:lnTo>
                  <a:lnTo>
                    <a:pt x="10436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72058" y="321815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5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83283" y="3428528"/>
            <a:ext cx="307975" cy="205740"/>
          </a:xfrm>
          <a:prstGeom prst="rect">
            <a:avLst/>
          </a:prstGeom>
          <a:solidFill>
            <a:srgbClr val="C0C0C0"/>
          </a:solidFill>
          <a:ln w="828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latin typeface="Arial MT"/>
                <a:cs typeface="Arial MT"/>
              </a:rPr>
              <a:t>53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902172" y="2601390"/>
            <a:ext cx="1011555" cy="1036955"/>
            <a:chOff x="5902172" y="2601390"/>
            <a:chExt cx="1011555" cy="1036955"/>
          </a:xfrm>
        </p:grpSpPr>
        <p:sp>
          <p:nvSpPr>
            <p:cNvPr id="48" name="object 48"/>
            <p:cNvSpPr/>
            <p:nvPr/>
          </p:nvSpPr>
          <p:spPr>
            <a:xfrm>
              <a:off x="6290844" y="3428528"/>
              <a:ext cx="156845" cy="205740"/>
            </a:xfrm>
            <a:custGeom>
              <a:avLst/>
              <a:gdLst/>
              <a:ahLst/>
              <a:cxnLst/>
              <a:rect l="l" t="t" r="r" b="b"/>
              <a:pathLst>
                <a:path w="156845" h="205739">
                  <a:moveTo>
                    <a:pt x="156555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56555" y="205672"/>
                  </a:lnTo>
                  <a:lnTo>
                    <a:pt x="15655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90844" y="3428528"/>
              <a:ext cx="156845" cy="205740"/>
            </a:xfrm>
            <a:custGeom>
              <a:avLst/>
              <a:gdLst/>
              <a:ahLst/>
              <a:cxnLst/>
              <a:rect l="l" t="t" r="r" b="b"/>
              <a:pathLst>
                <a:path w="156845" h="205739">
                  <a:moveTo>
                    <a:pt x="0" y="205672"/>
                  </a:moveTo>
                  <a:lnTo>
                    <a:pt x="156555" y="205672"/>
                  </a:lnTo>
                  <a:lnTo>
                    <a:pt x="156555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47434" y="3428528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307887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07887" y="205672"/>
                  </a:lnTo>
                  <a:lnTo>
                    <a:pt x="307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47434" y="3428528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0" y="205672"/>
                  </a:moveTo>
                  <a:lnTo>
                    <a:pt x="307887" y="205672"/>
                  </a:lnTo>
                  <a:lnTo>
                    <a:pt x="307887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755230" y="3428528"/>
              <a:ext cx="154305" cy="205740"/>
            </a:xfrm>
            <a:custGeom>
              <a:avLst/>
              <a:gdLst/>
              <a:ahLst/>
              <a:cxnLst/>
              <a:rect l="l" t="t" r="r" b="b"/>
              <a:pathLst>
                <a:path w="154304" h="205739">
                  <a:moveTo>
                    <a:pt x="15380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53806" y="205672"/>
                  </a:lnTo>
                  <a:lnTo>
                    <a:pt x="1538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55230" y="3428528"/>
              <a:ext cx="154305" cy="205740"/>
            </a:xfrm>
            <a:custGeom>
              <a:avLst/>
              <a:gdLst/>
              <a:ahLst/>
              <a:cxnLst/>
              <a:rect l="l" t="t" r="r" b="b"/>
              <a:pathLst>
                <a:path w="154304" h="205739">
                  <a:moveTo>
                    <a:pt x="0" y="205672"/>
                  </a:moveTo>
                  <a:lnTo>
                    <a:pt x="153806" y="205672"/>
                  </a:lnTo>
                  <a:lnTo>
                    <a:pt x="15380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06300" y="260551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619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619" y="205672"/>
                  </a:lnTo>
                  <a:lnTo>
                    <a:pt x="1016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06300" y="260551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0" y="205672"/>
                  </a:moveTo>
                  <a:lnTo>
                    <a:pt x="101619" y="205672"/>
                  </a:lnTo>
                  <a:lnTo>
                    <a:pt x="101619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07906" y="2605517"/>
              <a:ext cx="310515" cy="205740"/>
            </a:xfrm>
            <a:custGeom>
              <a:avLst/>
              <a:gdLst/>
              <a:ahLst/>
              <a:cxnLst/>
              <a:rect l="l" t="t" r="r" b="b"/>
              <a:pathLst>
                <a:path w="310514" h="205739">
                  <a:moveTo>
                    <a:pt x="310350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10350" y="205672"/>
                  </a:lnTo>
                  <a:lnTo>
                    <a:pt x="3103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07906" y="2605517"/>
              <a:ext cx="310515" cy="205740"/>
            </a:xfrm>
            <a:custGeom>
              <a:avLst/>
              <a:gdLst/>
              <a:ahLst/>
              <a:cxnLst/>
              <a:rect l="l" t="t" r="r" b="b"/>
              <a:pathLst>
                <a:path w="310514" h="205739">
                  <a:moveTo>
                    <a:pt x="0" y="205672"/>
                  </a:moveTo>
                  <a:lnTo>
                    <a:pt x="310350" y="205672"/>
                  </a:lnTo>
                  <a:lnTo>
                    <a:pt x="310350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012039" y="2600894"/>
            <a:ext cx="3022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latin typeface="Arial MT"/>
                <a:cs typeface="Arial MT"/>
              </a:rPr>
              <a:t>60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314208" y="2601390"/>
            <a:ext cx="934719" cy="213995"/>
            <a:chOff x="6314208" y="2601390"/>
            <a:chExt cx="934719" cy="213995"/>
          </a:xfrm>
        </p:grpSpPr>
        <p:sp>
          <p:nvSpPr>
            <p:cNvPr id="60" name="object 60"/>
            <p:cNvSpPr/>
            <p:nvPr/>
          </p:nvSpPr>
          <p:spPr>
            <a:xfrm>
              <a:off x="6318336" y="260551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619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619" y="205672"/>
                  </a:lnTo>
                  <a:lnTo>
                    <a:pt x="1016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318336" y="2605517"/>
              <a:ext cx="926465" cy="205740"/>
            </a:xfrm>
            <a:custGeom>
              <a:avLst/>
              <a:gdLst/>
              <a:ahLst/>
              <a:cxnLst/>
              <a:rect l="l" t="t" r="r" b="b"/>
              <a:pathLst>
                <a:path w="926465" h="205739">
                  <a:moveTo>
                    <a:pt x="0" y="205672"/>
                  </a:moveTo>
                  <a:lnTo>
                    <a:pt x="101619" y="205672"/>
                  </a:lnTo>
                  <a:lnTo>
                    <a:pt x="101619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  <a:path w="926465" h="205739">
                  <a:moveTo>
                    <a:pt x="101605" y="205672"/>
                  </a:moveTo>
                  <a:lnTo>
                    <a:pt x="412230" y="205672"/>
                  </a:lnTo>
                  <a:lnTo>
                    <a:pt x="412230" y="0"/>
                  </a:lnTo>
                  <a:lnTo>
                    <a:pt x="101605" y="0"/>
                  </a:lnTo>
                  <a:lnTo>
                    <a:pt x="101605" y="205672"/>
                  </a:lnTo>
                  <a:close/>
                </a:path>
                <a:path w="926465" h="205739">
                  <a:moveTo>
                    <a:pt x="412265" y="205672"/>
                  </a:moveTo>
                  <a:lnTo>
                    <a:pt x="513884" y="205672"/>
                  </a:lnTo>
                  <a:lnTo>
                    <a:pt x="513884" y="0"/>
                  </a:lnTo>
                  <a:lnTo>
                    <a:pt x="412265" y="0"/>
                  </a:lnTo>
                  <a:lnTo>
                    <a:pt x="412265" y="205672"/>
                  </a:lnTo>
                  <a:close/>
                </a:path>
                <a:path w="926465" h="205739">
                  <a:moveTo>
                    <a:pt x="513871" y="205672"/>
                  </a:moveTo>
                  <a:lnTo>
                    <a:pt x="824221" y="205672"/>
                  </a:lnTo>
                  <a:lnTo>
                    <a:pt x="824221" y="0"/>
                  </a:lnTo>
                  <a:lnTo>
                    <a:pt x="513871" y="0"/>
                  </a:lnTo>
                  <a:lnTo>
                    <a:pt x="513871" y="205672"/>
                  </a:lnTo>
                  <a:close/>
                </a:path>
                <a:path w="926465" h="205739">
                  <a:moveTo>
                    <a:pt x="824187" y="205672"/>
                  </a:moveTo>
                  <a:lnTo>
                    <a:pt x="926082" y="205672"/>
                  </a:lnTo>
                  <a:lnTo>
                    <a:pt x="926082" y="0"/>
                  </a:lnTo>
                  <a:lnTo>
                    <a:pt x="824187" y="0"/>
                  </a:lnTo>
                  <a:lnTo>
                    <a:pt x="824187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959581" y="239525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4511887" y="1778501"/>
          <a:ext cx="1338579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"/>
                <a:gridCol w="310515"/>
                <a:gridCol w="101600"/>
                <a:gridCol w="310515"/>
                <a:gridCol w="101600"/>
                <a:gridCol w="310515"/>
                <a:gridCol w="102234"/>
              </a:tblGrid>
              <a:tr h="2051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4" name="object 64"/>
          <p:cNvSpPr txBox="1"/>
          <p:nvPr/>
        </p:nvSpPr>
        <p:spPr>
          <a:xfrm>
            <a:off x="4566538" y="1572245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7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3793426" y="1882672"/>
            <a:ext cx="776605" cy="621665"/>
            <a:chOff x="3793426" y="1882672"/>
            <a:chExt cx="776605" cy="621665"/>
          </a:xfrm>
        </p:grpSpPr>
        <p:sp>
          <p:nvSpPr>
            <p:cNvPr id="66" name="object 66"/>
            <p:cNvSpPr/>
            <p:nvPr/>
          </p:nvSpPr>
          <p:spPr>
            <a:xfrm>
              <a:off x="3842911" y="1886792"/>
              <a:ext cx="722630" cy="576580"/>
            </a:xfrm>
            <a:custGeom>
              <a:avLst/>
              <a:gdLst/>
              <a:ahLst/>
              <a:cxnLst/>
              <a:rect l="l" t="t" r="r" b="b"/>
              <a:pathLst>
                <a:path w="722629" h="576580">
                  <a:moveTo>
                    <a:pt x="722581" y="0"/>
                  </a:moveTo>
                  <a:lnTo>
                    <a:pt x="0" y="576130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93426" y="2427294"/>
              <a:ext cx="82550" cy="76835"/>
            </a:xfrm>
            <a:custGeom>
              <a:avLst/>
              <a:gdLst/>
              <a:ahLst/>
              <a:cxnLst/>
              <a:rect l="l" t="t" r="r" b="b"/>
              <a:pathLst>
                <a:path w="82550" h="76835">
                  <a:moveTo>
                    <a:pt x="35739" y="0"/>
                  </a:moveTo>
                  <a:lnTo>
                    <a:pt x="0" y="76756"/>
                  </a:lnTo>
                  <a:lnTo>
                    <a:pt x="82475" y="57624"/>
                  </a:lnTo>
                  <a:lnTo>
                    <a:pt x="357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/>
          <p:nvPr/>
        </p:nvSpPr>
        <p:spPr>
          <a:xfrm>
            <a:off x="4977414" y="1886792"/>
            <a:ext cx="1536065" cy="593090"/>
          </a:xfrm>
          <a:custGeom>
            <a:avLst/>
            <a:gdLst/>
            <a:ahLst/>
            <a:cxnLst/>
            <a:rect l="l" t="t" r="r" b="b"/>
            <a:pathLst>
              <a:path w="1536065" h="593089">
                <a:moveTo>
                  <a:pt x="0" y="0"/>
                </a:moveTo>
                <a:lnTo>
                  <a:pt x="1535885" y="592627"/>
                </a:lnTo>
              </a:path>
            </a:pathLst>
          </a:custGeom>
          <a:ln w="8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491306" y="2441041"/>
            <a:ext cx="85725" cy="68580"/>
          </a:xfrm>
          <a:custGeom>
            <a:avLst/>
            <a:gdLst/>
            <a:ahLst/>
            <a:cxnLst/>
            <a:rect l="l" t="t" r="r" b="b"/>
            <a:pathLst>
              <a:path w="85725" h="68580">
                <a:moveTo>
                  <a:pt x="27721" y="0"/>
                </a:moveTo>
                <a:lnTo>
                  <a:pt x="0" y="68507"/>
                </a:lnTo>
                <a:lnTo>
                  <a:pt x="85454" y="63008"/>
                </a:lnTo>
                <a:lnTo>
                  <a:pt x="277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5954407" y="2554847"/>
            <a:ext cx="2220595" cy="1014094"/>
            <a:chOff x="5954407" y="2554847"/>
            <a:chExt cx="2220595" cy="1014094"/>
          </a:xfrm>
        </p:grpSpPr>
        <p:sp>
          <p:nvSpPr>
            <p:cNvPr id="71" name="object 71"/>
            <p:cNvSpPr/>
            <p:nvPr/>
          </p:nvSpPr>
          <p:spPr>
            <a:xfrm>
              <a:off x="6988682" y="3532699"/>
              <a:ext cx="88265" cy="0"/>
            </a:xfrm>
            <a:custGeom>
              <a:avLst/>
              <a:gdLst/>
              <a:ahLst/>
              <a:cxnLst/>
              <a:rect l="l" t="t" r="r" b="b"/>
              <a:pathLst>
                <a:path w="88265">
                  <a:moveTo>
                    <a:pt x="0" y="0"/>
                  </a:moveTo>
                  <a:lnTo>
                    <a:pt x="87974" y="0"/>
                  </a:lnTo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068409" y="3494321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5">
                  <a:moveTo>
                    <a:pt x="0" y="0"/>
                  </a:moveTo>
                  <a:lnTo>
                    <a:pt x="0" y="74006"/>
                  </a:lnTo>
                  <a:lnTo>
                    <a:pt x="74113" y="38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70456" y="2709803"/>
              <a:ext cx="1382395" cy="589915"/>
            </a:xfrm>
            <a:custGeom>
              <a:avLst/>
              <a:gdLst/>
              <a:ahLst/>
              <a:cxnLst/>
              <a:rect l="l" t="t" r="r" b="b"/>
              <a:pathLst>
                <a:path w="1382395" h="589914">
                  <a:moveTo>
                    <a:pt x="0" y="0"/>
                  </a:moveTo>
                  <a:lnTo>
                    <a:pt x="1382045" y="589877"/>
                  </a:lnTo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727759" y="3261188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0241" y="0"/>
                  </a:moveTo>
                  <a:lnTo>
                    <a:pt x="0" y="68622"/>
                  </a:lnTo>
                  <a:lnTo>
                    <a:pt x="85225" y="65872"/>
                  </a:lnTo>
                  <a:lnTo>
                    <a:pt x="302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958534" y="2709803"/>
              <a:ext cx="184150" cy="554355"/>
            </a:xfrm>
            <a:custGeom>
              <a:avLst/>
              <a:gdLst/>
              <a:ahLst/>
              <a:cxnLst/>
              <a:rect l="l" t="t" r="r" b="b"/>
              <a:pathLst>
                <a:path w="184150" h="554354">
                  <a:moveTo>
                    <a:pt x="0" y="0"/>
                  </a:moveTo>
                  <a:lnTo>
                    <a:pt x="183967" y="554134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104127" y="3244806"/>
              <a:ext cx="71755" cy="82550"/>
            </a:xfrm>
            <a:custGeom>
              <a:avLst/>
              <a:gdLst/>
              <a:ahLst/>
              <a:cxnLst/>
              <a:rect l="l" t="t" r="r" b="b"/>
              <a:pathLst>
                <a:path w="71754" h="82550">
                  <a:moveTo>
                    <a:pt x="71364" y="0"/>
                  </a:moveTo>
                  <a:lnTo>
                    <a:pt x="0" y="21881"/>
                  </a:lnTo>
                  <a:lnTo>
                    <a:pt x="60367" y="82255"/>
                  </a:lnTo>
                  <a:lnTo>
                    <a:pt x="713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267476" y="2760554"/>
              <a:ext cx="1494790" cy="669925"/>
            </a:xfrm>
            <a:custGeom>
              <a:avLst/>
              <a:gdLst/>
              <a:ahLst/>
              <a:cxnLst/>
              <a:rect l="l" t="t" r="r" b="b"/>
              <a:pathLst>
                <a:path w="1494790" h="669925">
                  <a:moveTo>
                    <a:pt x="1494647" y="0"/>
                  </a:moveTo>
                  <a:lnTo>
                    <a:pt x="0" y="66938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350202" y="2554847"/>
              <a:ext cx="824230" cy="411480"/>
            </a:xfrm>
            <a:custGeom>
              <a:avLst/>
              <a:gdLst/>
              <a:ahLst/>
              <a:cxnLst/>
              <a:rect l="l" t="t" r="r" b="b"/>
              <a:pathLst>
                <a:path w="824229" h="411480">
                  <a:moveTo>
                    <a:pt x="824221" y="0"/>
                  </a:moveTo>
                  <a:lnTo>
                    <a:pt x="0" y="0"/>
                  </a:lnTo>
                  <a:lnTo>
                    <a:pt x="0" y="411345"/>
                  </a:lnTo>
                  <a:lnTo>
                    <a:pt x="824221" y="411345"/>
                  </a:lnTo>
                  <a:lnTo>
                    <a:pt x="8242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350202" y="2554847"/>
            <a:ext cx="824230" cy="4114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58419" marR="55880" indent="79375">
              <a:lnSpc>
                <a:spcPct val="102899"/>
              </a:lnSpc>
              <a:spcBef>
                <a:spcPts val="665"/>
              </a:spcBef>
            </a:pPr>
            <a:r>
              <a:rPr sz="700" spc="-10" dirty="0">
                <a:latin typeface="Arial MT"/>
                <a:cs typeface="Arial MT"/>
              </a:rPr>
              <a:t>Violation</a:t>
            </a:r>
            <a:r>
              <a:rPr sz="700" dirty="0">
                <a:latin typeface="Arial MT"/>
                <a:cs typeface="Arial MT"/>
              </a:rPr>
              <a:t> de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règle</a:t>
            </a:r>
            <a:r>
              <a:rPr sz="700" spc="-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minimum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80" name="object 80"/>
          <p:cNvGraphicFramePr>
            <a:graphicFrameLocks noGrp="1"/>
          </p:cNvGraphicFramePr>
          <p:nvPr/>
        </p:nvGraphicFramePr>
        <p:xfrm>
          <a:off x="904147" y="6098930"/>
          <a:ext cx="1494151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153669"/>
                <a:gridCol w="307340"/>
                <a:gridCol w="156844"/>
                <a:gridCol w="307340"/>
                <a:gridCol w="153669"/>
                <a:gridCol w="52069"/>
                <a:gridCol w="52705"/>
              </a:tblGrid>
              <a:tr h="104139"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1" name="object 81"/>
          <p:cNvSpPr txBox="1"/>
          <p:nvPr/>
        </p:nvSpPr>
        <p:spPr>
          <a:xfrm>
            <a:off x="961479" y="589268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3324912" y="5275969"/>
            <a:ext cx="420370" cy="213995"/>
            <a:chOff x="3324912" y="5275969"/>
            <a:chExt cx="420370" cy="213995"/>
          </a:xfrm>
        </p:grpSpPr>
        <p:sp>
          <p:nvSpPr>
            <p:cNvPr id="83" name="object 83"/>
            <p:cNvSpPr/>
            <p:nvPr/>
          </p:nvSpPr>
          <p:spPr>
            <a:xfrm>
              <a:off x="3329040" y="528009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329040" y="528009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0" y="205672"/>
                  </a:moveTo>
                  <a:lnTo>
                    <a:pt x="104366" y="205672"/>
                  </a:lnTo>
                  <a:lnTo>
                    <a:pt x="104366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433395" y="5280097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307612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07612" y="205672"/>
                  </a:lnTo>
                  <a:lnTo>
                    <a:pt x="3076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433395" y="5280097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0" y="205672"/>
                  </a:moveTo>
                  <a:lnTo>
                    <a:pt x="307612" y="205672"/>
                  </a:lnTo>
                  <a:lnTo>
                    <a:pt x="307612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3437526" y="5275405"/>
            <a:ext cx="2997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latin typeface="Arial MT"/>
                <a:cs typeface="Arial MT"/>
              </a:rPr>
              <a:t>25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736834" y="5275969"/>
            <a:ext cx="416559" cy="213995"/>
            <a:chOff x="3736834" y="5275969"/>
            <a:chExt cx="416559" cy="213995"/>
          </a:xfrm>
        </p:grpSpPr>
        <p:sp>
          <p:nvSpPr>
            <p:cNvPr id="89" name="object 89"/>
            <p:cNvSpPr/>
            <p:nvPr/>
          </p:nvSpPr>
          <p:spPr>
            <a:xfrm>
              <a:off x="3740962" y="528009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641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641" y="205672"/>
                  </a:lnTo>
                  <a:lnTo>
                    <a:pt x="10464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740962" y="528009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0" y="205672"/>
                  </a:moveTo>
                  <a:lnTo>
                    <a:pt x="104641" y="205672"/>
                  </a:lnTo>
                  <a:lnTo>
                    <a:pt x="104641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845660" y="5280097"/>
              <a:ext cx="307975" cy="205740"/>
            </a:xfrm>
            <a:custGeom>
              <a:avLst/>
              <a:gdLst/>
              <a:ahLst/>
              <a:cxnLst/>
              <a:rect l="l" t="t" r="r" b="b"/>
              <a:pathLst>
                <a:path w="307975" h="205739">
                  <a:moveTo>
                    <a:pt x="307612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07612" y="205672"/>
                  </a:lnTo>
                  <a:lnTo>
                    <a:pt x="30761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845632" y="5280097"/>
            <a:ext cx="307975" cy="205740"/>
          </a:xfrm>
          <a:prstGeom prst="rect">
            <a:avLst/>
          </a:prstGeom>
          <a:ln w="8285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latin typeface="Arial MT"/>
                <a:cs typeface="Arial MT"/>
              </a:rPr>
              <a:t>40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886512" y="5275969"/>
            <a:ext cx="2787650" cy="731520"/>
            <a:chOff x="1886512" y="5275969"/>
            <a:chExt cx="2787650" cy="731520"/>
          </a:xfrm>
        </p:grpSpPr>
        <p:sp>
          <p:nvSpPr>
            <p:cNvPr id="94" name="object 94"/>
            <p:cNvSpPr/>
            <p:nvPr/>
          </p:nvSpPr>
          <p:spPr>
            <a:xfrm>
              <a:off x="4153227" y="5280097"/>
              <a:ext cx="104775" cy="205740"/>
            </a:xfrm>
            <a:custGeom>
              <a:avLst/>
              <a:gdLst/>
              <a:ahLst/>
              <a:cxnLst/>
              <a:rect l="l" t="t" r="r" b="b"/>
              <a:pathLst>
                <a:path w="104775" h="205739">
                  <a:moveTo>
                    <a:pt x="104366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4366" y="205672"/>
                  </a:lnTo>
                  <a:lnTo>
                    <a:pt x="1043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946995" y="5280097"/>
              <a:ext cx="2722880" cy="694690"/>
            </a:xfrm>
            <a:custGeom>
              <a:avLst/>
              <a:gdLst/>
              <a:ahLst/>
              <a:cxnLst/>
              <a:rect l="l" t="t" r="r" b="b"/>
              <a:pathLst>
                <a:path w="2722879" h="694689">
                  <a:moveTo>
                    <a:pt x="2206232" y="205672"/>
                  </a:moveTo>
                  <a:lnTo>
                    <a:pt x="2310598" y="205672"/>
                  </a:lnTo>
                  <a:lnTo>
                    <a:pt x="2310598" y="0"/>
                  </a:lnTo>
                  <a:lnTo>
                    <a:pt x="2206232" y="0"/>
                  </a:lnTo>
                  <a:lnTo>
                    <a:pt x="2206232" y="205672"/>
                  </a:lnTo>
                  <a:close/>
                </a:path>
                <a:path w="2722879" h="694689">
                  <a:moveTo>
                    <a:pt x="2310587" y="205672"/>
                  </a:moveTo>
                  <a:lnTo>
                    <a:pt x="2618474" y="205672"/>
                  </a:lnTo>
                  <a:lnTo>
                    <a:pt x="2618474" y="0"/>
                  </a:lnTo>
                  <a:lnTo>
                    <a:pt x="2310587" y="0"/>
                  </a:lnTo>
                  <a:lnTo>
                    <a:pt x="2310587" y="205672"/>
                  </a:lnTo>
                  <a:close/>
                </a:path>
                <a:path w="2722879" h="694689">
                  <a:moveTo>
                    <a:pt x="2618497" y="205672"/>
                  </a:moveTo>
                  <a:lnTo>
                    <a:pt x="2722864" y="205672"/>
                  </a:lnTo>
                  <a:lnTo>
                    <a:pt x="2722864" y="0"/>
                  </a:lnTo>
                  <a:lnTo>
                    <a:pt x="2618497" y="0"/>
                  </a:lnTo>
                  <a:lnTo>
                    <a:pt x="2618497" y="205672"/>
                  </a:lnTo>
                  <a:close/>
                </a:path>
                <a:path w="2722879" h="694689">
                  <a:moveTo>
                    <a:pt x="1434165" y="104205"/>
                  </a:moveTo>
                  <a:lnTo>
                    <a:pt x="0" y="694071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886512" y="5938517"/>
              <a:ext cx="82550" cy="68580"/>
            </a:xfrm>
            <a:custGeom>
              <a:avLst/>
              <a:gdLst/>
              <a:ahLst/>
              <a:cxnLst/>
              <a:rect l="l" t="t" r="r" b="b"/>
              <a:pathLst>
                <a:path w="82550" h="68579">
                  <a:moveTo>
                    <a:pt x="54983" y="0"/>
                  </a:moveTo>
                  <a:lnTo>
                    <a:pt x="0" y="63066"/>
                  </a:lnTo>
                  <a:lnTo>
                    <a:pt x="82475" y="68553"/>
                  </a:lnTo>
                  <a:lnTo>
                    <a:pt x="549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172450" y="5384302"/>
              <a:ext cx="621030" cy="570865"/>
            </a:xfrm>
            <a:custGeom>
              <a:avLst/>
              <a:gdLst/>
              <a:ahLst/>
              <a:cxnLst/>
              <a:rect l="l" t="t" r="r" b="b"/>
              <a:pathLst>
                <a:path w="621029" h="570864">
                  <a:moveTo>
                    <a:pt x="620975" y="0"/>
                  </a:moveTo>
                  <a:lnTo>
                    <a:pt x="0" y="570666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123079" y="5922066"/>
              <a:ext cx="80010" cy="80010"/>
            </a:xfrm>
            <a:custGeom>
              <a:avLst/>
              <a:gdLst/>
              <a:ahLst/>
              <a:cxnLst/>
              <a:rect l="l" t="t" r="r" b="b"/>
              <a:pathLst>
                <a:path w="80010" h="80010">
                  <a:moveTo>
                    <a:pt x="30126" y="0"/>
                  </a:moveTo>
                  <a:lnTo>
                    <a:pt x="0" y="79517"/>
                  </a:lnTo>
                  <a:lnTo>
                    <a:pt x="79612" y="54840"/>
                  </a:lnTo>
                  <a:lnTo>
                    <a:pt x="301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3382206" y="506973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3661" y="6098931"/>
            <a:ext cx="210195" cy="213912"/>
          </a:xfrm>
          <a:prstGeom prst="rect">
            <a:avLst/>
          </a:prstGeom>
        </p:spPr>
      </p:pic>
      <p:graphicFrame>
        <p:nvGraphicFramePr>
          <p:cNvPr id="101" name="object 101"/>
          <p:cNvGraphicFramePr>
            <a:graphicFrameLocks noGrp="1"/>
          </p:cNvGraphicFramePr>
          <p:nvPr/>
        </p:nvGraphicFramePr>
        <p:xfrm>
          <a:off x="2500733" y="6098930"/>
          <a:ext cx="1395729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154305"/>
                <a:gridCol w="311150"/>
                <a:gridCol w="154304"/>
                <a:gridCol w="307975"/>
                <a:gridCol w="157480"/>
              </a:tblGrid>
              <a:tr h="205104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2" name="object 102"/>
          <p:cNvSpPr txBox="1"/>
          <p:nvPr/>
        </p:nvSpPr>
        <p:spPr>
          <a:xfrm>
            <a:off x="2558019" y="589268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103" name="object 103"/>
          <p:cNvGraphicFramePr>
            <a:graphicFrameLocks noGrp="1"/>
          </p:cNvGraphicFramePr>
          <p:nvPr/>
        </p:nvGraphicFramePr>
        <p:xfrm>
          <a:off x="4099736" y="6098930"/>
          <a:ext cx="1490342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340"/>
                <a:gridCol w="153669"/>
                <a:gridCol w="309880"/>
                <a:gridCol w="153670"/>
                <a:gridCol w="310515"/>
                <a:gridCol w="153669"/>
                <a:gridCol w="52069"/>
                <a:gridCol w="49530"/>
              </a:tblGrid>
              <a:tr h="104139">
                <a:tc rowSpan="2"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04" name="object 104"/>
          <p:cNvSpPr txBox="1"/>
          <p:nvPr/>
        </p:nvSpPr>
        <p:spPr>
          <a:xfrm>
            <a:off x="4154273" y="589268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2430625" y="6168866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4" h="74295">
                <a:moveTo>
                  <a:pt x="0" y="0"/>
                </a:moveTo>
                <a:lnTo>
                  <a:pt x="0" y="74042"/>
                </a:lnTo>
                <a:lnTo>
                  <a:pt x="74228" y="38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6" name="object 106"/>
          <p:cNvGrpSpPr/>
          <p:nvPr/>
        </p:nvGrpSpPr>
        <p:grpSpPr>
          <a:xfrm>
            <a:off x="4201334" y="5380175"/>
            <a:ext cx="570230" cy="621665"/>
            <a:chOff x="4201334" y="5380175"/>
            <a:chExt cx="570230" cy="621665"/>
          </a:xfrm>
        </p:grpSpPr>
        <p:sp>
          <p:nvSpPr>
            <p:cNvPr id="107" name="object 107"/>
            <p:cNvSpPr/>
            <p:nvPr/>
          </p:nvSpPr>
          <p:spPr>
            <a:xfrm>
              <a:off x="4205462" y="5384302"/>
              <a:ext cx="522605" cy="568325"/>
            </a:xfrm>
            <a:custGeom>
              <a:avLst/>
              <a:gdLst/>
              <a:ahLst/>
              <a:cxnLst/>
              <a:rect l="l" t="t" r="r" b="b"/>
              <a:pathLst>
                <a:path w="522604" h="568325">
                  <a:moveTo>
                    <a:pt x="0" y="0"/>
                  </a:moveTo>
                  <a:lnTo>
                    <a:pt x="522118" y="567927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694590" y="5919316"/>
              <a:ext cx="77470" cy="82550"/>
            </a:xfrm>
            <a:custGeom>
              <a:avLst/>
              <a:gdLst/>
              <a:ahLst/>
              <a:cxnLst/>
              <a:rect l="l" t="t" r="r" b="b"/>
              <a:pathLst>
                <a:path w="77470" h="82550">
                  <a:moveTo>
                    <a:pt x="54869" y="0"/>
                  </a:moveTo>
                  <a:lnTo>
                    <a:pt x="0" y="52102"/>
                  </a:lnTo>
                  <a:lnTo>
                    <a:pt x="76863" y="82266"/>
                  </a:lnTo>
                  <a:lnTo>
                    <a:pt x="548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/>
          <p:nvPr/>
        </p:nvSpPr>
        <p:spPr>
          <a:xfrm>
            <a:off x="5625881" y="6168866"/>
            <a:ext cx="74295" cy="74295"/>
          </a:xfrm>
          <a:custGeom>
            <a:avLst/>
            <a:gdLst/>
            <a:ahLst/>
            <a:cxnLst/>
            <a:rect l="l" t="t" r="r" b="b"/>
            <a:pathLst>
              <a:path w="74295" h="74295">
                <a:moveTo>
                  <a:pt x="0" y="0"/>
                </a:moveTo>
                <a:lnTo>
                  <a:pt x="0" y="74042"/>
                </a:lnTo>
                <a:lnTo>
                  <a:pt x="74228" y="383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0" name="object 110"/>
          <p:cNvGraphicFramePr>
            <a:graphicFrameLocks noGrp="1"/>
          </p:cNvGraphicFramePr>
          <p:nvPr/>
        </p:nvGraphicFramePr>
        <p:xfrm>
          <a:off x="5720618" y="6098930"/>
          <a:ext cx="1496057" cy="20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153669"/>
                <a:gridCol w="307340"/>
                <a:gridCol w="156844"/>
                <a:gridCol w="307975"/>
                <a:gridCol w="154305"/>
                <a:gridCol w="105409"/>
              </a:tblGrid>
              <a:tr h="205104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70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20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1" name="object 111"/>
          <p:cNvSpPr txBox="1"/>
          <p:nvPr/>
        </p:nvSpPr>
        <p:spPr>
          <a:xfrm>
            <a:off x="5778019" y="5892686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108248" y="5275969"/>
            <a:ext cx="421005" cy="213995"/>
            <a:chOff x="6108248" y="5275969"/>
            <a:chExt cx="421005" cy="213995"/>
          </a:xfrm>
        </p:grpSpPr>
        <p:sp>
          <p:nvSpPr>
            <p:cNvPr id="113" name="object 113"/>
            <p:cNvSpPr/>
            <p:nvPr/>
          </p:nvSpPr>
          <p:spPr>
            <a:xfrm>
              <a:off x="6112375" y="528009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620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620" y="205672"/>
                  </a:lnTo>
                  <a:lnTo>
                    <a:pt x="1016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112375" y="528009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0" y="205672"/>
                  </a:moveTo>
                  <a:lnTo>
                    <a:pt x="101620" y="205672"/>
                  </a:lnTo>
                  <a:lnTo>
                    <a:pt x="101620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213981" y="5280097"/>
              <a:ext cx="311150" cy="205740"/>
            </a:xfrm>
            <a:custGeom>
              <a:avLst/>
              <a:gdLst/>
              <a:ahLst/>
              <a:cxnLst/>
              <a:rect l="l" t="t" r="r" b="b"/>
              <a:pathLst>
                <a:path w="311150" h="205739">
                  <a:moveTo>
                    <a:pt x="310625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10625" y="205672"/>
                  </a:lnTo>
                  <a:lnTo>
                    <a:pt x="31062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213981" y="5280097"/>
              <a:ext cx="311150" cy="205740"/>
            </a:xfrm>
            <a:custGeom>
              <a:avLst/>
              <a:gdLst/>
              <a:ahLst/>
              <a:cxnLst/>
              <a:rect l="l" t="t" r="r" b="b"/>
              <a:pathLst>
                <a:path w="311150" h="205739">
                  <a:moveTo>
                    <a:pt x="0" y="205672"/>
                  </a:moveTo>
                  <a:lnTo>
                    <a:pt x="310625" y="205672"/>
                  </a:lnTo>
                  <a:lnTo>
                    <a:pt x="310625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6218116" y="5275405"/>
            <a:ext cx="30289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30"/>
              </a:spcBef>
            </a:pPr>
            <a:r>
              <a:rPr sz="1050" spc="-25" dirty="0">
                <a:latin typeface="Arial MT"/>
                <a:cs typeface="Arial MT"/>
              </a:rPr>
              <a:t>60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6520398" y="5275969"/>
            <a:ext cx="934719" cy="213995"/>
            <a:chOff x="6520398" y="5275969"/>
            <a:chExt cx="934719" cy="213995"/>
          </a:xfrm>
        </p:grpSpPr>
        <p:sp>
          <p:nvSpPr>
            <p:cNvPr id="119" name="object 119"/>
            <p:cNvSpPr/>
            <p:nvPr/>
          </p:nvSpPr>
          <p:spPr>
            <a:xfrm>
              <a:off x="6524526" y="528009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4" h="205739">
                  <a:moveTo>
                    <a:pt x="101620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620" y="205672"/>
                  </a:lnTo>
                  <a:lnTo>
                    <a:pt x="1016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524526" y="5280097"/>
              <a:ext cx="926465" cy="205740"/>
            </a:xfrm>
            <a:custGeom>
              <a:avLst/>
              <a:gdLst/>
              <a:ahLst/>
              <a:cxnLst/>
              <a:rect l="l" t="t" r="r" b="b"/>
              <a:pathLst>
                <a:path w="926465" h="205739">
                  <a:moveTo>
                    <a:pt x="0" y="205672"/>
                  </a:moveTo>
                  <a:lnTo>
                    <a:pt x="101620" y="205672"/>
                  </a:lnTo>
                  <a:lnTo>
                    <a:pt x="101620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  <a:path w="926465" h="205739">
                  <a:moveTo>
                    <a:pt x="101720" y="205672"/>
                  </a:moveTo>
                  <a:lnTo>
                    <a:pt x="412070" y="205672"/>
                  </a:lnTo>
                  <a:lnTo>
                    <a:pt x="412070" y="0"/>
                  </a:lnTo>
                  <a:lnTo>
                    <a:pt x="101720" y="0"/>
                  </a:lnTo>
                  <a:lnTo>
                    <a:pt x="101720" y="205672"/>
                  </a:lnTo>
                  <a:close/>
                </a:path>
                <a:path w="926465" h="205739">
                  <a:moveTo>
                    <a:pt x="412036" y="205672"/>
                  </a:moveTo>
                  <a:lnTo>
                    <a:pt x="513656" y="205672"/>
                  </a:lnTo>
                  <a:lnTo>
                    <a:pt x="513656" y="0"/>
                  </a:lnTo>
                  <a:lnTo>
                    <a:pt x="412036" y="0"/>
                  </a:lnTo>
                  <a:lnTo>
                    <a:pt x="412036" y="205672"/>
                  </a:lnTo>
                  <a:close/>
                </a:path>
                <a:path w="926465" h="205739">
                  <a:moveTo>
                    <a:pt x="513642" y="205672"/>
                  </a:moveTo>
                  <a:lnTo>
                    <a:pt x="824267" y="205672"/>
                  </a:lnTo>
                  <a:lnTo>
                    <a:pt x="824267" y="0"/>
                  </a:lnTo>
                  <a:lnTo>
                    <a:pt x="513642" y="0"/>
                  </a:lnTo>
                  <a:lnTo>
                    <a:pt x="513642" y="205672"/>
                  </a:lnTo>
                  <a:close/>
                </a:path>
                <a:path w="926465" h="205739">
                  <a:moveTo>
                    <a:pt x="824301" y="205672"/>
                  </a:moveTo>
                  <a:lnTo>
                    <a:pt x="925922" y="205672"/>
                  </a:lnTo>
                  <a:lnTo>
                    <a:pt x="925922" y="0"/>
                  </a:lnTo>
                  <a:lnTo>
                    <a:pt x="824301" y="0"/>
                  </a:lnTo>
                  <a:lnTo>
                    <a:pt x="824301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6165541" y="5069732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4717955" y="4453050"/>
            <a:ext cx="416559" cy="213995"/>
            <a:chOff x="4717955" y="4453050"/>
            <a:chExt cx="416559" cy="213995"/>
          </a:xfrm>
        </p:grpSpPr>
        <p:sp>
          <p:nvSpPr>
            <p:cNvPr id="123" name="object 123"/>
            <p:cNvSpPr/>
            <p:nvPr/>
          </p:nvSpPr>
          <p:spPr>
            <a:xfrm>
              <a:off x="4722082" y="445717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620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620" y="205672"/>
                  </a:lnTo>
                  <a:lnTo>
                    <a:pt x="1016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722082" y="445717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0" y="205672"/>
                  </a:moveTo>
                  <a:lnTo>
                    <a:pt x="101620" y="205672"/>
                  </a:lnTo>
                  <a:lnTo>
                    <a:pt x="101620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823688" y="4457177"/>
              <a:ext cx="310515" cy="205740"/>
            </a:xfrm>
            <a:custGeom>
              <a:avLst/>
              <a:gdLst/>
              <a:ahLst/>
              <a:cxnLst/>
              <a:rect l="l" t="t" r="r" b="b"/>
              <a:pathLst>
                <a:path w="310514" h="205739">
                  <a:moveTo>
                    <a:pt x="310350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310350" y="205672"/>
                  </a:lnTo>
                  <a:lnTo>
                    <a:pt x="31035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4823695" y="4457177"/>
            <a:ext cx="310515" cy="205740"/>
          </a:xfrm>
          <a:prstGeom prst="rect">
            <a:avLst/>
          </a:prstGeom>
          <a:ln w="8274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95"/>
              </a:spcBef>
            </a:pPr>
            <a:r>
              <a:rPr sz="1050" spc="-25" dirty="0">
                <a:latin typeface="Arial MT"/>
                <a:cs typeface="Arial MT"/>
              </a:rPr>
              <a:t>50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999501" y="4453050"/>
            <a:ext cx="3609340" cy="1548765"/>
            <a:chOff x="3999501" y="4453050"/>
            <a:chExt cx="3609340" cy="1548765"/>
          </a:xfrm>
        </p:grpSpPr>
        <p:sp>
          <p:nvSpPr>
            <p:cNvPr id="128" name="object 128"/>
            <p:cNvSpPr/>
            <p:nvPr/>
          </p:nvSpPr>
          <p:spPr>
            <a:xfrm>
              <a:off x="5134004" y="4457177"/>
              <a:ext cx="102235" cy="205740"/>
            </a:xfrm>
            <a:custGeom>
              <a:avLst/>
              <a:gdLst/>
              <a:ahLst/>
              <a:cxnLst/>
              <a:rect l="l" t="t" r="r" b="b"/>
              <a:pathLst>
                <a:path w="102235" h="205739">
                  <a:moveTo>
                    <a:pt x="101894" y="0"/>
                  </a:moveTo>
                  <a:lnTo>
                    <a:pt x="0" y="0"/>
                  </a:lnTo>
                  <a:lnTo>
                    <a:pt x="0" y="205672"/>
                  </a:lnTo>
                  <a:lnTo>
                    <a:pt x="101894" y="205672"/>
                  </a:lnTo>
                  <a:lnTo>
                    <a:pt x="10189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134004" y="4457177"/>
              <a:ext cx="1214755" cy="1481455"/>
            </a:xfrm>
            <a:custGeom>
              <a:avLst/>
              <a:gdLst/>
              <a:ahLst/>
              <a:cxnLst/>
              <a:rect l="l" t="t" r="r" b="b"/>
              <a:pathLst>
                <a:path w="1214754" h="1481454">
                  <a:moveTo>
                    <a:pt x="0" y="205672"/>
                  </a:moveTo>
                  <a:lnTo>
                    <a:pt x="101894" y="205672"/>
                  </a:lnTo>
                  <a:lnTo>
                    <a:pt x="101894" y="0"/>
                  </a:lnTo>
                  <a:lnTo>
                    <a:pt x="0" y="0"/>
                  </a:lnTo>
                  <a:lnTo>
                    <a:pt x="0" y="205672"/>
                  </a:lnTo>
                  <a:close/>
                </a:path>
                <a:path w="1214754" h="1481454">
                  <a:moveTo>
                    <a:pt x="101949" y="205672"/>
                  </a:moveTo>
                  <a:lnTo>
                    <a:pt x="412299" y="205672"/>
                  </a:lnTo>
                  <a:lnTo>
                    <a:pt x="412299" y="0"/>
                  </a:lnTo>
                  <a:lnTo>
                    <a:pt x="101949" y="0"/>
                  </a:lnTo>
                  <a:lnTo>
                    <a:pt x="101949" y="205672"/>
                  </a:lnTo>
                  <a:close/>
                </a:path>
                <a:path w="1214754" h="1481454">
                  <a:moveTo>
                    <a:pt x="412265" y="205672"/>
                  </a:moveTo>
                  <a:lnTo>
                    <a:pt x="513884" y="205672"/>
                  </a:lnTo>
                  <a:lnTo>
                    <a:pt x="513884" y="0"/>
                  </a:lnTo>
                  <a:lnTo>
                    <a:pt x="412265" y="0"/>
                  </a:lnTo>
                  <a:lnTo>
                    <a:pt x="412265" y="205672"/>
                  </a:lnTo>
                  <a:close/>
                </a:path>
                <a:path w="1214754" h="1481454">
                  <a:moveTo>
                    <a:pt x="513871" y="205672"/>
                  </a:moveTo>
                  <a:lnTo>
                    <a:pt x="824496" y="205672"/>
                  </a:lnTo>
                  <a:lnTo>
                    <a:pt x="824496" y="0"/>
                  </a:lnTo>
                  <a:lnTo>
                    <a:pt x="513871" y="0"/>
                  </a:lnTo>
                  <a:lnTo>
                    <a:pt x="513871" y="205672"/>
                  </a:lnTo>
                  <a:close/>
                </a:path>
                <a:path w="1214754" h="1481454">
                  <a:moveTo>
                    <a:pt x="824530" y="205672"/>
                  </a:moveTo>
                  <a:lnTo>
                    <a:pt x="926150" y="205672"/>
                  </a:lnTo>
                  <a:lnTo>
                    <a:pt x="926150" y="0"/>
                  </a:lnTo>
                  <a:lnTo>
                    <a:pt x="824530" y="0"/>
                  </a:lnTo>
                  <a:lnTo>
                    <a:pt x="824530" y="205672"/>
                  </a:lnTo>
                  <a:close/>
                </a:path>
                <a:path w="1214754" h="1481454">
                  <a:moveTo>
                    <a:pt x="1030491" y="927124"/>
                  </a:moveTo>
                  <a:lnTo>
                    <a:pt x="1214573" y="1481339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310089" y="5919316"/>
              <a:ext cx="71755" cy="82550"/>
            </a:xfrm>
            <a:custGeom>
              <a:avLst/>
              <a:gdLst/>
              <a:ahLst/>
              <a:cxnLst/>
              <a:rect l="l" t="t" r="r" b="b"/>
              <a:pathLst>
                <a:path w="71754" h="82550">
                  <a:moveTo>
                    <a:pt x="71364" y="0"/>
                  </a:moveTo>
                  <a:lnTo>
                    <a:pt x="0" y="21938"/>
                  </a:lnTo>
                  <a:lnTo>
                    <a:pt x="60367" y="82266"/>
                  </a:lnTo>
                  <a:lnTo>
                    <a:pt x="713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048872" y="4561348"/>
              <a:ext cx="722630" cy="576580"/>
            </a:xfrm>
            <a:custGeom>
              <a:avLst/>
              <a:gdLst/>
              <a:ahLst/>
              <a:cxnLst/>
              <a:rect l="l" t="t" r="r" b="b"/>
              <a:pathLst>
                <a:path w="722629" h="576579">
                  <a:moveTo>
                    <a:pt x="722581" y="0"/>
                  </a:moveTo>
                  <a:lnTo>
                    <a:pt x="0" y="576130"/>
                  </a:lnTo>
                </a:path>
              </a:pathLst>
            </a:custGeom>
            <a:ln w="82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999501" y="5101850"/>
              <a:ext cx="82550" cy="76835"/>
            </a:xfrm>
            <a:custGeom>
              <a:avLst/>
              <a:gdLst/>
              <a:ahLst/>
              <a:cxnLst/>
              <a:rect l="l" t="t" r="r" b="b"/>
              <a:pathLst>
                <a:path w="82550" h="76835">
                  <a:moveTo>
                    <a:pt x="35625" y="0"/>
                  </a:moveTo>
                  <a:lnTo>
                    <a:pt x="0" y="76756"/>
                  </a:lnTo>
                  <a:lnTo>
                    <a:pt x="82361" y="57624"/>
                  </a:lnTo>
                  <a:lnTo>
                    <a:pt x="356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5183719" y="4561348"/>
              <a:ext cx="1588135" cy="593090"/>
            </a:xfrm>
            <a:custGeom>
              <a:avLst/>
              <a:gdLst/>
              <a:ahLst/>
              <a:cxnLst/>
              <a:rect l="l" t="t" r="r" b="b"/>
              <a:pathLst>
                <a:path w="1588134" h="593089">
                  <a:moveTo>
                    <a:pt x="0" y="0"/>
                  </a:moveTo>
                  <a:lnTo>
                    <a:pt x="1588006" y="592627"/>
                  </a:lnTo>
                </a:path>
              </a:pathLst>
            </a:custGeom>
            <a:ln w="8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749731" y="5115598"/>
              <a:ext cx="82550" cy="71755"/>
            </a:xfrm>
            <a:custGeom>
              <a:avLst/>
              <a:gdLst/>
              <a:ahLst/>
              <a:cxnLst/>
              <a:rect l="l" t="t" r="r" b="b"/>
              <a:pathLst>
                <a:path w="82550" h="71754">
                  <a:moveTo>
                    <a:pt x="27491" y="0"/>
                  </a:moveTo>
                  <a:lnTo>
                    <a:pt x="0" y="71257"/>
                  </a:lnTo>
                  <a:lnTo>
                    <a:pt x="82475" y="63008"/>
                  </a:lnTo>
                  <a:lnTo>
                    <a:pt x="274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885702" y="4664225"/>
              <a:ext cx="310515" cy="617855"/>
            </a:xfrm>
            <a:custGeom>
              <a:avLst/>
              <a:gdLst/>
              <a:ahLst/>
              <a:cxnLst/>
              <a:rect l="l" t="t" r="r" b="b"/>
              <a:pathLst>
                <a:path w="310515" h="617854">
                  <a:moveTo>
                    <a:pt x="310430" y="0"/>
                  </a:moveTo>
                  <a:lnTo>
                    <a:pt x="0" y="61724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784096" y="4458518"/>
              <a:ext cx="824230" cy="411480"/>
            </a:xfrm>
            <a:custGeom>
              <a:avLst/>
              <a:gdLst/>
              <a:ahLst/>
              <a:cxnLst/>
              <a:rect l="l" t="t" r="r" b="b"/>
              <a:pathLst>
                <a:path w="824229" h="411479">
                  <a:moveTo>
                    <a:pt x="824221" y="0"/>
                  </a:moveTo>
                  <a:lnTo>
                    <a:pt x="0" y="0"/>
                  </a:lnTo>
                  <a:lnTo>
                    <a:pt x="0" y="411345"/>
                  </a:lnTo>
                  <a:lnTo>
                    <a:pt x="824221" y="411345"/>
                  </a:lnTo>
                  <a:lnTo>
                    <a:pt x="8242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4772499" y="4246801"/>
            <a:ext cx="4089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55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7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6784096" y="4458518"/>
            <a:ext cx="824230" cy="41148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59055" marR="55880" indent="79375">
              <a:lnSpc>
                <a:spcPct val="102899"/>
              </a:lnSpc>
              <a:spcBef>
                <a:spcPts val="665"/>
              </a:spcBef>
            </a:pPr>
            <a:r>
              <a:rPr sz="700" spc="-10" dirty="0">
                <a:latin typeface="Arial MT"/>
                <a:cs typeface="Arial MT"/>
              </a:rPr>
              <a:t>Violation</a:t>
            </a:r>
            <a:r>
              <a:rPr sz="700" dirty="0">
                <a:latin typeface="Arial MT"/>
                <a:cs typeface="Arial MT"/>
              </a:rPr>
              <a:t> de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règle</a:t>
            </a:r>
            <a:r>
              <a:rPr sz="700" spc="-2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minimum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4745007" y="4965561"/>
            <a:ext cx="87566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Redistribution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6478606" y="3629543"/>
            <a:ext cx="14300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latin typeface="Arial MT"/>
                <a:cs typeface="Arial MT"/>
              </a:rPr>
              <a:t>Fusion</a:t>
            </a:r>
            <a:r>
              <a:rPr sz="1050" spc="7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des</a:t>
            </a:r>
            <a:r>
              <a:rPr sz="1050" spc="6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deux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10" dirty="0">
                <a:latin typeface="Arial MT"/>
                <a:cs typeface="Arial MT"/>
              </a:rPr>
              <a:t>frères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6007906" y="3376437"/>
            <a:ext cx="412115" cy="310515"/>
          </a:xfrm>
          <a:custGeom>
            <a:avLst/>
            <a:gdLst/>
            <a:ahLst/>
            <a:cxnLst/>
            <a:rect l="l" t="t" r="r" b="b"/>
            <a:pathLst>
              <a:path w="412114" h="310514">
                <a:moveTo>
                  <a:pt x="412036" y="0"/>
                </a:moveTo>
                <a:lnTo>
                  <a:pt x="0" y="309889"/>
                </a:lnTo>
              </a:path>
              <a:path w="412114" h="310514">
                <a:moveTo>
                  <a:pt x="0" y="0"/>
                </a:moveTo>
                <a:lnTo>
                  <a:pt x="412036" y="309889"/>
                </a:lnTo>
              </a:path>
            </a:pathLst>
          </a:custGeom>
          <a:ln w="823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4051621" y="4607975"/>
            <a:ext cx="2574925" cy="1083945"/>
          </a:xfrm>
          <a:custGeom>
            <a:avLst/>
            <a:gdLst/>
            <a:ahLst/>
            <a:cxnLst/>
            <a:rect l="l" t="t" r="r" b="b"/>
            <a:pathLst>
              <a:path w="2574925" h="1083945">
                <a:moveTo>
                  <a:pt x="2574625" y="620019"/>
                </a:moveTo>
                <a:lnTo>
                  <a:pt x="2162359" y="929897"/>
                </a:lnTo>
              </a:path>
              <a:path w="2574925" h="1083945">
                <a:moveTo>
                  <a:pt x="2162359" y="620019"/>
                </a:moveTo>
                <a:lnTo>
                  <a:pt x="2574625" y="929897"/>
                </a:lnTo>
              </a:path>
              <a:path w="2574925" h="1083945">
                <a:moveTo>
                  <a:pt x="978027" y="2749"/>
                </a:moveTo>
                <a:lnTo>
                  <a:pt x="991773" y="10997"/>
                </a:lnTo>
              </a:path>
              <a:path w="2574925" h="1083945">
                <a:moveTo>
                  <a:pt x="1005519" y="19246"/>
                </a:moveTo>
                <a:lnTo>
                  <a:pt x="1019265" y="27380"/>
                </a:lnTo>
              </a:path>
              <a:path w="2574925" h="1083945">
                <a:moveTo>
                  <a:pt x="1033011" y="35628"/>
                </a:moveTo>
                <a:lnTo>
                  <a:pt x="1046643" y="43877"/>
                </a:lnTo>
              </a:path>
              <a:path w="2574925" h="1083945">
                <a:moveTo>
                  <a:pt x="1060389" y="52125"/>
                </a:moveTo>
                <a:lnTo>
                  <a:pt x="1074135" y="60373"/>
                </a:lnTo>
              </a:path>
              <a:path w="2574925" h="1083945">
                <a:moveTo>
                  <a:pt x="1087881" y="68507"/>
                </a:moveTo>
                <a:lnTo>
                  <a:pt x="1101856" y="76756"/>
                </a:lnTo>
              </a:path>
              <a:path w="2574925" h="1083945">
                <a:moveTo>
                  <a:pt x="1115602" y="85004"/>
                </a:moveTo>
                <a:lnTo>
                  <a:pt x="1129348" y="93253"/>
                </a:lnTo>
              </a:path>
              <a:path w="2574925" h="1083945">
                <a:moveTo>
                  <a:pt x="1143094" y="101501"/>
                </a:moveTo>
                <a:lnTo>
                  <a:pt x="1156840" y="109635"/>
                </a:lnTo>
              </a:path>
              <a:path w="2574925" h="1083945">
                <a:moveTo>
                  <a:pt x="1170586" y="117883"/>
                </a:moveTo>
                <a:lnTo>
                  <a:pt x="1184332" y="126132"/>
                </a:lnTo>
              </a:path>
              <a:path w="2574925" h="1083945">
                <a:moveTo>
                  <a:pt x="1198078" y="134380"/>
                </a:moveTo>
                <a:lnTo>
                  <a:pt x="1211709" y="142629"/>
                </a:lnTo>
              </a:path>
              <a:path w="2574925" h="1083945">
                <a:moveTo>
                  <a:pt x="1228204" y="148128"/>
                </a:moveTo>
                <a:lnTo>
                  <a:pt x="1241950" y="159011"/>
                </a:lnTo>
              </a:path>
              <a:path w="2574925" h="1083945">
                <a:moveTo>
                  <a:pt x="1255696" y="167260"/>
                </a:moveTo>
                <a:lnTo>
                  <a:pt x="1269442" y="175508"/>
                </a:lnTo>
              </a:path>
              <a:path w="2574925" h="1083945">
                <a:moveTo>
                  <a:pt x="1283188" y="183756"/>
                </a:moveTo>
                <a:lnTo>
                  <a:pt x="1296934" y="192005"/>
                </a:lnTo>
              </a:path>
              <a:path w="2574925" h="1083945">
                <a:moveTo>
                  <a:pt x="1310680" y="200139"/>
                </a:moveTo>
                <a:lnTo>
                  <a:pt x="1324312" y="208387"/>
                </a:lnTo>
              </a:path>
              <a:path w="2574925" h="1083945">
                <a:moveTo>
                  <a:pt x="1338058" y="216636"/>
                </a:moveTo>
                <a:lnTo>
                  <a:pt x="1351804" y="224884"/>
                </a:lnTo>
              </a:path>
              <a:path w="2574925" h="1083945">
                <a:moveTo>
                  <a:pt x="1365550" y="233132"/>
                </a:moveTo>
                <a:lnTo>
                  <a:pt x="1379296" y="241266"/>
                </a:lnTo>
              </a:path>
              <a:path w="2574925" h="1083945">
                <a:moveTo>
                  <a:pt x="1393042" y="249515"/>
                </a:moveTo>
                <a:lnTo>
                  <a:pt x="1409537" y="255014"/>
                </a:lnTo>
              </a:path>
              <a:path w="2574925" h="1083945">
                <a:moveTo>
                  <a:pt x="1423283" y="266012"/>
                </a:moveTo>
                <a:lnTo>
                  <a:pt x="1436914" y="274260"/>
                </a:lnTo>
              </a:path>
              <a:path w="2574925" h="1083945">
                <a:moveTo>
                  <a:pt x="1450660" y="282394"/>
                </a:moveTo>
                <a:lnTo>
                  <a:pt x="1464406" y="290642"/>
                </a:lnTo>
              </a:path>
              <a:path w="2574925" h="1083945">
                <a:moveTo>
                  <a:pt x="1478152" y="299120"/>
                </a:moveTo>
                <a:lnTo>
                  <a:pt x="1491898" y="307368"/>
                </a:lnTo>
              </a:path>
              <a:path w="2574925" h="1083945">
                <a:moveTo>
                  <a:pt x="1505644" y="315617"/>
                </a:moveTo>
                <a:lnTo>
                  <a:pt x="1519390" y="323865"/>
                </a:lnTo>
              </a:path>
              <a:path w="2574925" h="1083945">
                <a:moveTo>
                  <a:pt x="1533136" y="332114"/>
                </a:moveTo>
                <a:lnTo>
                  <a:pt x="1546882" y="340362"/>
                </a:lnTo>
              </a:path>
              <a:path w="2574925" h="1083945">
                <a:moveTo>
                  <a:pt x="1560514" y="348496"/>
                </a:moveTo>
                <a:lnTo>
                  <a:pt x="1574260" y="353995"/>
                </a:lnTo>
              </a:path>
              <a:path w="2574925" h="1083945">
                <a:moveTo>
                  <a:pt x="1588006" y="362243"/>
                </a:moveTo>
                <a:lnTo>
                  <a:pt x="1601752" y="370492"/>
                </a:lnTo>
              </a:path>
              <a:path w="2574925" h="1083945">
                <a:moveTo>
                  <a:pt x="1615498" y="378740"/>
                </a:moveTo>
                <a:lnTo>
                  <a:pt x="1629244" y="386874"/>
                </a:lnTo>
              </a:path>
              <a:path w="2574925" h="1083945">
                <a:moveTo>
                  <a:pt x="1642990" y="395123"/>
                </a:moveTo>
                <a:lnTo>
                  <a:pt x="1656736" y="403371"/>
                </a:lnTo>
              </a:path>
              <a:path w="2574925" h="1083945">
                <a:moveTo>
                  <a:pt x="1670367" y="411620"/>
                </a:moveTo>
                <a:lnTo>
                  <a:pt x="1684113" y="419868"/>
                </a:lnTo>
              </a:path>
              <a:path w="2574925" h="1083945">
                <a:moveTo>
                  <a:pt x="1697859" y="428116"/>
                </a:moveTo>
                <a:lnTo>
                  <a:pt x="1711605" y="436250"/>
                </a:lnTo>
              </a:path>
              <a:path w="2574925" h="1083945">
                <a:moveTo>
                  <a:pt x="1725351" y="444499"/>
                </a:moveTo>
                <a:lnTo>
                  <a:pt x="1739097" y="452747"/>
                </a:lnTo>
              </a:path>
              <a:path w="2574925" h="1083945">
                <a:moveTo>
                  <a:pt x="1752843" y="460996"/>
                </a:moveTo>
                <a:lnTo>
                  <a:pt x="1766589" y="469244"/>
                </a:lnTo>
              </a:path>
              <a:path w="2574925" h="1083945">
                <a:moveTo>
                  <a:pt x="1780564" y="477378"/>
                </a:moveTo>
                <a:lnTo>
                  <a:pt x="1794310" y="485626"/>
                </a:lnTo>
              </a:path>
              <a:path w="2574925" h="1083945">
                <a:moveTo>
                  <a:pt x="1808056" y="493875"/>
                </a:moveTo>
                <a:lnTo>
                  <a:pt x="1821802" y="502123"/>
                </a:lnTo>
              </a:path>
              <a:path w="2574925" h="1083945">
                <a:moveTo>
                  <a:pt x="1835434" y="510372"/>
                </a:moveTo>
                <a:lnTo>
                  <a:pt x="1849180" y="518506"/>
                </a:lnTo>
              </a:path>
              <a:path w="2574925" h="1083945">
                <a:moveTo>
                  <a:pt x="1862926" y="526754"/>
                </a:moveTo>
                <a:lnTo>
                  <a:pt x="1876672" y="532253"/>
                </a:lnTo>
              </a:path>
              <a:path w="2574925" h="1083945">
                <a:moveTo>
                  <a:pt x="1890418" y="540501"/>
                </a:moveTo>
                <a:lnTo>
                  <a:pt x="1904164" y="548750"/>
                </a:lnTo>
              </a:path>
              <a:path w="2574925" h="1083945">
                <a:moveTo>
                  <a:pt x="1917910" y="556998"/>
                </a:moveTo>
                <a:lnTo>
                  <a:pt x="1931656" y="565132"/>
                </a:lnTo>
              </a:path>
              <a:path w="2574925" h="1083945">
                <a:moveTo>
                  <a:pt x="1945402" y="573381"/>
                </a:moveTo>
                <a:lnTo>
                  <a:pt x="1959033" y="581629"/>
                </a:lnTo>
              </a:path>
              <a:path w="2574925" h="1083945">
                <a:moveTo>
                  <a:pt x="1972779" y="589855"/>
                </a:moveTo>
                <a:lnTo>
                  <a:pt x="1986525" y="598080"/>
                </a:lnTo>
              </a:path>
              <a:path w="2574925" h="1083945">
                <a:moveTo>
                  <a:pt x="2000271" y="606306"/>
                </a:moveTo>
                <a:lnTo>
                  <a:pt x="2014017" y="614531"/>
                </a:lnTo>
              </a:path>
              <a:path w="2574925" h="1083945">
                <a:moveTo>
                  <a:pt x="2027763" y="622768"/>
                </a:moveTo>
                <a:lnTo>
                  <a:pt x="2041509" y="630994"/>
                </a:lnTo>
              </a:path>
              <a:path w="2574925" h="1083945">
                <a:moveTo>
                  <a:pt x="2055255" y="639219"/>
                </a:moveTo>
                <a:lnTo>
                  <a:pt x="2068886" y="647445"/>
                </a:lnTo>
              </a:path>
              <a:path w="2574925" h="1083945">
                <a:moveTo>
                  <a:pt x="2082632" y="655670"/>
                </a:moveTo>
                <a:lnTo>
                  <a:pt x="2096378" y="663896"/>
                </a:lnTo>
              </a:path>
              <a:path w="2574925" h="1083945">
                <a:moveTo>
                  <a:pt x="2110124" y="672121"/>
                </a:moveTo>
                <a:lnTo>
                  <a:pt x="2112874" y="672121"/>
                </a:lnTo>
              </a:path>
              <a:path w="2574925" h="1083945">
                <a:moveTo>
                  <a:pt x="2060753" y="685834"/>
                </a:moveTo>
                <a:lnTo>
                  <a:pt x="2112874" y="672121"/>
                </a:lnTo>
                <a:lnTo>
                  <a:pt x="2099128" y="622768"/>
                </a:lnTo>
              </a:path>
              <a:path w="2574925" h="1083945">
                <a:moveTo>
                  <a:pt x="0" y="724224"/>
                </a:moveTo>
                <a:lnTo>
                  <a:pt x="13745" y="713260"/>
                </a:lnTo>
              </a:path>
              <a:path w="2574925" h="1083945">
                <a:moveTo>
                  <a:pt x="24742" y="702285"/>
                </a:moveTo>
                <a:lnTo>
                  <a:pt x="38488" y="691322"/>
                </a:lnTo>
              </a:path>
              <a:path w="2574925" h="1083945">
                <a:moveTo>
                  <a:pt x="49485" y="680347"/>
                </a:moveTo>
                <a:lnTo>
                  <a:pt x="63231" y="669383"/>
                </a:lnTo>
              </a:path>
              <a:path w="2574925" h="1083945">
                <a:moveTo>
                  <a:pt x="74113" y="658408"/>
                </a:moveTo>
                <a:lnTo>
                  <a:pt x="87859" y="647445"/>
                </a:lnTo>
              </a:path>
              <a:path w="2574925" h="1083945">
                <a:moveTo>
                  <a:pt x="98856" y="636470"/>
                </a:moveTo>
                <a:lnTo>
                  <a:pt x="112602" y="625506"/>
                </a:lnTo>
              </a:path>
              <a:path w="2574925" h="1083945">
                <a:moveTo>
                  <a:pt x="126348" y="614531"/>
                </a:moveTo>
                <a:lnTo>
                  <a:pt x="137345" y="603568"/>
                </a:lnTo>
              </a:path>
              <a:path w="2574925" h="1083945">
                <a:moveTo>
                  <a:pt x="151091" y="592604"/>
                </a:moveTo>
                <a:lnTo>
                  <a:pt x="162088" y="581629"/>
                </a:lnTo>
              </a:path>
              <a:path w="2574925" h="1083945">
                <a:moveTo>
                  <a:pt x="175834" y="570631"/>
                </a:moveTo>
                <a:lnTo>
                  <a:pt x="186716" y="559748"/>
                </a:lnTo>
              </a:path>
              <a:path w="2574925" h="1083945">
                <a:moveTo>
                  <a:pt x="200462" y="548750"/>
                </a:moveTo>
                <a:lnTo>
                  <a:pt x="214208" y="537752"/>
                </a:lnTo>
              </a:path>
              <a:path w="2574925" h="1083945">
                <a:moveTo>
                  <a:pt x="225205" y="526754"/>
                </a:moveTo>
                <a:lnTo>
                  <a:pt x="238951" y="515871"/>
                </a:lnTo>
              </a:path>
              <a:path w="2574925" h="1083945">
                <a:moveTo>
                  <a:pt x="249948" y="504873"/>
                </a:moveTo>
                <a:lnTo>
                  <a:pt x="263694" y="493875"/>
                </a:lnTo>
              </a:path>
              <a:path w="2574925" h="1083945">
                <a:moveTo>
                  <a:pt x="274690" y="482877"/>
                </a:moveTo>
                <a:lnTo>
                  <a:pt x="288436" y="471994"/>
                </a:lnTo>
              </a:path>
              <a:path w="2574925" h="1083945">
                <a:moveTo>
                  <a:pt x="299319" y="460996"/>
                </a:moveTo>
                <a:lnTo>
                  <a:pt x="313065" y="449998"/>
                </a:lnTo>
              </a:path>
              <a:path w="2574925" h="1083945">
                <a:moveTo>
                  <a:pt x="326811" y="439000"/>
                </a:moveTo>
                <a:lnTo>
                  <a:pt x="337807" y="428116"/>
                </a:lnTo>
              </a:path>
              <a:path w="2574925" h="1083945">
                <a:moveTo>
                  <a:pt x="351553" y="417119"/>
                </a:moveTo>
                <a:lnTo>
                  <a:pt x="362550" y="406121"/>
                </a:lnTo>
              </a:path>
              <a:path w="2574925" h="1083945">
                <a:moveTo>
                  <a:pt x="376296" y="395123"/>
                </a:moveTo>
                <a:lnTo>
                  <a:pt x="387293" y="384239"/>
                </a:lnTo>
              </a:path>
              <a:path w="2574925" h="1083945">
                <a:moveTo>
                  <a:pt x="401039" y="373241"/>
                </a:moveTo>
                <a:lnTo>
                  <a:pt x="415014" y="362243"/>
                </a:lnTo>
              </a:path>
              <a:path w="2574925" h="1083945">
                <a:moveTo>
                  <a:pt x="426011" y="351246"/>
                </a:moveTo>
                <a:lnTo>
                  <a:pt x="439757" y="340362"/>
                </a:lnTo>
              </a:path>
              <a:path w="2574925" h="1083945">
                <a:moveTo>
                  <a:pt x="450754" y="329364"/>
                </a:moveTo>
                <a:lnTo>
                  <a:pt x="464385" y="318366"/>
                </a:lnTo>
              </a:path>
              <a:path w="2574925" h="1083945">
                <a:moveTo>
                  <a:pt x="475382" y="307368"/>
                </a:moveTo>
                <a:lnTo>
                  <a:pt x="489128" y="296485"/>
                </a:lnTo>
              </a:path>
              <a:path w="2574925" h="1083945">
                <a:moveTo>
                  <a:pt x="500125" y="285143"/>
                </a:moveTo>
                <a:lnTo>
                  <a:pt x="513871" y="274260"/>
                </a:lnTo>
              </a:path>
              <a:path w="2574925" h="1083945">
                <a:moveTo>
                  <a:pt x="527617" y="263262"/>
                </a:moveTo>
                <a:lnTo>
                  <a:pt x="538613" y="252264"/>
                </a:lnTo>
              </a:path>
              <a:path w="2574925" h="1083945">
                <a:moveTo>
                  <a:pt x="552359" y="241266"/>
                </a:moveTo>
                <a:lnTo>
                  <a:pt x="563356" y="230383"/>
                </a:lnTo>
              </a:path>
              <a:path w="2574925" h="1083945">
                <a:moveTo>
                  <a:pt x="576988" y="219385"/>
                </a:moveTo>
                <a:lnTo>
                  <a:pt x="587984" y="208387"/>
                </a:lnTo>
              </a:path>
              <a:path w="2574925" h="1083945">
                <a:moveTo>
                  <a:pt x="601730" y="197389"/>
                </a:moveTo>
                <a:lnTo>
                  <a:pt x="615476" y="186506"/>
                </a:lnTo>
              </a:path>
              <a:path w="2574925" h="1083945">
                <a:moveTo>
                  <a:pt x="626473" y="175508"/>
                </a:moveTo>
                <a:lnTo>
                  <a:pt x="640219" y="164510"/>
                </a:lnTo>
              </a:path>
              <a:path w="2574925" h="1083945">
                <a:moveTo>
                  <a:pt x="651216" y="153512"/>
                </a:moveTo>
                <a:lnTo>
                  <a:pt x="664962" y="142629"/>
                </a:lnTo>
              </a:path>
              <a:path w="2574925" h="1083945">
                <a:moveTo>
                  <a:pt x="675959" y="131631"/>
                </a:moveTo>
                <a:lnTo>
                  <a:pt x="689705" y="120633"/>
                </a:lnTo>
              </a:path>
              <a:path w="2574925" h="1083945">
                <a:moveTo>
                  <a:pt x="700587" y="109635"/>
                </a:moveTo>
                <a:lnTo>
                  <a:pt x="714333" y="98752"/>
                </a:lnTo>
              </a:path>
              <a:path w="2574925" h="1083945">
                <a:moveTo>
                  <a:pt x="728079" y="87754"/>
                </a:moveTo>
                <a:lnTo>
                  <a:pt x="739076" y="76756"/>
                </a:lnTo>
              </a:path>
              <a:path w="2574925" h="1083945">
                <a:moveTo>
                  <a:pt x="752822" y="65758"/>
                </a:moveTo>
                <a:lnTo>
                  <a:pt x="763819" y="54875"/>
                </a:lnTo>
              </a:path>
              <a:path w="2574925" h="1083945">
                <a:moveTo>
                  <a:pt x="777565" y="43877"/>
                </a:moveTo>
                <a:lnTo>
                  <a:pt x="788561" y="32879"/>
                </a:lnTo>
              </a:path>
              <a:path w="2574925" h="1083945">
                <a:moveTo>
                  <a:pt x="802307" y="21881"/>
                </a:moveTo>
                <a:lnTo>
                  <a:pt x="815939" y="10997"/>
                </a:lnTo>
              </a:path>
              <a:path w="2574925" h="1083945">
                <a:moveTo>
                  <a:pt x="818688" y="54875"/>
                </a:moveTo>
                <a:lnTo>
                  <a:pt x="824187" y="2749"/>
                </a:lnTo>
                <a:lnTo>
                  <a:pt x="772066" y="0"/>
                </a:lnTo>
              </a:path>
              <a:path w="2574925" h="1083945">
                <a:moveTo>
                  <a:pt x="153840" y="877794"/>
                </a:moveTo>
                <a:lnTo>
                  <a:pt x="159339" y="894245"/>
                </a:lnTo>
              </a:path>
              <a:path w="2574925" h="1083945">
                <a:moveTo>
                  <a:pt x="167586" y="907958"/>
                </a:moveTo>
                <a:lnTo>
                  <a:pt x="173084" y="918933"/>
                </a:lnTo>
                <a:lnTo>
                  <a:pt x="175834" y="921671"/>
                </a:lnTo>
              </a:path>
              <a:path w="2574925" h="1083945">
                <a:moveTo>
                  <a:pt x="189465" y="932635"/>
                </a:moveTo>
                <a:lnTo>
                  <a:pt x="197713" y="938122"/>
                </a:lnTo>
                <a:lnTo>
                  <a:pt x="203211" y="940872"/>
                </a:lnTo>
              </a:path>
              <a:path w="2574925" h="1083945">
                <a:moveTo>
                  <a:pt x="216957" y="949097"/>
                </a:moveTo>
                <a:lnTo>
                  <a:pt x="230703" y="957323"/>
                </a:lnTo>
              </a:path>
              <a:path w="2574925" h="1083945">
                <a:moveTo>
                  <a:pt x="247198" y="962799"/>
                </a:moveTo>
                <a:lnTo>
                  <a:pt x="263694" y="968286"/>
                </a:lnTo>
              </a:path>
              <a:path w="2574925" h="1083945">
                <a:moveTo>
                  <a:pt x="277440" y="976512"/>
                </a:moveTo>
                <a:lnTo>
                  <a:pt x="293935" y="981999"/>
                </a:lnTo>
              </a:path>
              <a:path w="2574925" h="1083945">
                <a:moveTo>
                  <a:pt x="310315" y="987487"/>
                </a:moveTo>
                <a:lnTo>
                  <a:pt x="326811" y="992974"/>
                </a:lnTo>
              </a:path>
              <a:path w="2574925" h="1083945">
                <a:moveTo>
                  <a:pt x="310315" y="987487"/>
                </a:moveTo>
                <a:lnTo>
                  <a:pt x="326811" y="992974"/>
                </a:lnTo>
              </a:path>
              <a:path w="2574925" h="1083945">
                <a:moveTo>
                  <a:pt x="343306" y="998450"/>
                </a:moveTo>
                <a:lnTo>
                  <a:pt x="359801" y="1001200"/>
                </a:lnTo>
              </a:path>
              <a:path w="2574925" h="1083945">
                <a:moveTo>
                  <a:pt x="376296" y="1006676"/>
                </a:moveTo>
                <a:lnTo>
                  <a:pt x="387293" y="1009425"/>
                </a:lnTo>
                <a:lnTo>
                  <a:pt x="392791" y="1009425"/>
                </a:lnTo>
              </a:path>
              <a:path w="2574925" h="1083945">
                <a:moveTo>
                  <a:pt x="409516" y="1014901"/>
                </a:moveTo>
                <a:lnTo>
                  <a:pt x="426011" y="1017651"/>
                </a:lnTo>
              </a:path>
              <a:path w="2574925" h="1083945">
                <a:moveTo>
                  <a:pt x="442506" y="1020389"/>
                </a:moveTo>
                <a:lnTo>
                  <a:pt x="456252" y="1023138"/>
                </a:lnTo>
                <a:lnTo>
                  <a:pt x="459001" y="1023138"/>
                </a:lnTo>
              </a:path>
              <a:path w="2574925" h="1083945">
                <a:moveTo>
                  <a:pt x="475382" y="1025876"/>
                </a:moveTo>
                <a:lnTo>
                  <a:pt x="491877" y="1028614"/>
                </a:lnTo>
              </a:path>
              <a:path w="2574925" h="1083945">
                <a:moveTo>
                  <a:pt x="508372" y="1031364"/>
                </a:moveTo>
                <a:lnTo>
                  <a:pt x="524867" y="1036840"/>
                </a:lnTo>
              </a:path>
              <a:path w="2574925" h="1083945">
                <a:moveTo>
                  <a:pt x="541363" y="1039589"/>
                </a:moveTo>
                <a:lnTo>
                  <a:pt x="557858" y="1039589"/>
                </a:lnTo>
              </a:path>
              <a:path w="2574925" h="1083945">
                <a:moveTo>
                  <a:pt x="574353" y="1042327"/>
                </a:moveTo>
                <a:lnTo>
                  <a:pt x="590734" y="1045077"/>
                </a:lnTo>
              </a:path>
              <a:path w="2574925" h="1083945">
                <a:moveTo>
                  <a:pt x="607229" y="1047815"/>
                </a:moveTo>
                <a:lnTo>
                  <a:pt x="612727" y="1047815"/>
                </a:lnTo>
                <a:lnTo>
                  <a:pt x="623724" y="1050553"/>
                </a:lnTo>
              </a:path>
              <a:path w="2574925" h="1083945">
                <a:moveTo>
                  <a:pt x="640219" y="1050553"/>
                </a:moveTo>
                <a:lnTo>
                  <a:pt x="656714" y="1053302"/>
                </a:lnTo>
              </a:path>
              <a:path w="2574925" h="1083945">
                <a:moveTo>
                  <a:pt x="673210" y="1056040"/>
                </a:moveTo>
                <a:lnTo>
                  <a:pt x="689705" y="1058778"/>
                </a:lnTo>
              </a:path>
              <a:path w="2574925" h="1083945">
                <a:moveTo>
                  <a:pt x="706085" y="1058778"/>
                </a:moveTo>
                <a:lnTo>
                  <a:pt x="722581" y="1061528"/>
                </a:lnTo>
              </a:path>
              <a:path w="2574925" h="1083945">
                <a:moveTo>
                  <a:pt x="739076" y="1061528"/>
                </a:moveTo>
                <a:lnTo>
                  <a:pt x="755571" y="1064266"/>
                </a:lnTo>
              </a:path>
              <a:path w="2574925" h="1083945">
                <a:moveTo>
                  <a:pt x="772066" y="1064266"/>
                </a:moveTo>
                <a:lnTo>
                  <a:pt x="788561" y="1067015"/>
                </a:lnTo>
              </a:path>
              <a:path w="2574925" h="1083945">
                <a:moveTo>
                  <a:pt x="772066" y="1064266"/>
                </a:moveTo>
                <a:lnTo>
                  <a:pt x="788561" y="1067015"/>
                </a:lnTo>
              </a:path>
              <a:path w="2574925" h="1083945">
                <a:moveTo>
                  <a:pt x="805057" y="1069753"/>
                </a:moveTo>
                <a:lnTo>
                  <a:pt x="821437" y="1069753"/>
                </a:lnTo>
              </a:path>
              <a:path w="2574925" h="1083945">
                <a:moveTo>
                  <a:pt x="837933" y="1072491"/>
                </a:moveTo>
                <a:lnTo>
                  <a:pt x="854428" y="1072491"/>
                </a:lnTo>
              </a:path>
              <a:path w="2574925" h="1083945">
                <a:moveTo>
                  <a:pt x="870923" y="1075241"/>
                </a:moveTo>
                <a:lnTo>
                  <a:pt x="884669" y="1075241"/>
                </a:lnTo>
                <a:lnTo>
                  <a:pt x="887418" y="1075241"/>
                </a:lnTo>
              </a:path>
              <a:path w="2574925" h="1083945">
                <a:moveTo>
                  <a:pt x="903913" y="1075241"/>
                </a:moveTo>
                <a:lnTo>
                  <a:pt x="920408" y="1077979"/>
                </a:lnTo>
              </a:path>
              <a:path w="2574925" h="1083945">
                <a:moveTo>
                  <a:pt x="936789" y="1077979"/>
                </a:moveTo>
                <a:lnTo>
                  <a:pt x="953284" y="1077979"/>
                </a:lnTo>
              </a:path>
              <a:path w="2574925" h="1083945">
                <a:moveTo>
                  <a:pt x="969780" y="1080717"/>
                </a:moveTo>
                <a:lnTo>
                  <a:pt x="983526" y="1080717"/>
                </a:lnTo>
                <a:lnTo>
                  <a:pt x="986275" y="1080717"/>
                </a:lnTo>
              </a:path>
              <a:path w="2574925" h="1083945">
                <a:moveTo>
                  <a:pt x="1002770" y="1080717"/>
                </a:moveTo>
                <a:lnTo>
                  <a:pt x="1019265" y="1080717"/>
                </a:lnTo>
              </a:path>
              <a:path w="2574925" h="1083945">
                <a:moveTo>
                  <a:pt x="1035760" y="1083466"/>
                </a:moveTo>
                <a:lnTo>
                  <a:pt x="1052141" y="1083466"/>
                </a:lnTo>
              </a:path>
              <a:path w="2574925" h="1083945">
                <a:moveTo>
                  <a:pt x="1068636" y="1083466"/>
                </a:moveTo>
                <a:lnTo>
                  <a:pt x="1082382" y="1083466"/>
                </a:lnTo>
                <a:lnTo>
                  <a:pt x="1085131" y="1083466"/>
                </a:lnTo>
              </a:path>
              <a:path w="2574925" h="1083945">
                <a:moveTo>
                  <a:pt x="1101856" y="1083466"/>
                </a:moveTo>
                <a:lnTo>
                  <a:pt x="1118351" y="1083466"/>
                </a:lnTo>
              </a:path>
              <a:path w="2574925" h="1083945">
                <a:moveTo>
                  <a:pt x="1134846" y="1083466"/>
                </a:moveTo>
                <a:lnTo>
                  <a:pt x="1151341" y="1083466"/>
                </a:lnTo>
              </a:path>
              <a:path w="2574925" h="1083945">
                <a:moveTo>
                  <a:pt x="1167836" y="1083466"/>
                </a:moveTo>
                <a:lnTo>
                  <a:pt x="1184332" y="1083466"/>
                </a:lnTo>
              </a:path>
              <a:path w="2574925" h="1083945">
                <a:moveTo>
                  <a:pt x="1200827" y="1083466"/>
                </a:moveTo>
                <a:lnTo>
                  <a:pt x="1217207" y="1083466"/>
                </a:lnTo>
              </a:path>
              <a:path w="2574925" h="1083945">
                <a:moveTo>
                  <a:pt x="1233703" y="1083466"/>
                </a:moveTo>
                <a:lnTo>
                  <a:pt x="1250198" y="1083466"/>
                </a:lnTo>
              </a:path>
              <a:path w="2574925" h="1083945">
                <a:moveTo>
                  <a:pt x="1266693" y="1083466"/>
                </a:moveTo>
                <a:lnTo>
                  <a:pt x="1274941" y="1083466"/>
                </a:lnTo>
                <a:lnTo>
                  <a:pt x="1283188" y="1083466"/>
                </a:lnTo>
              </a:path>
              <a:path w="2574925" h="1083945">
                <a:moveTo>
                  <a:pt x="1299683" y="1080717"/>
                </a:moveTo>
                <a:lnTo>
                  <a:pt x="1316179" y="1080717"/>
                </a:lnTo>
              </a:path>
              <a:path w="2574925" h="1083945">
                <a:moveTo>
                  <a:pt x="1332559" y="1080717"/>
                </a:moveTo>
                <a:lnTo>
                  <a:pt x="1349054" y="1077979"/>
                </a:lnTo>
              </a:path>
              <a:path w="2574925" h="1083945">
                <a:moveTo>
                  <a:pt x="1365550" y="1077979"/>
                </a:moveTo>
                <a:lnTo>
                  <a:pt x="1382045" y="1077979"/>
                </a:lnTo>
              </a:path>
              <a:path w="2574925" h="1083945">
                <a:moveTo>
                  <a:pt x="1398540" y="1075241"/>
                </a:moveTo>
                <a:lnTo>
                  <a:pt x="1415035" y="1075241"/>
                </a:lnTo>
              </a:path>
              <a:path w="2574925" h="1083945">
                <a:moveTo>
                  <a:pt x="1431530" y="1075241"/>
                </a:moveTo>
                <a:lnTo>
                  <a:pt x="1447911" y="1072491"/>
                </a:lnTo>
              </a:path>
              <a:path w="2574925" h="1083945">
                <a:moveTo>
                  <a:pt x="1464406" y="1072491"/>
                </a:moveTo>
                <a:lnTo>
                  <a:pt x="1480901" y="1069753"/>
                </a:lnTo>
              </a:path>
              <a:path w="2574925" h="1083945">
                <a:moveTo>
                  <a:pt x="1497397" y="1069753"/>
                </a:moveTo>
                <a:lnTo>
                  <a:pt x="1513892" y="1069753"/>
                </a:lnTo>
              </a:path>
              <a:path w="2574925" h="1083945">
                <a:moveTo>
                  <a:pt x="1530387" y="1067015"/>
                </a:moveTo>
                <a:lnTo>
                  <a:pt x="1541384" y="1067015"/>
                </a:lnTo>
                <a:lnTo>
                  <a:pt x="1546882" y="1067015"/>
                </a:lnTo>
              </a:path>
              <a:path w="2574925" h="1083945">
                <a:moveTo>
                  <a:pt x="1563263" y="1064266"/>
                </a:moveTo>
                <a:lnTo>
                  <a:pt x="1579758" y="1061528"/>
                </a:lnTo>
              </a:path>
              <a:path w="2574925" h="1083945">
                <a:moveTo>
                  <a:pt x="1596253" y="1058778"/>
                </a:moveTo>
                <a:lnTo>
                  <a:pt x="1612748" y="1056040"/>
                </a:lnTo>
              </a:path>
              <a:path w="2574925" h="1083945">
                <a:moveTo>
                  <a:pt x="1629244" y="1056040"/>
                </a:moveTo>
                <a:lnTo>
                  <a:pt x="1645739" y="1053302"/>
                </a:lnTo>
              </a:path>
              <a:path w="2574925" h="1083945">
                <a:moveTo>
                  <a:pt x="1662234" y="1050553"/>
                </a:moveTo>
                <a:lnTo>
                  <a:pt x="1678615" y="1047815"/>
                </a:lnTo>
              </a:path>
              <a:path w="2574925" h="1083945">
                <a:moveTo>
                  <a:pt x="1695110" y="1045077"/>
                </a:moveTo>
                <a:lnTo>
                  <a:pt x="1697859" y="1045077"/>
                </a:lnTo>
                <a:lnTo>
                  <a:pt x="1711605" y="1042327"/>
                </a:lnTo>
              </a:path>
              <a:path w="2574925" h="1083945">
                <a:moveTo>
                  <a:pt x="1728100" y="1039589"/>
                </a:moveTo>
                <a:lnTo>
                  <a:pt x="1744595" y="1036840"/>
                </a:lnTo>
              </a:path>
              <a:path w="2574925" h="1083945">
                <a:moveTo>
                  <a:pt x="1761091" y="1034102"/>
                </a:moveTo>
                <a:lnTo>
                  <a:pt x="1769338" y="1031364"/>
                </a:lnTo>
                <a:lnTo>
                  <a:pt x="1777586" y="1028614"/>
                </a:lnTo>
              </a:path>
              <a:path w="2574925" h="1083945">
                <a:moveTo>
                  <a:pt x="1794310" y="1025876"/>
                </a:moveTo>
                <a:lnTo>
                  <a:pt x="1810805" y="1020389"/>
                </a:lnTo>
              </a:path>
              <a:path w="2574925" h="1083945">
                <a:moveTo>
                  <a:pt x="1827301" y="1017651"/>
                </a:moveTo>
                <a:lnTo>
                  <a:pt x="1835434" y="1014901"/>
                </a:lnTo>
                <a:lnTo>
                  <a:pt x="1843681" y="1012163"/>
                </a:lnTo>
              </a:path>
              <a:path w="2574925" h="1083945">
                <a:moveTo>
                  <a:pt x="1860176" y="1006676"/>
                </a:moveTo>
                <a:lnTo>
                  <a:pt x="1876672" y="1003938"/>
                </a:lnTo>
              </a:path>
              <a:path w="2574925" h="1083945">
                <a:moveTo>
                  <a:pt x="1893167" y="998450"/>
                </a:moveTo>
                <a:lnTo>
                  <a:pt x="1909662" y="992974"/>
                </a:lnTo>
              </a:path>
              <a:path w="2574925" h="1083945">
                <a:moveTo>
                  <a:pt x="1926157" y="987487"/>
                </a:moveTo>
                <a:lnTo>
                  <a:pt x="1942652" y="981999"/>
                </a:lnTo>
              </a:path>
              <a:path w="2574925" h="1083945">
                <a:moveTo>
                  <a:pt x="1926157" y="987487"/>
                </a:moveTo>
                <a:lnTo>
                  <a:pt x="1942652" y="981999"/>
                </a:lnTo>
              </a:path>
              <a:path w="2574925" h="1083945">
                <a:moveTo>
                  <a:pt x="1956284" y="973774"/>
                </a:moveTo>
                <a:lnTo>
                  <a:pt x="1972779" y="968286"/>
                </a:lnTo>
              </a:path>
              <a:path w="2574925" h="1083945">
                <a:moveTo>
                  <a:pt x="1986525" y="960061"/>
                </a:moveTo>
                <a:lnTo>
                  <a:pt x="2000271" y="951835"/>
                </a:lnTo>
              </a:path>
              <a:path w="2574925" h="1083945">
                <a:moveTo>
                  <a:pt x="2014017" y="943610"/>
                </a:moveTo>
                <a:lnTo>
                  <a:pt x="2016766" y="940872"/>
                </a:lnTo>
                <a:lnTo>
                  <a:pt x="2027763" y="932635"/>
                </a:lnTo>
              </a:path>
              <a:path w="2574925" h="1083945">
                <a:moveTo>
                  <a:pt x="2041509" y="921671"/>
                </a:moveTo>
                <a:lnTo>
                  <a:pt x="2049757" y="907958"/>
                </a:lnTo>
              </a:path>
              <a:path w="2574925" h="1083945">
                <a:moveTo>
                  <a:pt x="2058004" y="894245"/>
                </a:moveTo>
                <a:lnTo>
                  <a:pt x="2060753" y="877794"/>
                </a:lnTo>
              </a:path>
              <a:path w="2574925" h="1083945">
                <a:moveTo>
                  <a:pt x="2058004" y="894245"/>
                </a:moveTo>
                <a:lnTo>
                  <a:pt x="2060753" y="877794"/>
                </a:lnTo>
              </a:path>
              <a:path w="2574925" h="1083945">
                <a:moveTo>
                  <a:pt x="2096378" y="916183"/>
                </a:moveTo>
                <a:lnTo>
                  <a:pt x="2060753" y="877794"/>
                </a:lnTo>
                <a:lnTo>
                  <a:pt x="2022265" y="916183"/>
                </a:lnTo>
              </a:path>
            </a:pathLst>
          </a:custGeom>
          <a:ln w="823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3" name="object 143"/>
          <p:cNvGrpSpPr/>
          <p:nvPr/>
        </p:nvGrpSpPr>
        <p:grpSpPr>
          <a:xfrm>
            <a:off x="702279" y="3944090"/>
            <a:ext cx="8028940" cy="307975"/>
            <a:chOff x="702279" y="3944090"/>
            <a:chExt cx="8028940" cy="307975"/>
          </a:xfrm>
        </p:grpSpPr>
        <p:sp>
          <p:nvSpPr>
            <p:cNvPr id="144" name="object 144"/>
            <p:cNvSpPr/>
            <p:nvPr/>
          </p:nvSpPr>
          <p:spPr>
            <a:xfrm>
              <a:off x="5029649" y="3944090"/>
              <a:ext cx="0" cy="206375"/>
            </a:xfrm>
            <a:custGeom>
              <a:avLst/>
              <a:gdLst/>
              <a:ahLst/>
              <a:cxnLst/>
              <a:rect l="l" t="t" r="r" b="b"/>
              <a:pathLst>
                <a:path h="206375">
                  <a:moveTo>
                    <a:pt x="0" y="0"/>
                  </a:moveTo>
                  <a:lnTo>
                    <a:pt x="0" y="205867"/>
                  </a:lnTo>
                </a:path>
              </a:pathLst>
            </a:custGeom>
            <a:ln w="823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4993909" y="4141824"/>
              <a:ext cx="74295" cy="109855"/>
            </a:xfrm>
            <a:custGeom>
              <a:avLst/>
              <a:gdLst/>
              <a:ahLst/>
              <a:cxnLst/>
              <a:rect l="l" t="t" r="r" b="b"/>
              <a:pathLst>
                <a:path w="74295" h="109854">
                  <a:moveTo>
                    <a:pt x="74228" y="0"/>
                  </a:moveTo>
                  <a:lnTo>
                    <a:pt x="0" y="0"/>
                  </a:lnTo>
                  <a:lnTo>
                    <a:pt x="35739" y="109635"/>
                  </a:lnTo>
                  <a:lnTo>
                    <a:pt x="742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02279" y="4045821"/>
              <a:ext cx="8028940" cy="0"/>
            </a:xfrm>
            <a:custGeom>
              <a:avLst/>
              <a:gdLst/>
              <a:ahLst/>
              <a:cxnLst/>
              <a:rect l="l" t="t" r="r" b="b"/>
              <a:pathLst>
                <a:path w="8028940">
                  <a:moveTo>
                    <a:pt x="0" y="0"/>
                  </a:moveTo>
                  <a:lnTo>
                    <a:pt x="8028594" y="0"/>
                  </a:lnTo>
                </a:path>
              </a:pathLst>
            </a:custGeom>
            <a:ln w="824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878" y="515492"/>
            <a:ext cx="7228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7680" marR="5080" indent="-1745614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24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24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fusion</a:t>
            </a:r>
            <a:r>
              <a:rPr sz="24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24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feuilles</a:t>
            </a:r>
            <a:r>
              <a:rPr sz="24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r>
              <a:rPr sz="24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24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redistribution</a:t>
            </a:r>
            <a:r>
              <a:rPr sz="24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spc="-25" dirty="0">
                <a:solidFill>
                  <a:srgbClr val="0000FF"/>
                </a:solidFill>
                <a:latin typeface="Tahoma"/>
                <a:cs typeface="Tahoma"/>
              </a:rPr>
              <a:t>au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niveau</a:t>
            </a:r>
            <a:r>
              <a:rPr sz="24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du</a:t>
            </a:r>
            <a:r>
              <a:rPr sz="24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parent</a:t>
            </a:r>
            <a:r>
              <a:rPr sz="2400" b="1" spc="-7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ahoma"/>
                <a:cs typeface="Tahoma"/>
              </a:rPr>
              <a:t>(suite)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2088" y="3449342"/>
          <a:ext cx="1481453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152400"/>
                <a:gridCol w="304800"/>
                <a:gridCol w="155575"/>
                <a:gridCol w="304800"/>
                <a:gridCol w="152400"/>
                <a:gridCol w="51434"/>
                <a:gridCol w="52069"/>
              </a:tblGrid>
              <a:tr h="102870"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3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58760" y="324495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299986" y="2634222"/>
            <a:ext cx="416559" cy="212090"/>
            <a:chOff x="3299986" y="2634222"/>
            <a:chExt cx="416559" cy="212090"/>
          </a:xfrm>
        </p:grpSpPr>
        <p:sp>
          <p:nvSpPr>
            <p:cNvPr id="6" name="object 6"/>
            <p:cNvSpPr/>
            <p:nvPr/>
          </p:nvSpPr>
          <p:spPr>
            <a:xfrm>
              <a:off x="3304114" y="2638349"/>
              <a:ext cx="103505" cy="203835"/>
            </a:xfrm>
            <a:custGeom>
              <a:avLst/>
              <a:gdLst/>
              <a:ahLst/>
              <a:cxnLst/>
              <a:rect l="l" t="t" r="r" b="b"/>
              <a:pathLst>
                <a:path w="103504" h="203835">
                  <a:moveTo>
                    <a:pt x="10338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3382" y="203688"/>
                  </a:lnTo>
                  <a:lnTo>
                    <a:pt x="1033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04114" y="2638349"/>
              <a:ext cx="103505" cy="203835"/>
            </a:xfrm>
            <a:custGeom>
              <a:avLst/>
              <a:gdLst/>
              <a:ahLst/>
              <a:cxnLst/>
              <a:rect l="l" t="t" r="r" b="b"/>
              <a:pathLst>
                <a:path w="103504" h="203835">
                  <a:moveTo>
                    <a:pt x="0" y="203688"/>
                  </a:moveTo>
                  <a:lnTo>
                    <a:pt x="103382" y="203688"/>
                  </a:lnTo>
                  <a:lnTo>
                    <a:pt x="10338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07484" y="2638349"/>
              <a:ext cx="304800" cy="203835"/>
            </a:xfrm>
            <a:custGeom>
              <a:avLst/>
              <a:gdLst/>
              <a:ahLst/>
              <a:cxnLst/>
              <a:rect l="l" t="t" r="r" b="b"/>
              <a:pathLst>
                <a:path w="304800" h="203835">
                  <a:moveTo>
                    <a:pt x="304711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304711" y="203688"/>
                  </a:lnTo>
                  <a:lnTo>
                    <a:pt x="30471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07484" y="2638349"/>
              <a:ext cx="304800" cy="203835"/>
            </a:xfrm>
            <a:custGeom>
              <a:avLst/>
              <a:gdLst/>
              <a:ahLst/>
              <a:cxnLst/>
              <a:rect l="l" t="t" r="r" b="b"/>
              <a:pathLst>
                <a:path w="304800" h="203835">
                  <a:moveTo>
                    <a:pt x="0" y="203688"/>
                  </a:moveTo>
                  <a:lnTo>
                    <a:pt x="304711" y="203688"/>
                  </a:lnTo>
                  <a:lnTo>
                    <a:pt x="304711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11577" y="2633648"/>
            <a:ext cx="29654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20"/>
              </a:spcBef>
            </a:pPr>
            <a:r>
              <a:rPr sz="1050" spc="-25" dirty="0">
                <a:latin typeface="Arial MT"/>
                <a:cs typeface="Arial MT"/>
              </a:rPr>
              <a:t>25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08023" y="2634222"/>
            <a:ext cx="412750" cy="212090"/>
            <a:chOff x="3708023" y="2634222"/>
            <a:chExt cx="412750" cy="212090"/>
          </a:xfrm>
        </p:grpSpPr>
        <p:sp>
          <p:nvSpPr>
            <p:cNvPr id="12" name="object 12"/>
            <p:cNvSpPr/>
            <p:nvPr/>
          </p:nvSpPr>
          <p:spPr>
            <a:xfrm>
              <a:off x="3712151" y="2638349"/>
              <a:ext cx="104139" cy="203835"/>
            </a:xfrm>
            <a:custGeom>
              <a:avLst/>
              <a:gdLst/>
              <a:ahLst/>
              <a:cxnLst/>
              <a:rect l="l" t="t" r="r" b="b"/>
              <a:pathLst>
                <a:path w="104139" h="203835">
                  <a:moveTo>
                    <a:pt x="103654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3654" y="203688"/>
                  </a:lnTo>
                  <a:lnTo>
                    <a:pt x="10365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12151" y="2638349"/>
              <a:ext cx="104139" cy="203835"/>
            </a:xfrm>
            <a:custGeom>
              <a:avLst/>
              <a:gdLst/>
              <a:ahLst/>
              <a:cxnLst/>
              <a:rect l="l" t="t" r="r" b="b"/>
              <a:pathLst>
                <a:path w="104139" h="203835">
                  <a:moveTo>
                    <a:pt x="0" y="203688"/>
                  </a:moveTo>
                  <a:lnTo>
                    <a:pt x="103654" y="203688"/>
                  </a:lnTo>
                  <a:lnTo>
                    <a:pt x="103654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5862" y="2638349"/>
              <a:ext cx="304800" cy="203835"/>
            </a:xfrm>
            <a:custGeom>
              <a:avLst/>
              <a:gdLst/>
              <a:ahLst/>
              <a:cxnLst/>
              <a:rect l="l" t="t" r="r" b="b"/>
              <a:pathLst>
                <a:path w="304800" h="203835">
                  <a:moveTo>
                    <a:pt x="304711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304711" y="203688"/>
                  </a:lnTo>
                  <a:lnTo>
                    <a:pt x="30471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815834" y="2638349"/>
            <a:ext cx="304800" cy="203835"/>
          </a:xfrm>
          <a:prstGeom prst="rect">
            <a:avLst/>
          </a:prstGeom>
          <a:ln w="8206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80"/>
              </a:spcBef>
            </a:pPr>
            <a:r>
              <a:rPr sz="1050" spc="-25" dirty="0">
                <a:latin typeface="Arial MT"/>
                <a:cs typeface="Arial MT"/>
              </a:rPr>
              <a:t>40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75189" y="2634222"/>
            <a:ext cx="2761615" cy="724535"/>
            <a:chOff x="1875189" y="2634222"/>
            <a:chExt cx="2761615" cy="724535"/>
          </a:xfrm>
        </p:grpSpPr>
        <p:sp>
          <p:nvSpPr>
            <p:cNvPr id="17" name="object 17"/>
            <p:cNvSpPr/>
            <p:nvPr/>
          </p:nvSpPr>
          <p:spPr>
            <a:xfrm>
              <a:off x="4120528" y="2638349"/>
              <a:ext cx="103505" cy="203835"/>
            </a:xfrm>
            <a:custGeom>
              <a:avLst/>
              <a:gdLst/>
              <a:ahLst/>
              <a:cxnLst/>
              <a:rect l="l" t="t" r="r" b="b"/>
              <a:pathLst>
                <a:path w="103504" h="203835">
                  <a:moveTo>
                    <a:pt x="10338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3382" y="203688"/>
                  </a:lnTo>
                  <a:lnTo>
                    <a:pt x="1033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35101" y="2638349"/>
              <a:ext cx="2697480" cy="687705"/>
            </a:xfrm>
            <a:custGeom>
              <a:avLst/>
              <a:gdLst/>
              <a:ahLst/>
              <a:cxnLst/>
              <a:rect l="l" t="t" r="r" b="b"/>
              <a:pathLst>
                <a:path w="2697479" h="687704">
                  <a:moveTo>
                    <a:pt x="2185427" y="203688"/>
                  </a:moveTo>
                  <a:lnTo>
                    <a:pt x="2288809" y="203688"/>
                  </a:lnTo>
                  <a:lnTo>
                    <a:pt x="2288809" y="0"/>
                  </a:lnTo>
                  <a:lnTo>
                    <a:pt x="2185427" y="0"/>
                  </a:lnTo>
                  <a:lnTo>
                    <a:pt x="2185427" y="203688"/>
                  </a:lnTo>
                  <a:close/>
                </a:path>
                <a:path w="2697479" h="687704">
                  <a:moveTo>
                    <a:pt x="2288798" y="203688"/>
                  </a:moveTo>
                  <a:lnTo>
                    <a:pt x="2593781" y="203688"/>
                  </a:lnTo>
                  <a:lnTo>
                    <a:pt x="2593781" y="0"/>
                  </a:lnTo>
                  <a:lnTo>
                    <a:pt x="2288798" y="0"/>
                  </a:lnTo>
                  <a:lnTo>
                    <a:pt x="2288798" y="203688"/>
                  </a:lnTo>
                  <a:close/>
                </a:path>
                <a:path w="2697479" h="687704">
                  <a:moveTo>
                    <a:pt x="2593804" y="203688"/>
                  </a:moveTo>
                  <a:lnTo>
                    <a:pt x="2697186" y="203688"/>
                  </a:lnTo>
                  <a:lnTo>
                    <a:pt x="2697186" y="0"/>
                  </a:lnTo>
                  <a:lnTo>
                    <a:pt x="2593804" y="0"/>
                  </a:lnTo>
                  <a:lnTo>
                    <a:pt x="2593804" y="203688"/>
                  </a:lnTo>
                  <a:close/>
                </a:path>
                <a:path w="2697479" h="687704">
                  <a:moveTo>
                    <a:pt x="1420641" y="103279"/>
                  </a:moveTo>
                  <a:lnTo>
                    <a:pt x="0" y="687468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75189" y="3290419"/>
              <a:ext cx="81915" cy="68580"/>
            </a:xfrm>
            <a:custGeom>
              <a:avLst/>
              <a:gdLst/>
              <a:ahLst/>
              <a:cxnLst/>
              <a:rect l="l" t="t" r="r" b="b"/>
              <a:pathLst>
                <a:path w="81914" h="68579">
                  <a:moveTo>
                    <a:pt x="54465" y="0"/>
                  </a:moveTo>
                  <a:lnTo>
                    <a:pt x="0" y="62514"/>
                  </a:lnTo>
                  <a:lnTo>
                    <a:pt x="81698" y="67960"/>
                  </a:lnTo>
                  <a:lnTo>
                    <a:pt x="544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49001" y="2741629"/>
              <a:ext cx="615315" cy="565150"/>
            </a:xfrm>
            <a:custGeom>
              <a:avLst/>
              <a:gdLst/>
              <a:ahLst/>
              <a:cxnLst/>
              <a:rect l="l" t="t" r="r" b="b"/>
              <a:pathLst>
                <a:path w="615314" h="565150">
                  <a:moveTo>
                    <a:pt x="615119" y="0"/>
                  </a:moveTo>
                  <a:lnTo>
                    <a:pt x="0" y="565128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00095" y="3274195"/>
              <a:ext cx="79375" cy="78740"/>
            </a:xfrm>
            <a:custGeom>
              <a:avLst/>
              <a:gdLst/>
              <a:ahLst/>
              <a:cxnLst/>
              <a:rect l="l" t="t" r="r" b="b"/>
              <a:pathLst>
                <a:path w="79375" h="78739">
                  <a:moveTo>
                    <a:pt x="29842" y="0"/>
                  </a:moveTo>
                  <a:lnTo>
                    <a:pt x="0" y="78738"/>
                  </a:lnTo>
                  <a:lnTo>
                    <a:pt x="78861" y="54345"/>
                  </a:lnTo>
                  <a:lnTo>
                    <a:pt x="298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56659" y="242999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3410" y="3449342"/>
            <a:ext cx="208212" cy="211850"/>
          </a:xfrm>
          <a:prstGeom prst="rect">
            <a:avLst/>
          </a:prstGeom>
        </p:spPr>
      </p:pic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483618" y="3449342"/>
          <a:ext cx="1380490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340"/>
                <a:gridCol w="152400"/>
                <a:gridCol w="307975"/>
                <a:gridCol w="152400"/>
                <a:gridCol w="304800"/>
                <a:gridCol w="155575"/>
              </a:tblGrid>
              <a:tr h="2032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2540244" y="324495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067542" y="3449342"/>
          <a:ext cx="1478914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152400"/>
                <a:gridCol w="307340"/>
                <a:gridCol w="152400"/>
                <a:gridCol w="307975"/>
                <a:gridCol w="152400"/>
                <a:gridCol w="52069"/>
                <a:gridCol w="49530"/>
              </a:tblGrid>
              <a:tr h="102870"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3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4121445" y="324495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414171" y="3518581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0"/>
                </a:moveTo>
                <a:lnTo>
                  <a:pt x="0" y="73293"/>
                </a:lnTo>
                <a:lnTo>
                  <a:pt x="73528" y="38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168143" y="2737501"/>
            <a:ext cx="565150" cy="615950"/>
            <a:chOff x="4168143" y="2737501"/>
            <a:chExt cx="565150" cy="615950"/>
          </a:xfrm>
        </p:grpSpPr>
        <p:sp>
          <p:nvSpPr>
            <p:cNvPr id="30" name="object 30"/>
            <p:cNvSpPr/>
            <p:nvPr/>
          </p:nvSpPr>
          <p:spPr>
            <a:xfrm>
              <a:off x="4172271" y="2741629"/>
              <a:ext cx="517525" cy="562610"/>
            </a:xfrm>
            <a:custGeom>
              <a:avLst/>
              <a:gdLst/>
              <a:ahLst/>
              <a:cxnLst/>
              <a:rect l="l" t="t" r="r" b="b"/>
              <a:pathLst>
                <a:path w="517525" h="562610">
                  <a:moveTo>
                    <a:pt x="0" y="0"/>
                  </a:moveTo>
                  <a:lnTo>
                    <a:pt x="517195" y="562405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56786" y="3271472"/>
              <a:ext cx="76200" cy="81915"/>
            </a:xfrm>
            <a:custGeom>
              <a:avLst/>
              <a:gdLst/>
              <a:ahLst/>
              <a:cxnLst/>
              <a:rect l="l" t="t" r="r" b="b"/>
              <a:pathLst>
                <a:path w="76200" h="81914">
                  <a:moveTo>
                    <a:pt x="54352" y="0"/>
                  </a:moveTo>
                  <a:lnTo>
                    <a:pt x="0" y="51622"/>
                  </a:lnTo>
                  <a:lnTo>
                    <a:pt x="76138" y="81461"/>
                  </a:lnTo>
                  <a:lnTo>
                    <a:pt x="54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5579295" y="3518581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0"/>
                </a:moveTo>
                <a:lnTo>
                  <a:pt x="0" y="73293"/>
                </a:lnTo>
                <a:lnTo>
                  <a:pt x="73528" y="38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5673139" y="3449342"/>
          <a:ext cx="1481455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152400"/>
                <a:gridCol w="304800"/>
                <a:gridCol w="155575"/>
                <a:gridCol w="304800"/>
                <a:gridCol w="152400"/>
                <a:gridCol w="103505"/>
              </a:tblGrid>
              <a:tr h="2032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70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5729878" y="324495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57074" y="2634222"/>
            <a:ext cx="417195" cy="212090"/>
            <a:chOff x="6057074" y="2634222"/>
            <a:chExt cx="417195" cy="212090"/>
          </a:xfrm>
        </p:grpSpPr>
        <p:sp>
          <p:nvSpPr>
            <p:cNvPr id="36" name="object 36"/>
            <p:cNvSpPr/>
            <p:nvPr/>
          </p:nvSpPr>
          <p:spPr>
            <a:xfrm>
              <a:off x="6061201" y="263834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61201" y="263834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0" y="203688"/>
                  </a:moveTo>
                  <a:lnTo>
                    <a:pt x="100662" y="203688"/>
                  </a:lnTo>
                  <a:lnTo>
                    <a:pt x="10066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61849" y="2638349"/>
              <a:ext cx="307975" cy="203835"/>
            </a:xfrm>
            <a:custGeom>
              <a:avLst/>
              <a:gdLst/>
              <a:ahLst/>
              <a:cxnLst/>
              <a:rect l="l" t="t" r="r" b="b"/>
              <a:pathLst>
                <a:path w="307975" h="203835">
                  <a:moveTo>
                    <a:pt x="307695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307695" y="203688"/>
                  </a:lnTo>
                  <a:lnTo>
                    <a:pt x="30769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61849" y="2638349"/>
              <a:ext cx="307975" cy="203835"/>
            </a:xfrm>
            <a:custGeom>
              <a:avLst/>
              <a:gdLst/>
              <a:ahLst/>
              <a:cxnLst/>
              <a:rect l="l" t="t" r="r" b="b"/>
              <a:pathLst>
                <a:path w="307975" h="203835">
                  <a:moveTo>
                    <a:pt x="0" y="203688"/>
                  </a:moveTo>
                  <a:lnTo>
                    <a:pt x="307695" y="203688"/>
                  </a:lnTo>
                  <a:lnTo>
                    <a:pt x="307695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165944" y="2633648"/>
            <a:ext cx="29972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20"/>
              </a:spcBef>
            </a:pPr>
            <a:r>
              <a:rPr sz="1050" spc="-25" dirty="0">
                <a:latin typeface="Arial MT"/>
                <a:cs typeface="Arial MT"/>
              </a:rPr>
              <a:t>60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465338" y="2634222"/>
            <a:ext cx="925830" cy="212090"/>
            <a:chOff x="6465338" y="2634222"/>
            <a:chExt cx="925830" cy="212090"/>
          </a:xfrm>
        </p:grpSpPr>
        <p:sp>
          <p:nvSpPr>
            <p:cNvPr id="42" name="object 42"/>
            <p:cNvSpPr/>
            <p:nvPr/>
          </p:nvSpPr>
          <p:spPr>
            <a:xfrm>
              <a:off x="6469465" y="263834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5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469465" y="2638349"/>
              <a:ext cx="917575" cy="203835"/>
            </a:xfrm>
            <a:custGeom>
              <a:avLst/>
              <a:gdLst/>
              <a:ahLst/>
              <a:cxnLst/>
              <a:rect l="l" t="t" r="r" b="b"/>
              <a:pathLst>
                <a:path w="917575" h="203835">
                  <a:moveTo>
                    <a:pt x="0" y="203688"/>
                  </a:moveTo>
                  <a:lnTo>
                    <a:pt x="100662" y="203688"/>
                  </a:lnTo>
                  <a:lnTo>
                    <a:pt x="10066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  <a:path w="917575" h="203835">
                  <a:moveTo>
                    <a:pt x="100761" y="203688"/>
                  </a:moveTo>
                  <a:lnTo>
                    <a:pt x="408184" y="203688"/>
                  </a:lnTo>
                  <a:lnTo>
                    <a:pt x="408184" y="0"/>
                  </a:lnTo>
                  <a:lnTo>
                    <a:pt x="100761" y="0"/>
                  </a:lnTo>
                  <a:lnTo>
                    <a:pt x="100761" y="203688"/>
                  </a:lnTo>
                  <a:close/>
                </a:path>
                <a:path w="917575" h="203835">
                  <a:moveTo>
                    <a:pt x="408150" y="203688"/>
                  </a:moveTo>
                  <a:lnTo>
                    <a:pt x="508813" y="203688"/>
                  </a:lnTo>
                  <a:lnTo>
                    <a:pt x="508813" y="0"/>
                  </a:lnTo>
                  <a:lnTo>
                    <a:pt x="408150" y="0"/>
                  </a:lnTo>
                  <a:lnTo>
                    <a:pt x="408150" y="203688"/>
                  </a:lnTo>
                  <a:close/>
                </a:path>
                <a:path w="917575" h="203835">
                  <a:moveTo>
                    <a:pt x="508798" y="203688"/>
                  </a:moveTo>
                  <a:lnTo>
                    <a:pt x="816494" y="203688"/>
                  </a:lnTo>
                  <a:lnTo>
                    <a:pt x="816494" y="0"/>
                  </a:lnTo>
                  <a:lnTo>
                    <a:pt x="508798" y="0"/>
                  </a:lnTo>
                  <a:lnTo>
                    <a:pt x="508798" y="203688"/>
                  </a:lnTo>
                  <a:close/>
                </a:path>
                <a:path w="917575" h="203835">
                  <a:moveTo>
                    <a:pt x="816528" y="203688"/>
                  </a:moveTo>
                  <a:lnTo>
                    <a:pt x="917190" y="203688"/>
                  </a:lnTo>
                  <a:lnTo>
                    <a:pt x="917190" y="0"/>
                  </a:lnTo>
                  <a:lnTo>
                    <a:pt x="816528" y="0"/>
                  </a:lnTo>
                  <a:lnTo>
                    <a:pt x="816528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113746" y="2429993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679892" y="1819262"/>
            <a:ext cx="412750" cy="212090"/>
            <a:chOff x="4679892" y="1819262"/>
            <a:chExt cx="412750" cy="212090"/>
          </a:xfrm>
        </p:grpSpPr>
        <p:sp>
          <p:nvSpPr>
            <p:cNvPr id="46" name="object 46"/>
            <p:cNvSpPr/>
            <p:nvPr/>
          </p:nvSpPr>
          <p:spPr>
            <a:xfrm>
              <a:off x="4684019" y="182338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84019" y="182338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0" y="203688"/>
                  </a:moveTo>
                  <a:lnTo>
                    <a:pt x="100662" y="203688"/>
                  </a:lnTo>
                  <a:lnTo>
                    <a:pt x="10066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84667" y="1823389"/>
              <a:ext cx="307975" cy="203835"/>
            </a:xfrm>
            <a:custGeom>
              <a:avLst/>
              <a:gdLst/>
              <a:ahLst/>
              <a:cxnLst/>
              <a:rect l="l" t="t" r="r" b="b"/>
              <a:pathLst>
                <a:path w="307975" h="203835">
                  <a:moveTo>
                    <a:pt x="307423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307423" y="203688"/>
                  </a:lnTo>
                  <a:lnTo>
                    <a:pt x="30742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84674" y="1823389"/>
            <a:ext cx="307975" cy="203835"/>
          </a:xfrm>
          <a:prstGeom prst="rect">
            <a:avLst/>
          </a:prstGeom>
          <a:ln w="8195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80"/>
              </a:spcBef>
            </a:pPr>
            <a:r>
              <a:rPr sz="1050" spc="-25" dirty="0">
                <a:latin typeface="Arial MT"/>
                <a:cs typeface="Arial MT"/>
              </a:rPr>
              <a:t>50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968252" y="1819262"/>
            <a:ext cx="3575050" cy="1534160"/>
            <a:chOff x="3968252" y="1819262"/>
            <a:chExt cx="3575050" cy="1534160"/>
          </a:xfrm>
        </p:grpSpPr>
        <p:sp>
          <p:nvSpPr>
            <p:cNvPr id="51" name="object 51"/>
            <p:cNvSpPr/>
            <p:nvPr/>
          </p:nvSpPr>
          <p:spPr>
            <a:xfrm>
              <a:off x="5092056" y="1823389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933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933" y="203688"/>
                  </a:lnTo>
                  <a:lnTo>
                    <a:pt x="1009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092056" y="1823389"/>
              <a:ext cx="1203325" cy="1467485"/>
            </a:xfrm>
            <a:custGeom>
              <a:avLst/>
              <a:gdLst/>
              <a:ahLst/>
              <a:cxnLst/>
              <a:rect l="l" t="t" r="r" b="b"/>
              <a:pathLst>
                <a:path w="1203325" h="1467485">
                  <a:moveTo>
                    <a:pt x="0" y="203688"/>
                  </a:moveTo>
                  <a:lnTo>
                    <a:pt x="100933" y="203688"/>
                  </a:lnTo>
                  <a:lnTo>
                    <a:pt x="100933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  <a:path w="1203325" h="1467485">
                  <a:moveTo>
                    <a:pt x="100988" y="203688"/>
                  </a:moveTo>
                  <a:lnTo>
                    <a:pt x="408411" y="203688"/>
                  </a:lnTo>
                  <a:lnTo>
                    <a:pt x="408411" y="0"/>
                  </a:lnTo>
                  <a:lnTo>
                    <a:pt x="100988" y="0"/>
                  </a:lnTo>
                  <a:lnTo>
                    <a:pt x="100988" y="203688"/>
                  </a:lnTo>
                  <a:close/>
                </a:path>
                <a:path w="1203325" h="1467485">
                  <a:moveTo>
                    <a:pt x="408377" y="203688"/>
                  </a:moveTo>
                  <a:lnTo>
                    <a:pt x="509038" y="203688"/>
                  </a:lnTo>
                  <a:lnTo>
                    <a:pt x="509038" y="0"/>
                  </a:lnTo>
                  <a:lnTo>
                    <a:pt x="408377" y="0"/>
                  </a:lnTo>
                  <a:lnTo>
                    <a:pt x="408377" y="203688"/>
                  </a:lnTo>
                  <a:close/>
                </a:path>
                <a:path w="1203325" h="1467485">
                  <a:moveTo>
                    <a:pt x="509025" y="203688"/>
                  </a:moveTo>
                  <a:lnTo>
                    <a:pt x="816721" y="203688"/>
                  </a:lnTo>
                  <a:lnTo>
                    <a:pt x="816721" y="0"/>
                  </a:lnTo>
                  <a:lnTo>
                    <a:pt x="509025" y="0"/>
                  </a:lnTo>
                  <a:lnTo>
                    <a:pt x="509025" y="203688"/>
                  </a:lnTo>
                  <a:close/>
                </a:path>
                <a:path w="1203325" h="1467485">
                  <a:moveTo>
                    <a:pt x="816755" y="203688"/>
                  </a:moveTo>
                  <a:lnTo>
                    <a:pt x="917416" y="203688"/>
                  </a:lnTo>
                  <a:lnTo>
                    <a:pt x="917416" y="0"/>
                  </a:lnTo>
                  <a:lnTo>
                    <a:pt x="816755" y="0"/>
                  </a:lnTo>
                  <a:lnTo>
                    <a:pt x="816755" y="203688"/>
                  </a:lnTo>
                  <a:close/>
                </a:path>
                <a:path w="1203325" h="1467485">
                  <a:moveTo>
                    <a:pt x="1020773" y="918239"/>
                  </a:moveTo>
                  <a:lnTo>
                    <a:pt x="1203119" y="1467029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57050" y="3271472"/>
              <a:ext cx="71120" cy="81915"/>
            </a:xfrm>
            <a:custGeom>
              <a:avLst/>
              <a:gdLst/>
              <a:ahLst/>
              <a:cxnLst/>
              <a:rect l="l" t="t" r="r" b="b"/>
              <a:pathLst>
                <a:path w="71120" h="81914">
                  <a:moveTo>
                    <a:pt x="70691" y="0"/>
                  </a:moveTo>
                  <a:lnTo>
                    <a:pt x="0" y="21670"/>
                  </a:lnTo>
                  <a:lnTo>
                    <a:pt x="59798" y="81461"/>
                  </a:lnTo>
                  <a:lnTo>
                    <a:pt x="70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17157" y="1926556"/>
              <a:ext cx="716280" cy="570865"/>
            </a:xfrm>
            <a:custGeom>
              <a:avLst/>
              <a:gdLst/>
              <a:ahLst/>
              <a:cxnLst/>
              <a:rect l="l" t="t" r="r" b="b"/>
              <a:pathLst>
                <a:path w="716279" h="570864">
                  <a:moveTo>
                    <a:pt x="715767" y="0"/>
                  </a:moveTo>
                  <a:lnTo>
                    <a:pt x="0" y="570574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68252" y="2461845"/>
              <a:ext cx="81915" cy="76200"/>
            </a:xfrm>
            <a:custGeom>
              <a:avLst/>
              <a:gdLst/>
              <a:ahLst/>
              <a:cxnLst/>
              <a:rect l="l" t="t" r="r" b="b"/>
              <a:pathLst>
                <a:path w="81914" h="76200">
                  <a:moveTo>
                    <a:pt x="35289" y="0"/>
                  </a:moveTo>
                  <a:lnTo>
                    <a:pt x="0" y="76016"/>
                  </a:lnTo>
                  <a:lnTo>
                    <a:pt x="81584" y="57068"/>
                  </a:lnTo>
                  <a:lnTo>
                    <a:pt x="3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141302" y="1926556"/>
              <a:ext cx="1573530" cy="587375"/>
            </a:xfrm>
            <a:custGeom>
              <a:avLst/>
              <a:gdLst/>
              <a:ahLst/>
              <a:cxnLst/>
              <a:rect l="l" t="t" r="r" b="b"/>
              <a:pathLst>
                <a:path w="1573529" h="587375">
                  <a:moveTo>
                    <a:pt x="0" y="0"/>
                  </a:moveTo>
                  <a:lnTo>
                    <a:pt x="1573030" y="586911"/>
                  </a:lnTo>
                </a:path>
              </a:pathLst>
            </a:custGeom>
            <a:ln w="8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692547" y="2475459"/>
              <a:ext cx="81915" cy="71120"/>
            </a:xfrm>
            <a:custGeom>
              <a:avLst/>
              <a:gdLst/>
              <a:ahLst/>
              <a:cxnLst/>
              <a:rect l="l" t="t" r="r" b="b"/>
              <a:pathLst>
                <a:path w="81915" h="71119">
                  <a:moveTo>
                    <a:pt x="27232" y="0"/>
                  </a:moveTo>
                  <a:lnTo>
                    <a:pt x="0" y="70570"/>
                  </a:lnTo>
                  <a:lnTo>
                    <a:pt x="81698" y="62401"/>
                  </a:lnTo>
                  <a:lnTo>
                    <a:pt x="27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27235" y="2028440"/>
              <a:ext cx="307975" cy="611505"/>
            </a:xfrm>
            <a:custGeom>
              <a:avLst/>
              <a:gdLst/>
              <a:ahLst/>
              <a:cxnLst/>
              <a:rect l="l" t="t" r="r" b="b"/>
              <a:pathLst>
                <a:path w="307975" h="611505">
                  <a:moveTo>
                    <a:pt x="307502" y="0"/>
                  </a:moveTo>
                  <a:lnTo>
                    <a:pt x="0" y="61130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726588" y="1824796"/>
              <a:ext cx="816610" cy="407670"/>
            </a:xfrm>
            <a:custGeom>
              <a:avLst/>
              <a:gdLst/>
              <a:ahLst/>
              <a:cxnLst/>
              <a:rect l="l" t="t" r="r" b="b"/>
              <a:pathLst>
                <a:path w="816609" h="407669">
                  <a:moveTo>
                    <a:pt x="816448" y="0"/>
                  </a:moveTo>
                  <a:lnTo>
                    <a:pt x="0" y="0"/>
                  </a:lnTo>
                  <a:lnTo>
                    <a:pt x="0" y="407638"/>
                  </a:lnTo>
                  <a:lnTo>
                    <a:pt x="816448" y="407638"/>
                  </a:lnTo>
                  <a:lnTo>
                    <a:pt x="81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733841" y="1614920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7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26588" y="1824796"/>
            <a:ext cx="816610" cy="40767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58419" marR="55244" indent="78740">
              <a:lnSpc>
                <a:spcPct val="102000"/>
              </a:lnSpc>
              <a:spcBef>
                <a:spcPts val="660"/>
              </a:spcBef>
            </a:pPr>
            <a:r>
              <a:rPr sz="700" spc="-10" dirty="0">
                <a:latin typeface="Arial MT"/>
                <a:cs typeface="Arial MT"/>
              </a:rPr>
              <a:t>Violation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</a:t>
            </a:r>
            <a:r>
              <a:rPr sz="700" spc="-4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règle</a:t>
            </a:r>
            <a:r>
              <a:rPr sz="700" spc="-3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minimum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706608" y="2326747"/>
            <a:ext cx="86741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spc="-10" dirty="0">
                <a:solidFill>
                  <a:srgbClr val="FF0000"/>
                </a:solidFill>
                <a:latin typeface="Arial MT"/>
                <a:cs typeface="Arial MT"/>
              </a:rPr>
              <a:t>Redistribution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019881" y="1972733"/>
            <a:ext cx="2550795" cy="1073785"/>
          </a:xfrm>
          <a:custGeom>
            <a:avLst/>
            <a:gdLst/>
            <a:ahLst/>
            <a:cxnLst/>
            <a:rect l="l" t="t" r="r" b="b"/>
            <a:pathLst>
              <a:path w="2550795" h="1073785">
                <a:moveTo>
                  <a:pt x="2550345" y="614027"/>
                </a:moveTo>
                <a:lnTo>
                  <a:pt x="2141968" y="920928"/>
                </a:lnTo>
              </a:path>
              <a:path w="2550795" h="1073785">
                <a:moveTo>
                  <a:pt x="2141968" y="614027"/>
                </a:moveTo>
                <a:lnTo>
                  <a:pt x="2550345" y="920928"/>
                </a:lnTo>
              </a:path>
              <a:path w="2550795" h="1073785">
                <a:moveTo>
                  <a:pt x="968804" y="2722"/>
                </a:moveTo>
                <a:lnTo>
                  <a:pt x="982420" y="10891"/>
                </a:lnTo>
              </a:path>
              <a:path w="2550795" h="1073785">
                <a:moveTo>
                  <a:pt x="996037" y="19060"/>
                </a:moveTo>
                <a:lnTo>
                  <a:pt x="1009653" y="27229"/>
                </a:lnTo>
              </a:path>
              <a:path w="2550795" h="1073785">
                <a:moveTo>
                  <a:pt x="1023270" y="35285"/>
                </a:moveTo>
                <a:lnTo>
                  <a:pt x="1036772" y="43453"/>
                </a:lnTo>
              </a:path>
              <a:path w="2550795" h="1073785">
                <a:moveTo>
                  <a:pt x="1050389" y="51622"/>
                </a:moveTo>
                <a:lnTo>
                  <a:pt x="1064005" y="59791"/>
                </a:lnTo>
              </a:path>
              <a:path w="2550795" h="1073785">
                <a:moveTo>
                  <a:pt x="1077622" y="67960"/>
                </a:moveTo>
                <a:lnTo>
                  <a:pt x="1091465" y="76016"/>
                </a:lnTo>
              </a:path>
              <a:path w="2550795" h="1073785">
                <a:moveTo>
                  <a:pt x="1105081" y="84184"/>
                </a:moveTo>
                <a:lnTo>
                  <a:pt x="1118698" y="92353"/>
                </a:lnTo>
              </a:path>
              <a:path w="2550795" h="1073785">
                <a:moveTo>
                  <a:pt x="1132314" y="100522"/>
                </a:moveTo>
                <a:lnTo>
                  <a:pt x="1145930" y="108918"/>
                </a:lnTo>
              </a:path>
              <a:path w="2550795" h="1073785">
                <a:moveTo>
                  <a:pt x="1159547" y="117087"/>
                </a:moveTo>
                <a:lnTo>
                  <a:pt x="1173163" y="125256"/>
                </a:lnTo>
              </a:path>
              <a:path w="2550795" h="1073785">
                <a:moveTo>
                  <a:pt x="1186779" y="133425"/>
                </a:moveTo>
                <a:lnTo>
                  <a:pt x="1200282" y="141480"/>
                </a:lnTo>
              </a:path>
              <a:path w="2550795" h="1073785">
                <a:moveTo>
                  <a:pt x="1216622" y="146926"/>
                </a:moveTo>
                <a:lnTo>
                  <a:pt x="1230238" y="157818"/>
                </a:lnTo>
              </a:path>
              <a:path w="2550795" h="1073785">
                <a:moveTo>
                  <a:pt x="1243855" y="165987"/>
                </a:moveTo>
                <a:lnTo>
                  <a:pt x="1257471" y="174156"/>
                </a:lnTo>
              </a:path>
              <a:path w="2550795" h="1073785">
                <a:moveTo>
                  <a:pt x="1271087" y="182211"/>
                </a:moveTo>
                <a:lnTo>
                  <a:pt x="1284704" y="190380"/>
                </a:lnTo>
              </a:path>
              <a:path w="2550795" h="1073785">
                <a:moveTo>
                  <a:pt x="1298320" y="198549"/>
                </a:moveTo>
                <a:lnTo>
                  <a:pt x="1311823" y="206718"/>
                </a:lnTo>
              </a:path>
              <a:path w="2550795" h="1073785">
                <a:moveTo>
                  <a:pt x="1325439" y="214887"/>
                </a:moveTo>
                <a:lnTo>
                  <a:pt x="1339056" y="222942"/>
                </a:lnTo>
              </a:path>
              <a:path w="2550795" h="1073785">
                <a:moveTo>
                  <a:pt x="1352672" y="231111"/>
                </a:moveTo>
                <a:lnTo>
                  <a:pt x="1366289" y="239280"/>
                </a:lnTo>
              </a:path>
              <a:path w="2550795" h="1073785">
                <a:moveTo>
                  <a:pt x="1379905" y="247449"/>
                </a:moveTo>
                <a:lnTo>
                  <a:pt x="1396245" y="252895"/>
                </a:lnTo>
              </a:path>
              <a:path w="2550795" h="1073785">
                <a:moveTo>
                  <a:pt x="1409861" y="263673"/>
                </a:moveTo>
                <a:lnTo>
                  <a:pt x="1423364" y="271842"/>
                </a:lnTo>
              </a:path>
              <a:path w="2550795" h="1073785">
                <a:moveTo>
                  <a:pt x="1436980" y="280011"/>
                </a:moveTo>
                <a:lnTo>
                  <a:pt x="1450597" y="288180"/>
                </a:lnTo>
              </a:path>
              <a:path w="2550795" h="1073785">
                <a:moveTo>
                  <a:pt x="1464213" y="296349"/>
                </a:moveTo>
                <a:lnTo>
                  <a:pt x="1477829" y="304517"/>
                </a:lnTo>
              </a:path>
              <a:path w="2550795" h="1073785">
                <a:moveTo>
                  <a:pt x="1491446" y="312573"/>
                </a:moveTo>
                <a:lnTo>
                  <a:pt x="1505062" y="320742"/>
                </a:lnTo>
              </a:path>
              <a:path w="2550795" h="1073785">
                <a:moveTo>
                  <a:pt x="1518678" y="328911"/>
                </a:moveTo>
                <a:lnTo>
                  <a:pt x="1532295" y="337080"/>
                </a:lnTo>
              </a:path>
              <a:path w="2550795" h="1073785">
                <a:moveTo>
                  <a:pt x="1545798" y="345248"/>
                </a:moveTo>
                <a:lnTo>
                  <a:pt x="1559414" y="350581"/>
                </a:lnTo>
              </a:path>
              <a:path w="2550795" h="1073785">
                <a:moveTo>
                  <a:pt x="1573030" y="358750"/>
                </a:moveTo>
                <a:lnTo>
                  <a:pt x="1586647" y="366919"/>
                </a:lnTo>
              </a:path>
              <a:path w="2550795" h="1073785">
                <a:moveTo>
                  <a:pt x="1600263" y="375088"/>
                </a:moveTo>
                <a:lnTo>
                  <a:pt x="1613880" y="383256"/>
                </a:lnTo>
              </a:path>
              <a:path w="2550795" h="1073785">
                <a:moveTo>
                  <a:pt x="1627496" y="391425"/>
                </a:moveTo>
                <a:lnTo>
                  <a:pt x="1641112" y="399481"/>
                </a:lnTo>
              </a:path>
              <a:path w="2550795" h="1073785">
                <a:moveTo>
                  <a:pt x="1654615" y="407650"/>
                </a:moveTo>
                <a:lnTo>
                  <a:pt x="1668232" y="415818"/>
                </a:lnTo>
              </a:path>
              <a:path w="2550795" h="1073785">
                <a:moveTo>
                  <a:pt x="1681848" y="423987"/>
                </a:moveTo>
                <a:lnTo>
                  <a:pt x="1695464" y="432156"/>
                </a:lnTo>
              </a:path>
              <a:path w="2550795" h="1073785">
                <a:moveTo>
                  <a:pt x="1709081" y="440212"/>
                </a:moveTo>
                <a:lnTo>
                  <a:pt x="1722697" y="448381"/>
                </a:lnTo>
              </a:path>
              <a:path w="2550795" h="1073785">
                <a:moveTo>
                  <a:pt x="1736313" y="456549"/>
                </a:moveTo>
                <a:lnTo>
                  <a:pt x="1749930" y="464718"/>
                </a:lnTo>
              </a:path>
              <a:path w="2550795" h="1073785">
                <a:moveTo>
                  <a:pt x="1763773" y="472887"/>
                </a:moveTo>
                <a:lnTo>
                  <a:pt x="1777389" y="480943"/>
                </a:lnTo>
              </a:path>
              <a:path w="2550795" h="1073785">
                <a:moveTo>
                  <a:pt x="1791006" y="489112"/>
                </a:moveTo>
                <a:lnTo>
                  <a:pt x="1804622" y="497280"/>
                </a:lnTo>
              </a:path>
              <a:path w="2550795" h="1073785">
                <a:moveTo>
                  <a:pt x="1818125" y="505449"/>
                </a:moveTo>
                <a:lnTo>
                  <a:pt x="1831741" y="513618"/>
                </a:lnTo>
              </a:path>
              <a:path w="2550795" h="1073785">
                <a:moveTo>
                  <a:pt x="1845358" y="521674"/>
                </a:moveTo>
                <a:lnTo>
                  <a:pt x="1858974" y="527120"/>
                </a:lnTo>
              </a:path>
              <a:path w="2550795" h="1073785">
                <a:moveTo>
                  <a:pt x="1872591" y="535288"/>
                </a:moveTo>
                <a:lnTo>
                  <a:pt x="1886207" y="543457"/>
                </a:lnTo>
              </a:path>
              <a:path w="2550795" h="1073785">
                <a:moveTo>
                  <a:pt x="1899823" y="551626"/>
                </a:moveTo>
                <a:lnTo>
                  <a:pt x="1913440" y="559795"/>
                </a:lnTo>
              </a:path>
              <a:path w="2550795" h="1073785">
                <a:moveTo>
                  <a:pt x="1927056" y="567851"/>
                </a:moveTo>
                <a:lnTo>
                  <a:pt x="1940559" y="576019"/>
                </a:lnTo>
              </a:path>
              <a:path w="2550795" h="1073785">
                <a:moveTo>
                  <a:pt x="1954175" y="584188"/>
                </a:moveTo>
                <a:lnTo>
                  <a:pt x="1967792" y="592357"/>
                </a:lnTo>
              </a:path>
              <a:path w="2550795" h="1073785">
                <a:moveTo>
                  <a:pt x="1981408" y="600526"/>
                </a:moveTo>
                <a:lnTo>
                  <a:pt x="1995024" y="608582"/>
                </a:lnTo>
              </a:path>
              <a:path w="2550795" h="1073785">
                <a:moveTo>
                  <a:pt x="2008641" y="616750"/>
                </a:moveTo>
                <a:lnTo>
                  <a:pt x="2022257" y="624919"/>
                </a:lnTo>
              </a:path>
              <a:path w="2550795" h="1073785">
                <a:moveTo>
                  <a:pt x="2035873" y="633088"/>
                </a:moveTo>
                <a:lnTo>
                  <a:pt x="2049376" y="641257"/>
                </a:lnTo>
              </a:path>
              <a:path w="2550795" h="1073785">
                <a:moveTo>
                  <a:pt x="2062993" y="649426"/>
                </a:moveTo>
                <a:lnTo>
                  <a:pt x="2076609" y="657481"/>
                </a:lnTo>
              </a:path>
              <a:path w="2550795" h="1073785">
                <a:moveTo>
                  <a:pt x="2090225" y="665650"/>
                </a:moveTo>
                <a:lnTo>
                  <a:pt x="2092949" y="665650"/>
                </a:lnTo>
              </a:path>
              <a:path w="2550795" h="1073785">
                <a:moveTo>
                  <a:pt x="2041320" y="679265"/>
                </a:moveTo>
                <a:lnTo>
                  <a:pt x="2092949" y="665650"/>
                </a:lnTo>
                <a:lnTo>
                  <a:pt x="2079332" y="616750"/>
                </a:lnTo>
              </a:path>
              <a:path w="2550795" h="1073785">
                <a:moveTo>
                  <a:pt x="0" y="717273"/>
                </a:moveTo>
                <a:lnTo>
                  <a:pt x="13616" y="706381"/>
                </a:lnTo>
              </a:path>
              <a:path w="2550795" h="1073785">
                <a:moveTo>
                  <a:pt x="24509" y="695489"/>
                </a:moveTo>
                <a:lnTo>
                  <a:pt x="38125" y="684711"/>
                </a:lnTo>
              </a:path>
              <a:path w="2550795" h="1073785">
                <a:moveTo>
                  <a:pt x="49018" y="673819"/>
                </a:moveTo>
                <a:lnTo>
                  <a:pt x="62635" y="662927"/>
                </a:lnTo>
              </a:path>
              <a:path w="2550795" h="1073785">
                <a:moveTo>
                  <a:pt x="73414" y="652035"/>
                </a:moveTo>
                <a:lnTo>
                  <a:pt x="87031" y="641257"/>
                </a:lnTo>
              </a:path>
              <a:path w="2550795" h="1073785">
                <a:moveTo>
                  <a:pt x="97924" y="630365"/>
                </a:moveTo>
                <a:lnTo>
                  <a:pt x="111540" y="619473"/>
                </a:lnTo>
              </a:path>
              <a:path w="2550795" h="1073785">
                <a:moveTo>
                  <a:pt x="125157" y="608582"/>
                </a:moveTo>
                <a:lnTo>
                  <a:pt x="136050" y="597803"/>
                </a:lnTo>
              </a:path>
              <a:path w="2550795" h="1073785">
                <a:moveTo>
                  <a:pt x="149666" y="586911"/>
                </a:moveTo>
                <a:lnTo>
                  <a:pt x="160559" y="576019"/>
                </a:lnTo>
              </a:path>
              <a:path w="2550795" h="1073785">
                <a:moveTo>
                  <a:pt x="174176" y="565128"/>
                </a:moveTo>
                <a:lnTo>
                  <a:pt x="184955" y="554349"/>
                </a:lnTo>
              </a:path>
              <a:path w="2550795" h="1073785">
                <a:moveTo>
                  <a:pt x="198572" y="543457"/>
                </a:moveTo>
                <a:lnTo>
                  <a:pt x="212188" y="532565"/>
                </a:lnTo>
              </a:path>
              <a:path w="2550795" h="1073785">
                <a:moveTo>
                  <a:pt x="223081" y="521674"/>
                </a:moveTo>
                <a:lnTo>
                  <a:pt x="236697" y="510895"/>
                </a:lnTo>
              </a:path>
              <a:path w="2550795" h="1073785">
                <a:moveTo>
                  <a:pt x="247590" y="500003"/>
                </a:moveTo>
                <a:lnTo>
                  <a:pt x="261207" y="489112"/>
                </a:lnTo>
              </a:path>
              <a:path w="2550795" h="1073785">
                <a:moveTo>
                  <a:pt x="272100" y="478333"/>
                </a:moveTo>
                <a:lnTo>
                  <a:pt x="285716" y="467441"/>
                </a:lnTo>
              </a:path>
              <a:path w="2550795" h="1073785">
                <a:moveTo>
                  <a:pt x="296496" y="456549"/>
                </a:moveTo>
                <a:lnTo>
                  <a:pt x="310112" y="445658"/>
                </a:lnTo>
              </a:path>
              <a:path w="2550795" h="1073785">
                <a:moveTo>
                  <a:pt x="323729" y="434879"/>
                </a:moveTo>
                <a:lnTo>
                  <a:pt x="334622" y="423987"/>
                </a:lnTo>
              </a:path>
              <a:path w="2550795" h="1073785">
                <a:moveTo>
                  <a:pt x="348238" y="413096"/>
                </a:moveTo>
                <a:lnTo>
                  <a:pt x="359131" y="402204"/>
                </a:lnTo>
              </a:path>
              <a:path w="2550795" h="1073785">
                <a:moveTo>
                  <a:pt x="372748" y="391425"/>
                </a:moveTo>
                <a:lnTo>
                  <a:pt x="383641" y="380533"/>
                </a:lnTo>
              </a:path>
              <a:path w="2550795" h="1073785">
                <a:moveTo>
                  <a:pt x="397257" y="369642"/>
                </a:moveTo>
                <a:lnTo>
                  <a:pt x="411100" y="358750"/>
                </a:lnTo>
              </a:path>
              <a:path w="2550795" h="1073785">
                <a:moveTo>
                  <a:pt x="421993" y="347971"/>
                </a:moveTo>
                <a:lnTo>
                  <a:pt x="435610" y="337080"/>
                </a:lnTo>
              </a:path>
              <a:path w="2550795" h="1073785">
                <a:moveTo>
                  <a:pt x="446503" y="326188"/>
                </a:moveTo>
                <a:lnTo>
                  <a:pt x="460006" y="315296"/>
                </a:lnTo>
              </a:path>
              <a:path w="2550795" h="1073785">
                <a:moveTo>
                  <a:pt x="470899" y="304517"/>
                </a:moveTo>
                <a:lnTo>
                  <a:pt x="484515" y="293626"/>
                </a:lnTo>
              </a:path>
              <a:path w="2550795" h="1073785">
                <a:moveTo>
                  <a:pt x="495408" y="282734"/>
                </a:moveTo>
                <a:lnTo>
                  <a:pt x="509025" y="271842"/>
                </a:lnTo>
              </a:path>
              <a:path w="2550795" h="1073785">
                <a:moveTo>
                  <a:pt x="522641" y="261063"/>
                </a:moveTo>
                <a:lnTo>
                  <a:pt x="533534" y="250172"/>
                </a:lnTo>
              </a:path>
              <a:path w="2550795" h="1073785">
                <a:moveTo>
                  <a:pt x="547151" y="239280"/>
                </a:moveTo>
                <a:lnTo>
                  <a:pt x="558044" y="228388"/>
                </a:lnTo>
              </a:path>
              <a:path w="2550795" h="1073785">
                <a:moveTo>
                  <a:pt x="571547" y="217610"/>
                </a:moveTo>
                <a:lnTo>
                  <a:pt x="582440" y="206718"/>
                </a:lnTo>
              </a:path>
              <a:path w="2550795" h="1073785">
                <a:moveTo>
                  <a:pt x="596056" y="195826"/>
                </a:moveTo>
                <a:lnTo>
                  <a:pt x="609672" y="184934"/>
                </a:lnTo>
              </a:path>
              <a:path w="2550795" h="1073785">
                <a:moveTo>
                  <a:pt x="620565" y="174156"/>
                </a:moveTo>
                <a:lnTo>
                  <a:pt x="634182" y="163264"/>
                </a:lnTo>
              </a:path>
              <a:path w="2550795" h="1073785">
                <a:moveTo>
                  <a:pt x="645075" y="152372"/>
                </a:moveTo>
                <a:lnTo>
                  <a:pt x="658691" y="141480"/>
                </a:lnTo>
              </a:path>
              <a:path w="2550795" h="1073785">
                <a:moveTo>
                  <a:pt x="669584" y="130702"/>
                </a:moveTo>
                <a:lnTo>
                  <a:pt x="683201" y="119810"/>
                </a:lnTo>
              </a:path>
              <a:path w="2550795" h="1073785">
                <a:moveTo>
                  <a:pt x="693980" y="108918"/>
                </a:moveTo>
                <a:lnTo>
                  <a:pt x="707597" y="97799"/>
                </a:lnTo>
              </a:path>
              <a:path w="2550795" h="1073785">
                <a:moveTo>
                  <a:pt x="721213" y="86907"/>
                </a:moveTo>
                <a:lnTo>
                  <a:pt x="732106" y="76016"/>
                </a:lnTo>
              </a:path>
              <a:path w="2550795" h="1073785">
                <a:moveTo>
                  <a:pt x="745723" y="65237"/>
                </a:moveTo>
                <a:lnTo>
                  <a:pt x="756616" y="54345"/>
                </a:lnTo>
              </a:path>
              <a:path w="2550795" h="1073785">
                <a:moveTo>
                  <a:pt x="770232" y="43453"/>
                </a:moveTo>
                <a:lnTo>
                  <a:pt x="781125" y="32562"/>
                </a:lnTo>
              </a:path>
              <a:path w="2550795" h="1073785">
                <a:moveTo>
                  <a:pt x="794742" y="21783"/>
                </a:moveTo>
                <a:lnTo>
                  <a:pt x="808244" y="10891"/>
                </a:lnTo>
              </a:path>
              <a:path w="2550795" h="1073785">
                <a:moveTo>
                  <a:pt x="810968" y="54345"/>
                </a:moveTo>
                <a:lnTo>
                  <a:pt x="816414" y="2722"/>
                </a:lnTo>
                <a:lnTo>
                  <a:pt x="764786" y="0"/>
                </a:lnTo>
              </a:path>
              <a:path w="2550795" h="1073785">
                <a:moveTo>
                  <a:pt x="152389" y="869305"/>
                </a:moveTo>
                <a:lnTo>
                  <a:pt x="157836" y="885643"/>
                </a:lnTo>
              </a:path>
              <a:path w="2550795" h="1073785">
                <a:moveTo>
                  <a:pt x="166006" y="899258"/>
                </a:moveTo>
                <a:lnTo>
                  <a:pt x="171452" y="910036"/>
                </a:lnTo>
                <a:lnTo>
                  <a:pt x="174176" y="912759"/>
                </a:lnTo>
              </a:path>
              <a:path w="2550795" h="1073785">
                <a:moveTo>
                  <a:pt x="187678" y="923651"/>
                </a:moveTo>
                <a:lnTo>
                  <a:pt x="195848" y="929097"/>
                </a:lnTo>
                <a:lnTo>
                  <a:pt x="201295" y="931820"/>
                </a:lnTo>
              </a:path>
              <a:path w="2550795" h="1073785">
                <a:moveTo>
                  <a:pt x="214911" y="939989"/>
                </a:moveTo>
                <a:lnTo>
                  <a:pt x="228528" y="948158"/>
                </a:lnTo>
              </a:path>
              <a:path w="2550795" h="1073785">
                <a:moveTo>
                  <a:pt x="244867" y="953490"/>
                </a:moveTo>
                <a:lnTo>
                  <a:pt x="261207" y="958936"/>
                </a:lnTo>
              </a:path>
              <a:path w="2550795" h="1073785">
                <a:moveTo>
                  <a:pt x="274823" y="967105"/>
                </a:moveTo>
                <a:lnTo>
                  <a:pt x="291163" y="972551"/>
                </a:lnTo>
              </a:path>
              <a:path w="2550795" h="1073785">
                <a:moveTo>
                  <a:pt x="307389" y="977997"/>
                </a:moveTo>
                <a:lnTo>
                  <a:pt x="323729" y="983443"/>
                </a:lnTo>
              </a:path>
              <a:path w="2550795" h="1073785">
                <a:moveTo>
                  <a:pt x="307389" y="977997"/>
                </a:moveTo>
                <a:lnTo>
                  <a:pt x="323729" y="983443"/>
                </a:lnTo>
              </a:path>
              <a:path w="2550795" h="1073785">
                <a:moveTo>
                  <a:pt x="340068" y="988889"/>
                </a:moveTo>
                <a:lnTo>
                  <a:pt x="356408" y="991612"/>
                </a:lnTo>
              </a:path>
              <a:path w="2550795" h="1073785">
                <a:moveTo>
                  <a:pt x="372748" y="996944"/>
                </a:moveTo>
                <a:lnTo>
                  <a:pt x="383641" y="999667"/>
                </a:lnTo>
                <a:lnTo>
                  <a:pt x="389087" y="999667"/>
                </a:lnTo>
              </a:path>
              <a:path w="2550795" h="1073785">
                <a:moveTo>
                  <a:pt x="405654" y="1005113"/>
                </a:moveTo>
                <a:lnTo>
                  <a:pt x="421993" y="1007836"/>
                </a:lnTo>
              </a:path>
              <a:path w="2550795" h="1073785">
                <a:moveTo>
                  <a:pt x="438333" y="1010559"/>
                </a:moveTo>
                <a:lnTo>
                  <a:pt x="451949" y="1013282"/>
                </a:lnTo>
                <a:lnTo>
                  <a:pt x="454673" y="1013282"/>
                </a:lnTo>
              </a:path>
              <a:path w="2550795" h="1073785">
                <a:moveTo>
                  <a:pt x="470899" y="1016005"/>
                </a:moveTo>
                <a:lnTo>
                  <a:pt x="487239" y="1018728"/>
                </a:lnTo>
              </a:path>
              <a:path w="2550795" h="1073785">
                <a:moveTo>
                  <a:pt x="503578" y="1021451"/>
                </a:moveTo>
                <a:lnTo>
                  <a:pt x="519918" y="1026897"/>
                </a:lnTo>
              </a:path>
              <a:path w="2550795" h="1073785">
                <a:moveTo>
                  <a:pt x="536257" y="1029620"/>
                </a:moveTo>
                <a:lnTo>
                  <a:pt x="552597" y="1029620"/>
                </a:lnTo>
              </a:path>
              <a:path w="2550795" h="1073785">
                <a:moveTo>
                  <a:pt x="568937" y="1032342"/>
                </a:moveTo>
                <a:lnTo>
                  <a:pt x="585163" y="1035065"/>
                </a:lnTo>
              </a:path>
              <a:path w="2550795" h="1073785">
                <a:moveTo>
                  <a:pt x="601503" y="1037788"/>
                </a:moveTo>
                <a:lnTo>
                  <a:pt x="606949" y="1037788"/>
                </a:lnTo>
                <a:lnTo>
                  <a:pt x="617842" y="1040398"/>
                </a:lnTo>
              </a:path>
              <a:path w="2550795" h="1073785">
                <a:moveTo>
                  <a:pt x="634182" y="1040398"/>
                </a:moveTo>
                <a:lnTo>
                  <a:pt x="650521" y="1043121"/>
                </a:lnTo>
              </a:path>
              <a:path w="2550795" h="1073785">
                <a:moveTo>
                  <a:pt x="666861" y="1045844"/>
                </a:moveTo>
                <a:lnTo>
                  <a:pt x="683201" y="1048567"/>
                </a:lnTo>
              </a:path>
              <a:path w="2550795" h="1073785">
                <a:moveTo>
                  <a:pt x="699427" y="1048567"/>
                </a:moveTo>
                <a:lnTo>
                  <a:pt x="715767" y="1051630"/>
                </a:lnTo>
              </a:path>
              <a:path w="2550795" h="1073785">
                <a:moveTo>
                  <a:pt x="732106" y="1051630"/>
                </a:moveTo>
                <a:lnTo>
                  <a:pt x="748446" y="1054353"/>
                </a:lnTo>
              </a:path>
              <a:path w="2550795" h="1073785">
                <a:moveTo>
                  <a:pt x="764786" y="1054353"/>
                </a:moveTo>
                <a:lnTo>
                  <a:pt x="781125" y="1056963"/>
                </a:lnTo>
              </a:path>
              <a:path w="2550795" h="1073785">
                <a:moveTo>
                  <a:pt x="764786" y="1054353"/>
                </a:moveTo>
                <a:lnTo>
                  <a:pt x="781125" y="1056963"/>
                </a:lnTo>
              </a:path>
              <a:path w="2550795" h="1073785">
                <a:moveTo>
                  <a:pt x="797465" y="1059686"/>
                </a:moveTo>
                <a:lnTo>
                  <a:pt x="813691" y="1059686"/>
                </a:lnTo>
              </a:path>
              <a:path w="2550795" h="1073785">
                <a:moveTo>
                  <a:pt x="830031" y="1062409"/>
                </a:moveTo>
                <a:lnTo>
                  <a:pt x="846370" y="1062409"/>
                </a:lnTo>
              </a:path>
              <a:path w="2550795" h="1073785">
                <a:moveTo>
                  <a:pt x="862710" y="1065131"/>
                </a:moveTo>
                <a:lnTo>
                  <a:pt x="876326" y="1065131"/>
                </a:lnTo>
                <a:lnTo>
                  <a:pt x="879050" y="1065131"/>
                </a:lnTo>
              </a:path>
              <a:path w="2550795" h="1073785">
                <a:moveTo>
                  <a:pt x="895389" y="1065131"/>
                </a:moveTo>
                <a:lnTo>
                  <a:pt x="911729" y="1067854"/>
                </a:lnTo>
              </a:path>
              <a:path w="2550795" h="1073785">
                <a:moveTo>
                  <a:pt x="927955" y="1067854"/>
                </a:moveTo>
                <a:lnTo>
                  <a:pt x="944295" y="1067854"/>
                </a:lnTo>
              </a:path>
              <a:path w="2550795" h="1073785">
                <a:moveTo>
                  <a:pt x="960634" y="1070577"/>
                </a:moveTo>
                <a:lnTo>
                  <a:pt x="974251" y="1070577"/>
                </a:lnTo>
                <a:lnTo>
                  <a:pt x="976974" y="1070577"/>
                </a:lnTo>
              </a:path>
              <a:path w="2550795" h="1073785">
                <a:moveTo>
                  <a:pt x="993314" y="1070577"/>
                </a:moveTo>
                <a:lnTo>
                  <a:pt x="1009653" y="1070577"/>
                </a:lnTo>
              </a:path>
              <a:path w="2550795" h="1073785">
                <a:moveTo>
                  <a:pt x="1025993" y="1073300"/>
                </a:moveTo>
                <a:lnTo>
                  <a:pt x="1042219" y="1073300"/>
                </a:lnTo>
              </a:path>
              <a:path w="2550795" h="1073785">
                <a:moveTo>
                  <a:pt x="1058559" y="1073300"/>
                </a:moveTo>
                <a:lnTo>
                  <a:pt x="1072175" y="1073300"/>
                </a:lnTo>
                <a:lnTo>
                  <a:pt x="1074898" y="1073300"/>
                </a:lnTo>
              </a:path>
              <a:path w="2550795" h="1073785">
                <a:moveTo>
                  <a:pt x="1091465" y="1073300"/>
                </a:moveTo>
                <a:lnTo>
                  <a:pt x="1107805" y="1073300"/>
                </a:lnTo>
              </a:path>
              <a:path w="2550795" h="1073785">
                <a:moveTo>
                  <a:pt x="1124144" y="1073300"/>
                </a:moveTo>
                <a:lnTo>
                  <a:pt x="1140484" y="1073300"/>
                </a:lnTo>
              </a:path>
              <a:path w="2550795" h="1073785">
                <a:moveTo>
                  <a:pt x="1156823" y="1073300"/>
                </a:moveTo>
                <a:lnTo>
                  <a:pt x="1173163" y="1073300"/>
                </a:lnTo>
              </a:path>
              <a:path w="2550795" h="1073785">
                <a:moveTo>
                  <a:pt x="1189503" y="1073300"/>
                </a:moveTo>
                <a:lnTo>
                  <a:pt x="1205729" y="1073300"/>
                </a:lnTo>
              </a:path>
              <a:path w="2550795" h="1073785">
                <a:moveTo>
                  <a:pt x="1222069" y="1073300"/>
                </a:moveTo>
                <a:lnTo>
                  <a:pt x="1238408" y="1073300"/>
                </a:lnTo>
              </a:path>
              <a:path w="2550795" h="1073785">
                <a:moveTo>
                  <a:pt x="1254748" y="1073300"/>
                </a:moveTo>
                <a:lnTo>
                  <a:pt x="1262918" y="1073300"/>
                </a:lnTo>
                <a:lnTo>
                  <a:pt x="1271087" y="1073300"/>
                </a:lnTo>
              </a:path>
              <a:path w="2550795" h="1073785">
                <a:moveTo>
                  <a:pt x="1287427" y="1070577"/>
                </a:moveTo>
                <a:lnTo>
                  <a:pt x="1303767" y="1070577"/>
                </a:lnTo>
              </a:path>
              <a:path w="2550795" h="1073785">
                <a:moveTo>
                  <a:pt x="1319993" y="1070577"/>
                </a:moveTo>
                <a:lnTo>
                  <a:pt x="1336333" y="1067854"/>
                </a:lnTo>
              </a:path>
              <a:path w="2550795" h="1073785">
                <a:moveTo>
                  <a:pt x="1352672" y="1067854"/>
                </a:moveTo>
                <a:lnTo>
                  <a:pt x="1369012" y="1067854"/>
                </a:lnTo>
              </a:path>
              <a:path w="2550795" h="1073785">
                <a:moveTo>
                  <a:pt x="1385351" y="1065131"/>
                </a:moveTo>
                <a:lnTo>
                  <a:pt x="1401691" y="1065131"/>
                </a:lnTo>
              </a:path>
              <a:path w="2550795" h="1073785">
                <a:moveTo>
                  <a:pt x="1418031" y="1065131"/>
                </a:moveTo>
                <a:lnTo>
                  <a:pt x="1434257" y="1062409"/>
                </a:lnTo>
              </a:path>
              <a:path w="2550795" h="1073785">
                <a:moveTo>
                  <a:pt x="1450597" y="1062409"/>
                </a:moveTo>
                <a:lnTo>
                  <a:pt x="1466936" y="1059686"/>
                </a:lnTo>
              </a:path>
              <a:path w="2550795" h="1073785">
                <a:moveTo>
                  <a:pt x="1483276" y="1059686"/>
                </a:moveTo>
                <a:lnTo>
                  <a:pt x="1499616" y="1059686"/>
                </a:lnTo>
              </a:path>
              <a:path w="2550795" h="1073785">
                <a:moveTo>
                  <a:pt x="1515955" y="1056963"/>
                </a:moveTo>
                <a:lnTo>
                  <a:pt x="1526848" y="1056963"/>
                </a:lnTo>
                <a:lnTo>
                  <a:pt x="1532295" y="1056963"/>
                </a:lnTo>
              </a:path>
              <a:path w="2550795" h="1073785">
                <a:moveTo>
                  <a:pt x="1548521" y="1054353"/>
                </a:moveTo>
                <a:lnTo>
                  <a:pt x="1564861" y="1051630"/>
                </a:lnTo>
              </a:path>
              <a:path w="2550795" h="1073785">
                <a:moveTo>
                  <a:pt x="1581200" y="1048567"/>
                </a:moveTo>
                <a:lnTo>
                  <a:pt x="1597540" y="1045844"/>
                </a:lnTo>
              </a:path>
              <a:path w="2550795" h="1073785">
                <a:moveTo>
                  <a:pt x="1613880" y="1045844"/>
                </a:moveTo>
                <a:lnTo>
                  <a:pt x="1630219" y="1043121"/>
                </a:lnTo>
              </a:path>
              <a:path w="2550795" h="1073785">
                <a:moveTo>
                  <a:pt x="1646559" y="1040398"/>
                </a:moveTo>
                <a:lnTo>
                  <a:pt x="1662785" y="1037788"/>
                </a:lnTo>
              </a:path>
              <a:path w="2550795" h="1073785">
                <a:moveTo>
                  <a:pt x="1679125" y="1035065"/>
                </a:moveTo>
                <a:lnTo>
                  <a:pt x="1681848" y="1035065"/>
                </a:lnTo>
                <a:lnTo>
                  <a:pt x="1695464" y="1032342"/>
                </a:lnTo>
              </a:path>
              <a:path w="2550795" h="1073785">
                <a:moveTo>
                  <a:pt x="1711804" y="1029620"/>
                </a:moveTo>
                <a:lnTo>
                  <a:pt x="1728144" y="1026897"/>
                </a:lnTo>
              </a:path>
              <a:path w="2550795" h="1073785">
                <a:moveTo>
                  <a:pt x="1744483" y="1024174"/>
                </a:moveTo>
                <a:lnTo>
                  <a:pt x="1752653" y="1021451"/>
                </a:lnTo>
                <a:lnTo>
                  <a:pt x="1760823" y="1018728"/>
                </a:lnTo>
              </a:path>
              <a:path w="2550795" h="1073785">
                <a:moveTo>
                  <a:pt x="1777389" y="1016005"/>
                </a:moveTo>
                <a:lnTo>
                  <a:pt x="1793729" y="1010559"/>
                </a:lnTo>
              </a:path>
              <a:path w="2550795" h="1073785">
                <a:moveTo>
                  <a:pt x="1810069" y="1007836"/>
                </a:moveTo>
                <a:lnTo>
                  <a:pt x="1818125" y="1005113"/>
                </a:lnTo>
                <a:lnTo>
                  <a:pt x="1826295" y="1002390"/>
                </a:lnTo>
              </a:path>
              <a:path w="2550795" h="1073785">
                <a:moveTo>
                  <a:pt x="1842635" y="996944"/>
                </a:moveTo>
                <a:lnTo>
                  <a:pt x="1858974" y="994334"/>
                </a:lnTo>
              </a:path>
              <a:path w="2550795" h="1073785">
                <a:moveTo>
                  <a:pt x="1875314" y="988889"/>
                </a:moveTo>
                <a:lnTo>
                  <a:pt x="1891653" y="983443"/>
                </a:lnTo>
              </a:path>
              <a:path w="2550795" h="1073785">
                <a:moveTo>
                  <a:pt x="1907993" y="977997"/>
                </a:moveTo>
                <a:lnTo>
                  <a:pt x="1924333" y="972551"/>
                </a:lnTo>
              </a:path>
              <a:path w="2550795" h="1073785">
                <a:moveTo>
                  <a:pt x="1907993" y="977997"/>
                </a:moveTo>
                <a:lnTo>
                  <a:pt x="1924333" y="972551"/>
                </a:lnTo>
              </a:path>
              <a:path w="2550795" h="1073785">
                <a:moveTo>
                  <a:pt x="1937836" y="964382"/>
                </a:moveTo>
                <a:lnTo>
                  <a:pt x="1954175" y="958936"/>
                </a:lnTo>
              </a:path>
              <a:path w="2550795" h="1073785">
                <a:moveTo>
                  <a:pt x="1967792" y="950881"/>
                </a:moveTo>
                <a:lnTo>
                  <a:pt x="1981408" y="942712"/>
                </a:lnTo>
              </a:path>
              <a:path w="2550795" h="1073785">
                <a:moveTo>
                  <a:pt x="1995024" y="934543"/>
                </a:moveTo>
                <a:lnTo>
                  <a:pt x="1997748" y="931820"/>
                </a:lnTo>
                <a:lnTo>
                  <a:pt x="2008641" y="923651"/>
                </a:lnTo>
              </a:path>
              <a:path w="2550795" h="1073785">
                <a:moveTo>
                  <a:pt x="2022257" y="912759"/>
                </a:moveTo>
                <a:lnTo>
                  <a:pt x="2030427" y="899258"/>
                </a:lnTo>
              </a:path>
              <a:path w="2550795" h="1073785">
                <a:moveTo>
                  <a:pt x="2038597" y="885643"/>
                </a:moveTo>
                <a:lnTo>
                  <a:pt x="2041320" y="869305"/>
                </a:lnTo>
              </a:path>
              <a:path w="2550795" h="1073785">
                <a:moveTo>
                  <a:pt x="2038597" y="885643"/>
                </a:moveTo>
                <a:lnTo>
                  <a:pt x="2041320" y="869305"/>
                </a:lnTo>
              </a:path>
              <a:path w="2550795" h="1073785">
                <a:moveTo>
                  <a:pt x="2076609" y="907427"/>
                </a:moveTo>
                <a:lnTo>
                  <a:pt x="2041320" y="869305"/>
                </a:lnTo>
                <a:lnTo>
                  <a:pt x="2003194" y="907427"/>
                </a:lnTo>
              </a:path>
            </a:pathLst>
          </a:custGeom>
          <a:ln w="816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902088" y="6098069"/>
          <a:ext cx="1481453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152400"/>
                <a:gridCol w="304800"/>
                <a:gridCol w="155575"/>
                <a:gridCol w="304800"/>
                <a:gridCol w="152400"/>
                <a:gridCol w="51434"/>
                <a:gridCol w="52069"/>
              </a:tblGrid>
              <a:tr h="102870"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10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3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65" name="object 65"/>
          <p:cNvSpPr txBox="1"/>
          <p:nvPr/>
        </p:nvSpPr>
        <p:spPr>
          <a:xfrm>
            <a:off x="958760" y="5893692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0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3300033" y="5283053"/>
          <a:ext cx="1329688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505"/>
                <a:gridCol w="304800"/>
                <a:gridCol w="103504"/>
                <a:gridCol w="304800"/>
                <a:gridCol w="103505"/>
                <a:gridCol w="305434"/>
                <a:gridCol w="104140"/>
              </a:tblGrid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7" name="object 67"/>
          <p:cNvSpPr txBox="1"/>
          <p:nvPr/>
        </p:nvSpPr>
        <p:spPr>
          <a:xfrm>
            <a:off x="3356659" y="5078675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2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149001" y="5390334"/>
            <a:ext cx="615315" cy="565785"/>
          </a:xfrm>
          <a:custGeom>
            <a:avLst/>
            <a:gdLst/>
            <a:ahLst/>
            <a:cxnLst/>
            <a:rect l="l" t="t" r="r" b="b"/>
            <a:pathLst>
              <a:path w="615314" h="565785">
                <a:moveTo>
                  <a:pt x="615119" y="0"/>
                </a:moveTo>
                <a:lnTo>
                  <a:pt x="0" y="565162"/>
                </a:lnTo>
              </a:path>
            </a:pathLst>
          </a:custGeom>
          <a:ln w="81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1875189" y="5386253"/>
            <a:ext cx="1484630" cy="621030"/>
            <a:chOff x="1875189" y="5386253"/>
            <a:chExt cx="1484630" cy="621030"/>
          </a:xfrm>
        </p:grpSpPr>
        <p:sp>
          <p:nvSpPr>
            <p:cNvPr id="70" name="object 70"/>
            <p:cNvSpPr/>
            <p:nvPr/>
          </p:nvSpPr>
          <p:spPr>
            <a:xfrm>
              <a:off x="1935101" y="5390334"/>
              <a:ext cx="1421130" cy="584200"/>
            </a:xfrm>
            <a:custGeom>
              <a:avLst/>
              <a:gdLst/>
              <a:ahLst/>
              <a:cxnLst/>
              <a:rect l="l" t="t" r="r" b="b"/>
              <a:pathLst>
                <a:path w="1421129" h="584200">
                  <a:moveTo>
                    <a:pt x="1420641" y="0"/>
                  </a:moveTo>
                  <a:lnTo>
                    <a:pt x="0" y="584177"/>
                  </a:lnTo>
                </a:path>
              </a:pathLst>
            </a:custGeom>
            <a:ln w="8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875180" y="5922911"/>
              <a:ext cx="1304290" cy="84455"/>
            </a:xfrm>
            <a:custGeom>
              <a:avLst/>
              <a:gdLst/>
              <a:ahLst/>
              <a:cxnLst/>
              <a:rect l="l" t="t" r="r" b="b"/>
              <a:pathLst>
                <a:path w="1304289" h="84454">
                  <a:moveTo>
                    <a:pt x="81699" y="84188"/>
                  </a:moveTo>
                  <a:lnTo>
                    <a:pt x="54470" y="16294"/>
                  </a:lnTo>
                  <a:lnTo>
                    <a:pt x="0" y="78752"/>
                  </a:lnTo>
                  <a:lnTo>
                    <a:pt x="81699" y="84188"/>
                  </a:lnTo>
                  <a:close/>
                </a:path>
                <a:path w="1304289" h="84454">
                  <a:moveTo>
                    <a:pt x="1303769" y="54317"/>
                  </a:moveTo>
                  <a:lnTo>
                    <a:pt x="1254747" y="0"/>
                  </a:lnTo>
                  <a:lnTo>
                    <a:pt x="1224915" y="78752"/>
                  </a:lnTo>
                  <a:lnTo>
                    <a:pt x="1303769" y="543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3410" y="6098069"/>
            <a:ext cx="208212" cy="211850"/>
          </a:xfrm>
          <a:prstGeom prst="rect">
            <a:avLst/>
          </a:prstGeom>
        </p:spPr>
      </p:pic>
      <p:graphicFrame>
        <p:nvGraphicFramePr>
          <p:cNvPr id="73" name="object 73"/>
          <p:cNvGraphicFramePr>
            <a:graphicFrameLocks noGrp="1"/>
          </p:cNvGraphicFramePr>
          <p:nvPr/>
        </p:nvGraphicFramePr>
        <p:xfrm>
          <a:off x="2483618" y="6098069"/>
          <a:ext cx="1380490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340"/>
                <a:gridCol w="152400"/>
                <a:gridCol w="307975"/>
                <a:gridCol w="152400"/>
                <a:gridCol w="304800"/>
                <a:gridCol w="155575"/>
              </a:tblGrid>
              <a:tr h="2032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25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30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4" name="object 74"/>
          <p:cNvSpPr txBox="1"/>
          <p:nvPr/>
        </p:nvSpPr>
        <p:spPr>
          <a:xfrm>
            <a:off x="2540244" y="5893692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3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75" name="object 75"/>
          <p:cNvGraphicFramePr>
            <a:graphicFrameLocks noGrp="1"/>
          </p:cNvGraphicFramePr>
          <p:nvPr/>
        </p:nvGraphicFramePr>
        <p:xfrm>
          <a:off x="4067542" y="6098069"/>
          <a:ext cx="1478914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152400"/>
                <a:gridCol w="307340"/>
                <a:gridCol w="152400"/>
                <a:gridCol w="307975"/>
                <a:gridCol w="152400"/>
                <a:gridCol w="52069"/>
                <a:gridCol w="49530"/>
              </a:tblGrid>
              <a:tr h="102870">
                <a:tc rowSpan="2"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45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03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76" name="object 76"/>
          <p:cNvSpPr txBox="1"/>
          <p:nvPr/>
        </p:nvSpPr>
        <p:spPr>
          <a:xfrm>
            <a:off x="4121445" y="5893692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1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414171" y="6167331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0"/>
                </a:moveTo>
                <a:lnTo>
                  <a:pt x="0" y="73328"/>
                </a:lnTo>
                <a:lnTo>
                  <a:pt x="73528" y="380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79295" y="6167331"/>
            <a:ext cx="73660" cy="73660"/>
          </a:xfrm>
          <a:custGeom>
            <a:avLst/>
            <a:gdLst/>
            <a:ahLst/>
            <a:cxnLst/>
            <a:rect l="l" t="t" r="r" b="b"/>
            <a:pathLst>
              <a:path w="73660" h="73660">
                <a:moveTo>
                  <a:pt x="0" y="0"/>
                </a:moveTo>
                <a:lnTo>
                  <a:pt x="0" y="73328"/>
                </a:lnTo>
                <a:lnTo>
                  <a:pt x="73528" y="380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9" name="object 79"/>
          <p:cNvGraphicFramePr>
            <a:graphicFrameLocks noGrp="1"/>
          </p:cNvGraphicFramePr>
          <p:nvPr/>
        </p:nvGraphicFramePr>
        <p:xfrm>
          <a:off x="5673139" y="6098069"/>
          <a:ext cx="1481455" cy="2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152400"/>
                <a:gridCol w="304800"/>
                <a:gridCol w="155575"/>
                <a:gridCol w="304800"/>
                <a:gridCol w="152400"/>
                <a:gridCol w="103505"/>
              </a:tblGrid>
              <a:tr h="203200"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50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60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050" spc="-25" dirty="0">
                          <a:latin typeface="Arial MT"/>
                          <a:cs typeface="Arial MT"/>
                        </a:rPr>
                        <a:t>70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0" name="object 80"/>
          <p:cNvSpPr txBox="1"/>
          <p:nvPr/>
        </p:nvSpPr>
        <p:spPr>
          <a:xfrm>
            <a:off x="5729878" y="5893692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5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057074" y="5283006"/>
            <a:ext cx="417195" cy="212090"/>
            <a:chOff x="6057074" y="5283006"/>
            <a:chExt cx="417195" cy="212090"/>
          </a:xfrm>
        </p:grpSpPr>
        <p:sp>
          <p:nvSpPr>
            <p:cNvPr id="82" name="object 82"/>
            <p:cNvSpPr/>
            <p:nvPr/>
          </p:nvSpPr>
          <p:spPr>
            <a:xfrm>
              <a:off x="6061201" y="5287133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061201" y="5287133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0" y="203688"/>
                  </a:moveTo>
                  <a:lnTo>
                    <a:pt x="100662" y="203688"/>
                  </a:lnTo>
                  <a:lnTo>
                    <a:pt x="10066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161849" y="5287133"/>
              <a:ext cx="307975" cy="203835"/>
            </a:xfrm>
            <a:custGeom>
              <a:avLst/>
              <a:gdLst/>
              <a:ahLst/>
              <a:cxnLst/>
              <a:rect l="l" t="t" r="r" b="b"/>
              <a:pathLst>
                <a:path w="307975" h="203835">
                  <a:moveTo>
                    <a:pt x="307695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307695" y="203688"/>
                  </a:lnTo>
                  <a:lnTo>
                    <a:pt x="30769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161849" y="5287133"/>
              <a:ext cx="307975" cy="203835"/>
            </a:xfrm>
            <a:custGeom>
              <a:avLst/>
              <a:gdLst/>
              <a:ahLst/>
              <a:cxnLst/>
              <a:rect l="l" t="t" r="r" b="b"/>
              <a:pathLst>
                <a:path w="307975" h="203835">
                  <a:moveTo>
                    <a:pt x="0" y="203688"/>
                  </a:moveTo>
                  <a:lnTo>
                    <a:pt x="307695" y="203688"/>
                  </a:lnTo>
                  <a:lnTo>
                    <a:pt x="307695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6165944" y="5282364"/>
            <a:ext cx="29972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20"/>
              </a:spcBef>
            </a:pPr>
            <a:r>
              <a:rPr sz="1050" spc="-25" dirty="0">
                <a:latin typeface="Arial MT"/>
                <a:cs typeface="Arial MT"/>
              </a:rPr>
              <a:t>50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732925" y="5283053"/>
            <a:ext cx="2658110" cy="721360"/>
            <a:chOff x="4732925" y="5283053"/>
            <a:chExt cx="2658110" cy="721360"/>
          </a:xfrm>
        </p:grpSpPr>
        <p:sp>
          <p:nvSpPr>
            <p:cNvPr id="88" name="object 88"/>
            <p:cNvSpPr/>
            <p:nvPr/>
          </p:nvSpPr>
          <p:spPr>
            <a:xfrm>
              <a:off x="6469465" y="5287133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5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335912" y="5287133"/>
              <a:ext cx="1050925" cy="652145"/>
            </a:xfrm>
            <a:custGeom>
              <a:avLst/>
              <a:gdLst/>
              <a:ahLst/>
              <a:cxnLst/>
              <a:rect l="l" t="t" r="r" b="b"/>
              <a:pathLst>
                <a:path w="1050925" h="652145">
                  <a:moveTo>
                    <a:pt x="133553" y="203688"/>
                  </a:moveTo>
                  <a:lnTo>
                    <a:pt x="234216" y="203688"/>
                  </a:lnTo>
                  <a:lnTo>
                    <a:pt x="234216" y="0"/>
                  </a:lnTo>
                  <a:lnTo>
                    <a:pt x="133553" y="0"/>
                  </a:lnTo>
                  <a:lnTo>
                    <a:pt x="133553" y="203688"/>
                  </a:lnTo>
                  <a:close/>
                </a:path>
                <a:path w="1050925" h="652145">
                  <a:moveTo>
                    <a:pt x="234315" y="203688"/>
                  </a:moveTo>
                  <a:lnTo>
                    <a:pt x="541738" y="203688"/>
                  </a:lnTo>
                  <a:lnTo>
                    <a:pt x="541738" y="0"/>
                  </a:lnTo>
                  <a:lnTo>
                    <a:pt x="234315" y="0"/>
                  </a:lnTo>
                  <a:lnTo>
                    <a:pt x="234315" y="203688"/>
                  </a:lnTo>
                  <a:close/>
                </a:path>
                <a:path w="1050925" h="652145">
                  <a:moveTo>
                    <a:pt x="541704" y="203688"/>
                  </a:moveTo>
                  <a:lnTo>
                    <a:pt x="642366" y="203688"/>
                  </a:lnTo>
                  <a:lnTo>
                    <a:pt x="642366" y="0"/>
                  </a:lnTo>
                  <a:lnTo>
                    <a:pt x="541704" y="0"/>
                  </a:lnTo>
                  <a:lnTo>
                    <a:pt x="541704" y="203688"/>
                  </a:lnTo>
                  <a:close/>
                </a:path>
                <a:path w="1050925" h="652145">
                  <a:moveTo>
                    <a:pt x="642352" y="203688"/>
                  </a:moveTo>
                  <a:lnTo>
                    <a:pt x="950048" y="203688"/>
                  </a:lnTo>
                  <a:lnTo>
                    <a:pt x="950048" y="0"/>
                  </a:lnTo>
                  <a:lnTo>
                    <a:pt x="642352" y="0"/>
                  </a:lnTo>
                  <a:lnTo>
                    <a:pt x="642352" y="203688"/>
                  </a:lnTo>
                  <a:close/>
                </a:path>
                <a:path w="1050925" h="652145">
                  <a:moveTo>
                    <a:pt x="950082" y="203688"/>
                  </a:moveTo>
                  <a:lnTo>
                    <a:pt x="1050744" y="203688"/>
                  </a:lnTo>
                  <a:lnTo>
                    <a:pt x="1050744" y="0"/>
                  </a:lnTo>
                  <a:lnTo>
                    <a:pt x="950082" y="0"/>
                  </a:lnTo>
                  <a:lnTo>
                    <a:pt x="950082" y="203688"/>
                  </a:lnTo>
                  <a:close/>
                </a:path>
                <a:path w="1050925" h="652145">
                  <a:moveTo>
                    <a:pt x="185296" y="103200"/>
                  </a:moveTo>
                  <a:lnTo>
                    <a:pt x="0" y="652069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303232" y="5920188"/>
              <a:ext cx="71120" cy="81915"/>
            </a:xfrm>
            <a:custGeom>
              <a:avLst/>
              <a:gdLst/>
              <a:ahLst/>
              <a:cxnLst/>
              <a:rect l="l" t="t" r="r" b="b"/>
              <a:pathLst>
                <a:path w="71120" h="81914">
                  <a:moveTo>
                    <a:pt x="0" y="0"/>
                  </a:moveTo>
                  <a:lnTo>
                    <a:pt x="13616" y="81473"/>
                  </a:lnTo>
                  <a:lnTo>
                    <a:pt x="70805" y="21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792837" y="5390334"/>
              <a:ext cx="1320165" cy="584200"/>
            </a:xfrm>
            <a:custGeom>
              <a:avLst/>
              <a:gdLst/>
              <a:ahLst/>
              <a:cxnLst/>
              <a:rect l="l" t="t" r="r" b="b"/>
              <a:pathLst>
                <a:path w="1320164" h="584200">
                  <a:moveTo>
                    <a:pt x="1319993" y="0"/>
                  </a:moveTo>
                  <a:lnTo>
                    <a:pt x="0" y="584177"/>
                  </a:lnTo>
                </a:path>
              </a:pathLst>
            </a:custGeom>
            <a:ln w="8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732925" y="5936492"/>
              <a:ext cx="81915" cy="67945"/>
            </a:xfrm>
            <a:custGeom>
              <a:avLst/>
              <a:gdLst/>
              <a:ahLst/>
              <a:cxnLst/>
              <a:rect l="l" t="t" r="r" b="b"/>
              <a:pathLst>
                <a:path w="81914" h="67945">
                  <a:moveTo>
                    <a:pt x="51742" y="0"/>
                  </a:moveTo>
                  <a:lnTo>
                    <a:pt x="0" y="65169"/>
                  </a:lnTo>
                  <a:lnTo>
                    <a:pt x="81698" y="67892"/>
                  </a:lnTo>
                  <a:lnTo>
                    <a:pt x="517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6113746" y="5078675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6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4679892" y="4468023"/>
            <a:ext cx="109220" cy="212090"/>
            <a:chOff x="4679892" y="4468023"/>
            <a:chExt cx="109220" cy="212090"/>
          </a:xfrm>
        </p:grpSpPr>
        <p:sp>
          <p:nvSpPr>
            <p:cNvPr id="95" name="object 95"/>
            <p:cNvSpPr/>
            <p:nvPr/>
          </p:nvSpPr>
          <p:spPr>
            <a:xfrm>
              <a:off x="4684019" y="4472151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662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662" y="203688"/>
                  </a:lnTo>
                  <a:lnTo>
                    <a:pt x="10066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684019" y="4472151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0" y="203688"/>
                  </a:moveTo>
                  <a:lnTo>
                    <a:pt x="100662" y="203688"/>
                  </a:lnTo>
                  <a:lnTo>
                    <a:pt x="100662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4784674" y="4472151"/>
            <a:ext cx="307975" cy="203835"/>
          </a:xfrm>
          <a:prstGeom prst="rect">
            <a:avLst/>
          </a:prstGeom>
          <a:solidFill>
            <a:srgbClr val="FFFF00"/>
          </a:solidFill>
          <a:ln w="8195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80"/>
              </a:spcBef>
            </a:pPr>
            <a:r>
              <a:rPr sz="1050" spc="-25" dirty="0">
                <a:latin typeface="Arial MT"/>
                <a:cs typeface="Arial MT"/>
              </a:rPr>
              <a:t>40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4733841" y="4263681"/>
            <a:ext cx="4057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dirty="0">
                <a:latin typeface="Arial MT"/>
                <a:cs typeface="Arial MT"/>
              </a:rPr>
              <a:t>Bloc</a:t>
            </a:r>
            <a:r>
              <a:rPr sz="1050" spc="40" dirty="0">
                <a:latin typeface="Arial MT"/>
                <a:cs typeface="Arial MT"/>
              </a:rPr>
              <a:t> </a:t>
            </a:r>
            <a:r>
              <a:rPr sz="1050" spc="-50" dirty="0">
                <a:latin typeface="Arial MT"/>
                <a:cs typeface="Arial MT"/>
              </a:rPr>
              <a:t>7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968252" y="4571236"/>
            <a:ext cx="768985" cy="615950"/>
            <a:chOff x="3968252" y="4571236"/>
            <a:chExt cx="768985" cy="615950"/>
          </a:xfrm>
        </p:grpSpPr>
        <p:sp>
          <p:nvSpPr>
            <p:cNvPr id="100" name="object 100"/>
            <p:cNvSpPr/>
            <p:nvPr/>
          </p:nvSpPr>
          <p:spPr>
            <a:xfrm>
              <a:off x="4017157" y="4575317"/>
              <a:ext cx="716280" cy="570865"/>
            </a:xfrm>
            <a:custGeom>
              <a:avLst/>
              <a:gdLst/>
              <a:ahLst/>
              <a:cxnLst/>
              <a:rect l="l" t="t" r="r" b="b"/>
              <a:pathLst>
                <a:path w="716279" h="570864">
                  <a:moveTo>
                    <a:pt x="715767" y="0"/>
                  </a:moveTo>
                  <a:lnTo>
                    <a:pt x="0" y="570574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968252" y="5110606"/>
              <a:ext cx="81915" cy="76200"/>
            </a:xfrm>
            <a:custGeom>
              <a:avLst/>
              <a:gdLst/>
              <a:ahLst/>
              <a:cxnLst/>
              <a:rect l="l" t="t" r="r" b="b"/>
              <a:pathLst>
                <a:path w="81914" h="76200">
                  <a:moveTo>
                    <a:pt x="35289" y="0"/>
                  </a:moveTo>
                  <a:lnTo>
                    <a:pt x="0" y="76016"/>
                  </a:lnTo>
                  <a:lnTo>
                    <a:pt x="81584" y="57068"/>
                  </a:lnTo>
                  <a:lnTo>
                    <a:pt x="3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2" name="object 102"/>
          <p:cNvGrpSpPr/>
          <p:nvPr/>
        </p:nvGrpSpPr>
        <p:grpSpPr>
          <a:xfrm>
            <a:off x="5087975" y="4468070"/>
            <a:ext cx="1686560" cy="727075"/>
            <a:chOff x="5087975" y="4468070"/>
            <a:chExt cx="1686560" cy="727075"/>
          </a:xfrm>
        </p:grpSpPr>
        <p:sp>
          <p:nvSpPr>
            <p:cNvPr id="103" name="object 103"/>
            <p:cNvSpPr/>
            <p:nvPr/>
          </p:nvSpPr>
          <p:spPr>
            <a:xfrm>
              <a:off x="5092056" y="4472151"/>
              <a:ext cx="100965" cy="203835"/>
            </a:xfrm>
            <a:custGeom>
              <a:avLst/>
              <a:gdLst/>
              <a:ahLst/>
              <a:cxnLst/>
              <a:rect l="l" t="t" r="r" b="b"/>
              <a:pathLst>
                <a:path w="100964" h="203835">
                  <a:moveTo>
                    <a:pt x="100933" y="0"/>
                  </a:moveTo>
                  <a:lnTo>
                    <a:pt x="0" y="0"/>
                  </a:lnTo>
                  <a:lnTo>
                    <a:pt x="0" y="203688"/>
                  </a:lnTo>
                  <a:lnTo>
                    <a:pt x="100933" y="203688"/>
                  </a:lnTo>
                  <a:lnTo>
                    <a:pt x="1009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092056" y="4472151"/>
              <a:ext cx="1622425" cy="690245"/>
            </a:xfrm>
            <a:custGeom>
              <a:avLst/>
              <a:gdLst/>
              <a:ahLst/>
              <a:cxnLst/>
              <a:rect l="l" t="t" r="r" b="b"/>
              <a:pathLst>
                <a:path w="1622425" h="690245">
                  <a:moveTo>
                    <a:pt x="0" y="203688"/>
                  </a:moveTo>
                  <a:lnTo>
                    <a:pt x="100933" y="203688"/>
                  </a:lnTo>
                  <a:lnTo>
                    <a:pt x="100933" y="0"/>
                  </a:lnTo>
                  <a:lnTo>
                    <a:pt x="0" y="0"/>
                  </a:lnTo>
                  <a:lnTo>
                    <a:pt x="0" y="203688"/>
                  </a:lnTo>
                  <a:close/>
                </a:path>
                <a:path w="1622425" h="690245">
                  <a:moveTo>
                    <a:pt x="100988" y="203688"/>
                  </a:moveTo>
                  <a:lnTo>
                    <a:pt x="408411" y="203688"/>
                  </a:lnTo>
                  <a:lnTo>
                    <a:pt x="408411" y="0"/>
                  </a:lnTo>
                  <a:lnTo>
                    <a:pt x="100988" y="0"/>
                  </a:lnTo>
                  <a:lnTo>
                    <a:pt x="100988" y="203688"/>
                  </a:lnTo>
                  <a:close/>
                </a:path>
                <a:path w="1622425" h="690245">
                  <a:moveTo>
                    <a:pt x="408377" y="203688"/>
                  </a:moveTo>
                  <a:lnTo>
                    <a:pt x="509038" y="203688"/>
                  </a:lnTo>
                  <a:lnTo>
                    <a:pt x="509038" y="0"/>
                  </a:lnTo>
                  <a:lnTo>
                    <a:pt x="408377" y="0"/>
                  </a:lnTo>
                  <a:lnTo>
                    <a:pt x="408377" y="203688"/>
                  </a:lnTo>
                  <a:close/>
                </a:path>
                <a:path w="1622425" h="690245">
                  <a:moveTo>
                    <a:pt x="509025" y="203688"/>
                  </a:moveTo>
                  <a:lnTo>
                    <a:pt x="816721" y="203688"/>
                  </a:lnTo>
                  <a:lnTo>
                    <a:pt x="816721" y="0"/>
                  </a:lnTo>
                  <a:lnTo>
                    <a:pt x="509025" y="0"/>
                  </a:lnTo>
                  <a:lnTo>
                    <a:pt x="509025" y="203688"/>
                  </a:lnTo>
                  <a:close/>
                </a:path>
                <a:path w="1622425" h="690245">
                  <a:moveTo>
                    <a:pt x="816755" y="203688"/>
                  </a:moveTo>
                  <a:lnTo>
                    <a:pt x="917416" y="203688"/>
                  </a:lnTo>
                  <a:lnTo>
                    <a:pt x="917416" y="0"/>
                  </a:lnTo>
                  <a:lnTo>
                    <a:pt x="816755" y="0"/>
                  </a:lnTo>
                  <a:lnTo>
                    <a:pt x="816755" y="203688"/>
                  </a:lnTo>
                  <a:close/>
                </a:path>
                <a:path w="1622425" h="690245">
                  <a:moveTo>
                    <a:pt x="49245" y="103166"/>
                  </a:moveTo>
                  <a:lnTo>
                    <a:pt x="1622276" y="690078"/>
                  </a:lnTo>
                </a:path>
              </a:pathLst>
            </a:custGeom>
            <a:ln w="81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692547" y="5124221"/>
              <a:ext cx="81915" cy="71120"/>
            </a:xfrm>
            <a:custGeom>
              <a:avLst/>
              <a:gdLst/>
              <a:ahLst/>
              <a:cxnLst/>
              <a:rect l="l" t="t" r="r" b="b"/>
              <a:pathLst>
                <a:path w="81915" h="71120">
                  <a:moveTo>
                    <a:pt x="27232" y="0"/>
                  </a:moveTo>
                  <a:lnTo>
                    <a:pt x="0" y="70570"/>
                  </a:lnTo>
                  <a:lnTo>
                    <a:pt x="81698" y="62401"/>
                  </a:lnTo>
                  <a:lnTo>
                    <a:pt x="27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702123" y="3964012"/>
            <a:ext cx="7953375" cy="304800"/>
            <a:chOff x="702123" y="3964012"/>
            <a:chExt cx="7953375" cy="304800"/>
          </a:xfrm>
        </p:grpSpPr>
        <p:sp>
          <p:nvSpPr>
            <p:cNvPr id="107" name="object 107"/>
            <p:cNvSpPr/>
            <p:nvPr/>
          </p:nvSpPr>
          <p:spPr>
            <a:xfrm>
              <a:off x="4988685" y="3964012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h="204470">
                  <a:moveTo>
                    <a:pt x="0" y="0"/>
                  </a:moveTo>
                  <a:lnTo>
                    <a:pt x="0" y="203881"/>
                  </a:lnTo>
                </a:path>
              </a:pathLst>
            </a:custGeom>
            <a:ln w="816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953283" y="4159839"/>
              <a:ext cx="73660" cy="108585"/>
            </a:xfrm>
            <a:custGeom>
              <a:avLst/>
              <a:gdLst/>
              <a:ahLst/>
              <a:cxnLst/>
              <a:rect l="l" t="t" r="r" b="b"/>
              <a:pathLst>
                <a:path w="73660" h="108585">
                  <a:moveTo>
                    <a:pt x="73528" y="0"/>
                  </a:moveTo>
                  <a:lnTo>
                    <a:pt x="0" y="0"/>
                  </a:lnTo>
                  <a:lnTo>
                    <a:pt x="35402" y="108578"/>
                  </a:lnTo>
                  <a:lnTo>
                    <a:pt x="735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02123" y="4064762"/>
              <a:ext cx="7953375" cy="0"/>
            </a:xfrm>
            <a:custGeom>
              <a:avLst/>
              <a:gdLst/>
              <a:ahLst/>
              <a:cxnLst/>
              <a:rect l="l" t="t" r="r" b="b"/>
              <a:pathLst>
                <a:path w="7953375">
                  <a:moveTo>
                    <a:pt x="0" y="0"/>
                  </a:moveTo>
                  <a:lnTo>
                    <a:pt x="7952882" y="0"/>
                  </a:lnTo>
                </a:path>
              </a:pathLst>
            </a:custGeom>
            <a:ln w="81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557" y="635888"/>
            <a:ext cx="51073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fusion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en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cascade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5492" y="3159605"/>
            <a:ext cx="3296285" cy="662305"/>
          </a:xfrm>
          <a:custGeom>
            <a:avLst/>
            <a:gdLst/>
            <a:ahLst/>
            <a:cxnLst/>
            <a:rect l="l" t="t" r="r" b="b"/>
            <a:pathLst>
              <a:path w="3296285" h="662304">
                <a:moveTo>
                  <a:pt x="266281" y="662024"/>
                </a:moveTo>
                <a:lnTo>
                  <a:pt x="3029423" y="662024"/>
                </a:lnTo>
                <a:lnTo>
                  <a:pt x="3080464" y="656471"/>
                </a:lnTo>
                <a:lnTo>
                  <a:pt x="3131387" y="642292"/>
                </a:lnTo>
                <a:lnTo>
                  <a:pt x="3176757" y="616771"/>
                </a:lnTo>
                <a:lnTo>
                  <a:pt x="3216337" y="585696"/>
                </a:lnTo>
                <a:lnTo>
                  <a:pt x="3250365" y="546114"/>
                </a:lnTo>
                <a:lnTo>
                  <a:pt x="3275885" y="498024"/>
                </a:lnTo>
                <a:lnTo>
                  <a:pt x="3290063" y="449935"/>
                </a:lnTo>
                <a:lnTo>
                  <a:pt x="3295735" y="399010"/>
                </a:lnTo>
                <a:lnTo>
                  <a:pt x="3295735" y="265849"/>
                </a:lnTo>
                <a:lnTo>
                  <a:pt x="3290063" y="212088"/>
                </a:lnTo>
                <a:lnTo>
                  <a:pt x="3275885" y="163999"/>
                </a:lnTo>
                <a:lnTo>
                  <a:pt x="3250365" y="118746"/>
                </a:lnTo>
                <a:lnTo>
                  <a:pt x="3216337" y="76328"/>
                </a:lnTo>
                <a:lnTo>
                  <a:pt x="3176757" y="45253"/>
                </a:lnTo>
                <a:lnTo>
                  <a:pt x="3131387" y="19731"/>
                </a:lnTo>
                <a:lnTo>
                  <a:pt x="3080464" y="5671"/>
                </a:lnTo>
                <a:lnTo>
                  <a:pt x="3029423" y="0"/>
                </a:lnTo>
                <a:lnTo>
                  <a:pt x="266281" y="0"/>
                </a:lnTo>
                <a:lnTo>
                  <a:pt x="215299" y="5671"/>
                </a:lnTo>
                <a:lnTo>
                  <a:pt x="164306" y="19731"/>
                </a:lnTo>
                <a:lnTo>
                  <a:pt x="118983" y="45253"/>
                </a:lnTo>
                <a:lnTo>
                  <a:pt x="79320" y="76328"/>
                </a:lnTo>
                <a:lnTo>
                  <a:pt x="45324" y="118746"/>
                </a:lnTo>
                <a:lnTo>
                  <a:pt x="22662" y="163999"/>
                </a:lnTo>
                <a:lnTo>
                  <a:pt x="5665" y="212088"/>
                </a:lnTo>
                <a:lnTo>
                  <a:pt x="0" y="265849"/>
                </a:lnTo>
                <a:lnTo>
                  <a:pt x="0" y="399010"/>
                </a:lnTo>
                <a:lnTo>
                  <a:pt x="5665" y="449935"/>
                </a:lnTo>
                <a:lnTo>
                  <a:pt x="22662" y="498024"/>
                </a:lnTo>
                <a:lnTo>
                  <a:pt x="45324" y="546114"/>
                </a:lnTo>
                <a:lnTo>
                  <a:pt x="79320" y="585696"/>
                </a:lnTo>
                <a:lnTo>
                  <a:pt x="118983" y="616771"/>
                </a:lnTo>
                <a:lnTo>
                  <a:pt x="164306" y="642292"/>
                </a:lnTo>
                <a:lnTo>
                  <a:pt x="215299" y="656471"/>
                </a:lnTo>
                <a:lnTo>
                  <a:pt x="266281" y="662024"/>
                </a:lnTo>
                <a:close/>
              </a:path>
            </a:pathLst>
          </a:custGeom>
          <a:ln w="141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01394" y="3605135"/>
            <a:ext cx="147383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Fusion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deux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frères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9316" y="3397133"/>
            <a:ext cx="320675" cy="212725"/>
          </a:xfrm>
          <a:prstGeom prst="rect">
            <a:avLst/>
          </a:prstGeom>
          <a:solidFill>
            <a:srgbClr val="C0C0C0"/>
          </a:solidFill>
          <a:ln w="849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80"/>
              </a:spcBef>
            </a:pPr>
            <a:r>
              <a:rPr sz="1100" spc="-25" dirty="0"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54976" y="3392688"/>
            <a:ext cx="1230630" cy="221615"/>
            <a:chOff x="1554976" y="3392688"/>
            <a:chExt cx="1230630" cy="221615"/>
          </a:xfrm>
        </p:grpSpPr>
        <p:sp>
          <p:nvSpPr>
            <p:cNvPr id="7" name="object 7"/>
            <p:cNvSpPr/>
            <p:nvPr/>
          </p:nvSpPr>
          <p:spPr>
            <a:xfrm>
              <a:off x="1559421" y="3397133"/>
              <a:ext cx="159385" cy="212725"/>
            </a:xfrm>
            <a:custGeom>
              <a:avLst/>
              <a:gdLst/>
              <a:ahLst/>
              <a:cxnLst/>
              <a:rect l="l" t="t" r="r" b="b"/>
              <a:pathLst>
                <a:path w="159385" h="212725">
                  <a:moveTo>
                    <a:pt x="158924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58924" y="212407"/>
                  </a:lnTo>
                  <a:lnTo>
                    <a:pt x="158924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59421" y="3397133"/>
              <a:ext cx="159385" cy="212725"/>
            </a:xfrm>
            <a:custGeom>
              <a:avLst/>
              <a:gdLst/>
              <a:ahLst/>
              <a:cxnLst/>
              <a:rect l="l" t="t" r="r" b="b"/>
              <a:pathLst>
                <a:path w="159385" h="212725">
                  <a:moveTo>
                    <a:pt x="0" y="212407"/>
                  </a:moveTo>
                  <a:lnTo>
                    <a:pt x="158924" y="212407"/>
                  </a:lnTo>
                  <a:lnTo>
                    <a:pt x="158924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73287" y="3397133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07647" y="212407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73287" y="3397133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407"/>
                  </a:moveTo>
                  <a:lnTo>
                    <a:pt x="107647" y="212407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4600" y="3180603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8346" y="3397133"/>
            <a:ext cx="317500" cy="212725"/>
          </a:xfrm>
          <a:prstGeom prst="rect">
            <a:avLst/>
          </a:prstGeom>
          <a:solidFill>
            <a:srgbClr val="C0C0C0"/>
          </a:solidFill>
          <a:ln w="849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80"/>
              </a:spcBef>
            </a:pPr>
            <a:r>
              <a:rPr sz="1100" spc="-25" dirty="0">
                <a:latin typeface="Arial MT"/>
                <a:cs typeface="Arial MT"/>
              </a:rPr>
              <a:t>20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31182" y="2543907"/>
            <a:ext cx="647065" cy="1070610"/>
            <a:chOff x="2031182" y="2543907"/>
            <a:chExt cx="647065" cy="1070610"/>
          </a:xfrm>
        </p:grpSpPr>
        <p:sp>
          <p:nvSpPr>
            <p:cNvPr id="14" name="object 14"/>
            <p:cNvSpPr/>
            <p:nvPr/>
          </p:nvSpPr>
          <p:spPr>
            <a:xfrm>
              <a:off x="2035627" y="3397133"/>
              <a:ext cx="161925" cy="212725"/>
            </a:xfrm>
            <a:custGeom>
              <a:avLst/>
              <a:gdLst/>
              <a:ahLst/>
              <a:cxnLst/>
              <a:rect l="l" t="t" r="r" b="b"/>
              <a:pathLst>
                <a:path w="161925" h="212725">
                  <a:moveTo>
                    <a:pt x="161476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61476" y="212407"/>
                  </a:lnTo>
                  <a:lnTo>
                    <a:pt x="16147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35627" y="3397133"/>
              <a:ext cx="161925" cy="212725"/>
            </a:xfrm>
            <a:custGeom>
              <a:avLst/>
              <a:gdLst/>
              <a:ahLst/>
              <a:cxnLst/>
              <a:rect l="l" t="t" r="r" b="b"/>
              <a:pathLst>
                <a:path w="161925" h="212725">
                  <a:moveTo>
                    <a:pt x="0" y="212407"/>
                  </a:moveTo>
                  <a:lnTo>
                    <a:pt x="161476" y="212407"/>
                  </a:lnTo>
                  <a:lnTo>
                    <a:pt x="161476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97092" y="3397133"/>
              <a:ext cx="318135" cy="212725"/>
            </a:xfrm>
            <a:custGeom>
              <a:avLst/>
              <a:gdLst/>
              <a:ahLst/>
              <a:cxnLst/>
              <a:rect l="l" t="t" r="r" b="b"/>
              <a:pathLst>
                <a:path w="318135" h="212725">
                  <a:moveTo>
                    <a:pt x="317565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317565" y="212407"/>
                  </a:lnTo>
                  <a:lnTo>
                    <a:pt x="317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97092" y="3397133"/>
              <a:ext cx="318135" cy="212725"/>
            </a:xfrm>
            <a:custGeom>
              <a:avLst/>
              <a:gdLst/>
              <a:ahLst/>
              <a:cxnLst/>
              <a:rect l="l" t="t" r="r" b="b"/>
              <a:pathLst>
                <a:path w="318135" h="212725">
                  <a:moveTo>
                    <a:pt x="0" y="212407"/>
                  </a:moveTo>
                  <a:lnTo>
                    <a:pt x="317565" y="212407"/>
                  </a:lnTo>
                  <a:lnTo>
                    <a:pt x="317565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14610" y="3397133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158640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58640" y="212407"/>
                  </a:lnTo>
                  <a:lnTo>
                    <a:pt x="15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14610" y="3397133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0" y="212407"/>
                  </a:moveTo>
                  <a:lnTo>
                    <a:pt x="158640" y="212407"/>
                  </a:lnTo>
                  <a:lnTo>
                    <a:pt x="158640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1904" y="2548352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647" y="212124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1904" y="2548352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124"/>
                  </a:moveTo>
                  <a:lnTo>
                    <a:pt x="107647" y="212124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09563" y="2548352"/>
            <a:ext cx="318135" cy="212725"/>
          </a:xfrm>
          <a:prstGeom prst="rect">
            <a:avLst/>
          </a:prstGeom>
          <a:solidFill>
            <a:srgbClr val="FFFF00"/>
          </a:solidFill>
          <a:ln w="8522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0"/>
              </a:spcBef>
            </a:pPr>
            <a:r>
              <a:rPr sz="1100" spc="-25" dirty="0">
                <a:latin typeface="Arial MT"/>
                <a:cs typeface="Arial MT"/>
              </a:rPr>
              <a:t>25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22718" y="2543907"/>
            <a:ext cx="967105" cy="221615"/>
            <a:chOff x="2722718" y="2543907"/>
            <a:chExt cx="967105" cy="221615"/>
          </a:xfrm>
        </p:grpSpPr>
        <p:sp>
          <p:nvSpPr>
            <p:cNvPr id="24" name="object 24"/>
            <p:cNvSpPr/>
            <p:nvPr/>
          </p:nvSpPr>
          <p:spPr>
            <a:xfrm>
              <a:off x="2727163" y="2548352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647" y="212124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27163" y="2548352"/>
              <a:ext cx="958215" cy="212725"/>
            </a:xfrm>
            <a:custGeom>
              <a:avLst/>
              <a:gdLst/>
              <a:ahLst/>
              <a:cxnLst/>
              <a:rect l="l" t="t" r="r" b="b"/>
              <a:pathLst>
                <a:path w="958214" h="212725">
                  <a:moveTo>
                    <a:pt x="0" y="212124"/>
                  </a:moveTo>
                  <a:lnTo>
                    <a:pt x="107647" y="212124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  <a:path w="958214" h="212725">
                  <a:moveTo>
                    <a:pt x="107635" y="212124"/>
                  </a:moveTo>
                  <a:lnTo>
                    <a:pt x="424916" y="212124"/>
                  </a:lnTo>
                  <a:lnTo>
                    <a:pt x="424916" y="0"/>
                  </a:lnTo>
                  <a:lnTo>
                    <a:pt x="107635" y="0"/>
                  </a:lnTo>
                  <a:lnTo>
                    <a:pt x="107635" y="212124"/>
                  </a:lnTo>
                  <a:close/>
                </a:path>
                <a:path w="958214" h="212725">
                  <a:moveTo>
                    <a:pt x="424869" y="212124"/>
                  </a:moveTo>
                  <a:lnTo>
                    <a:pt x="532516" y="212124"/>
                  </a:lnTo>
                  <a:lnTo>
                    <a:pt x="532516" y="0"/>
                  </a:lnTo>
                  <a:lnTo>
                    <a:pt x="424869" y="0"/>
                  </a:lnTo>
                  <a:lnTo>
                    <a:pt x="424869" y="212124"/>
                  </a:lnTo>
                  <a:close/>
                </a:path>
                <a:path w="958214" h="212725">
                  <a:moveTo>
                    <a:pt x="532504" y="212124"/>
                  </a:moveTo>
                  <a:lnTo>
                    <a:pt x="850070" y="212124"/>
                  </a:lnTo>
                  <a:lnTo>
                    <a:pt x="850070" y="0"/>
                  </a:lnTo>
                  <a:lnTo>
                    <a:pt x="532504" y="0"/>
                  </a:lnTo>
                  <a:lnTo>
                    <a:pt x="532504" y="212124"/>
                  </a:lnTo>
                  <a:close/>
                </a:path>
                <a:path w="958214" h="212725">
                  <a:moveTo>
                    <a:pt x="850093" y="212124"/>
                  </a:moveTo>
                  <a:lnTo>
                    <a:pt x="957740" y="212124"/>
                  </a:lnTo>
                  <a:lnTo>
                    <a:pt x="957740" y="0"/>
                  </a:lnTo>
                  <a:lnTo>
                    <a:pt x="850093" y="0"/>
                  </a:lnTo>
                  <a:lnTo>
                    <a:pt x="850093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357176" y="2331775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76987" y="2651464"/>
            <a:ext cx="2658110" cy="962660"/>
            <a:chOff x="1876987" y="2651464"/>
            <a:chExt cx="2658110" cy="962660"/>
          </a:xfrm>
        </p:grpSpPr>
        <p:sp>
          <p:nvSpPr>
            <p:cNvPr id="28" name="object 28"/>
            <p:cNvSpPr/>
            <p:nvPr/>
          </p:nvSpPr>
          <p:spPr>
            <a:xfrm>
              <a:off x="1916638" y="2655909"/>
              <a:ext cx="439420" cy="582930"/>
            </a:xfrm>
            <a:custGeom>
              <a:avLst/>
              <a:gdLst/>
              <a:ahLst/>
              <a:cxnLst/>
              <a:rect l="l" t="t" r="r" b="b"/>
              <a:pathLst>
                <a:path w="439419" h="582930">
                  <a:moveTo>
                    <a:pt x="439059" y="0"/>
                  </a:moveTo>
                  <a:lnTo>
                    <a:pt x="0" y="582860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76987" y="3207694"/>
              <a:ext cx="76835" cy="85090"/>
            </a:xfrm>
            <a:custGeom>
              <a:avLst/>
              <a:gdLst/>
              <a:ahLst/>
              <a:cxnLst/>
              <a:rect l="l" t="t" r="r" b="b"/>
              <a:pathLst>
                <a:path w="76835" h="85089">
                  <a:moveTo>
                    <a:pt x="16990" y="0"/>
                  </a:moveTo>
                  <a:lnTo>
                    <a:pt x="0" y="84835"/>
                  </a:lnTo>
                  <a:lnTo>
                    <a:pt x="76478" y="45253"/>
                  </a:lnTo>
                  <a:lnTo>
                    <a:pt x="169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80922" y="2655909"/>
              <a:ext cx="692150" cy="591820"/>
            </a:xfrm>
            <a:custGeom>
              <a:avLst/>
              <a:gdLst/>
              <a:ahLst/>
              <a:cxnLst/>
              <a:rect l="l" t="t" r="r" b="b"/>
              <a:pathLst>
                <a:path w="692150" h="591819">
                  <a:moveTo>
                    <a:pt x="0" y="0"/>
                  </a:moveTo>
                  <a:lnTo>
                    <a:pt x="691535" y="591367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1266" y="3213366"/>
              <a:ext cx="82550" cy="79375"/>
            </a:xfrm>
            <a:custGeom>
              <a:avLst/>
              <a:gdLst/>
              <a:ahLst/>
              <a:cxnLst/>
              <a:rect l="l" t="t" r="r" b="b"/>
              <a:pathLst>
                <a:path w="82550" h="79375">
                  <a:moveTo>
                    <a:pt x="51041" y="0"/>
                  </a:moveTo>
                  <a:lnTo>
                    <a:pt x="0" y="56478"/>
                  </a:lnTo>
                  <a:lnTo>
                    <a:pt x="82114" y="79164"/>
                  </a:lnTo>
                  <a:lnTo>
                    <a:pt x="510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18302" y="3392884"/>
              <a:ext cx="216684" cy="22090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2941076" y="3180603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3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843566" y="3397135"/>
            <a:ext cx="479425" cy="212725"/>
          </a:xfrm>
          <a:custGeom>
            <a:avLst/>
            <a:gdLst/>
            <a:ahLst/>
            <a:cxnLst/>
            <a:rect l="l" t="t" r="r" b="b"/>
            <a:pathLst>
              <a:path w="479425" h="212725">
                <a:moveTo>
                  <a:pt x="478993" y="0"/>
                </a:moveTo>
                <a:lnTo>
                  <a:pt x="317284" y="0"/>
                </a:lnTo>
                <a:lnTo>
                  <a:pt x="0" y="0"/>
                </a:lnTo>
                <a:lnTo>
                  <a:pt x="0" y="212407"/>
                </a:lnTo>
                <a:lnTo>
                  <a:pt x="317233" y="212407"/>
                </a:lnTo>
                <a:lnTo>
                  <a:pt x="478993" y="212407"/>
                </a:lnTo>
                <a:lnTo>
                  <a:pt x="4789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2881472" y="3392883"/>
          <a:ext cx="1437005" cy="21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/>
                <a:gridCol w="158750"/>
                <a:gridCol w="320040"/>
                <a:gridCol w="158750"/>
                <a:gridCol w="317500"/>
                <a:gridCol w="161925"/>
              </a:tblGrid>
              <a:tr h="21209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25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30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6" name="object 36"/>
          <p:cNvSpPr txBox="1"/>
          <p:nvPr/>
        </p:nvSpPr>
        <p:spPr>
          <a:xfrm>
            <a:off x="4590341" y="3180603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530737" y="3392883"/>
          <a:ext cx="1539240" cy="2114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/>
                <a:gridCol w="158750"/>
                <a:gridCol w="320675"/>
                <a:gridCol w="158750"/>
                <a:gridCol w="320040"/>
                <a:gridCol w="158750"/>
                <a:gridCol w="53975"/>
                <a:gridCol w="50800"/>
              </a:tblGrid>
              <a:tr h="107314">
                <a:tc rowSpan="2"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41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6104972" y="3465273"/>
            <a:ext cx="76835" cy="76835"/>
          </a:xfrm>
          <a:custGeom>
            <a:avLst/>
            <a:gdLst/>
            <a:ahLst/>
            <a:cxnLst/>
            <a:rect l="l" t="t" r="r" b="b"/>
            <a:pathLst>
              <a:path w="76835" h="76835">
                <a:moveTo>
                  <a:pt x="0" y="0"/>
                </a:moveTo>
                <a:lnTo>
                  <a:pt x="0" y="76446"/>
                </a:lnTo>
                <a:lnTo>
                  <a:pt x="76443" y="39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1240732" y="2445167"/>
            <a:ext cx="1645285" cy="1223010"/>
            <a:chOff x="1240732" y="2445167"/>
            <a:chExt cx="1645285" cy="1223010"/>
          </a:xfrm>
        </p:grpSpPr>
        <p:sp>
          <p:nvSpPr>
            <p:cNvPr id="40" name="object 40"/>
            <p:cNvSpPr/>
            <p:nvPr/>
          </p:nvSpPr>
          <p:spPr>
            <a:xfrm>
              <a:off x="2727163" y="3504973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93457" y="0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09278" y="3465273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446"/>
                  </a:lnTo>
                  <a:lnTo>
                    <a:pt x="76443" y="39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718346" y="3346291"/>
              <a:ext cx="478790" cy="317500"/>
            </a:xfrm>
            <a:custGeom>
              <a:avLst/>
              <a:gdLst/>
              <a:ahLst/>
              <a:cxnLst/>
              <a:rect l="l" t="t" r="r" b="b"/>
              <a:pathLst>
                <a:path w="478789" h="317500">
                  <a:moveTo>
                    <a:pt x="478746" y="0"/>
                  </a:moveTo>
                  <a:lnTo>
                    <a:pt x="0" y="317010"/>
                  </a:lnTo>
                </a:path>
                <a:path w="478789" h="317500">
                  <a:moveTo>
                    <a:pt x="0" y="0"/>
                  </a:moveTo>
                  <a:lnTo>
                    <a:pt x="478746" y="317010"/>
                  </a:lnTo>
                </a:path>
              </a:pathLst>
            </a:custGeom>
            <a:ln w="84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665934" y="2657327"/>
              <a:ext cx="158750" cy="741680"/>
            </a:xfrm>
            <a:custGeom>
              <a:avLst/>
              <a:gdLst/>
              <a:ahLst/>
              <a:cxnLst/>
              <a:rect l="l" t="t" r="r" b="b"/>
              <a:pathLst>
                <a:path w="158750" h="741679">
                  <a:moveTo>
                    <a:pt x="0" y="0"/>
                  </a:moveTo>
                  <a:lnTo>
                    <a:pt x="158640" y="74130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40732" y="2445167"/>
              <a:ext cx="850265" cy="424815"/>
            </a:xfrm>
            <a:custGeom>
              <a:avLst/>
              <a:gdLst/>
              <a:ahLst/>
              <a:cxnLst/>
              <a:rect l="l" t="t" r="r" b="b"/>
              <a:pathLst>
                <a:path w="850264" h="424814">
                  <a:moveTo>
                    <a:pt x="850129" y="0"/>
                  </a:moveTo>
                  <a:lnTo>
                    <a:pt x="0" y="0"/>
                  </a:lnTo>
                  <a:lnTo>
                    <a:pt x="0" y="424248"/>
                  </a:lnTo>
                  <a:lnTo>
                    <a:pt x="850129" y="424248"/>
                  </a:lnTo>
                  <a:lnTo>
                    <a:pt x="850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262291" y="3180603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5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46" name="object 46"/>
          <p:cNvGraphicFramePr>
            <a:graphicFrameLocks noGrp="1"/>
          </p:cNvGraphicFramePr>
          <p:nvPr/>
        </p:nvGraphicFramePr>
        <p:xfrm>
          <a:off x="6202686" y="3392883"/>
          <a:ext cx="1542415" cy="21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/>
                <a:gridCol w="158750"/>
                <a:gridCol w="320675"/>
                <a:gridCol w="158750"/>
                <a:gridCol w="317500"/>
                <a:gridCol w="161925"/>
                <a:gridCol w="104775"/>
              </a:tblGrid>
              <a:tr h="21209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60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5380949" y="2544103"/>
          <a:ext cx="1379220" cy="21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320040"/>
                <a:gridCol w="104775"/>
                <a:gridCol w="320040"/>
                <a:gridCol w="104775"/>
                <a:gridCol w="320040"/>
                <a:gridCol w="104775"/>
              </a:tblGrid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8" name="object 48"/>
          <p:cNvSpPr txBox="1"/>
          <p:nvPr/>
        </p:nvSpPr>
        <p:spPr>
          <a:xfrm>
            <a:off x="5440434" y="2331775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6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3893078" y="1748869"/>
          <a:ext cx="1383027" cy="21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775"/>
                <a:gridCol w="320675"/>
                <a:gridCol w="105409"/>
                <a:gridCol w="320675"/>
                <a:gridCol w="105409"/>
                <a:gridCol w="320675"/>
                <a:gridCol w="105409"/>
              </a:tblGrid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0" name="object 50"/>
          <p:cNvSpPr txBox="1"/>
          <p:nvPr/>
        </p:nvSpPr>
        <p:spPr>
          <a:xfrm>
            <a:off x="3952682" y="1536471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7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861109" y="2655909"/>
            <a:ext cx="955675" cy="600075"/>
          </a:xfrm>
          <a:custGeom>
            <a:avLst/>
            <a:gdLst/>
            <a:ahLst/>
            <a:cxnLst/>
            <a:rect l="l" t="t" r="r" b="b"/>
            <a:pathLst>
              <a:path w="955675" h="600075">
                <a:moveTo>
                  <a:pt x="0" y="0"/>
                </a:moveTo>
                <a:lnTo>
                  <a:pt x="955129" y="599874"/>
                </a:lnTo>
              </a:path>
            </a:pathLst>
          </a:custGeom>
          <a:ln w="8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788001" y="3219037"/>
            <a:ext cx="85090" cy="73660"/>
          </a:xfrm>
          <a:custGeom>
            <a:avLst/>
            <a:gdLst/>
            <a:ahLst/>
            <a:cxnLst/>
            <a:rect l="l" t="t" r="r" b="b"/>
            <a:pathLst>
              <a:path w="85090" h="73660">
                <a:moveTo>
                  <a:pt x="39580" y="0"/>
                </a:moveTo>
                <a:lnTo>
                  <a:pt x="0" y="64985"/>
                </a:lnTo>
                <a:lnTo>
                  <a:pt x="84950" y="73492"/>
                </a:lnTo>
                <a:lnTo>
                  <a:pt x="395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3" name="object 53"/>
          <p:cNvGrpSpPr/>
          <p:nvPr/>
        </p:nvGrpSpPr>
        <p:grpSpPr>
          <a:xfrm>
            <a:off x="3152033" y="1856592"/>
            <a:ext cx="800735" cy="641350"/>
            <a:chOff x="3152033" y="1856592"/>
            <a:chExt cx="800735" cy="641350"/>
          </a:xfrm>
        </p:grpSpPr>
        <p:sp>
          <p:nvSpPr>
            <p:cNvPr id="54" name="object 54"/>
            <p:cNvSpPr/>
            <p:nvPr/>
          </p:nvSpPr>
          <p:spPr>
            <a:xfrm>
              <a:off x="3205910" y="1860841"/>
              <a:ext cx="742950" cy="594360"/>
            </a:xfrm>
            <a:custGeom>
              <a:avLst/>
              <a:gdLst/>
              <a:ahLst/>
              <a:cxnLst/>
              <a:rect l="l" t="t" r="r" b="b"/>
              <a:pathLst>
                <a:path w="742950" h="594360">
                  <a:moveTo>
                    <a:pt x="742458" y="0"/>
                  </a:moveTo>
                  <a:lnTo>
                    <a:pt x="0" y="594203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52033" y="2418298"/>
              <a:ext cx="85090" cy="79375"/>
            </a:xfrm>
            <a:custGeom>
              <a:avLst/>
              <a:gdLst/>
              <a:ahLst/>
              <a:cxnLst/>
              <a:rect l="l" t="t" r="r" b="b"/>
              <a:pathLst>
                <a:path w="85089" h="79375">
                  <a:moveTo>
                    <a:pt x="36862" y="0"/>
                  </a:moveTo>
                  <a:lnTo>
                    <a:pt x="0" y="79164"/>
                  </a:lnTo>
                  <a:lnTo>
                    <a:pt x="84950" y="59432"/>
                  </a:lnTo>
                  <a:lnTo>
                    <a:pt x="36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4373592" y="1860841"/>
            <a:ext cx="1797050" cy="614680"/>
          </a:xfrm>
          <a:custGeom>
            <a:avLst/>
            <a:gdLst/>
            <a:ahLst/>
            <a:cxnLst/>
            <a:rect l="l" t="t" r="r" b="b"/>
            <a:pathLst>
              <a:path w="1797050" h="614680">
                <a:moveTo>
                  <a:pt x="0" y="0"/>
                </a:moveTo>
                <a:lnTo>
                  <a:pt x="1796480" y="614053"/>
                </a:lnTo>
              </a:path>
            </a:pathLst>
          </a:custGeom>
          <a:ln w="84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150342" y="2435313"/>
            <a:ext cx="85090" cy="73660"/>
          </a:xfrm>
          <a:custGeom>
            <a:avLst/>
            <a:gdLst/>
            <a:ahLst/>
            <a:cxnLst/>
            <a:rect l="l" t="t" r="r" b="b"/>
            <a:pathLst>
              <a:path w="85089" h="73660">
                <a:moveTo>
                  <a:pt x="22566" y="0"/>
                </a:moveTo>
                <a:lnTo>
                  <a:pt x="0" y="73492"/>
                </a:lnTo>
                <a:lnTo>
                  <a:pt x="84950" y="62149"/>
                </a:lnTo>
                <a:lnTo>
                  <a:pt x="22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5212344" y="2651659"/>
            <a:ext cx="228600" cy="641350"/>
            <a:chOff x="5212344" y="2651659"/>
            <a:chExt cx="228600" cy="641350"/>
          </a:xfrm>
        </p:grpSpPr>
        <p:sp>
          <p:nvSpPr>
            <p:cNvPr id="59" name="object 59"/>
            <p:cNvSpPr/>
            <p:nvPr/>
          </p:nvSpPr>
          <p:spPr>
            <a:xfrm>
              <a:off x="5246371" y="2655909"/>
              <a:ext cx="189865" cy="572135"/>
            </a:xfrm>
            <a:custGeom>
              <a:avLst/>
              <a:gdLst/>
              <a:ahLst/>
              <a:cxnLst/>
              <a:rect l="l" t="t" r="r" b="b"/>
              <a:pathLst>
                <a:path w="189864" h="572135">
                  <a:moveTo>
                    <a:pt x="189749" y="0"/>
                  </a:moveTo>
                  <a:lnTo>
                    <a:pt x="0" y="571517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212344" y="3207694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60" h="85089">
                  <a:moveTo>
                    <a:pt x="0" y="0"/>
                  </a:moveTo>
                  <a:lnTo>
                    <a:pt x="11342" y="84835"/>
                  </a:lnTo>
                  <a:lnTo>
                    <a:pt x="73607" y="22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40732" y="2445167"/>
            <a:ext cx="850265" cy="4248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63500" marR="55244" indent="78740">
              <a:lnSpc>
                <a:spcPct val="106100"/>
              </a:lnSpc>
              <a:spcBef>
                <a:spcPts val="685"/>
              </a:spcBef>
            </a:pPr>
            <a:r>
              <a:rPr sz="700" dirty="0">
                <a:latin typeface="Arial MT"/>
                <a:cs typeface="Arial MT"/>
              </a:rPr>
              <a:t>Violation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règle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minimum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159997" y="3821630"/>
            <a:ext cx="6580505" cy="320040"/>
            <a:chOff x="1159997" y="3821630"/>
            <a:chExt cx="6580505" cy="320040"/>
          </a:xfrm>
        </p:grpSpPr>
        <p:sp>
          <p:nvSpPr>
            <p:cNvPr id="63" name="object 63"/>
            <p:cNvSpPr/>
            <p:nvPr/>
          </p:nvSpPr>
          <p:spPr>
            <a:xfrm>
              <a:off x="4348072" y="3821630"/>
              <a:ext cx="0" cy="215900"/>
            </a:xfrm>
            <a:custGeom>
              <a:avLst/>
              <a:gdLst/>
              <a:ahLst/>
              <a:cxnLst/>
              <a:rect l="l" t="t" r="r" b="b"/>
              <a:pathLst>
                <a:path h="215900">
                  <a:moveTo>
                    <a:pt x="0" y="0"/>
                  </a:moveTo>
                  <a:lnTo>
                    <a:pt x="0" y="215279"/>
                  </a:lnTo>
                </a:path>
              </a:pathLst>
            </a:custGeom>
            <a:ln w="84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11209" y="4025566"/>
              <a:ext cx="76835" cy="116205"/>
            </a:xfrm>
            <a:custGeom>
              <a:avLst/>
              <a:gdLst/>
              <a:ahLst/>
              <a:cxnLst/>
              <a:rect l="l" t="t" r="r" b="b"/>
              <a:pathLst>
                <a:path w="76835" h="116204">
                  <a:moveTo>
                    <a:pt x="76561" y="0"/>
                  </a:moveTo>
                  <a:lnTo>
                    <a:pt x="0" y="0"/>
                  </a:lnTo>
                  <a:lnTo>
                    <a:pt x="36862" y="116028"/>
                  </a:lnTo>
                  <a:lnTo>
                    <a:pt x="7656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159997" y="3982912"/>
              <a:ext cx="6580505" cy="0"/>
            </a:xfrm>
            <a:custGeom>
              <a:avLst/>
              <a:gdLst/>
              <a:ahLst/>
              <a:cxnLst/>
              <a:rect l="l" t="t" r="r" b="b"/>
              <a:pathLst>
                <a:path w="6580505">
                  <a:moveTo>
                    <a:pt x="0" y="0"/>
                  </a:moveTo>
                  <a:lnTo>
                    <a:pt x="6580061" y="0"/>
                  </a:lnTo>
                </a:path>
              </a:pathLst>
            </a:custGeom>
            <a:ln w="8498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/>
          <p:nvPr/>
        </p:nvSpPr>
        <p:spPr>
          <a:xfrm>
            <a:off x="2222589" y="4936544"/>
            <a:ext cx="4571365" cy="662305"/>
          </a:xfrm>
          <a:custGeom>
            <a:avLst/>
            <a:gdLst/>
            <a:ahLst/>
            <a:cxnLst/>
            <a:rect l="l" t="t" r="r" b="b"/>
            <a:pathLst>
              <a:path w="4571365" h="662304">
                <a:moveTo>
                  <a:pt x="266618" y="662154"/>
                </a:moveTo>
                <a:lnTo>
                  <a:pt x="4304534" y="662154"/>
                </a:lnTo>
                <a:lnTo>
                  <a:pt x="4355457" y="659330"/>
                </a:lnTo>
                <a:lnTo>
                  <a:pt x="4406498" y="642351"/>
                </a:lnTo>
                <a:lnTo>
                  <a:pt x="4451750" y="619724"/>
                </a:lnTo>
                <a:lnTo>
                  <a:pt x="4491449" y="585790"/>
                </a:lnTo>
                <a:lnTo>
                  <a:pt x="4525476" y="546196"/>
                </a:lnTo>
                <a:lnTo>
                  <a:pt x="4548397" y="500943"/>
                </a:lnTo>
                <a:lnTo>
                  <a:pt x="4565411" y="450030"/>
                </a:lnTo>
                <a:lnTo>
                  <a:pt x="4571082" y="399128"/>
                </a:lnTo>
                <a:lnTo>
                  <a:pt x="4571082" y="266192"/>
                </a:lnTo>
                <a:lnTo>
                  <a:pt x="4565411" y="212455"/>
                </a:lnTo>
                <a:lnTo>
                  <a:pt x="4548397" y="164354"/>
                </a:lnTo>
                <a:lnTo>
                  <a:pt x="4525476" y="118864"/>
                </a:lnTo>
                <a:lnTo>
                  <a:pt x="4491449" y="76446"/>
                </a:lnTo>
                <a:lnTo>
                  <a:pt x="4451750" y="45253"/>
                </a:lnTo>
                <a:lnTo>
                  <a:pt x="4406498" y="19850"/>
                </a:lnTo>
                <a:lnTo>
                  <a:pt x="4355457" y="5671"/>
                </a:lnTo>
                <a:lnTo>
                  <a:pt x="4304534" y="0"/>
                </a:lnTo>
                <a:lnTo>
                  <a:pt x="266618" y="0"/>
                </a:lnTo>
                <a:lnTo>
                  <a:pt x="212505" y="5671"/>
                </a:lnTo>
                <a:lnTo>
                  <a:pt x="164300" y="19850"/>
                </a:lnTo>
                <a:lnTo>
                  <a:pt x="118930" y="45253"/>
                </a:lnTo>
                <a:lnTo>
                  <a:pt x="76490" y="76446"/>
                </a:lnTo>
                <a:lnTo>
                  <a:pt x="45322" y="118864"/>
                </a:lnTo>
                <a:lnTo>
                  <a:pt x="19825" y="164354"/>
                </a:lnTo>
                <a:lnTo>
                  <a:pt x="5671" y="212455"/>
                </a:lnTo>
                <a:lnTo>
                  <a:pt x="0" y="266192"/>
                </a:lnTo>
                <a:lnTo>
                  <a:pt x="0" y="399128"/>
                </a:lnTo>
                <a:lnTo>
                  <a:pt x="5671" y="450030"/>
                </a:lnTo>
                <a:lnTo>
                  <a:pt x="19825" y="500943"/>
                </a:lnTo>
                <a:lnTo>
                  <a:pt x="45322" y="546196"/>
                </a:lnTo>
                <a:lnTo>
                  <a:pt x="76490" y="585790"/>
                </a:lnTo>
                <a:lnTo>
                  <a:pt x="118930" y="619724"/>
                </a:lnTo>
                <a:lnTo>
                  <a:pt x="164300" y="642351"/>
                </a:lnTo>
                <a:lnTo>
                  <a:pt x="212505" y="659330"/>
                </a:lnTo>
                <a:lnTo>
                  <a:pt x="266618" y="662154"/>
                </a:lnTo>
                <a:close/>
              </a:path>
            </a:pathLst>
          </a:custGeom>
          <a:ln w="141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768485" y="5356683"/>
            <a:ext cx="147383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Fusion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deux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frères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13820" y="6051504"/>
            <a:ext cx="317500" cy="212725"/>
          </a:xfrm>
          <a:prstGeom prst="rect">
            <a:avLst/>
          </a:prstGeom>
          <a:solidFill>
            <a:srgbClr val="C0C0C0"/>
          </a:solidFill>
          <a:ln w="8499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0"/>
              </a:spcBef>
            </a:pPr>
            <a:r>
              <a:rPr sz="1100" spc="-25" dirty="0">
                <a:latin typeface="Arial MT"/>
                <a:cs typeface="Arial MT"/>
              </a:rPr>
              <a:t>10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526851" y="6047255"/>
            <a:ext cx="170815" cy="220979"/>
            <a:chOff x="1526851" y="6047255"/>
            <a:chExt cx="170815" cy="220979"/>
          </a:xfrm>
        </p:grpSpPr>
        <p:sp>
          <p:nvSpPr>
            <p:cNvPr id="70" name="object 70"/>
            <p:cNvSpPr/>
            <p:nvPr/>
          </p:nvSpPr>
          <p:spPr>
            <a:xfrm>
              <a:off x="1531101" y="6051504"/>
              <a:ext cx="161925" cy="212725"/>
            </a:xfrm>
            <a:custGeom>
              <a:avLst/>
              <a:gdLst/>
              <a:ahLst/>
              <a:cxnLst/>
              <a:rect l="l" t="t" r="r" b="b"/>
              <a:pathLst>
                <a:path w="161925" h="212725">
                  <a:moveTo>
                    <a:pt x="161760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61760" y="212407"/>
                  </a:lnTo>
                  <a:lnTo>
                    <a:pt x="1617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31101" y="6051504"/>
              <a:ext cx="161925" cy="212725"/>
            </a:xfrm>
            <a:custGeom>
              <a:avLst/>
              <a:gdLst/>
              <a:ahLst/>
              <a:cxnLst/>
              <a:rect l="l" t="t" r="r" b="b"/>
              <a:pathLst>
                <a:path w="161925" h="212725">
                  <a:moveTo>
                    <a:pt x="0" y="212407"/>
                  </a:moveTo>
                  <a:lnTo>
                    <a:pt x="161760" y="212407"/>
                  </a:lnTo>
                  <a:lnTo>
                    <a:pt x="161760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2643321" y="6047059"/>
            <a:ext cx="116839" cy="221615"/>
            <a:chOff x="2643321" y="6047059"/>
            <a:chExt cx="116839" cy="221615"/>
          </a:xfrm>
        </p:grpSpPr>
        <p:sp>
          <p:nvSpPr>
            <p:cNvPr id="73" name="object 73"/>
            <p:cNvSpPr/>
            <p:nvPr/>
          </p:nvSpPr>
          <p:spPr>
            <a:xfrm>
              <a:off x="2647766" y="6051504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07647" y="212407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647766" y="6051504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407"/>
                  </a:moveTo>
                  <a:lnTo>
                    <a:pt x="107647" y="212407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269103" y="5832116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692855" y="6051504"/>
            <a:ext cx="317500" cy="212725"/>
          </a:xfrm>
          <a:prstGeom prst="rect">
            <a:avLst/>
          </a:prstGeom>
          <a:solidFill>
            <a:srgbClr val="C0C0C0"/>
          </a:solidFill>
          <a:ln w="8498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0"/>
              </a:spcBef>
            </a:pPr>
            <a:r>
              <a:rPr sz="1100" spc="-25" dirty="0">
                <a:latin typeface="Arial MT"/>
                <a:cs typeface="Arial MT"/>
              </a:rPr>
              <a:t>25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005881" y="6047255"/>
            <a:ext cx="167640" cy="220979"/>
            <a:chOff x="2005881" y="6047255"/>
            <a:chExt cx="167640" cy="220979"/>
          </a:xfrm>
        </p:grpSpPr>
        <p:sp>
          <p:nvSpPr>
            <p:cNvPr id="78" name="object 78"/>
            <p:cNvSpPr/>
            <p:nvPr/>
          </p:nvSpPr>
          <p:spPr>
            <a:xfrm>
              <a:off x="2010131" y="6051504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158640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58640" y="212407"/>
                  </a:lnTo>
                  <a:lnTo>
                    <a:pt x="1586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2010131" y="6051504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0" y="212407"/>
                  </a:moveTo>
                  <a:lnTo>
                    <a:pt x="158640" y="212407"/>
                  </a:lnTo>
                  <a:lnTo>
                    <a:pt x="158640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168766" y="6051504"/>
            <a:ext cx="320675" cy="212725"/>
          </a:xfrm>
          <a:prstGeom prst="rect">
            <a:avLst/>
          </a:prstGeom>
          <a:solidFill>
            <a:srgbClr val="C0C0C0"/>
          </a:solidFill>
          <a:ln w="8557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60"/>
              </a:spcBef>
            </a:pPr>
            <a:r>
              <a:rPr sz="1100" spc="-25" dirty="0">
                <a:latin typeface="Arial MT"/>
                <a:cs typeface="Arial MT"/>
              </a:rPr>
              <a:t>30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484763" y="6047059"/>
            <a:ext cx="167640" cy="221615"/>
            <a:chOff x="2484763" y="6047059"/>
            <a:chExt cx="167640" cy="221615"/>
          </a:xfrm>
        </p:grpSpPr>
        <p:sp>
          <p:nvSpPr>
            <p:cNvPr id="82" name="object 82"/>
            <p:cNvSpPr/>
            <p:nvPr/>
          </p:nvSpPr>
          <p:spPr>
            <a:xfrm>
              <a:off x="2489208" y="6051504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158640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58640" y="212407"/>
                  </a:lnTo>
                  <a:lnTo>
                    <a:pt x="1586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489208" y="6051504"/>
              <a:ext cx="158750" cy="212725"/>
            </a:xfrm>
            <a:custGeom>
              <a:avLst/>
              <a:gdLst/>
              <a:ahLst/>
              <a:cxnLst/>
              <a:rect l="l" t="t" r="r" b="b"/>
              <a:pathLst>
                <a:path w="158750" h="212725">
                  <a:moveTo>
                    <a:pt x="0" y="212407"/>
                  </a:moveTo>
                  <a:lnTo>
                    <a:pt x="158640" y="212407"/>
                  </a:lnTo>
                  <a:lnTo>
                    <a:pt x="158640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2271974" y="5198291"/>
            <a:ext cx="114300" cy="221615"/>
            <a:chOff x="2271974" y="5198291"/>
            <a:chExt cx="114300" cy="221615"/>
          </a:xfrm>
        </p:grpSpPr>
        <p:sp>
          <p:nvSpPr>
            <p:cNvPr id="85" name="object 85"/>
            <p:cNvSpPr/>
            <p:nvPr/>
          </p:nvSpPr>
          <p:spPr>
            <a:xfrm>
              <a:off x="2276419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104814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4814" y="212124"/>
                  </a:lnTo>
                  <a:lnTo>
                    <a:pt x="1048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276419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0" y="212124"/>
                  </a:moveTo>
                  <a:lnTo>
                    <a:pt x="104814" y="212124"/>
                  </a:lnTo>
                  <a:lnTo>
                    <a:pt x="104814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381226" y="5202736"/>
            <a:ext cx="320675" cy="212725"/>
          </a:xfrm>
          <a:prstGeom prst="rect">
            <a:avLst/>
          </a:prstGeom>
          <a:solidFill>
            <a:srgbClr val="FFFF00"/>
          </a:solidFill>
          <a:ln w="8534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55"/>
              </a:spcBef>
            </a:pPr>
            <a:r>
              <a:rPr sz="1100" spc="-25" dirty="0">
                <a:latin typeface="Arial MT"/>
                <a:cs typeface="Arial MT"/>
              </a:rPr>
              <a:t>25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697198" y="5198291"/>
            <a:ext cx="963930" cy="221615"/>
            <a:chOff x="2697198" y="5198291"/>
            <a:chExt cx="963930" cy="221615"/>
          </a:xfrm>
        </p:grpSpPr>
        <p:sp>
          <p:nvSpPr>
            <p:cNvPr id="89" name="object 89"/>
            <p:cNvSpPr/>
            <p:nvPr/>
          </p:nvSpPr>
          <p:spPr>
            <a:xfrm>
              <a:off x="2701643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104814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4814" y="212124"/>
                  </a:lnTo>
                  <a:lnTo>
                    <a:pt x="1048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701643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0" y="212124"/>
                  </a:moveTo>
                  <a:lnTo>
                    <a:pt x="104814" y="212124"/>
                  </a:lnTo>
                  <a:lnTo>
                    <a:pt x="104814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2806442" y="5202736"/>
              <a:ext cx="320675" cy="212725"/>
            </a:xfrm>
            <a:custGeom>
              <a:avLst/>
              <a:gdLst/>
              <a:ahLst/>
              <a:cxnLst/>
              <a:rect l="l" t="t" r="r" b="b"/>
              <a:pathLst>
                <a:path w="320675" h="212725">
                  <a:moveTo>
                    <a:pt x="320105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320105" y="212124"/>
                  </a:lnTo>
                  <a:lnTo>
                    <a:pt x="3201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806442" y="5202736"/>
              <a:ext cx="320675" cy="212725"/>
            </a:xfrm>
            <a:custGeom>
              <a:avLst/>
              <a:gdLst/>
              <a:ahLst/>
              <a:cxnLst/>
              <a:rect l="l" t="t" r="r" b="b"/>
              <a:pathLst>
                <a:path w="320675" h="212725">
                  <a:moveTo>
                    <a:pt x="0" y="212124"/>
                  </a:moveTo>
                  <a:lnTo>
                    <a:pt x="320105" y="212124"/>
                  </a:lnTo>
                  <a:lnTo>
                    <a:pt x="320105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126512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104814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4814" y="212124"/>
                  </a:lnTo>
                  <a:lnTo>
                    <a:pt x="104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126512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0" y="212124"/>
                  </a:moveTo>
                  <a:lnTo>
                    <a:pt x="104814" y="212124"/>
                  </a:lnTo>
                  <a:lnTo>
                    <a:pt x="104814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231312" y="5202736"/>
              <a:ext cx="320675" cy="212725"/>
            </a:xfrm>
            <a:custGeom>
              <a:avLst/>
              <a:gdLst/>
              <a:ahLst/>
              <a:cxnLst/>
              <a:rect l="l" t="t" r="r" b="b"/>
              <a:pathLst>
                <a:path w="320675" h="212725">
                  <a:moveTo>
                    <a:pt x="320389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320389" y="212124"/>
                  </a:lnTo>
                  <a:lnTo>
                    <a:pt x="320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231312" y="5202736"/>
              <a:ext cx="320675" cy="212725"/>
            </a:xfrm>
            <a:custGeom>
              <a:avLst/>
              <a:gdLst/>
              <a:ahLst/>
              <a:cxnLst/>
              <a:rect l="l" t="t" r="r" b="b"/>
              <a:pathLst>
                <a:path w="320675" h="212725">
                  <a:moveTo>
                    <a:pt x="0" y="212124"/>
                  </a:moveTo>
                  <a:lnTo>
                    <a:pt x="320389" y="212124"/>
                  </a:lnTo>
                  <a:lnTo>
                    <a:pt x="320389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551736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104814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4814" y="212124"/>
                  </a:lnTo>
                  <a:lnTo>
                    <a:pt x="1048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551736" y="5202736"/>
              <a:ext cx="105410" cy="212725"/>
            </a:xfrm>
            <a:custGeom>
              <a:avLst/>
              <a:gdLst/>
              <a:ahLst/>
              <a:cxnLst/>
              <a:rect l="l" t="t" r="r" b="b"/>
              <a:pathLst>
                <a:path w="105410" h="212725">
                  <a:moveTo>
                    <a:pt x="0" y="212124"/>
                  </a:moveTo>
                  <a:lnTo>
                    <a:pt x="104814" y="212124"/>
                  </a:lnTo>
                  <a:lnTo>
                    <a:pt x="104814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2331655" y="4983347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851490" y="5302941"/>
            <a:ext cx="483870" cy="641350"/>
            <a:chOff x="1851490" y="5302941"/>
            <a:chExt cx="483870" cy="641350"/>
          </a:xfrm>
        </p:grpSpPr>
        <p:sp>
          <p:nvSpPr>
            <p:cNvPr id="101" name="object 101"/>
            <p:cNvSpPr/>
            <p:nvPr/>
          </p:nvSpPr>
          <p:spPr>
            <a:xfrm>
              <a:off x="1891153" y="5307386"/>
              <a:ext cx="439420" cy="582930"/>
            </a:xfrm>
            <a:custGeom>
              <a:avLst/>
              <a:gdLst/>
              <a:ahLst/>
              <a:cxnLst/>
              <a:rect l="l" t="t" r="r" b="b"/>
              <a:pathLst>
                <a:path w="439419" h="582929">
                  <a:moveTo>
                    <a:pt x="439142" y="0"/>
                  </a:moveTo>
                  <a:lnTo>
                    <a:pt x="0" y="582907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851490" y="5862008"/>
              <a:ext cx="76835" cy="82550"/>
            </a:xfrm>
            <a:custGeom>
              <a:avLst/>
              <a:gdLst/>
              <a:ahLst/>
              <a:cxnLst/>
              <a:rect l="l" t="t" r="r" b="b"/>
              <a:pathLst>
                <a:path w="76835" h="82550">
                  <a:moveTo>
                    <a:pt x="14166" y="0"/>
                  </a:moveTo>
                  <a:lnTo>
                    <a:pt x="0" y="82023"/>
                  </a:lnTo>
                  <a:lnTo>
                    <a:pt x="76490" y="45253"/>
                  </a:lnTo>
                  <a:lnTo>
                    <a:pt x="141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3" name="object 103"/>
          <p:cNvGraphicFramePr>
            <a:graphicFrameLocks noGrp="1"/>
          </p:cNvGraphicFramePr>
          <p:nvPr/>
        </p:nvGraphicFramePr>
        <p:xfrm>
          <a:off x="4502499" y="6047255"/>
          <a:ext cx="1543049" cy="2114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/>
                <a:gridCol w="158750"/>
                <a:gridCol w="320675"/>
                <a:gridCol w="158750"/>
                <a:gridCol w="317500"/>
                <a:gridCol w="161925"/>
                <a:gridCol w="51434"/>
                <a:gridCol w="53975"/>
              </a:tblGrid>
              <a:tr h="104139">
                <a:tc rowSpan="2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45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073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04" name="object 104"/>
          <p:cNvSpPr txBox="1"/>
          <p:nvPr/>
        </p:nvSpPr>
        <p:spPr>
          <a:xfrm>
            <a:off x="4561985" y="5832116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2701643" y="6119386"/>
            <a:ext cx="1805305" cy="76835"/>
            <a:chOff x="2701643" y="6119386"/>
            <a:chExt cx="1805305" cy="76835"/>
          </a:xfrm>
        </p:grpSpPr>
        <p:sp>
          <p:nvSpPr>
            <p:cNvPr id="106" name="object 106"/>
            <p:cNvSpPr/>
            <p:nvPr/>
          </p:nvSpPr>
          <p:spPr>
            <a:xfrm>
              <a:off x="2701643" y="6156156"/>
              <a:ext cx="1739900" cy="0"/>
            </a:xfrm>
            <a:custGeom>
              <a:avLst/>
              <a:gdLst/>
              <a:ahLst/>
              <a:cxnLst/>
              <a:rect l="l" t="t" r="r" b="b"/>
              <a:pathLst>
                <a:path w="1739900">
                  <a:moveTo>
                    <a:pt x="0" y="0"/>
                  </a:moveTo>
                  <a:lnTo>
                    <a:pt x="1739886" y="0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430186" y="6119386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5" h="76835">
                  <a:moveTo>
                    <a:pt x="0" y="0"/>
                  </a:moveTo>
                  <a:lnTo>
                    <a:pt x="0" y="76647"/>
                  </a:lnTo>
                  <a:lnTo>
                    <a:pt x="76561" y="36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/>
          <p:nvPr/>
        </p:nvSpPr>
        <p:spPr>
          <a:xfrm>
            <a:off x="6079451" y="6119386"/>
            <a:ext cx="76835" cy="76835"/>
          </a:xfrm>
          <a:custGeom>
            <a:avLst/>
            <a:gdLst/>
            <a:ahLst/>
            <a:cxnLst/>
            <a:rect l="l" t="t" r="r" b="b"/>
            <a:pathLst>
              <a:path w="76835" h="76835">
                <a:moveTo>
                  <a:pt x="0" y="0"/>
                </a:moveTo>
                <a:lnTo>
                  <a:pt x="0" y="76647"/>
                </a:lnTo>
                <a:lnTo>
                  <a:pt x="76561" y="36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9" name="object 109"/>
          <p:cNvGraphicFramePr>
            <a:graphicFrameLocks noGrp="1"/>
          </p:cNvGraphicFramePr>
          <p:nvPr/>
        </p:nvGraphicFramePr>
        <p:xfrm>
          <a:off x="6177166" y="6047255"/>
          <a:ext cx="1544952" cy="212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/>
                <a:gridCol w="161925"/>
                <a:gridCol w="318134"/>
                <a:gridCol w="159384"/>
                <a:gridCol w="320675"/>
                <a:gridCol w="159384"/>
                <a:gridCol w="107950"/>
              </a:tblGrid>
              <a:tr h="212090"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60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0" name="object 110"/>
          <p:cNvSpPr txBox="1"/>
          <p:nvPr/>
        </p:nvSpPr>
        <p:spPr>
          <a:xfrm>
            <a:off x="6236770" y="5832116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5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5352397" y="5198291"/>
            <a:ext cx="116839" cy="221615"/>
            <a:chOff x="5352397" y="5198291"/>
            <a:chExt cx="116839" cy="221615"/>
          </a:xfrm>
        </p:grpSpPr>
        <p:sp>
          <p:nvSpPr>
            <p:cNvPr id="112" name="object 112"/>
            <p:cNvSpPr/>
            <p:nvPr/>
          </p:nvSpPr>
          <p:spPr>
            <a:xfrm>
              <a:off x="5356842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647" y="212124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356842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124"/>
                  </a:moveTo>
                  <a:lnTo>
                    <a:pt x="107647" y="212124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5464483" y="5202736"/>
            <a:ext cx="317500" cy="212725"/>
          </a:xfrm>
          <a:prstGeom prst="rect">
            <a:avLst/>
          </a:prstGeom>
          <a:solidFill>
            <a:srgbClr val="FFFF00"/>
          </a:solidFill>
          <a:ln w="8545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55"/>
              </a:spcBef>
            </a:pPr>
            <a:r>
              <a:rPr sz="1100" spc="-25" dirty="0">
                <a:latin typeface="Arial MT"/>
                <a:cs typeface="Arial MT"/>
              </a:rPr>
              <a:t>50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5777267" y="5198291"/>
            <a:ext cx="967105" cy="221615"/>
            <a:chOff x="5777267" y="5198291"/>
            <a:chExt cx="967105" cy="221615"/>
          </a:xfrm>
        </p:grpSpPr>
        <p:sp>
          <p:nvSpPr>
            <p:cNvPr id="116" name="object 116"/>
            <p:cNvSpPr/>
            <p:nvPr/>
          </p:nvSpPr>
          <p:spPr>
            <a:xfrm>
              <a:off x="5781712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930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930" y="212124"/>
                  </a:lnTo>
                  <a:lnTo>
                    <a:pt x="10793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781712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124"/>
                  </a:moveTo>
                  <a:lnTo>
                    <a:pt x="107930" y="212124"/>
                  </a:lnTo>
                  <a:lnTo>
                    <a:pt x="107930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5889701" y="5202736"/>
              <a:ext cx="317500" cy="212725"/>
            </a:xfrm>
            <a:custGeom>
              <a:avLst/>
              <a:gdLst/>
              <a:ahLst/>
              <a:cxnLst/>
              <a:rect l="l" t="t" r="r" b="b"/>
              <a:pathLst>
                <a:path w="317500" h="212725">
                  <a:moveTo>
                    <a:pt x="317281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317281" y="212124"/>
                  </a:lnTo>
                  <a:lnTo>
                    <a:pt x="317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5889701" y="5202736"/>
              <a:ext cx="317500" cy="212725"/>
            </a:xfrm>
            <a:custGeom>
              <a:avLst/>
              <a:gdLst/>
              <a:ahLst/>
              <a:cxnLst/>
              <a:rect l="l" t="t" r="r" b="b"/>
              <a:pathLst>
                <a:path w="317500" h="212725">
                  <a:moveTo>
                    <a:pt x="0" y="212124"/>
                  </a:moveTo>
                  <a:lnTo>
                    <a:pt x="317281" y="212124"/>
                  </a:lnTo>
                  <a:lnTo>
                    <a:pt x="317281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206936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647" y="212124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206936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124"/>
                  </a:moveTo>
                  <a:lnTo>
                    <a:pt x="107647" y="212124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314571" y="5202736"/>
              <a:ext cx="317500" cy="212725"/>
            </a:xfrm>
            <a:custGeom>
              <a:avLst/>
              <a:gdLst/>
              <a:ahLst/>
              <a:cxnLst/>
              <a:rect l="l" t="t" r="r" b="b"/>
              <a:pathLst>
                <a:path w="317500" h="212725">
                  <a:moveTo>
                    <a:pt x="317281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317281" y="212124"/>
                  </a:lnTo>
                  <a:lnTo>
                    <a:pt x="317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314571" y="5202736"/>
              <a:ext cx="317500" cy="212725"/>
            </a:xfrm>
            <a:custGeom>
              <a:avLst/>
              <a:gdLst/>
              <a:ahLst/>
              <a:cxnLst/>
              <a:rect l="l" t="t" r="r" b="b"/>
              <a:pathLst>
                <a:path w="317500" h="212725">
                  <a:moveTo>
                    <a:pt x="0" y="212124"/>
                  </a:moveTo>
                  <a:lnTo>
                    <a:pt x="317281" y="212124"/>
                  </a:lnTo>
                  <a:lnTo>
                    <a:pt x="317281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631924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124"/>
                  </a:lnTo>
                  <a:lnTo>
                    <a:pt x="107647" y="212124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631924" y="5202736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124"/>
                  </a:moveTo>
                  <a:lnTo>
                    <a:pt x="107647" y="212124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124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5412078" y="4983347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6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864526" y="4403035"/>
            <a:ext cx="116839" cy="221615"/>
            <a:chOff x="3864526" y="4403035"/>
            <a:chExt cx="116839" cy="221615"/>
          </a:xfrm>
        </p:grpSpPr>
        <p:sp>
          <p:nvSpPr>
            <p:cNvPr id="128" name="object 128"/>
            <p:cNvSpPr/>
            <p:nvPr/>
          </p:nvSpPr>
          <p:spPr>
            <a:xfrm>
              <a:off x="3868971" y="4407480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07647" y="212407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68971" y="4407480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0" y="212407"/>
                  </a:moveTo>
                  <a:lnTo>
                    <a:pt x="107647" y="212407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3976671" y="4407480"/>
            <a:ext cx="318135" cy="212725"/>
          </a:xfrm>
          <a:prstGeom prst="rect">
            <a:avLst/>
          </a:prstGeom>
          <a:solidFill>
            <a:srgbClr val="FFFF00"/>
          </a:solidFill>
          <a:ln w="8593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0"/>
              </a:spcBef>
            </a:pPr>
            <a:r>
              <a:rPr sz="1100" spc="-25" dirty="0">
                <a:latin typeface="Arial MT"/>
                <a:cs typeface="Arial MT"/>
              </a:rPr>
              <a:t>40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4289750" y="4403035"/>
            <a:ext cx="967105" cy="221615"/>
            <a:chOff x="4289750" y="4403035"/>
            <a:chExt cx="967105" cy="221615"/>
          </a:xfrm>
        </p:grpSpPr>
        <p:sp>
          <p:nvSpPr>
            <p:cNvPr id="132" name="object 132"/>
            <p:cNvSpPr/>
            <p:nvPr/>
          </p:nvSpPr>
          <p:spPr>
            <a:xfrm>
              <a:off x="4294195" y="4407480"/>
              <a:ext cx="107950" cy="212725"/>
            </a:xfrm>
            <a:custGeom>
              <a:avLst/>
              <a:gdLst/>
              <a:ahLst/>
              <a:cxnLst/>
              <a:rect l="l" t="t" r="r" b="b"/>
              <a:pathLst>
                <a:path w="107950" h="212725">
                  <a:moveTo>
                    <a:pt x="107647" y="0"/>
                  </a:moveTo>
                  <a:lnTo>
                    <a:pt x="0" y="0"/>
                  </a:lnTo>
                  <a:lnTo>
                    <a:pt x="0" y="212407"/>
                  </a:lnTo>
                  <a:lnTo>
                    <a:pt x="107647" y="212407"/>
                  </a:lnTo>
                  <a:lnTo>
                    <a:pt x="10764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294195" y="4407480"/>
              <a:ext cx="958215" cy="212725"/>
            </a:xfrm>
            <a:custGeom>
              <a:avLst/>
              <a:gdLst/>
              <a:ahLst/>
              <a:cxnLst/>
              <a:rect l="l" t="t" r="r" b="b"/>
              <a:pathLst>
                <a:path w="958214" h="212725">
                  <a:moveTo>
                    <a:pt x="0" y="212407"/>
                  </a:moveTo>
                  <a:lnTo>
                    <a:pt x="107647" y="212407"/>
                  </a:lnTo>
                  <a:lnTo>
                    <a:pt x="107647" y="0"/>
                  </a:lnTo>
                  <a:lnTo>
                    <a:pt x="0" y="0"/>
                  </a:lnTo>
                  <a:lnTo>
                    <a:pt x="0" y="212407"/>
                  </a:lnTo>
                  <a:close/>
                </a:path>
                <a:path w="958214" h="212725">
                  <a:moveTo>
                    <a:pt x="107635" y="212407"/>
                  </a:moveTo>
                  <a:lnTo>
                    <a:pt x="424916" y="212407"/>
                  </a:lnTo>
                  <a:lnTo>
                    <a:pt x="424916" y="0"/>
                  </a:lnTo>
                  <a:lnTo>
                    <a:pt x="107635" y="0"/>
                  </a:lnTo>
                  <a:lnTo>
                    <a:pt x="107635" y="212407"/>
                  </a:lnTo>
                  <a:close/>
                </a:path>
                <a:path w="958214" h="212725">
                  <a:moveTo>
                    <a:pt x="424987" y="212407"/>
                  </a:moveTo>
                  <a:lnTo>
                    <a:pt x="532634" y="212407"/>
                  </a:lnTo>
                  <a:lnTo>
                    <a:pt x="532634" y="0"/>
                  </a:lnTo>
                  <a:lnTo>
                    <a:pt x="424987" y="0"/>
                  </a:lnTo>
                  <a:lnTo>
                    <a:pt x="424987" y="212407"/>
                  </a:lnTo>
                  <a:close/>
                </a:path>
                <a:path w="958214" h="212725">
                  <a:moveTo>
                    <a:pt x="532623" y="212407"/>
                  </a:moveTo>
                  <a:lnTo>
                    <a:pt x="850188" y="212407"/>
                  </a:lnTo>
                  <a:lnTo>
                    <a:pt x="850188" y="0"/>
                  </a:lnTo>
                  <a:lnTo>
                    <a:pt x="532623" y="0"/>
                  </a:lnTo>
                  <a:lnTo>
                    <a:pt x="532623" y="212407"/>
                  </a:lnTo>
                  <a:close/>
                </a:path>
                <a:path w="958214" h="212725">
                  <a:moveTo>
                    <a:pt x="850211" y="212407"/>
                  </a:moveTo>
                  <a:lnTo>
                    <a:pt x="957859" y="212407"/>
                  </a:lnTo>
                  <a:lnTo>
                    <a:pt x="957859" y="0"/>
                  </a:lnTo>
                  <a:lnTo>
                    <a:pt x="850211" y="0"/>
                  </a:lnTo>
                  <a:lnTo>
                    <a:pt x="850211" y="212407"/>
                  </a:lnTo>
                  <a:close/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3924326" y="4187996"/>
            <a:ext cx="42100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7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2436513" y="4247592"/>
            <a:ext cx="4408170" cy="1696720"/>
            <a:chOff x="2436513" y="4247592"/>
            <a:chExt cx="4408170" cy="1696720"/>
          </a:xfrm>
        </p:grpSpPr>
        <p:sp>
          <p:nvSpPr>
            <p:cNvPr id="136" name="object 136"/>
            <p:cNvSpPr/>
            <p:nvPr/>
          </p:nvSpPr>
          <p:spPr>
            <a:xfrm>
              <a:off x="5835588" y="5307386"/>
              <a:ext cx="952500" cy="603250"/>
            </a:xfrm>
            <a:custGeom>
              <a:avLst/>
              <a:gdLst/>
              <a:ahLst/>
              <a:cxnLst/>
              <a:rect l="l" t="t" r="r" b="b"/>
              <a:pathLst>
                <a:path w="952500" h="603250">
                  <a:moveTo>
                    <a:pt x="0" y="0"/>
                  </a:moveTo>
                  <a:lnTo>
                    <a:pt x="952412" y="602710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759644" y="5870503"/>
              <a:ext cx="85090" cy="73660"/>
            </a:xfrm>
            <a:custGeom>
              <a:avLst/>
              <a:gdLst/>
              <a:ahLst/>
              <a:cxnLst/>
              <a:rect l="l" t="t" r="r" b="b"/>
              <a:pathLst>
                <a:path w="85090" h="73660">
                  <a:moveTo>
                    <a:pt x="42534" y="0"/>
                  </a:moveTo>
                  <a:lnTo>
                    <a:pt x="0" y="65044"/>
                  </a:lnTo>
                  <a:lnTo>
                    <a:pt x="84950" y="73528"/>
                  </a:lnTo>
                  <a:lnTo>
                    <a:pt x="42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177553" y="4512130"/>
              <a:ext cx="745490" cy="594995"/>
            </a:xfrm>
            <a:custGeom>
              <a:avLst/>
              <a:gdLst/>
              <a:ahLst/>
              <a:cxnLst/>
              <a:rect l="l" t="t" r="r" b="b"/>
              <a:pathLst>
                <a:path w="745489" h="594995">
                  <a:moveTo>
                    <a:pt x="745294" y="0"/>
                  </a:moveTo>
                  <a:lnTo>
                    <a:pt x="0" y="594439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126512" y="5072305"/>
              <a:ext cx="82550" cy="76835"/>
            </a:xfrm>
            <a:custGeom>
              <a:avLst/>
              <a:gdLst/>
              <a:ahLst/>
              <a:cxnLst/>
              <a:rect l="l" t="t" r="r" b="b"/>
              <a:pathLst>
                <a:path w="82550" h="76835">
                  <a:moveTo>
                    <a:pt x="34027" y="0"/>
                  </a:moveTo>
                  <a:lnTo>
                    <a:pt x="0" y="76694"/>
                  </a:lnTo>
                  <a:lnTo>
                    <a:pt x="82232" y="59727"/>
                  </a:lnTo>
                  <a:lnTo>
                    <a:pt x="34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348072" y="4512130"/>
              <a:ext cx="1797050" cy="614680"/>
            </a:xfrm>
            <a:custGeom>
              <a:avLst/>
              <a:gdLst/>
              <a:ahLst/>
              <a:cxnLst/>
              <a:rect l="l" t="t" r="r" b="b"/>
              <a:pathLst>
                <a:path w="1797050" h="614679">
                  <a:moveTo>
                    <a:pt x="0" y="0"/>
                  </a:moveTo>
                  <a:lnTo>
                    <a:pt x="1796598" y="614242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6121985" y="5086483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5">
                  <a:moveTo>
                    <a:pt x="25520" y="0"/>
                  </a:moveTo>
                  <a:lnTo>
                    <a:pt x="0" y="73835"/>
                  </a:lnTo>
                  <a:lnTo>
                    <a:pt x="84950" y="62516"/>
                  </a:lnTo>
                  <a:lnTo>
                    <a:pt x="25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218015" y="5307386"/>
              <a:ext cx="193040" cy="574675"/>
            </a:xfrm>
            <a:custGeom>
              <a:avLst/>
              <a:gdLst/>
              <a:ahLst/>
              <a:cxnLst/>
              <a:rect l="l" t="t" r="r" b="b"/>
              <a:pathLst>
                <a:path w="193039" h="574675">
                  <a:moveTo>
                    <a:pt x="192585" y="0"/>
                  </a:moveTo>
                  <a:lnTo>
                    <a:pt x="0" y="574424"/>
                  </a:lnTo>
                </a:path>
              </a:pathLst>
            </a:custGeom>
            <a:ln w="84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186823" y="5859184"/>
              <a:ext cx="71120" cy="85090"/>
            </a:xfrm>
            <a:custGeom>
              <a:avLst/>
              <a:gdLst/>
              <a:ahLst/>
              <a:cxnLst/>
              <a:rect l="l" t="t" r="r" b="b"/>
              <a:pathLst>
                <a:path w="71120" h="85089">
                  <a:moveTo>
                    <a:pt x="0" y="0"/>
                  </a:moveTo>
                  <a:lnTo>
                    <a:pt x="11342" y="84847"/>
                  </a:lnTo>
                  <a:lnTo>
                    <a:pt x="70890" y="25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861619" y="4459787"/>
              <a:ext cx="158750" cy="744855"/>
            </a:xfrm>
            <a:custGeom>
              <a:avLst/>
              <a:gdLst/>
              <a:ahLst/>
              <a:cxnLst/>
              <a:rect l="l" t="t" r="r" b="b"/>
              <a:pathLst>
                <a:path w="158750" h="744854">
                  <a:moveTo>
                    <a:pt x="0" y="0"/>
                  </a:moveTo>
                  <a:lnTo>
                    <a:pt x="158676" y="7443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436513" y="4247592"/>
              <a:ext cx="850265" cy="424815"/>
            </a:xfrm>
            <a:custGeom>
              <a:avLst/>
              <a:gdLst/>
              <a:ahLst/>
              <a:cxnLst/>
              <a:rect l="l" t="t" r="r" b="b"/>
              <a:pathLst>
                <a:path w="850264" h="424814">
                  <a:moveTo>
                    <a:pt x="850129" y="0"/>
                  </a:moveTo>
                  <a:lnTo>
                    <a:pt x="0" y="0"/>
                  </a:lnTo>
                  <a:lnTo>
                    <a:pt x="0" y="424520"/>
                  </a:lnTo>
                  <a:lnTo>
                    <a:pt x="850129" y="424520"/>
                  </a:lnTo>
                  <a:lnTo>
                    <a:pt x="8501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6" name="object 146"/>
          <p:cNvSpPr txBox="1"/>
          <p:nvPr/>
        </p:nvSpPr>
        <p:spPr>
          <a:xfrm>
            <a:off x="2436513" y="4247592"/>
            <a:ext cx="850265" cy="42481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63500" marR="54610" indent="79375">
              <a:lnSpc>
                <a:spcPct val="106100"/>
              </a:lnSpc>
              <a:spcBef>
                <a:spcPts val="685"/>
              </a:spcBef>
            </a:pPr>
            <a:r>
              <a:rPr sz="700" dirty="0">
                <a:latin typeface="Arial MT"/>
                <a:cs typeface="Arial MT"/>
              </a:rPr>
              <a:t>Violation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</a:t>
            </a:r>
            <a:r>
              <a:rPr sz="700" spc="-15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la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règle</a:t>
            </a:r>
            <a:r>
              <a:rPr sz="700" spc="-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du</a:t>
            </a:r>
            <a:r>
              <a:rPr sz="700" spc="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minimum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2376969" y="4292841"/>
            <a:ext cx="2882265" cy="1180465"/>
            <a:chOff x="2376969" y="4292841"/>
            <a:chExt cx="2882265" cy="1180465"/>
          </a:xfrm>
        </p:grpSpPr>
        <p:sp>
          <p:nvSpPr>
            <p:cNvPr id="148" name="object 148"/>
            <p:cNvSpPr/>
            <p:nvPr/>
          </p:nvSpPr>
          <p:spPr>
            <a:xfrm>
              <a:off x="2381218" y="5148999"/>
              <a:ext cx="425450" cy="320040"/>
            </a:xfrm>
            <a:custGeom>
              <a:avLst/>
              <a:gdLst/>
              <a:ahLst/>
              <a:cxnLst/>
              <a:rect l="l" t="t" r="r" b="b"/>
              <a:pathLst>
                <a:path w="425450" h="320039">
                  <a:moveTo>
                    <a:pt x="425224" y="0"/>
                  </a:moveTo>
                  <a:lnTo>
                    <a:pt x="0" y="319598"/>
                  </a:lnTo>
                </a:path>
                <a:path w="425450" h="320039">
                  <a:moveTo>
                    <a:pt x="0" y="0"/>
                  </a:moveTo>
                  <a:lnTo>
                    <a:pt x="425224" y="319598"/>
                  </a:lnTo>
                </a:path>
              </a:pathLst>
            </a:custGeom>
            <a:ln w="84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868971" y="4299923"/>
              <a:ext cx="1383665" cy="424815"/>
            </a:xfrm>
            <a:custGeom>
              <a:avLst/>
              <a:gdLst/>
              <a:ahLst/>
              <a:cxnLst/>
              <a:rect l="l" t="t" r="r" b="b"/>
              <a:pathLst>
                <a:path w="1383664" h="424814">
                  <a:moveTo>
                    <a:pt x="0" y="0"/>
                  </a:moveTo>
                  <a:lnTo>
                    <a:pt x="1383071" y="424532"/>
                  </a:lnTo>
                </a:path>
                <a:path w="1383664" h="424814">
                  <a:moveTo>
                    <a:pt x="1383071" y="0"/>
                  </a:moveTo>
                  <a:lnTo>
                    <a:pt x="0" y="424532"/>
                  </a:lnTo>
                </a:path>
              </a:pathLst>
            </a:custGeom>
            <a:ln w="1416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0" name="object 1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4257" y="392049"/>
            <a:ext cx="685990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9494" marR="5080" indent="-102743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fusion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en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cascade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(suite)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: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réduction</a:t>
            </a:r>
            <a:r>
              <a:rPr sz="32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la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hauteur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01157" y="2603318"/>
            <a:ext cx="5569585" cy="806450"/>
          </a:xfrm>
          <a:custGeom>
            <a:avLst/>
            <a:gdLst/>
            <a:ahLst/>
            <a:cxnLst/>
            <a:rect l="l" t="t" r="r" b="b"/>
            <a:pathLst>
              <a:path w="5569584" h="806450">
                <a:moveTo>
                  <a:pt x="324844" y="806410"/>
                </a:moveTo>
                <a:lnTo>
                  <a:pt x="5244585" y="806410"/>
                </a:lnTo>
                <a:lnTo>
                  <a:pt x="5306629" y="799503"/>
                </a:lnTo>
                <a:lnTo>
                  <a:pt x="5368817" y="782235"/>
                </a:lnTo>
                <a:lnTo>
                  <a:pt x="5423951" y="751297"/>
                </a:lnTo>
                <a:lnTo>
                  <a:pt x="5472319" y="709854"/>
                </a:lnTo>
                <a:lnTo>
                  <a:pt x="5513778" y="661648"/>
                </a:lnTo>
                <a:lnTo>
                  <a:pt x="5541705" y="606534"/>
                </a:lnTo>
                <a:lnTo>
                  <a:pt x="5562434" y="544514"/>
                </a:lnTo>
                <a:lnTo>
                  <a:pt x="5569344" y="482493"/>
                </a:lnTo>
                <a:lnTo>
                  <a:pt x="5569344" y="320319"/>
                </a:lnTo>
                <a:lnTo>
                  <a:pt x="5562434" y="258298"/>
                </a:lnTo>
                <a:lnTo>
                  <a:pt x="5541705" y="196278"/>
                </a:lnTo>
                <a:lnTo>
                  <a:pt x="5513778" y="141165"/>
                </a:lnTo>
                <a:lnTo>
                  <a:pt x="5472319" y="92958"/>
                </a:lnTo>
                <a:lnTo>
                  <a:pt x="5423951" y="51659"/>
                </a:lnTo>
                <a:lnTo>
                  <a:pt x="5368817" y="24031"/>
                </a:lnTo>
                <a:lnTo>
                  <a:pt x="5306629" y="3453"/>
                </a:lnTo>
                <a:lnTo>
                  <a:pt x="5244585" y="0"/>
                </a:lnTo>
                <a:lnTo>
                  <a:pt x="324844" y="0"/>
                </a:lnTo>
                <a:lnTo>
                  <a:pt x="258914" y="3453"/>
                </a:lnTo>
                <a:lnTo>
                  <a:pt x="200181" y="24031"/>
                </a:lnTo>
                <a:lnTo>
                  <a:pt x="144903" y="51659"/>
                </a:lnTo>
                <a:lnTo>
                  <a:pt x="93195" y="92958"/>
                </a:lnTo>
                <a:lnTo>
                  <a:pt x="55220" y="141165"/>
                </a:lnTo>
                <a:lnTo>
                  <a:pt x="24155" y="196278"/>
                </a:lnTo>
                <a:lnTo>
                  <a:pt x="6909" y="258298"/>
                </a:lnTo>
                <a:lnTo>
                  <a:pt x="0" y="320319"/>
                </a:lnTo>
                <a:lnTo>
                  <a:pt x="0" y="482493"/>
                </a:lnTo>
                <a:lnTo>
                  <a:pt x="6909" y="544514"/>
                </a:lnTo>
                <a:lnTo>
                  <a:pt x="24155" y="606534"/>
                </a:lnTo>
                <a:lnTo>
                  <a:pt x="55220" y="661648"/>
                </a:lnTo>
                <a:lnTo>
                  <a:pt x="93195" y="709854"/>
                </a:lnTo>
                <a:lnTo>
                  <a:pt x="144903" y="751297"/>
                </a:lnTo>
                <a:lnTo>
                  <a:pt x="200181" y="782235"/>
                </a:lnTo>
                <a:lnTo>
                  <a:pt x="258914" y="799503"/>
                </a:lnTo>
                <a:lnTo>
                  <a:pt x="324844" y="806410"/>
                </a:lnTo>
                <a:close/>
              </a:path>
            </a:pathLst>
          </a:custGeom>
          <a:ln w="17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87428" y="3114296"/>
            <a:ext cx="179006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Fusion</a:t>
            </a:r>
            <a:r>
              <a:rPr sz="1350" spc="1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des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deux</a:t>
            </a:r>
            <a:r>
              <a:rPr sz="1350" spc="-10" dirty="0">
                <a:latin typeface="Arial MT"/>
                <a:cs typeface="Arial MT"/>
              </a:rPr>
              <a:t> frères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086" y="3957653"/>
            <a:ext cx="386715" cy="258445"/>
          </a:xfrm>
          <a:prstGeom prst="rect">
            <a:avLst/>
          </a:prstGeom>
          <a:solidFill>
            <a:srgbClr val="C0C0C0"/>
          </a:solidFill>
          <a:ln w="10353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10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53480" y="3952477"/>
            <a:ext cx="207645" cy="269240"/>
            <a:chOff x="1153480" y="3952477"/>
            <a:chExt cx="207645" cy="269240"/>
          </a:xfrm>
        </p:grpSpPr>
        <p:sp>
          <p:nvSpPr>
            <p:cNvPr id="7" name="object 7"/>
            <p:cNvSpPr/>
            <p:nvPr/>
          </p:nvSpPr>
          <p:spPr>
            <a:xfrm>
              <a:off x="1158657" y="3957653"/>
              <a:ext cx="197485" cy="258445"/>
            </a:xfrm>
            <a:custGeom>
              <a:avLst/>
              <a:gdLst/>
              <a:ahLst/>
              <a:cxnLst/>
              <a:rect l="l" t="t" r="r" b="b"/>
              <a:pathLst>
                <a:path w="197484" h="258445">
                  <a:moveTo>
                    <a:pt x="197086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7086" y="258342"/>
                  </a:lnTo>
                  <a:lnTo>
                    <a:pt x="197086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8657" y="3957653"/>
              <a:ext cx="197485" cy="258445"/>
            </a:xfrm>
            <a:custGeom>
              <a:avLst/>
              <a:gdLst/>
              <a:ahLst/>
              <a:cxnLst/>
              <a:rect l="l" t="t" r="r" b="b"/>
              <a:pathLst>
                <a:path w="197484" h="258445">
                  <a:moveTo>
                    <a:pt x="0" y="258342"/>
                  </a:moveTo>
                  <a:lnTo>
                    <a:pt x="197086" y="258342"/>
                  </a:lnTo>
                  <a:lnTo>
                    <a:pt x="197086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13789" y="3952256"/>
            <a:ext cx="142240" cy="269240"/>
            <a:chOff x="2513789" y="3952256"/>
            <a:chExt cx="142240" cy="269240"/>
          </a:xfrm>
        </p:grpSpPr>
        <p:sp>
          <p:nvSpPr>
            <p:cNvPr id="10" name="object 10"/>
            <p:cNvSpPr/>
            <p:nvPr/>
          </p:nvSpPr>
          <p:spPr>
            <a:xfrm>
              <a:off x="2519186" y="3957653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13115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31155" y="258342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19186" y="3957653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0" y="258342"/>
                  </a:moveTo>
                  <a:lnTo>
                    <a:pt x="131155" y="258342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42216" y="3696656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5736" y="3957653"/>
            <a:ext cx="386715" cy="258445"/>
          </a:xfrm>
          <a:prstGeom prst="rect">
            <a:avLst/>
          </a:prstGeom>
          <a:solidFill>
            <a:srgbClr val="C0C0C0"/>
          </a:solidFill>
          <a:ln w="10353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737124" y="3952477"/>
            <a:ext cx="203835" cy="269240"/>
            <a:chOff x="1737124" y="3952477"/>
            <a:chExt cx="203835" cy="269240"/>
          </a:xfrm>
        </p:grpSpPr>
        <p:sp>
          <p:nvSpPr>
            <p:cNvPr id="15" name="object 15"/>
            <p:cNvSpPr/>
            <p:nvPr/>
          </p:nvSpPr>
          <p:spPr>
            <a:xfrm>
              <a:off x="1742300" y="3957653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19328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3285" y="258342"/>
                  </a:lnTo>
                  <a:lnTo>
                    <a:pt x="19328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2300" y="3957653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0" y="258342"/>
                  </a:moveTo>
                  <a:lnTo>
                    <a:pt x="193285" y="258342"/>
                  </a:lnTo>
                  <a:lnTo>
                    <a:pt x="19328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35579" y="3957653"/>
            <a:ext cx="390525" cy="258445"/>
          </a:xfrm>
          <a:prstGeom prst="rect">
            <a:avLst/>
          </a:prstGeom>
          <a:solidFill>
            <a:srgbClr val="C0C0C0"/>
          </a:solidFill>
          <a:ln w="10424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30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20604" y="3952256"/>
            <a:ext cx="204470" cy="269240"/>
            <a:chOff x="2320604" y="3952256"/>
            <a:chExt cx="204470" cy="269240"/>
          </a:xfrm>
        </p:grpSpPr>
        <p:sp>
          <p:nvSpPr>
            <p:cNvPr id="19" name="object 19"/>
            <p:cNvSpPr/>
            <p:nvPr/>
          </p:nvSpPr>
          <p:spPr>
            <a:xfrm>
              <a:off x="2326001" y="3957653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19328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3285" y="258342"/>
                  </a:lnTo>
                  <a:lnTo>
                    <a:pt x="19328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6001" y="3957653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0" y="258342"/>
                  </a:moveTo>
                  <a:lnTo>
                    <a:pt x="193285" y="258342"/>
                  </a:lnTo>
                  <a:lnTo>
                    <a:pt x="19328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061344" y="2918283"/>
            <a:ext cx="139065" cy="269875"/>
            <a:chOff x="2061344" y="2918283"/>
            <a:chExt cx="139065" cy="269875"/>
          </a:xfrm>
        </p:grpSpPr>
        <p:sp>
          <p:nvSpPr>
            <p:cNvPr id="22" name="object 22"/>
            <p:cNvSpPr/>
            <p:nvPr/>
          </p:nvSpPr>
          <p:spPr>
            <a:xfrm>
              <a:off x="2066742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12770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27705" y="258687"/>
                  </a:lnTo>
                  <a:lnTo>
                    <a:pt x="1277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6742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0" y="258687"/>
                  </a:moveTo>
                  <a:lnTo>
                    <a:pt x="127705" y="258687"/>
                  </a:lnTo>
                  <a:lnTo>
                    <a:pt x="12770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94437" y="2923681"/>
            <a:ext cx="390525" cy="259079"/>
          </a:xfrm>
          <a:prstGeom prst="rect">
            <a:avLst/>
          </a:prstGeom>
          <a:solidFill>
            <a:srgbClr val="FFFF00"/>
          </a:solidFill>
          <a:ln w="10395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9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579431" y="2918283"/>
            <a:ext cx="1174750" cy="269875"/>
            <a:chOff x="2579431" y="2918283"/>
            <a:chExt cx="1174750" cy="269875"/>
          </a:xfrm>
        </p:grpSpPr>
        <p:sp>
          <p:nvSpPr>
            <p:cNvPr id="26" name="object 26"/>
            <p:cNvSpPr/>
            <p:nvPr/>
          </p:nvSpPr>
          <p:spPr>
            <a:xfrm>
              <a:off x="2584829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12770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27705" y="258687"/>
                  </a:lnTo>
                  <a:lnTo>
                    <a:pt x="1277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84829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0" y="258687"/>
                  </a:moveTo>
                  <a:lnTo>
                    <a:pt x="127705" y="258687"/>
                  </a:lnTo>
                  <a:lnTo>
                    <a:pt x="12770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12515" y="2923681"/>
              <a:ext cx="390525" cy="259079"/>
            </a:xfrm>
            <a:custGeom>
              <a:avLst/>
              <a:gdLst/>
              <a:ahLst/>
              <a:cxnLst/>
              <a:rect l="l" t="t" r="r" b="b"/>
              <a:pathLst>
                <a:path w="390525" h="259080">
                  <a:moveTo>
                    <a:pt x="390012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390012" y="258687"/>
                  </a:lnTo>
                  <a:lnTo>
                    <a:pt x="390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12515" y="2923681"/>
              <a:ext cx="390525" cy="259079"/>
            </a:xfrm>
            <a:custGeom>
              <a:avLst/>
              <a:gdLst/>
              <a:ahLst/>
              <a:cxnLst/>
              <a:rect l="l" t="t" r="r" b="b"/>
              <a:pathLst>
                <a:path w="390525" h="259080">
                  <a:moveTo>
                    <a:pt x="0" y="258687"/>
                  </a:moveTo>
                  <a:lnTo>
                    <a:pt x="390012" y="258687"/>
                  </a:lnTo>
                  <a:lnTo>
                    <a:pt x="390012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02484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12770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27705" y="258687"/>
                  </a:lnTo>
                  <a:lnTo>
                    <a:pt x="127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02484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69" h="259080">
                  <a:moveTo>
                    <a:pt x="0" y="258687"/>
                  </a:moveTo>
                  <a:lnTo>
                    <a:pt x="127705" y="258687"/>
                  </a:lnTo>
                  <a:lnTo>
                    <a:pt x="12770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30171" y="2923681"/>
              <a:ext cx="390525" cy="259079"/>
            </a:xfrm>
            <a:custGeom>
              <a:avLst/>
              <a:gdLst/>
              <a:ahLst/>
              <a:cxnLst/>
              <a:rect l="l" t="t" r="r" b="b"/>
              <a:pathLst>
                <a:path w="390525" h="259080">
                  <a:moveTo>
                    <a:pt x="390357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390357" y="258687"/>
                  </a:lnTo>
                  <a:lnTo>
                    <a:pt x="3903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30171" y="2923681"/>
              <a:ext cx="390525" cy="259079"/>
            </a:xfrm>
            <a:custGeom>
              <a:avLst/>
              <a:gdLst/>
              <a:ahLst/>
              <a:cxnLst/>
              <a:rect l="l" t="t" r="r" b="b"/>
              <a:pathLst>
                <a:path w="390525" h="259080">
                  <a:moveTo>
                    <a:pt x="0" y="258687"/>
                  </a:moveTo>
                  <a:lnTo>
                    <a:pt x="390357" y="258687"/>
                  </a:lnTo>
                  <a:lnTo>
                    <a:pt x="390357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20572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70" h="259080">
                  <a:moveTo>
                    <a:pt x="12770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27705" y="258687"/>
                  </a:lnTo>
                  <a:lnTo>
                    <a:pt x="127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20572" y="2923681"/>
              <a:ext cx="128270" cy="259079"/>
            </a:xfrm>
            <a:custGeom>
              <a:avLst/>
              <a:gdLst/>
              <a:ahLst/>
              <a:cxnLst/>
              <a:rect l="l" t="t" r="r" b="b"/>
              <a:pathLst>
                <a:path w="128270" h="259080">
                  <a:moveTo>
                    <a:pt x="0" y="258687"/>
                  </a:moveTo>
                  <a:lnTo>
                    <a:pt x="127705" y="258687"/>
                  </a:lnTo>
                  <a:lnTo>
                    <a:pt x="12770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136815" y="2662596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49014" y="3049476"/>
            <a:ext cx="589280" cy="781050"/>
            <a:chOff x="1549014" y="3049476"/>
            <a:chExt cx="589280" cy="781050"/>
          </a:xfrm>
        </p:grpSpPr>
        <p:sp>
          <p:nvSpPr>
            <p:cNvPr id="38" name="object 38"/>
            <p:cNvSpPr/>
            <p:nvPr/>
          </p:nvSpPr>
          <p:spPr>
            <a:xfrm>
              <a:off x="1597339" y="3054873"/>
              <a:ext cx="535305" cy="709930"/>
            </a:xfrm>
            <a:custGeom>
              <a:avLst/>
              <a:gdLst/>
              <a:ahLst/>
              <a:cxnLst/>
              <a:rect l="l" t="t" r="r" b="b"/>
              <a:pathLst>
                <a:path w="535305" h="709929">
                  <a:moveTo>
                    <a:pt x="535044" y="0"/>
                  </a:moveTo>
                  <a:lnTo>
                    <a:pt x="0" y="709566"/>
                  </a:lnTo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49014" y="3726595"/>
              <a:ext cx="93345" cy="104139"/>
            </a:xfrm>
            <a:custGeom>
              <a:avLst/>
              <a:gdLst/>
              <a:ahLst/>
              <a:cxnLst/>
              <a:rect l="l" t="t" r="r" b="b"/>
              <a:pathLst>
                <a:path w="93344" h="104139">
                  <a:moveTo>
                    <a:pt x="17259" y="0"/>
                  </a:moveTo>
                  <a:lnTo>
                    <a:pt x="0" y="103607"/>
                  </a:lnTo>
                  <a:lnTo>
                    <a:pt x="93195" y="55113"/>
                  </a:lnTo>
                  <a:lnTo>
                    <a:pt x="17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4778967" y="3952476"/>
          <a:ext cx="1876423" cy="25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/>
                <a:gridCol w="193040"/>
                <a:gridCol w="389889"/>
                <a:gridCol w="193040"/>
                <a:gridCol w="386079"/>
                <a:gridCol w="196850"/>
                <a:gridCol w="62230"/>
                <a:gridCol w="65405"/>
              </a:tblGrid>
              <a:tr h="130810">
                <a:tc rowSpan="2"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7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4854218" y="3696656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700304" y="4040295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5" h="93345">
                <a:moveTo>
                  <a:pt x="0" y="0"/>
                </a:moveTo>
                <a:lnTo>
                  <a:pt x="0" y="93102"/>
                </a:lnTo>
                <a:lnTo>
                  <a:pt x="93281" y="483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6819359" y="3952476"/>
          <a:ext cx="1878329" cy="25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15"/>
                <a:gridCol w="196850"/>
                <a:gridCol w="386715"/>
                <a:gridCol w="193040"/>
                <a:gridCol w="389890"/>
                <a:gridCol w="193675"/>
                <a:gridCol w="131444"/>
              </a:tblGrid>
              <a:tr h="25781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44" name="object 44"/>
          <p:cNvGrpSpPr/>
          <p:nvPr/>
        </p:nvGrpSpPr>
        <p:grpSpPr>
          <a:xfrm>
            <a:off x="706509" y="4040295"/>
            <a:ext cx="8017509" cy="565150"/>
            <a:chOff x="706509" y="4040295"/>
            <a:chExt cx="8017509" cy="565150"/>
          </a:xfrm>
        </p:grpSpPr>
        <p:sp>
          <p:nvSpPr>
            <p:cNvPr id="45" name="object 45"/>
            <p:cNvSpPr/>
            <p:nvPr/>
          </p:nvSpPr>
          <p:spPr>
            <a:xfrm>
              <a:off x="2584829" y="4088645"/>
              <a:ext cx="2120265" cy="0"/>
            </a:xfrm>
            <a:custGeom>
              <a:avLst/>
              <a:gdLst/>
              <a:ahLst/>
              <a:cxnLst/>
              <a:rect l="l" t="t" r="r" b="b"/>
              <a:pathLst>
                <a:path w="2120265">
                  <a:moveTo>
                    <a:pt x="0" y="0"/>
                  </a:moveTo>
                  <a:lnTo>
                    <a:pt x="2119853" y="0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90863" y="4040295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0" y="93102"/>
                  </a:lnTo>
                  <a:lnTo>
                    <a:pt x="93281" y="48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56314" y="4215996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h="262254">
                  <a:moveTo>
                    <a:pt x="0" y="0"/>
                  </a:moveTo>
                  <a:lnTo>
                    <a:pt x="0" y="261752"/>
                  </a:lnTo>
                </a:path>
              </a:pathLst>
            </a:custGeom>
            <a:ln w="103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08090" y="4464078"/>
              <a:ext cx="93345" cy="141605"/>
            </a:xfrm>
            <a:custGeom>
              <a:avLst/>
              <a:gdLst/>
              <a:ahLst/>
              <a:cxnLst/>
              <a:rect l="l" t="t" r="r" b="b"/>
              <a:pathLst>
                <a:path w="93345" h="141604">
                  <a:moveTo>
                    <a:pt x="93137" y="0"/>
                  </a:moveTo>
                  <a:lnTo>
                    <a:pt x="0" y="0"/>
                  </a:lnTo>
                  <a:lnTo>
                    <a:pt x="48224" y="141165"/>
                  </a:lnTo>
                  <a:lnTo>
                    <a:pt x="9313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6509" y="4412418"/>
              <a:ext cx="7975600" cy="0"/>
            </a:xfrm>
            <a:custGeom>
              <a:avLst/>
              <a:gdLst/>
              <a:ahLst/>
              <a:cxnLst/>
              <a:rect l="l" t="t" r="r" b="b"/>
              <a:pathLst>
                <a:path w="7975600">
                  <a:moveTo>
                    <a:pt x="0" y="0"/>
                  </a:moveTo>
                  <a:lnTo>
                    <a:pt x="7975597" y="0"/>
                  </a:lnTo>
                </a:path>
              </a:pathLst>
            </a:custGeom>
            <a:ln w="103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02836" y="4412418"/>
              <a:ext cx="20955" cy="0"/>
            </a:xfrm>
            <a:custGeom>
              <a:avLst/>
              <a:gdLst/>
              <a:ahLst/>
              <a:cxnLst/>
              <a:rect l="l" t="t" r="r" b="b"/>
              <a:pathLst>
                <a:path w="20954">
                  <a:moveTo>
                    <a:pt x="0" y="0"/>
                  </a:moveTo>
                  <a:lnTo>
                    <a:pt x="20729" y="0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894752" y="3696656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814490" y="2918283"/>
            <a:ext cx="142240" cy="269875"/>
            <a:chOff x="5814490" y="2918283"/>
            <a:chExt cx="142240" cy="269875"/>
          </a:xfrm>
        </p:grpSpPr>
        <p:sp>
          <p:nvSpPr>
            <p:cNvPr id="53" name="object 53"/>
            <p:cNvSpPr/>
            <p:nvPr/>
          </p:nvSpPr>
          <p:spPr>
            <a:xfrm>
              <a:off x="5819887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13115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155" y="258687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19887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0" y="258687"/>
                  </a:moveTo>
                  <a:lnTo>
                    <a:pt x="131155" y="258687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951035" y="2923681"/>
            <a:ext cx="386715" cy="259079"/>
          </a:xfrm>
          <a:prstGeom prst="rect">
            <a:avLst/>
          </a:prstGeom>
          <a:solidFill>
            <a:srgbClr val="FFFF00"/>
          </a:solidFill>
          <a:ln w="10410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0"/>
              </a:spcBef>
            </a:pPr>
            <a:r>
              <a:rPr sz="1350" spc="-25" dirty="0">
                <a:latin typeface="Arial MT"/>
                <a:cs typeface="Arial MT"/>
              </a:rPr>
              <a:t>50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332145" y="2918283"/>
            <a:ext cx="1177925" cy="269875"/>
            <a:chOff x="6332145" y="2918283"/>
            <a:chExt cx="1177925" cy="269875"/>
          </a:xfrm>
        </p:grpSpPr>
        <p:sp>
          <p:nvSpPr>
            <p:cNvPr id="57" name="object 57"/>
            <p:cNvSpPr/>
            <p:nvPr/>
          </p:nvSpPr>
          <p:spPr>
            <a:xfrm>
              <a:off x="6337542" y="2923681"/>
              <a:ext cx="132080" cy="259079"/>
            </a:xfrm>
            <a:custGeom>
              <a:avLst/>
              <a:gdLst/>
              <a:ahLst/>
              <a:cxnLst/>
              <a:rect l="l" t="t" r="r" b="b"/>
              <a:pathLst>
                <a:path w="132079" h="259080">
                  <a:moveTo>
                    <a:pt x="131501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501" y="258687"/>
                  </a:lnTo>
                  <a:lnTo>
                    <a:pt x="13150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337542" y="2923681"/>
              <a:ext cx="132080" cy="259079"/>
            </a:xfrm>
            <a:custGeom>
              <a:avLst/>
              <a:gdLst/>
              <a:ahLst/>
              <a:cxnLst/>
              <a:rect l="l" t="t" r="r" b="b"/>
              <a:pathLst>
                <a:path w="132079" h="259080">
                  <a:moveTo>
                    <a:pt x="0" y="258687"/>
                  </a:moveTo>
                  <a:lnTo>
                    <a:pt x="131501" y="258687"/>
                  </a:lnTo>
                  <a:lnTo>
                    <a:pt x="131501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469115" y="2923681"/>
              <a:ext cx="386715" cy="259079"/>
            </a:xfrm>
            <a:custGeom>
              <a:avLst/>
              <a:gdLst/>
              <a:ahLst/>
              <a:cxnLst/>
              <a:rect l="l" t="t" r="r" b="b"/>
              <a:pathLst>
                <a:path w="386715" h="259080">
                  <a:moveTo>
                    <a:pt x="386571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386571" y="258687"/>
                  </a:lnTo>
                  <a:lnTo>
                    <a:pt x="3865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469115" y="2923681"/>
              <a:ext cx="386715" cy="259079"/>
            </a:xfrm>
            <a:custGeom>
              <a:avLst/>
              <a:gdLst/>
              <a:ahLst/>
              <a:cxnLst/>
              <a:rect l="l" t="t" r="r" b="b"/>
              <a:pathLst>
                <a:path w="386715" h="259080">
                  <a:moveTo>
                    <a:pt x="0" y="258687"/>
                  </a:moveTo>
                  <a:lnTo>
                    <a:pt x="386571" y="258687"/>
                  </a:lnTo>
                  <a:lnTo>
                    <a:pt x="386571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5629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13115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155" y="258687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5629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0" y="258687"/>
                  </a:moveTo>
                  <a:lnTo>
                    <a:pt x="131155" y="258687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986771" y="2923681"/>
              <a:ext cx="386715" cy="259079"/>
            </a:xfrm>
            <a:custGeom>
              <a:avLst/>
              <a:gdLst/>
              <a:ahLst/>
              <a:cxnLst/>
              <a:rect l="l" t="t" r="r" b="b"/>
              <a:pathLst>
                <a:path w="386715" h="259080">
                  <a:moveTo>
                    <a:pt x="386571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386571" y="258687"/>
                  </a:lnTo>
                  <a:lnTo>
                    <a:pt x="3865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986771" y="2923681"/>
              <a:ext cx="386715" cy="259079"/>
            </a:xfrm>
            <a:custGeom>
              <a:avLst/>
              <a:gdLst/>
              <a:ahLst/>
              <a:cxnLst/>
              <a:rect l="l" t="t" r="r" b="b"/>
              <a:pathLst>
                <a:path w="386715" h="259080">
                  <a:moveTo>
                    <a:pt x="0" y="258687"/>
                  </a:moveTo>
                  <a:lnTo>
                    <a:pt x="386571" y="258687"/>
                  </a:lnTo>
                  <a:lnTo>
                    <a:pt x="386571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73429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13115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155" y="258687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73429" y="2923681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0" y="258687"/>
                  </a:moveTo>
                  <a:lnTo>
                    <a:pt x="131155" y="258687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889960" y="2662596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001688" y="1949986"/>
            <a:ext cx="142240" cy="269875"/>
            <a:chOff x="4001688" y="1949986"/>
            <a:chExt cx="142240" cy="269875"/>
          </a:xfrm>
        </p:grpSpPr>
        <p:sp>
          <p:nvSpPr>
            <p:cNvPr id="69" name="object 69"/>
            <p:cNvSpPr/>
            <p:nvPr/>
          </p:nvSpPr>
          <p:spPr>
            <a:xfrm>
              <a:off x="4007086" y="1955383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13115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155" y="258687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007086" y="1955383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0" y="258687"/>
                  </a:moveTo>
                  <a:lnTo>
                    <a:pt x="131155" y="258687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4138306" y="1955383"/>
            <a:ext cx="387350" cy="259079"/>
          </a:xfrm>
          <a:prstGeom prst="rect">
            <a:avLst/>
          </a:prstGeom>
          <a:solidFill>
            <a:srgbClr val="FFFF00"/>
          </a:solidFill>
          <a:ln w="10467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9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519775" y="1949986"/>
            <a:ext cx="1177925" cy="269875"/>
            <a:chOff x="4519775" y="1949986"/>
            <a:chExt cx="1177925" cy="269875"/>
          </a:xfrm>
        </p:grpSpPr>
        <p:sp>
          <p:nvSpPr>
            <p:cNvPr id="73" name="object 73"/>
            <p:cNvSpPr/>
            <p:nvPr/>
          </p:nvSpPr>
          <p:spPr>
            <a:xfrm>
              <a:off x="4525173" y="1955383"/>
              <a:ext cx="131445" cy="259079"/>
            </a:xfrm>
            <a:custGeom>
              <a:avLst/>
              <a:gdLst/>
              <a:ahLst/>
              <a:cxnLst/>
              <a:rect l="l" t="t" r="r" b="b"/>
              <a:pathLst>
                <a:path w="131445" h="259080">
                  <a:moveTo>
                    <a:pt x="131155" y="0"/>
                  </a:moveTo>
                  <a:lnTo>
                    <a:pt x="0" y="0"/>
                  </a:lnTo>
                  <a:lnTo>
                    <a:pt x="0" y="258687"/>
                  </a:lnTo>
                  <a:lnTo>
                    <a:pt x="131155" y="258687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525173" y="1955383"/>
              <a:ext cx="1167130" cy="259079"/>
            </a:xfrm>
            <a:custGeom>
              <a:avLst/>
              <a:gdLst/>
              <a:ahLst/>
              <a:cxnLst/>
              <a:rect l="l" t="t" r="r" b="b"/>
              <a:pathLst>
                <a:path w="1167129" h="259080">
                  <a:moveTo>
                    <a:pt x="0" y="258687"/>
                  </a:moveTo>
                  <a:lnTo>
                    <a:pt x="131155" y="258687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687"/>
                  </a:lnTo>
                  <a:close/>
                </a:path>
                <a:path w="1167129" h="259080">
                  <a:moveTo>
                    <a:pt x="131141" y="258687"/>
                  </a:moveTo>
                  <a:lnTo>
                    <a:pt x="517712" y="258687"/>
                  </a:lnTo>
                  <a:lnTo>
                    <a:pt x="517712" y="0"/>
                  </a:lnTo>
                  <a:lnTo>
                    <a:pt x="131141" y="0"/>
                  </a:lnTo>
                  <a:lnTo>
                    <a:pt x="131141" y="258687"/>
                  </a:lnTo>
                  <a:close/>
                </a:path>
                <a:path w="1167129" h="259080">
                  <a:moveTo>
                    <a:pt x="517799" y="258687"/>
                  </a:moveTo>
                  <a:lnTo>
                    <a:pt x="648954" y="258687"/>
                  </a:lnTo>
                  <a:lnTo>
                    <a:pt x="648954" y="0"/>
                  </a:lnTo>
                  <a:lnTo>
                    <a:pt x="517799" y="0"/>
                  </a:lnTo>
                  <a:lnTo>
                    <a:pt x="517799" y="258687"/>
                  </a:lnTo>
                  <a:close/>
                </a:path>
                <a:path w="1167129" h="259080">
                  <a:moveTo>
                    <a:pt x="648940" y="258687"/>
                  </a:moveTo>
                  <a:lnTo>
                    <a:pt x="1035857" y="258687"/>
                  </a:lnTo>
                  <a:lnTo>
                    <a:pt x="1035857" y="0"/>
                  </a:lnTo>
                  <a:lnTo>
                    <a:pt x="648940" y="0"/>
                  </a:lnTo>
                  <a:lnTo>
                    <a:pt x="648940" y="258687"/>
                  </a:lnTo>
                  <a:close/>
                </a:path>
                <a:path w="1167129" h="259080">
                  <a:moveTo>
                    <a:pt x="1035886" y="258687"/>
                  </a:moveTo>
                  <a:lnTo>
                    <a:pt x="1167042" y="258687"/>
                  </a:lnTo>
                  <a:lnTo>
                    <a:pt x="1167042" y="0"/>
                  </a:lnTo>
                  <a:lnTo>
                    <a:pt x="1035886" y="0"/>
                  </a:lnTo>
                  <a:lnTo>
                    <a:pt x="1035886" y="258687"/>
                  </a:lnTo>
                  <a:close/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4077303" y="1694443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7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2261798" y="1764257"/>
            <a:ext cx="5370830" cy="2066289"/>
            <a:chOff x="2261798" y="1764257"/>
            <a:chExt cx="5370830" cy="2066289"/>
          </a:xfrm>
        </p:grpSpPr>
        <p:sp>
          <p:nvSpPr>
            <p:cNvPr id="77" name="object 77"/>
            <p:cNvSpPr/>
            <p:nvPr/>
          </p:nvSpPr>
          <p:spPr>
            <a:xfrm>
              <a:off x="6403185" y="3054873"/>
              <a:ext cx="1160780" cy="730885"/>
            </a:xfrm>
            <a:custGeom>
              <a:avLst/>
              <a:gdLst/>
              <a:ahLst/>
              <a:cxnLst/>
              <a:rect l="l" t="t" r="r" b="b"/>
              <a:pathLst>
                <a:path w="1160779" h="730885">
                  <a:moveTo>
                    <a:pt x="0" y="0"/>
                  </a:moveTo>
                  <a:lnTo>
                    <a:pt x="1160405" y="730288"/>
                  </a:lnTo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529042" y="3740409"/>
              <a:ext cx="103505" cy="90170"/>
            </a:xfrm>
            <a:custGeom>
              <a:avLst/>
              <a:gdLst/>
              <a:ahLst/>
              <a:cxnLst/>
              <a:rect l="l" t="t" r="r" b="b"/>
              <a:pathLst>
                <a:path w="103504" h="90170">
                  <a:moveTo>
                    <a:pt x="51823" y="0"/>
                  </a:moveTo>
                  <a:lnTo>
                    <a:pt x="0" y="79432"/>
                  </a:lnTo>
                  <a:lnTo>
                    <a:pt x="103502" y="89793"/>
                  </a:lnTo>
                  <a:lnTo>
                    <a:pt x="518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164672" y="2086289"/>
              <a:ext cx="908050" cy="723900"/>
            </a:xfrm>
            <a:custGeom>
              <a:avLst/>
              <a:gdLst/>
              <a:ahLst/>
              <a:cxnLst/>
              <a:rect l="l" t="t" r="r" b="b"/>
              <a:pathLst>
                <a:path w="908050" h="723900">
                  <a:moveTo>
                    <a:pt x="908056" y="0"/>
                  </a:moveTo>
                  <a:lnTo>
                    <a:pt x="0" y="723668"/>
                  </a:lnTo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102484" y="2765205"/>
              <a:ext cx="100330" cy="96520"/>
            </a:xfrm>
            <a:custGeom>
              <a:avLst/>
              <a:gdLst/>
              <a:ahLst/>
              <a:cxnLst/>
              <a:rect l="l" t="t" r="r" b="b"/>
              <a:pathLst>
                <a:path w="100330" h="96519">
                  <a:moveTo>
                    <a:pt x="41458" y="0"/>
                  </a:moveTo>
                  <a:lnTo>
                    <a:pt x="0" y="96412"/>
                  </a:lnTo>
                  <a:lnTo>
                    <a:pt x="100191" y="72381"/>
                  </a:lnTo>
                  <a:lnTo>
                    <a:pt x="414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590815" y="2086289"/>
              <a:ext cx="2189480" cy="748030"/>
            </a:xfrm>
            <a:custGeom>
              <a:avLst/>
              <a:gdLst/>
              <a:ahLst/>
              <a:cxnLst/>
              <a:rect l="l" t="t" r="r" b="b"/>
              <a:pathLst>
                <a:path w="2189479" h="748030">
                  <a:moveTo>
                    <a:pt x="0" y="0"/>
                  </a:moveTo>
                  <a:lnTo>
                    <a:pt x="2188950" y="747843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52127" y="2785926"/>
              <a:ext cx="103505" cy="89535"/>
            </a:xfrm>
            <a:custGeom>
              <a:avLst/>
              <a:gdLst/>
              <a:ahLst/>
              <a:cxnLst/>
              <a:rect l="l" t="t" r="r" b="b"/>
              <a:pathLst>
                <a:path w="103504" h="89535">
                  <a:moveTo>
                    <a:pt x="31093" y="0"/>
                  </a:moveTo>
                  <a:lnTo>
                    <a:pt x="0" y="89505"/>
                  </a:lnTo>
                  <a:lnTo>
                    <a:pt x="103502" y="75690"/>
                  </a:lnTo>
                  <a:lnTo>
                    <a:pt x="310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50742" y="3054873"/>
              <a:ext cx="234950" cy="695960"/>
            </a:xfrm>
            <a:custGeom>
              <a:avLst/>
              <a:gdLst/>
              <a:ahLst/>
              <a:cxnLst/>
              <a:rect l="l" t="t" r="r" b="b"/>
              <a:pathLst>
                <a:path w="234950" h="695960">
                  <a:moveTo>
                    <a:pt x="234643" y="0"/>
                  </a:moveTo>
                  <a:lnTo>
                    <a:pt x="0" y="695752"/>
                  </a:lnTo>
                </a:path>
              </a:pathLst>
            </a:custGeom>
            <a:ln w="103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612738" y="3726595"/>
              <a:ext cx="86995" cy="104139"/>
            </a:xfrm>
            <a:custGeom>
              <a:avLst/>
              <a:gdLst/>
              <a:ahLst/>
              <a:cxnLst/>
              <a:rect l="l" t="t" r="r" b="b"/>
              <a:pathLst>
                <a:path w="86995" h="104139">
                  <a:moveTo>
                    <a:pt x="0" y="0"/>
                  </a:moveTo>
                  <a:lnTo>
                    <a:pt x="13819" y="103607"/>
                  </a:lnTo>
                  <a:lnTo>
                    <a:pt x="86371" y="27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779741" y="2022541"/>
              <a:ext cx="193675" cy="902969"/>
            </a:xfrm>
            <a:custGeom>
              <a:avLst/>
              <a:gdLst/>
              <a:ahLst/>
              <a:cxnLst/>
              <a:rect l="l" t="t" r="r" b="b"/>
              <a:pathLst>
                <a:path w="193675" h="902969">
                  <a:moveTo>
                    <a:pt x="0" y="0"/>
                  </a:moveTo>
                  <a:lnTo>
                    <a:pt x="193329" y="902823"/>
                  </a:lnTo>
                </a:path>
              </a:pathLst>
            </a:custGeom>
            <a:ln w="34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261798" y="1764257"/>
              <a:ext cx="1036319" cy="517525"/>
            </a:xfrm>
            <a:custGeom>
              <a:avLst/>
              <a:gdLst/>
              <a:ahLst/>
              <a:cxnLst/>
              <a:rect l="l" t="t" r="r" b="b"/>
              <a:pathLst>
                <a:path w="1036320" h="517525">
                  <a:moveTo>
                    <a:pt x="1035785" y="0"/>
                  </a:moveTo>
                  <a:lnTo>
                    <a:pt x="0" y="0"/>
                  </a:lnTo>
                  <a:lnTo>
                    <a:pt x="0" y="517015"/>
                  </a:lnTo>
                  <a:lnTo>
                    <a:pt x="1035785" y="517015"/>
                  </a:lnTo>
                  <a:lnTo>
                    <a:pt x="10357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261798" y="1764257"/>
            <a:ext cx="1036319" cy="517525"/>
          </a:xfrm>
          <a:prstGeom prst="rect">
            <a:avLst/>
          </a:prstGeom>
          <a:ln w="3450">
            <a:solidFill>
              <a:srgbClr val="000000"/>
            </a:solidFill>
          </a:ln>
        </p:spPr>
        <p:txBody>
          <a:bodyPr vert="horz" wrap="square" lIns="0" tIns="107950" rIns="0" bIns="0" rtlCol="0">
            <a:spAutoFit/>
          </a:bodyPr>
          <a:lstStyle/>
          <a:p>
            <a:pPr marL="77470" marR="68580" indent="96520">
              <a:lnSpc>
                <a:spcPct val="100000"/>
              </a:lnSpc>
              <a:spcBef>
                <a:spcPts val="850"/>
              </a:spcBef>
            </a:pPr>
            <a:r>
              <a:rPr sz="900" spc="-25" dirty="0">
                <a:latin typeface="Arial MT"/>
                <a:cs typeface="Arial MT"/>
              </a:rPr>
              <a:t>Violation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la </a:t>
            </a:r>
            <a:r>
              <a:rPr sz="900" spc="-20" dirty="0">
                <a:latin typeface="Arial MT"/>
                <a:cs typeface="Arial MT"/>
              </a:rPr>
              <a:t>règle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du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minimum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189252" y="1819364"/>
            <a:ext cx="3512185" cy="1433830"/>
            <a:chOff x="2189252" y="1819364"/>
            <a:chExt cx="3512185" cy="1433830"/>
          </a:xfrm>
        </p:grpSpPr>
        <p:sp>
          <p:nvSpPr>
            <p:cNvPr id="89" name="object 89"/>
            <p:cNvSpPr/>
            <p:nvPr/>
          </p:nvSpPr>
          <p:spPr>
            <a:xfrm>
              <a:off x="2194428" y="2861617"/>
              <a:ext cx="518159" cy="386715"/>
            </a:xfrm>
            <a:custGeom>
              <a:avLst/>
              <a:gdLst/>
              <a:ahLst/>
              <a:cxnLst/>
              <a:rect l="l" t="t" r="r" b="b"/>
              <a:pathLst>
                <a:path w="518160" h="386714">
                  <a:moveTo>
                    <a:pt x="518087" y="0"/>
                  </a:moveTo>
                  <a:lnTo>
                    <a:pt x="0" y="386225"/>
                  </a:lnTo>
                </a:path>
                <a:path w="518160" h="386714">
                  <a:moveTo>
                    <a:pt x="0" y="0"/>
                  </a:moveTo>
                  <a:lnTo>
                    <a:pt x="518087" y="386225"/>
                  </a:lnTo>
                </a:path>
              </a:pathLst>
            </a:custGeom>
            <a:ln w="1035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07086" y="1827990"/>
              <a:ext cx="1685289" cy="517525"/>
            </a:xfrm>
            <a:custGeom>
              <a:avLst/>
              <a:gdLst/>
              <a:ahLst/>
              <a:cxnLst/>
              <a:rect l="l" t="t" r="r" b="b"/>
              <a:pathLst>
                <a:path w="1685289" h="517525">
                  <a:moveTo>
                    <a:pt x="0" y="0"/>
                  </a:moveTo>
                  <a:lnTo>
                    <a:pt x="1685115" y="517029"/>
                  </a:lnTo>
                </a:path>
                <a:path w="1685289" h="517525">
                  <a:moveTo>
                    <a:pt x="1685115" y="0"/>
                  </a:moveTo>
                  <a:lnTo>
                    <a:pt x="0" y="517029"/>
                  </a:lnTo>
                </a:path>
              </a:pathLst>
            </a:custGeom>
            <a:ln w="1725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754829" y="5766749"/>
            <a:ext cx="390525" cy="258445"/>
          </a:xfrm>
          <a:prstGeom prst="rect">
            <a:avLst/>
          </a:prstGeom>
          <a:solidFill>
            <a:srgbClr val="C0C0C0"/>
          </a:solidFill>
          <a:ln w="10353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10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139675" y="5761569"/>
            <a:ext cx="204470" cy="269240"/>
            <a:chOff x="1139675" y="5761569"/>
            <a:chExt cx="204470" cy="269240"/>
          </a:xfrm>
        </p:grpSpPr>
        <p:sp>
          <p:nvSpPr>
            <p:cNvPr id="93" name="object 93"/>
            <p:cNvSpPr/>
            <p:nvPr/>
          </p:nvSpPr>
          <p:spPr>
            <a:xfrm>
              <a:off x="1144852" y="5766746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193631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3631" y="258342"/>
                  </a:lnTo>
                  <a:lnTo>
                    <a:pt x="193631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144852" y="5766746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0" y="258342"/>
                  </a:moveTo>
                  <a:lnTo>
                    <a:pt x="193631" y="258342"/>
                  </a:lnTo>
                  <a:lnTo>
                    <a:pt x="193631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2496514" y="5761348"/>
            <a:ext cx="142240" cy="269240"/>
            <a:chOff x="2496514" y="5761348"/>
            <a:chExt cx="142240" cy="269240"/>
          </a:xfrm>
        </p:grpSpPr>
        <p:sp>
          <p:nvSpPr>
            <p:cNvPr id="96" name="object 96"/>
            <p:cNvSpPr/>
            <p:nvPr/>
          </p:nvSpPr>
          <p:spPr>
            <a:xfrm>
              <a:off x="2501912" y="5766746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13115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31155" y="258342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501912" y="5766746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0" y="258342"/>
                  </a:moveTo>
                  <a:lnTo>
                    <a:pt x="131155" y="258342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824970" y="5505770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338476" y="5766749"/>
            <a:ext cx="386715" cy="258445"/>
          </a:xfrm>
          <a:prstGeom prst="rect">
            <a:avLst/>
          </a:prstGeom>
          <a:solidFill>
            <a:srgbClr val="C0C0C0"/>
          </a:solidFill>
          <a:ln w="10352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719864" y="5761570"/>
            <a:ext cx="207645" cy="269240"/>
            <a:chOff x="1719864" y="5761570"/>
            <a:chExt cx="207645" cy="269240"/>
          </a:xfrm>
        </p:grpSpPr>
        <p:sp>
          <p:nvSpPr>
            <p:cNvPr id="101" name="object 101"/>
            <p:cNvSpPr/>
            <p:nvPr/>
          </p:nvSpPr>
          <p:spPr>
            <a:xfrm>
              <a:off x="1725040" y="5766746"/>
              <a:ext cx="196850" cy="258445"/>
            </a:xfrm>
            <a:custGeom>
              <a:avLst/>
              <a:gdLst/>
              <a:ahLst/>
              <a:cxnLst/>
              <a:rect l="l" t="t" r="r" b="b"/>
              <a:pathLst>
                <a:path w="196850" h="258445">
                  <a:moveTo>
                    <a:pt x="196740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6740" y="258342"/>
                  </a:lnTo>
                  <a:lnTo>
                    <a:pt x="19674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725040" y="5766746"/>
              <a:ext cx="196850" cy="258445"/>
            </a:xfrm>
            <a:custGeom>
              <a:avLst/>
              <a:gdLst/>
              <a:ahLst/>
              <a:cxnLst/>
              <a:rect l="l" t="t" r="r" b="b"/>
              <a:pathLst>
                <a:path w="196850" h="258445">
                  <a:moveTo>
                    <a:pt x="0" y="258342"/>
                  </a:moveTo>
                  <a:lnTo>
                    <a:pt x="196740" y="258342"/>
                  </a:lnTo>
                  <a:lnTo>
                    <a:pt x="196740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1921774" y="5766749"/>
            <a:ext cx="387350" cy="258445"/>
          </a:xfrm>
          <a:prstGeom prst="rect">
            <a:avLst/>
          </a:prstGeom>
          <a:solidFill>
            <a:srgbClr val="C0C0C0"/>
          </a:solidFill>
          <a:ln w="1039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30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2303329" y="5761348"/>
            <a:ext cx="204470" cy="269240"/>
            <a:chOff x="2303329" y="5761348"/>
            <a:chExt cx="204470" cy="269240"/>
          </a:xfrm>
        </p:grpSpPr>
        <p:sp>
          <p:nvSpPr>
            <p:cNvPr id="105" name="object 105"/>
            <p:cNvSpPr/>
            <p:nvPr/>
          </p:nvSpPr>
          <p:spPr>
            <a:xfrm>
              <a:off x="2308727" y="5766746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19328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93285" y="258342"/>
                  </a:lnTo>
                  <a:lnTo>
                    <a:pt x="193285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308727" y="5766746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0" y="258342"/>
                  </a:moveTo>
                  <a:lnTo>
                    <a:pt x="193285" y="258342"/>
                  </a:lnTo>
                  <a:lnTo>
                    <a:pt x="19328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7" name="object 107"/>
          <p:cNvGrpSpPr/>
          <p:nvPr/>
        </p:nvGrpSpPr>
        <p:grpSpPr>
          <a:xfrm>
            <a:off x="2044084" y="4727656"/>
            <a:ext cx="142240" cy="269240"/>
            <a:chOff x="2044084" y="4727656"/>
            <a:chExt cx="142240" cy="269240"/>
          </a:xfrm>
        </p:grpSpPr>
        <p:sp>
          <p:nvSpPr>
            <p:cNvPr id="108" name="object 108"/>
            <p:cNvSpPr/>
            <p:nvPr/>
          </p:nvSpPr>
          <p:spPr>
            <a:xfrm>
              <a:off x="2049482" y="4733054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13115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31155" y="258342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049482" y="4733054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0" y="258342"/>
                  </a:moveTo>
                  <a:lnTo>
                    <a:pt x="131155" y="258342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2180623" y="4733054"/>
            <a:ext cx="387350" cy="258445"/>
          </a:xfrm>
          <a:prstGeom prst="rect">
            <a:avLst/>
          </a:prstGeom>
          <a:solidFill>
            <a:srgbClr val="FFFF00"/>
          </a:solidFill>
          <a:ln w="10381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85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562157" y="4727656"/>
            <a:ext cx="528955" cy="269240"/>
            <a:chOff x="2562157" y="4727656"/>
            <a:chExt cx="528955" cy="269240"/>
          </a:xfrm>
        </p:grpSpPr>
        <p:sp>
          <p:nvSpPr>
            <p:cNvPr id="112" name="object 112"/>
            <p:cNvSpPr/>
            <p:nvPr/>
          </p:nvSpPr>
          <p:spPr>
            <a:xfrm>
              <a:off x="2567555" y="4733054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13115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31155" y="258342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567555" y="4733054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0" y="258342"/>
                  </a:moveTo>
                  <a:lnTo>
                    <a:pt x="131155" y="258342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698696" y="4733054"/>
              <a:ext cx="386715" cy="258445"/>
            </a:xfrm>
            <a:custGeom>
              <a:avLst/>
              <a:gdLst/>
              <a:ahLst/>
              <a:cxnLst/>
              <a:rect l="l" t="t" r="r" b="b"/>
              <a:pathLst>
                <a:path w="386714" h="258445">
                  <a:moveTo>
                    <a:pt x="386571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386571" y="258342"/>
                  </a:lnTo>
                  <a:lnTo>
                    <a:pt x="38657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698696" y="4733054"/>
              <a:ext cx="386715" cy="258445"/>
            </a:xfrm>
            <a:custGeom>
              <a:avLst/>
              <a:gdLst/>
              <a:ahLst/>
              <a:cxnLst/>
              <a:rect l="l" t="t" r="r" b="b"/>
              <a:pathLst>
                <a:path w="386714" h="258445">
                  <a:moveTo>
                    <a:pt x="0" y="258342"/>
                  </a:moveTo>
                  <a:lnTo>
                    <a:pt x="386571" y="258342"/>
                  </a:lnTo>
                  <a:lnTo>
                    <a:pt x="386571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</a:pathLst>
            </a:custGeom>
            <a:ln w="103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703886" y="4730398"/>
            <a:ext cx="37655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latin typeface="Arial MT"/>
                <a:cs typeface="Arial MT"/>
              </a:rPr>
              <a:t>50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3079812" y="4727656"/>
            <a:ext cx="660400" cy="269240"/>
            <a:chOff x="3079812" y="4727656"/>
            <a:chExt cx="660400" cy="269240"/>
          </a:xfrm>
        </p:grpSpPr>
        <p:sp>
          <p:nvSpPr>
            <p:cNvPr id="118" name="object 118"/>
            <p:cNvSpPr/>
            <p:nvPr/>
          </p:nvSpPr>
          <p:spPr>
            <a:xfrm>
              <a:off x="3085210" y="4733054"/>
              <a:ext cx="131445" cy="258445"/>
            </a:xfrm>
            <a:custGeom>
              <a:avLst/>
              <a:gdLst/>
              <a:ahLst/>
              <a:cxnLst/>
              <a:rect l="l" t="t" r="r" b="b"/>
              <a:pathLst>
                <a:path w="131444" h="258445">
                  <a:moveTo>
                    <a:pt x="131155" y="0"/>
                  </a:moveTo>
                  <a:lnTo>
                    <a:pt x="0" y="0"/>
                  </a:lnTo>
                  <a:lnTo>
                    <a:pt x="0" y="258342"/>
                  </a:lnTo>
                  <a:lnTo>
                    <a:pt x="131155" y="258342"/>
                  </a:lnTo>
                  <a:lnTo>
                    <a:pt x="1311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085210" y="4733054"/>
              <a:ext cx="649605" cy="258445"/>
            </a:xfrm>
            <a:custGeom>
              <a:avLst/>
              <a:gdLst/>
              <a:ahLst/>
              <a:cxnLst/>
              <a:rect l="l" t="t" r="r" b="b"/>
              <a:pathLst>
                <a:path w="649604" h="258445">
                  <a:moveTo>
                    <a:pt x="0" y="258342"/>
                  </a:moveTo>
                  <a:lnTo>
                    <a:pt x="131155" y="258342"/>
                  </a:lnTo>
                  <a:lnTo>
                    <a:pt x="131155" y="0"/>
                  </a:lnTo>
                  <a:lnTo>
                    <a:pt x="0" y="0"/>
                  </a:lnTo>
                  <a:lnTo>
                    <a:pt x="0" y="258342"/>
                  </a:lnTo>
                  <a:close/>
                </a:path>
                <a:path w="649604" h="258445">
                  <a:moveTo>
                    <a:pt x="131141" y="258342"/>
                  </a:moveTo>
                  <a:lnTo>
                    <a:pt x="518058" y="258342"/>
                  </a:lnTo>
                  <a:lnTo>
                    <a:pt x="518058" y="0"/>
                  </a:lnTo>
                  <a:lnTo>
                    <a:pt x="131141" y="0"/>
                  </a:lnTo>
                  <a:lnTo>
                    <a:pt x="131141" y="258342"/>
                  </a:lnTo>
                  <a:close/>
                </a:path>
                <a:path w="649604" h="258445">
                  <a:moveTo>
                    <a:pt x="518087" y="258342"/>
                  </a:moveTo>
                  <a:lnTo>
                    <a:pt x="649242" y="258342"/>
                  </a:lnTo>
                  <a:lnTo>
                    <a:pt x="649242" y="0"/>
                  </a:lnTo>
                  <a:lnTo>
                    <a:pt x="518087" y="0"/>
                  </a:lnTo>
                  <a:lnTo>
                    <a:pt x="518087" y="258342"/>
                  </a:lnTo>
                  <a:close/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2119684" y="4471725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1531754" y="4858768"/>
            <a:ext cx="588645" cy="781050"/>
            <a:chOff x="1531754" y="4858768"/>
            <a:chExt cx="588645" cy="781050"/>
          </a:xfrm>
        </p:grpSpPr>
        <p:sp>
          <p:nvSpPr>
            <p:cNvPr id="122" name="object 122"/>
            <p:cNvSpPr/>
            <p:nvPr/>
          </p:nvSpPr>
          <p:spPr>
            <a:xfrm>
              <a:off x="1580079" y="4863945"/>
              <a:ext cx="535305" cy="709930"/>
            </a:xfrm>
            <a:custGeom>
              <a:avLst/>
              <a:gdLst/>
              <a:ahLst/>
              <a:cxnLst/>
              <a:rect l="l" t="t" r="r" b="b"/>
              <a:pathLst>
                <a:path w="535305" h="709929">
                  <a:moveTo>
                    <a:pt x="534972" y="0"/>
                  </a:moveTo>
                  <a:lnTo>
                    <a:pt x="0" y="709911"/>
                  </a:lnTo>
                </a:path>
              </a:pathLst>
            </a:custGeom>
            <a:ln w="103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531754" y="5535968"/>
              <a:ext cx="93345" cy="103505"/>
            </a:xfrm>
            <a:custGeom>
              <a:avLst/>
              <a:gdLst/>
              <a:ahLst/>
              <a:cxnLst/>
              <a:rect l="l" t="t" r="r" b="b"/>
              <a:pathLst>
                <a:path w="93344" h="103504">
                  <a:moveTo>
                    <a:pt x="17259" y="0"/>
                  </a:moveTo>
                  <a:lnTo>
                    <a:pt x="0" y="103333"/>
                  </a:lnTo>
                  <a:lnTo>
                    <a:pt x="93195" y="55113"/>
                  </a:lnTo>
                  <a:lnTo>
                    <a:pt x="17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4" name="object 124"/>
          <p:cNvGraphicFramePr>
            <a:graphicFrameLocks noGrp="1"/>
          </p:cNvGraphicFramePr>
          <p:nvPr/>
        </p:nvGraphicFramePr>
        <p:xfrm>
          <a:off x="4765148" y="5761569"/>
          <a:ext cx="1877693" cy="25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715"/>
                <a:gridCol w="193675"/>
                <a:gridCol w="390525"/>
                <a:gridCol w="193675"/>
                <a:gridCol w="390525"/>
                <a:gridCol w="194309"/>
                <a:gridCol w="66039"/>
                <a:gridCol w="62230"/>
              </a:tblGrid>
              <a:tr h="130810">
                <a:tc rowSpan="2"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7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25" name="object 125"/>
          <p:cNvSpPr txBox="1"/>
          <p:nvPr/>
        </p:nvSpPr>
        <p:spPr>
          <a:xfrm>
            <a:off x="4836943" y="5505770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2567554" y="5849423"/>
            <a:ext cx="2202815" cy="93345"/>
            <a:chOff x="2567554" y="5849423"/>
            <a:chExt cx="2202815" cy="93345"/>
          </a:xfrm>
        </p:grpSpPr>
        <p:sp>
          <p:nvSpPr>
            <p:cNvPr id="127" name="object 127"/>
            <p:cNvSpPr/>
            <p:nvPr/>
          </p:nvSpPr>
          <p:spPr>
            <a:xfrm>
              <a:off x="2567554" y="5897644"/>
              <a:ext cx="2120265" cy="0"/>
            </a:xfrm>
            <a:custGeom>
              <a:avLst/>
              <a:gdLst/>
              <a:ahLst/>
              <a:cxnLst/>
              <a:rect l="l" t="t" r="r" b="b"/>
              <a:pathLst>
                <a:path w="2120265">
                  <a:moveTo>
                    <a:pt x="0" y="0"/>
                  </a:moveTo>
                  <a:lnTo>
                    <a:pt x="2119853" y="0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677043" y="5849423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0" y="0"/>
                  </a:moveTo>
                  <a:lnTo>
                    <a:pt x="0" y="92996"/>
                  </a:lnTo>
                  <a:lnTo>
                    <a:pt x="93281" y="48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/>
          <p:nvPr/>
        </p:nvSpPr>
        <p:spPr>
          <a:xfrm>
            <a:off x="6683030" y="5849423"/>
            <a:ext cx="93345" cy="93345"/>
          </a:xfrm>
          <a:custGeom>
            <a:avLst/>
            <a:gdLst/>
            <a:ahLst/>
            <a:cxnLst/>
            <a:rect l="l" t="t" r="r" b="b"/>
            <a:pathLst>
              <a:path w="93345" h="93345">
                <a:moveTo>
                  <a:pt x="0" y="0"/>
                </a:moveTo>
                <a:lnTo>
                  <a:pt x="0" y="92996"/>
                </a:lnTo>
                <a:lnTo>
                  <a:pt x="93281" y="482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0" name="object 130"/>
          <p:cNvGraphicFramePr>
            <a:graphicFrameLocks noGrp="1"/>
          </p:cNvGraphicFramePr>
          <p:nvPr/>
        </p:nvGraphicFramePr>
        <p:xfrm>
          <a:off x="6802228" y="5761569"/>
          <a:ext cx="1878964" cy="257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0"/>
                <a:gridCol w="193040"/>
                <a:gridCol w="386714"/>
                <a:gridCol w="196850"/>
                <a:gridCol w="386715"/>
                <a:gridCol w="193675"/>
                <a:gridCol w="132080"/>
              </a:tblGrid>
              <a:tr h="25781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1" name="object 131"/>
          <p:cNvSpPr txBox="1"/>
          <p:nvPr/>
        </p:nvSpPr>
        <p:spPr>
          <a:xfrm>
            <a:off x="6877478" y="5505770"/>
            <a:ext cx="5073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2627878" y="4858769"/>
            <a:ext cx="4991100" cy="808355"/>
            <a:chOff x="2627878" y="4858769"/>
            <a:chExt cx="4991100" cy="808355"/>
          </a:xfrm>
        </p:grpSpPr>
        <p:sp>
          <p:nvSpPr>
            <p:cNvPr id="133" name="object 133"/>
            <p:cNvSpPr/>
            <p:nvPr/>
          </p:nvSpPr>
          <p:spPr>
            <a:xfrm>
              <a:off x="3150853" y="4863944"/>
              <a:ext cx="4385310" cy="762000"/>
            </a:xfrm>
            <a:custGeom>
              <a:avLst/>
              <a:gdLst/>
              <a:ahLst/>
              <a:cxnLst/>
              <a:rect l="l" t="t" r="r" b="b"/>
              <a:pathLst>
                <a:path w="4385309" h="762000">
                  <a:moveTo>
                    <a:pt x="0" y="0"/>
                  </a:moveTo>
                  <a:lnTo>
                    <a:pt x="4385099" y="761586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518678" y="5577295"/>
              <a:ext cx="100330" cy="90170"/>
            </a:xfrm>
            <a:custGeom>
              <a:avLst/>
              <a:gdLst/>
              <a:ahLst/>
              <a:cxnLst/>
              <a:rect l="l" t="t" r="r" b="b"/>
              <a:pathLst>
                <a:path w="100329" h="90170">
                  <a:moveTo>
                    <a:pt x="13819" y="0"/>
                  </a:moveTo>
                  <a:lnTo>
                    <a:pt x="0" y="89562"/>
                  </a:lnTo>
                  <a:lnTo>
                    <a:pt x="100047" y="62006"/>
                  </a:lnTo>
                  <a:lnTo>
                    <a:pt x="138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633053" y="4863944"/>
              <a:ext cx="2897505" cy="755015"/>
            </a:xfrm>
            <a:custGeom>
              <a:avLst/>
              <a:gdLst/>
              <a:ahLst/>
              <a:cxnLst/>
              <a:rect l="l" t="t" r="r" b="b"/>
              <a:pathLst>
                <a:path w="2897504" h="755014">
                  <a:moveTo>
                    <a:pt x="0" y="0"/>
                  </a:moveTo>
                  <a:lnTo>
                    <a:pt x="2896912" y="754693"/>
                  </a:lnTo>
                </a:path>
              </a:pathLst>
            </a:custGeom>
            <a:ln w="10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509236" y="5570417"/>
              <a:ext cx="100330" cy="90170"/>
            </a:xfrm>
            <a:custGeom>
              <a:avLst/>
              <a:gdLst/>
              <a:ahLst/>
              <a:cxnLst/>
              <a:rect l="l" t="t" r="r" b="b"/>
              <a:pathLst>
                <a:path w="100329" h="90170">
                  <a:moveTo>
                    <a:pt x="24184" y="0"/>
                  </a:moveTo>
                  <a:lnTo>
                    <a:pt x="0" y="89548"/>
                  </a:lnTo>
                  <a:lnTo>
                    <a:pt x="100047" y="68884"/>
                  </a:lnTo>
                  <a:lnTo>
                    <a:pt x="241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8965" y="635888"/>
            <a:ext cx="16129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Arbre-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B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31482" y="2024899"/>
            <a:ext cx="138430" cy="267970"/>
            <a:chOff x="3931482" y="2024899"/>
            <a:chExt cx="138430" cy="267970"/>
          </a:xfrm>
        </p:grpSpPr>
        <p:sp>
          <p:nvSpPr>
            <p:cNvPr id="4" name="object 4"/>
            <p:cNvSpPr/>
            <p:nvPr/>
          </p:nvSpPr>
          <p:spPr>
            <a:xfrm>
              <a:off x="3936880" y="2030296"/>
              <a:ext cx="127635" cy="257175"/>
            </a:xfrm>
            <a:custGeom>
              <a:avLst/>
              <a:gdLst/>
              <a:ahLst/>
              <a:cxnLst/>
              <a:rect l="l" t="t" r="r" b="b"/>
              <a:pathLst>
                <a:path w="127635" h="257175">
                  <a:moveTo>
                    <a:pt x="127298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27298" y="257008"/>
                  </a:lnTo>
                  <a:lnTo>
                    <a:pt x="12729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36880" y="2030296"/>
              <a:ext cx="127635" cy="257175"/>
            </a:xfrm>
            <a:custGeom>
              <a:avLst/>
              <a:gdLst/>
              <a:ahLst/>
              <a:cxnLst/>
              <a:rect l="l" t="t" r="r" b="b"/>
              <a:pathLst>
                <a:path w="127635" h="257175">
                  <a:moveTo>
                    <a:pt x="0" y="257008"/>
                  </a:moveTo>
                  <a:lnTo>
                    <a:pt x="127298" y="257008"/>
                  </a:lnTo>
                  <a:lnTo>
                    <a:pt x="127298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</a:pathLst>
            </a:custGeom>
            <a:ln w="10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64213" y="2030296"/>
            <a:ext cx="387985" cy="257175"/>
          </a:xfrm>
          <a:prstGeom prst="rect">
            <a:avLst/>
          </a:prstGeom>
          <a:solidFill>
            <a:srgbClr val="FFFF00"/>
          </a:solidFill>
          <a:ln w="10331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8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09615" y="3052876"/>
            <a:ext cx="137795" cy="267970"/>
            <a:chOff x="2709615" y="3052876"/>
            <a:chExt cx="137795" cy="267970"/>
          </a:xfrm>
        </p:grpSpPr>
        <p:sp>
          <p:nvSpPr>
            <p:cNvPr id="8" name="object 8"/>
            <p:cNvSpPr/>
            <p:nvPr/>
          </p:nvSpPr>
          <p:spPr>
            <a:xfrm>
              <a:off x="2715012" y="3058273"/>
              <a:ext cx="127000" cy="257175"/>
            </a:xfrm>
            <a:custGeom>
              <a:avLst/>
              <a:gdLst/>
              <a:ahLst/>
              <a:cxnLst/>
              <a:rect l="l" t="t" r="r" b="b"/>
              <a:pathLst>
                <a:path w="127000" h="257175">
                  <a:moveTo>
                    <a:pt x="12695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26956" y="257008"/>
                  </a:lnTo>
                  <a:lnTo>
                    <a:pt x="12695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5012" y="3058273"/>
              <a:ext cx="127000" cy="257175"/>
            </a:xfrm>
            <a:custGeom>
              <a:avLst/>
              <a:gdLst/>
              <a:ahLst/>
              <a:cxnLst/>
              <a:rect l="l" t="t" r="r" b="b"/>
              <a:pathLst>
                <a:path w="127000" h="257175">
                  <a:moveTo>
                    <a:pt x="0" y="257008"/>
                  </a:moveTo>
                  <a:lnTo>
                    <a:pt x="126956" y="257008"/>
                  </a:lnTo>
                  <a:lnTo>
                    <a:pt x="12695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</a:pathLst>
            </a:custGeom>
            <a:ln w="10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841960" y="3058273"/>
            <a:ext cx="388620" cy="257175"/>
          </a:xfrm>
          <a:prstGeom prst="rect">
            <a:avLst/>
          </a:prstGeom>
          <a:solidFill>
            <a:srgbClr val="FFFF00"/>
          </a:solidFill>
          <a:ln w="10331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8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24918" y="3053127"/>
            <a:ext cx="1040130" cy="906780"/>
            <a:chOff x="3224918" y="3053127"/>
            <a:chExt cx="1040130" cy="906780"/>
          </a:xfrm>
        </p:grpSpPr>
        <p:sp>
          <p:nvSpPr>
            <p:cNvPr id="12" name="object 12"/>
            <p:cNvSpPr/>
            <p:nvPr/>
          </p:nvSpPr>
          <p:spPr>
            <a:xfrm>
              <a:off x="3422259" y="3058273"/>
              <a:ext cx="127000" cy="257175"/>
            </a:xfrm>
            <a:custGeom>
              <a:avLst/>
              <a:gdLst/>
              <a:ahLst/>
              <a:cxnLst/>
              <a:rect l="l" t="t" r="r" b="b"/>
              <a:pathLst>
                <a:path w="127000" h="257175">
                  <a:moveTo>
                    <a:pt x="12695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26956" y="257008"/>
                  </a:lnTo>
                  <a:lnTo>
                    <a:pt x="12695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22259" y="3058273"/>
              <a:ext cx="837565" cy="257175"/>
            </a:xfrm>
            <a:custGeom>
              <a:avLst/>
              <a:gdLst/>
              <a:ahLst/>
              <a:cxnLst/>
              <a:rect l="l" t="t" r="r" b="b"/>
              <a:pathLst>
                <a:path w="837564" h="257175">
                  <a:moveTo>
                    <a:pt x="0" y="257008"/>
                  </a:moveTo>
                  <a:lnTo>
                    <a:pt x="126956" y="257008"/>
                  </a:lnTo>
                  <a:lnTo>
                    <a:pt x="12695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837564" h="257175">
                  <a:moveTo>
                    <a:pt x="126937" y="257008"/>
                  </a:moveTo>
                  <a:lnTo>
                    <a:pt x="514664" y="257008"/>
                  </a:lnTo>
                  <a:lnTo>
                    <a:pt x="514664" y="0"/>
                  </a:lnTo>
                  <a:lnTo>
                    <a:pt x="126937" y="0"/>
                  </a:lnTo>
                  <a:lnTo>
                    <a:pt x="126937" y="257008"/>
                  </a:lnTo>
                  <a:close/>
                </a:path>
                <a:path w="837564" h="257175">
                  <a:moveTo>
                    <a:pt x="707103" y="257008"/>
                  </a:moveTo>
                  <a:lnTo>
                    <a:pt x="837490" y="257008"/>
                  </a:lnTo>
                  <a:lnTo>
                    <a:pt x="837490" y="0"/>
                  </a:lnTo>
                  <a:lnTo>
                    <a:pt x="707103" y="0"/>
                  </a:lnTo>
                  <a:lnTo>
                    <a:pt x="707103" y="25700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30063" y="3058273"/>
              <a:ext cx="192405" cy="257175"/>
            </a:xfrm>
            <a:custGeom>
              <a:avLst/>
              <a:gdLst/>
              <a:ahLst/>
              <a:cxnLst/>
              <a:rect l="l" t="t" r="r" b="b"/>
              <a:pathLst>
                <a:path w="192404" h="257175">
                  <a:moveTo>
                    <a:pt x="192152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92152" y="257008"/>
                  </a:lnTo>
                  <a:lnTo>
                    <a:pt x="1921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30063" y="3058273"/>
              <a:ext cx="899794" cy="819785"/>
            </a:xfrm>
            <a:custGeom>
              <a:avLst/>
              <a:gdLst/>
              <a:ahLst/>
              <a:cxnLst/>
              <a:rect l="l" t="t" r="r" b="b"/>
              <a:pathLst>
                <a:path w="899795" h="819785">
                  <a:moveTo>
                    <a:pt x="0" y="257008"/>
                  </a:moveTo>
                  <a:lnTo>
                    <a:pt x="192152" y="257008"/>
                  </a:lnTo>
                  <a:lnTo>
                    <a:pt x="192152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899795" h="819785">
                  <a:moveTo>
                    <a:pt x="706816" y="257008"/>
                  </a:moveTo>
                  <a:lnTo>
                    <a:pt x="899313" y="257008"/>
                  </a:lnTo>
                  <a:lnTo>
                    <a:pt x="899313" y="0"/>
                  </a:lnTo>
                  <a:lnTo>
                    <a:pt x="706816" y="0"/>
                  </a:lnTo>
                  <a:lnTo>
                    <a:pt x="706816" y="257008"/>
                  </a:lnTo>
                  <a:close/>
                </a:path>
                <a:path w="899795" h="819785">
                  <a:moveTo>
                    <a:pt x="257310" y="130384"/>
                  </a:moveTo>
                  <a:lnTo>
                    <a:pt x="370653" y="819276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52631" y="3860436"/>
              <a:ext cx="92710" cy="99695"/>
            </a:xfrm>
            <a:custGeom>
              <a:avLst/>
              <a:gdLst/>
              <a:ahLst/>
              <a:cxnLst/>
              <a:rect l="l" t="t" r="r" b="b"/>
              <a:pathLst>
                <a:path w="92710" h="99695">
                  <a:moveTo>
                    <a:pt x="92591" y="0"/>
                  </a:moveTo>
                  <a:lnTo>
                    <a:pt x="0" y="13681"/>
                  </a:lnTo>
                  <a:lnTo>
                    <a:pt x="61823" y="99232"/>
                  </a:lnTo>
                  <a:lnTo>
                    <a:pt x="925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5218894" y="3052876"/>
            <a:ext cx="525780" cy="267970"/>
            <a:chOff x="5218894" y="3052876"/>
            <a:chExt cx="525780" cy="267970"/>
          </a:xfrm>
        </p:grpSpPr>
        <p:sp>
          <p:nvSpPr>
            <p:cNvPr id="18" name="object 18"/>
            <p:cNvSpPr/>
            <p:nvPr/>
          </p:nvSpPr>
          <p:spPr>
            <a:xfrm>
              <a:off x="5224291" y="3058273"/>
              <a:ext cx="127000" cy="257175"/>
            </a:xfrm>
            <a:custGeom>
              <a:avLst/>
              <a:gdLst/>
              <a:ahLst/>
              <a:cxnLst/>
              <a:rect l="l" t="t" r="r" b="b"/>
              <a:pathLst>
                <a:path w="127000" h="257175">
                  <a:moveTo>
                    <a:pt x="126955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26955" y="257008"/>
                  </a:lnTo>
                  <a:lnTo>
                    <a:pt x="12695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4291" y="3058273"/>
              <a:ext cx="127000" cy="257175"/>
            </a:xfrm>
            <a:custGeom>
              <a:avLst/>
              <a:gdLst/>
              <a:ahLst/>
              <a:cxnLst/>
              <a:rect l="l" t="t" r="r" b="b"/>
              <a:pathLst>
                <a:path w="127000" h="257175">
                  <a:moveTo>
                    <a:pt x="0" y="257008"/>
                  </a:moveTo>
                  <a:lnTo>
                    <a:pt x="126955" y="257008"/>
                  </a:lnTo>
                  <a:lnTo>
                    <a:pt x="126955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</a:pathLst>
            </a:custGeom>
            <a:ln w="10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1229" y="3058273"/>
              <a:ext cx="387985" cy="257175"/>
            </a:xfrm>
            <a:custGeom>
              <a:avLst/>
              <a:gdLst/>
              <a:ahLst/>
              <a:cxnLst/>
              <a:rect l="l" t="t" r="r" b="b"/>
              <a:pathLst>
                <a:path w="387985" h="257175">
                  <a:moveTo>
                    <a:pt x="38772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387726" y="257008"/>
                  </a:lnTo>
                  <a:lnTo>
                    <a:pt x="38772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51229" y="3058273"/>
              <a:ext cx="387985" cy="257175"/>
            </a:xfrm>
            <a:custGeom>
              <a:avLst/>
              <a:gdLst/>
              <a:ahLst/>
              <a:cxnLst/>
              <a:rect l="l" t="t" r="r" b="b"/>
              <a:pathLst>
                <a:path w="387985" h="257175">
                  <a:moveTo>
                    <a:pt x="0" y="257008"/>
                  </a:moveTo>
                  <a:lnTo>
                    <a:pt x="387726" y="257008"/>
                  </a:lnTo>
                  <a:lnTo>
                    <a:pt x="38772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</a:pathLst>
            </a:custGeom>
            <a:ln w="10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56391" y="3055566"/>
            <a:ext cx="3778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latin typeface="Arial MT"/>
                <a:cs typeface="Arial MT"/>
              </a:rPr>
              <a:t>60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33658" y="3052876"/>
            <a:ext cx="1041400" cy="267970"/>
            <a:chOff x="5733658" y="3052876"/>
            <a:chExt cx="1041400" cy="267970"/>
          </a:xfrm>
        </p:grpSpPr>
        <p:sp>
          <p:nvSpPr>
            <p:cNvPr id="24" name="object 24"/>
            <p:cNvSpPr/>
            <p:nvPr/>
          </p:nvSpPr>
          <p:spPr>
            <a:xfrm>
              <a:off x="5931537" y="3058273"/>
              <a:ext cx="130810" cy="257175"/>
            </a:xfrm>
            <a:custGeom>
              <a:avLst/>
              <a:gdLst/>
              <a:ahLst/>
              <a:cxnLst/>
              <a:rect l="l" t="t" r="r" b="b"/>
              <a:pathLst>
                <a:path w="130810" h="257175">
                  <a:moveTo>
                    <a:pt x="13038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30386" y="257008"/>
                  </a:lnTo>
                  <a:lnTo>
                    <a:pt x="1303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31537" y="3058273"/>
              <a:ext cx="837565" cy="257175"/>
            </a:xfrm>
            <a:custGeom>
              <a:avLst/>
              <a:gdLst/>
              <a:ahLst/>
              <a:cxnLst/>
              <a:rect l="l" t="t" r="r" b="b"/>
              <a:pathLst>
                <a:path w="837565" h="257175">
                  <a:moveTo>
                    <a:pt x="0" y="257008"/>
                  </a:moveTo>
                  <a:lnTo>
                    <a:pt x="130386" y="257008"/>
                  </a:lnTo>
                  <a:lnTo>
                    <a:pt x="13038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837565" h="257175">
                  <a:moveTo>
                    <a:pt x="130372" y="257008"/>
                  </a:moveTo>
                  <a:lnTo>
                    <a:pt x="514678" y="257008"/>
                  </a:lnTo>
                  <a:lnTo>
                    <a:pt x="514678" y="0"/>
                  </a:lnTo>
                  <a:lnTo>
                    <a:pt x="130372" y="0"/>
                  </a:lnTo>
                  <a:lnTo>
                    <a:pt x="130372" y="257008"/>
                  </a:lnTo>
                  <a:close/>
                </a:path>
                <a:path w="837565" h="257175">
                  <a:moveTo>
                    <a:pt x="706816" y="257008"/>
                  </a:moveTo>
                  <a:lnTo>
                    <a:pt x="837547" y="257008"/>
                  </a:lnTo>
                  <a:lnTo>
                    <a:pt x="837547" y="0"/>
                  </a:lnTo>
                  <a:lnTo>
                    <a:pt x="706816" y="0"/>
                  </a:lnTo>
                  <a:lnTo>
                    <a:pt x="706816" y="25700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39055" y="3058273"/>
              <a:ext cx="193040" cy="257175"/>
            </a:xfrm>
            <a:custGeom>
              <a:avLst/>
              <a:gdLst/>
              <a:ahLst/>
              <a:cxnLst/>
              <a:rect l="l" t="t" r="r" b="b"/>
              <a:pathLst>
                <a:path w="193039" h="257175">
                  <a:moveTo>
                    <a:pt x="19249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92496" y="257008"/>
                  </a:lnTo>
                  <a:lnTo>
                    <a:pt x="1924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39055" y="3058273"/>
              <a:ext cx="899794" cy="257175"/>
            </a:xfrm>
            <a:custGeom>
              <a:avLst/>
              <a:gdLst/>
              <a:ahLst/>
              <a:cxnLst/>
              <a:rect l="l" t="t" r="r" b="b"/>
              <a:pathLst>
                <a:path w="899795" h="257175">
                  <a:moveTo>
                    <a:pt x="0" y="257008"/>
                  </a:moveTo>
                  <a:lnTo>
                    <a:pt x="192496" y="257008"/>
                  </a:lnTo>
                  <a:lnTo>
                    <a:pt x="19249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899795" h="257175">
                  <a:moveTo>
                    <a:pt x="707103" y="257008"/>
                  </a:moveTo>
                  <a:lnTo>
                    <a:pt x="899256" y="257008"/>
                  </a:lnTo>
                  <a:lnTo>
                    <a:pt x="899256" y="0"/>
                  </a:lnTo>
                  <a:lnTo>
                    <a:pt x="707103" y="0"/>
                  </a:lnTo>
                  <a:lnTo>
                    <a:pt x="707103" y="25700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2771691" y="4081487"/>
          <a:ext cx="1737992" cy="25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985"/>
                <a:gridCol w="191769"/>
                <a:gridCol w="387350"/>
                <a:gridCol w="191769"/>
                <a:gridCol w="384175"/>
                <a:gridCol w="194944"/>
              </a:tblGrid>
              <a:tr h="256540"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30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4769353" y="4081487"/>
          <a:ext cx="1738628" cy="25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810"/>
                <a:gridCol w="192405"/>
                <a:gridCol w="387984"/>
                <a:gridCol w="193040"/>
                <a:gridCol w="387984"/>
                <a:gridCol w="192405"/>
              </a:tblGrid>
              <a:tr h="2565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53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763868" y="4081487"/>
          <a:ext cx="1737358" cy="25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175"/>
                <a:gridCol w="195579"/>
                <a:gridCol w="384810"/>
                <a:gridCol w="192405"/>
                <a:gridCol w="387984"/>
                <a:gridCol w="192405"/>
              </a:tblGrid>
              <a:tr h="2565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3422258" y="2155492"/>
            <a:ext cx="585470" cy="776605"/>
            <a:chOff x="3422258" y="2155492"/>
            <a:chExt cx="585470" cy="776605"/>
          </a:xfrm>
        </p:grpSpPr>
        <p:sp>
          <p:nvSpPr>
            <p:cNvPr id="32" name="object 32"/>
            <p:cNvSpPr/>
            <p:nvPr/>
          </p:nvSpPr>
          <p:spPr>
            <a:xfrm>
              <a:off x="3470343" y="2160637"/>
              <a:ext cx="532130" cy="706120"/>
            </a:xfrm>
            <a:custGeom>
              <a:avLst/>
              <a:gdLst/>
              <a:ahLst/>
              <a:cxnLst/>
              <a:rect l="l" t="t" r="r" b="b"/>
              <a:pathLst>
                <a:path w="532129" h="706119">
                  <a:moveTo>
                    <a:pt x="532080" y="0"/>
                  </a:moveTo>
                  <a:lnTo>
                    <a:pt x="0" y="705962"/>
                  </a:lnTo>
                </a:path>
              </a:pathLst>
            </a:custGeom>
            <a:ln w="102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22258" y="2828714"/>
              <a:ext cx="92710" cy="103505"/>
            </a:xfrm>
            <a:custGeom>
              <a:avLst/>
              <a:gdLst/>
              <a:ahLst/>
              <a:cxnLst/>
              <a:rect l="l" t="t" r="r" b="b"/>
              <a:pathLst>
                <a:path w="92710" h="103505">
                  <a:moveTo>
                    <a:pt x="17173" y="0"/>
                  </a:moveTo>
                  <a:lnTo>
                    <a:pt x="0" y="102934"/>
                  </a:lnTo>
                  <a:lnTo>
                    <a:pt x="92591" y="55041"/>
                  </a:lnTo>
                  <a:lnTo>
                    <a:pt x="17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4446785" y="2025150"/>
            <a:ext cx="1485265" cy="906780"/>
            <a:chOff x="4446785" y="2025150"/>
            <a:chExt cx="1485265" cy="906780"/>
          </a:xfrm>
        </p:grpSpPr>
        <p:sp>
          <p:nvSpPr>
            <p:cNvPr id="35" name="object 35"/>
            <p:cNvSpPr/>
            <p:nvPr/>
          </p:nvSpPr>
          <p:spPr>
            <a:xfrm>
              <a:off x="4644126" y="2030296"/>
              <a:ext cx="130810" cy="257175"/>
            </a:xfrm>
            <a:custGeom>
              <a:avLst/>
              <a:gdLst/>
              <a:ahLst/>
              <a:cxnLst/>
              <a:rect l="l" t="t" r="r" b="b"/>
              <a:pathLst>
                <a:path w="130810" h="257175">
                  <a:moveTo>
                    <a:pt x="130386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30386" y="257008"/>
                  </a:lnTo>
                  <a:lnTo>
                    <a:pt x="1303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44126" y="2030296"/>
              <a:ext cx="837565" cy="257175"/>
            </a:xfrm>
            <a:custGeom>
              <a:avLst/>
              <a:gdLst/>
              <a:ahLst/>
              <a:cxnLst/>
              <a:rect l="l" t="t" r="r" b="b"/>
              <a:pathLst>
                <a:path w="837564" h="257175">
                  <a:moveTo>
                    <a:pt x="0" y="257008"/>
                  </a:moveTo>
                  <a:lnTo>
                    <a:pt x="130386" y="257008"/>
                  </a:lnTo>
                  <a:lnTo>
                    <a:pt x="130386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837564" h="257175">
                  <a:moveTo>
                    <a:pt x="130372" y="257008"/>
                  </a:moveTo>
                  <a:lnTo>
                    <a:pt x="515021" y="257008"/>
                  </a:lnTo>
                  <a:lnTo>
                    <a:pt x="515021" y="0"/>
                  </a:lnTo>
                  <a:lnTo>
                    <a:pt x="130372" y="0"/>
                  </a:lnTo>
                  <a:lnTo>
                    <a:pt x="130372" y="257008"/>
                  </a:lnTo>
                  <a:close/>
                </a:path>
                <a:path w="837564" h="257175">
                  <a:moveTo>
                    <a:pt x="707103" y="257008"/>
                  </a:moveTo>
                  <a:lnTo>
                    <a:pt x="837490" y="257008"/>
                  </a:lnTo>
                  <a:lnTo>
                    <a:pt x="837490" y="0"/>
                  </a:lnTo>
                  <a:lnTo>
                    <a:pt x="707103" y="0"/>
                  </a:lnTo>
                  <a:lnTo>
                    <a:pt x="707103" y="25700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51930" y="2030296"/>
              <a:ext cx="192405" cy="257175"/>
            </a:xfrm>
            <a:custGeom>
              <a:avLst/>
              <a:gdLst/>
              <a:ahLst/>
              <a:cxnLst/>
              <a:rect l="l" t="t" r="r" b="b"/>
              <a:pathLst>
                <a:path w="192404" h="257175">
                  <a:moveTo>
                    <a:pt x="192152" y="0"/>
                  </a:moveTo>
                  <a:lnTo>
                    <a:pt x="0" y="0"/>
                  </a:lnTo>
                  <a:lnTo>
                    <a:pt x="0" y="257008"/>
                  </a:lnTo>
                  <a:lnTo>
                    <a:pt x="192152" y="257008"/>
                  </a:lnTo>
                  <a:lnTo>
                    <a:pt x="1921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51930" y="2030296"/>
              <a:ext cx="1410970" cy="857250"/>
            </a:xfrm>
            <a:custGeom>
              <a:avLst/>
              <a:gdLst/>
              <a:ahLst/>
              <a:cxnLst/>
              <a:rect l="l" t="t" r="r" b="b"/>
              <a:pathLst>
                <a:path w="1410970" h="857250">
                  <a:moveTo>
                    <a:pt x="0" y="257008"/>
                  </a:moveTo>
                  <a:lnTo>
                    <a:pt x="192152" y="257008"/>
                  </a:lnTo>
                  <a:lnTo>
                    <a:pt x="192152" y="0"/>
                  </a:lnTo>
                  <a:lnTo>
                    <a:pt x="0" y="0"/>
                  </a:lnTo>
                  <a:lnTo>
                    <a:pt x="0" y="257008"/>
                  </a:lnTo>
                  <a:close/>
                </a:path>
                <a:path w="1410970" h="857250">
                  <a:moveTo>
                    <a:pt x="707246" y="257008"/>
                  </a:moveTo>
                  <a:lnTo>
                    <a:pt x="899399" y="257008"/>
                  </a:lnTo>
                  <a:lnTo>
                    <a:pt x="899399" y="0"/>
                  </a:lnTo>
                  <a:lnTo>
                    <a:pt x="707246" y="0"/>
                  </a:lnTo>
                  <a:lnTo>
                    <a:pt x="707246" y="257008"/>
                  </a:lnTo>
                  <a:close/>
                </a:path>
                <a:path w="1410970" h="857250">
                  <a:moveTo>
                    <a:pt x="257310" y="130341"/>
                  </a:moveTo>
                  <a:lnTo>
                    <a:pt x="1410914" y="85689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28212" y="2842295"/>
              <a:ext cx="103505" cy="89535"/>
            </a:xfrm>
            <a:custGeom>
              <a:avLst/>
              <a:gdLst/>
              <a:ahLst/>
              <a:cxnLst/>
              <a:rect l="l" t="t" r="r" b="b"/>
              <a:pathLst>
                <a:path w="103504" h="89535">
                  <a:moveTo>
                    <a:pt x="48370" y="0"/>
                  </a:moveTo>
                  <a:lnTo>
                    <a:pt x="0" y="75628"/>
                  </a:lnTo>
                  <a:lnTo>
                    <a:pt x="103324" y="89353"/>
                  </a:lnTo>
                  <a:lnTo>
                    <a:pt x="483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777442" y="4081487"/>
          <a:ext cx="1740532" cy="256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985"/>
                <a:gridCol w="193040"/>
                <a:gridCol w="384809"/>
                <a:gridCol w="196215"/>
                <a:gridCol w="385444"/>
                <a:gridCol w="193039"/>
              </a:tblGrid>
              <a:tr h="2565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10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852237" y="3826578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81309" y="3826578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40652" y="3826578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38744" y="3826578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94022" y="2798558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5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7854" y="1724503"/>
            <a:ext cx="2604135" cy="13055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Clés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non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dupliquées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Ordre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&lt;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ts val="2310"/>
              </a:lnSpc>
              <a:spcBef>
                <a:spcPts val="4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Hauteur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&gt;</a:t>
            </a:r>
            <a:endParaRPr sz="2000">
              <a:latin typeface="Tahoma"/>
              <a:cs typeface="Tahoma"/>
            </a:endParaRPr>
          </a:p>
          <a:p>
            <a:pPr marR="240029" algn="r">
              <a:lnSpc>
                <a:spcPts val="1530"/>
              </a:lnSpc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06897" y="1770481"/>
            <a:ext cx="505459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6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54954" y="3183514"/>
            <a:ext cx="1227455" cy="776605"/>
            <a:chOff x="1554954" y="3183514"/>
            <a:chExt cx="1227455" cy="776605"/>
          </a:xfrm>
        </p:grpSpPr>
        <p:sp>
          <p:nvSpPr>
            <p:cNvPr id="49" name="object 49"/>
            <p:cNvSpPr/>
            <p:nvPr/>
          </p:nvSpPr>
          <p:spPr>
            <a:xfrm>
              <a:off x="1623589" y="3188657"/>
              <a:ext cx="1153795" cy="727075"/>
            </a:xfrm>
            <a:custGeom>
              <a:avLst/>
              <a:gdLst/>
              <a:ahLst/>
              <a:cxnLst/>
              <a:rect l="l" t="t" r="r" b="b"/>
              <a:pathLst>
                <a:path w="1153795" h="727075">
                  <a:moveTo>
                    <a:pt x="1153246" y="0"/>
                  </a:moveTo>
                  <a:lnTo>
                    <a:pt x="0" y="726534"/>
                  </a:lnTo>
                </a:path>
              </a:pathLst>
            </a:custGeom>
            <a:ln w="102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54954" y="3870701"/>
              <a:ext cx="103505" cy="89535"/>
            </a:xfrm>
            <a:custGeom>
              <a:avLst/>
              <a:gdLst/>
              <a:ahLst/>
              <a:cxnLst/>
              <a:rect l="l" t="t" r="r" b="b"/>
              <a:pathLst>
                <a:path w="103505" h="89535">
                  <a:moveTo>
                    <a:pt x="54911" y="0"/>
                  </a:moveTo>
                  <a:lnTo>
                    <a:pt x="0" y="88967"/>
                  </a:lnTo>
                  <a:lnTo>
                    <a:pt x="102938" y="75285"/>
                  </a:lnTo>
                  <a:lnTo>
                    <a:pt x="549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5284403" y="3183511"/>
            <a:ext cx="2322195" cy="776605"/>
            <a:chOff x="5284403" y="3183511"/>
            <a:chExt cx="2322195" cy="776605"/>
          </a:xfrm>
        </p:grpSpPr>
        <p:sp>
          <p:nvSpPr>
            <p:cNvPr id="52" name="object 52"/>
            <p:cNvSpPr/>
            <p:nvPr/>
          </p:nvSpPr>
          <p:spPr>
            <a:xfrm>
              <a:off x="5289549" y="3188657"/>
              <a:ext cx="229870" cy="692785"/>
            </a:xfrm>
            <a:custGeom>
              <a:avLst/>
              <a:gdLst/>
              <a:ahLst/>
              <a:cxnLst/>
              <a:rect l="l" t="t" r="r" b="b"/>
              <a:pathLst>
                <a:path w="229870" h="692785">
                  <a:moveTo>
                    <a:pt x="0" y="0"/>
                  </a:moveTo>
                  <a:lnTo>
                    <a:pt x="229833" y="692308"/>
                  </a:lnTo>
                </a:path>
              </a:pathLst>
            </a:custGeom>
            <a:ln w="102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71441" y="3857005"/>
              <a:ext cx="89535" cy="102870"/>
            </a:xfrm>
            <a:custGeom>
              <a:avLst/>
              <a:gdLst/>
              <a:ahLst/>
              <a:cxnLst/>
              <a:rect l="l" t="t" r="r" b="b"/>
              <a:pathLst>
                <a:path w="89535" h="102870">
                  <a:moveTo>
                    <a:pt x="89157" y="0"/>
                  </a:moveTo>
                  <a:lnTo>
                    <a:pt x="0" y="27377"/>
                  </a:lnTo>
                  <a:lnTo>
                    <a:pt x="75418" y="102663"/>
                  </a:lnTo>
                  <a:lnTo>
                    <a:pt x="891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996652" y="3188657"/>
              <a:ext cx="1534160" cy="733425"/>
            </a:xfrm>
            <a:custGeom>
              <a:avLst/>
              <a:gdLst/>
              <a:ahLst/>
              <a:cxnLst/>
              <a:rect l="l" t="t" r="r" b="b"/>
              <a:pathLst>
                <a:path w="1534159" h="733425">
                  <a:moveTo>
                    <a:pt x="0" y="0"/>
                  </a:moveTo>
                  <a:lnTo>
                    <a:pt x="1534131" y="733368"/>
                  </a:lnTo>
                </a:path>
              </a:pathLst>
            </a:custGeom>
            <a:ln w="102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99872" y="3877549"/>
              <a:ext cx="106680" cy="82550"/>
            </a:xfrm>
            <a:custGeom>
              <a:avLst/>
              <a:gdLst/>
              <a:ahLst/>
              <a:cxnLst/>
              <a:rect l="l" t="t" r="r" b="b"/>
              <a:pathLst>
                <a:path w="106679" h="82550">
                  <a:moveTo>
                    <a:pt x="41215" y="0"/>
                  </a:moveTo>
                  <a:lnTo>
                    <a:pt x="0" y="82119"/>
                  </a:lnTo>
                  <a:lnTo>
                    <a:pt x="106473" y="82119"/>
                  </a:lnTo>
                  <a:lnTo>
                    <a:pt x="41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853540" y="5710856"/>
          <a:ext cx="1855465" cy="25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445"/>
                <a:gridCol w="191135"/>
                <a:gridCol w="382269"/>
                <a:gridCol w="194309"/>
                <a:gridCol w="381634"/>
                <a:gridCol w="191135"/>
                <a:gridCol w="64769"/>
                <a:gridCol w="64769"/>
              </a:tblGrid>
              <a:tr h="128905"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10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50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57" name="object 57"/>
          <p:cNvSpPr txBox="1"/>
          <p:nvPr/>
        </p:nvSpPr>
        <p:spPr>
          <a:xfrm>
            <a:off x="927752" y="5458112"/>
            <a:ext cx="502284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857766" y="4689607"/>
            <a:ext cx="522605" cy="266700"/>
            <a:chOff x="3857766" y="4689607"/>
            <a:chExt cx="522605" cy="266700"/>
          </a:xfrm>
        </p:grpSpPr>
        <p:sp>
          <p:nvSpPr>
            <p:cNvPr id="59" name="object 59"/>
            <p:cNvSpPr/>
            <p:nvPr/>
          </p:nvSpPr>
          <p:spPr>
            <a:xfrm>
              <a:off x="3863163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129519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129519" y="255414"/>
                  </a:lnTo>
                  <a:lnTo>
                    <a:pt x="1295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863163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0" y="255414"/>
                  </a:moveTo>
                  <a:lnTo>
                    <a:pt x="129519" y="255414"/>
                  </a:lnTo>
                  <a:lnTo>
                    <a:pt x="129519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992668" y="4695005"/>
              <a:ext cx="382270" cy="255904"/>
            </a:xfrm>
            <a:custGeom>
              <a:avLst/>
              <a:gdLst/>
              <a:ahLst/>
              <a:cxnLst/>
              <a:rect l="l" t="t" r="r" b="b"/>
              <a:pathLst>
                <a:path w="382270" h="255904">
                  <a:moveTo>
                    <a:pt x="382090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382090" y="255414"/>
                  </a:lnTo>
                  <a:lnTo>
                    <a:pt x="38209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992668" y="4695005"/>
              <a:ext cx="382270" cy="255904"/>
            </a:xfrm>
            <a:custGeom>
              <a:avLst/>
              <a:gdLst/>
              <a:ahLst/>
              <a:cxnLst/>
              <a:rect l="l" t="t" r="r" b="b"/>
              <a:pathLst>
                <a:path w="382270" h="255904">
                  <a:moveTo>
                    <a:pt x="0" y="255414"/>
                  </a:moveTo>
                  <a:lnTo>
                    <a:pt x="382090" y="255414"/>
                  </a:lnTo>
                  <a:lnTo>
                    <a:pt x="382090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3997791" y="4692222"/>
            <a:ext cx="37211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0"/>
              </a:spcBef>
            </a:pPr>
            <a:r>
              <a:rPr sz="1350" spc="-25" dirty="0">
                <a:latin typeface="Arial MT"/>
                <a:cs typeface="Arial MT"/>
              </a:rPr>
              <a:t>25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369389" y="4689607"/>
            <a:ext cx="140335" cy="266700"/>
            <a:chOff x="4369389" y="4689607"/>
            <a:chExt cx="140335" cy="266700"/>
          </a:xfrm>
        </p:grpSpPr>
        <p:sp>
          <p:nvSpPr>
            <p:cNvPr id="65" name="object 65"/>
            <p:cNvSpPr/>
            <p:nvPr/>
          </p:nvSpPr>
          <p:spPr>
            <a:xfrm>
              <a:off x="4374787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129519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129519" y="255414"/>
                  </a:lnTo>
                  <a:lnTo>
                    <a:pt x="1295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74787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0" y="255414"/>
                  </a:moveTo>
                  <a:lnTo>
                    <a:pt x="129519" y="255414"/>
                  </a:lnTo>
                  <a:lnTo>
                    <a:pt x="129519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504299" y="4695004"/>
            <a:ext cx="382270" cy="255904"/>
          </a:xfrm>
          <a:prstGeom prst="rect">
            <a:avLst/>
          </a:prstGeom>
          <a:solidFill>
            <a:srgbClr val="FFFF00"/>
          </a:solidFill>
          <a:ln w="10273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70"/>
              </a:spcBef>
            </a:pPr>
            <a:r>
              <a:rPr sz="1350" spc="-25" dirty="0">
                <a:latin typeface="Arial MT"/>
                <a:cs typeface="Arial MT"/>
              </a:rPr>
              <a:t>40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880586" y="4689607"/>
            <a:ext cx="522605" cy="266700"/>
            <a:chOff x="4880586" y="4689607"/>
            <a:chExt cx="522605" cy="266700"/>
          </a:xfrm>
        </p:grpSpPr>
        <p:sp>
          <p:nvSpPr>
            <p:cNvPr id="69" name="object 69"/>
            <p:cNvSpPr/>
            <p:nvPr/>
          </p:nvSpPr>
          <p:spPr>
            <a:xfrm>
              <a:off x="4885984" y="4695005"/>
              <a:ext cx="130175" cy="255904"/>
            </a:xfrm>
            <a:custGeom>
              <a:avLst/>
              <a:gdLst/>
              <a:ahLst/>
              <a:cxnLst/>
              <a:rect l="l" t="t" r="r" b="b"/>
              <a:pathLst>
                <a:path w="130175" h="255904">
                  <a:moveTo>
                    <a:pt x="129860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129860" y="255414"/>
                  </a:lnTo>
                  <a:lnTo>
                    <a:pt x="12986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885984" y="4695005"/>
              <a:ext cx="130175" cy="255904"/>
            </a:xfrm>
            <a:custGeom>
              <a:avLst/>
              <a:gdLst/>
              <a:ahLst/>
              <a:cxnLst/>
              <a:rect l="l" t="t" r="r" b="b"/>
              <a:pathLst>
                <a:path w="130175" h="255904">
                  <a:moveTo>
                    <a:pt x="0" y="255414"/>
                  </a:moveTo>
                  <a:lnTo>
                    <a:pt x="129860" y="255414"/>
                  </a:lnTo>
                  <a:lnTo>
                    <a:pt x="129860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015916" y="4695005"/>
              <a:ext cx="382270" cy="255904"/>
            </a:xfrm>
            <a:custGeom>
              <a:avLst/>
              <a:gdLst/>
              <a:ahLst/>
              <a:cxnLst/>
              <a:rect l="l" t="t" r="r" b="b"/>
              <a:pathLst>
                <a:path w="382270" h="255904">
                  <a:moveTo>
                    <a:pt x="381748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381748" y="255414"/>
                  </a:lnTo>
                  <a:lnTo>
                    <a:pt x="381748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015916" y="4695005"/>
              <a:ext cx="382270" cy="255904"/>
            </a:xfrm>
            <a:custGeom>
              <a:avLst/>
              <a:gdLst/>
              <a:ahLst/>
              <a:cxnLst/>
              <a:rect l="l" t="t" r="r" b="b"/>
              <a:pathLst>
                <a:path w="382270" h="255904">
                  <a:moveTo>
                    <a:pt x="0" y="255414"/>
                  </a:moveTo>
                  <a:lnTo>
                    <a:pt x="381748" y="255414"/>
                  </a:lnTo>
                  <a:lnTo>
                    <a:pt x="381748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5021024" y="4692222"/>
            <a:ext cx="37147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0"/>
              </a:spcBef>
            </a:pPr>
            <a:r>
              <a:rPr sz="1350" spc="-25" dirty="0">
                <a:latin typeface="Arial MT"/>
                <a:cs typeface="Arial MT"/>
              </a:rPr>
              <a:t>60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392210" y="4689607"/>
            <a:ext cx="140335" cy="266700"/>
            <a:chOff x="5392210" y="4689607"/>
            <a:chExt cx="140335" cy="266700"/>
          </a:xfrm>
        </p:grpSpPr>
        <p:sp>
          <p:nvSpPr>
            <p:cNvPr id="75" name="object 75"/>
            <p:cNvSpPr/>
            <p:nvPr/>
          </p:nvSpPr>
          <p:spPr>
            <a:xfrm>
              <a:off x="5397608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129519" y="0"/>
                  </a:moveTo>
                  <a:lnTo>
                    <a:pt x="0" y="0"/>
                  </a:lnTo>
                  <a:lnTo>
                    <a:pt x="0" y="255414"/>
                  </a:lnTo>
                  <a:lnTo>
                    <a:pt x="129519" y="255414"/>
                  </a:lnTo>
                  <a:lnTo>
                    <a:pt x="12951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97608" y="4695005"/>
              <a:ext cx="129539" cy="255904"/>
            </a:xfrm>
            <a:custGeom>
              <a:avLst/>
              <a:gdLst/>
              <a:ahLst/>
              <a:cxnLst/>
              <a:rect l="l" t="t" r="r" b="b"/>
              <a:pathLst>
                <a:path w="129539" h="255904">
                  <a:moveTo>
                    <a:pt x="0" y="255414"/>
                  </a:moveTo>
                  <a:lnTo>
                    <a:pt x="129519" y="255414"/>
                  </a:lnTo>
                  <a:lnTo>
                    <a:pt x="129519" y="0"/>
                  </a:lnTo>
                  <a:lnTo>
                    <a:pt x="0" y="0"/>
                  </a:lnTo>
                  <a:lnTo>
                    <a:pt x="0" y="255414"/>
                  </a:lnTo>
                  <a:close/>
                </a:path>
              </a:pathLst>
            </a:custGeom>
            <a:ln w="10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3932203" y="4437148"/>
            <a:ext cx="502284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2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2072721" y="4819314"/>
            <a:ext cx="2372360" cy="777875"/>
            <a:chOff x="2072721" y="4819314"/>
            <a:chExt cx="2372360" cy="777875"/>
          </a:xfrm>
        </p:grpSpPr>
        <p:sp>
          <p:nvSpPr>
            <p:cNvPr id="79" name="object 79"/>
            <p:cNvSpPr/>
            <p:nvPr/>
          </p:nvSpPr>
          <p:spPr>
            <a:xfrm>
              <a:off x="2147709" y="4824422"/>
              <a:ext cx="1780539" cy="732155"/>
            </a:xfrm>
            <a:custGeom>
              <a:avLst/>
              <a:gdLst/>
              <a:ahLst/>
              <a:cxnLst/>
              <a:rect l="l" t="t" r="r" b="b"/>
              <a:pathLst>
                <a:path w="1780539" h="732154">
                  <a:moveTo>
                    <a:pt x="1780277" y="0"/>
                  </a:moveTo>
                  <a:lnTo>
                    <a:pt x="0" y="731580"/>
                  </a:lnTo>
                </a:path>
              </a:pathLst>
            </a:custGeom>
            <a:ln w="102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072721" y="5511847"/>
              <a:ext cx="102870" cy="85090"/>
            </a:xfrm>
            <a:custGeom>
              <a:avLst/>
              <a:gdLst/>
              <a:ahLst/>
              <a:cxnLst/>
              <a:rect l="l" t="t" r="r" b="b"/>
              <a:pathLst>
                <a:path w="102869" h="85089">
                  <a:moveTo>
                    <a:pt x="68178" y="0"/>
                  </a:moveTo>
                  <a:lnTo>
                    <a:pt x="0" y="78124"/>
                  </a:lnTo>
                  <a:lnTo>
                    <a:pt x="102253" y="84906"/>
                  </a:lnTo>
                  <a:lnTo>
                    <a:pt x="681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68550" y="4824422"/>
              <a:ext cx="771525" cy="708025"/>
            </a:xfrm>
            <a:custGeom>
              <a:avLst/>
              <a:gdLst/>
              <a:ahLst/>
              <a:cxnLst/>
              <a:rect l="l" t="t" r="r" b="b"/>
              <a:pathLst>
                <a:path w="771525" h="708025">
                  <a:moveTo>
                    <a:pt x="770918" y="0"/>
                  </a:moveTo>
                  <a:lnTo>
                    <a:pt x="0" y="707800"/>
                  </a:lnTo>
                </a:path>
              </a:pathLst>
            </a:custGeom>
            <a:ln w="102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607138" y="5491471"/>
              <a:ext cx="99695" cy="99060"/>
            </a:xfrm>
            <a:custGeom>
              <a:avLst/>
              <a:gdLst/>
              <a:ahLst/>
              <a:cxnLst/>
              <a:rect l="l" t="t" r="r" b="b"/>
              <a:pathLst>
                <a:path w="99695" h="99060">
                  <a:moveTo>
                    <a:pt x="37529" y="0"/>
                  </a:moveTo>
                  <a:lnTo>
                    <a:pt x="0" y="98499"/>
                  </a:lnTo>
                  <a:lnTo>
                    <a:pt x="99225" y="67922"/>
                  </a:lnTo>
                  <a:lnTo>
                    <a:pt x="37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2834805" y="5710856"/>
          <a:ext cx="1856737" cy="25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5445"/>
                <a:gridCol w="191135"/>
                <a:gridCol w="385444"/>
                <a:gridCol w="191134"/>
                <a:gridCol w="382270"/>
                <a:gridCol w="194310"/>
                <a:gridCol w="61594"/>
                <a:gridCol w="65405"/>
              </a:tblGrid>
              <a:tr h="128905">
                <a:tc row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25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30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50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4" name="object 84"/>
          <p:cNvSpPr/>
          <p:nvPr/>
        </p:nvSpPr>
        <p:spPr>
          <a:xfrm>
            <a:off x="4732596" y="5797484"/>
            <a:ext cx="92710" cy="92075"/>
          </a:xfrm>
          <a:custGeom>
            <a:avLst/>
            <a:gdLst/>
            <a:ahLst/>
            <a:cxnLst/>
            <a:rect l="l" t="t" r="r" b="b"/>
            <a:pathLst>
              <a:path w="92710" h="92075">
                <a:moveTo>
                  <a:pt x="0" y="0"/>
                </a:moveTo>
                <a:lnTo>
                  <a:pt x="0" y="92043"/>
                </a:lnTo>
                <a:lnTo>
                  <a:pt x="92117" y="478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2909098" y="5458112"/>
            <a:ext cx="502284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3</a:t>
            </a:r>
            <a:endParaRPr sz="1350">
              <a:latin typeface="Arial MT"/>
              <a:cs typeface="Arial MT"/>
            </a:endParaRPr>
          </a:p>
        </p:txBody>
      </p:sp>
      <p:graphicFrame>
        <p:nvGraphicFramePr>
          <p:cNvPr id="86" name="object 86"/>
          <p:cNvGraphicFramePr>
            <a:graphicFrameLocks noGrp="1"/>
          </p:cNvGraphicFramePr>
          <p:nvPr/>
        </p:nvGraphicFramePr>
        <p:xfrm>
          <a:off x="4819604" y="5710856"/>
          <a:ext cx="1853562" cy="25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/>
                <a:gridCol w="191135"/>
                <a:gridCol w="385444"/>
                <a:gridCol w="191134"/>
                <a:gridCol w="385445"/>
                <a:gridCol w="191135"/>
                <a:gridCol w="65405"/>
                <a:gridCol w="61594"/>
              </a:tblGrid>
              <a:tr h="128905"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40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53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  <a:tr h="1250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87" name="object 87"/>
          <p:cNvSpPr txBox="1"/>
          <p:nvPr/>
        </p:nvSpPr>
        <p:spPr>
          <a:xfrm>
            <a:off x="4890343" y="5458112"/>
            <a:ext cx="502284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1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2747940" y="5797484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0" y="0"/>
                </a:moveTo>
                <a:lnTo>
                  <a:pt x="0" y="92043"/>
                </a:lnTo>
                <a:lnTo>
                  <a:pt x="91975" y="478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4945695" y="4819024"/>
            <a:ext cx="708025" cy="771525"/>
            <a:chOff x="4945695" y="4819024"/>
            <a:chExt cx="708025" cy="771525"/>
          </a:xfrm>
        </p:grpSpPr>
        <p:sp>
          <p:nvSpPr>
            <p:cNvPr id="90" name="object 90"/>
            <p:cNvSpPr/>
            <p:nvPr/>
          </p:nvSpPr>
          <p:spPr>
            <a:xfrm>
              <a:off x="4951092" y="4824422"/>
              <a:ext cx="648335" cy="704850"/>
            </a:xfrm>
            <a:custGeom>
              <a:avLst/>
              <a:gdLst/>
              <a:ahLst/>
              <a:cxnLst/>
              <a:rect l="l" t="t" r="r" b="b"/>
              <a:pathLst>
                <a:path w="648335" h="704850">
                  <a:moveTo>
                    <a:pt x="0" y="0"/>
                  </a:moveTo>
                  <a:lnTo>
                    <a:pt x="647952" y="704409"/>
                  </a:lnTo>
                </a:path>
              </a:pathLst>
            </a:custGeom>
            <a:ln w="102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557819" y="5488066"/>
              <a:ext cx="95885" cy="102235"/>
            </a:xfrm>
            <a:custGeom>
              <a:avLst/>
              <a:gdLst/>
              <a:ahLst/>
              <a:cxnLst/>
              <a:rect l="l" t="t" r="r" b="b"/>
              <a:pathLst>
                <a:path w="95885" h="102235">
                  <a:moveTo>
                    <a:pt x="68519" y="0"/>
                  </a:moveTo>
                  <a:lnTo>
                    <a:pt x="0" y="64545"/>
                  </a:lnTo>
                  <a:lnTo>
                    <a:pt x="95813" y="101904"/>
                  </a:lnTo>
                  <a:lnTo>
                    <a:pt x="685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2" name="object 92"/>
          <p:cNvGraphicFramePr>
            <a:graphicFrameLocks noGrp="1"/>
          </p:cNvGraphicFramePr>
          <p:nvPr/>
        </p:nvGraphicFramePr>
        <p:xfrm>
          <a:off x="6800849" y="5710856"/>
          <a:ext cx="1856736" cy="254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270"/>
                <a:gridCol w="194310"/>
                <a:gridCol w="382269"/>
                <a:gridCol w="191134"/>
                <a:gridCol w="386079"/>
                <a:gridCol w="191135"/>
                <a:gridCol w="129539"/>
              </a:tblGrid>
              <a:tr h="25463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60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350" spc="-25" dirty="0">
                          <a:latin typeface="Arial MT"/>
                          <a:cs typeface="Arial MT"/>
                        </a:rPr>
                        <a:t>70</a:t>
                      </a:r>
                      <a:endParaRPr sz="1350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3" name="object 93"/>
          <p:cNvSpPr txBox="1"/>
          <p:nvPr/>
        </p:nvSpPr>
        <p:spPr>
          <a:xfrm>
            <a:off x="6875426" y="5458112"/>
            <a:ext cx="502284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-2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4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713983" y="5797484"/>
            <a:ext cx="92075" cy="92075"/>
          </a:xfrm>
          <a:custGeom>
            <a:avLst/>
            <a:gdLst/>
            <a:ahLst/>
            <a:cxnLst/>
            <a:rect l="l" t="t" r="r" b="b"/>
            <a:pathLst>
              <a:path w="92075" h="92075">
                <a:moveTo>
                  <a:pt x="0" y="0"/>
                </a:moveTo>
                <a:lnTo>
                  <a:pt x="0" y="92043"/>
                </a:lnTo>
                <a:lnTo>
                  <a:pt x="91975" y="478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5" name="object 95"/>
          <p:cNvGrpSpPr/>
          <p:nvPr/>
        </p:nvGrpSpPr>
        <p:grpSpPr>
          <a:xfrm>
            <a:off x="5457328" y="4819318"/>
            <a:ext cx="2181225" cy="781050"/>
            <a:chOff x="5457328" y="4819318"/>
            <a:chExt cx="2181225" cy="781050"/>
          </a:xfrm>
        </p:grpSpPr>
        <p:sp>
          <p:nvSpPr>
            <p:cNvPr id="96" name="object 96"/>
            <p:cNvSpPr/>
            <p:nvPr/>
          </p:nvSpPr>
          <p:spPr>
            <a:xfrm>
              <a:off x="5462432" y="4824422"/>
              <a:ext cx="2098040" cy="738505"/>
            </a:xfrm>
            <a:custGeom>
              <a:avLst/>
              <a:gdLst/>
              <a:ahLst/>
              <a:cxnLst/>
              <a:rect l="l" t="t" r="r" b="b"/>
              <a:pathLst>
                <a:path w="2098040" h="738504">
                  <a:moveTo>
                    <a:pt x="0" y="0"/>
                  </a:moveTo>
                  <a:lnTo>
                    <a:pt x="2097529" y="738377"/>
                  </a:lnTo>
                </a:path>
              </a:pathLst>
            </a:custGeom>
            <a:ln w="102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536079" y="5515238"/>
              <a:ext cx="102235" cy="85090"/>
            </a:xfrm>
            <a:custGeom>
              <a:avLst/>
              <a:gdLst/>
              <a:ahLst/>
              <a:cxnLst/>
              <a:rect l="l" t="t" r="r" b="b"/>
              <a:pathLst>
                <a:path w="102234" h="85089">
                  <a:moveTo>
                    <a:pt x="30705" y="0"/>
                  </a:moveTo>
                  <a:lnTo>
                    <a:pt x="0" y="84920"/>
                  </a:lnTo>
                  <a:lnTo>
                    <a:pt x="102211" y="74733"/>
                  </a:lnTo>
                  <a:lnTo>
                    <a:pt x="307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471409" y="1852930"/>
            <a:ext cx="876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Arbre-</a:t>
            </a:r>
            <a:r>
              <a:rPr sz="2000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446009" y="4672965"/>
            <a:ext cx="1022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Arbre-</a:t>
            </a:r>
            <a:r>
              <a:rPr sz="2000" spc="-25" dirty="0">
                <a:latin typeface="Times New Roman"/>
                <a:cs typeface="Times New Roman"/>
              </a:rPr>
              <a:t>B</a:t>
            </a:r>
            <a:r>
              <a:rPr sz="1950" spc="-37" baseline="25641" dirty="0">
                <a:latin typeface="Times New Roman"/>
                <a:cs typeface="Times New Roman"/>
              </a:rPr>
              <a:t>+</a:t>
            </a:r>
            <a:endParaRPr sz="1950" baseline="25641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685800" y="44196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782" y="635888"/>
            <a:ext cx="77749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Autres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variantes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du concept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d'arbre-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B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11347"/>
            <a:ext cx="5035550" cy="40506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Redistribuer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plutôt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diviser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occupation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moyenne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67%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=&gt;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86%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84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Diviser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deux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trois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spc="-10" dirty="0">
                <a:latin typeface="Tahoma"/>
                <a:cs typeface="Tahoma"/>
              </a:rPr>
              <a:t>Arbre-</a:t>
            </a:r>
            <a:r>
              <a:rPr sz="2000" spc="-35" dirty="0">
                <a:latin typeface="Tahoma"/>
                <a:cs typeface="Tahoma"/>
              </a:rPr>
              <a:t>B*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Ordre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variable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clés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taille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variable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Arbre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spc="-10" dirty="0">
                <a:latin typeface="Tahoma"/>
                <a:cs typeface="Tahoma"/>
              </a:rPr>
              <a:t> préfixe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comprimer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les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diminue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hauteur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Algorithme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chargement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lot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4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feuilles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consécutives</a:t>
            </a:r>
            <a:endParaRPr sz="20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taux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remplissage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prédéterminé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557" y="635888"/>
            <a:ext cx="51073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d'une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clé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non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unique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724485"/>
            <a:ext cx="7330440" cy="44665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33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spc="-10" dirty="0">
                <a:latin typeface="Tahoma"/>
                <a:cs typeface="Tahoma"/>
              </a:rPr>
              <a:t>Arbre-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307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primaire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sur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non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unique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1800" dirty="0">
                <a:latin typeface="Tahoma"/>
                <a:cs typeface="Tahoma"/>
              </a:rPr>
              <a:t>IDE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difficile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2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Arbre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307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secondaire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avec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répétées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1800" dirty="0">
                <a:latin typeface="Tahoma"/>
                <a:cs typeface="Tahoma"/>
              </a:rPr>
              <a:t>clé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’accès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+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pointeur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(unique)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2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Arbre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292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secondaire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avec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collection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références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115"/>
              </a:spcBef>
              <a:buClr>
                <a:srgbClr val="FF0000"/>
              </a:buClr>
              <a:buSzPct val="71052"/>
              <a:buFont typeface="Wingdings"/>
              <a:buChar char=""/>
              <a:tabLst>
                <a:tab pos="781685" algn="l"/>
              </a:tabLst>
            </a:pPr>
            <a:r>
              <a:rPr sz="1900" spc="-35" dirty="0">
                <a:latin typeface="Tahoma"/>
                <a:cs typeface="Tahoma"/>
              </a:rPr>
              <a:t>listes</a:t>
            </a:r>
            <a:r>
              <a:rPr sz="1900" spc="-85" dirty="0">
                <a:latin typeface="Tahoma"/>
                <a:cs typeface="Tahoma"/>
              </a:rPr>
              <a:t> </a:t>
            </a:r>
            <a:r>
              <a:rPr sz="1900" spc="-50" dirty="0">
                <a:latin typeface="Tahoma"/>
                <a:cs typeface="Tahoma"/>
              </a:rPr>
              <a:t>inversées</a:t>
            </a:r>
            <a:r>
              <a:rPr sz="19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dans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feuilles</a:t>
            </a:r>
            <a:endParaRPr sz="1800">
              <a:latin typeface="Tahoma"/>
              <a:cs typeface="Tahoma"/>
            </a:endParaRPr>
          </a:p>
          <a:p>
            <a:pPr marL="380365" marR="1141095" indent="-342900">
              <a:lnSpc>
                <a:spcPts val="2160"/>
              </a:lnSpc>
              <a:spcBef>
                <a:spcPts val="4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Arbre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307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secondaire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avec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référence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à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collection d'enregistrements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ts val="1410"/>
              </a:lnSpc>
              <a:buClr>
                <a:srgbClr val="FF0000"/>
              </a:buClr>
              <a:buSzPct val="72727"/>
              <a:buFont typeface="Wingdings"/>
              <a:buChar char=""/>
              <a:tabLst>
                <a:tab pos="781685" algn="l"/>
              </a:tabLst>
            </a:pPr>
            <a:r>
              <a:rPr sz="1650" spc="-20" dirty="0">
                <a:latin typeface="Tahoma"/>
                <a:cs typeface="Tahoma"/>
              </a:rPr>
              <a:t>Index</a:t>
            </a:r>
            <a:r>
              <a:rPr sz="1650" spc="-85" dirty="0">
                <a:latin typeface="Tahoma"/>
                <a:cs typeface="Tahoma"/>
              </a:rPr>
              <a:t> </a:t>
            </a:r>
            <a:r>
              <a:rPr sz="1650" spc="-30" dirty="0">
                <a:latin typeface="Tahoma"/>
                <a:cs typeface="Tahoma"/>
              </a:rPr>
              <a:t>groupant</a:t>
            </a:r>
            <a:r>
              <a:rPr sz="165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(“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50" spc="-25" dirty="0">
                <a:latin typeface="Tahoma"/>
                <a:cs typeface="Tahoma"/>
              </a:rPr>
              <a:t>clustering</a:t>
            </a:r>
            <a:r>
              <a:rPr sz="1650" spc="-50" dirty="0">
                <a:latin typeface="Tahoma"/>
                <a:cs typeface="Tahoma"/>
              </a:rPr>
              <a:t> </a:t>
            </a:r>
            <a:r>
              <a:rPr sz="1650" spc="-20" dirty="0">
                <a:latin typeface="Tahoma"/>
                <a:cs typeface="Tahoma"/>
              </a:rPr>
              <a:t>index</a:t>
            </a:r>
            <a:r>
              <a:rPr sz="1650" spc="-6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”)</a:t>
            </a:r>
            <a:endParaRPr sz="1600">
              <a:latin typeface="Tahoma"/>
              <a:cs typeface="Tahoma"/>
            </a:endParaRPr>
          </a:p>
          <a:p>
            <a:pPr marL="1180465" lvl="2" indent="-228600">
              <a:lnSpc>
                <a:spcPct val="100000"/>
              </a:lnSpc>
              <a:spcBef>
                <a:spcPts val="615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80465" algn="l"/>
              </a:tabLst>
            </a:pPr>
            <a:r>
              <a:rPr sz="1600" dirty="0">
                <a:latin typeface="Tahoma"/>
                <a:cs typeface="Tahoma"/>
              </a:rPr>
              <a:t>organisation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primaire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par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grappe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et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index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secondaire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sur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même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clé</a:t>
            </a:r>
            <a:endParaRPr sz="16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135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Arbre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292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secondaire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avec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référence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à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collection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références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1800" dirty="0">
                <a:latin typeface="Tahoma"/>
                <a:cs typeface="Tahoma"/>
              </a:rPr>
              <a:t>listes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inversées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à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part</a:t>
            </a:r>
            <a:endParaRPr sz="18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2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Arbre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1950" baseline="25641" dirty="0">
                <a:latin typeface="Tahoma"/>
                <a:cs typeface="Tahoma"/>
              </a:rPr>
              <a:t>+</a:t>
            </a:r>
            <a:r>
              <a:rPr sz="1950" spc="307" baseline="25641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avec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vecteurs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booléens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  <a:tab pos="1462405" algn="l"/>
              </a:tabLst>
            </a:pPr>
            <a:r>
              <a:rPr sz="1800" spc="-10" dirty="0">
                <a:latin typeface="Tahoma"/>
                <a:cs typeface="Tahoma"/>
              </a:rPr>
              <a:t>index</a:t>
            </a:r>
            <a:r>
              <a:rPr sz="1800" dirty="0">
                <a:latin typeface="Tahoma"/>
                <a:cs typeface="Tahoma"/>
              </a:rPr>
              <a:t>	«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bitmap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»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8458" y="392049"/>
            <a:ext cx="709168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3210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Réalisation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l'accès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à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l'aide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d'une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organisation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10271"/>
            <a:ext cx="7011034" cy="322135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Index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primaire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IDE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id_fichier,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valeur</a:t>
            </a:r>
            <a:r>
              <a:rPr sz="2950" spc="-114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de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la</a:t>
            </a:r>
            <a:r>
              <a:rPr sz="2950" spc="-130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clé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unique</a:t>
            </a:r>
            <a:endParaRPr sz="295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4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nécessite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passage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’index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IDE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logique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index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secondaire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clé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’index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IDE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658" y="635888"/>
            <a:ext cx="69380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Sélection</a:t>
            </a:r>
            <a:r>
              <a:rPr sz="3200" b="1" spc="-6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intervalle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ou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préfixe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711420"/>
            <a:ext cx="6245860" cy="11969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latin typeface="Tahoma"/>
                <a:cs typeface="Tahoma"/>
              </a:rPr>
              <a:t>Arbre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B</a:t>
            </a:r>
            <a:r>
              <a:rPr sz="2400" spc="-37" baseline="24305" dirty="0">
                <a:latin typeface="Tahoma"/>
                <a:cs typeface="Tahoma"/>
              </a:rPr>
              <a:t>+</a:t>
            </a:r>
            <a:endParaRPr sz="2400" baseline="24305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2000" dirty="0">
                <a:latin typeface="Tahoma"/>
                <a:cs typeface="Tahoma"/>
              </a:rPr>
              <a:t>recherche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valeur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minimale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2000" dirty="0">
                <a:latin typeface="Tahoma"/>
                <a:cs typeface="Tahoma"/>
              </a:rPr>
              <a:t>parcours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feuilles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jusqu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’à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valeur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maximale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5117" y="3335319"/>
            <a:ext cx="2242185" cy="960755"/>
          </a:xfrm>
          <a:custGeom>
            <a:avLst/>
            <a:gdLst/>
            <a:ahLst/>
            <a:cxnLst/>
            <a:rect l="l" t="t" r="r" b="b"/>
            <a:pathLst>
              <a:path w="2242185" h="960754">
                <a:moveTo>
                  <a:pt x="320127" y="320032"/>
                </a:moveTo>
                <a:lnTo>
                  <a:pt x="640236" y="320032"/>
                </a:lnTo>
                <a:lnTo>
                  <a:pt x="640236" y="0"/>
                </a:lnTo>
                <a:lnTo>
                  <a:pt x="320127" y="0"/>
                </a:lnTo>
                <a:lnTo>
                  <a:pt x="320127" y="320032"/>
                </a:lnTo>
                <a:close/>
              </a:path>
              <a:path w="2242185" h="960754">
                <a:moveTo>
                  <a:pt x="0" y="960205"/>
                </a:moveTo>
                <a:lnTo>
                  <a:pt x="320109" y="960205"/>
                </a:lnTo>
                <a:lnTo>
                  <a:pt x="320109" y="640172"/>
                </a:lnTo>
                <a:lnTo>
                  <a:pt x="0" y="640172"/>
                </a:lnTo>
                <a:lnTo>
                  <a:pt x="0" y="960205"/>
                </a:lnTo>
                <a:close/>
              </a:path>
              <a:path w="2242185" h="960754">
                <a:moveTo>
                  <a:pt x="478027" y="320032"/>
                </a:moveTo>
                <a:lnTo>
                  <a:pt x="2241638" y="559118"/>
                </a:lnTo>
              </a:path>
            </a:pathLst>
          </a:custGeom>
          <a:ln w="1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19691" y="3629478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93668" y="4276157"/>
            <a:ext cx="339725" cy="339725"/>
            <a:chOff x="3893668" y="4276157"/>
            <a:chExt cx="339725" cy="339725"/>
          </a:xfrm>
        </p:grpSpPr>
        <p:sp>
          <p:nvSpPr>
            <p:cNvPr id="7" name="object 7"/>
            <p:cNvSpPr/>
            <p:nvPr/>
          </p:nvSpPr>
          <p:spPr>
            <a:xfrm>
              <a:off x="3913036" y="4295525"/>
              <a:ext cx="231140" cy="231140"/>
            </a:xfrm>
            <a:custGeom>
              <a:avLst/>
              <a:gdLst/>
              <a:ahLst/>
              <a:cxnLst/>
              <a:rect l="l" t="t" r="r" b="b"/>
              <a:pathLst>
                <a:path w="231139" h="231139">
                  <a:moveTo>
                    <a:pt x="0" y="0"/>
                  </a:moveTo>
                  <a:lnTo>
                    <a:pt x="230567" y="230540"/>
                  </a:lnTo>
                </a:path>
              </a:pathLst>
            </a:custGeom>
            <a:ln w="384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8155" y="4436519"/>
              <a:ext cx="174990" cy="17891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319432" y="4269473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311609" y="4295525"/>
            <a:ext cx="1601470" cy="239395"/>
          </a:xfrm>
          <a:custGeom>
            <a:avLst/>
            <a:gdLst/>
            <a:ahLst/>
            <a:cxnLst/>
            <a:rect l="l" t="t" r="r" b="b"/>
            <a:pathLst>
              <a:path w="1601470" h="239395">
                <a:moveTo>
                  <a:pt x="1601426" y="0"/>
                </a:moveTo>
                <a:lnTo>
                  <a:pt x="0" y="238907"/>
                </a:lnTo>
              </a:path>
            </a:pathLst>
          </a:custGeom>
          <a:ln w="128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7350" y="3629478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38515" y="4269473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55117" y="5255944"/>
            <a:ext cx="320675" cy="320040"/>
          </a:xfrm>
          <a:custGeom>
            <a:avLst/>
            <a:gdLst/>
            <a:ahLst/>
            <a:cxnLst/>
            <a:rect l="l" t="t" r="r" b="b"/>
            <a:pathLst>
              <a:path w="320675" h="320039">
                <a:moveTo>
                  <a:pt x="0" y="320032"/>
                </a:moveTo>
                <a:lnTo>
                  <a:pt x="320109" y="320032"/>
                </a:lnTo>
                <a:lnTo>
                  <a:pt x="320109" y="0"/>
                </a:lnTo>
                <a:lnTo>
                  <a:pt x="0" y="0"/>
                </a:lnTo>
                <a:lnTo>
                  <a:pt x="0" y="320032"/>
                </a:lnTo>
                <a:close/>
              </a:path>
            </a:pathLst>
          </a:custGeom>
          <a:ln w="1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304942" y="2995456"/>
            <a:ext cx="3698875" cy="2186305"/>
            <a:chOff x="2304942" y="2995456"/>
            <a:chExt cx="3698875" cy="2186305"/>
          </a:xfrm>
        </p:grpSpPr>
        <p:sp>
          <p:nvSpPr>
            <p:cNvPr id="15" name="object 15"/>
            <p:cNvSpPr/>
            <p:nvPr/>
          </p:nvSpPr>
          <p:spPr>
            <a:xfrm>
              <a:off x="4233145" y="3014824"/>
              <a:ext cx="0" cy="192405"/>
            </a:xfrm>
            <a:custGeom>
              <a:avLst/>
              <a:gdLst/>
              <a:ahLst/>
              <a:cxnLst/>
              <a:rect l="l" t="t" r="r" b="b"/>
              <a:pathLst>
                <a:path h="192405">
                  <a:moveTo>
                    <a:pt x="0" y="0"/>
                  </a:moveTo>
                  <a:lnTo>
                    <a:pt x="0" y="192265"/>
                  </a:lnTo>
                </a:path>
              </a:pathLst>
            </a:custGeom>
            <a:ln w="384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51970" y="3168814"/>
              <a:ext cx="167005" cy="167005"/>
            </a:xfrm>
            <a:custGeom>
              <a:avLst/>
              <a:gdLst/>
              <a:ahLst/>
              <a:cxnLst/>
              <a:rect l="l" t="t" r="r" b="b"/>
              <a:pathLst>
                <a:path w="167004" h="167004">
                  <a:moveTo>
                    <a:pt x="166623" y="0"/>
                  </a:moveTo>
                  <a:lnTo>
                    <a:pt x="123899" y="12639"/>
                  </a:lnTo>
                  <a:lnTo>
                    <a:pt x="81175" y="16912"/>
                  </a:lnTo>
                  <a:lnTo>
                    <a:pt x="38451" y="12639"/>
                  </a:lnTo>
                  <a:lnTo>
                    <a:pt x="0" y="0"/>
                  </a:lnTo>
                  <a:lnTo>
                    <a:pt x="81175" y="166630"/>
                  </a:lnTo>
                  <a:lnTo>
                    <a:pt x="1666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11609" y="3655352"/>
              <a:ext cx="1922145" cy="239395"/>
            </a:xfrm>
            <a:custGeom>
              <a:avLst/>
              <a:gdLst/>
              <a:ahLst/>
              <a:cxnLst/>
              <a:rect l="l" t="t" r="r" b="b"/>
              <a:pathLst>
                <a:path w="1922145" h="239395">
                  <a:moveTo>
                    <a:pt x="1921535" y="0"/>
                  </a:moveTo>
                  <a:lnTo>
                    <a:pt x="0" y="239085"/>
                  </a:lnTo>
                </a:path>
              </a:pathLst>
            </a:custGeom>
            <a:ln w="12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02667" y="3655352"/>
              <a:ext cx="230504" cy="231140"/>
            </a:xfrm>
            <a:custGeom>
              <a:avLst/>
              <a:gdLst/>
              <a:ahLst/>
              <a:cxnLst/>
              <a:rect l="l" t="t" r="r" b="b"/>
              <a:pathLst>
                <a:path w="230504" h="231139">
                  <a:moveTo>
                    <a:pt x="230478" y="0"/>
                  </a:moveTo>
                  <a:lnTo>
                    <a:pt x="0" y="230540"/>
                  </a:lnTo>
                </a:path>
              </a:pathLst>
            </a:custGeom>
            <a:ln w="384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3036" y="3795991"/>
              <a:ext cx="175025" cy="1794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13036" y="4295525"/>
              <a:ext cx="2084070" cy="879475"/>
            </a:xfrm>
            <a:custGeom>
              <a:avLst/>
              <a:gdLst/>
              <a:ahLst/>
              <a:cxnLst/>
              <a:rect l="l" t="t" r="r" b="b"/>
              <a:pathLst>
                <a:path w="2084070" h="879475">
                  <a:moveTo>
                    <a:pt x="0" y="0"/>
                  </a:moveTo>
                  <a:lnTo>
                    <a:pt x="1443572" y="238907"/>
                  </a:lnTo>
                </a:path>
                <a:path w="2084070" h="879475">
                  <a:moveTo>
                    <a:pt x="162208" y="639994"/>
                  </a:moveTo>
                  <a:lnTo>
                    <a:pt x="482318" y="639994"/>
                  </a:lnTo>
                  <a:lnTo>
                    <a:pt x="482318" y="319961"/>
                  </a:lnTo>
                  <a:lnTo>
                    <a:pt x="162208" y="319961"/>
                  </a:lnTo>
                  <a:lnTo>
                    <a:pt x="162208" y="639994"/>
                  </a:lnTo>
                  <a:close/>
                </a:path>
                <a:path w="2084070" h="879475">
                  <a:moveTo>
                    <a:pt x="320109" y="639994"/>
                  </a:moveTo>
                  <a:lnTo>
                    <a:pt x="2083719" y="879080"/>
                  </a:lnTo>
                </a:path>
              </a:pathLst>
            </a:custGeom>
            <a:ln w="128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00688" y="4909646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8345" y="4909646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67405" y="4916312"/>
            <a:ext cx="1784985" cy="339725"/>
            <a:chOff x="2467405" y="4916312"/>
            <a:chExt cx="1784985" cy="339725"/>
          </a:xfrm>
        </p:grpSpPr>
        <p:sp>
          <p:nvSpPr>
            <p:cNvPr id="24" name="object 24"/>
            <p:cNvSpPr/>
            <p:nvPr/>
          </p:nvSpPr>
          <p:spPr>
            <a:xfrm>
              <a:off x="2473807" y="4935519"/>
              <a:ext cx="1759585" cy="239395"/>
            </a:xfrm>
            <a:custGeom>
              <a:avLst/>
              <a:gdLst/>
              <a:ahLst/>
              <a:cxnLst/>
              <a:rect l="l" t="t" r="r" b="b"/>
              <a:pathLst>
                <a:path w="1759585" h="239395">
                  <a:moveTo>
                    <a:pt x="1759337" y="0"/>
                  </a:moveTo>
                  <a:lnTo>
                    <a:pt x="0" y="239085"/>
                  </a:lnTo>
                </a:path>
              </a:pathLst>
            </a:custGeom>
            <a:ln w="12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02667" y="4935519"/>
              <a:ext cx="230504" cy="231140"/>
            </a:xfrm>
            <a:custGeom>
              <a:avLst/>
              <a:gdLst/>
              <a:ahLst/>
              <a:cxnLst/>
              <a:rect l="l" t="t" r="r" b="b"/>
              <a:pathLst>
                <a:path w="230504" h="231139">
                  <a:moveTo>
                    <a:pt x="230478" y="0"/>
                  </a:moveTo>
                  <a:lnTo>
                    <a:pt x="0" y="230540"/>
                  </a:lnTo>
                </a:path>
              </a:pathLst>
            </a:custGeom>
            <a:ln w="3841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3036" y="5076514"/>
              <a:ext cx="175025" cy="179447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4395318" y="5255944"/>
            <a:ext cx="320675" cy="320040"/>
          </a:xfrm>
          <a:custGeom>
            <a:avLst/>
            <a:gdLst/>
            <a:ahLst/>
            <a:cxnLst/>
            <a:rect l="l" t="t" r="r" b="b"/>
            <a:pathLst>
              <a:path w="320675" h="320039">
                <a:moveTo>
                  <a:pt x="0" y="320032"/>
                </a:moveTo>
                <a:lnTo>
                  <a:pt x="320536" y="320032"/>
                </a:lnTo>
                <a:lnTo>
                  <a:pt x="320536" y="0"/>
                </a:lnTo>
                <a:lnTo>
                  <a:pt x="0" y="0"/>
                </a:lnTo>
                <a:lnTo>
                  <a:pt x="0" y="320032"/>
                </a:lnTo>
                <a:close/>
              </a:path>
            </a:pathLst>
          </a:custGeom>
          <a:ln w="1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4075244" y="5332654"/>
            <a:ext cx="320675" cy="166370"/>
            <a:chOff x="4075244" y="5332654"/>
            <a:chExt cx="320675" cy="166370"/>
          </a:xfrm>
        </p:grpSpPr>
        <p:sp>
          <p:nvSpPr>
            <p:cNvPr id="29" name="object 29"/>
            <p:cNvSpPr/>
            <p:nvPr/>
          </p:nvSpPr>
          <p:spPr>
            <a:xfrm>
              <a:off x="4075244" y="5413619"/>
              <a:ext cx="192405" cy="0"/>
            </a:xfrm>
            <a:custGeom>
              <a:avLst/>
              <a:gdLst/>
              <a:ahLst/>
              <a:cxnLst/>
              <a:rect l="l" t="t" r="r" b="b"/>
              <a:pathLst>
                <a:path w="192404">
                  <a:moveTo>
                    <a:pt x="0" y="0"/>
                  </a:moveTo>
                  <a:lnTo>
                    <a:pt x="192079" y="0"/>
                  </a:lnTo>
                </a:path>
              </a:pathLst>
            </a:custGeom>
            <a:ln w="384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28872" y="5332654"/>
              <a:ext cx="167005" cy="166370"/>
            </a:xfrm>
            <a:custGeom>
              <a:avLst/>
              <a:gdLst/>
              <a:ahLst/>
              <a:cxnLst/>
              <a:rect l="l" t="t" r="r" b="b"/>
              <a:pathLst>
                <a:path w="167004" h="166370">
                  <a:moveTo>
                    <a:pt x="0" y="0"/>
                  </a:moveTo>
                  <a:lnTo>
                    <a:pt x="12817" y="38364"/>
                  </a:lnTo>
                  <a:lnTo>
                    <a:pt x="17089" y="80965"/>
                  </a:lnTo>
                  <a:lnTo>
                    <a:pt x="12817" y="123583"/>
                  </a:lnTo>
                  <a:lnTo>
                    <a:pt x="0" y="166202"/>
                  </a:lnTo>
                  <a:lnTo>
                    <a:pt x="166445" y="8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5036000" y="5255944"/>
            <a:ext cx="320675" cy="320040"/>
          </a:xfrm>
          <a:custGeom>
            <a:avLst/>
            <a:gdLst/>
            <a:ahLst/>
            <a:cxnLst/>
            <a:rect l="l" t="t" r="r" b="b"/>
            <a:pathLst>
              <a:path w="320675" h="320039">
                <a:moveTo>
                  <a:pt x="0" y="320032"/>
                </a:moveTo>
                <a:lnTo>
                  <a:pt x="320536" y="320032"/>
                </a:lnTo>
                <a:lnTo>
                  <a:pt x="320536" y="0"/>
                </a:lnTo>
                <a:lnTo>
                  <a:pt x="0" y="0"/>
                </a:lnTo>
                <a:lnTo>
                  <a:pt x="0" y="320032"/>
                </a:lnTo>
                <a:close/>
              </a:path>
            </a:pathLst>
          </a:custGeom>
          <a:ln w="1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76681" y="5255944"/>
            <a:ext cx="320675" cy="320040"/>
          </a:xfrm>
          <a:custGeom>
            <a:avLst/>
            <a:gdLst/>
            <a:ahLst/>
            <a:cxnLst/>
            <a:rect l="l" t="t" r="r" b="b"/>
            <a:pathLst>
              <a:path w="320675" h="320039">
                <a:moveTo>
                  <a:pt x="0" y="320032"/>
                </a:moveTo>
                <a:lnTo>
                  <a:pt x="320109" y="320032"/>
                </a:lnTo>
                <a:lnTo>
                  <a:pt x="320109" y="0"/>
                </a:lnTo>
                <a:lnTo>
                  <a:pt x="0" y="0"/>
                </a:lnTo>
                <a:lnTo>
                  <a:pt x="0" y="320032"/>
                </a:lnTo>
                <a:close/>
              </a:path>
            </a:pathLst>
          </a:custGeom>
          <a:ln w="1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5356607" y="5332654"/>
            <a:ext cx="320675" cy="166370"/>
            <a:chOff x="5356607" y="5332654"/>
            <a:chExt cx="320675" cy="166370"/>
          </a:xfrm>
        </p:grpSpPr>
        <p:sp>
          <p:nvSpPr>
            <p:cNvPr id="34" name="object 34"/>
            <p:cNvSpPr/>
            <p:nvPr/>
          </p:nvSpPr>
          <p:spPr>
            <a:xfrm>
              <a:off x="5356607" y="5413619"/>
              <a:ext cx="192405" cy="0"/>
            </a:xfrm>
            <a:custGeom>
              <a:avLst/>
              <a:gdLst/>
              <a:ahLst/>
              <a:cxnLst/>
              <a:rect l="l" t="t" r="r" b="b"/>
              <a:pathLst>
                <a:path w="192404">
                  <a:moveTo>
                    <a:pt x="0" y="0"/>
                  </a:moveTo>
                  <a:lnTo>
                    <a:pt x="192079" y="0"/>
                  </a:lnTo>
                </a:path>
              </a:pathLst>
            </a:custGeom>
            <a:ln w="384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510236" y="5332654"/>
              <a:ext cx="167005" cy="166370"/>
            </a:xfrm>
            <a:custGeom>
              <a:avLst/>
              <a:gdLst/>
              <a:ahLst/>
              <a:cxnLst/>
              <a:rect l="l" t="t" r="r" b="b"/>
              <a:pathLst>
                <a:path w="167004" h="166370">
                  <a:moveTo>
                    <a:pt x="0" y="0"/>
                  </a:moveTo>
                  <a:lnTo>
                    <a:pt x="12817" y="38364"/>
                  </a:lnTo>
                  <a:lnTo>
                    <a:pt x="17089" y="80965"/>
                  </a:lnTo>
                  <a:lnTo>
                    <a:pt x="12817" y="123583"/>
                  </a:lnTo>
                  <a:lnTo>
                    <a:pt x="0" y="166202"/>
                  </a:lnTo>
                  <a:lnTo>
                    <a:pt x="166445" y="8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58589" y="5229643"/>
            <a:ext cx="230504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25" dirty="0">
                <a:latin typeface="Arial MT"/>
                <a:cs typeface="Arial MT"/>
              </a:rPr>
              <a:t>...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57253" y="5735788"/>
            <a:ext cx="2242185" cy="482600"/>
          </a:xfrm>
          <a:custGeom>
            <a:avLst/>
            <a:gdLst/>
            <a:ahLst/>
            <a:cxnLst/>
            <a:rect l="l" t="t" r="r" b="b"/>
            <a:pathLst>
              <a:path w="2242185" h="482600">
                <a:moveTo>
                  <a:pt x="2241638" y="0"/>
                </a:moveTo>
                <a:lnTo>
                  <a:pt x="2241638" y="162357"/>
                </a:lnTo>
                <a:lnTo>
                  <a:pt x="2233093" y="209231"/>
                </a:lnTo>
                <a:lnTo>
                  <a:pt x="2207459" y="256104"/>
                </a:lnTo>
                <a:lnTo>
                  <a:pt x="2173279" y="290196"/>
                </a:lnTo>
                <a:lnTo>
                  <a:pt x="2130733" y="311505"/>
                </a:lnTo>
                <a:lnTo>
                  <a:pt x="2079465" y="320015"/>
                </a:lnTo>
                <a:lnTo>
                  <a:pt x="1280882" y="320015"/>
                </a:lnTo>
                <a:lnTo>
                  <a:pt x="1229613" y="328542"/>
                </a:lnTo>
                <a:lnTo>
                  <a:pt x="1182795" y="350279"/>
                </a:lnTo>
                <a:lnTo>
                  <a:pt x="1148616" y="388625"/>
                </a:lnTo>
                <a:lnTo>
                  <a:pt x="1127254" y="431244"/>
                </a:lnTo>
                <a:lnTo>
                  <a:pt x="1118709" y="482372"/>
                </a:lnTo>
                <a:lnTo>
                  <a:pt x="1110164" y="431244"/>
                </a:lnTo>
                <a:lnTo>
                  <a:pt x="1088802" y="388625"/>
                </a:lnTo>
                <a:lnTo>
                  <a:pt x="1054623" y="350279"/>
                </a:lnTo>
                <a:lnTo>
                  <a:pt x="1007627" y="328542"/>
                </a:lnTo>
                <a:lnTo>
                  <a:pt x="960808" y="320015"/>
                </a:lnTo>
                <a:lnTo>
                  <a:pt x="157918" y="320015"/>
                </a:lnTo>
                <a:lnTo>
                  <a:pt x="106703" y="311505"/>
                </a:lnTo>
                <a:lnTo>
                  <a:pt x="64014" y="290196"/>
                </a:lnTo>
                <a:lnTo>
                  <a:pt x="29871" y="256104"/>
                </a:lnTo>
                <a:lnTo>
                  <a:pt x="4254" y="209231"/>
                </a:lnTo>
                <a:lnTo>
                  <a:pt x="0" y="162357"/>
                </a:lnTo>
                <a:lnTo>
                  <a:pt x="0" y="0"/>
                </a:lnTo>
              </a:path>
            </a:pathLst>
          </a:custGeom>
          <a:ln w="42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194811" y="6258508"/>
            <a:ext cx="1233170" cy="194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20" dirty="0">
                <a:latin typeface="Arial MT"/>
                <a:cs typeface="Arial MT"/>
              </a:rPr>
              <a:t>Feuilles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à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transférer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3564" y="635888"/>
            <a:ext cx="57416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sur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une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clé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composée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83156"/>
            <a:ext cx="7597775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37465" indent="-342900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Clé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composée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~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clé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simple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formée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la </a:t>
            </a:r>
            <a:r>
              <a:rPr sz="3200" dirty="0">
                <a:latin typeface="Tahoma"/>
                <a:cs typeface="Tahoma"/>
              </a:rPr>
              <a:t>concaténation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champs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Sélection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par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préfixe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la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clé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composée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545" y="366038"/>
            <a:ext cx="3761740" cy="541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r>
              <a:rPr sz="32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45" dirty="0">
                <a:solidFill>
                  <a:srgbClr val="0000FF"/>
                </a:solidFill>
                <a:latin typeface="Tahoma"/>
                <a:cs typeface="Tahoma"/>
              </a:rPr>
              <a:t>(</a:t>
            </a:r>
            <a:r>
              <a:rPr sz="3350" b="1" i="1" spc="-145" dirty="0">
                <a:solidFill>
                  <a:srgbClr val="0000FF"/>
                </a:solidFill>
                <a:latin typeface="Verdana"/>
                <a:cs typeface="Verdana"/>
              </a:rPr>
              <a:t>trie</a:t>
            </a:r>
            <a:r>
              <a:rPr sz="3200" b="1" spc="-145" dirty="0">
                <a:solidFill>
                  <a:srgbClr val="0000FF"/>
                </a:solidFill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784731"/>
            <a:ext cx="7636509" cy="638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0365" indent="-342265">
              <a:lnSpc>
                <a:spcPts val="235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000" dirty="0">
                <a:latin typeface="Tahoma"/>
                <a:cs typeface="Tahoma"/>
              </a:rPr>
              <a:t>Chaque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niveau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position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d'un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symbole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clé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vue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comme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une</a:t>
            </a:r>
            <a:endParaRPr sz="2000">
              <a:latin typeface="Tahoma"/>
              <a:cs typeface="Tahoma"/>
            </a:endParaRPr>
          </a:p>
          <a:p>
            <a:pPr marL="380365">
              <a:lnSpc>
                <a:spcPts val="2470"/>
              </a:lnSpc>
            </a:pPr>
            <a:r>
              <a:rPr sz="2000" dirty="0">
                <a:latin typeface="Tahoma"/>
                <a:cs typeface="Tahoma"/>
              </a:rPr>
              <a:t>séquence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symboles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</a:t>
            </a:r>
            <a:r>
              <a:rPr sz="1950" spc="-15" baseline="-21367" dirty="0">
                <a:latin typeface="Tahoma"/>
                <a:cs typeface="Tahoma"/>
              </a:rPr>
              <a:t>1</a:t>
            </a:r>
            <a:r>
              <a:rPr sz="2100" spc="-10" dirty="0">
                <a:latin typeface="Tahoma"/>
                <a:cs typeface="Tahoma"/>
              </a:rPr>
              <a:t>s</a:t>
            </a:r>
            <a:r>
              <a:rPr sz="1950" spc="-15" baseline="-21367" dirty="0">
                <a:latin typeface="Tahoma"/>
                <a:cs typeface="Tahoma"/>
              </a:rPr>
              <a:t>2</a:t>
            </a:r>
            <a:r>
              <a:rPr sz="2000" spc="-10" dirty="0">
                <a:latin typeface="Tahoma"/>
                <a:cs typeface="Tahoma"/>
              </a:rPr>
              <a:t>…</a:t>
            </a:r>
            <a:r>
              <a:rPr sz="2100" spc="-10" dirty="0">
                <a:latin typeface="Tahoma"/>
                <a:cs typeface="Tahoma"/>
              </a:rPr>
              <a:t>s</a:t>
            </a:r>
            <a:r>
              <a:rPr sz="1950" spc="-15" baseline="-21367" dirty="0">
                <a:latin typeface="Tahoma"/>
                <a:cs typeface="Tahoma"/>
              </a:rPr>
              <a:t>n</a:t>
            </a:r>
            <a:endParaRPr sz="1950" baseline="-213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3481" y="5964926"/>
            <a:ext cx="681355" cy="273685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29"/>
              </a:spcBef>
            </a:pPr>
            <a:r>
              <a:rPr sz="1200" spc="-10" dirty="0">
                <a:latin typeface="Arial MT"/>
                <a:cs typeface="Arial MT"/>
              </a:rPr>
              <a:t>«ACB»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355864" y="2682992"/>
            <a:ext cx="2192655" cy="770255"/>
            <a:chOff x="3355864" y="2682992"/>
            <a:chExt cx="2192655" cy="770255"/>
          </a:xfrm>
        </p:grpSpPr>
        <p:sp>
          <p:nvSpPr>
            <p:cNvPr id="6" name="object 6"/>
            <p:cNvSpPr/>
            <p:nvPr/>
          </p:nvSpPr>
          <p:spPr>
            <a:xfrm>
              <a:off x="4996141" y="26887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4" h="273050">
                  <a:moveTo>
                    <a:pt x="134809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4809" y="272987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96141" y="26887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4" h="273050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30931" y="2688753"/>
              <a:ext cx="139065" cy="273050"/>
            </a:xfrm>
            <a:custGeom>
              <a:avLst/>
              <a:gdLst/>
              <a:ahLst/>
              <a:cxnLst/>
              <a:rect l="l" t="t" r="r" b="b"/>
              <a:pathLst>
                <a:path w="139064" h="273050">
                  <a:moveTo>
                    <a:pt x="138452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8452" y="272987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30931" y="2688753"/>
              <a:ext cx="139065" cy="273050"/>
            </a:xfrm>
            <a:custGeom>
              <a:avLst/>
              <a:gdLst/>
              <a:ahLst/>
              <a:cxnLst/>
              <a:rect l="l" t="t" r="r" b="b"/>
              <a:pathLst>
                <a:path w="139064" h="273050">
                  <a:moveTo>
                    <a:pt x="0" y="272987"/>
                  </a:moveTo>
                  <a:lnTo>
                    <a:pt x="138452" y="272987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69369" y="26887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4" h="273050">
                  <a:moveTo>
                    <a:pt x="134809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4809" y="272987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25007" y="2688707"/>
              <a:ext cx="2117725" cy="724535"/>
            </a:xfrm>
            <a:custGeom>
              <a:avLst/>
              <a:gdLst/>
              <a:ahLst/>
              <a:cxnLst/>
              <a:rect l="l" t="t" r="r" b="b"/>
              <a:pathLst>
                <a:path w="2117725" h="724535">
                  <a:moveTo>
                    <a:pt x="1844361" y="273033"/>
                  </a:moveTo>
                  <a:lnTo>
                    <a:pt x="1979171" y="273033"/>
                  </a:lnTo>
                  <a:lnTo>
                    <a:pt x="1979171" y="45"/>
                  </a:lnTo>
                  <a:lnTo>
                    <a:pt x="1844361" y="45"/>
                  </a:lnTo>
                  <a:lnTo>
                    <a:pt x="1844361" y="273033"/>
                  </a:lnTo>
                  <a:close/>
                </a:path>
                <a:path w="2117725" h="724535">
                  <a:moveTo>
                    <a:pt x="1979151" y="273033"/>
                  </a:moveTo>
                  <a:lnTo>
                    <a:pt x="2117589" y="273033"/>
                  </a:lnTo>
                  <a:lnTo>
                    <a:pt x="2117589" y="0"/>
                  </a:lnTo>
                  <a:lnTo>
                    <a:pt x="1979151" y="0"/>
                  </a:lnTo>
                  <a:lnTo>
                    <a:pt x="1979151" y="273033"/>
                  </a:lnTo>
                </a:path>
                <a:path w="2117725" h="724535">
                  <a:moveTo>
                    <a:pt x="1636629" y="138490"/>
                  </a:moveTo>
                  <a:lnTo>
                    <a:pt x="0" y="724495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55864" y="3358687"/>
              <a:ext cx="106045" cy="94615"/>
            </a:xfrm>
            <a:custGeom>
              <a:avLst/>
              <a:gdLst/>
              <a:ahLst/>
              <a:cxnLst/>
              <a:rect l="l" t="t" r="r" b="b"/>
              <a:pathLst>
                <a:path w="106045" h="94614">
                  <a:moveTo>
                    <a:pt x="72789" y="0"/>
                  </a:moveTo>
                  <a:lnTo>
                    <a:pt x="0" y="80027"/>
                  </a:lnTo>
                  <a:lnTo>
                    <a:pt x="105613" y="94453"/>
                  </a:lnTo>
                  <a:lnTo>
                    <a:pt x="87378" y="65449"/>
                  </a:lnTo>
                  <a:lnTo>
                    <a:pt x="76436" y="36293"/>
                  </a:lnTo>
                  <a:lnTo>
                    <a:pt x="727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886729" y="3501925"/>
            <a:ext cx="592455" cy="756285"/>
            <a:chOff x="4886729" y="3501925"/>
            <a:chExt cx="592455" cy="756285"/>
          </a:xfrm>
        </p:grpSpPr>
        <p:sp>
          <p:nvSpPr>
            <p:cNvPr id="14" name="object 14"/>
            <p:cNvSpPr/>
            <p:nvPr/>
          </p:nvSpPr>
          <p:spPr>
            <a:xfrm>
              <a:off x="4926847" y="3507640"/>
              <a:ext cx="135255" cy="273685"/>
            </a:xfrm>
            <a:custGeom>
              <a:avLst/>
              <a:gdLst/>
              <a:ahLst/>
              <a:cxnLst/>
              <a:rect l="l" t="t" r="r" b="b"/>
              <a:pathLst>
                <a:path w="135254" h="273685">
                  <a:moveTo>
                    <a:pt x="134809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4809" y="273352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26847" y="3507640"/>
              <a:ext cx="135255" cy="273685"/>
            </a:xfrm>
            <a:custGeom>
              <a:avLst/>
              <a:gdLst/>
              <a:ahLst/>
              <a:cxnLst/>
              <a:rect l="l" t="t" r="r" b="b"/>
              <a:pathLst>
                <a:path w="135254" h="273685">
                  <a:moveTo>
                    <a:pt x="0" y="273352"/>
                  </a:moveTo>
                  <a:lnTo>
                    <a:pt x="134809" y="273352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3352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61637" y="3507640"/>
              <a:ext cx="139065" cy="273685"/>
            </a:xfrm>
            <a:custGeom>
              <a:avLst/>
              <a:gdLst/>
              <a:ahLst/>
              <a:cxnLst/>
              <a:rect l="l" t="t" r="r" b="b"/>
              <a:pathLst>
                <a:path w="139064" h="273685">
                  <a:moveTo>
                    <a:pt x="138452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8452" y="273352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34141" y="3507640"/>
              <a:ext cx="539750" cy="677545"/>
            </a:xfrm>
            <a:custGeom>
              <a:avLst/>
              <a:gdLst/>
              <a:ahLst/>
              <a:cxnLst/>
              <a:rect l="l" t="t" r="r" b="b"/>
              <a:pathLst>
                <a:path w="539750" h="677545">
                  <a:moveTo>
                    <a:pt x="127496" y="273352"/>
                  </a:moveTo>
                  <a:lnTo>
                    <a:pt x="265948" y="273352"/>
                  </a:lnTo>
                  <a:lnTo>
                    <a:pt x="265948" y="0"/>
                  </a:lnTo>
                  <a:lnTo>
                    <a:pt x="127496" y="0"/>
                  </a:lnTo>
                  <a:lnTo>
                    <a:pt x="127496" y="273352"/>
                  </a:lnTo>
                  <a:close/>
                </a:path>
                <a:path w="539750" h="677545">
                  <a:moveTo>
                    <a:pt x="265933" y="273352"/>
                  </a:moveTo>
                  <a:lnTo>
                    <a:pt x="400743" y="273352"/>
                  </a:lnTo>
                  <a:lnTo>
                    <a:pt x="400743" y="0"/>
                  </a:lnTo>
                  <a:lnTo>
                    <a:pt x="265933" y="0"/>
                  </a:lnTo>
                  <a:lnTo>
                    <a:pt x="265933" y="273352"/>
                  </a:lnTo>
                  <a:close/>
                </a:path>
                <a:path w="539750" h="677545">
                  <a:moveTo>
                    <a:pt x="400723" y="273352"/>
                  </a:moveTo>
                  <a:lnTo>
                    <a:pt x="539176" y="273352"/>
                  </a:lnTo>
                  <a:lnTo>
                    <a:pt x="539176" y="0"/>
                  </a:lnTo>
                  <a:lnTo>
                    <a:pt x="400723" y="0"/>
                  </a:lnTo>
                  <a:lnTo>
                    <a:pt x="400723" y="273352"/>
                  </a:lnTo>
                  <a:close/>
                </a:path>
                <a:path w="539750" h="677545">
                  <a:moveTo>
                    <a:pt x="62000" y="138506"/>
                  </a:moveTo>
                  <a:lnTo>
                    <a:pt x="0" y="677283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6729" y="4155768"/>
              <a:ext cx="99060" cy="102235"/>
            </a:xfrm>
            <a:custGeom>
              <a:avLst/>
              <a:gdLst/>
              <a:ahLst/>
              <a:cxnLst/>
              <a:rect l="l" t="t" r="r" b="b"/>
              <a:pathLst>
                <a:path w="99060" h="102235">
                  <a:moveTo>
                    <a:pt x="0" y="0"/>
                  </a:moveTo>
                  <a:lnTo>
                    <a:pt x="40117" y="102197"/>
                  </a:lnTo>
                  <a:lnTo>
                    <a:pt x="98471" y="10933"/>
                  </a:lnTo>
                  <a:lnTo>
                    <a:pt x="65647" y="18222"/>
                  </a:lnTo>
                  <a:lnTo>
                    <a:pt x="32823" y="14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83131" y="3109064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49167" y="2821483"/>
            <a:ext cx="98425" cy="617855"/>
            <a:chOff x="5149167" y="2821483"/>
            <a:chExt cx="98425" cy="617855"/>
          </a:xfrm>
        </p:grpSpPr>
        <p:sp>
          <p:nvSpPr>
            <p:cNvPr id="21" name="object 21"/>
            <p:cNvSpPr/>
            <p:nvPr/>
          </p:nvSpPr>
          <p:spPr>
            <a:xfrm>
              <a:off x="5200074" y="2827198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0"/>
                  </a:moveTo>
                  <a:lnTo>
                    <a:pt x="0" y="538777"/>
                  </a:lnTo>
                </a:path>
              </a:pathLst>
            </a:custGeom>
            <a:ln w="10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49167" y="3340464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98319" y="0"/>
                  </a:moveTo>
                  <a:lnTo>
                    <a:pt x="65495" y="10933"/>
                  </a:lnTo>
                  <a:lnTo>
                    <a:pt x="32671" y="10933"/>
                  </a:lnTo>
                  <a:lnTo>
                    <a:pt x="0" y="0"/>
                  </a:lnTo>
                  <a:lnTo>
                    <a:pt x="50907" y="98249"/>
                  </a:lnTo>
                  <a:lnTo>
                    <a:pt x="98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0736" y="3109064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29402" y="2821736"/>
            <a:ext cx="1853564" cy="635635"/>
            <a:chOff x="5329402" y="2821736"/>
            <a:chExt cx="1853564" cy="635635"/>
          </a:xfrm>
        </p:grpSpPr>
        <p:sp>
          <p:nvSpPr>
            <p:cNvPr id="25" name="object 25"/>
            <p:cNvSpPr/>
            <p:nvPr/>
          </p:nvSpPr>
          <p:spPr>
            <a:xfrm>
              <a:off x="5334864" y="2827198"/>
              <a:ext cx="1775460" cy="589915"/>
            </a:xfrm>
            <a:custGeom>
              <a:avLst/>
              <a:gdLst/>
              <a:ahLst/>
              <a:cxnLst/>
              <a:rect l="l" t="t" r="r" b="b"/>
              <a:pathLst>
                <a:path w="1775459" h="589914">
                  <a:moveTo>
                    <a:pt x="0" y="0"/>
                  </a:moveTo>
                  <a:lnTo>
                    <a:pt x="1775218" y="589648"/>
                  </a:lnTo>
                </a:path>
              </a:pathLst>
            </a:custGeom>
            <a:ln w="109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3612" y="3362331"/>
              <a:ext cx="109855" cy="94615"/>
            </a:xfrm>
            <a:custGeom>
              <a:avLst/>
              <a:gdLst/>
              <a:ahLst/>
              <a:cxnLst/>
              <a:rect l="l" t="t" r="r" b="b"/>
              <a:pathLst>
                <a:path w="109854" h="94614">
                  <a:moveTo>
                    <a:pt x="29176" y="0"/>
                  </a:moveTo>
                  <a:lnTo>
                    <a:pt x="29176" y="32648"/>
                  </a:lnTo>
                  <a:lnTo>
                    <a:pt x="18235" y="65449"/>
                  </a:lnTo>
                  <a:lnTo>
                    <a:pt x="0" y="94453"/>
                  </a:lnTo>
                  <a:lnTo>
                    <a:pt x="109260" y="76382"/>
                  </a:lnTo>
                  <a:lnTo>
                    <a:pt x="29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830994" y="3109064"/>
            <a:ext cx="157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740039" y="3501925"/>
            <a:ext cx="1029969" cy="756285"/>
            <a:chOff x="2740039" y="3501925"/>
            <a:chExt cx="1029969" cy="756285"/>
          </a:xfrm>
        </p:grpSpPr>
        <p:sp>
          <p:nvSpPr>
            <p:cNvPr id="29" name="object 29"/>
            <p:cNvSpPr/>
            <p:nvPr/>
          </p:nvSpPr>
          <p:spPr>
            <a:xfrm>
              <a:off x="3217336" y="3507640"/>
              <a:ext cx="139065" cy="273685"/>
            </a:xfrm>
            <a:custGeom>
              <a:avLst/>
              <a:gdLst/>
              <a:ahLst/>
              <a:cxnLst/>
              <a:rect l="l" t="t" r="r" b="b"/>
              <a:pathLst>
                <a:path w="139064" h="273685">
                  <a:moveTo>
                    <a:pt x="138452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8452" y="273352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17336" y="3507640"/>
              <a:ext cx="273685" cy="273685"/>
            </a:xfrm>
            <a:custGeom>
              <a:avLst/>
              <a:gdLst/>
              <a:ahLst/>
              <a:cxnLst/>
              <a:rect l="l" t="t" r="r" b="b"/>
              <a:pathLst>
                <a:path w="273685" h="273685">
                  <a:moveTo>
                    <a:pt x="0" y="273352"/>
                  </a:moveTo>
                  <a:lnTo>
                    <a:pt x="138452" y="273352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3352"/>
                  </a:lnTo>
                  <a:close/>
                </a:path>
                <a:path w="273685" h="273685">
                  <a:moveTo>
                    <a:pt x="138528" y="273352"/>
                  </a:moveTo>
                  <a:lnTo>
                    <a:pt x="273338" y="273352"/>
                  </a:lnTo>
                  <a:lnTo>
                    <a:pt x="273338" y="0"/>
                  </a:lnTo>
                  <a:lnTo>
                    <a:pt x="138528" y="0"/>
                  </a:lnTo>
                  <a:lnTo>
                    <a:pt x="138528" y="273352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0655" y="3507640"/>
              <a:ext cx="139065" cy="273685"/>
            </a:xfrm>
            <a:custGeom>
              <a:avLst/>
              <a:gdLst/>
              <a:ahLst/>
              <a:cxnLst/>
              <a:rect l="l" t="t" r="r" b="b"/>
              <a:pathLst>
                <a:path w="139064" h="273685">
                  <a:moveTo>
                    <a:pt x="138817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8817" y="273352"/>
                  </a:lnTo>
                  <a:lnTo>
                    <a:pt x="13881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90655" y="3507640"/>
              <a:ext cx="139065" cy="273685"/>
            </a:xfrm>
            <a:custGeom>
              <a:avLst/>
              <a:gdLst/>
              <a:ahLst/>
              <a:cxnLst/>
              <a:rect l="l" t="t" r="r" b="b"/>
              <a:pathLst>
                <a:path w="139064" h="273685">
                  <a:moveTo>
                    <a:pt x="0" y="273352"/>
                  </a:moveTo>
                  <a:lnTo>
                    <a:pt x="138817" y="273352"/>
                  </a:lnTo>
                  <a:lnTo>
                    <a:pt x="138817" y="0"/>
                  </a:lnTo>
                  <a:lnTo>
                    <a:pt x="0" y="0"/>
                  </a:lnTo>
                  <a:lnTo>
                    <a:pt x="0" y="273352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29396" y="3507640"/>
              <a:ext cx="135255" cy="273685"/>
            </a:xfrm>
            <a:custGeom>
              <a:avLst/>
              <a:gdLst/>
              <a:ahLst/>
              <a:cxnLst/>
              <a:rect l="l" t="t" r="r" b="b"/>
              <a:pathLst>
                <a:path w="135254" h="273685">
                  <a:moveTo>
                    <a:pt x="134809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4809" y="273352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87406" y="3507640"/>
              <a:ext cx="977265" cy="695960"/>
            </a:xfrm>
            <a:custGeom>
              <a:avLst/>
              <a:gdLst/>
              <a:ahLst/>
              <a:cxnLst/>
              <a:rect l="l" t="t" r="r" b="b"/>
              <a:pathLst>
                <a:path w="977264" h="695960">
                  <a:moveTo>
                    <a:pt x="841990" y="273352"/>
                  </a:moveTo>
                  <a:lnTo>
                    <a:pt x="976800" y="273352"/>
                  </a:lnTo>
                  <a:lnTo>
                    <a:pt x="976800" y="0"/>
                  </a:lnTo>
                  <a:lnTo>
                    <a:pt x="841990" y="0"/>
                  </a:lnTo>
                  <a:lnTo>
                    <a:pt x="841990" y="273352"/>
                  </a:lnTo>
                  <a:close/>
                </a:path>
                <a:path w="977264" h="695960">
                  <a:moveTo>
                    <a:pt x="499164" y="138506"/>
                  </a:moveTo>
                  <a:lnTo>
                    <a:pt x="0" y="695506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0039" y="4152124"/>
              <a:ext cx="102235" cy="106045"/>
            </a:xfrm>
            <a:custGeom>
              <a:avLst/>
              <a:gdLst/>
              <a:ahLst/>
              <a:cxnLst/>
              <a:rect l="l" t="t" r="r" b="b"/>
              <a:pathLst>
                <a:path w="102235" h="106045">
                  <a:moveTo>
                    <a:pt x="29146" y="0"/>
                  </a:moveTo>
                  <a:lnTo>
                    <a:pt x="0" y="105842"/>
                  </a:lnTo>
                  <a:lnTo>
                    <a:pt x="102012" y="65449"/>
                  </a:lnTo>
                  <a:lnTo>
                    <a:pt x="69218" y="51022"/>
                  </a:lnTo>
                  <a:lnTo>
                    <a:pt x="43719" y="29155"/>
                  </a:lnTo>
                  <a:lnTo>
                    <a:pt x="291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2193143" y="4321238"/>
            <a:ext cx="1442085" cy="756285"/>
            <a:chOff x="2193143" y="4321238"/>
            <a:chExt cx="1442085" cy="756285"/>
          </a:xfrm>
        </p:grpSpPr>
        <p:sp>
          <p:nvSpPr>
            <p:cNvPr id="37" name="object 37"/>
            <p:cNvSpPr/>
            <p:nvPr/>
          </p:nvSpPr>
          <p:spPr>
            <a:xfrm>
              <a:off x="2397183" y="4326953"/>
              <a:ext cx="412115" cy="273050"/>
            </a:xfrm>
            <a:custGeom>
              <a:avLst/>
              <a:gdLst/>
              <a:ahLst/>
              <a:cxnLst/>
              <a:rect l="l" t="t" r="r" b="b"/>
              <a:pathLst>
                <a:path w="412114" h="273050">
                  <a:moveTo>
                    <a:pt x="0" y="272987"/>
                  </a:moveTo>
                  <a:lnTo>
                    <a:pt x="138817" y="272987"/>
                  </a:lnTo>
                  <a:lnTo>
                    <a:pt x="138817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412114" h="273050">
                  <a:moveTo>
                    <a:pt x="138817" y="272987"/>
                  </a:moveTo>
                  <a:lnTo>
                    <a:pt x="273627" y="272987"/>
                  </a:lnTo>
                  <a:lnTo>
                    <a:pt x="273627" y="0"/>
                  </a:lnTo>
                  <a:lnTo>
                    <a:pt x="138817" y="0"/>
                  </a:lnTo>
                  <a:lnTo>
                    <a:pt x="138817" y="272987"/>
                  </a:lnTo>
                  <a:close/>
                </a:path>
                <a:path w="412114" h="273050">
                  <a:moveTo>
                    <a:pt x="273622" y="272987"/>
                  </a:moveTo>
                  <a:lnTo>
                    <a:pt x="412075" y="272987"/>
                  </a:lnTo>
                  <a:lnTo>
                    <a:pt x="412075" y="0"/>
                  </a:lnTo>
                  <a:lnTo>
                    <a:pt x="273622" y="0"/>
                  </a:lnTo>
                  <a:lnTo>
                    <a:pt x="273622" y="272987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09258" y="43269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5" h="273050">
                  <a:moveTo>
                    <a:pt x="134809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4809" y="272987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09258" y="43269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5" h="273050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82531" y="43269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5" h="273050">
                  <a:moveTo>
                    <a:pt x="134809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4809" y="272987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82531" y="43269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5" h="273050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17336" y="4326953"/>
              <a:ext cx="139065" cy="273050"/>
            </a:xfrm>
            <a:custGeom>
              <a:avLst/>
              <a:gdLst/>
              <a:ahLst/>
              <a:cxnLst/>
              <a:rect l="l" t="t" r="r" b="b"/>
              <a:pathLst>
                <a:path w="139064" h="273050">
                  <a:moveTo>
                    <a:pt x="138452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8452" y="272987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47804" y="4326953"/>
              <a:ext cx="1381760" cy="702945"/>
            </a:xfrm>
            <a:custGeom>
              <a:avLst/>
              <a:gdLst/>
              <a:ahLst/>
              <a:cxnLst/>
              <a:rect l="l" t="t" r="r" b="b"/>
              <a:pathLst>
                <a:path w="1381760" h="702945">
                  <a:moveTo>
                    <a:pt x="969532" y="272987"/>
                  </a:moveTo>
                  <a:lnTo>
                    <a:pt x="1107984" y="272987"/>
                  </a:lnTo>
                  <a:lnTo>
                    <a:pt x="1107984" y="0"/>
                  </a:lnTo>
                  <a:lnTo>
                    <a:pt x="969532" y="0"/>
                  </a:lnTo>
                  <a:lnTo>
                    <a:pt x="969532" y="272987"/>
                  </a:lnTo>
                  <a:close/>
                </a:path>
                <a:path w="1381760" h="702945">
                  <a:moveTo>
                    <a:pt x="1108060" y="272987"/>
                  </a:moveTo>
                  <a:lnTo>
                    <a:pt x="1242870" y="272987"/>
                  </a:lnTo>
                  <a:lnTo>
                    <a:pt x="1242870" y="0"/>
                  </a:lnTo>
                  <a:lnTo>
                    <a:pt x="1108060" y="0"/>
                  </a:lnTo>
                  <a:lnTo>
                    <a:pt x="1108060" y="272987"/>
                  </a:lnTo>
                  <a:close/>
                </a:path>
                <a:path w="1381760" h="702945">
                  <a:moveTo>
                    <a:pt x="1242850" y="272987"/>
                  </a:moveTo>
                  <a:lnTo>
                    <a:pt x="1381667" y="272987"/>
                  </a:lnTo>
                  <a:lnTo>
                    <a:pt x="1381667" y="0"/>
                  </a:lnTo>
                  <a:lnTo>
                    <a:pt x="1242850" y="0"/>
                  </a:lnTo>
                  <a:lnTo>
                    <a:pt x="1242850" y="272987"/>
                  </a:lnTo>
                  <a:close/>
                </a:path>
                <a:path w="1381760" h="702945">
                  <a:moveTo>
                    <a:pt x="627040" y="138141"/>
                  </a:moveTo>
                  <a:lnTo>
                    <a:pt x="0" y="702704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193143" y="4974777"/>
              <a:ext cx="106045" cy="102235"/>
            </a:xfrm>
            <a:custGeom>
              <a:avLst/>
              <a:gdLst/>
              <a:ahLst/>
              <a:cxnLst/>
              <a:rect l="l" t="t" r="r" b="b"/>
              <a:pathLst>
                <a:path w="106044" h="102235">
                  <a:moveTo>
                    <a:pt x="40087" y="0"/>
                  </a:moveTo>
                  <a:lnTo>
                    <a:pt x="0" y="102136"/>
                  </a:lnTo>
                  <a:lnTo>
                    <a:pt x="105674" y="73056"/>
                  </a:lnTo>
                  <a:lnTo>
                    <a:pt x="76512" y="58524"/>
                  </a:lnTo>
                  <a:lnTo>
                    <a:pt x="54660" y="33073"/>
                  </a:lnTo>
                  <a:lnTo>
                    <a:pt x="400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65930" y="4465095"/>
              <a:ext cx="182245" cy="542925"/>
            </a:xfrm>
            <a:custGeom>
              <a:avLst/>
              <a:gdLst/>
              <a:ahLst/>
              <a:cxnLst/>
              <a:rect l="l" t="t" r="r" b="b"/>
              <a:pathLst>
                <a:path w="182244" h="542925">
                  <a:moveTo>
                    <a:pt x="182171" y="0"/>
                  </a:moveTo>
                  <a:lnTo>
                    <a:pt x="0" y="542756"/>
                  </a:lnTo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29505" y="4967503"/>
              <a:ext cx="91440" cy="109855"/>
            </a:xfrm>
            <a:custGeom>
              <a:avLst/>
              <a:gdLst/>
              <a:ahLst/>
              <a:cxnLst/>
              <a:rect l="l" t="t" r="r" b="b"/>
              <a:pathLst>
                <a:path w="91439" h="109854">
                  <a:moveTo>
                    <a:pt x="0" y="0"/>
                  </a:moveTo>
                  <a:lnTo>
                    <a:pt x="14573" y="109410"/>
                  </a:lnTo>
                  <a:lnTo>
                    <a:pt x="91085" y="33073"/>
                  </a:lnTo>
                  <a:lnTo>
                    <a:pt x="58292" y="33073"/>
                  </a:lnTo>
                  <a:lnTo>
                    <a:pt x="25499" y="22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764186" y="4327059"/>
            <a:ext cx="685165" cy="273050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229"/>
              </a:spcBef>
            </a:pPr>
            <a:r>
              <a:rPr sz="1200" spc="-25" dirty="0">
                <a:latin typeface="Arial MT"/>
                <a:cs typeface="Arial MT"/>
              </a:rPr>
              <a:t>«A»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01840" y="3928012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395831" y="3673232"/>
            <a:ext cx="170180" cy="584835"/>
            <a:chOff x="3395831" y="3673232"/>
            <a:chExt cx="170180" cy="584835"/>
          </a:xfrm>
        </p:grpSpPr>
        <p:sp>
          <p:nvSpPr>
            <p:cNvPr id="50" name="object 50"/>
            <p:cNvSpPr/>
            <p:nvPr/>
          </p:nvSpPr>
          <p:spPr>
            <a:xfrm>
              <a:off x="3439596" y="3678947"/>
              <a:ext cx="121285" cy="506095"/>
            </a:xfrm>
            <a:custGeom>
              <a:avLst/>
              <a:gdLst/>
              <a:ahLst/>
              <a:cxnLst/>
              <a:rect l="l" t="t" r="r" b="b"/>
              <a:pathLst>
                <a:path w="121285" h="506095">
                  <a:moveTo>
                    <a:pt x="120657" y="0"/>
                  </a:moveTo>
                  <a:lnTo>
                    <a:pt x="0" y="505977"/>
                  </a:lnTo>
                </a:path>
              </a:pathLst>
            </a:custGeom>
            <a:ln w="10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95831" y="4152124"/>
              <a:ext cx="99060" cy="106045"/>
            </a:xfrm>
            <a:custGeom>
              <a:avLst/>
              <a:gdLst/>
              <a:ahLst/>
              <a:cxnLst/>
              <a:rect l="l" t="t" r="r" b="b"/>
              <a:pathLst>
                <a:path w="99060" h="106045">
                  <a:moveTo>
                    <a:pt x="0" y="0"/>
                  </a:moveTo>
                  <a:lnTo>
                    <a:pt x="25529" y="105842"/>
                  </a:lnTo>
                  <a:lnTo>
                    <a:pt x="98471" y="21866"/>
                  </a:lnTo>
                  <a:lnTo>
                    <a:pt x="62000" y="25511"/>
                  </a:lnTo>
                  <a:lnTo>
                    <a:pt x="29176" y="18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277502" y="3928012"/>
            <a:ext cx="157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689579" y="3640682"/>
            <a:ext cx="347980" cy="617855"/>
            <a:chOff x="3689579" y="3640682"/>
            <a:chExt cx="347980" cy="617855"/>
          </a:xfrm>
        </p:grpSpPr>
        <p:sp>
          <p:nvSpPr>
            <p:cNvPr id="54" name="object 54"/>
            <p:cNvSpPr/>
            <p:nvPr/>
          </p:nvSpPr>
          <p:spPr>
            <a:xfrm>
              <a:off x="3695044" y="3646146"/>
              <a:ext cx="306070" cy="546100"/>
            </a:xfrm>
            <a:custGeom>
              <a:avLst/>
              <a:gdLst/>
              <a:ahLst/>
              <a:cxnLst/>
              <a:rect l="l" t="t" r="r" b="b"/>
              <a:pathLst>
                <a:path w="306070" h="546100">
                  <a:moveTo>
                    <a:pt x="0" y="0"/>
                  </a:moveTo>
                  <a:lnTo>
                    <a:pt x="306051" y="546066"/>
                  </a:lnTo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46389" y="4148479"/>
              <a:ext cx="91440" cy="109855"/>
            </a:xfrm>
            <a:custGeom>
              <a:avLst/>
              <a:gdLst/>
              <a:ahLst/>
              <a:cxnLst/>
              <a:rect l="l" t="t" r="r" b="b"/>
              <a:pathLst>
                <a:path w="91439" h="109854">
                  <a:moveTo>
                    <a:pt x="87530" y="0"/>
                  </a:moveTo>
                  <a:lnTo>
                    <a:pt x="62000" y="25511"/>
                  </a:lnTo>
                  <a:lnTo>
                    <a:pt x="32823" y="40089"/>
                  </a:lnTo>
                  <a:lnTo>
                    <a:pt x="0" y="47378"/>
                  </a:lnTo>
                  <a:lnTo>
                    <a:pt x="91025" y="109486"/>
                  </a:lnTo>
                  <a:lnTo>
                    <a:pt x="87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850661" y="5145978"/>
            <a:ext cx="685800" cy="273050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229"/>
              </a:spcBef>
            </a:pPr>
            <a:r>
              <a:rPr sz="1200" spc="-20" dirty="0">
                <a:latin typeface="Arial MT"/>
                <a:cs typeface="Arial MT"/>
              </a:rPr>
              <a:t>«AA»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2665341" y="5140513"/>
            <a:ext cx="1510665" cy="755650"/>
            <a:chOff x="2665341" y="5140513"/>
            <a:chExt cx="1510665" cy="755650"/>
          </a:xfrm>
        </p:grpSpPr>
        <p:sp>
          <p:nvSpPr>
            <p:cNvPr id="58" name="object 58"/>
            <p:cNvSpPr/>
            <p:nvPr/>
          </p:nvSpPr>
          <p:spPr>
            <a:xfrm>
              <a:off x="2670805" y="5145978"/>
              <a:ext cx="412115" cy="273050"/>
            </a:xfrm>
            <a:custGeom>
              <a:avLst/>
              <a:gdLst/>
              <a:ahLst/>
              <a:cxnLst/>
              <a:rect l="l" t="t" r="r" b="b"/>
              <a:pathLst>
                <a:path w="412114" h="273050">
                  <a:moveTo>
                    <a:pt x="0" y="272987"/>
                  </a:moveTo>
                  <a:lnTo>
                    <a:pt x="138452" y="272987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412114" h="273050">
                  <a:moveTo>
                    <a:pt x="138452" y="272987"/>
                  </a:moveTo>
                  <a:lnTo>
                    <a:pt x="273262" y="272987"/>
                  </a:lnTo>
                  <a:lnTo>
                    <a:pt x="273262" y="0"/>
                  </a:lnTo>
                  <a:lnTo>
                    <a:pt x="138452" y="0"/>
                  </a:lnTo>
                  <a:lnTo>
                    <a:pt x="138452" y="272987"/>
                  </a:lnTo>
                  <a:close/>
                </a:path>
                <a:path w="412114" h="273050">
                  <a:moveTo>
                    <a:pt x="273273" y="272987"/>
                  </a:moveTo>
                  <a:lnTo>
                    <a:pt x="411725" y="272987"/>
                  </a:lnTo>
                  <a:lnTo>
                    <a:pt x="411725" y="0"/>
                  </a:lnTo>
                  <a:lnTo>
                    <a:pt x="273273" y="0"/>
                  </a:lnTo>
                  <a:lnTo>
                    <a:pt x="273273" y="272987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082531" y="5145978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5" h="273050">
                  <a:moveTo>
                    <a:pt x="134809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4809" y="272987"/>
                  </a:lnTo>
                  <a:lnTo>
                    <a:pt x="13480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082531" y="5145978"/>
              <a:ext cx="186055" cy="677545"/>
            </a:xfrm>
            <a:custGeom>
              <a:avLst/>
              <a:gdLst/>
              <a:ahLst/>
              <a:cxnLst/>
              <a:rect l="l" t="t" r="r" b="b"/>
              <a:pathLst>
                <a:path w="186054" h="677545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186054" h="677545">
                  <a:moveTo>
                    <a:pt x="65571" y="138490"/>
                  </a:moveTo>
                  <a:lnTo>
                    <a:pt x="185819" y="677192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217336" y="5790446"/>
              <a:ext cx="95250" cy="106045"/>
            </a:xfrm>
            <a:custGeom>
              <a:avLst/>
              <a:gdLst/>
              <a:ahLst/>
              <a:cxnLst/>
              <a:rect l="l" t="t" r="r" b="b"/>
              <a:pathLst>
                <a:path w="95250" h="106045">
                  <a:moveTo>
                    <a:pt x="94733" y="0"/>
                  </a:moveTo>
                  <a:lnTo>
                    <a:pt x="65586" y="18176"/>
                  </a:lnTo>
                  <a:lnTo>
                    <a:pt x="32793" y="25450"/>
                  </a:lnTo>
                  <a:lnTo>
                    <a:pt x="0" y="21821"/>
                  </a:lnTo>
                  <a:lnTo>
                    <a:pt x="69233" y="105417"/>
                  </a:lnTo>
                  <a:lnTo>
                    <a:pt x="94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355865" y="5145978"/>
              <a:ext cx="408940" cy="273050"/>
            </a:xfrm>
            <a:custGeom>
              <a:avLst/>
              <a:gdLst/>
              <a:ahLst/>
              <a:cxnLst/>
              <a:rect l="l" t="t" r="r" b="b"/>
              <a:pathLst>
                <a:path w="408939" h="273050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408939" h="273050">
                  <a:moveTo>
                    <a:pt x="134790" y="272987"/>
                  </a:moveTo>
                  <a:lnTo>
                    <a:pt x="273607" y="272987"/>
                  </a:lnTo>
                  <a:lnTo>
                    <a:pt x="273607" y="0"/>
                  </a:lnTo>
                  <a:lnTo>
                    <a:pt x="134790" y="0"/>
                  </a:lnTo>
                  <a:lnTo>
                    <a:pt x="134790" y="272987"/>
                  </a:lnTo>
                  <a:close/>
                </a:path>
                <a:path w="408939" h="273050">
                  <a:moveTo>
                    <a:pt x="273531" y="272987"/>
                  </a:moveTo>
                  <a:lnTo>
                    <a:pt x="408341" y="272987"/>
                  </a:lnTo>
                  <a:lnTo>
                    <a:pt x="408341" y="0"/>
                  </a:lnTo>
                  <a:lnTo>
                    <a:pt x="273531" y="0"/>
                  </a:lnTo>
                  <a:lnTo>
                    <a:pt x="273531" y="272987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64186" y="5145978"/>
              <a:ext cx="139065" cy="273050"/>
            </a:xfrm>
            <a:custGeom>
              <a:avLst/>
              <a:gdLst/>
              <a:ahLst/>
              <a:cxnLst/>
              <a:rect l="l" t="t" r="r" b="b"/>
              <a:pathLst>
                <a:path w="139064" h="273050">
                  <a:moveTo>
                    <a:pt x="138452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8452" y="272987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764186" y="5145978"/>
              <a:ext cx="375920" cy="684530"/>
            </a:xfrm>
            <a:custGeom>
              <a:avLst/>
              <a:gdLst/>
              <a:ahLst/>
              <a:cxnLst/>
              <a:rect l="l" t="t" r="r" b="b"/>
              <a:pathLst>
                <a:path w="375920" h="684529">
                  <a:moveTo>
                    <a:pt x="0" y="272987"/>
                  </a:moveTo>
                  <a:lnTo>
                    <a:pt x="138452" y="272987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375920" h="684529">
                  <a:moveTo>
                    <a:pt x="69294" y="138490"/>
                  </a:moveTo>
                  <a:lnTo>
                    <a:pt x="375345" y="684451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084826" y="5786817"/>
              <a:ext cx="91440" cy="109220"/>
            </a:xfrm>
            <a:custGeom>
              <a:avLst/>
              <a:gdLst/>
              <a:ahLst/>
              <a:cxnLst/>
              <a:rect l="l" t="t" r="r" b="b"/>
              <a:pathLst>
                <a:path w="91439" h="109220">
                  <a:moveTo>
                    <a:pt x="83882" y="0"/>
                  </a:moveTo>
                  <a:lnTo>
                    <a:pt x="62000" y="25450"/>
                  </a:lnTo>
                  <a:lnTo>
                    <a:pt x="32823" y="39983"/>
                  </a:lnTo>
                  <a:lnTo>
                    <a:pt x="0" y="47256"/>
                  </a:lnTo>
                  <a:lnTo>
                    <a:pt x="91177" y="109046"/>
                  </a:lnTo>
                  <a:lnTo>
                    <a:pt x="838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2873070" y="4732413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281106" y="4459630"/>
            <a:ext cx="348615" cy="617855"/>
            <a:chOff x="3281106" y="4459630"/>
            <a:chExt cx="348615" cy="617855"/>
          </a:xfrm>
        </p:grpSpPr>
        <p:sp>
          <p:nvSpPr>
            <p:cNvPr id="68" name="object 68"/>
            <p:cNvSpPr/>
            <p:nvPr/>
          </p:nvSpPr>
          <p:spPr>
            <a:xfrm>
              <a:off x="3286570" y="4465095"/>
              <a:ext cx="306705" cy="546735"/>
            </a:xfrm>
            <a:custGeom>
              <a:avLst/>
              <a:gdLst/>
              <a:ahLst/>
              <a:cxnLst/>
              <a:rect l="l" t="t" r="r" b="b"/>
              <a:pathLst>
                <a:path w="306704" h="546735">
                  <a:moveTo>
                    <a:pt x="0" y="0"/>
                  </a:moveTo>
                  <a:lnTo>
                    <a:pt x="306355" y="546385"/>
                  </a:lnTo>
                </a:path>
              </a:pathLst>
            </a:custGeom>
            <a:ln w="10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537915" y="4967504"/>
              <a:ext cx="92075" cy="109855"/>
            </a:xfrm>
            <a:custGeom>
              <a:avLst/>
              <a:gdLst/>
              <a:ahLst/>
              <a:cxnLst/>
              <a:rect l="l" t="t" r="r" b="b"/>
              <a:pathLst>
                <a:path w="92075" h="109854">
                  <a:moveTo>
                    <a:pt x="84186" y="0"/>
                  </a:moveTo>
                  <a:lnTo>
                    <a:pt x="62304" y="25799"/>
                  </a:lnTo>
                  <a:lnTo>
                    <a:pt x="33279" y="40347"/>
                  </a:lnTo>
                  <a:lnTo>
                    <a:pt x="0" y="47621"/>
                  </a:lnTo>
                  <a:lnTo>
                    <a:pt x="91481" y="109410"/>
                  </a:lnTo>
                  <a:lnTo>
                    <a:pt x="841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350307" y="4746946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944078" y="5964926"/>
            <a:ext cx="685800" cy="273685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229"/>
              </a:spcBef>
            </a:pPr>
            <a:r>
              <a:rPr sz="1200" spc="-10" dirty="0">
                <a:latin typeface="Arial MT"/>
                <a:cs typeface="Arial MT"/>
              </a:rPr>
              <a:t>«ACA»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717297" y="4321489"/>
            <a:ext cx="1445260" cy="755650"/>
            <a:chOff x="4717297" y="4321489"/>
            <a:chExt cx="1445260" cy="755650"/>
          </a:xfrm>
        </p:grpSpPr>
        <p:sp>
          <p:nvSpPr>
            <p:cNvPr id="73" name="object 73"/>
            <p:cNvSpPr/>
            <p:nvPr/>
          </p:nvSpPr>
          <p:spPr>
            <a:xfrm>
              <a:off x="4722762" y="4326953"/>
              <a:ext cx="408305" cy="273050"/>
            </a:xfrm>
            <a:custGeom>
              <a:avLst/>
              <a:gdLst/>
              <a:ahLst/>
              <a:cxnLst/>
              <a:rect l="l" t="t" r="r" b="b"/>
              <a:pathLst>
                <a:path w="408304" h="273050">
                  <a:moveTo>
                    <a:pt x="0" y="272987"/>
                  </a:moveTo>
                  <a:lnTo>
                    <a:pt x="134809" y="272987"/>
                  </a:lnTo>
                  <a:lnTo>
                    <a:pt x="134809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408304" h="273050">
                  <a:moveTo>
                    <a:pt x="134942" y="272987"/>
                  </a:moveTo>
                  <a:lnTo>
                    <a:pt x="273394" y="272987"/>
                  </a:lnTo>
                  <a:lnTo>
                    <a:pt x="273394" y="0"/>
                  </a:lnTo>
                  <a:lnTo>
                    <a:pt x="134942" y="0"/>
                  </a:lnTo>
                  <a:lnTo>
                    <a:pt x="134942" y="272987"/>
                  </a:lnTo>
                  <a:close/>
                </a:path>
                <a:path w="408304" h="273050">
                  <a:moveTo>
                    <a:pt x="273379" y="272987"/>
                  </a:moveTo>
                  <a:lnTo>
                    <a:pt x="408189" y="272987"/>
                  </a:lnTo>
                  <a:lnTo>
                    <a:pt x="408189" y="0"/>
                  </a:lnTo>
                  <a:lnTo>
                    <a:pt x="273379" y="0"/>
                  </a:lnTo>
                  <a:lnTo>
                    <a:pt x="273379" y="272987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130931" y="4326953"/>
              <a:ext cx="139065" cy="273050"/>
            </a:xfrm>
            <a:custGeom>
              <a:avLst/>
              <a:gdLst/>
              <a:ahLst/>
              <a:cxnLst/>
              <a:rect l="l" t="t" r="r" b="b"/>
              <a:pathLst>
                <a:path w="139064" h="273050">
                  <a:moveTo>
                    <a:pt x="138452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8452" y="272987"/>
                  </a:lnTo>
                  <a:lnTo>
                    <a:pt x="138452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130931" y="4326953"/>
              <a:ext cx="251460" cy="681355"/>
            </a:xfrm>
            <a:custGeom>
              <a:avLst/>
              <a:gdLst/>
              <a:ahLst/>
              <a:cxnLst/>
              <a:rect l="l" t="t" r="r" b="b"/>
              <a:pathLst>
                <a:path w="251460" h="681354">
                  <a:moveTo>
                    <a:pt x="0" y="272987"/>
                  </a:moveTo>
                  <a:lnTo>
                    <a:pt x="138452" y="272987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251460" h="681354">
                  <a:moveTo>
                    <a:pt x="69142" y="138141"/>
                  </a:moveTo>
                  <a:lnTo>
                    <a:pt x="251344" y="680898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327722" y="4967504"/>
              <a:ext cx="91440" cy="109855"/>
            </a:xfrm>
            <a:custGeom>
              <a:avLst/>
              <a:gdLst/>
              <a:ahLst/>
              <a:cxnLst/>
              <a:rect l="l" t="t" r="r" b="b"/>
              <a:pathLst>
                <a:path w="91439" h="109854">
                  <a:moveTo>
                    <a:pt x="91025" y="0"/>
                  </a:moveTo>
                  <a:lnTo>
                    <a:pt x="65495" y="22170"/>
                  </a:lnTo>
                  <a:lnTo>
                    <a:pt x="32671" y="33073"/>
                  </a:lnTo>
                  <a:lnTo>
                    <a:pt x="0" y="33073"/>
                  </a:lnTo>
                  <a:lnTo>
                    <a:pt x="76436" y="109410"/>
                  </a:lnTo>
                  <a:lnTo>
                    <a:pt x="91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404159" y="4326953"/>
              <a:ext cx="412115" cy="273050"/>
            </a:xfrm>
            <a:custGeom>
              <a:avLst/>
              <a:gdLst/>
              <a:ahLst/>
              <a:cxnLst/>
              <a:rect l="l" t="t" r="r" b="b"/>
              <a:pathLst>
                <a:path w="412114" h="273050">
                  <a:moveTo>
                    <a:pt x="0" y="272987"/>
                  </a:moveTo>
                  <a:lnTo>
                    <a:pt x="138452" y="272987"/>
                  </a:lnTo>
                  <a:lnTo>
                    <a:pt x="138452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412114" h="273050">
                  <a:moveTo>
                    <a:pt x="138437" y="272987"/>
                  </a:moveTo>
                  <a:lnTo>
                    <a:pt x="273247" y="272987"/>
                  </a:lnTo>
                  <a:lnTo>
                    <a:pt x="273247" y="0"/>
                  </a:lnTo>
                  <a:lnTo>
                    <a:pt x="138437" y="0"/>
                  </a:lnTo>
                  <a:lnTo>
                    <a:pt x="138437" y="272987"/>
                  </a:lnTo>
                  <a:close/>
                </a:path>
                <a:path w="412114" h="273050">
                  <a:moveTo>
                    <a:pt x="273227" y="272987"/>
                  </a:moveTo>
                  <a:lnTo>
                    <a:pt x="411679" y="272987"/>
                  </a:lnTo>
                  <a:lnTo>
                    <a:pt x="411679" y="0"/>
                  </a:lnTo>
                  <a:lnTo>
                    <a:pt x="273227" y="0"/>
                  </a:lnTo>
                  <a:lnTo>
                    <a:pt x="273227" y="272987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815824" y="4326953"/>
              <a:ext cx="135255" cy="273050"/>
            </a:xfrm>
            <a:custGeom>
              <a:avLst/>
              <a:gdLst/>
              <a:ahLst/>
              <a:cxnLst/>
              <a:rect l="l" t="t" r="r" b="b"/>
              <a:pathLst>
                <a:path w="135254" h="273050">
                  <a:moveTo>
                    <a:pt x="135173" y="0"/>
                  </a:moveTo>
                  <a:lnTo>
                    <a:pt x="0" y="0"/>
                  </a:lnTo>
                  <a:lnTo>
                    <a:pt x="0" y="272987"/>
                  </a:lnTo>
                  <a:lnTo>
                    <a:pt x="135173" y="272987"/>
                  </a:lnTo>
                  <a:lnTo>
                    <a:pt x="135173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815824" y="4326953"/>
              <a:ext cx="310515" cy="684530"/>
            </a:xfrm>
            <a:custGeom>
              <a:avLst/>
              <a:gdLst/>
              <a:ahLst/>
              <a:cxnLst/>
              <a:rect l="l" t="t" r="r" b="b"/>
              <a:pathLst>
                <a:path w="310514" h="684529">
                  <a:moveTo>
                    <a:pt x="0" y="272987"/>
                  </a:moveTo>
                  <a:lnTo>
                    <a:pt x="135173" y="272987"/>
                  </a:lnTo>
                  <a:lnTo>
                    <a:pt x="135173" y="0"/>
                  </a:lnTo>
                  <a:lnTo>
                    <a:pt x="0" y="0"/>
                  </a:lnTo>
                  <a:lnTo>
                    <a:pt x="0" y="272987"/>
                  </a:lnTo>
                  <a:close/>
                </a:path>
                <a:path w="310514" h="684529">
                  <a:moveTo>
                    <a:pt x="65951" y="138141"/>
                  </a:moveTo>
                  <a:lnTo>
                    <a:pt x="310154" y="684527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71272" y="4967504"/>
              <a:ext cx="91440" cy="109855"/>
            </a:xfrm>
            <a:custGeom>
              <a:avLst/>
              <a:gdLst/>
              <a:ahLst/>
              <a:cxnLst/>
              <a:rect l="l" t="t" r="r" b="b"/>
              <a:pathLst>
                <a:path w="91439" h="109854">
                  <a:moveTo>
                    <a:pt x="91177" y="0"/>
                  </a:moveTo>
                  <a:lnTo>
                    <a:pt x="65647" y="22170"/>
                  </a:lnTo>
                  <a:lnTo>
                    <a:pt x="32823" y="36718"/>
                  </a:lnTo>
                  <a:lnTo>
                    <a:pt x="0" y="40347"/>
                  </a:lnTo>
                  <a:lnTo>
                    <a:pt x="83882" y="109410"/>
                  </a:lnTo>
                  <a:lnTo>
                    <a:pt x="911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996141" y="5145978"/>
            <a:ext cx="681355" cy="273050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229"/>
              </a:spcBef>
            </a:pPr>
            <a:r>
              <a:rPr sz="1200" spc="-20" dirty="0">
                <a:latin typeface="Arial MT"/>
                <a:cs typeface="Arial MT"/>
              </a:rPr>
              <a:t>«BA»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786651" y="3928012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A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67407" y="3502176"/>
            <a:ext cx="558165" cy="756285"/>
            <a:chOff x="6867407" y="3502176"/>
            <a:chExt cx="558165" cy="756285"/>
          </a:xfrm>
        </p:grpSpPr>
        <p:sp>
          <p:nvSpPr>
            <p:cNvPr id="84" name="object 84"/>
            <p:cNvSpPr/>
            <p:nvPr/>
          </p:nvSpPr>
          <p:spPr>
            <a:xfrm>
              <a:off x="6872871" y="3507640"/>
              <a:ext cx="412750" cy="273685"/>
            </a:xfrm>
            <a:custGeom>
              <a:avLst/>
              <a:gdLst/>
              <a:ahLst/>
              <a:cxnLst/>
              <a:rect l="l" t="t" r="r" b="b"/>
              <a:pathLst>
                <a:path w="412750" h="273685">
                  <a:moveTo>
                    <a:pt x="0" y="273352"/>
                  </a:moveTo>
                  <a:lnTo>
                    <a:pt x="138817" y="273352"/>
                  </a:lnTo>
                  <a:lnTo>
                    <a:pt x="138817" y="0"/>
                  </a:lnTo>
                  <a:lnTo>
                    <a:pt x="0" y="0"/>
                  </a:lnTo>
                  <a:lnTo>
                    <a:pt x="0" y="273352"/>
                  </a:lnTo>
                  <a:close/>
                </a:path>
                <a:path w="412750" h="273685">
                  <a:moveTo>
                    <a:pt x="138741" y="273352"/>
                  </a:moveTo>
                  <a:lnTo>
                    <a:pt x="273551" y="273352"/>
                  </a:lnTo>
                  <a:lnTo>
                    <a:pt x="273551" y="0"/>
                  </a:lnTo>
                  <a:lnTo>
                    <a:pt x="138741" y="0"/>
                  </a:lnTo>
                  <a:lnTo>
                    <a:pt x="138741" y="273352"/>
                  </a:lnTo>
                  <a:close/>
                </a:path>
                <a:path w="412750" h="273685">
                  <a:moveTo>
                    <a:pt x="273683" y="273352"/>
                  </a:moveTo>
                  <a:lnTo>
                    <a:pt x="412135" y="273352"/>
                  </a:lnTo>
                  <a:lnTo>
                    <a:pt x="412135" y="0"/>
                  </a:lnTo>
                  <a:lnTo>
                    <a:pt x="273683" y="0"/>
                  </a:lnTo>
                  <a:lnTo>
                    <a:pt x="273683" y="273352"/>
                  </a:lnTo>
                  <a:close/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284992" y="3507640"/>
              <a:ext cx="135255" cy="273685"/>
            </a:xfrm>
            <a:custGeom>
              <a:avLst/>
              <a:gdLst/>
              <a:ahLst/>
              <a:cxnLst/>
              <a:rect l="l" t="t" r="r" b="b"/>
              <a:pathLst>
                <a:path w="135254" h="273685">
                  <a:moveTo>
                    <a:pt x="134808" y="0"/>
                  </a:moveTo>
                  <a:lnTo>
                    <a:pt x="0" y="0"/>
                  </a:lnTo>
                  <a:lnTo>
                    <a:pt x="0" y="273352"/>
                  </a:lnTo>
                  <a:lnTo>
                    <a:pt x="134808" y="273352"/>
                  </a:lnTo>
                  <a:lnTo>
                    <a:pt x="13480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259462" y="3507640"/>
              <a:ext cx="160655" cy="677545"/>
            </a:xfrm>
            <a:custGeom>
              <a:avLst/>
              <a:gdLst/>
              <a:ahLst/>
              <a:cxnLst/>
              <a:rect l="l" t="t" r="r" b="b"/>
              <a:pathLst>
                <a:path w="160654" h="677545">
                  <a:moveTo>
                    <a:pt x="25529" y="273352"/>
                  </a:moveTo>
                  <a:lnTo>
                    <a:pt x="160338" y="273352"/>
                  </a:lnTo>
                  <a:lnTo>
                    <a:pt x="160338" y="0"/>
                  </a:lnTo>
                  <a:lnTo>
                    <a:pt x="25529" y="0"/>
                  </a:lnTo>
                  <a:lnTo>
                    <a:pt x="25529" y="273352"/>
                  </a:lnTo>
                  <a:close/>
                </a:path>
                <a:path w="160654" h="677545">
                  <a:moveTo>
                    <a:pt x="58201" y="138506"/>
                  </a:moveTo>
                  <a:lnTo>
                    <a:pt x="0" y="677283"/>
                  </a:lnTo>
                </a:path>
              </a:pathLst>
            </a:custGeom>
            <a:ln w="109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12050" y="4155768"/>
              <a:ext cx="98425" cy="102235"/>
            </a:xfrm>
            <a:custGeom>
              <a:avLst/>
              <a:gdLst/>
              <a:ahLst/>
              <a:cxnLst/>
              <a:rect l="l" t="t" r="r" b="b"/>
              <a:pathLst>
                <a:path w="98425" h="102235">
                  <a:moveTo>
                    <a:pt x="0" y="0"/>
                  </a:moveTo>
                  <a:lnTo>
                    <a:pt x="36470" y="102197"/>
                  </a:lnTo>
                  <a:lnTo>
                    <a:pt x="98319" y="10933"/>
                  </a:lnTo>
                  <a:lnTo>
                    <a:pt x="65647" y="18222"/>
                  </a:lnTo>
                  <a:lnTo>
                    <a:pt x="29176" y="14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909341" y="4327059"/>
            <a:ext cx="681990" cy="273050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229"/>
              </a:spcBef>
            </a:pPr>
            <a:r>
              <a:rPr sz="1200" spc="-25" dirty="0">
                <a:latin typeface="Arial MT"/>
                <a:cs typeface="Arial MT"/>
              </a:rPr>
              <a:t>«C»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125468" y="3640683"/>
            <a:ext cx="552450" cy="617855"/>
            <a:chOff x="5125468" y="3640683"/>
            <a:chExt cx="552450" cy="617855"/>
          </a:xfrm>
        </p:grpSpPr>
        <p:sp>
          <p:nvSpPr>
            <p:cNvPr id="90" name="object 90"/>
            <p:cNvSpPr/>
            <p:nvPr/>
          </p:nvSpPr>
          <p:spPr>
            <a:xfrm>
              <a:off x="5130932" y="3646146"/>
              <a:ext cx="495934" cy="557530"/>
            </a:xfrm>
            <a:custGeom>
              <a:avLst/>
              <a:gdLst/>
              <a:ahLst/>
              <a:cxnLst/>
              <a:rect l="l" t="t" r="r" b="b"/>
              <a:pathLst>
                <a:path w="495935" h="557529">
                  <a:moveTo>
                    <a:pt x="0" y="0"/>
                  </a:moveTo>
                  <a:lnTo>
                    <a:pt x="495547" y="557000"/>
                  </a:lnTo>
                </a:path>
              </a:pathLst>
            </a:custGeom>
            <a:ln w="109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575420" y="4152124"/>
              <a:ext cx="102235" cy="106045"/>
            </a:xfrm>
            <a:custGeom>
              <a:avLst/>
              <a:gdLst/>
              <a:ahLst/>
              <a:cxnLst/>
              <a:rect l="l" t="t" r="r" b="b"/>
              <a:pathLst>
                <a:path w="102235" h="106045">
                  <a:moveTo>
                    <a:pt x="72789" y="0"/>
                  </a:moveTo>
                  <a:lnTo>
                    <a:pt x="54706" y="29155"/>
                  </a:lnTo>
                  <a:lnTo>
                    <a:pt x="29176" y="51022"/>
                  </a:lnTo>
                  <a:lnTo>
                    <a:pt x="0" y="65449"/>
                  </a:lnTo>
                  <a:lnTo>
                    <a:pt x="101966" y="105842"/>
                  </a:lnTo>
                  <a:lnTo>
                    <a:pt x="727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5333106" y="3928012"/>
            <a:ext cx="14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36</a:t>
            </a:fld>
            <a:endParaRPr spc="-25" dirty="0"/>
          </a:p>
        </p:txBody>
      </p:sp>
      <p:sp>
        <p:nvSpPr>
          <p:cNvPr id="93" name="object 93"/>
          <p:cNvSpPr txBox="1"/>
          <p:nvPr/>
        </p:nvSpPr>
        <p:spPr>
          <a:xfrm>
            <a:off x="5815824" y="5145978"/>
            <a:ext cx="681990" cy="273050"/>
          </a:xfrm>
          <a:prstGeom prst="rect">
            <a:avLst/>
          </a:prstGeom>
          <a:ln w="10923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153035">
              <a:lnSpc>
                <a:spcPct val="100000"/>
              </a:lnSpc>
              <a:spcBef>
                <a:spcPts val="229"/>
              </a:spcBef>
            </a:pPr>
            <a:r>
              <a:rPr sz="1200" spc="-20" dirty="0">
                <a:latin typeface="Arial MT"/>
                <a:cs typeface="Arial MT"/>
              </a:rPr>
              <a:t>«BB»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6002" y="613028"/>
            <a:ext cx="17970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562221"/>
            <a:ext cx="7524750" cy="432752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65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54965" algn="l"/>
              </a:tabLst>
            </a:pPr>
            <a:r>
              <a:rPr sz="2500" b="1" i="1" spc="-245" dirty="0">
                <a:latin typeface="Verdana"/>
                <a:cs typeface="Verdana"/>
              </a:rPr>
              <a:t>Hachage</a:t>
            </a:r>
            <a:r>
              <a:rPr sz="2500" b="1" i="1" spc="-165" dirty="0">
                <a:latin typeface="Verdana"/>
                <a:cs typeface="Verdana"/>
              </a:rPr>
              <a:t> </a:t>
            </a:r>
            <a:r>
              <a:rPr sz="2400" b="1" dirty="0">
                <a:latin typeface="Tahoma"/>
                <a:cs typeface="Tahoma"/>
              </a:rPr>
              <a:t>ou</a:t>
            </a:r>
            <a:r>
              <a:rPr sz="2400" b="1" spc="25" dirty="0">
                <a:latin typeface="Tahoma"/>
                <a:cs typeface="Tahoma"/>
              </a:rPr>
              <a:t> </a:t>
            </a:r>
            <a:r>
              <a:rPr sz="2500" b="1" i="1" spc="-254" dirty="0">
                <a:latin typeface="Verdana"/>
                <a:cs typeface="Verdana"/>
              </a:rPr>
              <a:t>adressage</a:t>
            </a:r>
            <a:r>
              <a:rPr sz="2500" b="1" i="1" spc="-150" dirty="0">
                <a:latin typeface="Verdana"/>
                <a:cs typeface="Verdana"/>
              </a:rPr>
              <a:t> </a:t>
            </a:r>
            <a:r>
              <a:rPr sz="2500" b="1" i="1" spc="-225" dirty="0">
                <a:latin typeface="Verdana"/>
                <a:cs typeface="Verdana"/>
              </a:rPr>
              <a:t>dispersé</a:t>
            </a:r>
            <a:r>
              <a:rPr sz="2500" b="1" i="1" spc="-145" dirty="0">
                <a:latin typeface="Verdana"/>
                <a:cs typeface="Verdana"/>
              </a:rPr>
              <a:t> </a:t>
            </a:r>
            <a:r>
              <a:rPr sz="2400" b="1" spc="-60" dirty="0">
                <a:latin typeface="Tahoma"/>
                <a:cs typeface="Tahoma"/>
              </a:rPr>
              <a:t>(</a:t>
            </a:r>
            <a:r>
              <a:rPr sz="2500" b="1" i="1" spc="-60" dirty="0">
                <a:latin typeface="Verdana"/>
                <a:cs typeface="Verdana"/>
              </a:rPr>
              <a:t>hashing</a:t>
            </a:r>
            <a:r>
              <a:rPr sz="2400" b="1" spc="-60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3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Fonction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500" spc="-20" dirty="0">
                <a:latin typeface="Tahoma"/>
                <a:cs typeface="Tahoma"/>
              </a:rPr>
              <a:t>h(clé</a:t>
            </a:r>
            <a:r>
              <a:rPr sz="2500" spc="-114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de</a:t>
            </a:r>
            <a:r>
              <a:rPr sz="2500" spc="-130" dirty="0">
                <a:latin typeface="Tahoma"/>
                <a:cs typeface="Tahoma"/>
              </a:rPr>
              <a:t> </a:t>
            </a:r>
            <a:r>
              <a:rPr sz="2500" spc="-50" dirty="0">
                <a:latin typeface="Tahoma"/>
                <a:cs typeface="Tahoma"/>
              </a:rPr>
              <a:t>hachage)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=&gt;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l'adresse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d'un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paquet</a:t>
            </a:r>
            <a:endParaRPr sz="25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36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Fichier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tableau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500" spc="-50" dirty="0">
                <a:latin typeface="Tahoma"/>
                <a:cs typeface="Tahoma"/>
              </a:rPr>
              <a:t>paquets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400" b="1" spc="-25" dirty="0">
                <a:latin typeface="Tahoma"/>
                <a:cs typeface="Tahoma"/>
              </a:rPr>
              <a:t>(</a:t>
            </a:r>
            <a:r>
              <a:rPr sz="2500" b="1" i="1" spc="-25" dirty="0">
                <a:latin typeface="Verdana"/>
                <a:cs typeface="Verdana"/>
              </a:rPr>
              <a:t>bucket</a:t>
            </a:r>
            <a:r>
              <a:rPr sz="2400" b="1" spc="-25" dirty="0">
                <a:latin typeface="Tahoma"/>
                <a:cs typeface="Tahoma"/>
              </a:rPr>
              <a:t>)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33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000" dirty="0">
                <a:latin typeface="Tahoma"/>
                <a:cs typeface="Tahoma"/>
              </a:rPr>
              <a:t>~ARRAY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paquet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[0..</a:t>
            </a:r>
            <a:r>
              <a:rPr sz="2100" spc="-25" dirty="0">
                <a:latin typeface="Tahoma"/>
                <a:cs typeface="Tahoma"/>
              </a:rPr>
              <a:t>TH</a:t>
            </a:r>
            <a:r>
              <a:rPr sz="2000" spc="-25" dirty="0">
                <a:latin typeface="Tahoma"/>
                <a:cs typeface="Tahoma"/>
              </a:rPr>
              <a:t>-1]</a:t>
            </a:r>
            <a:endParaRPr sz="20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320"/>
              </a:spcBef>
              <a:buClr>
                <a:srgbClr val="FF0000"/>
              </a:buClr>
              <a:buSzPct val="71428"/>
              <a:buFont typeface="Wingdings"/>
              <a:buChar char=""/>
              <a:tabLst>
                <a:tab pos="756285" algn="l"/>
              </a:tabLst>
            </a:pPr>
            <a:r>
              <a:rPr sz="2100" spc="-30" dirty="0">
                <a:latin typeface="Tahoma"/>
                <a:cs typeface="Tahoma"/>
              </a:rPr>
              <a:t>TH</a:t>
            </a:r>
            <a:r>
              <a:rPr sz="2100" spc="-1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taille</a:t>
            </a:r>
            <a:r>
              <a:rPr sz="2100" spc="-8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-45" dirty="0">
                <a:latin typeface="Tahoma"/>
                <a:cs typeface="Tahoma"/>
              </a:rPr>
              <a:t>l'espace</a:t>
            </a:r>
            <a:r>
              <a:rPr sz="2100" spc="-110" dirty="0">
                <a:latin typeface="Tahoma"/>
                <a:cs typeface="Tahoma"/>
              </a:rPr>
              <a:t> </a:t>
            </a:r>
            <a:r>
              <a:rPr sz="2100" spc="-50" dirty="0">
                <a:latin typeface="Tahoma"/>
                <a:cs typeface="Tahoma"/>
              </a:rPr>
              <a:t>d'adressage</a:t>
            </a:r>
            <a:r>
              <a:rPr sz="2100" spc="-114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primaire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46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Habituellement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paquet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bloc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39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Pas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’index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à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traverser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500" b="1" i="1" spc="-50" dirty="0">
                <a:latin typeface="Verdana"/>
                <a:cs typeface="Verdana"/>
              </a:rPr>
              <a:t>O</a:t>
            </a:r>
            <a:r>
              <a:rPr sz="2400" spc="-50" dirty="0">
                <a:latin typeface="Tahoma"/>
                <a:cs typeface="Tahoma"/>
              </a:rPr>
              <a:t>(1)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meilleur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cas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4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Sélection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égalité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(pas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intervalle)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1414" y="635888"/>
            <a:ext cx="35858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statique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475198" y="3066021"/>
            <a:ext cx="3200400" cy="328295"/>
          </a:xfrm>
          <a:custGeom>
            <a:avLst/>
            <a:gdLst/>
            <a:ahLst/>
            <a:cxnLst/>
            <a:rect l="l" t="t" r="r" b="b"/>
            <a:pathLst>
              <a:path w="3200400" h="328295">
                <a:moveTo>
                  <a:pt x="490639" y="0"/>
                </a:moveTo>
                <a:lnTo>
                  <a:pt x="0" y="0"/>
                </a:lnTo>
                <a:lnTo>
                  <a:pt x="0" y="327952"/>
                </a:lnTo>
                <a:lnTo>
                  <a:pt x="490639" y="327952"/>
                </a:lnTo>
                <a:lnTo>
                  <a:pt x="490639" y="0"/>
                </a:lnTo>
                <a:close/>
              </a:path>
              <a:path w="3200400" h="328295">
                <a:moveTo>
                  <a:pt x="3200362" y="0"/>
                </a:moveTo>
                <a:lnTo>
                  <a:pt x="2460701" y="0"/>
                </a:lnTo>
                <a:lnTo>
                  <a:pt x="490677" y="0"/>
                </a:lnTo>
                <a:lnTo>
                  <a:pt x="490677" y="327952"/>
                </a:lnTo>
                <a:lnTo>
                  <a:pt x="2460701" y="327952"/>
                </a:lnTo>
                <a:lnTo>
                  <a:pt x="3200362" y="327952"/>
                </a:lnTo>
                <a:lnTo>
                  <a:pt x="3200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5198" y="4376889"/>
            <a:ext cx="3200400" cy="328295"/>
          </a:xfrm>
          <a:custGeom>
            <a:avLst/>
            <a:gdLst/>
            <a:ahLst/>
            <a:cxnLst/>
            <a:rect l="l" t="t" r="r" b="b"/>
            <a:pathLst>
              <a:path w="3200400" h="328295">
                <a:moveTo>
                  <a:pt x="490639" y="0"/>
                </a:moveTo>
                <a:lnTo>
                  <a:pt x="0" y="0"/>
                </a:lnTo>
                <a:lnTo>
                  <a:pt x="0" y="327952"/>
                </a:lnTo>
                <a:lnTo>
                  <a:pt x="490639" y="327952"/>
                </a:lnTo>
                <a:lnTo>
                  <a:pt x="490639" y="0"/>
                </a:lnTo>
                <a:close/>
              </a:path>
              <a:path w="3200400" h="328295">
                <a:moveTo>
                  <a:pt x="3200362" y="0"/>
                </a:moveTo>
                <a:lnTo>
                  <a:pt x="2460701" y="0"/>
                </a:lnTo>
                <a:lnTo>
                  <a:pt x="490677" y="0"/>
                </a:lnTo>
                <a:lnTo>
                  <a:pt x="490677" y="327952"/>
                </a:lnTo>
                <a:lnTo>
                  <a:pt x="2460701" y="327952"/>
                </a:lnTo>
                <a:lnTo>
                  <a:pt x="3200362" y="327952"/>
                </a:lnTo>
                <a:lnTo>
                  <a:pt x="3200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55522" y="1735342"/>
          <a:ext cx="3201035" cy="392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0855"/>
                <a:gridCol w="1970405"/>
                <a:gridCol w="739775"/>
              </a:tblGrid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60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45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10" dirty="0">
                          <a:latin typeface="Arial MT"/>
                          <a:cs typeface="Arial MT"/>
                        </a:rPr>
                        <a:t>argenté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90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Pommier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81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Catalpa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70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45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45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20" dirty="0">
                          <a:latin typeface="Arial MT"/>
                          <a:cs typeface="Arial MT"/>
                        </a:rPr>
                        <a:t>puce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40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dirty="0">
                          <a:latin typeface="Arial MT"/>
                          <a:cs typeface="Arial MT"/>
                        </a:rPr>
                        <a:t>Epinette</a:t>
                      </a:r>
                      <a:r>
                        <a:rPr sz="145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20" dirty="0">
                          <a:latin typeface="Arial MT"/>
                          <a:cs typeface="Arial MT"/>
                        </a:rPr>
                        <a:t>bleue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10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45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45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50" spc="-20" dirty="0">
                          <a:latin typeface="Arial MT"/>
                          <a:cs typeface="Arial MT"/>
                        </a:rPr>
                        <a:t>boule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20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Sapin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12.99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50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Chêne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22.99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95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Génévrier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25" dirty="0">
                          <a:latin typeface="Arial MT"/>
                          <a:cs typeface="Arial MT"/>
                        </a:rPr>
                        <a:t>80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Poirier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26.99</a:t>
                      </a:r>
                      <a:endParaRPr sz="1450">
                        <a:latin typeface="Arial MT"/>
                        <a:cs typeface="Arial MT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235057" y="2244590"/>
            <a:ext cx="1473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5057" y="3555526"/>
            <a:ext cx="1473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35057" y="4866461"/>
            <a:ext cx="14732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402" y="2738426"/>
            <a:ext cx="8032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Arial MT"/>
                <a:cs typeface="Arial MT"/>
              </a:rPr>
              <a:t>clé</a:t>
            </a:r>
            <a:r>
              <a:rPr sz="1700" spc="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</a:t>
            </a:r>
            <a:r>
              <a:rPr sz="1700" spc="2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10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3574" y="3476975"/>
            <a:ext cx="2298700" cy="489584"/>
          </a:xfrm>
          <a:prstGeom prst="rect">
            <a:avLst/>
          </a:prstGeom>
          <a:ln w="13122">
            <a:solidFill>
              <a:srgbClr val="00000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740"/>
              </a:spcBef>
            </a:pPr>
            <a:r>
              <a:rPr sz="1700" i="1" dirty="0">
                <a:latin typeface="Arial"/>
                <a:cs typeface="Arial"/>
              </a:rPr>
              <a:t>h</a:t>
            </a:r>
            <a:r>
              <a:rPr sz="1700" dirty="0">
                <a:latin typeface="Arial MT"/>
                <a:cs typeface="Arial MT"/>
              </a:rPr>
              <a:t>(10)</a:t>
            </a:r>
            <a:r>
              <a:rPr sz="1700" spc="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10</a:t>
            </a:r>
            <a:r>
              <a:rPr sz="1700" spc="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MOD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3</a:t>
            </a:r>
            <a:r>
              <a:rPr sz="1700" spc="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=</a:t>
            </a:r>
            <a:r>
              <a:rPr sz="1700" spc="20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61803" y="3664694"/>
            <a:ext cx="985519" cy="118110"/>
            <a:chOff x="4161803" y="3664694"/>
            <a:chExt cx="985519" cy="118110"/>
          </a:xfrm>
        </p:grpSpPr>
        <p:sp>
          <p:nvSpPr>
            <p:cNvPr id="12" name="object 12"/>
            <p:cNvSpPr/>
            <p:nvPr/>
          </p:nvSpPr>
          <p:spPr>
            <a:xfrm>
              <a:off x="4161803" y="3721429"/>
              <a:ext cx="893444" cy="0"/>
            </a:xfrm>
            <a:custGeom>
              <a:avLst/>
              <a:gdLst/>
              <a:ahLst/>
              <a:cxnLst/>
              <a:rect l="l" t="t" r="r" b="b"/>
              <a:pathLst>
                <a:path w="893445">
                  <a:moveTo>
                    <a:pt x="893370" y="0"/>
                  </a:moveTo>
                  <a:lnTo>
                    <a:pt x="0" y="0"/>
                  </a:lnTo>
                </a:path>
              </a:pathLst>
            </a:custGeom>
            <a:ln w="13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8887" y="366469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10">
                  <a:moveTo>
                    <a:pt x="0" y="0"/>
                  </a:moveTo>
                  <a:lnTo>
                    <a:pt x="8762" y="34843"/>
                  </a:lnTo>
                  <a:lnTo>
                    <a:pt x="8762" y="78626"/>
                  </a:lnTo>
                  <a:lnTo>
                    <a:pt x="0" y="117849"/>
                  </a:lnTo>
                  <a:lnTo>
                    <a:pt x="118105" y="56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200071" y="3225410"/>
            <a:ext cx="663575" cy="557530"/>
            <a:chOff x="1200071" y="3225410"/>
            <a:chExt cx="663575" cy="557530"/>
          </a:xfrm>
        </p:grpSpPr>
        <p:sp>
          <p:nvSpPr>
            <p:cNvPr id="15" name="object 15"/>
            <p:cNvSpPr/>
            <p:nvPr/>
          </p:nvSpPr>
          <p:spPr>
            <a:xfrm>
              <a:off x="1206634" y="3231973"/>
              <a:ext cx="565150" cy="489584"/>
            </a:xfrm>
            <a:custGeom>
              <a:avLst/>
              <a:gdLst/>
              <a:ahLst/>
              <a:cxnLst/>
              <a:rect l="l" t="t" r="r" b="b"/>
              <a:pathLst>
                <a:path w="565150" h="489585">
                  <a:moveTo>
                    <a:pt x="0" y="0"/>
                  </a:moveTo>
                  <a:lnTo>
                    <a:pt x="0" y="489457"/>
                  </a:lnTo>
                  <a:lnTo>
                    <a:pt x="565028" y="489457"/>
                  </a:lnTo>
                </a:path>
              </a:pathLst>
            </a:custGeom>
            <a:ln w="13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45413" y="3664694"/>
              <a:ext cx="118745" cy="118110"/>
            </a:xfrm>
            <a:custGeom>
              <a:avLst/>
              <a:gdLst/>
              <a:ahLst/>
              <a:cxnLst/>
              <a:rect l="l" t="t" r="r" b="b"/>
              <a:pathLst>
                <a:path w="118744" h="118110">
                  <a:moveTo>
                    <a:pt x="0" y="0"/>
                  </a:moveTo>
                  <a:lnTo>
                    <a:pt x="8743" y="34843"/>
                  </a:lnTo>
                  <a:lnTo>
                    <a:pt x="8743" y="78626"/>
                  </a:lnTo>
                  <a:lnTo>
                    <a:pt x="0" y="117849"/>
                  </a:lnTo>
                  <a:lnTo>
                    <a:pt x="118160" y="56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934" y="106171"/>
            <a:ext cx="694626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300" marR="5080" indent="-251523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Problème</a:t>
            </a:r>
            <a:r>
              <a:rPr sz="32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débordement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dû</a:t>
            </a:r>
            <a:r>
              <a:rPr sz="3200" b="1" spc="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aux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collisions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654" y="1101979"/>
            <a:ext cx="6057265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Méthode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résolution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collisions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Adressage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ouvert</a:t>
            </a:r>
            <a:endParaRPr sz="2400">
              <a:latin typeface="Tahoma"/>
              <a:cs typeface="Tahoma"/>
            </a:endParaRPr>
          </a:p>
          <a:p>
            <a:pPr marL="1248410" lvl="2" indent="-321945">
              <a:lnSpc>
                <a:spcPct val="100000"/>
              </a:lnSpc>
              <a:spcBef>
                <a:spcPts val="48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248410" algn="l"/>
              </a:tabLst>
            </a:pPr>
            <a:r>
              <a:rPr sz="2400" dirty="0">
                <a:latin typeface="Tahoma"/>
                <a:cs typeface="Tahoma"/>
              </a:rPr>
              <a:t>AC+1,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AC+2,.....,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500" spc="-45" dirty="0">
                <a:latin typeface="Tahoma"/>
                <a:cs typeface="Tahoma"/>
              </a:rPr>
              <a:t>n</a:t>
            </a:r>
            <a:r>
              <a:rPr sz="2400" spc="-45" dirty="0">
                <a:latin typeface="Tahoma"/>
                <a:cs typeface="Tahoma"/>
              </a:rPr>
              <a:t>-</a:t>
            </a:r>
            <a:r>
              <a:rPr sz="2400" dirty="0">
                <a:latin typeface="Tahoma"/>
                <a:cs typeface="Tahoma"/>
              </a:rPr>
              <a:t>1, 0, 1,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....AC-</a:t>
            </a:r>
            <a:r>
              <a:rPr sz="2400" spc="-5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5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spc="-10" dirty="0">
                <a:latin typeface="Tahoma"/>
                <a:cs typeface="Tahoma"/>
              </a:rPr>
              <a:t>Chaînage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4953" y="4172496"/>
            <a:ext cx="2590165" cy="265430"/>
          </a:xfrm>
          <a:custGeom>
            <a:avLst/>
            <a:gdLst/>
            <a:ahLst/>
            <a:cxnLst/>
            <a:rect l="l" t="t" r="r" b="b"/>
            <a:pathLst>
              <a:path w="2590165" h="265429">
                <a:moveTo>
                  <a:pt x="2589593" y="0"/>
                </a:moveTo>
                <a:lnTo>
                  <a:pt x="1994611" y="0"/>
                </a:lnTo>
                <a:lnTo>
                  <a:pt x="400392" y="0"/>
                </a:lnTo>
                <a:lnTo>
                  <a:pt x="0" y="0"/>
                </a:lnTo>
                <a:lnTo>
                  <a:pt x="0" y="265391"/>
                </a:lnTo>
                <a:lnTo>
                  <a:pt x="400392" y="265391"/>
                </a:lnTo>
                <a:lnTo>
                  <a:pt x="1994496" y="265391"/>
                </a:lnTo>
                <a:lnTo>
                  <a:pt x="2589593" y="265391"/>
                </a:lnTo>
                <a:lnTo>
                  <a:pt x="25895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4953" y="5233263"/>
            <a:ext cx="2590165" cy="265430"/>
          </a:xfrm>
          <a:custGeom>
            <a:avLst/>
            <a:gdLst/>
            <a:ahLst/>
            <a:cxnLst/>
            <a:rect l="l" t="t" r="r" b="b"/>
            <a:pathLst>
              <a:path w="2590165" h="265429">
                <a:moveTo>
                  <a:pt x="2589593" y="0"/>
                </a:moveTo>
                <a:lnTo>
                  <a:pt x="1994611" y="0"/>
                </a:lnTo>
                <a:lnTo>
                  <a:pt x="400392" y="0"/>
                </a:lnTo>
                <a:lnTo>
                  <a:pt x="0" y="0"/>
                </a:lnTo>
                <a:lnTo>
                  <a:pt x="0" y="265379"/>
                </a:lnTo>
                <a:lnTo>
                  <a:pt x="400392" y="265379"/>
                </a:lnTo>
                <a:lnTo>
                  <a:pt x="1994496" y="265379"/>
                </a:lnTo>
                <a:lnTo>
                  <a:pt x="2589593" y="265379"/>
                </a:lnTo>
                <a:lnTo>
                  <a:pt x="25895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09030" y="3095697"/>
          <a:ext cx="3384550" cy="317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/>
                <a:gridCol w="1594485"/>
                <a:gridCol w="595630"/>
                <a:gridCol w="793750"/>
              </a:tblGrid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60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15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spc="-10" dirty="0">
                          <a:latin typeface="Arial MT"/>
                          <a:cs typeface="Arial MT"/>
                        </a:rPr>
                        <a:t>argenté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90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Pommier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81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Catalpa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70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1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1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spc="-20" dirty="0">
                          <a:latin typeface="Arial MT"/>
                          <a:cs typeface="Arial MT"/>
                        </a:rPr>
                        <a:t>puce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40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Epinette</a:t>
                      </a:r>
                      <a:r>
                        <a:rPr sz="1150" spc="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spc="-10" dirty="0">
                          <a:latin typeface="Arial MT"/>
                          <a:cs typeface="Arial MT"/>
                        </a:rPr>
                        <a:t>bleue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25.99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10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1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15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50" spc="-20" dirty="0">
                          <a:latin typeface="Arial MT"/>
                          <a:cs typeface="Arial MT"/>
                        </a:rPr>
                        <a:t>boule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10.99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43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Magnolia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28.99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20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Sapin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12.99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50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Chêne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22.99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95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Génévrier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15.99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80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Poirier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26.99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31706" y="3505362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706" y="4566185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706" y="5627008"/>
            <a:ext cx="1238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Arial MT"/>
                <a:cs typeface="Arial MT"/>
              </a:rPr>
              <a:t>2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562790" y="4156519"/>
          <a:ext cx="2589529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685"/>
                <a:gridCol w="1593850"/>
                <a:gridCol w="594994"/>
              </a:tblGrid>
              <a:tr h="26479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52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Pin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150" spc="-10" dirty="0">
                          <a:latin typeface="Arial MT"/>
                          <a:cs typeface="Arial MT"/>
                        </a:rPr>
                        <a:t>18.99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4483186" y="4656948"/>
            <a:ext cx="95885" cy="95885"/>
          </a:xfrm>
          <a:custGeom>
            <a:avLst/>
            <a:gdLst/>
            <a:ahLst/>
            <a:cxnLst/>
            <a:rect l="l" t="t" r="r" b="b"/>
            <a:pathLst>
              <a:path w="95885" h="95885">
                <a:moveTo>
                  <a:pt x="0" y="0"/>
                </a:moveTo>
                <a:lnTo>
                  <a:pt x="10631" y="28196"/>
                </a:lnTo>
                <a:lnTo>
                  <a:pt x="10631" y="63625"/>
                </a:lnTo>
                <a:lnTo>
                  <a:pt x="0" y="95364"/>
                </a:lnTo>
                <a:lnTo>
                  <a:pt x="95532" y="4591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1848" y="635888"/>
            <a:ext cx="42449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Fonction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702977"/>
            <a:ext cx="7411084" cy="39001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9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Tahoma"/>
                <a:cs typeface="Tahoma"/>
              </a:rPr>
              <a:t>Répartition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uniforme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des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clés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dans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[0..</a:t>
            </a:r>
            <a:r>
              <a:rPr sz="2950" spc="-45" dirty="0">
                <a:latin typeface="Tahoma"/>
                <a:cs typeface="Tahoma"/>
              </a:rPr>
              <a:t>TH</a:t>
            </a:r>
            <a:r>
              <a:rPr sz="2800" spc="-45" dirty="0">
                <a:latin typeface="Tahoma"/>
                <a:cs typeface="Tahoma"/>
              </a:rPr>
              <a:t>-</a:t>
            </a:r>
            <a:r>
              <a:rPr sz="2800" spc="-25" dirty="0">
                <a:latin typeface="Tahoma"/>
                <a:cs typeface="Tahoma"/>
              </a:rPr>
              <a:t>1]</a:t>
            </a:r>
            <a:endParaRPr sz="28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5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781685" algn="l"/>
              </a:tabLst>
            </a:pPr>
            <a:r>
              <a:rPr sz="2500" spc="-10" dirty="0">
                <a:latin typeface="Tahoma"/>
                <a:cs typeface="Tahoma"/>
              </a:rPr>
              <a:t>h</a:t>
            </a:r>
            <a:r>
              <a:rPr sz="2400" spc="-10" dirty="0">
                <a:latin typeface="Tahoma"/>
                <a:cs typeface="Tahoma"/>
              </a:rPr>
              <a:t>(</a:t>
            </a:r>
            <a:r>
              <a:rPr sz="2500" spc="-10" dirty="0">
                <a:latin typeface="Tahoma"/>
                <a:cs typeface="Tahoma"/>
              </a:rPr>
              <a:t>clé</a:t>
            </a:r>
            <a:r>
              <a:rPr sz="2400" spc="-10" dirty="0">
                <a:latin typeface="Tahoma"/>
                <a:cs typeface="Tahoma"/>
              </a:rPr>
              <a:t>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clé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TH</a:t>
            </a:r>
            <a:endParaRPr sz="2500">
              <a:latin typeface="Tahoma"/>
              <a:cs typeface="Tahoma"/>
            </a:endParaRPr>
          </a:p>
          <a:p>
            <a:pPr marL="1180465" lvl="2" indent="-228600">
              <a:lnSpc>
                <a:spcPct val="100000"/>
              </a:lnSpc>
              <a:spcBef>
                <a:spcPts val="365"/>
              </a:spcBef>
              <a:buClr>
                <a:srgbClr val="CC00FF"/>
              </a:buClr>
              <a:buSzPct val="71428"/>
              <a:buFont typeface="Wingdings"/>
              <a:buChar char=""/>
              <a:tabLst>
                <a:tab pos="1180465" algn="l"/>
              </a:tabLst>
            </a:pPr>
            <a:r>
              <a:rPr sz="2100" spc="-30" dirty="0">
                <a:latin typeface="Tahoma"/>
                <a:cs typeface="Tahoma"/>
              </a:rPr>
              <a:t>TH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est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premier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5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781685" algn="l"/>
              </a:tabLst>
            </a:pPr>
            <a:r>
              <a:rPr sz="2500" spc="-10" dirty="0">
                <a:latin typeface="Tahoma"/>
                <a:cs typeface="Tahoma"/>
              </a:rPr>
              <a:t>h</a:t>
            </a:r>
            <a:r>
              <a:rPr sz="2400" spc="-10" dirty="0">
                <a:latin typeface="Tahoma"/>
                <a:cs typeface="Tahoma"/>
              </a:rPr>
              <a:t>(</a:t>
            </a:r>
            <a:r>
              <a:rPr sz="2500" spc="-10" dirty="0">
                <a:latin typeface="Tahoma"/>
                <a:cs typeface="Tahoma"/>
              </a:rPr>
              <a:t>clé</a:t>
            </a:r>
            <a:r>
              <a:rPr sz="2400" spc="-10" dirty="0">
                <a:latin typeface="Tahoma"/>
                <a:cs typeface="Tahoma"/>
              </a:rPr>
              <a:t>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clé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p</a:t>
            </a:r>
            <a:r>
              <a:rPr sz="2500" spc="-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TH</a:t>
            </a:r>
            <a:endParaRPr sz="2500">
              <a:latin typeface="Tahoma"/>
              <a:cs typeface="Tahoma"/>
            </a:endParaRPr>
          </a:p>
          <a:p>
            <a:pPr marL="1180465" lvl="2" indent="-228600">
              <a:lnSpc>
                <a:spcPct val="100000"/>
              </a:lnSpc>
              <a:spcBef>
                <a:spcPts val="370"/>
              </a:spcBef>
              <a:buClr>
                <a:srgbClr val="CC00FF"/>
              </a:buClr>
              <a:buSzPct val="71428"/>
              <a:buFont typeface="Wingdings"/>
              <a:buChar char=""/>
              <a:tabLst>
                <a:tab pos="1180465" algn="l"/>
              </a:tabLst>
            </a:pPr>
            <a:r>
              <a:rPr sz="2100" spc="-45" dirty="0">
                <a:latin typeface="Tahoma"/>
                <a:cs typeface="Tahoma"/>
              </a:rPr>
              <a:t>TH</a:t>
            </a:r>
            <a:r>
              <a:rPr sz="2100" spc="-11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et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sont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relativements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premiers</a:t>
            </a:r>
            <a:endParaRPr sz="20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5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781685" algn="l"/>
              </a:tabLst>
            </a:pPr>
            <a:r>
              <a:rPr sz="2500" spc="-10" dirty="0">
                <a:latin typeface="Tahoma"/>
                <a:cs typeface="Tahoma"/>
              </a:rPr>
              <a:t>h</a:t>
            </a:r>
            <a:r>
              <a:rPr sz="2400" spc="-10" dirty="0">
                <a:latin typeface="Tahoma"/>
                <a:cs typeface="Tahoma"/>
              </a:rPr>
              <a:t>(</a:t>
            </a:r>
            <a:r>
              <a:rPr sz="2500" spc="-10" dirty="0">
                <a:latin typeface="Tahoma"/>
                <a:cs typeface="Tahoma"/>
              </a:rPr>
              <a:t>clé</a:t>
            </a:r>
            <a:r>
              <a:rPr sz="2400" spc="-10" dirty="0">
                <a:latin typeface="Tahoma"/>
                <a:cs typeface="Tahoma"/>
              </a:rPr>
              <a:t>)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(∑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s</a:t>
            </a:r>
            <a:r>
              <a:rPr sz="2400" baseline="-20833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MOD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TH</a:t>
            </a:r>
            <a:endParaRPr sz="2500">
              <a:latin typeface="Tahoma"/>
              <a:cs typeface="Tahoma"/>
            </a:endParaRPr>
          </a:p>
          <a:p>
            <a:pPr marL="1180465" lvl="2" indent="-228600">
              <a:lnSpc>
                <a:spcPct val="100000"/>
              </a:lnSpc>
              <a:spcBef>
                <a:spcPts val="365"/>
              </a:spcBef>
              <a:buClr>
                <a:srgbClr val="CC00FF"/>
              </a:buClr>
              <a:buSzPct val="71428"/>
              <a:buFont typeface="Wingdings"/>
              <a:buChar char=""/>
              <a:tabLst>
                <a:tab pos="1180465" algn="l"/>
              </a:tabLst>
            </a:pPr>
            <a:r>
              <a:rPr sz="2100" dirty="0">
                <a:latin typeface="Tahoma"/>
                <a:cs typeface="Tahoma"/>
              </a:rPr>
              <a:t>s</a:t>
            </a:r>
            <a:r>
              <a:rPr sz="1950" baseline="-21367" dirty="0">
                <a:latin typeface="Tahoma"/>
                <a:cs typeface="Tahoma"/>
              </a:rPr>
              <a:t>i</a:t>
            </a:r>
            <a:r>
              <a:rPr sz="1950" spc="247" baseline="-21367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est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sous-séquence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des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bits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clé</a:t>
            </a:r>
            <a:endParaRPr sz="20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6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Tahoma"/>
                <a:cs typeface="Tahoma"/>
              </a:rPr>
              <a:t>Clé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numérique</a:t>
            </a:r>
            <a:endParaRPr sz="28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2400" dirty="0">
                <a:latin typeface="Tahoma"/>
                <a:cs typeface="Tahoma"/>
              </a:rPr>
              <a:t>représentation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binaire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entier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1557" y="635888"/>
            <a:ext cx="43446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vs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indexage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681013"/>
            <a:ext cx="6668770" cy="40684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25"/>
              </a:spcBef>
              <a:buClr>
                <a:srgbClr val="B1B1B1"/>
              </a:buClr>
              <a:buSzPct val="71186"/>
              <a:buFont typeface="Wingdings"/>
              <a:buChar char=""/>
              <a:tabLst>
                <a:tab pos="354965" algn="l"/>
              </a:tabLst>
            </a:pPr>
            <a:r>
              <a:rPr sz="2950" b="1" i="1" spc="-70" dirty="0">
                <a:latin typeface="Verdana"/>
                <a:cs typeface="Verdana"/>
              </a:rPr>
              <a:t>O</a:t>
            </a:r>
            <a:r>
              <a:rPr sz="2800" spc="-70" dirty="0">
                <a:latin typeface="Tahoma"/>
                <a:cs typeface="Tahoma"/>
              </a:rPr>
              <a:t>(1)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meilleur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950" b="1" i="1" spc="-10" dirty="0">
                <a:latin typeface="Verdana"/>
                <a:cs typeface="Verdana"/>
              </a:rPr>
              <a:t>O</a:t>
            </a:r>
            <a:r>
              <a:rPr sz="2800" spc="-10" dirty="0">
                <a:latin typeface="Tahoma"/>
                <a:cs typeface="Tahoma"/>
              </a:rPr>
              <a:t>(log(N))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09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Pas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’espace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supplémentaire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’index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Gaspillage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’espace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TH</a:t>
            </a:r>
            <a:r>
              <a:rPr sz="295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trop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&gt;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Performance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dégradée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si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trop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&lt;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4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Gestion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plus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délicate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déterminer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h</a:t>
            </a:r>
            <a:r>
              <a:rPr sz="25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TH</a:t>
            </a:r>
            <a:endParaRPr sz="25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7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maintenance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réorganisations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34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Clé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non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numérique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?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représentation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binaire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entier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385" y="635888"/>
            <a:ext cx="327215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Calcul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’espace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12111"/>
            <a:ext cx="7589520" cy="2792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265">
              <a:lnSpc>
                <a:spcPts val="3815"/>
              </a:lnSpc>
              <a:spcBef>
                <a:spcPts val="13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Heuristique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: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350" spc="-60" dirty="0">
                <a:latin typeface="Tahoma"/>
                <a:cs typeface="Tahoma"/>
              </a:rPr>
              <a:t>Taux</a:t>
            </a:r>
            <a:r>
              <a:rPr sz="3350" spc="-150" dirty="0">
                <a:latin typeface="Tahoma"/>
                <a:cs typeface="Tahoma"/>
              </a:rPr>
              <a:t> </a:t>
            </a:r>
            <a:r>
              <a:rPr sz="3350" dirty="0">
                <a:latin typeface="Tahoma"/>
                <a:cs typeface="Tahoma"/>
              </a:rPr>
              <a:t>d</a:t>
            </a:r>
            <a:r>
              <a:rPr sz="3350" spc="-130" dirty="0">
                <a:latin typeface="Tahoma"/>
                <a:cs typeface="Tahoma"/>
              </a:rPr>
              <a:t> </a:t>
            </a:r>
            <a:r>
              <a:rPr sz="3350" spc="-70" dirty="0">
                <a:latin typeface="Tahoma"/>
                <a:cs typeface="Tahoma"/>
              </a:rPr>
              <a:t>’occupation</a:t>
            </a:r>
            <a:r>
              <a:rPr sz="3350" spc="-150" dirty="0">
                <a:latin typeface="Tahoma"/>
                <a:cs typeface="Tahoma"/>
              </a:rPr>
              <a:t> </a:t>
            </a:r>
            <a:r>
              <a:rPr sz="3350" spc="-10" dirty="0">
                <a:latin typeface="Tahoma"/>
                <a:cs typeface="Tahoma"/>
              </a:rPr>
              <a:t>moyen</a:t>
            </a:r>
            <a:endParaRPr sz="3350">
              <a:latin typeface="Tahoma"/>
              <a:cs typeface="Tahoma"/>
            </a:endParaRPr>
          </a:p>
          <a:p>
            <a:pPr marL="354965">
              <a:lnSpc>
                <a:spcPts val="3635"/>
              </a:lnSpc>
            </a:pPr>
            <a:r>
              <a:rPr sz="3200" dirty="0">
                <a:latin typeface="Tahoma"/>
                <a:cs typeface="Tahoma"/>
              </a:rPr>
              <a:t>~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80%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6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56285" algn="l"/>
              </a:tabLst>
            </a:pPr>
            <a:r>
              <a:rPr sz="2950" spc="-85" dirty="0">
                <a:latin typeface="Tahoma"/>
                <a:cs typeface="Tahoma"/>
              </a:rPr>
              <a:t>TauxOccupation</a:t>
            </a:r>
            <a:r>
              <a:rPr sz="295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N</a:t>
            </a:r>
            <a:r>
              <a:rPr sz="2800" spc="-50" dirty="0">
                <a:latin typeface="Tahoma"/>
                <a:cs typeface="Tahoma"/>
              </a:rPr>
              <a:t>/(</a:t>
            </a:r>
            <a:r>
              <a:rPr sz="2950" spc="-50" dirty="0">
                <a:latin typeface="Tahoma"/>
                <a:cs typeface="Tahoma"/>
              </a:rPr>
              <a:t>TH</a:t>
            </a:r>
            <a:r>
              <a:rPr sz="2950" spc="-110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ahoma"/>
                <a:cs typeface="Tahoma"/>
              </a:rPr>
              <a:t>FB</a:t>
            </a:r>
            <a:r>
              <a:rPr sz="2800" dirty="0">
                <a:latin typeface="Tahoma"/>
                <a:cs typeface="Tahoma"/>
              </a:rPr>
              <a:t>)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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ahoma"/>
                <a:cs typeface="Tahoma"/>
              </a:rPr>
              <a:t>0.8</a:t>
            </a:r>
            <a:endParaRPr sz="2800">
              <a:latin typeface="Tahoma"/>
              <a:cs typeface="Tahoma"/>
            </a:endParaRPr>
          </a:p>
          <a:p>
            <a:pPr marL="354965" marR="5080" indent="-342900">
              <a:lnSpc>
                <a:spcPts val="3370"/>
              </a:lnSpc>
              <a:spcBef>
                <a:spcPts val="434"/>
              </a:spcBef>
              <a:buClr>
                <a:srgbClr val="B1B1B1"/>
              </a:buClr>
              <a:buSzPct val="71186"/>
              <a:buFont typeface="Wingdings"/>
              <a:buChar char=""/>
              <a:tabLst>
                <a:tab pos="354965" algn="l"/>
              </a:tabLst>
            </a:pPr>
            <a:r>
              <a:rPr sz="2950" spc="-75" dirty="0">
                <a:latin typeface="Tahoma"/>
                <a:cs typeface="Tahoma"/>
              </a:rPr>
              <a:t>Taux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de</a:t>
            </a:r>
            <a:r>
              <a:rPr sz="2950" spc="-20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débordement</a:t>
            </a:r>
            <a:r>
              <a:rPr sz="2950" spc="-145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moyen</a:t>
            </a:r>
            <a:r>
              <a:rPr sz="2950" spc="-1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sous </a:t>
            </a:r>
            <a:r>
              <a:rPr sz="2800" dirty="0">
                <a:latin typeface="Tahoma"/>
                <a:cs typeface="Tahoma"/>
              </a:rPr>
              <a:t>distribution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uniforme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[Merrett,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1984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#217]</a:t>
            </a:r>
            <a:endParaRPr sz="3200">
              <a:latin typeface="Tahoma"/>
              <a:cs typeface="Tahoma"/>
            </a:endParaRPr>
          </a:p>
          <a:p>
            <a:pPr marL="354965">
              <a:lnSpc>
                <a:spcPts val="3425"/>
              </a:lnSpc>
            </a:pPr>
            <a:r>
              <a:rPr sz="3200" spc="-50" dirty="0">
                <a:latin typeface="Tahoma"/>
                <a:cs typeface="Tahoma"/>
              </a:rPr>
              <a:t>: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028" y="4499889"/>
            <a:ext cx="1560830" cy="1216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3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299085" algn="l"/>
              </a:tabLst>
            </a:pPr>
            <a:r>
              <a:rPr sz="2500" dirty="0">
                <a:latin typeface="Tahoma"/>
                <a:cs typeface="Tahoma"/>
              </a:rPr>
              <a:t>FB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170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299085" algn="l"/>
              </a:tabLst>
            </a:pPr>
            <a:r>
              <a:rPr sz="2500" dirty="0">
                <a:latin typeface="Tahoma"/>
                <a:cs typeface="Tahoma"/>
              </a:rPr>
              <a:t>FB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  <a:p>
            <a:pPr marL="299085" indent="-286385">
              <a:lnSpc>
                <a:spcPct val="100000"/>
              </a:lnSpc>
              <a:spcBef>
                <a:spcPts val="165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299085" algn="l"/>
              </a:tabLst>
            </a:pPr>
            <a:r>
              <a:rPr sz="2500" dirty="0">
                <a:latin typeface="Tahoma"/>
                <a:cs typeface="Tahoma"/>
              </a:rPr>
              <a:t>FB</a:t>
            </a:r>
            <a:r>
              <a:rPr sz="2500" spc="-1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100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5809" y="4479885"/>
            <a:ext cx="1720850" cy="12331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dirty="0">
                <a:latin typeface="Tahoma"/>
                <a:cs typeface="Tahoma"/>
              </a:rPr>
              <a:t>~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30%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Tahoma"/>
                <a:cs typeface="Tahoma"/>
              </a:rPr>
              <a:t>~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5%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25" dirty="0">
                <a:latin typeface="Tahoma"/>
                <a:cs typeface="Tahoma"/>
              </a:rPr>
              <a:t>~1%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43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892454" y="392049"/>
            <a:ext cx="7663815" cy="3868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4725" marR="309245" indent="-192722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Fonction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 hachage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préservant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la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relation</a:t>
            </a:r>
            <a:r>
              <a:rPr sz="32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d'ordre</a:t>
            </a:r>
            <a:endParaRPr sz="32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312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3200" spc="-20" dirty="0">
                <a:latin typeface="Tahoma"/>
                <a:cs typeface="Tahoma"/>
              </a:rPr>
              <a:t>(</a:t>
            </a:r>
            <a:r>
              <a:rPr sz="3350" spc="-20" dirty="0">
                <a:latin typeface="Tahoma"/>
                <a:cs typeface="Tahoma"/>
              </a:rPr>
              <a:t>tidy</a:t>
            </a:r>
            <a:r>
              <a:rPr sz="3350" spc="-235" dirty="0">
                <a:latin typeface="Tahoma"/>
                <a:cs typeface="Tahoma"/>
              </a:rPr>
              <a:t> </a:t>
            </a:r>
            <a:r>
              <a:rPr sz="3350" spc="-10" dirty="0">
                <a:latin typeface="Tahoma"/>
                <a:cs typeface="Tahoma"/>
              </a:rPr>
              <a:t>functions</a:t>
            </a:r>
            <a:r>
              <a:rPr sz="3200" spc="-1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1760"/>
              </a:spcBef>
              <a:buClr>
                <a:srgbClr val="B1B1B1"/>
              </a:buClr>
              <a:buSzPct val="71641"/>
              <a:buFont typeface="Wingdings"/>
              <a:buChar char=""/>
              <a:tabLst>
                <a:tab pos="380365" algn="l"/>
                <a:tab pos="2342515" algn="l"/>
              </a:tabLst>
            </a:pPr>
            <a:r>
              <a:rPr sz="3350" dirty="0">
                <a:latin typeface="Tahoma"/>
                <a:cs typeface="Tahoma"/>
              </a:rPr>
              <a:t>clé</a:t>
            </a:r>
            <a:r>
              <a:rPr sz="3150" baseline="-21164" dirty="0">
                <a:latin typeface="Tahoma"/>
                <a:cs typeface="Tahoma"/>
              </a:rPr>
              <a:t>1</a:t>
            </a:r>
            <a:r>
              <a:rPr sz="3150" spc="337" baseline="-2116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&lt;</a:t>
            </a:r>
            <a:r>
              <a:rPr sz="3200" spc="-110" dirty="0">
                <a:latin typeface="Tahoma"/>
                <a:cs typeface="Tahoma"/>
              </a:rPr>
              <a:t> </a:t>
            </a:r>
            <a:r>
              <a:rPr sz="3350" spc="-20" dirty="0">
                <a:latin typeface="Tahoma"/>
                <a:cs typeface="Tahoma"/>
              </a:rPr>
              <a:t>clé</a:t>
            </a:r>
            <a:r>
              <a:rPr sz="3150" spc="-30" baseline="-21164" dirty="0">
                <a:latin typeface="Tahoma"/>
                <a:cs typeface="Tahoma"/>
              </a:rPr>
              <a:t>2</a:t>
            </a:r>
            <a:r>
              <a:rPr sz="3150" baseline="-21164" dirty="0">
                <a:latin typeface="Tahoma"/>
                <a:cs typeface="Tahoma"/>
              </a:rPr>
              <a:t>	</a:t>
            </a:r>
            <a:r>
              <a:rPr sz="3200" dirty="0">
                <a:latin typeface="Symbol"/>
                <a:cs typeface="Symbol"/>
              </a:rPr>
              <a:t></a:t>
            </a:r>
            <a:r>
              <a:rPr sz="3200" spc="100" dirty="0">
                <a:latin typeface="Times New Roman"/>
                <a:cs typeface="Times New Roman"/>
              </a:rPr>
              <a:t> </a:t>
            </a:r>
            <a:r>
              <a:rPr sz="3350" spc="-10" dirty="0">
                <a:latin typeface="Tahoma"/>
                <a:cs typeface="Tahoma"/>
              </a:rPr>
              <a:t>h</a:t>
            </a:r>
            <a:r>
              <a:rPr sz="3200" spc="-10" dirty="0">
                <a:latin typeface="Tahoma"/>
                <a:cs typeface="Tahoma"/>
              </a:rPr>
              <a:t>(</a:t>
            </a:r>
            <a:r>
              <a:rPr sz="3350" spc="-10" dirty="0">
                <a:latin typeface="Tahoma"/>
                <a:cs typeface="Tahoma"/>
              </a:rPr>
              <a:t>clé</a:t>
            </a:r>
            <a:r>
              <a:rPr sz="3150" spc="-15" baseline="-21164" dirty="0">
                <a:latin typeface="Tahoma"/>
                <a:cs typeface="Tahoma"/>
              </a:rPr>
              <a:t>1</a:t>
            </a:r>
            <a:r>
              <a:rPr sz="3200" spc="-10" dirty="0">
                <a:latin typeface="Tahoma"/>
                <a:cs typeface="Tahoma"/>
              </a:rPr>
              <a:t>)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&lt;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350" spc="-10" dirty="0">
                <a:latin typeface="Tahoma"/>
                <a:cs typeface="Tahoma"/>
              </a:rPr>
              <a:t>h</a:t>
            </a:r>
            <a:r>
              <a:rPr sz="3200" spc="-10" dirty="0">
                <a:latin typeface="Tahoma"/>
                <a:cs typeface="Tahoma"/>
              </a:rPr>
              <a:t>(</a:t>
            </a:r>
            <a:r>
              <a:rPr sz="3350" spc="-10" dirty="0">
                <a:latin typeface="Tahoma"/>
                <a:cs typeface="Tahoma"/>
              </a:rPr>
              <a:t>clé</a:t>
            </a:r>
            <a:r>
              <a:rPr sz="3150" spc="-15" baseline="-21164" dirty="0">
                <a:latin typeface="Tahoma"/>
                <a:cs typeface="Tahoma"/>
              </a:rPr>
              <a:t>2</a:t>
            </a:r>
            <a:r>
              <a:rPr sz="3200" spc="-10" dirty="0">
                <a:latin typeface="Tahoma"/>
                <a:cs typeface="Tahoma"/>
              </a:rPr>
              <a:t>)</a:t>
            </a:r>
            <a:endParaRPr sz="3200">
              <a:latin typeface="Tahoma"/>
              <a:cs typeface="Tahoma"/>
            </a:endParaRPr>
          </a:p>
          <a:p>
            <a:pPr marL="380365" marR="30480" indent="-342900">
              <a:lnSpc>
                <a:spcPct val="100000"/>
              </a:lnSpc>
              <a:spcBef>
                <a:spcPts val="19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3200" dirty="0">
                <a:latin typeface="Tahoma"/>
                <a:cs typeface="Tahoma"/>
              </a:rPr>
              <a:t>Connaissances</a:t>
            </a:r>
            <a:r>
              <a:rPr sz="3200" spc="1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préalables</a:t>
            </a:r>
            <a:r>
              <a:rPr sz="3200" spc="1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au</a:t>
            </a:r>
            <a:r>
              <a:rPr sz="3200" spc="1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sujet</a:t>
            </a:r>
            <a:r>
              <a:rPr sz="3200" spc="1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1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la </a:t>
            </a:r>
            <a:r>
              <a:rPr sz="3200" dirty="0">
                <a:latin typeface="Tahoma"/>
                <a:cs typeface="Tahoma"/>
              </a:rPr>
              <a:t>distribution</a:t>
            </a:r>
            <a:r>
              <a:rPr sz="3200" spc="-1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</a:t>
            </a:r>
            <a:r>
              <a:rPr sz="3200" spc="-9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clés</a:t>
            </a:r>
            <a:endParaRPr sz="3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7217" y="635888"/>
            <a:ext cx="36715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ahoma"/>
                <a:cs typeface="Tahoma"/>
              </a:rPr>
              <a:t>dynamique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61133"/>
            <a:ext cx="7541895" cy="3735704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54965" marR="5080" indent="-342900">
              <a:lnSpc>
                <a:spcPts val="3660"/>
              </a:lnSpc>
              <a:spcBef>
                <a:spcPts val="55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Adaptation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60" dirty="0">
                <a:latin typeface="Tahoma"/>
                <a:cs typeface="Tahoma"/>
              </a:rPr>
              <a:t> </a:t>
            </a:r>
            <a:r>
              <a:rPr sz="3350" dirty="0">
                <a:latin typeface="Tahoma"/>
                <a:cs typeface="Tahoma"/>
              </a:rPr>
              <a:t>TH</a:t>
            </a:r>
            <a:r>
              <a:rPr sz="3350" spc="-1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et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350" dirty="0">
                <a:latin typeface="Tahoma"/>
                <a:cs typeface="Tahoma"/>
              </a:rPr>
              <a:t>h</a:t>
            </a:r>
            <a:r>
              <a:rPr sz="3350" spc="-114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aux</a:t>
            </a:r>
            <a:r>
              <a:rPr sz="3200" spc="-9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variations</a:t>
            </a:r>
            <a:r>
              <a:rPr sz="3200" spc="-8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du </a:t>
            </a:r>
            <a:r>
              <a:rPr sz="3200" dirty="0">
                <a:latin typeface="Tahoma"/>
                <a:cs typeface="Tahoma"/>
              </a:rPr>
              <a:t>volume</a:t>
            </a:r>
            <a:r>
              <a:rPr sz="3200" spc="-10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donn</a:t>
            </a:r>
            <a:r>
              <a:rPr sz="3200" spc="-10" dirty="0">
                <a:latin typeface="Times New Roman"/>
                <a:cs typeface="Times New Roman"/>
              </a:rPr>
              <a:t>é</a:t>
            </a:r>
            <a:r>
              <a:rPr sz="3200" spc="-10" dirty="0">
                <a:latin typeface="Tahoma"/>
                <a:cs typeface="Tahoma"/>
              </a:rPr>
              <a:t>es</a:t>
            </a:r>
            <a:endParaRPr sz="32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85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~</a:t>
            </a:r>
            <a:r>
              <a:rPr sz="3200" spc="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arbre-</a:t>
            </a:r>
            <a:r>
              <a:rPr sz="3200" spc="-50" dirty="0">
                <a:latin typeface="Tahoma"/>
                <a:cs typeface="Tahoma"/>
              </a:rPr>
              <a:t>B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division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fusion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paquets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(blocs)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Deux</a:t>
            </a:r>
            <a:r>
              <a:rPr sz="3200" spc="-7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variantes</a:t>
            </a:r>
            <a:r>
              <a:rPr sz="3200" spc="-5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base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56285" algn="l"/>
              </a:tabLst>
            </a:pPr>
            <a:r>
              <a:rPr sz="2950" spc="-10" dirty="0">
                <a:latin typeface="Tahoma"/>
                <a:cs typeface="Tahoma"/>
              </a:rPr>
              <a:t>linéaire</a:t>
            </a:r>
            <a:endParaRPr sz="295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49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756285" algn="l"/>
              </a:tabLst>
            </a:pPr>
            <a:r>
              <a:rPr sz="2950" spc="-10" dirty="0">
                <a:latin typeface="Tahoma"/>
                <a:cs typeface="Tahoma"/>
              </a:rPr>
              <a:t>extensible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022" y="635888"/>
            <a:ext cx="29972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ahoma"/>
                <a:cs typeface="Tahoma"/>
              </a:rPr>
              <a:t>linéaire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454" y="1679351"/>
            <a:ext cx="7305040" cy="23907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7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Tahoma"/>
                <a:cs typeface="Tahoma"/>
              </a:rPr>
              <a:t>Adaptation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TH</a:t>
            </a:r>
            <a:endParaRPr sz="295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55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2400" dirty="0">
                <a:latin typeface="Tahoma"/>
                <a:cs typeface="Tahoma"/>
              </a:rPr>
              <a:t>suite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’expansions</a:t>
            </a:r>
            <a:endParaRPr sz="24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4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Tahoma"/>
                <a:cs typeface="Tahoma"/>
              </a:rPr>
              <a:t>Début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800" dirty="0">
                <a:latin typeface="Tahoma"/>
                <a:cs typeface="Tahoma"/>
              </a:rPr>
              <a:t>ième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expansion,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</a:t>
            </a:r>
            <a:r>
              <a:rPr sz="2950" spc="-114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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{0,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1,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…}</a:t>
            </a:r>
            <a:endParaRPr sz="2800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72000"/>
              <a:buFont typeface="Wingdings"/>
              <a:buChar char=""/>
              <a:tabLst>
                <a:tab pos="781685" algn="l"/>
              </a:tabLst>
            </a:pPr>
            <a:r>
              <a:rPr sz="2500" spc="-10" dirty="0">
                <a:latin typeface="Tahoma"/>
                <a:cs typeface="Tahoma"/>
              </a:rPr>
              <a:t>TH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passera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baseline="24305" dirty="0">
                <a:latin typeface="Tahoma"/>
                <a:cs typeface="Tahoma"/>
              </a:rPr>
              <a:t>d</a:t>
            </a:r>
            <a:r>
              <a:rPr sz="2400" spc="-44" baseline="243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à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2</a:t>
            </a:r>
            <a:r>
              <a:rPr sz="2400" spc="-30" baseline="24305" dirty="0">
                <a:latin typeface="Tahoma"/>
                <a:cs typeface="Tahoma"/>
              </a:rPr>
              <a:t>d+1</a:t>
            </a:r>
            <a:endParaRPr sz="2400" baseline="24305">
              <a:latin typeface="Tahoma"/>
              <a:cs typeface="Tahoma"/>
            </a:endParaRPr>
          </a:p>
          <a:p>
            <a:pPr marL="781685" lvl="1" indent="-287020">
              <a:lnSpc>
                <a:spcPct val="100000"/>
              </a:lnSpc>
              <a:spcBef>
                <a:spcPts val="459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81685" algn="l"/>
              </a:tabLst>
            </a:pPr>
            <a:r>
              <a:rPr sz="2400" dirty="0">
                <a:latin typeface="Tahoma"/>
                <a:cs typeface="Tahoma"/>
              </a:rPr>
              <a:t>adresse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paquet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spc="-10" dirty="0">
                <a:latin typeface="Tahoma"/>
                <a:cs typeface="Tahoma"/>
              </a:rPr>
              <a:t>h</a:t>
            </a:r>
            <a:r>
              <a:rPr sz="2400" spc="-15" baseline="-20833" dirty="0">
                <a:latin typeface="Tahoma"/>
                <a:cs typeface="Tahoma"/>
              </a:rPr>
              <a:t>d</a:t>
            </a:r>
            <a:r>
              <a:rPr sz="2400" spc="-10" dirty="0">
                <a:latin typeface="Tahoma"/>
                <a:cs typeface="Tahoma"/>
              </a:rPr>
              <a:t>(</a:t>
            </a:r>
            <a:r>
              <a:rPr sz="2500" spc="-10" dirty="0">
                <a:latin typeface="Tahoma"/>
                <a:cs typeface="Tahoma"/>
              </a:rPr>
              <a:t>clé</a:t>
            </a:r>
            <a:r>
              <a:rPr sz="2400" spc="-10" dirty="0">
                <a:latin typeface="Tahoma"/>
                <a:cs typeface="Tahoma"/>
              </a:rPr>
              <a:t>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500" spc="-35" dirty="0">
                <a:latin typeface="Tahoma"/>
                <a:cs typeface="Tahoma"/>
              </a:rPr>
              <a:t>b</a:t>
            </a:r>
            <a:r>
              <a:rPr sz="2400" spc="-52" baseline="-20833" dirty="0">
                <a:latin typeface="Tahoma"/>
                <a:cs typeface="Tahoma"/>
              </a:rPr>
              <a:t>d-</a:t>
            </a:r>
            <a:r>
              <a:rPr sz="2400" baseline="-20833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500" spc="-35" dirty="0">
                <a:latin typeface="Tahoma"/>
                <a:cs typeface="Tahoma"/>
              </a:rPr>
              <a:t>b</a:t>
            </a:r>
            <a:r>
              <a:rPr sz="2400" spc="-52" baseline="-20833" dirty="0">
                <a:latin typeface="Tahoma"/>
                <a:cs typeface="Tahoma"/>
              </a:rPr>
              <a:t>d-</a:t>
            </a:r>
            <a:r>
              <a:rPr sz="2400" baseline="-20833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,…,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b</a:t>
            </a:r>
            <a:r>
              <a:rPr sz="2400" baseline="-20833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500" spc="-25" dirty="0">
                <a:latin typeface="Tahoma"/>
                <a:cs typeface="Tahoma"/>
              </a:rPr>
              <a:t>b</a:t>
            </a:r>
            <a:r>
              <a:rPr sz="2400" spc="-37" baseline="-20833" dirty="0">
                <a:latin typeface="Tahoma"/>
                <a:cs typeface="Tahoma"/>
              </a:rPr>
              <a:t>0</a:t>
            </a:r>
            <a:endParaRPr sz="2400" baseline="-20833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288" y="4286272"/>
            <a:ext cx="4361815" cy="791845"/>
            <a:chOff x="2473288" y="4286272"/>
            <a:chExt cx="4361815" cy="791845"/>
          </a:xfrm>
        </p:grpSpPr>
        <p:sp>
          <p:nvSpPr>
            <p:cNvPr id="5" name="object 5"/>
            <p:cNvSpPr/>
            <p:nvPr/>
          </p:nvSpPr>
          <p:spPr>
            <a:xfrm>
              <a:off x="2674054" y="4481581"/>
              <a:ext cx="1089025" cy="396240"/>
            </a:xfrm>
            <a:custGeom>
              <a:avLst/>
              <a:gdLst/>
              <a:ahLst/>
              <a:cxnLst/>
              <a:rect l="l" t="t" r="r" b="b"/>
              <a:pathLst>
                <a:path w="1089025" h="396239">
                  <a:moveTo>
                    <a:pt x="1088885" y="0"/>
                  </a:moveTo>
                  <a:lnTo>
                    <a:pt x="0" y="0"/>
                  </a:lnTo>
                  <a:lnTo>
                    <a:pt x="0" y="395918"/>
                  </a:lnTo>
                  <a:lnTo>
                    <a:pt x="1088885" y="395918"/>
                  </a:lnTo>
                  <a:lnTo>
                    <a:pt x="1088885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73286" y="4286275"/>
              <a:ext cx="4361815" cy="791845"/>
            </a:xfrm>
            <a:custGeom>
              <a:avLst/>
              <a:gdLst/>
              <a:ahLst/>
              <a:cxnLst/>
              <a:rect l="l" t="t" r="r" b="b"/>
              <a:pathLst>
                <a:path w="4361815" h="791845">
                  <a:moveTo>
                    <a:pt x="2177770" y="0"/>
                  </a:moveTo>
                  <a:lnTo>
                    <a:pt x="1088885" y="0"/>
                  </a:lnTo>
                  <a:lnTo>
                    <a:pt x="0" y="0"/>
                  </a:lnTo>
                  <a:lnTo>
                    <a:pt x="0" y="395897"/>
                  </a:lnTo>
                  <a:lnTo>
                    <a:pt x="0" y="791819"/>
                  </a:lnTo>
                  <a:lnTo>
                    <a:pt x="1088885" y="791819"/>
                  </a:lnTo>
                  <a:lnTo>
                    <a:pt x="2177770" y="791819"/>
                  </a:lnTo>
                  <a:lnTo>
                    <a:pt x="2177770" y="395922"/>
                  </a:lnTo>
                  <a:lnTo>
                    <a:pt x="2177770" y="0"/>
                  </a:lnTo>
                  <a:close/>
                </a:path>
                <a:path w="4361815" h="791845">
                  <a:moveTo>
                    <a:pt x="4361281" y="0"/>
                  </a:moveTo>
                  <a:lnTo>
                    <a:pt x="3266694" y="0"/>
                  </a:lnTo>
                  <a:lnTo>
                    <a:pt x="2177808" y="0"/>
                  </a:lnTo>
                  <a:lnTo>
                    <a:pt x="2177808" y="395897"/>
                  </a:lnTo>
                  <a:lnTo>
                    <a:pt x="2177808" y="791819"/>
                  </a:lnTo>
                  <a:lnTo>
                    <a:pt x="3266579" y="791819"/>
                  </a:lnTo>
                  <a:lnTo>
                    <a:pt x="4361281" y="791819"/>
                  </a:lnTo>
                  <a:lnTo>
                    <a:pt x="4361281" y="395922"/>
                  </a:lnTo>
                  <a:lnTo>
                    <a:pt x="43612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49542" y="4262525"/>
          <a:ext cx="4361814" cy="791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9025"/>
                <a:gridCol w="1089025"/>
                <a:gridCol w="1089025"/>
                <a:gridCol w="1094739"/>
              </a:tblGrid>
              <a:tr h="395605"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6364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11010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01111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00001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50" spc="-10" dirty="0">
                          <a:latin typeface="Arial MT"/>
                          <a:cs typeface="Arial MT"/>
                        </a:rPr>
                        <a:t>11011</a:t>
                      </a:r>
                      <a:r>
                        <a:rPr sz="2025" spc="-15" baseline="-26748" dirty="0">
                          <a:latin typeface="Arial MT"/>
                          <a:cs typeface="Arial MT"/>
                        </a:rPr>
                        <a:t>2</a:t>
                      </a:r>
                      <a:endParaRPr sz="2025" baseline="-26748">
                        <a:latin typeface="Arial MT"/>
                        <a:cs typeface="Arial MT"/>
                      </a:endParaRPr>
                    </a:p>
                  </a:txBody>
                  <a:tcPr marL="0" marR="0" marT="1905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783901" y="5080761"/>
            <a:ext cx="46990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latin typeface="Arial MT"/>
                <a:cs typeface="Arial MT"/>
              </a:rPr>
              <a:t>00</a:t>
            </a:r>
            <a:r>
              <a:rPr sz="2025" spc="-37" baseline="-26748" dirty="0">
                <a:latin typeface="Arial MT"/>
                <a:cs typeface="Arial MT"/>
              </a:rPr>
              <a:t>2</a:t>
            </a:r>
            <a:endParaRPr sz="2025" baseline="-26748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3270" y="5080761"/>
            <a:ext cx="46990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latin typeface="Arial MT"/>
                <a:cs typeface="Arial MT"/>
              </a:rPr>
              <a:t>01</a:t>
            </a:r>
            <a:r>
              <a:rPr sz="2025" spc="-37" baseline="-26748" dirty="0">
                <a:latin typeface="Arial MT"/>
                <a:cs typeface="Arial MT"/>
              </a:rPr>
              <a:t>2</a:t>
            </a:r>
            <a:endParaRPr sz="2025" baseline="-26748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2266" y="5080761"/>
            <a:ext cx="46926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latin typeface="Arial MT"/>
                <a:cs typeface="Arial MT"/>
              </a:rPr>
              <a:t>10</a:t>
            </a:r>
            <a:r>
              <a:rPr sz="2025" spc="-37" baseline="-26748" dirty="0">
                <a:latin typeface="Arial MT"/>
                <a:cs typeface="Arial MT"/>
              </a:rPr>
              <a:t>2</a:t>
            </a:r>
            <a:endParaRPr sz="2025" baseline="-26748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6329" y="5080761"/>
            <a:ext cx="469900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latin typeface="Arial MT"/>
                <a:cs typeface="Arial MT"/>
              </a:rPr>
              <a:t>11</a:t>
            </a:r>
            <a:r>
              <a:rPr sz="2025" spc="-37" baseline="-26748" dirty="0">
                <a:latin typeface="Arial MT"/>
                <a:cs typeface="Arial MT"/>
              </a:rPr>
              <a:t>2</a:t>
            </a:r>
            <a:endParaRPr sz="2025" baseline="-26748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1333" y="5967873"/>
            <a:ext cx="173355" cy="34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-50" dirty="0">
                <a:latin typeface="Arial MT"/>
                <a:cs typeface="Arial MT"/>
              </a:rPr>
              <a:t>p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44033" y="5474005"/>
            <a:ext cx="142875" cy="396875"/>
            <a:chOff x="2944033" y="5474005"/>
            <a:chExt cx="142875" cy="396875"/>
          </a:xfrm>
        </p:grpSpPr>
        <p:sp>
          <p:nvSpPr>
            <p:cNvPr id="14" name="object 14"/>
            <p:cNvSpPr/>
            <p:nvPr/>
          </p:nvSpPr>
          <p:spPr>
            <a:xfrm>
              <a:off x="3018006" y="5579820"/>
              <a:ext cx="0" cy="290830"/>
            </a:xfrm>
            <a:custGeom>
              <a:avLst/>
              <a:gdLst/>
              <a:ahLst/>
              <a:cxnLst/>
              <a:rect l="l" t="t" r="r" b="b"/>
              <a:pathLst>
                <a:path h="290829">
                  <a:moveTo>
                    <a:pt x="0" y="290632"/>
                  </a:moveTo>
                  <a:lnTo>
                    <a:pt x="0" y="0"/>
                  </a:lnTo>
                </a:path>
              </a:pathLst>
            </a:custGeom>
            <a:ln w="158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44033" y="5474005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73973" y="0"/>
                  </a:moveTo>
                  <a:lnTo>
                    <a:pt x="0" y="142676"/>
                  </a:lnTo>
                  <a:lnTo>
                    <a:pt x="47552" y="126884"/>
                  </a:lnTo>
                  <a:lnTo>
                    <a:pt x="95105" y="126884"/>
                  </a:lnTo>
                  <a:lnTo>
                    <a:pt x="142657" y="142676"/>
                  </a:lnTo>
                  <a:lnTo>
                    <a:pt x="73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90600" y="4495800"/>
            <a:ext cx="838200" cy="40640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489" y="613882"/>
            <a:ext cx="594233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350" b="1" i="1" spc="-195" dirty="0">
                <a:solidFill>
                  <a:srgbClr val="0000FF"/>
                </a:solidFill>
                <a:latin typeface="Verdana"/>
                <a:cs typeface="Verdana"/>
              </a:rPr>
              <a:t>h</a:t>
            </a:r>
            <a:r>
              <a:rPr sz="3200" b="1" spc="-195" dirty="0">
                <a:solidFill>
                  <a:srgbClr val="0000FF"/>
                </a:solidFill>
                <a:latin typeface="Tahoma"/>
                <a:cs typeface="Tahoma"/>
              </a:rPr>
              <a:t>(</a:t>
            </a:r>
            <a:r>
              <a:rPr sz="3350" b="1" i="1" spc="-195" dirty="0">
                <a:solidFill>
                  <a:srgbClr val="0000FF"/>
                </a:solidFill>
                <a:latin typeface="Verdana"/>
                <a:cs typeface="Verdana"/>
              </a:rPr>
              <a:t>clé</a:t>
            </a:r>
            <a:r>
              <a:rPr sz="3200" b="1" spc="-195" dirty="0">
                <a:solidFill>
                  <a:srgbClr val="0000FF"/>
                </a:solidFill>
                <a:latin typeface="Tahoma"/>
                <a:cs typeface="Tahoma"/>
              </a:rPr>
              <a:t>)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10101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50350" y="1590284"/>
            <a:ext cx="3028950" cy="550545"/>
            <a:chOff x="1550350" y="1590284"/>
            <a:chExt cx="3028950" cy="550545"/>
          </a:xfrm>
        </p:grpSpPr>
        <p:sp>
          <p:nvSpPr>
            <p:cNvPr id="4" name="object 4"/>
            <p:cNvSpPr/>
            <p:nvPr/>
          </p:nvSpPr>
          <p:spPr>
            <a:xfrm>
              <a:off x="1689772" y="1725959"/>
              <a:ext cx="756285" cy="275590"/>
            </a:xfrm>
            <a:custGeom>
              <a:avLst/>
              <a:gdLst/>
              <a:ahLst/>
              <a:cxnLst/>
              <a:rect l="l" t="t" r="r" b="b"/>
              <a:pathLst>
                <a:path w="756285" h="275589">
                  <a:moveTo>
                    <a:pt x="756176" y="0"/>
                  </a:moveTo>
                  <a:lnTo>
                    <a:pt x="0" y="0"/>
                  </a:lnTo>
                  <a:lnTo>
                    <a:pt x="0" y="275031"/>
                  </a:lnTo>
                  <a:lnTo>
                    <a:pt x="756176" y="275031"/>
                  </a:lnTo>
                  <a:lnTo>
                    <a:pt x="756176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50339" y="1590293"/>
              <a:ext cx="3028950" cy="550545"/>
            </a:xfrm>
            <a:custGeom>
              <a:avLst/>
              <a:gdLst/>
              <a:ahLst/>
              <a:cxnLst/>
              <a:rect l="l" t="t" r="r" b="b"/>
              <a:pathLst>
                <a:path w="3028950" h="550544">
                  <a:moveTo>
                    <a:pt x="1512354" y="0"/>
                  </a:moveTo>
                  <a:lnTo>
                    <a:pt x="756183" y="0"/>
                  </a:lnTo>
                  <a:lnTo>
                    <a:pt x="0" y="0"/>
                  </a:lnTo>
                  <a:lnTo>
                    <a:pt x="0" y="275018"/>
                  </a:lnTo>
                  <a:lnTo>
                    <a:pt x="0" y="550049"/>
                  </a:lnTo>
                  <a:lnTo>
                    <a:pt x="756183" y="550049"/>
                  </a:lnTo>
                  <a:lnTo>
                    <a:pt x="1512354" y="550049"/>
                  </a:lnTo>
                  <a:lnTo>
                    <a:pt x="1512354" y="275031"/>
                  </a:lnTo>
                  <a:lnTo>
                    <a:pt x="1512354" y="0"/>
                  </a:lnTo>
                  <a:close/>
                </a:path>
                <a:path w="3028950" h="550544">
                  <a:moveTo>
                    <a:pt x="3028708" y="0"/>
                  </a:moveTo>
                  <a:lnTo>
                    <a:pt x="2268563" y="0"/>
                  </a:lnTo>
                  <a:lnTo>
                    <a:pt x="1512392" y="0"/>
                  </a:lnTo>
                  <a:lnTo>
                    <a:pt x="1512392" y="275018"/>
                  </a:lnTo>
                  <a:lnTo>
                    <a:pt x="1512392" y="550049"/>
                  </a:lnTo>
                  <a:lnTo>
                    <a:pt x="2268486" y="550049"/>
                  </a:lnTo>
                  <a:lnTo>
                    <a:pt x="3028708" y="550049"/>
                  </a:lnTo>
                  <a:lnTo>
                    <a:pt x="3028708" y="275031"/>
                  </a:lnTo>
                  <a:lnTo>
                    <a:pt x="3028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33856" y="1573790"/>
          <a:ext cx="3029584" cy="549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/>
                <a:gridCol w="756285"/>
                <a:gridCol w="756284"/>
                <a:gridCol w="760730"/>
              </a:tblGrid>
              <a:tr h="274955"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11010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01111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00001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50" spc="-10" dirty="0">
                          <a:latin typeface="Arial MT"/>
                          <a:cs typeface="Arial MT"/>
                        </a:rPr>
                        <a:t>11011</a:t>
                      </a:r>
                      <a:r>
                        <a:rPr sz="1425" spc="-15" baseline="-26315" dirty="0">
                          <a:latin typeface="Arial MT"/>
                          <a:cs typeface="Arial MT"/>
                        </a:rPr>
                        <a:t>2</a:t>
                      </a:r>
                      <a:endParaRPr sz="1425" baseline="-26315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754413" y="2138311"/>
            <a:ext cx="34988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00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0926" y="2138311"/>
            <a:ext cx="3492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01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67179" y="2138311"/>
            <a:ext cx="3492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10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6951" y="2138311"/>
            <a:ext cx="34925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450" spc="-25" dirty="0">
                <a:latin typeface="Arial MT"/>
                <a:cs typeface="Arial MT"/>
              </a:rPr>
              <a:t>11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4559" y="2754558"/>
            <a:ext cx="12827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50" dirty="0">
                <a:latin typeface="Arial MT"/>
                <a:cs typeface="Arial MT"/>
              </a:rPr>
              <a:t>p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77259" y="2415363"/>
            <a:ext cx="99695" cy="275590"/>
            <a:chOff x="1877259" y="2415363"/>
            <a:chExt cx="99695" cy="275590"/>
          </a:xfrm>
        </p:grpSpPr>
        <p:sp>
          <p:nvSpPr>
            <p:cNvPr id="13" name="object 13"/>
            <p:cNvSpPr/>
            <p:nvPr/>
          </p:nvSpPr>
          <p:spPr>
            <a:xfrm>
              <a:off x="1928630" y="2488869"/>
              <a:ext cx="0" cy="201930"/>
            </a:xfrm>
            <a:custGeom>
              <a:avLst/>
              <a:gdLst/>
              <a:ahLst/>
              <a:cxnLst/>
              <a:rect l="l" t="t" r="r" b="b"/>
              <a:pathLst>
                <a:path h="201930">
                  <a:moveTo>
                    <a:pt x="0" y="201892"/>
                  </a:moveTo>
                  <a:lnTo>
                    <a:pt x="0" y="0"/>
                  </a:lnTo>
                </a:path>
              </a:pathLst>
            </a:custGeom>
            <a:ln w="1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77259" y="2415363"/>
              <a:ext cx="99695" cy="99695"/>
            </a:xfrm>
            <a:custGeom>
              <a:avLst/>
              <a:gdLst/>
              <a:ahLst/>
              <a:cxnLst/>
              <a:rect l="l" t="t" r="r" b="b"/>
              <a:pathLst>
                <a:path w="99694" h="99694">
                  <a:moveTo>
                    <a:pt x="51370" y="0"/>
                  </a:moveTo>
                  <a:lnTo>
                    <a:pt x="0" y="99112"/>
                  </a:lnTo>
                  <a:lnTo>
                    <a:pt x="33022" y="88142"/>
                  </a:lnTo>
                  <a:lnTo>
                    <a:pt x="66045" y="88142"/>
                  </a:lnTo>
                  <a:lnTo>
                    <a:pt x="99068" y="99112"/>
                  </a:lnTo>
                  <a:lnTo>
                    <a:pt x="513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420693" y="4304671"/>
            <a:ext cx="1529080" cy="579120"/>
            <a:chOff x="1420693" y="4304671"/>
            <a:chExt cx="1529080" cy="579120"/>
          </a:xfrm>
        </p:grpSpPr>
        <p:sp>
          <p:nvSpPr>
            <p:cNvPr id="16" name="object 16"/>
            <p:cNvSpPr/>
            <p:nvPr/>
          </p:nvSpPr>
          <p:spPr>
            <a:xfrm>
              <a:off x="1575705" y="4455839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751528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1528" y="273129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37203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751528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1528" y="273129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37203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0" y="273129"/>
                  </a:moveTo>
                  <a:lnTo>
                    <a:pt x="751528" y="273129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37203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751528" y="0"/>
                  </a:moveTo>
                  <a:lnTo>
                    <a:pt x="0" y="0"/>
                  </a:lnTo>
                  <a:lnTo>
                    <a:pt x="0" y="272764"/>
                  </a:lnTo>
                  <a:lnTo>
                    <a:pt x="751528" y="272764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37203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0" y="272764"/>
                  </a:moveTo>
                  <a:lnTo>
                    <a:pt x="751528" y="272764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2764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37203" y="4321181"/>
              <a:ext cx="751840" cy="546100"/>
            </a:xfrm>
            <a:custGeom>
              <a:avLst/>
              <a:gdLst/>
              <a:ahLst/>
              <a:cxnLst/>
              <a:rect l="l" t="t" r="r" b="b"/>
              <a:pathLst>
                <a:path w="751839" h="546100">
                  <a:moveTo>
                    <a:pt x="0" y="545893"/>
                  </a:moveTo>
                  <a:lnTo>
                    <a:pt x="751533" y="545893"/>
                  </a:lnTo>
                  <a:lnTo>
                    <a:pt x="751533" y="0"/>
                  </a:lnTo>
                  <a:lnTo>
                    <a:pt x="0" y="0"/>
                  </a:lnTo>
                  <a:lnTo>
                    <a:pt x="0" y="545893"/>
                  </a:lnTo>
                </a:path>
              </a:pathLst>
            </a:custGeom>
            <a:ln w="327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88736" y="4321227"/>
              <a:ext cx="755650" cy="273685"/>
            </a:xfrm>
            <a:custGeom>
              <a:avLst/>
              <a:gdLst/>
              <a:ahLst/>
              <a:cxnLst/>
              <a:rect l="l" t="t" r="r" b="b"/>
              <a:pathLst>
                <a:path w="755650" h="273685">
                  <a:moveTo>
                    <a:pt x="755176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5176" y="273129"/>
                  </a:lnTo>
                  <a:lnTo>
                    <a:pt x="755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88736" y="4321227"/>
              <a:ext cx="755650" cy="273685"/>
            </a:xfrm>
            <a:custGeom>
              <a:avLst/>
              <a:gdLst/>
              <a:ahLst/>
              <a:cxnLst/>
              <a:rect l="l" t="t" r="r" b="b"/>
              <a:pathLst>
                <a:path w="755650" h="273685">
                  <a:moveTo>
                    <a:pt x="0" y="273129"/>
                  </a:moveTo>
                  <a:lnTo>
                    <a:pt x="755176" y="273129"/>
                  </a:lnTo>
                  <a:lnTo>
                    <a:pt x="755176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88736" y="4594310"/>
              <a:ext cx="755650" cy="273050"/>
            </a:xfrm>
            <a:custGeom>
              <a:avLst/>
              <a:gdLst/>
              <a:ahLst/>
              <a:cxnLst/>
              <a:rect l="l" t="t" r="r" b="b"/>
              <a:pathLst>
                <a:path w="755650" h="273050">
                  <a:moveTo>
                    <a:pt x="755176" y="0"/>
                  </a:moveTo>
                  <a:lnTo>
                    <a:pt x="0" y="0"/>
                  </a:lnTo>
                  <a:lnTo>
                    <a:pt x="0" y="272764"/>
                  </a:lnTo>
                  <a:lnTo>
                    <a:pt x="755176" y="272764"/>
                  </a:lnTo>
                  <a:lnTo>
                    <a:pt x="755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88736" y="4594310"/>
              <a:ext cx="755650" cy="273050"/>
            </a:xfrm>
            <a:custGeom>
              <a:avLst/>
              <a:gdLst/>
              <a:ahLst/>
              <a:cxnLst/>
              <a:rect l="l" t="t" r="r" b="b"/>
              <a:pathLst>
                <a:path w="755650" h="273050">
                  <a:moveTo>
                    <a:pt x="0" y="272764"/>
                  </a:moveTo>
                  <a:lnTo>
                    <a:pt x="755176" y="272764"/>
                  </a:lnTo>
                  <a:lnTo>
                    <a:pt x="755176" y="0"/>
                  </a:lnTo>
                  <a:lnTo>
                    <a:pt x="0" y="0"/>
                  </a:lnTo>
                  <a:lnTo>
                    <a:pt x="0" y="272764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179732" y="4592322"/>
            <a:ext cx="773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latin typeface="Arial MT"/>
                <a:cs typeface="Arial MT"/>
              </a:rPr>
              <a:t>00001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72226" y="4304671"/>
            <a:ext cx="2280285" cy="579120"/>
            <a:chOff x="2172226" y="4304671"/>
            <a:chExt cx="2280285" cy="579120"/>
          </a:xfrm>
        </p:grpSpPr>
        <p:sp>
          <p:nvSpPr>
            <p:cNvPr id="28" name="object 28"/>
            <p:cNvSpPr/>
            <p:nvPr/>
          </p:nvSpPr>
          <p:spPr>
            <a:xfrm>
              <a:off x="2188736" y="4321181"/>
              <a:ext cx="755650" cy="546100"/>
            </a:xfrm>
            <a:custGeom>
              <a:avLst/>
              <a:gdLst/>
              <a:ahLst/>
              <a:cxnLst/>
              <a:rect l="l" t="t" r="r" b="b"/>
              <a:pathLst>
                <a:path w="755650" h="546100">
                  <a:moveTo>
                    <a:pt x="0" y="545893"/>
                  </a:moveTo>
                  <a:lnTo>
                    <a:pt x="755116" y="545893"/>
                  </a:lnTo>
                  <a:lnTo>
                    <a:pt x="755116" y="0"/>
                  </a:lnTo>
                  <a:lnTo>
                    <a:pt x="0" y="0"/>
                  </a:lnTo>
                  <a:lnTo>
                    <a:pt x="0" y="545893"/>
                  </a:lnTo>
                </a:path>
              </a:pathLst>
            </a:custGeom>
            <a:ln w="327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43852" y="4321227"/>
              <a:ext cx="751205" cy="273685"/>
            </a:xfrm>
            <a:custGeom>
              <a:avLst/>
              <a:gdLst/>
              <a:ahLst/>
              <a:cxnLst/>
              <a:rect l="l" t="t" r="r" b="b"/>
              <a:pathLst>
                <a:path w="751204" h="273685">
                  <a:moveTo>
                    <a:pt x="751163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1163" y="273129"/>
                  </a:lnTo>
                  <a:lnTo>
                    <a:pt x="751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43852" y="4321227"/>
              <a:ext cx="751205" cy="273685"/>
            </a:xfrm>
            <a:custGeom>
              <a:avLst/>
              <a:gdLst/>
              <a:ahLst/>
              <a:cxnLst/>
              <a:rect l="l" t="t" r="r" b="b"/>
              <a:pathLst>
                <a:path w="751204" h="273685">
                  <a:moveTo>
                    <a:pt x="0" y="273129"/>
                  </a:moveTo>
                  <a:lnTo>
                    <a:pt x="751163" y="273129"/>
                  </a:lnTo>
                  <a:lnTo>
                    <a:pt x="751163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43852" y="4594310"/>
              <a:ext cx="751205" cy="273050"/>
            </a:xfrm>
            <a:custGeom>
              <a:avLst/>
              <a:gdLst/>
              <a:ahLst/>
              <a:cxnLst/>
              <a:rect l="l" t="t" r="r" b="b"/>
              <a:pathLst>
                <a:path w="751204" h="273050">
                  <a:moveTo>
                    <a:pt x="751163" y="0"/>
                  </a:moveTo>
                  <a:lnTo>
                    <a:pt x="0" y="0"/>
                  </a:lnTo>
                  <a:lnTo>
                    <a:pt x="0" y="272764"/>
                  </a:lnTo>
                  <a:lnTo>
                    <a:pt x="751163" y="272764"/>
                  </a:lnTo>
                  <a:lnTo>
                    <a:pt x="751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943852" y="4594310"/>
              <a:ext cx="751205" cy="273050"/>
            </a:xfrm>
            <a:custGeom>
              <a:avLst/>
              <a:gdLst/>
              <a:ahLst/>
              <a:cxnLst/>
              <a:rect l="l" t="t" r="r" b="b"/>
              <a:pathLst>
                <a:path w="751204" h="273050">
                  <a:moveTo>
                    <a:pt x="0" y="272764"/>
                  </a:moveTo>
                  <a:lnTo>
                    <a:pt x="751163" y="272764"/>
                  </a:lnTo>
                  <a:lnTo>
                    <a:pt x="751163" y="0"/>
                  </a:lnTo>
                  <a:lnTo>
                    <a:pt x="0" y="0"/>
                  </a:lnTo>
                  <a:lnTo>
                    <a:pt x="0" y="272764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943852" y="4321181"/>
              <a:ext cx="751840" cy="546100"/>
            </a:xfrm>
            <a:custGeom>
              <a:avLst/>
              <a:gdLst/>
              <a:ahLst/>
              <a:cxnLst/>
              <a:rect l="l" t="t" r="r" b="b"/>
              <a:pathLst>
                <a:path w="751839" h="546100">
                  <a:moveTo>
                    <a:pt x="0" y="545893"/>
                  </a:moveTo>
                  <a:lnTo>
                    <a:pt x="751239" y="545893"/>
                  </a:lnTo>
                  <a:lnTo>
                    <a:pt x="751239" y="0"/>
                  </a:lnTo>
                  <a:lnTo>
                    <a:pt x="0" y="0"/>
                  </a:lnTo>
                  <a:lnTo>
                    <a:pt x="0" y="545893"/>
                  </a:lnTo>
                </a:path>
              </a:pathLst>
            </a:custGeom>
            <a:ln w="327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695092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751528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1528" y="273129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95092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0" y="273129"/>
                  </a:moveTo>
                  <a:lnTo>
                    <a:pt x="751528" y="273129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95092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751528" y="0"/>
                  </a:moveTo>
                  <a:lnTo>
                    <a:pt x="0" y="0"/>
                  </a:lnTo>
                  <a:lnTo>
                    <a:pt x="0" y="272764"/>
                  </a:lnTo>
                  <a:lnTo>
                    <a:pt x="751528" y="272764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95092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0" y="272764"/>
                  </a:moveTo>
                  <a:lnTo>
                    <a:pt x="751528" y="272764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2764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686088" y="4592322"/>
            <a:ext cx="7696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latin typeface="Arial MT"/>
                <a:cs typeface="Arial MT"/>
              </a:rPr>
              <a:t>11011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695092" y="4321181"/>
            <a:ext cx="751840" cy="546100"/>
          </a:xfrm>
          <a:custGeom>
            <a:avLst/>
            <a:gdLst/>
            <a:ahLst/>
            <a:cxnLst/>
            <a:rect l="l" t="t" r="r" b="b"/>
            <a:pathLst>
              <a:path w="751839" h="546100">
                <a:moveTo>
                  <a:pt x="0" y="545893"/>
                </a:moveTo>
                <a:lnTo>
                  <a:pt x="751543" y="545893"/>
                </a:lnTo>
                <a:lnTo>
                  <a:pt x="751543" y="0"/>
                </a:lnTo>
                <a:lnTo>
                  <a:pt x="0" y="0"/>
                </a:lnTo>
                <a:lnTo>
                  <a:pt x="0" y="545893"/>
                </a:lnTo>
              </a:path>
            </a:pathLst>
          </a:custGeom>
          <a:ln w="327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588985" y="4865344"/>
            <a:ext cx="4495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latin typeface="Arial MT"/>
                <a:cs typeface="Arial MT"/>
              </a:rPr>
              <a:t>000</a:t>
            </a:r>
            <a:r>
              <a:rPr sz="1425" spc="-30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94827" y="4865344"/>
            <a:ext cx="347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latin typeface="Arial MT"/>
                <a:cs typeface="Arial MT"/>
              </a:rPr>
              <a:t>01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46386" y="4865344"/>
            <a:ext cx="347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latin typeface="Arial MT"/>
                <a:cs typeface="Arial MT"/>
              </a:rPr>
              <a:t>10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97930" y="4865344"/>
            <a:ext cx="3473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latin typeface="Arial MT"/>
                <a:cs typeface="Arial MT"/>
              </a:rPr>
              <a:t>11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467974" y="5480763"/>
            <a:ext cx="1270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latin typeface="Arial MT"/>
                <a:cs typeface="Arial MT"/>
              </a:rPr>
              <a:t>p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484322" y="5140250"/>
            <a:ext cx="98425" cy="273685"/>
            <a:chOff x="2484322" y="5140250"/>
            <a:chExt cx="98425" cy="273685"/>
          </a:xfrm>
        </p:grpSpPr>
        <p:sp>
          <p:nvSpPr>
            <p:cNvPr id="46" name="object 46"/>
            <p:cNvSpPr/>
            <p:nvPr/>
          </p:nvSpPr>
          <p:spPr>
            <a:xfrm>
              <a:off x="2531704" y="5216672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0" y="196707"/>
                  </a:moveTo>
                  <a:lnTo>
                    <a:pt x="0" y="0"/>
                  </a:lnTo>
                </a:path>
              </a:pathLst>
            </a:custGeom>
            <a:ln w="10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84322" y="5140250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47381" y="0"/>
                  </a:moveTo>
                  <a:lnTo>
                    <a:pt x="0" y="98148"/>
                  </a:lnTo>
                  <a:lnTo>
                    <a:pt x="29155" y="90855"/>
                  </a:lnTo>
                  <a:lnTo>
                    <a:pt x="65608" y="90855"/>
                  </a:lnTo>
                  <a:lnTo>
                    <a:pt x="98412" y="98148"/>
                  </a:lnTo>
                  <a:lnTo>
                    <a:pt x="47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2188736" y="3502219"/>
            <a:ext cx="2258060" cy="1911350"/>
          </a:xfrm>
          <a:custGeom>
            <a:avLst/>
            <a:gdLst/>
            <a:ahLst/>
            <a:cxnLst/>
            <a:rect l="l" t="t" r="r" b="b"/>
            <a:pathLst>
              <a:path w="2258060" h="1911350">
                <a:moveTo>
                  <a:pt x="2257899" y="272764"/>
                </a:moveTo>
                <a:lnTo>
                  <a:pt x="2257899" y="1911159"/>
                </a:lnTo>
              </a:path>
              <a:path w="2258060" h="1911350">
                <a:moveTo>
                  <a:pt x="0" y="272764"/>
                </a:moveTo>
                <a:lnTo>
                  <a:pt x="755176" y="272764"/>
                </a:lnTo>
                <a:lnTo>
                  <a:pt x="755176" y="0"/>
                </a:lnTo>
                <a:lnTo>
                  <a:pt x="0" y="0"/>
                </a:lnTo>
                <a:lnTo>
                  <a:pt x="0" y="272764"/>
                </a:lnTo>
                <a:close/>
              </a:path>
            </a:pathLst>
          </a:custGeom>
          <a:ln w="109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179732" y="3500078"/>
            <a:ext cx="7734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0000"/>
                </a:solidFill>
                <a:latin typeface="Arial MT"/>
                <a:cs typeface="Arial MT"/>
              </a:rPr>
              <a:t>10101</a:t>
            </a:r>
            <a:r>
              <a:rPr sz="1425" spc="-15" baseline="-26315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172226" y="3485755"/>
            <a:ext cx="3032125" cy="1114425"/>
            <a:chOff x="2172226" y="3485755"/>
            <a:chExt cx="3032125" cy="1114425"/>
          </a:xfrm>
        </p:grpSpPr>
        <p:sp>
          <p:nvSpPr>
            <p:cNvPr id="51" name="object 51"/>
            <p:cNvSpPr/>
            <p:nvPr/>
          </p:nvSpPr>
          <p:spPr>
            <a:xfrm>
              <a:off x="2188736" y="3775029"/>
              <a:ext cx="755650" cy="273685"/>
            </a:xfrm>
            <a:custGeom>
              <a:avLst/>
              <a:gdLst/>
              <a:ahLst/>
              <a:cxnLst/>
              <a:rect l="l" t="t" r="r" b="b"/>
              <a:pathLst>
                <a:path w="755650" h="273685">
                  <a:moveTo>
                    <a:pt x="0" y="273129"/>
                  </a:moveTo>
                  <a:lnTo>
                    <a:pt x="755176" y="273129"/>
                  </a:lnTo>
                  <a:lnTo>
                    <a:pt x="755176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188736" y="3502265"/>
              <a:ext cx="755650" cy="546100"/>
            </a:xfrm>
            <a:custGeom>
              <a:avLst/>
              <a:gdLst/>
              <a:ahLst/>
              <a:cxnLst/>
              <a:rect l="l" t="t" r="r" b="b"/>
              <a:pathLst>
                <a:path w="755650" h="546100">
                  <a:moveTo>
                    <a:pt x="0" y="545893"/>
                  </a:moveTo>
                  <a:lnTo>
                    <a:pt x="755116" y="545893"/>
                  </a:lnTo>
                  <a:lnTo>
                    <a:pt x="755116" y="0"/>
                  </a:lnTo>
                  <a:lnTo>
                    <a:pt x="0" y="0"/>
                  </a:lnTo>
                  <a:lnTo>
                    <a:pt x="0" y="545893"/>
                  </a:lnTo>
                </a:path>
              </a:pathLst>
            </a:custGeom>
            <a:ln w="327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00945" y="4124428"/>
              <a:ext cx="0" cy="196850"/>
            </a:xfrm>
            <a:custGeom>
              <a:avLst/>
              <a:gdLst/>
              <a:ahLst/>
              <a:cxnLst/>
              <a:rect l="l" t="t" r="r" b="b"/>
              <a:pathLst>
                <a:path h="196850">
                  <a:moveTo>
                    <a:pt x="0" y="196752"/>
                  </a:moveTo>
                  <a:lnTo>
                    <a:pt x="0" y="0"/>
                  </a:lnTo>
                </a:path>
              </a:pathLst>
            </a:custGeom>
            <a:ln w="10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549930" y="4048158"/>
              <a:ext cx="98425" cy="98425"/>
            </a:xfrm>
            <a:custGeom>
              <a:avLst/>
              <a:gdLst/>
              <a:ahLst/>
              <a:cxnLst/>
              <a:rect l="l" t="t" r="r" b="b"/>
              <a:pathLst>
                <a:path w="98425" h="98425">
                  <a:moveTo>
                    <a:pt x="51014" y="0"/>
                  </a:moveTo>
                  <a:lnTo>
                    <a:pt x="0" y="98148"/>
                  </a:lnTo>
                  <a:lnTo>
                    <a:pt x="32804" y="90855"/>
                  </a:lnTo>
                  <a:lnTo>
                    <a:pt x="65592" y="90855"/>
                  </a:lnTo>
                  <a:lnTo>
                    <a:pt x="98396" y="98148"/>
                  </a:lnTo>
                  <a:lnTo>
                    <a:pt x="51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446636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751528" y="0"/>
                  </a:moveTo>
                  <a:lnTo>
                    <a:pt x="0" y="0"/>
                  </a:lnTo>
                  <a:lnTo>
                    <a:pt x="0" y="273129"/>
                  </a:lnTo>
                  <a:lnTo>
                    <a:pt x="751528" y="273129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446636" y="4321227"/>
              <a:ext cx="751840" cy="273685"/>
            </a:xfrm>
            <a:custGeom>
              <a:avLst/>
              <a:gdLst/>
              <a:ahLst/>
              <a:cxnLst/>
              <a:rect l="l" t="t" r="r" b="b"/>
              <a:pathLst>
                <a:path w="751839" h="273685">
                  <a:moveTo>
                    <a:pt x="0" y="273129"/>
                  </a:moveTo>
                  <a:lnTo>
                    <a:pt x="751528" y="273129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3129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167032" y="4319147"/>
            <a:ext cx="307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5"/>
              </a:spcBef>
              <a:tabLst>
                <a:tab pos="864235" algn="l"/>
                <a:tab pos="1615440" algn="l"/>
                <a:tab pos="2366645" algn="l"/>
              </a:tabLst>
            </a:pPr>
            <a:r>
              <a:rPr sz="1400" spc="-10" dirty="0">
                <a:latin typeface="Arial MT"/>
                <a:cs typeface="Arial MT"/>
              </a:rPr>
              <a:t>11101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r>
              <a:rPr sz="1425" baseline="-26315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11010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r>
              <a:rPr sz="1425" baseline="-26315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01111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r>
              <a:rPr sz="1425" baseline="-26315" dirty="0">
                <a:latin typeface="Arial MT"/>
                <a:cs typeface="Arial MT"/>
              </a:rPr>
              <a:t>	</a:t>
            </a:r>
            <a:r>
              <a:rPr sz="1400" spc="-10" dirty="0">
                <a:latin typeface="Arial MT"/>
                <a:cs typeface="Arial MT"/>
              </a:rPr>
              <a:t>10100</a:t>
            </a:r>
            <a:r>
              <a:rPr sz="1425" spc="-15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430126" y="4304671"/>
            <a:ext cx="784860" cy="579120"/>
            <a:chOff x="4430126" y="4304671"/>
            <a:chExt cx="784860" cy="579120"/>
          </a:xfrm>
        </p:grpSpPr>
        <p:sp>
          <p:nvSpPr>
            <p:cNvPr id="59" name="object 59"/>
            <p:cNvSpPr/>
            <p:nvPr/>
          </p:nvSpPr>
          <p:spPr>
            <a:xfrm>
              <a:off x="4446636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751528" y="0"/>
                  </a:moveTo>
                  <a:lnTo>
                    <a:pt x="0" y="0"/>
                  </a:lnTo>
                  <a:lnTo>
                    <a:pt x="0" y="272764"/>
                  </a:lnTo>
                  <a:lnTo>
                    <a:pt x="751528" y="272764"/>
                  </a:lnTo>
                  <a:lnTo>
                    <a:pt x="75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446636" y="4594310"/>
              <a:ext cx="751840" cy="273050"/>
            </a:xfrm>
            <a:custGeom>
              <a:avLst/>
              <a:gdLst/>
              <a:ahLst/>
              <a:cxnLst/>
              <a:rect l="l" t="t" r="r" b="b"/>
              <a:pathLst>
                <a:path w="751839" h="273050">
                  <a:moveTo>
                    <a:pt x="0" y="272764"/>
                  </a:moveTo>
                  <a:lnTo>
                    <a:pt x="751528" y="272764"/>
                  </a:lnTo>
                  <a:lnTo>
                    <a:pt x="751528" y="0"/>
                  </a:lnTo>
                  <a:lnTo>
                    <a:pt x="0" y="0"/>
                  </a:lnTo>
                  <a:lnTo>
                    <a:pt x="0" y="272764"/>
                  </a:lnTo>
                  <a:close/>
                </a:path>
              </a:pathLst>
            </a:custGeom>
            <a:ln w="10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46636" y="4321181"/>
              <a:ext cx="751840" cy="546100"/>
            </a:xfrm>
            <a:custGeom>
              <a:avLst/>
              <a:gdLst/>
              <a:ahLst/>
              <a:cxnLst/>
              <a:rect l="l" t="t" r="r" b="b"/>
              <a:pathLst>
                <a:path w="751839" h="546100">
                  <a:moveTo>
                    <a:pt x="0" y="545893"/>
                  </a:moveTo>
                  <a:lnTo>
                    <a:pt x="751543" y="545893"/>
                  </a:lnTo>
                  <a:lnTo>
                    <a:pt x="751543" y="0"/>
                  </a:lnTo>
                  <a:lnTo>
                    <a:pt x="0" y="0"/>
                  </a:lnTo>
                  <a:lnTo>
                    <a:pt x="0" y="545893"/>
                  </a:lnTo>
                </a:path>
              </a:pathLst>
            </a:custGeom>
            <a:ln w="327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/>
          <p:nvPr/>
        </p:nvSpPr>
        <p:spPr>
          <a:xfrm>
            <a:off x="1439026" y="5688331"/>
            <a:ext cx="6019165" cy="411480"/>
          </a:xfrm>
          <a:custGeom>
            <a:avLst/>
            <a:gdLst/>
            <a:ahLst/>
            <a:cxnLst/>
            <a:rect l="l" t="t" r="r" b="b"/>
            <a:pathLst>
              <a:path w="6019165" h="411479">
                <a:moveTo>
                  <a:pt x="3009434" y="0"/>
                </a:moveTo>
                <a:lnTo>
                  <a:pt x="3009434" y="138197"/>
                </a:lnTo>
                <a:lnTo>
                  <a:pt x="3002137" y="178201"/>
                </a:lnTo>
                <a:lnTo>
                  <a:pt x="2983896" y="218205"/>
                </a:lnTo>
                <a:lnTo>
                  <a:pt x="2954710" y="247300"/>
                </a:lnTo>
                <a:lnTo>
                  <a:pt x="2914579" y="265486"/>
                </a:lnTo>
                <a:lnTo>
                  <a:pt x="2874600" y="272749"/>
                </a:lnTo>
                <a:lnTo>
                  <a:pt x="1641636" y="272749"/>
                </a:lnTo>
                <a:lnTo>
                  <a:pt x="1597857" y="280026"/>
                </a:lnTo>
                <a:lnTo>
                  <a:pt x="1561374" y="298213"/>
                </a:lnTo>
                <a:lnTo>
                  <a:pt x="1532188" y="330939"/>
                </a:lnTo>
                <a:lnTo>
                  <a:pt x="1510298" y="367676"/>
                </a:lnTo>
                <a:lnTo>
                  <a:pt x="1506650" y="411311"/>
                </a:lnTo>
                <a:lnTo>
                  <a:pt x="1499354" y="367676"/>
                </a:lnTo>
                <a:lnTo>
                  <a:pt x="1477616" y="330939"/>
                </a:lnTo>
                <a:lnTo>
                  <a:pt x="1448035" y="298213"/>
                </a:lnTo>
                <a:lnTo>
                  <a:pt x="1411582" y="280026"/>
                </a:lnTo>
                <a:lnTo>
                  <a:pt x="1367849" y="272749"/>
                </a:lnTo>
                <a:lnTo>
                  <a:pt x="138503" y="272749"/>
                </a:lnTo>
                <a:lnTo>
                  <a:pt x="94754" y="265486"/>
                </a:lnTo>
                <a:lnTo>
                  <a:pt x="54670" y="247300"/>
                </a:lnTo>
                <a:lnTo>
                  <a:pt x="25513" y="218205"/>
                </a:lnTo>
                <a:lnTo>
                  <a:pt x="7290" y="178201"/>
                </a:lnTo>
                <a:lnTo>
                  <a:pt x="0" y="138197"/>
                </a:lnTo>
                <a:lnTo>
                  <a:pt x="0" y="0"/>
                </a:lnTo>
              </a:path>
              <a:path w="6019165" h="411479">
                <a:moveTo>
                  <a:pt x="6018801" y="0"/>
                </a:moveTo>
                <a:lnTo>
                  <a:pt x="6018801" y="138197"/>
                </a:lnTo>
                <a:lnTo>
                  <a:pt x="6011505" y="178201"/>
                </a:lnTo>
                <a:lnTo>
                  <a:pt x="5993263" y="218205"/>
                </a:lnTo>
                <a:lnTo>
                  <a:pt x="5964229" y="247300"/>
                </a:lnTo>
                <a:lnTo>
                  <a:pt x="5924098" y="265486"/>
                </a:lnTo>
                <a:lnTo>
                  <a:pt x="5883967" y="272749"/>
                </a:lnTo>
                <a:lnTo>
                  <a:pt x="4651004" y="272749"/>
                </a:lnTo>
                <a:lnTo>
                  <a:pt x="4607224" y="280026"/>
                </a:lnTo>
                <a:lnTo>
                  <a:pt x="4570742" y="298213"/>
                </a:lnTo>
                <a:lnTo>
                  <a:pt x="4541707" y="330939"/>
                </a:lnTo>
                <a:lnTo>
                  <a:pt x="4519362" y="367676"/>
                </a:lnTo>
                <a:lnTo>
                  <a:pt x="4515714" y="411311"/>
                </a:lnTo>
                <a:lnTo>
                  <a:pt x="4508417" y="367676"/>
                </a:lnTo>
                <a:lnTo>
                  <a:pt x="4486527" y="330939"/>
                </a:lnTo>
                <a:lnTo>
                  <a:pt x="4457493" y="298213"/>
                </a:lnTo>
                <a:lnTo>
                  <a:pt x="4421011" y="280026"/>
                </a:lnTo>
                <a:lnTo>
                  <a:pt x="4377231" y="272749"/>
                </a:lnTo>
                <a:lnTo>
                  <a:pt x="3147916" y="272749"/>
                </a:lnTo>
                <a:lnTo>
                  <a:pt x="3104137" y="265486"/>
                </a:lnTo>
                <a:lnTo>
                  <a:pt x="3064158" y="247300"/>
                </a:lnTo>
                <a:lnTo>
                  <a:pt x="3034972" y="218205"/>
                </a:lnTo>
                <a:lnTo>
                  <a:pt x="3016730" y="178201"/>
                </a:lnTo>
                <a:lnTo>
                  <a:pt x="3009434" y="138197"/>
                </a:lnTo>
                <a:lnTo>
                  <a:pt x="3009434" y="0"/>
                </a:lnTo>
              </a:path>
            </a:pathLst>
          </a:custGeom>
          <a:ln w="36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2559089" y="6135847"/>
            <a:ext cx="7448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latin typeface="Arial MT"/>
                <a:cs typeface="Arial MT"/>
              </a:rPr>
              <a:t>Zône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10" dirty="0">
                <a:latin typeface="Arial MT"/>
                <a:cs typeface="Arial MT"/>
              </a:rPr>
              <a:t>primaire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84334" y="6139479"/>
            <a:ext cx="93408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0" dirty="0">
                <a:latin typeface="Arial MT"/>
                <a:cs typeface="Arial MT"/>
              </a:rPr>
              <a:t>Zône</a:t>
            </a:r>
            <a:r>
              <a:rPr sz="950" spc="-35" dirty="0">
                <a:latin typeface="Arial MT"/>
                <a:cs typeface="Arial MT"/>
              </a:rPr>
              <a:t> </a:t>
            </a:r>
            <a:r>
              <a:rPr sz="950" spc="-20" dirty="0">
                <a:latin typeface="Arial MT"/>
                <a:cs typeface="Arial MT"/>
              </a:rPr>
              <a:t>d'expansion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598094" y="4865344"/>
            <a:ext cx="4495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latin typeface="Arial MT"/>
                <a:cs typeface="Arial MT"/>
              </a:rPr>
              <a:t>100</a:t>
            </a:r>
            <a:r>
              <a:rPr sz="1425" spc="-30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1849417" y="3312805"/>
            <a:ext cx="0" cy="87630"/>
          </a:xfrm>
          <a:custGeom>
            <a:avLst/>
            <a:gdLst/>
            <a:ahLst/>
            <a:cxnLst/>
            <a:rect l="l" t="t" r="r" b="b"/>
            <a:pathLst>
              <a:path h="87629">
                <a:moveTo>
                  <a:pt x="0" y="87209"/>
                </a:moveTo>
                <a:lnTo>
                  <a:pt x="0" y="0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849417" y="3229090"/>
            <a:ext cx="58419" cy="29209"/>
          </a:xfrm>
          <a:custGeom>
            <a:avLst/>
            <a:gdLst/>
            <a:ahLst/>
            <a:cxnLst/>
            <a:rect l="l" t="t" r="r" b="b"/>
            <a:pathLst>
              <a:path w="58419" h="29210">
                <a:moveTo>
                  <a:pt x="0" y="29171"/>
                </a:moveTo>
                <a:lnTo>
                  <a:pt x="0" y="0"/>
                </a:lnTo>
                <a:lnTo>
                  <a:pt x="58311" y="0"/>
                </a:lnTo>
              </a:path>
            </a:pathLst>
          </a:custGeom>
          <a:ln w="109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62406" y="3229090"/>
            <a:ext cx="2790825" cy="0"/>
          </a:xfrm>
          <a:custGeom>
            <a:avLst/>
            <a:gdLst/>
            <a:ahLst/>
            <a:cxnLst/>
            <a:rect l="l" t="t" r="r" b="b"/>
            <a:pathLst>
              <a:path w="2790825">
                <a:moveTo>
                  <a:pt x="0" y="0"/>
                </a:moveTo>
                <a:lnTo>
                  <a:pt x="2790683" y="0"/>
                </a:lnTo>
              </a:path>
            </a:pathLst>
          </a:custGeom>
          <a:ln w="10928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807815" y="3229090"/>
            <a:ext cx="51435" cy="36830"/>
          </a:xfrm>
          <a:custGeom>
            <a:avLst/>
            <a:gdLst/>
            <a:ahLst/>
            <a:cxnLst/>
            <a:rect l="l" t="t" r="r" b="b"/>
            <a:pathLst>
              <a:path w="51435" h="36829">
                <a:moveTo>
                  <a:pt x="0" y="0"/>
                </a:moveTo>
                <a:lnTo>
                  <a:pt x="51075" y="0"/>
                </a:lnTo>
                <a:lnTo>
                  <a:pt x="51075" y="36463"/>
                </a:lnTo>
              </a:path>
            </a:pathLst>
          </a:custGeom>
          <a:ln w="109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1798386" y="3455014"/>
            <a:ext cx="3108325" cy="731520"/>
            <a:chOff x="1798386" y="3455014"/>
            <a:chExt cx="3108325" cy="731520"/>
          </a:xfrm>
        </p:grpSpPr>
        <p:sp>
          <p:nvSpPr>
            <p:cNvPr id="71" name="object 71"/>
            <p:cNvSpPr/>
            <p:nvPr/>
          </p:nvSpPr>
          <p:spPr>
            <a:xfrm>
              <a:off x="1849417" y="3455014"/>
              <a:ext cx="3009900" cy="655320"/>
            </a:xfrm>
            <a:custGeom>
              <a:avLst/>
              <a:gdLst/>
              <a:ahLst/>
              <a:cxnLst/>
              <a:rect l="l" t="t" r="r" b="b"/>
              <a:pathLst>
                <a:path w="3009900" h="655320">
                  <a:moveTo>
                    <a:pt x="0" y="654981"/>
                  </a:moveTo>
                  <a:lnTo>
                    <a:pt x="0" y="567620"/>
                  </a:lnTo>
                </a:path>
                <a:path w="3009900" h="655320">
                  <a:moveTo>
                    <a:pt x="0" y="513076"/>
                  </a:moveTo>
                  <a:lnTo>
                    <a:pt x="0" y="425866"/>
                  </a:lnTo>
                </a:path>
                <a:path w="3009900" h="655320">
                  <a:moveTo>
                    <a:pt x="0" y="371323"/>
                  </a:moveTo>
                  <a:lnTo>
                    <a:pt x="0" y="283658"/>
                  </a:lnTo>
                </a:path>
                <a:path w="3009900" h="655320">
                  <a:moveTo>
                    <a:pt x="0" y="229114"/>
                  </a:moveTo>
                  <a:lnTo>
                    <a:pt x="0" y="141753"/>
                  </a:lnTo>
                </a:path>
                <a:path w="3009900" h="655320">
                  <a:moveTo>
                    <a:pt x="0" y="87209"/>
                  </a:moveTo>
                  <a:lnTo>
                    <a:pt x="0" y="0"/>
                  </a:lnTo>
                </a:path>
                <a:path w="3009900" h="655320">
                  <a:moveTo>
                    <a:pt x="3009473" y="7292"/>
                  </a:moveTo>
                  <a:lnTo>
                    <a:pt x="3009473" y="94502"/>
                  </a:lnTo>
                </a:path>
                <a:path w="3009900" h="655320">
                  <a:moveTo>
                    <a:pt x="3009473" y="149045"/>
                  </a:moveTo>
                  <a:lnTo>
                    <a:pt x="3009473" y="236407"/>
                  </a:lnTo>
                </a:path>
                <a:path w="3009900" h="655320">
                  <a:moveTo>
                    <a:pt x="3009473" y="290950"/>
                  </a:moveTo>
                  <a:lnTo>
                    <a:pt x="3009473" y="378464"/>
                  </a:lnTo>
                </a:path>
                <a:path w="3009900" h="655320">
                  <a:moveTo>
                    <a:pt x="3009473" y="433159"/>
                  </a:moveTo>
                  <a:lnTo>
                    <a:pt x="3009473" y="520369"/>
                  </a:lnTo>
                </a:path>
                <a:path w="3009900" h="655320">
                  <a:moveTo>
                    <a:pt x="3009473" y="574912"/>
                  </a:moveTo>
                  <a:lnTo>
                    <a:pt x="3009473" y="654981"/>
                  </a:lnTo>
                </a:path>
              </a:pathLst>
            </a:custGeom>
            <a:ln w="109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798383" y="4088117"/>
              <a:ext cx="3108325" cy="98425"/>
            </a:xfrm>
            <a:custGeom>
              <a:avLst/>
              <a:gdLst/>
              <a:ahLst/>
              <a:cxnLst/>
              <a:rect l="l" t="t" r="r" b="b"/>
              <a:pathLst>
                <a:path w="3108325" h="98425">
                  <a:moveTo>
                    <a:pt x="98412" y="0"/>
                  </a:moveTo>
                  <a:lnTo>
                    <a:pt x="65608" y="10947"/>
                  </a:lnTo>
                  <a:lnTo>
                    <a:pt x="32804" y="10947"/>
                  </a:lnTo>
                  <a:lnTo>
                    <a:pt x="0" y="0"/>
                  </a:lnTo>
                  <a:lnTo>
                    <a:pt x="51028" y="98158"/>
                  </a:lnTo>
                  <a:lnTo>
                    <a:pt x="98412" y="0"/>
                  </a:lnTo>
                  <a:close/>
                </a:path>
                <a:path w="3108325" h="98425">
                  <a:moveTo>
                    <a:pt x="3107779" y="0"/>
                  </a:moveTo>
                  <a:lnTo>
                    <a:pt x="3075089" y="10947"/>
                  </a:lnTo>
                  <a:lnTo>
                    <a:pt x="3042259" y="10947"/>
                  </a:lnTo>
                  <a:lnTo>
                    <a:pt x="3009430" y="0"/>
                  </a:lnTo>
                  <a:lnTo>
                    <a:pt x="3060496" y="98158"/>
                  </a:lnTo>
                  <a:lnTo>
                    <a:pt x="31077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/>
          <p:nvPr/>
        </p:nvSpPr>
        <p:spPr>
          <a:xfrm>
            <a:off x="4858891" y="3320098"/>
            <a:ext cx="0" cy="87630"/>
          </a:xfrm>
          <a:custGeom>
            <a:avLst/>
            <a:gdLst/>
            <a:ahLst/>
            <a:cxnLst/>
            <a:rect l="l" t="t" r="r" b="b"/>
            <a:pathLst>
              <a:path h="87629">
                <a:moveTo>
                  <a:pt x="0" y="0"/>
                </a:moveTo>
                <a:lnTo>
                  <a:pt x="0" y="87209"/>
                </a:lnTo>
              </a:path>
            </a:pathLst>
          </a:custGeom>
          <a:ln w="109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497252" y="2939751"/>
            <a:ext cx="16935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 MT"/>
                <a:cs typeface="Arial MT"/>
              </a:rPr>
              <a:t>Division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du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bloc</a:t>
            </a:r>
            <a:r>
              <a:rPr sz="1400" spc="9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00</a:t>
            </a:r>
            <a:r>
              <a:rPr sz="1425" spc="-37" baseline="-26315" dirty="0">
                <a:latin typeface="Arial MT"/>
                <a:cs typeface="Arial MT"/>
              </a:rPr>
              <a:t>2</a:t>
            </a:r>
            <a:endParaRPr sz="1425" baseline="-26315">
              <a:latin typeface="Arial MT"/>
              <a:cs typeface="Arial MT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85800" y="2743200"/>
            <a:ext cx="8077200" cy="533400"/>
            <a:chOff x="685800" y="2743200"/>
            <a:chExt cx="8077200" cy="533400"/>
          </a:xfrm>
        </p:grpSpPr>
        <p:sp>
          <p:nvSpPr>
            <p:cNvPr id="76" name="object 76"/>
            <p:cNvSpPr/>
            <p:nvPr/>
          </p:nvSpPr>
          <p:spPr>
            <a:xfrm>
              <a:off x="1162050" y="27432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5800" y="29718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690109" y="1586330"/>
            <a:ext cx="3870325" cy="129476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22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700" algn="l"/>
              </a:tabLst>
            </a:pPr>
            <a:r>
              <a:rPr sz="2000" dirty="0">
                <a:latin typeface="Tahoma"/>
                <a:cs typeface="Tahoma"/>
              </a:rPr>
              <a:t>Bloc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#01</a:t>
            </a:r>
            <a:r>
              <a:rPr sz="1950" baseline="-21367" dirty="0">
                <a:latin typeface="Tahoma"/>
                <a:cs typeface="Tahoma"/>
              </a:rPr>
              <a:t>2</a:t>
            </a:r>
            <a:r>
              <a:rPr sz="1950" spc="300" baseline="-21367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déborde</a:t>
            </a:r>
            <a:endParaRPr sz="2000">
              <a:latin typeface="Tahoma"/>
              <a:cs typeface="Tahoma"/>
            </a:endParaRPr>
          </a:p>
          <a:p>
            <a:pPr marL="393700" marR="55880" indent="-343535">
              <a:lnSpc>
                <a:spcPts val="2160"/>
              </a:lnSpc>
              <a:spcBef>
                <a:spcPts val="51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700" algn="l"/>
              </a:tabLst>
            </a:pPr>
            <a:r>
              <a:rPr sz="2000" dirty="0">
                <a:latin typeface="Tahoma"/>
                <a:cs typeface="Tahoma"/>
              </a:rPr>
              <a:t>Division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du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bloc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=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#00</a:t>
            </a:r>
            <a:r>
              <a:rPr sz="1950" baseline="-21367" dirty="0">
                <a:latin typeface="Tahoma"/>
                <a:cs typeface="Tahoma"/>
              </a:rPr>
              <a:t>2</a:t>
            </a:r>
            <a:r>
              <a:rPr sz="1950" spc="-37" baseline="-21367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(pas </a:t>
            </a:r>
            <a:r>
              <a:rPr sz="2000" spc="-10" dirty="0">
                <a:latin typeface="Tahoma"/>
                <a:cs typeface="Tahoma"/>
              </a:rPr>
              <a:t>#01</a:t>
            </a:r>
            <a:r>
              <a:rPr sz="1950" spc="-15" baseline="-21367" dirty="0">
                <a:latin typeface="Tahoma"/>
                <a:cs typeface="Tahoma"/>
              </a:rPr>
              <a:t>2</a:t>
            </a:r>
            <a:r>
              <a:rPr sz="2000" spc="-10" dirty="0">
                <a:latin typeface="Tahoma"/>
                <a:cs typeface="Tahoma"/>
              </a:rPr>
              <a:t>)</a:t>
            </a:r>
            <a:endParaRPr sz="2000">
              <a:latin typeface="Tahoma"/>
              <a:cs typeface="Tahoma"/>
            </a:endParaRPr>
          </a:p>
          <a:p>
            <a:pPr marL="393700" indent="-342900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1428"/>
              <a:buFont typeface="Wingdings"/>
              <a:buChar char=""/>
              <a:tabLst>
                <a:tab pos="393700" algn="l"/>
              </a:tabLst>
            </a:pPr>
            <a:r>
              <a:rPr sz="2100" dirty="0">
                <a:latin typeface="Tahoma"/>
                <a:cs typeface="Tahoma"/>
              </a:rPr>
              <a:t>p</a:t>
            </a:r>
            <a:r>
              <a:rPr sz="21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:=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p</a:t>
            </a:r>
            <a:r>
              <a:rPr sz="2000" spc="-25" dirty="0">
                <a:latin typeface="Tahoma"/>
                <a:cs typeface="Tahoma"/>
              </a:rPr>
              <a:t>+1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46</a:t>
            </a:fld>
            <a:endParaRPr spc="-25" dirty="0"/>
          </a:p>
        </p:txBody>
      </p:sp>
      <p:sp>
        <p:nvSpPr>
          <p:cNvPr id="79" name="object 79"/>
          <p:cNvSpPr txBox="1"/>
          <p:nvPr/>
        </p:nvSpPr>
        <p:spPr>
          <a:xfrm>
            <a:off x="5029200" y="3124279"/>
            <a:ext cx="3719195" cy="976630"/>
          </a:xfrm>
          <a:prstGeom prst="rect">
            <a:avLst/>
          </a:prstGeom>
          <a:solidFill>
            <a:srgbClr val="E4E4E4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5"/>
              </a:lnSpc>
            </a:pPr>
            <a:r>
              <a:rPr sz="1350" spc="-50" dirty="0">
                <a:latin typeface="Arial MT"/>
                <a:cs typeface="Arial MT"/>
              </a:rPr>
              <a:t>FONCTION</a:t>
            </a:r>
            <a:r>
              <a:rPr sz="1350" spc="-20" dirty="0">
                <a:latin typeface="Arial MT"/>
                <a:cs typeface="Arial MT"/>
              </a:rPr>
              <a:t> </a:t>
            </a:r>
            <a:r>
              <a:rPr sz="1350" spc="-55" dirty="0">
                <a:latin typeface="Arial MT"/>
                <a:cs typeface="Arial MT"/>
              </a:rPr>
              <a:t>AdresseLinéaire</a:t>
            </a:r>
            <a:r>
              <a:rPr sz="1350" spc="30" dirty="0">
                <a:latin typeface="Arial MT"/>
                <a:cs typeface="Arial MT"/>
              </a:rPr>
              <a:t> </a:t>
            </a:r>
            <a:r>
              <a:rPr sz="1350" spc="-20" dirty="0">
                <a:latin typeface="Arial MT"/>
                <a:cs typeface="Arial MT"/>
              </a:rPr>
              <a:t>(clé)</a:t>
            </a:r>
            <a:endParaRPr sz="1350">
              <a:latin typeface="Arial MT"/>
              <a:cs typeface="Arial MT"/>
            </a:endParaRPr>
          </a:p>
          <a:p>
            <a:pPr>
              <a:lnSpc>
                <a:spcPts val="1535"/>
              </a:lnSpc>
            </a:pPr>
            <a:r>
              <a:rPr sz="1350" spc="-10" dirty="0">
                <a:latin typeface="Arial MT"/>
                <a:cs typeface="Arial MT"/>
              </a:rPr>
              <a:t>DÉBUT</a:t>
            </a:r>
            <a:endParaRPr sz="1350">
              <a:latin typeface="Arial MT"/>
              <a:cs typeface="Arial MT"/>
            </a:endParaRPr>
          </a:p>
          <a:p>
            <a:pPr marL="609600" marR="86995">
              <a:lnSpc>
                <a:spcPts val="1540"/>
              </a:lnSpc>
              <a:spcBef>
                <a:spcPts val="75"/>
              </a:spcBef>
              <a:tabLst>
                <a:tab pos="1830705" algn="l"/>
              </a:tabLst>
            </a:pPr>
            <a:r>
              <a:rPr sz="1350" spc="-10" dirty="0">
                <a:latin typeface="Arial MT"/>
                <a:cs typeface="Arial MT"/>
              </a:rPr>
              <a:t>SI</a:t>
            </a:r>
            <a:r>
              <a:rPr sz="1350" spc="-45" dirty="0">
                <a:latin typeface="Arial MT"/>
                <a:cs typeface="Arial MT"/>
              </a:rPr>
              <a:t> h</a:t>
            </a:r>
            <a:r>
              <a:rPr sz="1275" spc="-67" baseline="-13071" dirty="0">
                <a:latin typeface="Arial MT"/>
                <a:cs typeface="Arial MT"/>
              </a:rPr>
              <a:t>d</a:t>
            </a:r>
            <a:r>
              <a:rPr sz="1350" spc="-45" dirty="0">
                <a:latin typeface="Arial MT"/>
                <a:cs typeface="Arial MT"/>
              </a:rPr>
              <a:t>(clé)</a:t>
            </a:r>
            <a:r>
              <a:rPr sz="1350" spc="-85" dirty="0">
                <a:latin typeface="Arial MT"/>
                <a:cs typeface="Arial MT"/>
              </a:rPr>
              <a:t> </a:t>
            </a:r>
            <a:r>
              <a:rPr sz="1350" spc="-35" dirty="0">
                <a:latin typeface="Arial MT"/>
                <a:cs typeface="Arial MT"/>
              </a:rPr>
              <a:t>&gt;=</a:t>
            </a:r>
            <a:r>
              <a:rPr sz="1350" spc="-75" dirty="0">
                <a:latin typeface="Arial MT"/>
                <a:cs typeface="Arial MT"/>
              </a:rPr>
              <a:t> </a:t>
            </a:r>
            <a:r>
              <a:rPr sz="1350" spc="-50" dirty="0">
                <a:latin typeface="Arial MT"/>
                <a:cs typeface="Arial MT"/>
              </a:rPr>
              <a:t>p</a:t>
            </a:r>
            <a:r>
              <a:rPr sz="1350" dirty="0">
                <a:latin typeface="Arial MT"/>
                <a:cs typeface="Arial MT"/>
              </a:rPr>
              <a:t>	</a:t>
            </a:r>
            <a:r>
              <a:rPr sz="1350" spc="-50" dirty="0">
                <a:latin typeface="Arial MT"/>
                <a:cs typeface="Arial MT"/>
              </a:rPr>
              <a:t>Retourner</a:t>
            </a:r>
            <a:r>
              <a:rPr sz="1350" spc="-15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h</a:t>
            </a:r>
            <a:r>
              <a:rPr sz="1275" spc="-15" baseline="-13071" dirty="0">
                <a:latin typeface="Arial MT"/>
                <a:cs typeface="Arial MT"/>
              </a:rPr>
              <a:t>d</a:t>
            </a:r>
            <a:r>
              <a:rPr sz="1350" spc="-10" dirty="0">
                <a:latin typeface="Arial MT"/>
                <a:cs typeface="Arial MT"/>
              </a:rPr>
              <a:t>(clé)</a:t>
            </a:r>
            <a:r>
              <a:rPr sz="1350" spc="500" dirty="0">
                <a:latin typeface="Arial MT"/>
                <a:cs typeface="Arial MT"/>
              </a:rPr>
              <a:t> </a:t>
            </a:r>
            <a:r>
              <a:rPr sz="1350" spc="-10" dirty="0">
                <a:latin typeface="Arial MT"/>
                <a:cs typeface="Arial MT"/>
              </a:rPr>
              <a:t>SINON</a:t>
            </a:r>
            <a:r>
              <a:rPr sz="1350" dirty="0">
                <a:latin typeface="Arial MT"/>
                <a:cs typeface="Arial MT"/>
              </a:rPr>
              <a:t>	</a:t>
            </a:r>
            <a:r>
              <a:rPr sz="1350" spc="-50" dirty="0">
                <a:latin typeface="Arial MT"/>
                <a:cs typeface="Arial MT"/>
              </a:rPr>
              <a:t>Retourner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45" dirty="0">
                <a:latin typeface="Arial MT"/>
                <a:cs typeface="Arial MT"/>
              </a:rPr>
              <a:t>h</a:t>
            </a:r>
            <a:r>
              <a:rPr sz="1275" spc="-67" baseline="-13071" dirty="0">
                <a:latin typeface="Arial MT"/>
                <a:cs typeface="Arial MT"/>
              </a:rPr>
              <a:t>d+1</a:t>
            </a:r>
            <a:r>
              <a:rPr sz="1350" spc="-45" dirty="0">
                <a:latin typeface="Arial MT"/>
                <a:cs typeface="Arial MT"/>
              </a:rPr>
              <a:t>(clé)</a:t>
            </a:r>
            <a:r>
              <a:rPr sz="1350" spc="-30" dirty="0">
                <a:latin typeface="Arial MT"/>
                <a:cs typeface="Arial MT"/>
              </a:rPr>
              <a:t> </a:t>
            </a:r>
            <a:r>
              <a:rPr sz="1350" spc="-20" dirty="0">
                <a:latin typeface="Arial MT"/>
                <a:cs typeface="Arial MT"/>
              </a:rPr>
              <a:t>FINSI</a:t>
            </a:r>
            <a:endParaRPr sz="1350">
              <a:latin typeface="Arial MT"/>
              <a:cs typeface="Arial MT"/>
            </a:endParaRPr>
          </a:p>
          <a:p>
            <a:pPr>
              <a:lnSpc>
                <a:spcPts val="1495"/>
              </a:lnSpc>
            </a:pPr>
            <a:r>
              <a:rPr sz="1350" spc="-25" dirty="0">
                <a:latin typeface="Arial MT"/>
                <a:cs typeface="Arial MT"/>
              </a:rPr>
              <a:t>FIN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281" y="642741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46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3489" y="613882"/>
            <a:ext cx="594233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350" b="1" i="1" spc="-195" dirty="0">
                <a:solidFill>
                  <a:srgbClr val="0000FF"/>
                </a:solidFill>
                <a:latin typeface="Verdana"/>
                <a:cs typeface="Verdana"/>
              </a:rPr>
              <a:t>h</a:t>
            </a:r>
            <a:r>
              <a:rPr sz="3200" b="1" spc="-195" dirty="0">
                <a:solidFill>
                  <a:srgbClr val="0000FF"/>
                </a:solidFill>
                <a:latin typeface="Tahoma"/>
                <a:cs typeface="Tahoma"/>
              </a:rPr>
              <a:t>(</a:t>
            </a:r>
            <a:r>
              <a:rPr sz="3350" b="1" i="1" spc="-195" dirty="0">
                <a:solidFill>
                  <a:srgbClr val="0000FF"/>
                </a:solidFill>
                <a:latin typeface="Verdana"/>
                <a:cs typeface="Verdana"/>
              </a:rPr>
              <a:t>clé</a:t>
            </a:r>
            <a:r>
              <a:rPr sz="3200" b="1" spc="-195" dirty="0">
                <a:solidFill>
                  <a:srgbClr val="0000FF"/>
                </a:solidFill>
                <a:latin typeface="Tahoma"/>
                <a:cs typeface="Tahoma"/>
              </a:rPr>
              <a:t>)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10111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2184" y="2316775"/>
            <a:ext cx="1365250" cy="513715"/>
            <a:chOff x="882184" y="2316775"/>
            <a:chExt cx="1365250" cy="513715"/>
          </a:xfrm>
        </p:grpSpPr>
        <p:sp>
          <p:nvSpPr>
            <p:cNvPr id="5" name="object 5"/>
            <p:cNvSpPr/>
            <p:nvPr/>
          </p:nvSpPr>
          <p:spPr>
            <a:xfrm>
              <a:off x="1020483" y="2450784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671178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1178" y="242300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6789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671178" y="0"/>
                  </a:moveTo>
                  <a:lnTo>
                    <a:pt x="0" y="0"/>
                  </a:lnTo>
                  <a:lnTo>
                    <a:pt x="0" y="241976"/>
                  </a:lnTo>
                  <a:lnTo>
                    <a:pt x="671178" y="241976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6789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0" y="241976"/>
                  </a:moveTo>
                  <a:lnTo>
                    <a:pt x="671178" y="241976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1976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6789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671178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1178" y="242300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6789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0" y="242300"/>
                  </a:moveTo>
                  <a:lnTo>
                    <a:pt x="671178" y="242300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6789" y="2331380"/>
              <a:ext cx="671195" cy="484505"/>
            </a:xfrm>
            <a:custGeom>
              <a:avLst/>
              <a:gdLst/>
              <a:ahLst/>
              <a:cxnLst/>
              <a:rect l="l" t="t" r="r" b="b"/>
              <a:pathLst>
                <a:path w="671194" h="484505">
                  <a:moveTo>
                    <a:pt x="0" y="484317"/>
                  </a:moveTo>
                  <a:lnTo>
                    <a:pt x="671182" y="484317"/>
                  </a:lnTo>
                  <a:lnTo>
                    <a:pt x="671182" y="0"/>
                  </a:lnTo>
                  <a:lnTo>
                    <a:pt x="0" y="0"/>
                  </a:lnTo>
                  <a:lnTo>
                    <a:pt x="0" y="484317"/>
                  </a:lnTo>
                </a:path>
              </a:pathLst>
            </a:custGeom>
            <a:ln w="29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7971" y="2331420"/>
              <a:ext cx="674370" cy="242570"/>
            </a:xfrm>
            <a:custGeom>
              <a:avLst/>
              <a:gdLst/>
              <a:ahLst/>
              <a:cxnLst/>
              <a:rect l="l" t="t" r="r" b="b"/>
              <a:pathLst>
                <a:path w="674369" h="242569">
                  <a:moveTo>
                    <a:pt x="674110" y="0"/>
                  </a:moveTo>
                  <a:lnTo>
                    <a:pt x="0" y="0"/>
                  </a:lnTo>
                  <a:lnTo>
                    <a:pt x="0" y="241976"/>
                  </a:lnTo>
                  <a:lnTo>
                    <a:pt x="674110" y="241976"/>
                  </a:lnTo>
                  <a:lnTo>
                    <a:pt x="674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7971" y="2331420"/>
              <a:ext cx="674370" cy="242570"/>
            </a:xfrm>
            <a:custGeom>
              <a:avLst/>
              <a:gdLst/>
              <a:ahLst/>
              <a:cxnLst/>
              <a:rect l="l" t="t" r="r" b="b"/>
              <a:pathLst>
                <a:path w="674369" h="242569">
                  <a:moveTo>
                    <a:pt x="0" y="241976"/>
                  </a:moveTo>
                  <a:lnTo>
                    <a:pt x="674110" y="241976"/>
                  </a:lnTo>
                  <a:lnTo>
                    <a:pt x="674110" y="0"/>
                  </a:lnTo>
                  <a:lnTo>
                    <a:pt x="0" y="0"/>
                  </a:lnTo>
                  <a:lnTo>
                    <a:pt x="0" y="241976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67971" y="2573397"/>
              <a:ext cx="674370" cy="242570"/>
            </a:xfrm>
            <a:custGeom>
              <a:avLst/>
              <a:gdLst/>
              <a:ahLst/>
              <a:cxnLst/>
              <a:rect l="l" t="t" r="r" b="b"/>
              <a:pathLst>
                <a:path w="674369" h="242569">
                  <a:moveTo>
                    <a:pt x="674110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4110" y="242300"/>
                  </a:lnTo>
                  <a:lnTo>
                    <a:pt x="6741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7971" y="2573397"/>
              <a:ext cx="674370" cy="242570"/>
            </a:xfrm>
            <a:custGeom>
              <a:avLst/>
              <a:gdLst/>
              <a:ahLst/>
              <a:cxnLst/>
              <a:rect l="l" t="t" r="r" b="b"/>
              <a:pathLst>
                <a:path w="674369" h="242569">
                  <a:moveTo>
                    <a:pt x="0" y="242300"/>
                  </a:moveTo>
                  <a:lnTo>
                    <a:pt x="674110" y="242300"/>
                  </a:lnTo>
                  <a:lnTo>
                    <a:pt x="674110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57150" y="2570105"/>
            <a:ext cx="69596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latin typeface="Arial MT"/>
                <a:cs typeface="Arial MT"/>
              </a:rPr>
              <a:t>00001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53366" y="2316775"/>
            <a:ext cx="2036445" cy="513715"/>
            <a:chOff x="1553366" y="2316775"/>
            <a:chExt cx="2036445" cy="513715"/>
          </a:xfrm>
        </p:grpSpPr>
        <p:sp>
          <p:nvSpPr>
            <p:cNvPr id="17" name="object 17"/>
            <p:cNvSpPr/>
            <p:nvPr/>
          </p:nvSpPr>
          <p:spPr>
            <a:xfrm>
              <a:off x="1567971" y="2331380"/>
              <a:ext cx="674370" cy="484505"/>
            </a:xfrm>
            <a:custGeom>
              <a:avLst/>
              <a:gdLst/>
              <a:ahLst/>
              <a:cxnLst/>
              <a:rect l="l" t="t" r="r" b="b"/>
              <a:pathLst>
                <a:path w="674369" h="484505">
                  <a:moveTo>
                    <a:pt x="0" y="484317"/>
                  </a:moveTo>
                  <a:lnTo>
                    <a:pt x="674110" y="484317"/>
                  </a:lnTo>
                  <a:lnTo>
                    <a:pt x="674110" y="0"/>
                  </a:lnTo>
                  <a:lnTo>
                    <a:pt x="0" y="0"/>
                  </a:lnTo>
                  <a:lnTo>
                    <a:pt x="0" y="484317"/>
                  </a:lnTo>
                </a:path>
              </a:pathLst>
            </a:custGeom>
            <a:ln w="29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42081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671178" y="0"/>
                  </a:moveTo>
                  <a:lnTo>
                    <a:pt x="0" y="0"/>
                  </a:lnTo>
                  <a:lnTo>
                    <a:pt x="0" y="241976"/>
                  </a:lnTo>
                  <a:lnTo>
                    <a:pt x="671178" y="241976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42081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0" y="241976"/>
                  </a:moveTo>
                  <a:lnTo>
                    <a:pt x="671178" y="241976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1976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42081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671178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1178" y="242300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42081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4" h="242569">
                  <a:moveTo>
                    <a:pt x="0" y="242300"/>
                  </a:moveTo>
                  <a:lnTo>
                    <a:pt x="671178" y="242300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42081" y="2331380"/>
              <a:ext cx="671195" cy="484505"/>
            </a:xfrm>
            <a:custGeom>
              <a:avLst/>
              <a:gdLst/>
              <a:ahLst/>
              <a:cxnLst/>
              <a:rect l="l" t="t" r="r" b="b"/>
              <a:pathLst>
                <a:path w="671194" h="484505">
                  <a:moveTo>
                    <a:pt x="0" y="484317"/>
                  </a:moveTo>
                  <a:lnTo>
                    <a:pt x="671191" y="484317"/>
                  </a:lnTo>
                  <a:lnTo>
                    <a:pt x="671191" y="0"/>
                  </a:lnTo>
                  <a:lnTo>
                    <a:pt x="0" y="0"/>
                  </a:lnTo>
                  <a:lnTo>
                    <a:pt x="0" y="484317"/>
                  </a:lnTo>
                </a:path>
              </a:pathLst>
            </a:custGeom>
            <a:ln w="29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13273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671178" y="0"/>
                  </a:moveTo>
                  <a:lnTo>
                    <a:pt x="0" y="0"/>
                  </a:lnTo>
                  <a:lnTo>
                    <a:pt x="0" y="241976"/>
                  </a:lnTo>
                  <a:lnTo>
                    <a:pt x="671178" y="241976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13273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0" y="241976"/>
                  </a:moveTo>
                  <a:lnTo>
                    <a:pt x="671178" y="241976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1976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13273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671178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1178" y="242300"/>
                  </a:lnTo>
                  <a:lnTo>
                    <a:pt x="6711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13273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0" y="242300"/>
                  </a:moveTo>
                  <a:lnTo>
                    <a:pt x="671178" y="242300"/>
                  </a:lnTo>
                  <a:lnTo>
                    <a:pt x="671178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902452" y="2570105"/>
            <a:ext cx="69342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latin typeface="Arial MT"/>
                <a:cs typeface="Arial MT"/>
              </a:rPr>
              <a:t>11011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13273" y="2331379"/>
            <a:ext cx="671195" cy="484505"/>
          </a:xfrm>
          <a:custGeom>
            <a:avLst/>
            <a:gdLst/>
            <a:ahLst/>
            <a:cxnLst/>
            <a:rect l="l" t="t" r="r" b="b"/>
            <a:pathLst>
              <a:path w="671195" h="484505">
                <a:moveTo>
                  <a:pt x="0" y="484317"/>
                </a:moveTo>
                <a:lnTo>
                  <a:pt x="671191" y="484317"/>
                </a:lnTo>
                <a:lnTo>
                  <a:pt x="671191" y="0"/>
                </a:lnTo>
                <a:lnTo>
                  <a:pt x="0" y="0"/>
                </a:lnTo>
                <a:lnTo>
                  <a:pt x="0" y="484317"/>
                </a:lnTo>
              </a:path>
            </a:pathLst>
          </a:custGeom>
          <a:ln w="29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28269" y="2812405"/>
            <a:ext cx="40957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0" dirty="0">
                <a:latin typeface="Arial MT"/>
                <a:cs typeface="Arial MT"/>
              </a:rPr>
              <a:t>000</a:t>
            </a:r>
            <a:r>
              <a:rPr sz="1200" spc="-30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47954" y="2812405"/>
            <a:ext cx="31877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01</a:t>
            </a:r>
            <a:r>
              <a:rPr sz="1200" spc="-37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19159" y="2812405"/>
            <a:ext cx="31877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10</a:t>
            </a:r>
            <a:r>
              <a:rPr sz="1200" spc="-37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90351" y="2812405"/>
            <a:ext cx="31813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11</a:t>
            </a:r>
            <a:r>
              <a:rPr sz="1200" spc="-37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31628" y="3057983"/>
            <a:ext cx="88265" cy="242570"/>
            <a:chOff x="1831628" y="3057983"/>
            <a:chExt cx="88265" cy="242570"/>
          </a:xfrm>
        </p:grpSpPr>
        <p:sp>
          <p:nvSpPr>
            <p:cNvPr id="34" name="object 34"/>
            <p:cNvSpPr/>
            <p:nvPr/>
          </p:nvSpPr>
          <p:spPr>
            <a:xfrm>
              <a:off x="1874270" y="3125739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544"/>
                  </a:moveTo>
                  <a:lnTo>
                    <a:pt x="0" y="0"/>
                  </a:lnTo>
                </a:path>
              </a:pathLst>
            </a:custGeom>
            <a:ln w="9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31628" y="3057983"/>
              <a:ext cx="88265" cy="87630"/>
            </a:xfrm>
            <a:custGeom>
              <a:avLst/>
              <a:gdLst/>
              <a:ahLst/>
              <a:cxnLst/>
              <a:rect l="l" t="t" r="r" b="b"/>
              <a:pathLst>
                <a:path w="88264" h="87630">
                  <a:moveTo>
                    <a:pt x="42641" y="0"/>
                  </a:moveTo>
                  <a:lnTo>
                    <a:pt x="0" y="87433"/>
                  </a:lnTo>
                  <a:lnTo>
                    <a:pt x="26038" y="80654"/>
                  </a:lnTo>
                  <a:lnTo>
                    <a:pt x="58919" y="80654"/>
                  </a:lnTo>
                  <a:lnTo>
                    <a:pt x="88216" y="87433"/>
                  </a:lnTo>
                  <a:lnTo>
                    <a:pt x="42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1567971" y="1604533"/>
            <a:ext cx="2016760" cy="1696085"/>
          </a:xfrm>
          <a:custGeom>
            <a:avLst/>
            <a:gdLst/>
            <a:ahLst/>
            <a:cxnLst/>
            <a:rect l="l" t="t" r="r" b="b"/>
            <a:pathLst>
              <a:path w="2016760" h="1696085">
                <a:moveTo>
                  <a:pt x="2016493" y="242300"/>
                </a:moveTo>
                <a:lnTo>
                  <a:pt x="2016493" y="1695749"/>
                </a:lnTo>
              </a:path>
              <a:path w="2016760" h="1696085">
                <a:moveTo>
                  <a:pt x="0" y="242300"/>
                </a:moveTo>
                <a:lnTo>
                  <a:pt x="674110" y="242300"/>
                </a:lnTo>
                <a:lnTo>
                  <a:pt x="674110" y="0"/>
                </a:lnTo>
                <a:lnTo>
                  <a:pt x="0" y="0"/>
                </a:lnTo>
                <a:lnTo>
                  <a:pt x="0" y="242300"/>
                </a:lnTo>
                <a:close/>
              </a:path>
            </a:pathLst>
          </a:custGeom>
          <a:ln w="97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57150" y="1601201"/>
            <a:ext cx="69596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latin typeface="Arial MT"/>
                <a:cs typeface="Arial MT"/>
              </a:rPr>
              <a:t>10101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53366" y="1589888"/>
            <a:ext cx="2707640" cy="988694"/>
            <a:chOff x="1553366" y="1589888"/>
            <a:chExt cx="2707640" cy="988694"/>
          </a:xfrm>
        </p:grpSpPr>
        <p:sp>
          <p:nvSpPr>
            <p:cNvPr id="39" name="object 39"/>
            <p:cNvSpPr/>
            <p:nvPr/>
          </p:nvSpPr>
          <p:spPr>
            <a:xfrm>
              <a:off x="1567971" y="1846874"/>
              <a:ext cx="674370" cy="242570"/>
            </a:xfrm>
            <a:custGeom>
              <a:avLst/>
              <a:gdLst/>
              <a:ahLst/>
              <a:cxnLst/>
              <a:rect l="l" t="t" r="r" b="b"/>
              <a:pathLst>
                <a:path w="674369" h="242569">
                  <a:moveTo>
                    <a:pt x="0" y="242300"/>
                  </a:moveTo>
                  <a:lnTo>
                    <a:pt x="674110" y="242300"/>
                  </a:lnTo>
                  <a:lnTo>
                    <a:pt x="674110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67971" y="1604493"/>
              <a:ext cx="674370" cy="485140"/>
            </a:xfrm>
            <a:custGeom>
              <a:avLst/>
              <a:gdLst/>
              <a:ahLst/>
              <a:cxnLst/>
              <a:rect l="l" t="t" r="r" b="b"/>
              <a:pathLst>
                <a:path w="674369" h="485139">
                  <a:moveTo>
                    <a:pt x="0" y="484680"/>
                  </a:moveTo>
                  <a:lnTo>
                    <a:pt x="674110" y="484680"/>
                  </a:lnTo>
                  <a:lnTo>
                    <a:pt x="674110" y="0"/>
                  </a:lnTo>
                  <a:lnTo>
                    <a:pt x="0" y="0"/>
                  </a:lnTo>
                  <a:lnTo>
                    <a:pt x="0" y="484680"/>
                  </a:lnTo>
                </a:path>
              </a:pathLst>
            </a:custGeom>
            <a:ln w="291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36108" y="2156835"/>
              <a:ext cx="0" cy="174625"/>
            </a:xfrm>
            <a:custGeom>
              <a:avLst/>
              <a:gdLst/>
              <a:ahLst/>
              <a:cxnLst/>
              <a:rect l="l" t="t" r="r" b="b"/>
              <a:pathLst>
                <a:path h="174625">
                  <a:moveTo>
                    <a:pt x="0" y="174544"/>
                  </a:moveTo>
                  <a:lnTo>
                    <a:pt x="0" y="0"/>
                  </a:lnTo>
                </a:path>
              </a:pathLst>
            </a:custGeom>
            <a:ln w="97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890548" y="2089174"/>
              <a:ext cx="88265" cy="87630"/>
            </a:xfrm>
            <a:custGeom>
              <a:avLst/>
              <a:gdLst/>
              <a:ahLst/>
              <a:cxnLst/>
              <a:rect l="l" t="t" r="r" b="b"/>
              <a:pathLst>
                <a:path w="88264" h="87630">
                  <a:moveTo>
                    <a:pt x="45560" y="0"/>
                  </a:moveTo>
                  <a:lnTo>
                    <a:pt x="0" y="87070"/>
                  </a:lnTo>
                  <a:lnTo>
                    <a:pt x="29296" y="80600"/>
                  </a:lnTo>
                  <a:lnTo>
                    <a:pt x="58579" y="80600"/>
                  </a:lnTo>
                  <a:lnTo>
                    <a:pt x="87876" y="87070"/>
                  </a:lnTo>
                  <a:lnTo>
                    <a:pt x="45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84465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670852" y="0"/>
                  </a:moveTo>
                  <a:lnTo>
                    <a:pt x="0" y="0"/>
                  </a:lnTo>
                  <a:lnTo>
                    <a:pt x="0" y="241976"/>
                  </a:lnTo>
                  <a:lnTo>
                    <a:pt x="670852" y="241976"/>
                  </a:lnTo>
                  <a:lnTo>
                    <a:pt x="670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84465" y="2331420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0" y="241976"/>
                  </a:moveTo>
                  <a:lnTo>
                    <a:pt x="670852" y="241976"/>
                  </a:lnTo>
                  <a:lnTo>
                    <a:pt x="670852" y="0"/>
                  </a:lnTo>
                  <a:lnTo>
                    <a:pt x="0" y="0"/>
                  </a:lnTo>
                  <a:lnTo>
                    <a:pt x="0" y="241976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44450" y="2327818"/>
            <a:ext cx="276034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25"/>
              </a:spcBef>
              <a:tabLst>
                <a:tab pos="775970" algn="l"/>
                <a:tab pos="1446530" algn="l"/>
                <a:tab pos="2117725" algn="l"/>
              </a:tabLst>
            </a:pPr>
            <a:r>
              <a:rPr sz="1250" spc="-10" dirty="0">
                <a:latin typeface="Arial MT"/>
                <a:cs typeface="Arial MT"/>
              </a:rPr>
              <a:t>11101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r>
              <a:rPr sz="1200" baseline="-27777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11010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r>
              <a:rPr sz="1200" baseline="-27777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01111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r>
              <a:rPr sz="1200" baseline="-27777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10100</a:t>
            </a:r>
            <a:r>
              <a:rPr sz="1200" spc="-15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569860" y="2316775"/>
            <a:ext cx="700405" cy="513715"/>
            <a:chOff x="3569860" y="2316775"/>
            <a:chExt cx="700405" cy="513715"/>
          </a:xfrm>
        </p:grpSpPr>
        <p:sp>
          <p:nvSpPr>
            <p:cNvPr id="47" name="object 47"/>
            <p:cNvSpPr/>
            <p:nvPr/>
          </p:nvSpPr>
          <p:spPr>
            <a:xfrm>
              <a:off x="3584465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670852" y="0"/>
                  </a:moveTo>
                  <a:lnTo>
                    <a:pt x="0" y="0"/>
                  </a:lnTo>
                  <a:lnTo>
                    <a:pt x="0" y="242300"/>
                  </a:lnTo>
                  <a:lnTo>
                    <a:pt x="670852" y="242300"/>
                  </a:lnTo>
                  <a:lnTo>
                    <a:pt x="6708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584465" y="2573397"/>
              <a:ext cx="671195" cy="242570"/>
            </a:xfrm>
            <a:custGeom>
              <a:avLst/>
              <a:gdLst/>
              <a:ahLst/>
              <a:cxnLst/>
              <a:rect l="l" t="t" r="r" b="b"/>
              <a:pathLst>
                <a:path w="671195" h="242569">
                  <a:moveTo>
                    <a:pt x="0" y="242300"/>
                  </a:moveTo>
                  <a:lnTo>
                    <a:pt x="670852" y="242300"/>
                  </a:lnTo>
                  <a:lnTo>
                    <a:pt x="670852" y="0"/>
                  </a:lnTo>
                  <a:lnTo>
                    <a:pt x="0" y="0"/>
                  </a:lnTo>
                  <a:lnTo>
                    <a:pt x="0" y="242300"/>
                  </a:lnTo>
                  <a:close/>
                </a:path>
              </a:pathLst>
            </a:custGeom>
            <a:ln w="970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84465" y="2331380"/>
              <a:ext cx="671195" cy="484505"/>
            </a:xfrm>
            <a:custGeom>
              <a:avLst/>
              <a:gdLst/>
              <a:ahLst/>
              <a:cxnLst/>
              <a:rect l="l" t="t" r="r" b="b"/>
              <a:pathLst>
                <a:path w="671195" h="484505">
                  <a:moveTo>
                    <a:pt x="0" y="484317"/>
                  </a:moveTo>
                  <a:lnTo>
                    <a:pt x="670784" y="484317"/>
                  </a:lnTo>
                  <a:lnTo>
                    <a:pt x="670784" y="0"/>
                  </a:lnTo>
                  <a:lnTo>
                    <a:pt x="0" y="0"/>
                  </a:lnTo>
                  <a:lnTo>
                    <a:pt x="0" y="484317"/>
                  </a:lnTo>
                </a:path>
              </a:pathLst>
            </a:custGeom>
            <a:ln w="291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715656" y="2812405"/>
            <a:ext cx="410209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0" dirty="0">
                <a:latin typeface="Arial MT"/>
                <a:cs typeface="Arial MT"/>
              </a:rPr>
              <a:t>100</a:t>
            </a:r>
            <a:r>
              <a:rPr sz="1200" spc="-30" baseline="-27777" dirty="0">
                <a:latin typeface="Arial MT"/>
                <a:cs typeface="Arial MT"/>
              </a:rPr>
              <a:t>2</a:t>
            </a:r>
            <a:endParaRPr sz="1200" baseline="-27777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238250" y="3276600"/>
            <a:ext cx="3304540" cy="730885"/>
            <a:chOff x="1238250" y="3276600"/>
            <a:chExt cx="3304540" cy="730885"/>
          </a:xfrm>
        </p:grpSpPr>
        <p:sp>
          <p:nvSpPr>
            <p:cNvPr id="52" name="object 52"/>
            <p:cNvSpPr/>
            <p:nvPr/>
          </p:nvSpPr>
          <p:spPr>
            <a:xfrm>
              <a:off x="1238250" y="3276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67505" y="3843824"/>
              <a:ext cx="52069" cy="152400"/>
            </a:xfrm>
            <a:custGeom>
              <a:avLst/>
              <a:gdLst/>
              <a:ahLst/>
              <a:cxnLst/>
              <a:rect l="l" t="t" r="r" b="b"/>
              <a:pathLst>
                <a:path w="52069" h="152400">
                  <a:moveTo>
                    <a:pt x="0" y="151808"/>
                  </a:moveTo>
                  <a:lnTo>
                    <a:pt x="0" y="74423"/>
                  </a:lnTo>
                </a:path>
                <a:path w="52069" h="152400">
                  <a:moveTo>
                    <a:pt x="0" y="25974"/>
                  </a:moveTo>
                  <a:lnTo>
                    <a:pt x="0" y="0"/>
                  </a:lnTo>
                  <a:lnTo>
                    <a:pt x="51662" y="0"/>
                  </a:lnTo>
                </a:path>
              </a:pathLst>
            </a:custGeom>
            <a:ln w="9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67541" y="3843824"/>
              <a:ext cx="2475865" cy="0"/>
            </a:xfrm>
            <a:custGeom>
              <a:avLst/>
              <a:gdLst/>
              <a:ahLst/>
              <a:cxnLst/>
              <a:rect l="l" t="t" r="r" b="b"/>
              <a:pathLst>
                <a:path w="2475865">
                  <a:moveTo>
                    <a:pt x="0" y="0"/>
                  </a:moveTo>
                  <a:lnTo>
                    <a:pt x="2475817" y="0"/>
                  </a:lnTo>
                </a:path>
              </a:pathLst>
            </a:custGeom>
            <a:ln w="985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492149" y="3843824"/>
              <a:ext cx="45720" cy="158750"/>
            </a:xfrm>
            <a:custGeom>
              <a:avLst/>
              <a:gdLst/>
              <a:ahLst/>
              <a:cxnLst/>
              <a:rect l="l" t="t" r="r" b="b"/>
              <a:pathLst>
                <a:path w="45720" h="158750">
                  <a:moveTo>
                    <a:pt x="0" y="0"/>
                  </a:moveTo>
                  <a:lnTo>
                    <a:pt x="45421" y="0"/>
                  </a:lnTo>
                  <a:lnTo>
                    <a:pt x="45421" y="32165"/>
                  </a:lnTo>
                </a:path>
                <a:path w="45720" h="158750">
                  <a:moveTo>
                    <a:pt x="45421" y="80749"/>
                  </a:moveTo>
                  <a:lnTo>
                    <a:pt x="45421" y="158403"/>
                  </a:lnTo>
                </a:path>
              </a:pathLst>
            </a:custGeom>
            <a:ln w="9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702809" y="1632330"/>
            <a:ext cx="293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1000" algn="l"/>
              </a:tabLst>
            </a:pPr>
            <a:r>
              <a:rPr sz="2400" dirty="0">
                <a:latin typeface="Tahoma"/>
                <a:cs typeface="Tahoma"/>
              </a:rPr>
              <a:t>Bloc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#11</a:t>
            </a:r>
            <a:r>
              <a:rPr sz="2400" baseline="-20833" dirty="0">
                <a:latin typeface="Tahoma"/>
                <a:cs typeface="Tahoma"/>
              </a:rPr>
              <a:t>2</a:t>
            </a:r>
            <a:r>
              <a:rPr sz="2400" spc="345" baseline="-20833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déborde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81520" y="4800046"/>
            <a:ext cx="2690495" cy="516255"/>
            <a:chOff x="881520" y="4800046"/>
            <a:chExt cx="2690495" cy="516255"/>
          </a:xfrm>
        </p:grpSpPr>
        <p:sp>
          <p:nvSpPr>
            <p:cNvPr id="58" name="object 58"/>
            <p:cNvSpPr/>
            <p:nvPr/>
          </p:nvSpPr>
          <p:spPr>
            <a:xfrm>
              <a:off x="1019509" y="4934679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6674" y="242718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96443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6674" y="242718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96443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2718"/>
                  </a:moveTo>
                  <a:lnTo>
                    <a:pt x="666674" y="242718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96443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6674" y="243041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96443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3041"/>
                  </a:moveTo>
                  <a:lnTo>
                    <a:pt x="666674" y="243041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96443" y="4814969"/>
              <a:ext cx="666750" cy="486409"/>
            </a:xfrm>
            <a:custGeom>
              <a:avLst/>
              <a:gdLst/>
              <a:ahLst/>
              <a:cxnLst/>
              <a:rect l="l" t="t" r="r" b="b"/>
              <a:pathLst>
                <a:path w="666750" h="486410">
                  <a:moveTo>
                    <a:pt x="0" y="485841"/>
                  </a:moveTo>
                  <a:lnTo>
                    <a:pt x="666683" y="485841"/>
                  </a:lnTo>
                  <a:lnTo>
                    <a:pt x="666683" y="0"/>
                  </a:lnTo>
                  <a:lnTo>
                    <a:pt x="0" y="0"/>
                  </a:lnTo>
                  <a:lnTo>
                    <a:pt x="0" y="485841"/>
                  </a:lnTo>
                </a:path>
              </a:pathLst>
            </a:custGeom>
            <a:ln w="29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563126" y="4815036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669962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9962" y="242718"/>
                  </a:lnTo>
                  <a:lnTo>
                    <a:pt x="66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563126" y="4815036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0" y="242718"/>
                  </a:moveTo>
                  <a:lnTo>
                    <a:pt x="669962" y="242718"/>
                  </a:lnTo>
                  <a:lnTo>
                    <a:pt x="669962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63126" y="5057768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669962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9962" y="243041"/>
                  </a:lnTo>
                  <a:lnTo>
                    <a:pt x="66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63126" y="5057768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0" y="243041"/>
                  </a:moveTo>
                  <a:lnTo>
                    <a:pt x="669962" y="243041"/>
                  </a:lnTo>
                  <a:lnTo>
                    <a:pt x="669962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563126" y="4814969"/>
              <a:ext cx="670560" cy="486409"/>
            </a:xfrm>
            <a:custGeom>
              <a:avLst/>
              <a:gdLst/>
              <a:ahLst/>
              <a:cxnLst/>
              <a:rect l="l" t="t" r="r" b="b"/>
              <a:pathLst>
                <a:path w="670560" h="486410">
                  <a:moveTo>
                    <a:pt x="0" y="485841"/>
                  </a:moveTo>
                  <a:lnTo>
                    <a:pt x="669935" y="485841"/>
                  </a:lnTo>
                  <a:lnTo>
                    <a:pt x="669935" y="0"/>
                  </a:lnTo>
                  <a:lnTo>
                    <a:pt x="0" y="0"/>
                  </a:lnTo>
                  <a:lnTo>
                    <a:pt x="0" y="485841"/>
                  </a:lnTo>
                </a:path>
              </a:pathLst>
            </a:custGeom>
            <a:ln w="29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233062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6674" y="242718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233062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2718"/>
                  </a:moveTo>
                  <a:lnTo>
                    <a:pt x="666674" y="242718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233062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6674" y="243041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233062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3041"/>
                  </a:moveTo>
                  <a:lnTo>
                    <a:pt x="666674" y="243041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233062" y="4814969"/>
              <a:ext cx="667385" cy="486409"/>
            </a:xfrm>
            <a:custGeom>
              <a:avLst/>
              <a:gdLst/>
              <a:ahLst/>
              <a:cxnLst/>
              <a:rect l="l" t="t" r="r" b="b"/>
              <a:pathLst>
                <a:path w="667385" h="486410">
                  <a:moveTo>
                    <a:pt x="0" y="485841"/>
                  </a:moveTo>
                  <a:lnTo>
                    <a:pt x="666768" y="485841"/>
                  </a:lnTo>
                  <a:lnTo>
                    <a:pt x="666768" y="0"/>
                  </a:lnTo>
                  <a:lnTo>
                    <a:pt x="0" y="0"/>
                  </a:lnTo>
                  <a:lnTo>
                    <a:pt x="0" y="485841"/>
                  </a:lnTo>
                </a:path>
              </a:pathLst>
            </a:custGeom>
            <a:ln w="29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899831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6674" y="242718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899831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2718"/>
                  </a:moveTo>
                  <a:lnTo>
                    <a:pt x="666674" y="242718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899831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6674" y="243041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899831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3041"/>
                  </a:moveTo>
                  <a:lnTo>
                    <a:pt x="666674" y="243041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889060" y="5054193"/>
            <a:ext cx="68834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latin typeface="Arial MT"/>
                <a:cs typeface="Arial MT"/>
              </a:rPr>
              <a:t>11011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2899831" y="4814968"/>
            <a:ext cx="666750" cy="486409"/>
          </a:xfrm>
          <a:custGeom>
            <a:avLst/>
            <a:gdLst/>
            <a:ahLst/>
            <a:cxnLst/>
            <a:rect l="l" t="t" r="r" b="b"/>
            <a:pathLst>
              <a:path w="666750" h="486410">
                <a:moveTo>
                  <a:pt x="0" y="485841"/>
                </a:moveTo>
                <a:lnTo>
                  <a:pt x="666633" y="485841"/>
                </a:lnTo>
                <a:lnTo>
                  <a:pt x="666633" y="0"/>
                </a:lnTo>
                <a:lnTo>
                  <a:pt x="0" y="0"/>
                </a:lnTo>
                <a:lnTo>
                  <a:pt x="0" y="485841"/>
                </a:lnTo>
              </a:path>
            </a:pathLst>
          </a:custGeom>
          <a:ln w="29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013793" y="5297248"/>
            <a:ext cx="110363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20090" algn="l"/>
              </a:tabLst>
            </a:pPr>
            <a:r>
              <a:rPr sz="1250" spc="-20" dirty="0">
                <a:latin typeface="Arial MT"/>
                <a:cs typeface="Arial MT"/>
              </a:rPr>
              <a:t>000</a:t>
            </a:r>
            <a:r>
              <a:rPr sz="1275" spc="-30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20" dirty="0">
                <a:latin typeface="Arial MT"/>
                <a:cs typeface="Arial MT"/>
              </a:rPr>
              <a:t>001</a:t>
            </a:r>
            <a:r>
              <a:rPr sz="1275" spc="-30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408592" y="5297248"/>
            <a:ext cx="3175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10</a:t>
            </a:r>
            <a:r>
              <a:rPr sz="1275" spc="-37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075226" y="5297248"/>
            <a:ext cx="31750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250" spc="-25" dirty="0">
                <a:latin typeface="Arial MT"/>
                <a:cs typeface="Arial MT"/>
              </a:rPr>
              <a:t>11</a:t>
            </a:r>
            <a:r>
              <a:rPr sz="1275" spc="-37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492218" y="5782713"/>
            <a:ext cx="11620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-50" dirty="0">
                <a:latin typeface="Arial MT"/>
                <a:cs typeface="Arial MT"/>
              </a:rPr>
              <a:t>p</a:t>
            </a:r>
            <a:endParaRPr sz="1250">
              <a:latin typeface="Arial MT"/>
              <a:cs typeface="Arial MT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2504918" y="5543462"/>
            <a:ext cx="87630" cy="243204"/>
            <a:chOff x="2504918" y="5543462"/>
            <a:chExt cx="87630" cy="243204"/>
          </a:xfrm>
        </p:grpSpPr>
        <p:sp>
          <p:nvSpPr>
            <p:cNvPr id="85" name="object 85"/>
            <p:cNvSpPr/>
            <p:nvPr/>
          </p:nvSpPr>
          <p:spPr>
            <a:xfrm>
              <a:off x="2550340" y="5608061"/>
              <a:ext cx="0" cy="178435"/>
            </a:xfrm>
            <a:custGeom>
              <a:avLst/>
              <a:gdLst/>
              <a:ahLst/>
              <a:cxnLst/>
              <a:rect l="l" t="t" r="r" b="b"/>
              <a:pathLst>
                <a:path h="178435">
                  <a:moveTo>
                    <a:pt x="0" y="178132"/>
                  </a:moveTo>
                  <a:lnTo>
                    <a:pt x="0" y="0"/>
                  </a:lnTo>
                </a:path>
              </a:pathLst>
            </a:custGeom>
            <a:ln w="9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504918" y="5543462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30" h="87629">
                  <a:moveTo>
                    <a:pt x="45421" y="0"/>
                  </a:moveTo>
                  <a:lnTo>
                    <a:pt x="0" y="87209"/>
                  </a:lnTo>
                  <a:lnTo>
                    <a:pt x="29247" y="77788"/>
                  </a:lnTo>
                  <a:lnTo>
                    <a:pt x="61460" y="77788"/>
                  </a:lnTo>
                  <a:lnTo>
                    <a:pt x="87473" y="87209"/>
                  </a:lnTo>
                  <a:lnTo>
                    <a:pt x="45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/>
          <p:nvPr/>
        </p:nvSpPr>
        <p:spPr>
          <a:xfrm>
            <a:off x="903189" y="6035965"/>
            <a:ext cx="5340350" cy="365760"/>
          </a:xfrm>
          <a:custGeom>
            <a:avLst/>
            <a:gdLst/>
            <a:ahLst/>
            <a:cxnLst/>
            <a:rect l="l" t="t" r="r" b="b"/>
            <a:pathLst>
              <a:path w="5340350" h="365760">
                <a:moveTo>
                  <a:pt x="2670014" y="0"/>
                </a:moveTo>
                <a:lnTo>
                  <a:pt x="2670014" y="122994"/>
                </a:lnTo>
                <a:lnTo>
                  <a:pt x="2663410" y="158416"/>
                </a:lnTo>
                <a:lnTo>
                  <a:pt x="2647236" y="194161"/>
                </a:lnTo>
                <a:lnTo>
                  <a:pt x="2621627" y="220082"/>
                </a:lnTo>
                <a:lnTo>
                  <a:pt x="2585775" y="236151"/>
                </a:lnTo>
                <a:lnTo>
                  <a:pt x="2550192" y="242705"/>
                </a:lnTo>
                <a:lnTo>
                  <a:pt x="1456433" y="242705"/>
                </a:lnTo>
                <a:lnTo>
                  <a:pt x="1417616" y="249273"/>
                </a:lnTo>
                <a:lnTo>
                  <a:pt x="1384999" y="265342"/>
                </a:lnTo>
                <a:lnTo>
                  <a:pt x="1359390" y="291249"/>
                </a:lnTo>
                <a:lnTo>
                  <a:pt x="1339982" y="327007"/>
                </a:lnTo>
                <a:lnTo>
                  <a:pt x="1336612" y="365700"/>
                </a:lnTo>
                <a:lnTo>
                  <a:pt x="1330008" y="327007"/>
                </a:lnTo>
                <a:lnTo>
                  <a:pt x="1310599" y="291249"/>
                </a:lnTo>
                <a:lnTo>
                  <a:pt x="1284990" y="265342"/>
                </a:lnTo>
                <a:lnTo>
                  <a:pt x="1252400" y="249273"/>
                </a:lnTo>
                <a:lnTo>
                  <a:pt x="1213583" y="242705"/>
                </a:lnTo>
                <a:lnTo>
                  <a:pt x="123072" y="242705"/>
                </a:lnTo>
                <a:lnTo>
                  <a:pt x="84241" y="236151"/>
                </a:lnTo>
                <a:lnTo>
                  <a:pt x="48700" y="220082"/>
                </a:lnTo>
                <a:lnTo>
                  <a:pt x="22705" y="194161"/>
                </a:lnTo>
                <a:lnTo>
                  <a:pt x="6581" y="158416"/>
                </a:lnTo>
                <a:lnTo>
                  <a:pt x="0" y="122994"/>
                </a:lnTo>
                <a:lnTo>
                  <a:pt x="0" y="0"/>
                </a:lnTo>
              </a:path>
              <a:path w="5340350" h="365760">
                <a:moveTo>
                  <a:pt x="5340053" y="0"/>
                </a:moveTo>
                <a:lnTo>
                  <a:pt x="5340053" y="122994"/>
                </a:lnTo>
                <a:lnTo>
                  <a:pt x="5333448" y="158416"/>
                </a:lnTo>
                <a:lnTo>
                  <a:pt x="5317274" y="194161"/>
                </a:lnTo>
                <a:lnTo>
                  <a:pt x="5291666" y="220082"/>
                </a:lnTo>
                <a:lnTo>
                  <a:pt x="5255814" y="236151"/>
                </a:lnTo>
                <a:lnTo>
                  <a:pt x="5220231" y="242705"/>
                </a:lnTo>
                <a:lnTo>
                  <a:pt x="4126472" y="242705"/>
                </a:lnTo>
                <a:lnTo>
                  <a:pt x="4087655" y="249273"/>
                </a:lnTo>
                <a:lnTo>
                  <a:pt x="4055037" y="265342"/>
                </a:lnTo>
                <a:lnTo>
                  <a:pt x="4029294" y="291249"/>
                </a:lnTo>
                <a:lnTo>
                  <a:pt x="4009885" y="327007"/>
                </a:lnTo>
                <a:lnTo>
                  <a:pt x="4006651" y="365700"/>
                </a:lnTo>
                <a:lnTo>
                  <a:pt x="4000046" y="327007"/>
                </a:lnTo>
                <a:lnTo>
                  <a:pt x="3980638" y="291249"/>
                </a:lnTo>
                <a:lnTo>
                  <a:pt x="3955029" y="265342"/>
                </a:lnTo>
                <a:lnTo>
                  <a:pt x="3922412" y="249273"/>
                </a:lnTo>
                <a:lnTo>
                  <a:pt x="3883594" y="242705"/>
                </a:lnTo>
                <a:lnTo>
                  <a:pt x="2793070" y="242705"/>
                </a:lnTo>
                <a:lnTo>
                  <a:pt x="2754253" y="236151"/>
                </a:lnTo>
                <a:lnTo>
                  <a:pt x="2718670" y="220082"/>
                </a:lnTo>
                <a:lnTo>
                  <a:pt x="2692657" y="194161"/>
                </a:lnTo>
                <a:lnTo>
                  <a:pt x="2676618" y="158416"/>
                </a:lnTo>
                <a:lnTo>
                  <a:pt x="2670014" y="122994"/>
                </a:lnTo>
                <a:lnTo>
                  <a:pt x="2670014" y="0"/>
                </a:lnTo>
              </a:path>
            </a:pathLst>
          </a:custGeom>
          <a:ln w="3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890348" y="6424037"/>
            <a:ext cx="667385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40" dirty="0">
                <a:latin typeface="Arial MT"/>
                <a:cs typeface="Arial MT"/>
              </a:rPr>
              <a:t>Zône </a:t>
            </a:r>
            <a:r>
              <a:rPr sz="850" spc="-10" dirty="0">
                <a:latin typeface="Arial MT"/>
                <a:cs typeface="Arial MT"/>
              </a:rPr>
              <a:t>primaire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485919" y="6430605"/>
            <a:ext cx="812800" cy="1543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" spc="-40" dirty="0">
                <a:latin typeface="Arial MT"/>
                <a:cs typeface="Arial MT"/>
              </a:rPr>
              <a:t>Zône </a:t>
            </a:r>
            <a:r>
              <a:rPr sz="850" spc="-30" dirty="0">
                <a:latin typeface="Arial MT"/>
                <a:cs typeface="Arial MT"/>
              </a:rPr>
              <a:t>d'expansion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537571" y="4050811"/>
            <a:ext cx="0" cy="78105"/>
          </a:xfrm>
          <a:custGeom>
            <a:avLst/>
            <a:gdLst/>
            <a:ahLst/>
            <a:cxnLst/>
            <a:rect l="l" t="t" r="r" b="b"/>
            <a:pathLst>
              <a:path h="78104">
                <a:moveTo>
                  <a:pt x="0" y="0"/>
                </a:moveTo>
                <a:lnTo>
                  <a:pt x="0" y="77653"/>
                </a:lnTo>
              </a:path>
            </a:pathLst>
          </a:custGeom>
          <a:ln w="9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537571" y="4177049"/>
            <a:ext cx="0" cy="78105"/>
          </a:xfrm>
          <a:custGeom>
            <a:avLst/>
            <a:gdLst/>
            <a:ahLst/>
            <a:cxnLst/>
            <a:rect l="l" t="t" r="r" b="b"/>
            <a:pathLst>
              <a:path h="78104">
                <a:moveTo>
                  <a:pt x="0" y="0"/>
                </a:moveTo>
                <a:lnTo>
                  <a:pt x="0" y="77788"/>
                </a:lnTo>
              </a:path>
            </a:pathLst>
          </a:custGeom>
          <a:ln w="9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37571" y="4303287"/>
            <a:ext cx="0" cy="78105"/>
          </a:xfrm>
          <a:custGeom>
            <a:avLst/>
            <a:gdLst/>
            <a:ahLst/>
            <a:cxnLst/>
            <a:rect l="l" t="t" r="r" b="b"/>
            <a:pathLst>
              <a:path h="78104">
                <a:moveTo>
                  <a:pt x="0" y="0"/>
                </a:moveTo>
                <a:lnTo>
                  <a:pt x="0" y="77788"/>
                </a:lnTo>
              </a:path>
            </a:pathLst>
          </a:custGeom>
          <a:ln w="9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537571" y="4429660"/>
            <a:ext cx="0" cy="78105"/>
          </a:xfrm>
          <a:custGeom>
            <a:avLst/>
            <a:gdLst/>
            <a:ahLst/>
            <a:cxnLst/>
            <a:rect l="l" t="t" r="r" b="b"/>
            <a:pathLst>
              <a:path h="78104">
                <a:moveTo>
                  <a:pt x="0" y="0"/>
                </a:moveTo>
                <a:lnTo>
                  <a:pt x="0" y="77653"/>
                </a:lnTo>
              </a:path>
            </a:pathLst>
          </a:custGeom>
          <a:ln w="9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4" name="object 94"/>
          <p:cNvGrpSpPr/>
          <p:nvPr/>
        </p:nvGrpSpPr>
        <p:grpSpPr>
          <a:xfrm>
            <a:off x="1825386" y="4039541"/>
            <a:ext cx="2423160" cy="1751964"/>
            <a:chOff x="1825386" y="4039541"/>
            <a:chExt cx="2423160" cy="1751964"/>
          </a:xfrm>
        </p:grpSpPr>
        <p:sp>
          <p:nvSpPr>
            <p:cNvPr id="95" name="object 95"/>
            <p:cNvSpPr/>
            <p:nvPr/>
          </p:nvSpPr>
          <p:spPr>
            <a:xfrm>
              <a:off x="2899831" y="4086543"/>
              <a:ext cx="666750" cy="1699895"/>
            </a:xfrm>
            <a:custGeom>
              <a:avLst/>
              <a:gdLst/>
              <a:ahLst/>
              <a:cxnLst/>
              <a:rect l="l" t="t" r="r" b="b"/>
              <a:pathLst>
                <a:path w="666750" h="1699895">
                  <a:moveTo>
                    <a:pt x="666633" y="242718"/>
                  </a:moveTo>
                  <a:lnTo>
                    <a:pt x="666633" y="1699651"/>
                  </a:lnTo>
                </a:path>
                <a:path w="666750" h="1699895">
                  <a:moveTo>
                    <a:pt x="0" y="242718"/>
                  </a:moveTo>
                  <a:lnTo>
                    <a:pt x="666674" y="242718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  <a:path w="666750" h="1699895">
                  <a:moveTo>
                    <a:pt x="0" y="485774"/>
                  </a:moveTo>
                  <a:lnTo>
                    <a:pt x="666674" y="485774"/>
                  </a:lnTo>
                  <a:lnTo>
                    <a:pt x="666674" y="242732"/>
                  </a:lnTo>
                  <a:lnTo>
                    <a:pt x="0" y="242732"/>
                  </a:lnTo>
                  <a:lnTo>
                    <a:pt x="0" y="485774"/>
                  </a:lnTo>
                  <a:close/>
                </a:path>
              </a:pathLst>
            </a:custGeom>
            <a:ln w="9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899831" y="4086610"/>
              <a:ext cx="666750" cy="485775"/>
            </a:xfrm>
            <a:custGeom>
              <a:avLst/>
              <a:gdLst/>
              <a:ahLst/>
              <a:cxnLst/>
              <a:rect l="l" t="t" r="r" b="b"/>
              <a:pathLst>
                <a:path w="666750" h="485775">
                  <a:moveTo>
                    <a:pt x="0" y="485706"/>
                  </a:moveTo>
                  <a:lnTo>
                    <a:pt x="666633" y="485706"/>
                  </a:lnTo>
                  <a:lnTo>
                    <a:pt x="666633" y="0"/>
                  </a:lnTo>
                  <a:lnTo>
                    <a:pt x="0" y="0"/>
                  </a:lnTo>
                  <a:lnTo>
                    <a:pt x="0" y="485706"/>
                  </a:lnTo>
                </a:path>
              </a:pathLst>
            </a:custGeom>
            <a:ln w="29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262395" y="4636917"/>
              <a:ext cx="0" cy="178435"/>
            </a:xfrm>
            <a:custGeom>
              <a:avLst/>
              <a:gdLst/>
              <a:ahLst/>
              <a:cxnLst/>
              <a:rect l="l" t="t" r="r" b="b"/>
              <a:pathLst>
                <a:path h="178435">
                  <a:moveTo>
                    <a:pt x="0" y="178052"/>
                  </a:moveTo>
                  <a:lnTo>
                    <a:pt x="0" y="0"/>
                  </a:lnTo>
                </a:path>
              </a:pathLst>
            </a:custGeom>
            <a:ln w="9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220208" y="4572317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42186" y="0"/>
                  </a:moveTo>
                  <a:lnTo>
                    <a:pt x="0" y="87209"/>
                  </a:lnTo>
                  <a:lnTo>
                    <a:pt x="28978" y="77384"/>
                  </a:lnTo>
                  <a:lnTo>
                    <a:pt x="58360" y="77384"/>
                  </a:lnTo>
                  <a:lnTo>
                    <a:pt x="87204" y="87209"/>
                  </a:lnTo>
                  <a:lnTo>
                    <a:pt x="421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566464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6674" y="242718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566464" y="4815036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2718"/>
                  </a:moveTo>
                  <a:lnTo>
                    <a:pt x="666674" y="242718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566464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666674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6674" y="243041"/>
                  </a:lnTo>
                  <a:lnTo>
                    <a:pt x="666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566464" y="5057768"/>
              <a:ext cx="666750" cy="243204"/>
            </a:xfrm>
            <a:custGeom>
              <a:avLst/>
              <a:gdLst/>
              <a:ahLst/>
              <a:cxnLst/>
              <a:rect l="l" t="t" r="r" b="b"/>
              <a:pathLst>
                <a:path w="666750" h="243204">
                  <a:moveTo>
                    <a:pt x="0" y="243041"/>
                  </a:moveTo>
                  <a:lnTo>
                    <a:pt x="666674" y="243041"/>
                  </a:lnTo>
                  <a:lnTo>
                    <a:pt x="666674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566464" y="4814969"/>
              <a:ext cx="666750" cy="486409"/>
            </a:xfrm>
            <a:custGeom>
              <a:avLst/>
              <a:gdLst/>
              <a:ahLst/>
              <a:cxnLst/>
              <a:rect l="l" t="t" r="r" b="b"/>
              <a:pathLst>
                <a:path w="666750" h="486410">
                  <a:moveTo>
                    <a:pt x="0" y="485841"/>
                  </a:moveTo>
                  <a:lnTo>
                    <a:pt x="666633" y="485841"/>
                  </a:lnTo>
                  <a:lnTo>
                    <a:pt x="666633" y="0"/>
                  </a:lnTo>
                  <a:lnTo>
                    <a:pt x="0" y="0"/>
                  </a:lnTo>
                  <a:lnTo>
                    <a:pt x="0" y="485841"/>
                  </a:lnTo>
                </a:path>
              </a:pathLst>
            </a:custGeom>
            <a:ln w="292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867505" y="4044621"/>
              <a:ext cx="0" cy="582930"/>
            </a:xfrm>
            <a:custGeom>
              <a:avLst/>
              <a:gdLst/>
              <a:ahLst/>
              <a:cxnLst/>
              <a:rect l="l" t="t" r="r" b="b"/>
              <a:pathLst>
                <a:path h="582929">
                  <a:moveTo>
                    <a:pt x="0" y="582471"/>
                  </a:moveTo>
                  <a:lnTo>
                    <a:pt x="0" y="504683"/>
                  </a:lnTo>
                </a:path>
                <a:path h="582929">
                  <a:moveTo>
                    <a:pt x="0" y="456233"/>
                  </a:moveTo>
                  <a:lnTo>
                    <a:pt x="0" y="378444"/>
                  </a:lnTo>
                </a:path>
                <a:path h="582929">
                  <a:moveTo>
                    <a:pt x="0" y="329860"/>
                  </a:moveTo>
                  <a:lnTo>
                    <a:pt x="0" y="252476"/>
                  </a:lnTo>
                </a:path>
                <a:path h="582929">
                  <a:moveTo>
                    <a:pt x="0" y="203622"/>
                  </a:moveTo>
                  <a:lnTo>
                    <a:pt x="0" y="126238"/>
                  </a:lnTo>
                </a:path>
                <a:path h="582929">
                  <a:moveTo>
                    <a:pt x="0" y="77384"/>
                  </a:moveTo>
                  <a:lnTo>
                    <a:pt x="0" y="0"/>
                  </a:lnTo>
                </a:path>
              </a:pathLst>
            </a:custGeom>
            <a:ln w="9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825386" y="4607712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30" h="87629">
                  <a:moveTo>
                    <a:pt x="87204" y="0"/>
                  </a:moveTo>
                  <a:lnTo>
                    <a:pt x="58239" y="6594"/>
                  </a:lnTo>
                  <a:lnTo>
                    <a:pt x="25662" y="6594"/>
                  </a:lnTo>
                  <a:lnTo>
                    <a:pt x="0" y="0"/>
                  </a:lnTo>
                  <a:lnTo>
                    <a:pt x="42119" y="87612"/>
                  </a:lnTo>
                  <a:lnTo>
                    <a:pt x="87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6" name="object 106"/>
          <p:cNvGrpSpPr/>
          <p:nvPr/>
        </p:nvGrpSpPr>
        <p:grpSpPr>
          <a:xfrm>
            <a:off x="4495384" y="4555898"/>
            <a:ext cx="87630" cy="139700"/>
            <a:chOff x="4495384" y="4555898"/>
            <a:chExt cx="87630" cy="139700"/>
          </a:xfrm>
        </p:grpSpPr>
        <p:sp>
          <p:nvSpPr>
            <p:cNvPr id="107" name="object 107"/>
            <p:cNvSpPr/>
            <p:nvPr/>
          </p:nvSpPr>
          <p:spPr>
            <a:xfrm>
              <a:off x="4537571" y="4555898"/>
              <a:ext cx="0" cy="71755"/>
            </a:xfrm>
            <a:custGeom>
              <a:avLst/>
              <a:gdLst/>
              <a:ahLst/>
              <a:cxnLst/>
              <a:rect l="l" t="t" r="r" b="b"/>
              <a:pathLst>
                <a:path h="71754">
                  <a:moveTo>
                    <a:pt x="0" y="0"/>
                  </a:moveTo>
                  <a:lnTo>
                    <a:pt x="0" y="71193"/>
                  </a:lnTo>
                </a:path>
              </a:pathLst>
            </a:custGeom>
            <a:ln w="9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495384" y="4607712"/>
              <a:ext cx="87630" cy="87630"/>
            </a:xfrm>
            <a:custGeom>
              <a:avLst/>
              <a:gdLst/>
              <a:ahLst/>
              <a:cxnLst/>
              <a:rect l="l" t="t" r="r" b="b"/>
              <a:pathLst>
                <a:path w="87629" h="87629">
                  <a:moveTo>
                    <a:pt x="87204" y="0"/>
                  </a:moveTo>
                  <a:lnTo>
                    <a:pt x="58225" y="6594"/>
                  </a:lnTo>
                  <a:lnTo>
                    <a:pt x="25608" y="6594"/>
                  </a:lnTo>
                  <a:lnTo>
                    <a:pt x="0" y="0"/>
                  </a:lnTo>
                  <a:lnTo>
                    <a:pt x="42186" y="87612"/>
                  </a:lnTo>
                  <a:lnTo>
                    <a:pt x="872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1790270" y="3300644"/>
            <a:ext cx="2648585" cy="100266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1250" spc="-50" dirty="0">
                <a:latin typeface="Arial MT"/>
                <a:cs typeface="Arial MT"/>
              </a:rPr>
              <a:t>p</a:t>
            </a:r>
            <a:endParaRPr sz="1250">
              <a:latin typeface="Arial MT"/>
              <a:cs typeface="Arial MT"/>
            </a:endParaRPr>
          </a:p>
          <a:p>
            <a:pPr marL="481330">
              <a:lnSpc>
                <a:spcPct val="100000"/>
              </a:lnSpc>
              <a:spcBef>
                <a:spcPts val="490"/>
              </a:spcBef>
            </a:pPr>
            <a:r>
              <a:rPr sz="1250" dirty="0">
                <a:latin typeface="Arial MT"/>
                <a:cs typeface="Arial MT"/>
              </a:rPr>
              <a:t>Division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du</a:t>
            </a:r>
            <a:r>
              <a:rPr sz="1250" spc="70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bloc</a:t>
            </a:r>
            <a:r>
              <a:rPr sz="1250" spc="45" dirty="0">
                <a:latin typeface="Arial MT"/>
                <a:cs typeface="Arial MT"/>
              </a:rPr>
              <a:t> </a:t>
            </a:r>
            <a:r>
              <a:rPr sz="1250" spc="-25" dirty="0">
                <a:latin typeface="Arial MT"/>
                <a:cs typeface="Arial MT"/>
              </a:rPr>
              <a:t>01</a:t>
            </a:r>
            <a:r>
              <a:rPr sz="1275" spc="-37" baseline="-26143" dirty="0">
                <a:latin typeface="Arial MT"/>
                <a:cs typeface="Arial MT"/>
              </a:rPr>
              <a:t>2</a:t>
            </a:r>
            <a:r>
              <a:rPr sz="1275" spc="217" baseline="-26143" dirty="0">
                <a:latin typeface="Arial MT"/>
                <a:cs typeface="Arial MT"/>
              </a:rPr>
              <a:t> </a:t>
            </a:r>
            <a:r>
              <a:rPr sz="1250" dirty="0">
                <a:latin typeface="Arial MT"/>
                <a:cs typeface="Arial MT"/>
              </a:rPr>
              <a:t>(</a:t>
            </a:r>
            <a:r>
              <a:rPr sz="1250" i="1" dirty="0">
                <a:latin typeface="Arial"/>
                <a:cs typeface="Arial"/>
              </a:rPr>
              <a:t>p</a:t>
            </a:r>
            <a:r>
              <a:rPr sz="1250" i="1" spc="50" dirty="0">
                <a:latin typeface="Arial"/>
                <a:cs typeface="Arial"/>
              </a:rPr>
              <a:t> </a:t>
            </a:r>
            <a:r>
              <a:rPr sz="1250" dirty="0">
                <a:latin typeface="Arial MT"/>
                <a:cs typeface="Arial MT"/>
              </a:rPr>
              <a:t>= </a:t>
            </a:r>
            <a:r>
              <a:rPr sz="1250" spc="-20" dirty="0">
                <a:latin typeface="Arial MT"/>
                <a:cs typeface="Arial MT"/>
              </a:rPr>
              <a:t>01</a:t>
            </a:r>
            <a:r>
              <a:rPr sz="1275" spc="-30" baseline="-26143" dirty="0">
                <a:latin typeface="Arial MT"/>
                <a:cs typeface="Arial MT"/>
              </a:rPr>
              <a:t>2</a:t>
            </a:r>
            <a:r>
              <a:rPr sz="1250" spc="-20" dirty="0">
                <a:latin typeface="Arial MT"/>
                <a:cs typeface="Arial MT"/>
              </a:rPr>
              <a:t>)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250">
              <a:latin typeface="Arial MT"/>
              <a:cs typeface="Arial MT"/>
            </a:endParaRPr>
          </a:p>
          <a:p>
            <a:pPr marL="238760" algn="ctr">
              <a:lnSpc>
                <a:spcPct val="100000"/>
              </a:lnSpc>
            </a:pPr>
            <a:r>
              <a:rPr sz="1250" spc="-10" dirty="0">
                <a:solidFill>
                  <a:srgbClr val="FF0000"/>
                </a:solidFill>
                <a:latin typeface="Arial MT"/>
                <a:cs typeface="Arial MT"/>
              </a:rPr>
              <a:t>10111</a:t>
            </a:r>
            <a:r>
              <a:rPr sz="1275" spc="-15" baseline="-26143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4228018" y="4809956"/>
            <a:ext cx="680720" cy="253365"/>
            <a:chOff x="4228018" y="4809956"/>
            <a:chExt cx="680720" cy="253365"/>
          </a:xfrm>
        </p:grpSpPr>
        <p:sp>
          <p:nvSpPr>
            <p:cNvPr id="111" name="object 111"/>
            <p:cNvSpPr/>
            <p:nvPr/>
          </p:nvSpPr>
          <p:spPr>
            <a:xfrm>
              <a:off x="4233098" y="4815036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669962" y="0"/>
                  </a:moveTo>
                  <a:lnTo>
                    <a:pt x="0" y="0"/>
                  </a:lnTo>
                  <a:lnTo>
                    <a:pt x="0" y="242718"/>
                  </a:lnTo>
                  <a:lnTo>
                    <a:pt x="669962" y="242718"/>
                  </a:lnTo>
                  <a:lnTo>
                    <a:pt x="66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4233098" y="4815036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0" y="242718"/>
                  </a:moveTo>
                  <a:lnTo>
                    <a:pt x="669962" y="242718"/>
                  </a:lnTo>
                  <a:lnTo>
                    <a:pt x="669962" y="0"/>
                  </a:lnTo>
                  <a:lnTo>
                    <a:pt x="0" y="0"/>
                  </a:lnTo>
                  <a:lnTo>
                    <a:pt x="0" y="242718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539656" y="4811541"/>
            <a:ext cx="342519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25"/>
              </a:spcBef>
              <a:tabLst>
                <a:tab pos="770890" algn="l"/>
                <a:tab pos="1437640" algn="l"/>
                <a:tab pos="2103755" algn="l"/>
                <a:tab pos="2774315" algn="l"/>
              </a:tabLst>
            </a:pPr>
            <a:r>
              <a:rPr sz="1250" spc="-10" dirty="0">
                <a:latin typeface="Arial MT"/>
                <a:cs typeface="Arial MT"/>
              </a:rPr>
              <a:t>00001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11010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01111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10100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10" dirty="0">
                <a:latin typeface="Arial MT"/>
                <a:cs typeface="Arial MT"/>
              </a:rPr>
              <a:t>10101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4228018" y="5052688"/>
            <a:ext cx="680720" cy="253365"/>
            <a:chOff x="4228018" y="5052688"/>
            <a:chExt cx="680720" cy="253365"/>
          </a:xfrm>
        </p:grpSpPr>
        <p:sp>
          <p:nvSpPr>
            <p:cNvPr id="115" name="object 115"/>
            <p:cNvSpPr/>
            <p:nvPr/>
          </p:nvSpPr>
          <p:spPr>
            <a:xfrm>
              <a:off x="4233098" y="5057768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669962" y="0"/>
                  </a:moveTo>
                  <a:lnTo>
                    <a:pt x="0" y="0"/>
                  </a:lnTo>
                  <a:lnTo>
                    <a:pt x="0" y="243041"/>
                  </a:lnTo>
                  <a:lnTo>
                    <a:pt x="669962" y="243041"/>
                  </a:lnTo>
                  <a:lnTo>
                    <a:pt x="6699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33098" y="5057768"/>
              <a:ext cx="670560" cy="243204"/>
            </a:xfrm>
            <a:custGeom>
              <a:avLst/>
              <a:gdLst/>
              <a:ahLst/>
              <a:cxnLst/>
              <a:rect l="l" t="t" r="r" b="b"/>
              <a:pathLst>
                <a:path w="670560" h="243204">
                  <a:moveTo>
                    <a:pt x="0" y="243041"/>
                  </a:moveTo>
                  <a:lnTo>
                    <a:pt x="669962" y="243041"/>
                  </a:lnTo>
                  <a:lnTo>
                    <a:pt x="669962" y="0"/>
                  </a:lnTo>
                  <a:lnTo>
                    <a:pt x="0" y="0"/>
                  </a:lnTo>
                  <a:lnTo>
                    <a:pt x="0" y="243041"/>
                  </a:lnTo>
                  <a:close/>
                </a:path>
              </a:pathLst>
            </a:custGeom>
            <a:ln w="98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4222327" y="5054193"/>
            <a:ext cx="69215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"/>
              </a:spcBef>
            </a:pPr>
            <a:r>
              <a:rPr sz="1250" spc="-10" dirty="0">
                <a:latin typeface="Arial MT"/>
                <a:cs typeface="Arial MT"/>
              </a:rPr>
              <a:t>11101</a:t>
            </a:r>
            <a:r>
              <a:rPr sz="1275" spc="-15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4233098" y="4814968"/>
            <a:ext cx="670560" cy="486409"/>
          </a:xfrm>
          <a:custGeom>
            <a:avLst/>
            <a:gdLst/>
            <a:ahLst/>
            <a:cxnLst/>
            <a:rect l="l" t="t" r="r" b="b"/>
            <a:pathLst>
              <a:path w="670560" h="486410">
                <a:moveTo>
                  <a:pt x="0" y="485841"/>
                </a:moveTo>
                <a:lnTo>
                  <a:pt x="670003" y="485841"/>
                </a:lnTo>
                <a:lnTo>
                  <a:pt x="670003" y="0"/>
                </a:lnTo>
                <a:lnTo>
                  <a:pt x="0" y="0"/>
                </a:lnTo>
                <a:lnTo>
                  <a:pt x="0" y="485841"/>
                </a:lnTo>
              </a:path>
            </a:pathLst>
          </a:custGeom>
          <a:ln w="29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3683738" y="5297248"/>
            <a:ext cx="110363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20725" algn="l"/>
              </a:tabLst>
            </a:pPr>
            <a:r>
              <a:rPr sz="1250" spc="-20" dirty="0">
                <a:latin typeface="Arial MT"/>
                <a:cs typeface="Arial MT"/>
              </a:rPr>
              <a:t>100</a:t>
            </a:r>
            <a:r>
              <a:rPr sz="1275" spc="-30" baseline="-26143" dirty="0">
                <a:latin typeface="Arial MT"/>
                <a:cs typeface="Arial MT"/>
              </a:rPr>
              <a:t>2</a:t>
            </a:r>
            <a:r>
              <a:rPr sz="1275" baseline="-26143" dirty="0">
                <a:latin typeface="Arial MT"/>
                <a:cs typeface="Arial MT"/>
              </a:rPr>
              <a:t>	</a:t>
            </a:r>
            <a:r>
              <a:rPr sz="1250" spc="-20" dirty="0">
                <a:latin typeface="Arial MT"/>
                <a:cs typeface="Arial MT"/>
              </a:rPr>
              <a:t>101</a:t>
            </a:r>
            <a:r>
              <a:rPr sz="1275" spc="-30" baseline="-26143" dirty="0">
                <a:latin typeface="Arial MT"/>
                <a:cs typeface="Arial MT"/>
              </a:rPr>
              <a:t>2</a:t>
            </a:r>
            <a:endParaRPr sz="1275" baseline="-26143">
              <a:latin typeface="Arial MT"/>
              <a:cs typeface="Arial MT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685800" y="35814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281" y="642741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47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1841" y="392049"/>
            <a:ext cx="640588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11000</a:t>
            </a:r>
            <a:r>
              <a:rPr sz="3150" b="1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,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11001</a:t>
            </a:r>
            <a:r>
              <a:rPr sz="3150" b="1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sz="3150" b="1" spc="442" baseline="-21164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et</a:t>
            </a:r>
            <a:endParaRPr sz="32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</a:pP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10110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037" y="3276600"/>
            <a:ext cx="8086725" cy="1851660"/>
            <a:chOff x="681037" y="3276600"/>
            <a:chExt cx="8086725" cy="1851660"/>
          </a:xfrm>
        </p:grpSpPr>
        <p:sp>
          <p:nvSpPr>
            <p:cNvPr id="5" name="object 5"/>
            <p:cNvSpPr/>
            <p:nvPr/>
          </p:nvSpPr>
          <p:spPr>
            <a:xfrm>
              <a:off x="1238250" y="3276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3581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1617" y="4714990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19" h="263525">
                  <a:moveTo>
                    <a:pt x="845465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5465" y="262996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5803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19" h="263525">
                  <a:moveTo>
                    <a:pt x="845465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5465" y="262996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5803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19" h="263525">
                  <a:moveTo>
                    <a:pt x="0" y="262996"/>
                  </a:moveTo>
                  <a:lnTo>
                    <a:pt x="845465" y="262996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5803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19" h="262889">
                  <a:moveTo>
                    <a:pt x="845465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5465" y="262644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5803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19" h="262889">
                  <a:moveTo>
                    <a:pt x="0" y="262644"/>
                  </a:moveTo>
                  <a:lnTo>
                    <a:pt x="845465" y="262644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5803" y="4585474"/>
              <a:ext cx="845819" cy="525780"/>
            </a:xfrm>
            <a:custGeom>
              <a:avLst/>
              <a:gdLst/>
              <a:ahLst/>
              <a:cxnLst/>
              <a:rect l="l" t="t" r="r" b="b"/>
              <a:pathLst>
                <a:path w="845819" h="525779">
                  <a:moveTo>
                    <a:pt x="0" y="525641"/>
                  </a:moveTo>
                  <a:lnTo>
                    <a:pt x="845470" y="525641"/>
                  </a:lnTo>
                  <a:lnTo>
                    <a:pt x="845470" y="0"/>
                  </a:lnTo>
                  <a:lnTo>
                    <a:pt x="0" y="0"/>
                  </a:lnTo>
                  <a:lnTo>
                    <a:pt x="0" y="525641"/>
                  </a:lnTo>
                </a:path>
              </a:pathLst>
            </a:custGeom>
            <a:ln w="33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81274" y="4585518"/>
              <a:ext cx="849630" cy="263525"/>
            </a:xfrm>
            <a:custGeom>
              <a:avLst/>
              <a:gdLst/>
              <a:ahLst/>
              <a:cxnLst/>
              <a:rect l="l" t="t" r="r" b="b"/>
              <a:pathLst>
                <a:path w="849630" h="263525">
                  <a:moveTo>
                    <a:pt x="849569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9569" y="262996"/>
                  </a:lnTo>
                  <a:lnTo>
                    <a:pt x="849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81274" y="4585518"/>
              <a:ext cx="849630" cy="263525"/>
            </a:xfrm>
            <a:custGeom>
              <a:avLst/>
              <a:gdLst/>
              <a:ahLst/>
              <a:cxnLst/>
              <a:rect l="l" t="t" r="r" b="b"/>
              <a:pathLst>
                <a:path w="849630" h="263525">
                  <a:moveTo>
                    <a:pt x="0" y="262996"/>
                  </a:moveTo>
                  <a:lnTo>
                    <a:pt x="849569" y="262996"/>
                  </a:lnTo>
                  <a:lnTo>
                    <a:pt x="849569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81274" y="4848470"/>
              <a:ext cx="849630" cy="262890"/>
            </a:xfrm>
            <a:custGeom>
              <a:avLst/>
              <a:gdLst/>
              <a:ahLst/>
              <a:cxnLst/>
              <a:rect l="l" t="t" r="r" b="b"/>
              <a:pathLst>
                <a:path w="849630" h="262889">
                  <a:moveTo>
                    <a:pt x="849569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9569" y="262644"/>
                  </a:lnTo>
                  <a:lnTo>
                    <a:pt x="8495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1274" y="4848470"/>
              <a:ext cx="849630" cy="262890"/>
            </a:xfrm>
            <a:custGeom>
              <a:avLst/>
              <a:gdLst/>
              <a:ahLst/>
              <a:cxnLst/>
              <a:rect l="l" t="t" r="r" b="b"/>
              <a:pathLst>
                <a:path w="849630" h="262889">
                  <a:moveTo>
                    <a:pt x="0" y="262644"/>
                  </a:moveTo>
                  <a:lnTo>
                    <a:pt x="849569" y="262644"/>
                  </a:lnTo>
                  <a:lnTo>
                    <a:pt x="849569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81274" y="4585474"/>
              <a:ext cx="849630" cy="525780"/>
            </a:xfrm>
            <a:custGeom>
              <a:avLst/>
              <a:gdLst/>
              <a:ahLst/>
              <a:cxnLst/>
              <a:rect l="l" t="t" r="r" b="b"/>
              <a:pathLst>
                <a:path w="849630" h="525779">
                  <a:moveTo>
                    <a:pt x="0" y="525641"/>
                  </a:moveTo>
                  <a:lnTo>
                    <a:pt x="849501" y="525641"/>
                  </a:lnTo>
                  <a:lnTo>
                    <a:pt x="849501" y="0"/>
                  </a:lnTo>
                  <a:lnTo>
                    <a:pt x="0" y="0"/>
                  </a:lnTo>
                  <a:lnTo>
                    <a:pt x="0" y="525641"/>
                  </a:lnTo>
                </a:path>
              </a:pathLst>
            </a:custGeom>
            <a:ln w="330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30775" y="4585518"/>
              <a:ext cx="845185" cy="263525"/>
            </a:xfrm>
            <a:custGeom>
              <a:avLst/>
              <a:gdLst/>
              <a:ahLst/>
              <a:cxnLst/>
              <a:rect l="l" t="t" r="r" b="b"/>
              <a:pathLst>
                <a:path w="845185" h="263525">
                  <a:moveTo>
                    <a:pt x="845055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5055" y="262996"/>
                  </a:lnTo>
                  <a:lnTo>
                    <a:pt x="845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30775" y="4585518"/>
              <a:ext cx="845185" cy="263525"/>
            </a:xfrm>
            <a:custGeom>
              <a:avLst/>
              <a:gdLst/>
              <a:ahLst/>
              <a:cxnLst/>
              <a:rect l="l" t="t" r="r" b="b"/>
              <a:pathLst>
                <a:path w="845185" h="263525">
                  <a:moveTo>
                    <a:pt x="0" y="262996"/>
                  </a:moveTo>
                  <a:lnTo>
                    <a:pt x="845055" y="262996"/>
                  </a:lnTo>
                  <a:lnTo>
                    <a:pt x="845055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30775" y="4848470"/>
              <a:ext cx="845185" cy="262890"/>
            </a:xfrm>
            <a:custGeom>
              <a:avLst/>
              <a:gdLst/>
              <a:ahLst/>
              <a:cxnLst/>
              <a:rect l="l" t="t" r="r" b="b"/>
              <a:pathLst>
                <a:path w="845185" h="262889">
                  <a:moveTo>
                    <a:pt x="845055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5055" y="262644"/>
                  </a:lnTo>
                  <a:lnTo>
                    <a:pt x="845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30775" y="4848470"/>
              <a:ext cx="845185" cy="262890"/>
            </a:xfrm>
            <a:custGeom>
              <a:avLst/>
              <a:gdLst/>
              <a:ahLst/>
              <a:cxnLst/>
              <a:rect l="l" t="t" r="r" b="b"/>
              <a:pathLst>
                <a:path w="845185" h="262889">
                  <a:moveTo>
                    <a:pt x="0" y="262644"/>
                  </a:moveTo>
                  <a:lnTo>
                    <a:pt x="845055" y="262644"/>
                  </a:lnTo>
                  <a:lnTo>
                    <a:pt x="845055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0775" y="4585474"/>
              <a:ext cx="845185" cy="525780"/>
            </a:xfrm>
            <a:custGeom>
              <a:avLst/>
              <a:gdLst/>
              <a:ahLst/>
              <a:cxnLst/>
              <a:rect l="l" t="t" r="r" b="b"/>
              <a:pathLst>
                <a:path w="845185" h="525779">
                  <a:moveTo>
                    <a:pt x="0" y="525641"/>
                  </a:moveTo>
                  <a:lnTo>
                    <a:pt x="845140" y="525641"/>
                  </a:lnTo>
                  <a:lnTo>
                    <a:pt x="845140" y="0"/>
                  </a:lnTo>
                  <a:lnTo>
                    <a:pt x="0" y="0"/>
                  </a:lnTo>
                  <a:lnTo>
                    <a:pt x="0" y="525641"/>
                  </a:lnTo>
                </a:path>
              </a:pathLst>
            </a:custGeom>
            <a:ln w="33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5916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20" h="263525">
                  <a:moveTo>
                    <a:pt x="845465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5465" y="262996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5916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20" h="263525">
                  <a:moveTo>
                    <a:pt x="0" y="262996"/>
                  </a:moveTo>
                  <a:lnTo>
                    <a:pt x="845465" y="262996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75916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20" h="262889">
                  <a:moveTo>
                    <a:pt x="845465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5465" y="262644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75916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20" h="262889">
                  <a:moveTo>
                    <a:pt x="0" y="262644"/>
                  </a:moveTo>
                  <a:lnTo>
                    <a:pt x="845465" y="262644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824706" y="2386497"/>
            <a:ext cx="3700145" cy="561975"/>
            <a:chOff x="824706" y="2386497"/>
            <a:chExt cx="3700145" cy="561975"/>
          </a:xfrm>
        </p:grpSpPr>
        <p:sp>
          <p:nvSpPr>
            <p:cNvPr id="28" name="object 28"/>
            <p:cNvSpPr/>
            <p:nvPr/>
          </p:nvSpPr>
          <p:spPr>
            <a:xfrm>
              <a:off x="1011421" y="2533905"/>
              <a:ext cx="918844" cy="263525"/>
            </a:xfrm>
            <a:custGeom>
              <a:avLst/>
              <a:gdLst/>
              <a:ahLst/>
              <a:cxnLst/>
              <a:rect l="l" t="t" r="r" b="b"/>
              <a:pathLst>
                <a:path w="918844" h="263525">
                  <a:moveTo>
                    <a:pt x="918385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18385" y="263066"/>
                  </a:lnTo>
                  <a:lnTo>
                    <a:pt x="918385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2169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17939" y="263066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2169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066"/>
                  </a:moveTo>
                  <a:lnTo>
                    <a:pt x="917939" y="263066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2169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17939" y="263418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2169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418"/>
                  </a:moveTo>
                  <a:lnTo>
                    <a:pt x="917939" y="263418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2169" y="2403959"/>
              <a:ext cx="918210" cy="527050"/>
            </a:xfrm>
            <a:custGeom>
              <a:avLst/>
              <a:gdLst/>
              <a:ahLst/>
              <a:cxnLst/>
              <a:rect l="l" t="t" r="r" b="b"/>
              <a:pathLst>
                <a:path w="918210" h="527050">
                  <a:moveTo>
                    <a:pt x="0" y="526470"/>
                  </a:moveTo>
                  <a:lnTo>
                    <a:pt x="917945" y="526470"/>
                  </a:lnTo>
                  <a:lnTo>
                    <a:pt x="917945" y="0"/>
                  </a:lnTo>
                  <a:lnTo>
                    <a:pt x="0" y="0"/>
                  </a:lnTo>
                  <a:lnTo>
                    <a:pt x="0" y="526470"/>
                  </a:lnTo>
                </a:path>
              </a:pathLst>
            </a:custGeom>
            <a:ln w="33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760114" y="2403959"/>
              <a:ext cx="923290" cy="263525"/>
            </a:xfrm>
            <a:custGeom>
              <a:avLst/>
              <a:gdLst/>
              <a:ahLst/>
              <a:cxnLst/>
              <a:rect l="l" t="t" r="r" b="b"/>
              <a:pathLst>
                <a:path w="923289" h="263525">
                  <a:moveTo>
                    <a:pt x="922843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22843" y="263066"/>
                  </a:lnTo>
                  <a:lnTo>
                    <a:pt x="9228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60114" y="2403959"/>
              <a:ext cx="923290" cy="263525"/>
            </a:xfrm>
            <a:custGeom>
              <a:avLst/>
              <a:gdLst/>
              <a:ahLst/>
              <a:cxnLst/>
              <a:rect l="l" t="t" r="r" b="b"/>
              <a:pathLst>
                <a:path w="923289" h="263525">
                  <a:moveTo>
                    <a:pt x="0" y="263066"/>
                  </a:moveTo>
                  <a:lnTo>
                    <a:pt x="922843" y="263066"/>
                  </a:lnTo>
                  <a:lnTo>
                    <a:pt x="922843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60114" y="2667012"/>
              <a:ext cx="923290" cy="263525"/>
            </a:xfrm>
            <a:custGeom>
              <a:avLst/>
              <a:gdLst/>
              <a:ahLst/>
              <a:cxnLst/>
              <a:rect l="l" t="t" r="r" b="b"/>
              <a:pathLst>
                <a:path w="923289" h="263525">
                  <a:moveTo>
                    <a:pt x="922843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22843" y="263418"/>
                  </a:lnTo>
                  <a:lnTo>
                    <a:pt x="9228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60114" y="2667012"/>
              <a:ext cx="923290" cy="263525"/>
            </a:xfrm>
            <a:custGeom>
              <a:avLst/>
              <a:gdLst/>
              <a:ahLst/>
              <a:cxnLst/>
              <a:rect l="l" t="t" r="r" b="b"/>
              <a:pathLst>
                <a:path w="923289" h="263525">
                  <a:moveTo>
                    <a:pt x="0" y="263418"/>
                  </a:moveTo>
                  <a:lnTo>
                    <a:pt x="922843" y="263418"/>
                  </a:lnTo>
                  <a:lnTo>
                    <a:pt x="922843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60114" y="2403959"/>
              <a:ext cx="923290" cy="527050"/>
            </a:xfrm>
            <a:custGeom>
              <a:avLst/>
              <a:gdLst/>
              <a:ahLst/>
              <a:cxnLst/>
              <a:rect l="l" t="t" r="r" b="b"/>
              <a:pathLst>
                <a:path w="923289" h="527050">
                  <a:moveTo>
                    <a:pt x="0" y="526470"/>
                  </a:moveTo>
                  <a:lnTo>
                    <a:pt x="922843" y="526470"/>
                  </a:lnTo>
                  <a:lnTo>
                    <a:pt x="922843" y="0"/>
                  </a:lnTo>
                  <a:lnTo>
                    <a:pt x="0" y="0"/>
                  </a:lnTo>
                  <a:lnTo>
                    <a:pt x="0" y="526470"/>
                  </a:lnTo>
                </a:path>
              </a:pathLst>
            </a:custGeom>
            <a:ln w="336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82957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17939" y="263066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82957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066"/>
                  </a:moveTo>
                  <a:lnTo>
                    <a:pt x="917939" y="263066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82957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17939" y="263418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82957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418"/>
                  </a:moveTo>
                  <a:lnTo>
                    <a:pt x="917939" y="263418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82957" y="2403959"/>
              <a:ext cx="918210" cy="527050"/>
            </a:xfrm>
            <a:custGeom>
              <a:avLst/>
              <a:gdLst/>
              <a:ahLst/>
              <a:cxnLst/>
              <a:rect l="l" t="t" r="r" b="b"/>
              <a:pathLst>
                <a:path w="918210" h="527050">
                  <a:moveTo>
                    <a:pt x="0" y="526470"/>
                  </a:moveTo>
                  <a:lnTo>
                    <a:pt x="918032" y="526470"/>
                  </a:lnTo>
                  <a:lnTo>
                    <a:pt x="918032" y="0"/>
                  </a:lnTo>
                  <a:lnTo>
                    <a:pt x="0" y="0"/>
                  </a:lnTo>
                  <a:lnTo>
                    <a:pt x="0" y="526470"/>
                  </a:lnTo>
                </a:path>
              </a:pathLst>
            </a:custGeom>
            <a:ln w="33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00990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17939" y="263066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00990" y="2403959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066"/>
                  </a:moveTo>
                  <a:lnTo>
                    <a:pt x="917939" y="263066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00990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917939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17939" y="263418"/>
                  </a:lnTo>
                  <a:lnTo>
                    <a:pt x="917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00990" y="2667012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418"/>
                  </a:moveTo>
                  <a:lnTo>
                    <a:pt x="917939" y="263418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592852" y="2664540"/>
            <a:ext cx="934719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sz="1350" spc="204" dirty="0">
                <a:latin typeface="Arial MT"/>
                <a:cs typeface="Arial MT"/>
              </a:rPr>
              <a:t>11011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600990" y="2403959"/>
            <a:ext cx="918210" cy="527050"/>
          </a:xfrm>
          <a:custGeom>
            <a:avLst/>
            <a:gdLst/>
            <a:ahLst/>
            <a:cxnLst/>
            <a:rect l="l" t="t" r="r" b="b"/>
            <a:pathLst>
              <a:path w="918210" h="527050">
                <a:moveTo>
                  <a:pt x="0" y="526470"/>
                </a:moveTo>
                <a:lnTo>
                  <a:pt x="917846" y="526470"/>
                </a:lnTo>
                <a:lnTo>
                  <a:pt x="917846" y="0"/>
                </a:lnTo>
                <a:lnTo>
                  <a:pt x="0" y="0"/>
                </a:lnTo>
                <a:lnTo>
                  <a:pt x="0" y="526470"/>
                </a:lnTo>
              </a:path>
            </a:pathLst>
          </a:custGeom>
          <a:ln w="336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035663" y="2927607"/>
            <a:ext cx="5327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85" dirty="0">
                <a:latin typeface="Arial MT"/>
                <a:cs typeface="Arial MT"/>
              </a:rPr>
              <a:t>000</a:t>
            </a:r>
            <a:r>
              <a:rPr sz="1350" spc="27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958525" y="2927607"/>
            <a:ext cx="5327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85" dirty="0">
                <a:latin typeface="Arial MT"/>
                <a:cs typeface="Arial MT"/>
              </a:rPr>
              <a:t>001</a:t>
            </a:r>
            <a:r>
              <a:rPr sz="1350" spc="27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38732" y="2927607"/>
            <a:ext cx="4083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75" dirty="0">
                <a:latin typeface="Arial MT"/>
                <a:cs typeface="Arial MT"/>
              </a:rPr>
              <a:t>10</a:t>
            </a:r>
            <a:r>
              <a:rPr sz="1350" spc="262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857135" y="2927607"/>
            <a:ext cx="40767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75" dirty="0">
                <a:latin typeface="Arial MT"/>
                <a:cs typeface="Arial MT"/>
              </a:rPr>
              <a:t>11</a:t>
            </a:r>
            <a:r>
              <a:rPr sz="1350" spc="262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57081" y="3193497"/>
            <a:ext cx="121285" cy="263525"/>
            <a:chOff x="3057081" y="3193497"/>
            <a:chExt cx="121285" cy="263525"/>
          </a:xfrm>
        </p:grpSpPr>
        <p:sp>
          <p:nvSpPr>
            <p:cNvPr id="55" name="object 55"/>
            <p:cNvSpPr/>
            <p:nvPr/>
          </p:nvSpPr>
          <p:spPr>
            <a:xfrm>
              <a:off x="3119496" y="3263548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39">
                  <a:moveTo>
                    <a:pt x="0" y="193016"/>
                  </a:moveTo>
                  <a:lnTo>
                    <a:pt x="0" y="0"/>
                  </a:lnTo>
                </a:path>
              </a:pathLst>
            </a:custGeom>
            <a:ln w="133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057081" y="3193497"/>
              <a:ext cx="121285" cy="94615"/>
            </a:xfrm>
            <a:custGeom>
              <a:avLst/>
              <a:gdLst/>
              <a:ahLst/>
              <a:cxnLst/>
              <a:rect l="l" t="t" r="r" b="b"/>
              <a:pathLst>
                <a:path w="121285" h="94614">
                  <a:moveTo>
                    <a:pt x="62415" y="0"/>
                  </a:moveTo>
                  <a:lnTo>
                    <a:pt x="0" y="94576"/>
                  </a:lnTo>
                  <a:lnTo>
                    <a:pt x="40124" y="84069"/>
                  </a:lnTo>
                  <a:lnTo>
                    <a:pt x="84707" y="84069"/>
                  </a:lnTo>
                  <a:lnTo>
                    <a:pt x="120744" y="94576"/>
                  </a:lnTo>
                  <a:lnTo>
                    <a:pt x="624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3600990" y="1614422"/>
            <a:ext cx="918210" cy="1842770"/>
          </a:xfrm>
          <a:custGeom>
            <a:avLst/>
            <a:gdLst/>
            <a:ahLst/>
            <a:cxnLst/>
            <a:rect l="l" t="t" r="r" b="b"/>
            <a:pathLst>
              <a:path w="918210" h="1842770">
                <a:moveTo>
                  <a:pt x="917846" y="263066"/>
                </a:moveTo>
                <a:lnTo>
                  <a:pt x="917846" y="1842141"/>
                </a:lnTo>
              </a:path>
              <a:path w="918210" h="1842770">
                <a:moveTo>
                  <a:pt x="0" y="263066"/>
                </a:moveTo>
                <a:lnTo>
                  <a:pt x="917939" y="263066"/>
                </a:lnTo>
                <a:lnTo>
                  <a:pt x="917939" y="0"/>
                </a:lnTo>
                <a:lnTo>
                  <a:pt x="0" y="0"/>
                </a:lnTo>
                <a:lnTo>
                  <a:pt x="0" y="263066"/>
                </a:lnTo>
                <a:close/>
              </a:path>
            </a:pathLst>
          </a:custGeom>
          <a:ln w="119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592852" y="1611892"/>
            <a:ext cx="934719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sz="1350" spc="204" dirty="0">
                <a:latin typeface="Arial MT"/>
                <a:cs typeface="Arial MT"/>
              </a:rPr>
              <a:t>10111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583527" y="1596916"/>
            <a:ext cx="1871345" cy="1351280"/>
            <a:chOff x="3583527" y="1596916"/>
            <a:chExt cx="1871345" cy="1351280"/>
          </a:xfrm>
        </p:grpSpPr>
        <p:sp>
          <p:nvSpPr>
            <p:cNvPr id="60" name="object 60"/>
            <p:cNvSpPr/>
            <p:nvPr/>
          </p:nvSpPr>
          <p:spPr>
            <a:xfrm>
              <a:off x="3600990" y="1877533"/>
              <a:ext cx="918210" cy="263525"/>
            </a:xfrm>
            <a:custGeom>
              <a:avLst/>
              <a:gdLst/>
              <a:ahLst/>
              <a:cxnLst/>
              <a:rect l="l" t="t" r="r" b="b"/>
              <a:pathLst>
                <a:path w="918210" h="263525">
                  <a:moveTo>
                    <a:pt x="0" y="263066"/>
                  </a:moveTo>
                  <a:lnTo>
                    <a:pt x="917939" y="263066"/>
                  </a:lnTo>
                  <a:lnTo>
                    <a:pt x="917939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00990" y="1614378"/>
              <a:ext cx="918210" cy="526415"/>
            </a:xfrm>
            <a:custGeom>
              <a:avLst/>
              <a:gdLst/>
              <a:ahLst/>
              <a:cxnLst/>
              <a:rect l="l" t="t" r="r" b="b"/>
              <a:pathLst>
                <a:path w="918210" h="526414">
                  <a:moveTo>
                    <a:pt x="0" y="526221"/>
                  </a:moveTo>
                  <a:lnTo>
                    <a:pt x="917846" y="526221"/>
                  </a:lnTo>
                  <a:lnTo>
                    <a:pt x="917846" y="0"/>
                  </a:lnTo>
                  <a:lnTo>
                    <a:pt x="0" y="0"/>
                  </a:lnTo>
                  <a:lnTo>
                    <a:pt x="0" y="526221"/>
                  </a:lnTo>
                </a:path>
              </a:pathLst>
            </a:custGeom>
            <a:ln w="33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00130" y="2210987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39">
                  <a:moveTo>
                    <a:pt x="0" y="192972"/>
                  </a:moveTo>
                  <a:lnTo>
                    <a:pt x="0" y="0"/>
                  </a:lnTo>
                </a:path>
              </a:pathLst>
            </a:custGeom>
            <a:ln w="133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042359" y="2140600"/>
              <a:ext cx="120650" cy="95250"/>
            </a:xfrm>
            <a:custGeom>
              <a:avLst/>
              <a:gdLst/>
              <a:ahLst/>
              <a:cxnLst/>
              <a:rect l="l" t="t" r="r" b="b"/>
              <a:pathLst>
                <a:path w="120650" h="95250">
                  <a:moveTo>
                    <a:pt x="57771" y="0"/>
                  </a:moveTo>
                  <a:lnTo>
                    <a:pt x="0" y="94825"/>
                  </a:lnTo>
                  <a:lnTo>
                    <a:pt x="39938" y="84435"/>
                  </a:lnTo>
                  <a:lnTo>
                    <a:pt x="80063" y="84435"/>
                  </a:lnTo>
                  <a:lnTo>
                    <a:pt x="120187" y="94825"/>
                  </a:lnTo>
                  <a:lnTo>
                    <a:pt x="577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518836" y="2403959"/>
              <a:ext cx="918844" cy="263525"/>
            </a:xfrm>
            <a:custGeom>
              <a:avLst/>
              <a:gdLst/>
              <a:ahLst/>
              <a:cxnLst/>
              <a:rect l="l" t="t" r="r" b="b"/>
              <a:pathLst>
                <a:path w="918845" h="263525">
                  <a:moveTo>
                    <a:pt x="918385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18385" y="263066"/>
                  </a:lnTo>
                  <a:lnTo>
                    <a:pt x="918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518836" y="2403959"/>
              <a:ext cx="918844" cy="263525"/>
            </a:xfrm>
            <a:custGeom>
              <a:avLst/>
              <a:gdLst/>
              <a:ahLst/>
              <a:cxnLst/>
              <a:rect l="l" t="t" r="r" b="b"/>
              <a:pathLst>
                <a:path w="918845" h="263525">
                  <a:moveTo>
                    <a:pt x="0" y="263066"/>
                  </a:moveTo>
                  <a:lnTo>
                    <a:pt x="918385" y="263066"/>
                  </a:lnTo>
                  <a:lnTo>
                    <a:pt x="918385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518836" y="2667012"/>
              <a:ext cx="918844" cy="263525"/>
            </a:xfrm>
            <a:custGeom>
              <a:avLst/>
              <a:gdLst/>
              <a:ahLst/>
              <a:cxnLst/>
              <a:rect l="l" t="t" r="r" b="b"/>
              <a:pathLst>
                <a:path w="918845" h="263525">
                  <a:moveTo>
                    <a:pt x="918385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18385" y="263418"/>
                  </a:lnTo>
                  <a:lnTo>
                    <a:pt x="918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18836" y="2667012"/>
              <a:ext cx="918844" cy="263525"/>
            </a:xfrm>
            <a:custGeom>
              <a:avLst/>
              <a:gdLst/>
              <a:ahLst/>
              <a:cxnLst/>
              <a:rect l="l" t="t" r="r" b="b"/>
              <a:pathLst>
                <a:path w="918845" h="263525">
                  <a:moveTo>
                    <a:pt x="0" y="263418"/>
                  </a:moveTo>
                  <a:lnTo>
                    <a:pt x="918385" y="263418"/>
                  </a:lnTo>
                  <a:lnTo>
                    <a:pt x="918385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18836" y="2403959"/>
              <a:ext cx="918844" cy="527050"/>
            </a:xfrm>
            <a:custGeom>
              <a:avLst/>
              <a:gdLst/>
              <a:ahLst/>
              <a:cxnLst/>
              <a:rect l="l" t="t" r="r" b="b"/>
              <a:pathLst>
                <a:path w="918845" h="527050">
                  <a:moveTo>
                    <a:pt x="0" y="526470"/>
                  </a:moveTo>
                  <a:lnTo>
                    <a:pt x="918403" y="526470"/>
                  </a:lnTo>
                  <a:lnTo>
                    <a:pt x="918403" y="0"/>
                  </a:lnTo>
                  <a:lnTo>
                    <a:pt x="0" y="0"/>
                  </a:lnTo>
                  <a:lnTo>
                    <a:pt x="0" y="526470"/>
                  </a:lnTo>
                </a:path>
              </a:pathLst>
            </a:custGeom>
            <a:ln w="33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4712752" y="2927607"/>
            <a:ext cx="5327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85" dirty="0">
                <a:latin typeface="Arial MT"/>
                <a:cs typeface="Arial MT"/>
              </a:rPr>
              <a:t>100</a:t>
            </a:r>
            <a:r>
              <a:rPr sz="1350" spc="27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431525" y="2398244"/>
            <a:ext cx="934085" cy="274955"/>
            <a:chOff x="5431525" y="2398244"/>
            <a:chExt cx="934085" cy="274955"/>
          </a:xfrm>
        </p:grpSpPr>
        <p:sp>
          <p:nvSpPr>
            <p:cNvPr id="71" name="object 71"/>
            <p:cNvSpPr/>
            <p:nvPr/>
          </p:nvSpPr>
          <p:spPr>
            <a:xfrm>
              <a:off x="5437240" y="2403959"/>
              <a:ext cx="922655" cy="263525"/>
            </a:xfrm>
            <a:custGeom>
              <a:avLst/>
              <a:gdLst/>
              <a:ahLst/>
              <a:cxnLst/>
              <a:rect l="l" t="t" r="r" b="b"/>
              <a:pathLst>
                <a:path w="922654" h="263525">
                  <a:moveTo>
                    <a:pt x="922397" y="0"/>
                  </a:moveTo>
                  <a:lnTo>
                    <a:pt x="0" y="0"/>
                  </a:lnTo>
                  <a:lnTo>
                    <a:pt x="0" y="263066"/>
                  </a:lnTo>
                  <a:lnTo>
                    <a:pt x="922397" y="263066"/>
                  </a:lnTo>
                  <a:lnTo>
                    <a:pt x="9223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437240" y="2403959"/>
              <a:ext cx="922655" cy="263525"/>
            </a:xfrm>
            <a:custGeom>
              <a:avLst/>
              <a:gdLst/>
              <a:ahLst/>
              <a:cxnLst/>
              <a:rect l="l" t="t" r="r" b="b"/>
              <a:pathLst>
                <a:path w="922654" h="263525">
                  <a:moveTo>
                    <a:pt x="0" y="263066"/>
                  </a:moveTo>
                  <a:lnTo>
                    <a:pt x="922397" y="263066"/>
                  </a:lnTo>
                  <a:lnTo>
                    <a:pt x="922397" y="0"/>
                  </a:lnTo>
                  <a:lnTo>
                    <a:pt x="0" y="0"/>
                  </a:lnTo>
                  <a:lnTo>
                    <a:pt x="0" y="263066"/>
                  </a:lnTo>
                  <a:close/>
                </a:path>
              </a:pathLst>
            </a:custGeom>
            <a:ln w="107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1739276" y="2401488"/>
            <a:ext cx="46799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35"/>
              </a:spcBef>
              <a:tabLst>
                <a:tab pos="1050290" algn="l"/>
                <a:tab pos="1967864" algn="l"/>
                <a:tab pos="2886710" algn="l"/>
                <a:tab pos="3808729" algn="l"/>
              </a:tabLst>
            </a:pPr>
            <a:r>
              <a:rPr sz="1350" spc="204" dirty="0">
                <a:latin typeface="Arial MT"/>
                <a:cs typeface="Arial MT"/>
              </a:rPr>
              <a:t>00001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204" dirty="0">
                <a:latin typeface="Arial MT"/>
                <a:cs typeface="Arial MT"/>
              </a:rPr>
              <a:t>11010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204" dirty="0">
                <a:latin typeface="Arial MT"/>
                <a:cs typeface="Arial MT"/>
              </a:rPr>
              <a:t>01111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204" dirty="0">
                <a:latin typeface="Arial MT"/>
                <a:cs typeface="Arial MT"/>
              </a:rPr>
              <a:t>10100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204" dirty="0">
                <a:latin typeface="Arial MT"/>
                <a:cs typeface="Arial MT"/>
              </a:rPr>
              <a:t>10101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5431525" y="2661297"/>
            <a:ext cx="934085" cy="274955"/>
            <a:chOff x="5431525" y="2661297"/>
            <a:chExt cx="934085" cy="274955"/>
          </a:xfrm>
        </p:grpSpPr>
        <p:sp>
          <p:nvSpPr>
            <p:cNvPr id="75" name="object 75"/>
            <p:cNvSpPr/>
            <p:nvPr/>
          </p:nvSpPr>
          <p:spPr>
            <a:xfrm>
              <a:off x="5437240" y="2667012"/>
              <a:ext cx="922655" cy="263525"/>
            </a:xfrm>
            <a:custGeom>
              <a:avLst/>
              <a:gdLst/>
              <a:ahLst/>
              <a:cxnLst/>
              <a:rect l="l" t="t" r="r" b="b"/>
              <a:pathLst>
                <a:path w="922654" h="263525">
                  <a:moveTo>
                    <a:pt x="922397" y="0"/>
                  </a:moveTo>
                  <a:lnTo>
                    <a:pt x="0" y="0"/>
                  </a:lnTo>
                  <a:lnTo>
                    <a:pt x="0" y="263418"/>
                  </a:lnTo>
                  <a:lnTo>
                    <a:pt x="922397" y="263418"/>
                  </a:lnTo>
                  <a:lnTo>
                    <a:pt x="9223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37240" y="2667012"/>
              <a:ext cx="922655" cy="263525"/>
            </a:xfrm>
            <a:custGeom>
              <a:avLst/>
              <a:gdLst/>
              <a:ahLst/>
              <a:cxnLst/>
              <a:rect l="l" t="t" r="r" b="b"/>
              <a:pathLst>
                <a:path w="922654" h="263525">
                  <a:moveTo>
                    <a:pt x="0" y="263418"/>
                  </a:moveTo>
                  <a:lnTo>
                    <a:pt x="922397" y="263418"/>
                  </a:lnTo>
                  <a:lnTo>
                    <a:pt x="922397" y="0"/>
                  </a:lnTo>
                  <a:lnTo>
                    <a:pt x="0" y="0"/>
                  </a:lnTo>
                  <a:lnTo>
                    <a:pt x="0" y="263418"/>
                  </a:lnTo>
                  <a:close/>
                </a:path>
              </a:pathLst>
            </a:custGeom>
            <a:ln w="107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429102" y="2664540"/>
            <a:ext cx="9391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35"/>
              </a:spcBef>
            </a:pPr>
            <a:r>
              <a:rPr sz="1350" spc="204" dirty="0">
                <a:latin typeface="Arial MT"/>
                <a:cs typeface="Arial MT"/>
              </a:rPr>
              <a:t>11101</a:t>
            </a:r>
            <a:r>
              <a:rPr sz="1350" spc="30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437240" y="2403959"/>
            <a:ext cx="922655" cy="527050"/>
          </a:xfrm>
          <a:custGeom>
            <a:avLst/>
            <a:gdLst/>
            <a:ahLst/>
            <a:cxnLst/>
            <a:rect l="l" t="t" r="r" b="b"/>
            <a:pathLst>
              <a:path w="922654" h="527050">
                <a:moveTo>
                  <a:pt x="0" y="526470"/>
                </a:moveTo>
                <a:lnTo>
                  <a:pt x="922490" y="526470"/>
                </a:lnTo>
                <a:lnTo>
                  <a:pt x="922490" y="0"/>
                </a:lnTo>
                <a:lnTo>
                  <a:pt x="0" y="0"/>
                </a:lnTo>
                <a:lnTo>
                  <a:pt x="0" y="526470"/>
                </a:lnTo>
              </a:path>
            </a:pathLst>
          </a:custGeom>
          <a:ln w="336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635243" y="2927607"/>
            <a:ext cx="53276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spc="185" dirty="0">
                <a:latin typeface="Arial MT"/>
                <a:cs typeface="Arial MT"/>
              </a:rPr>
              <a:t>101</a:t>
            </a:r>
            <a:r>
              <a:rPr sz="1350" spc="27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659880" y="4845938"/>
            <a:ext cx="25958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30"/>
              </a:spcBef>
              <a:tabLst>
                <a:tab pos="969010" algn="l"/>
                <a:tab pos="1814195" algn="l"/>
              </a:tabLst>
            </a:pPr>
            <a:r>
              <a:rPr sz="1350" spc="125" dirty="0">
                <a:solidFill>
                  <a:srgbClr val="FF0000"/>
                </a:solidFill>
                <a:latin typeface="Arial MT"/>
                <a:cs typeface="Arial MT"/>
              </a:rPr>
              <a:t>11001</a:t>
            </a:r>
            <a:r>
              <a:rPr sz="1350" spc="187" baseline="-27777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350" baseline="-27777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350" spc="125" dirty="0">
                <a:solidFill>
                  <a:srgbClr val="FF0000"/>
                </a:solidFill>
                <a:latin typeface="Arial MT"/>
                <a:cs typeface="Arial MT"/>
              </a:rPr>
              <a:t>10110</a:t>
            </a:r>
            <a:r>
              <a:rPr sz="1350" spc="187" baseline="-27777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350" baseline="-27777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11011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375916" y="4585474"/>
            <a:ext cx="845819" cy="525780"/>
          </a:xfrm>
          <a:custGeom>
            <a:avLst/>
            <a:gdLst/>
            <a:ahLst/>
            <a:cxnLst/>
            <a:rect l="l" t="t" r="r" b="b"/>
            <a:pathLst>
              <a:path w="845820" h="525779">
                <a:moveTo>
                  <a:pt x="0" y="525641"/>
                </a:moveTo>
                <a:lnTo>
                  <a:pt x="845482" y="525641"/>
                </a:lnTo>
                <a:lnTo>
                  <a:pt x="845482" y="0"/>
                </a:lnTo>
                <a:lnTo>
                  <a:pt x="0" y="0"/>
                </a:lnTo>
                <a:lnTo>
                  <a:pt x="0" y="525641"/>
                </a:lnTo>
              </a:path>
            </a:pathLst>
          </a:custGeom>
          <a:ln w="330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11319" y="5108978"/>
            <a:ext cx="495934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10" dirty="0">
                <a:latin typeface="Arial MT"/>
                <a:cs typeface="Arial MT"/>
              </a:rPr>
              <a:t>000</a:t>
            </a:r>
            <a:r>
              <a:rPr sz="1350" spc="16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860495" y="5108978"/>
            <a:ext cx="49657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10" dirty="0">
                <a:latin typeface="Arial MT"/>
                <a:cs typeface="Arial MT"/>
              </a:rPr>
              <a:t>001</a:t>
            </a:r>
            <a:r>
              <a:rPr sz="1350" spc="16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763387" y="5108978"/>
            <a:ext cx="38163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00" dirty="0">
                <a:latin typeface="Arial MT"/>
                <a:cs typeface="Arial MT"/>
              </a:rPr>
              <a:t>10</a:t>
            </a:r>
            <a:r>
              <a:rPr sz="1350" spc="15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608869" y="5108978"/>
            <a:ext cx="38100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00" dirty="0">
                <a:latin typeface="Arial MT"/>
                <a:cs typeface="Arial MT"/>
              </a:rPr>
              <a:t>11</a:t>
            </a:r>
            <a:r>
              <a:rPr sz="1350" spc="15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862493" y="5634604"/>
            <a:ext cx="13970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9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2875193" y="5374155"/>
            <a:ext cx="111760" cy="263525"/>
            <a:chOff x="2875193" y="5374155"/>
            <a:chExt cx="111760" cy="263525"/>
          </a:xfrm>
        </p:grpSpPr>
        <p:sp>
          <p:nvSpPr>
            <p:cNvPr id="88" name="object 88"/>
            <p:cNvSpPr/>
            <p:nvPr/>
          </p:nvSpPr>
          <p:spPr>
            <a:xfrm>
              <a:off x="2932653" y="5444085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39">
                  <a:moveTo>
                    <a:pt x="0" y="193008"/>
                  </a:moveTo>
                  <a:lnTo>
                    <a:pt x="0" y="0"/>
                  </a:lnTo>
                </a:path>
              </a:pathLst>
            </a:custGeom>
            <a:ln w="12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2875193" y="5374155"/>
              <a:ext cx="111760" cy="94615"/>
            </a:xfrm>
            <a:custGeom>
              <a:avLst/>
              <a:gdLst/>
              <a:ahLst/>
              <a:cxnLst/>
              <a:rect l="l" t="t" r="r" b="b"/>
              <a:pathLst>
                <a:path w="111760" h="94614">
                  <a:moveTo>
                    <a:pt x="57459" y="0"/>
                  </a:moveTo>
                  <a:lnTo>
                    <a:pt x="0" y="94507"/>
                  </a:lnTo>
                  <a:lnTo>
                    <a:pt x="36938" y="83973"/>
                  </a:lnTo>
                  <a:lnTo>
                    <a:pt x="77981" y="83973"/>
                  </a:lnTo>
                  <a:lnTo>
                    <a:pt x="111157" y="94507"/>
                  </a:lnTo>
                  <a:lnTo>
                    <a:pt x="574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/>
          <p:nvPr/>
        </p:nvSpPr>
        <p:spPr>
          <a:xfrm>
            <a:off x="3375916" y="3796837"/>
            <a:ext cx="845819" cy="1840864"/>
          </a:xfrm>
          <a:custGeom>
            <a:avLst/>
            <a:gdLst/>
            <a:ahLst/>
            <a:cxnLst/>
            <a:rect l="l" t="t" r="r" b="b"/>
            <a:pathLst>
              <a:path w="845820" h="1840864">
                <a:moveTo>
                  <a:pt x="845482" y="262996"/>
                </a:moveTo>
                <a:lnTo>
                  <a:pt x="845482" y="1840255"/>
                </a:lnTo>
              </a:path>
              <a:path w="845820" h="1840864">
                <a:moveTo>
                  <a:pt x="0" y="262996"/>
                </a:moveTo>
                <a:lnTo>
                  <a:pt x="845465" y="262996"/>
                </a:lnTo>
                <a:lnTo>
                  <a:pt x="845465" y="0"/>
                </a:lnTo>
                <a:lnTo>
                  <a:pt x="0" y="0"/>
                </a:lnTo>
                <a:lnTo>
                  <a:pt x="0" y="262996"/>
                </a:lnTo>
                <a:close/>
              </a:path>
            </a:pathLst>
          </a:custGeom>
          <a:ln w="11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3031681" y="3454082"/>
            <a:ext cx="1211580" cy="5765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350" spc="175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  <a:p>
            <a:pPr marL="442595">
              <a:lnSpc>
                <a:spcPct val="100000"/>
              </a:lnSpc>
              <a:spcBef>
                <a:spcPts val="1055"/>
              </a:spcBef>
            </a:pPr>
            <a:r>
              <a:rPr sz="1350" spc="125" dirty="0">
                <a:latin typeface="Arial MT"/>
                <a:cs typeface="Arial MT"/>
              </a:rPr>
              <a:t>10111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359088" y="3779966"/>
            <a:ext cx="1724660" cy="1348105"/>
            <a:chOff x="3359088" y="3779966"/>
            <a:chExt cx="1724660" cy="1348105"/>
          </a:xfrm>
        </p:grpSpPr>
        <p:sp>
          <p:nvSpPr>
            <p:cNvPr id="93" name="object 93"/>
            <p:cNvSpPr/>
            <p:nvPr/>
          </p:nvSpPr>
          <p:spPr>
            <a:xfrm>
              <a:off x="3375916" y="4059789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20" h="262889">
                  <a:moveTo>
                    <a:pt x="0" y="262644"/>
                  </a:moveTo>
                  <a:lnTo>
                    <a:pt x="845465" y="262644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375916" y="3796793"/>
              <a:ext cx="845819" cy="525780"/>
            </a:xfrm>
            <a:custGeom>
              <a:avLst/>
              <a:gdLst/>
              <a:ahLst/>
              <a:cxnLst/>
              <a:rect l="l" t="t" r="r" b="b"/>
              <a:pathLst>
                <a:path w="845820" h="525779">
                  <a:moveTo>
                    <a:pt x="0" y="525641"/>
                  </a:moveTo>
                  <a:lnTo>
                    <a:pt x="845482" y="525641"/>
                  </a:lnTo>
                  <a:lnTo>
                    <a:pt x="845482" y="0"/>
                  </a:lnTo>
                  <a:lnTo>
                    <a:pt x="0" y="0"/>
                  </a:lnTo>
                  <a:lnTo>
                    <a:pt x="0" y="525641"/>
                  </a:lnTo>
                </a:path>
              </a:pathLst>
            </a:custGeom>
            <a:ln w="33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835596" y="4392803"/>
              <a:ext cx="0" cy="193040"/>
            </a:xfrm>
            <a:custGeom>
              <a:avLst/>
              <a:gdLst/>
              <a:ahLst/>
              <a:cxnLst/>
              <a:rect l="l" t="t" r="r" b="b"/>
              <a:pathLst>
                <a:path h="193039">
                  <a:moveTo>
                    <a:pt x="0" y="192671"/>
                  </a:moveTo>
                  <a:lnTo>
                    <a:pt x="0" y="0"/>
                  </a:lnTo>
                </a:path>
              </a:pathLst>
            </a:custGeom>
            <a:ln w="123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782240" y="4322434"/>
              <a:ext cx="111125" cy="95250"/>
            </a:xfrm>
            <a:custGeom>
              <a:avLst/>
              <a:gdLst/>
              <a:ahLst/>
              <a:cxnLst/>
              <a:rect l="l" t="t" r="r" b="b"/>
              <a:pathLst>
                <a:path w="111125" h="95250">
                  <a:moveTo>
                    <a:pt x="53355" y="0"/>
                  </a:moveTo>
                  <a:lnTo>
                    <a:pt x="0" y="94946"/>
                  </a:lnTo>
                  <a:lnTo>
                    <a:pt x="36938" y="84412"/>
                  </a:lnTo>
                  <a:lnTo>
                    <a:pt x="73877" y="84412"/>
                  </a:lnTo>
                  <a:lnTo>
                    <a:pt x="110644" y="94946"/>
                  </a:lnTo>
                  <a:lnTo>
                    <a:pt x="53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221398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20" h="263525">
                  <a:moveTo>
                    <a:pt x="845465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5465" y="262996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221398" y="4585518"/>
              <a:ext cx="845819" cy="263525"/>
            </a:xfrm>
            <a:custGeom>
              <a:avLst/>
              <a:gdLst/>
              <a:ahLst/>
              <a:cxnLst/>
              <a:rect l="l" t="t" r="r" b="b"/>
              <a:pathLst>
                <a:path w="845820" h="263525">
                  <a:moveTo>
                    <a:pt x="0" y="262996"/>
                  </a:moveTo>
                  <a:lnTo>
                    <a:pt x="845465" y="262996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221398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20" h="262889">
                  <a:moveTo>
                    <a:pt x="845465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5465" y="262644"/>
                  </a:lnTo>
                  <a:lnTo>
                    <a:pt x="84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221398" y="4848470"/>
              <a:ext cx="845819" cy="262890"/>
            </a:xfrm>
            <a:custGeom>
              <a:avLst/>
              <a:gdLst/>
              <a:ahLst/>
              <a:cxnLst/>
              <a:rect l="l" t="t" r="r" b="b"/>
              <a:pathLst>
                <a:path w="845820" h="262889">
                  <a:moveTo>
                    <a:pt x="0" y="262644"/>
                  </a:moveTo>
                  <a:lnTo>
                    <a:pt x="845465" y="262644"/>
                  </a:lnTo>
                  <a:lnTo>
                    <a:pt x="845465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221398" y="4585474"/>
              <a:ext cx="845819" cy="525780"/>
            </a:xfrm>
            <a:custGeom>
              <a:avLst/>
              <a:gdLst/>
              <a:ahLst/>
              <a:cxnLst/>
              <a:rect l="l" t="t" r="r" b="b"/>
              <a:pathLst>
                <a:path w="845820" h="525779">
                  <a:moveTo>
                    <a:pt x="0" y="525641"/>
                  </a:moveTo>
                  <a:lnTo>
                    <a:pt x="845482" y="525641"/>
                  </a:lnTo>
                  <a:lnTo>
                    <a:pt x="845482" y="0"/>
                  </a:lnTo>
                  <a:lnTo>
                    <a:pt x="0" y="0"/>
                  </a:lnTo>
                  <a:lnTo>
                    <a:pt x="0" y="525641"/>
                  </a:lnTo>
                </a:path>
              </a:pathLst>
            </a:custGeom>
            <a:ln w="33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/>
          <p:nvPr/>
        </p:nvSpPr>
        <p:spPr>
          <a:xfrm>
            <a:off x="837853" y="5901479"/>
            <a:ext cx="6771640" cy="396240"/>
          </a:xfrm>
          <a:custGeom>
            <a:avLst/>
            <a:gdLst/>
            <a:ahLst/>
            <a:cxnLst/>
            <a:rect l="l" t="t" r="r" b="b"/>
            <a:pathLst>
              <a:path w="6771640" h="396239">
                <a:moveTo>
                  <a:pt x="3385596" y="0"/>
                </a:moveTo>
                <a:lnTo>
                  <a:pt x="3385596" y="133421"/>
                </a:lnTo>
                <a:lnTo>
                  <a:pt x="3377388" y="171941"/>
                </a:lnTo>
                <a:lnTo>
                  <a:pt x="3356866" y="210461"/>
                </a:lnTo>
                <a:lnTo>
                  <a:pt x="3324032" y="238476"/>
                </a:lnTo>
                <a:lnTo>
                  <a:pt x="3278885" y="255988"/>
                </a:lnTo>
                <a:lnTo>
                  <a:pt x="3233909" y="262996"/>
                </a:lnTo>
                <a:lnTo>
                  <a:pt x="1846832" y="262996"/>
                </a:lnTo>
                <a:lnTo>
                  <a:pt x="1797580" y="269989"/>
                </a:lnTo>
                <a:lnTo>
                  <a:pt x="1756537" y="287500"/>
                </a:lnTo>
                <a:lnTo>
                  <a:pt x="1723703" y="315516"/>
                </a:lnTo>
                <a:lnTo>
                  <a:pt x="1699077" y="354035"/>
                </a:lnTo>
                <a:lnTo>
                  <a:pt x="1694973" y="396066"/>
                </a:lnTo>
                <a:lnTo>
                  <a:pt x="1686765" y="354035"/>
                </a:lnTo>
                <a:lnTo>
                  <a:pt x="1662310" y="315516"/>
                </a:lnTo>
                <a:lnTo>
                  <a:pt x="1629031" y="287500"/>
                </a:lnTo>
                <a:lnTo>
                  <a:pt x="1588022" y="269989"/>
                </a:lnTo>
                <a:lnTo>
                  <a:pt x="1538822" y="262996"/>
                </a:lnTo>
                <a:lnTo>
                  <a:pt x="155815" y="262996"/>
                </a:lnTo>
                <a:lnTo>
                  <a:pt x="106598" y="255988"/>
                </a:lnTo>
                <a:lnTo>
                  <a:pt x="61504" y="238476"/>
                </a:lnTo>
                <a:lnTo>
                  <a:pt x="28702" y="210461"/>
                </a:lnTo>
                <a:lnTo>
                  <a:pt x="8201" y="171941"/>
                </a:lnTo>
                <a:lnTo>
                  <a:pt x="0" y="133421"/>
                </a:lnTo>
                <a:lnTo>
                  <a:pt x="0" y="0"/>
                </a:lnTo>
              </a:path>
              <a:path w="6771640" h="396239">
                <a:moveTo>
                  <a:pt x="6771118" y="0"/>
                </a:moveTo>
                <a:lnTo>
                  <a:pt x="6771118" y="133421"/>
                </a:lnTo>
                <a:lnTo>
                  <a:pt x="6762909" y="171941"/>
                </a:lnTo>
                <a:lnTo>
                  <a:pt x="6742388" y="210461"/>
                </a:lnTo>
                <a:lnTo>
                  <a:pt x="6709725" y="238476"/>
                </a:lnTo>
                <a:lnTo>
                  <a:pt x="6664577" y="255988"/>
                </a:lnTo>
                <a:lnTo>
                  <a:pt x="6619430" y="262996"/>
                </a:lnTo>
                <a:lnTo>
                  <a:pt x="5232353" y="262996"/>
                </a:lnTo>
                <a:lnTo>
                  <a:pt x="5183102" y="269989"/>
                </a:lnTo>
                <a:lnTo>
                  <a:pt x="5142059" y="287500"/>
                </a:lnTo>
                <a:lnTo>
                  <a:pt x="5109396" y="315516"/>
                </a:lnTo>
                <a:lnTo>
                  <a:pt x="5084257" y="354035"/>
                </a:lnTo>
                <a:lnTo>
                  <a:pt x="5080153" y="396066"/>
                </a:lnTo>
                <a:lnTo>
                  <a:pt x="5071944" y="354035"/>
                </a:lnTo>
                <a:lnTo>
                  <a:pt x="5047318" y="315516"/>
                </a:lnTo>
                <a:lnTo>
                  <a:pt x="5014655" y="287500"/>
                </a:lnTo>
                <a:lnTo>
                  <a:pt x="4973612" y="269989"/>
                </a:lnTo>
                <a:lnTo>
                  <a:pt x="4924361" y="262996"/>
                </a:lnTo>
                <a:lnTo>
                  <a:pt x="3541388" y="262996"/>
                </a:lnTo>
                <a:lnTo>
                  <a:pt x="3492137" y="255988"/>
                </a:lnTo>
                <a:lnTo>
                  <a:pt x="3447161" y="238476"/>
                </a:lnTo>
                <a:lnTo>
                  <a:pt x="3414326" y="210461"/>
                </a:lnTo>
                <a:lnTo>
                  <a:pt x="3393805" y="171941"/>
                </a:lnTo>
                <a:lnTo>
                  <a:pt x="3385596" y="133421"/>
                </a:lnTo>
                <a:lnTo>
                  <a:pt x="3385596" y="0"/>
                </a:lnTo>
              </a:path>
            </a:pathLst>
          </a:custGeom>
          <a:ln w="3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2099506" y="6328775"/>
            <a:ext cx="83439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70" dirty="0">
                <a:latin typeface="Arial MT"/>
                <a:cs typeface="Arial MT"/>
              </a:rPr>
              <a:t>Zône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45" dirty="0">
                <a:latin typeface="Arial MT"/>
                <a:cs typeface="Arial MT"/>
              </a:rPr>
              <a:t>primaire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5390390" y="6335783"/>
            <a:ext cx="104775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70" dirty="0">
                <a:latin typeface="Arial MT"/>
                <a:cs typeface="Arial MT"/>
              </a:rPr>
              <a:t>Zône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45" dirty="0">
                <a:latin typeface="Arial MT"/>
                <a:cs typeface="Arial MT"/>
              </a:rPr>
              <a:t>d'expansion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4396550" y="5108978"/>
            <a:ext cx="49657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10" dirty="0">
                <a:latin typeface="Arial MT"/>
                <a:cs typeface="Arial MT"/>
              </a:rPr>
              <a:t>100</a:t>
            </a:r>
            <a:r>
              <a:rPr sz="1350" spc="16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5061483" y="4580121"/>
            <a:ext cx="860425" cy="274320"/>
            <a:chOff x="5061483" y="4580121"/>
            <a:chExt cx="860425" cy="274320"/>
          </a:xfrm>
        </p:grpSpPr>
        <p:sp>
          <p:nvSpPr>
            <p:cNvPr id="107" name="object 107"/>
            <p:cNvSpPr/>
            <p:nvPr/>
          </p:nvSpPr>
          <p:spPr>
            <a:xfrm>
              <a:off x="5066881" y="4585518"/>
              <a:ext cx="849630" cy="263525"/>
            </a:xfrm>
            <a:custGeom>
              <a:avLst/>
              <a:gdLst/>
              <a:ahLst/>
              <a:cxnLst/>
              <a:rect l="l" t="t" r="r" b="b"/>
              <a:pathLst>
                <a:path w="849629" h="263525">
                  <a:moveTo>
                    <a:pt x="849159" y="0"/>
                  </a:moveTo>
                  <a:lnTo>
                    <a:pt x="0" y="0"/>
                  </a:lnTo>
                  <a:lnTo>
                    <a:pt x="0" y="262996"/>
                  </a:lnTo>
                  <a:lnTo>
                    <a:pt x="849159" y="262996"/>
                  </a:lnTo>
                  <a:lnTo>
                    <a:pt x="849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066881" y="4585518"/>
              <a:ext cx="849630" cy="263525"/>
            </a:xfrm>
            <a:custGeom>
              <a:avLst/>
              <a:gdLst/>
              <a:ahLst/>
              <a:cxnLst/>
              <a:rect l="l" t="t" r="r" b="b"/>
              <a:pathLst>
                <a:path w="849629" h="263525">
                  <a:moveTo>
                    <a:pt x="0" y="262996"/>
                  </a:moveTo>
                  <a:lnTo>
                    <a:pt x="849159" y="262996"/>
                  </a:lnTo>
                  <a:lnTo>
                    <a:pt x="849159" y="0"/>
                  </a:lnTo>
                  <a:lnTo>
                    <a:pt x="0" y="0"/>
                  </a:lnTo>
                  <a:lnTo>
                    <a:pt x="0" y="262996"/>
                  </a:lnTo>
                  <a:close/>
                </a:path>
              </a:pathLst>
            </a:custGeom>
            <a:ln w="10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14409" y="4583337"/>
            <a:ext cx="517398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30"/>
              </a:spcBef>
              <a:tabLst>
                <a:tab pos="969010" algn="l"/>
                <a:tab pos="1814195" algn="l"/>
                <a:tab pos="2660015" algn="l"/>
                <a:tab pos="3505200" algn="l"/>
                <a:tab pos="4354830" algn="l"/>
              </a:tabLst>
            </a:pPr>
            <a:r>
              <a:rPr sz="1350" spc="125" dirty="0">
                <a:solidFill>
                  <a:srgbClr val="FF0000"/>
                </a:solidFill>
                <a:latin typeface="Arial MT"/>
                <a:cs typeface="Arial MT"/>
              </a:rPr>
              <a:t>11000</a:t>
            </a:r>
            <a:r>
              <a:rPr sz="1350" spc="187" baseline="-27777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350" baseline="-27777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00001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11010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01111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10100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125" dirty="0">
                <a:latin typeface="Arial MT"/>
                <a:cs typeface="Arial MT"/>
              </a:rPr>
              <a:t>10101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5061483" y="4843073"/>
            <a:ext cx="860425" cy="273685"/>
            <a:chOff x="5061483" y="4843073"/>
            <a:chExt cx="860425" cy="273685"/>
          </a:xfrm>
        </p:grpSpPr>
        <p:sp>
          <p:nvSpPr>
            <p:cNvPr id="111" name="object 111"/>
            <p:cNvSpPr/>
            <p:nvPr/>
          </p:nvSpPr>
          <p:spPr>
            <a:xfrm>
              <a:off x="5066881" y="4848470"/>
              <a:ext cx="849630" cy="262890"/>
            </a:xfrm>
            <a:custGeom>
              <a:avLst/>
              <a:gdLst/>
              <a:ahLst/>
              <a:cxnLst/>
              <a:rect l="l" t="t" r="r" b="b"/>
              <a:pathLst>
                <a:path w="849629" h="262889">
                  <a:moveTo>
                    <a:pt x="849159" y="0"/>
                  </a:moveTo>
                  <a:lnTo>
                    <a:pt x="0" y="0"/>
                  </a:lnTo>
                  <a:lnTo>
                    <a:pt x="0" y="262644"/>
                  </a:lnTo>
                  <a:lnTo>
                    <a:pt x="849159" y="262644"/>
                  </a:lnTo>
                  <a:lnTo>
                    <a:pt x="849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066881" y="4848470"/>
              <a:ext cx="849630" cy="262890"/>
            </a:xfrm>
            <a:custGeom>
              <a:avLst/>
              <a:gdLst/>
              <a:ahLst/>
              <a:cxnLst/>
              <a:rect l="l" t="t" r="r" b="b"/>
              <a:pathLst>
                <a:path w="849629" h="262889">
                  <a:moveTo>
                    <a:pt x="0" y="262644"/>
                  </a:moveTo>
                  <a:lnTo>
                    <a:pt x="849159" y="262644"/>
                  </a:lnTo>
                  <a:lnTo>
                    <a:pt x="849159" y="0"/>
                  </a:lnTo>
                  <a:lnTo>
                    <a:pt x="0" y="0"/>
                  </a:lnTo>
                  <a:lnTo>
                    <a:pt x="0" y="262644"/>
                  </a:lnTo>
                  <a:close/>
                </a:path>
              </a:pathLst>
            </a:custGeom>
            <a:ln w="10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5058187" y="4845938"/>
            <a:ext cx="86677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30"/>
              </a:spcBef>
            </a:pPr>
            <a:r>
              <a:rPr sz="1350" spc="125" dirty="0">
                <a:latin typeface="Arial MT"/>
                <a:cs typeface="Arial MT"/>
              </a:rPr>
              <a:t>11101</a:t>
            </a:r>
            <a:r>
              <a:rPr sz="1350" spc="18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5066881" y="4585474"/>
            <a:ext cx="849630" cy="525780"/>
          </a:xfrm>
          <a:custGeom>
            <a:avLst/>
            <a:gdLst/>
            <a:ahLst/>
            <a:cxnLst/>
            <a:rect l="l" t="t" r="r" b="b"/>
            <a:pathLst>
              <a:path w="849629" h="525779">
                <a:moveTo>
                  <a:pt x="0" y="525641"/>
                </a:moveTo>
                <a:lnTo>
                  <a:pt x="849073" y="525641"/>
                </a:lnTo>
                <a:lnTo>
                  <a:pt x="849073" y="0"/>
                </a:lnTo>
                <a:lnTo>
                  <a:pt x="0" y="0"/>
                </a:lnTo>
                <a:lnTo>
                  <a:pt x="0" y="525641"/>
                </a:lnTo>
              </a:path>
            </a:pathLst>
          </a:custGeom>
          <a:ln w="33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5246137" y="5108978"/>
            <a:ext cx="49657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350" spc="110" dirty="0">
                <a:latin typeface="Arial MT"/>
                <a:cs typeface="Arial MT"/>
              </a:rPr>
              <a:t>101</a:t>
            </a:r>
            <a:r>
              <a:rPr sz="1350" spc="16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281" y="642741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48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7220" y="635888"/>
            <a:ext cx="41344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10010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037" y="2352054"/>
            <a:ext cx="8086725" cy="1649095"/>
            <a:chOff x="681037" y="2352054"/>
            <a:chExt cx="8086725" cy="1649095"/>
          </a:xfrm>
        </p:grpSpPr>
        <p:sp>
          <p:nvSpPr>
            <p:cNvPr id="5" name="object 5"/>
            <p:cNvSpPr/>
            <p:nvPr/>
          </p:nvSpPr>
          <p:spPr>
            <a:xfrm>
              <a:off x="1238250" y="34290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36576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9045" y="3961242"/>
              <a:ext cx="55244" cy="27940"/>
            </a:xfrm>
            <a:custGeom>
              <a:avLst/>
              <a:gdLst/>
              <a:ahLst/>
              <a:cxnLst/>
              <a:rect l="l" t="t" r="r" b="b"/>
              <a:pathLst>
                <a:path w="55244" h="27939">
                  <a:moveTo>
                    <a:pt x="0" y="27343"/>
                  </a:moveTo>
                  <a:lnTo>
                    <a:pt x="0" y="0"/>
                  </a:lnTo>
                  <a:lnTo>
                    <a:pt x="54723" y="0"/>
                  </a:lnTo>
                </a:path>
              </a:pathLst>
            </a:custGeom>
            <a:ln w="102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24930" y="3961242"/>
              <a:ext cx="2616200" cy="0"/>
            </a:xfrm>
            <a:custGeom>
              <a:avLst/>
              <a:gdLst/>
              <a:ahLst/>
              <a:cxnLst/>
              <a:rect l="l" t="t" r="r" b="b"/>
              <a:pathLst>
                <a:path w="2616200">
                  <a:moveTo>
                    <a:pt x="0" y="0"/>
                  </a:moveTo>
                  <a:lnTo>
                    <a:pt x="2616053" y="0"/>
                  </a:lnTo>
                </a:path>
              </a:pathLst>
            </a:custGeom>
            <a:ln w="10243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2145" y="3961242"/>
              <a:ext cx="48260" cy="34290"/>
            </a:xfrm>
            <a:custGeom>
              <a:avLst/>
              <a:gdLst/>
              <a:ahLst/>
              <a:cxnLst/>
              <a:rect l="l" t="t" r="r" b="b"/>
              <a:pathLst>
                <a:path w="48260" h="34289">
                  <a:moveTo>
                    <a:pt x="0" y="0"/>
                  </a:moveTo>
                  <a:lnTo>
                    <a:pt x="47883" y="0"/>
                  </a:lnTo>
                  <a:lnTo>
                    <a:pt x="47883" y="34179"/>
                  </a:lnTo>
                </a:path>
              </a:pathLst>
            </a:custGeom>
            <a:ln w="10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1826" y="2496279"/>
              <a:ext cx="699135" cy="260350"/>
            </a:xfrm>
            <a:custGeom>
              <a:avLst/>
              <a:gdLst/>
              <a:ahLst/>
              <a:cxnLst/>
              <a:rect l="l" t="t" r="r" b="b"/>
              <a:pathLst>
                <a:path w="699135" h="260350">
                  <a:moveTo>
                    <a:pt x="698950" y="0"/>
                  </a:moveTo>
                  <a:lnTo>
                    <a:pt x="0" y="0"/>
                  </a:lnTo>
                  <a:lnTo>
                    <a:pt x="0" y="260130"/>
                  </a:lnTo>
                  <a:lnTo>
                    <a:pt x="698950" y="260130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013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3013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3013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3013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3013" y="2367611"/>
              <a:ext cx="699135" cy="521334"/>
            </a:xfrm>
            <a:custGeom>
              <a:avLst/>
              <a:gdLst/>
              <a:ahLst/>
              <a:cxnLst/>
              <a:rect l="l" t="t" r="r" b="b"/>
              <a:pathLst>
                <a:path w="699135" h="521335">
                  <a:moveTo>
                    <a:pt x="0" y="520942"/>
                  </a:moveTo>
                  <a:lnTo>
                    <a:pt x="698954" y="520942"/>
                  </a:lnTo>
                  <a:lnTo>
                    <a:pt x="698954" y="0"/>
                  </a:lnTo>
                  <a:lnTo>
                    <a:pt x="0" y="0"/>
                  </a:lnTo>
                  <a:lnTo>
                    <a:pt x="0" y="520942"/>
                  </a:lnTo>
                </a:path>
              </a:pathLst>
            </a:custGeom>
            <a:ln w="30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21968" y="2367597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4" h="260985">
                  <a:moveTo>
                    <a:pt x="702343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702343" y="260478"/>
                  </a:lnTo>
                  <a:lnTo>
                    <a:pt x="702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1968" y="2367597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4" h="260985">
                  <a:moveTo>
                    <a:pt x="0" y="260478"/>
                  </a:moveTo>
                  <a:lnTo>
                    <a:pt x="702343" y="260478"/>
                  </a:lnTo>
                  <a:lnTo>
                    <a:pt x="702343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1968" y="2628075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4" h="260985">
                  <a:moveTo>
                    <a:pt x="702343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702343" y="260478"/>
                  </a:lnTo>
                  <a:lnTo>
                    <a:pt x="702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21968" y="2628075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4" h="260985">
                  <a:moveTo>
                    <a:pt x="0" y="260478"/>
                  </a:moveTo>
                  <a:lnTo>
                    <a:pt x="702343" y="260478"/>
                  </a:lnTo>
                  <a:lnTo>
                    <a:pt x="702343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21968" y="2367611"/>
              <a:ext cx="702310" cy="521334"/>
            </a:xfrm>
            <a:custGeom>
              <a:avLst/>
              <a:gdLst/>
              <a:ahLst/>
              <a:cxnLst/>
              <a:rect l="l" t="t" r="r" b="b"/>
              <a:pathLst>
                <a:path w="702310" h="521335">
                  <a:moveTo>
                    <a:pt x="0" y="520942"/>
                  </a:moveTo>
                  <a:lnTo>
                    <a:pt x="702287" y="520942"/>
                  </a:lnTo>
                  <a:lnTo>
                    <a:pt x="702287" y="0"/>
                  </a:lnTo>
                  <a:lnTo>
                    <a:pt x="0" y="0"/>
                  </a:lnTo>
                  <a:lnTo>
                    <a:pt x="0" y="520942"/>
                  </a:lnTo>
                </a:path>
              </a:pathLst>
            </a:custGeom>
            <a:ln w="309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24255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24255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24255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24255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24255" y="2367611"/>
              <a:ext cx="699135" cy="521334"/>
            </a:xfrm>
            <a:custGeom>
              <a:avLst/>
              <a:gdLst/>
              <a:ahLst/>
              <a:cxnLst/>
              <a:rect l="l" t="t" r="r" b="b"/>
              <a:pathLst>
                <a:path w="699135" h="521335">
                  <a:moveTo>
                    <a:pt x="0" y="520942"/>
                  </a:moveTo>
                  <a:lnTo>
                    <a:pt x="698964" y="520942"/>
                  </a:lnTo>
                  <a:lnTo>
                    <a:pt x="698964" y="0"/>
                  </a:lnTo>
                  <a:lnTo>
                    <a:pt x="0" y="0"/>
                  </a:lnTo>
                  <a:lnTo>
                    <a:pt x="0" y="520942"/>
                  </a:lnTo>
                </a:path>
              </a:pathLst>
            </a:custGeom>
            <a:ln w="30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23220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23220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23220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950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950" y="260478"/>
                  </a:lnTo>
                  <a:lnTo>
                    <a:pt x="69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23220" y="262807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807945" y="4969363"/>
            <a:ext cx="2842895" cy="542925"/>
            <a:chOff x="807945" y="4969363"/>
            <a:chExt cx="2842895" cy="542925"/>
          </a:xfrm>
        </p:grpSpPr>
        <p:sp>
          <p:nvSpPr>
            <p:cNvPr id="31" name="object 31"/>
            <p:cNvSpPr/>
            <p:nvPr/>
          </p:nvSpPr>
          <p:spPr>
            <a:xfrm>
              <a:off x="953348" y="511114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70455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554" y="256019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3503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70455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554" y="256019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3503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0" y="256019"/>
                  </a:moveTo>
                  <a:lnTo>
                    <a:pt x="704554" y="256019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3503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704554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4554" y="255677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23503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0" y="255677"/>
                  </a:moveTo>
                  <a:lnTo>
                    <a:pt x="704554" y="255677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23503" y="4984921"/>
              <a:ext cx="704850" cy="511809"/>
            </a:xfrm>
            <a:custGeom>
              <a:avLst/>
              <a:gdLst/>
              <a:ahLst/>
              <a:cxnLst/>
              <a:rect l="l" t="t" r="r" b="b"/>
              <a:pathLst>
                <a:path w="704850" h="511810">
                  <a:moveTo>
                    <a:pt x="0" y="511697"/>
                  </a:moveTo>
                  <a:lnTo>
                    <a:pt x="704558" y="511697"/>
                  </a:lnTo>
                  <a:lnTo>
                    <a:pt x="704558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28061" y="4984963"/>
              <a:ext cx="708025" cy="256540"/>
            </a:xfrm>
            <a:custGeom>
              <a:avLst/>
              <a:gdLst/>
              <a:ahLst/>
              <a:cxnLst/>
              <a:rect l="l" t="t" r="r" b="b"/>
              <a:pathLst>
                <a:path w="708025" h="256539">
                  <a:moveTo>
                    <a:pt x="70797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7974" y="256019"/>
                  </a:lnTo>
                  <a:lnTo>
                    <a:pt x="707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28061" y="4984963"/>
              <a:ext cx="708025" cy="256540"/>
            </a:xfrm>
            <a:custGeom>
              <a:avLst/>
              <a:gdLst/>
              <a:ahLst/>
              <a:cxnLst/>
              <a:rect l="l" t="t" r="r" b="b"/>
              <a:pathLst>
                <a:path w="708025" h="256539">
                  <a:moveTo>
                    <a:pt x="0" y="256019"/>
                  </a:moveTo>
                  <a:lnTo>
                    <a:pt x="707974" y="256019"/>
                  </a:lnTo>
                  <a:lnTo>
                    <a:pt x="707974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28061" y="5240940"/>
              <a:ext cx="708025" cy="255904"/>
            </a:xfrm>
            <a:custGeom>
              <a:avLst/>
              <a:gdLst/>
              <a:ahLst/>
              <a:cxnLst/>
              <a:rect l="l" t="t" r="r" b="b"/>
              <a:pathLst>
                <a:path w="708025" h="255904">
                  <a:moveTo>
                    <a:pt x="707974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7974" y="255677"/>
                  </a:lnTo>
                  <a:lnTo>
                    <a:pt x="7079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28061" y="5240940"/>
              <a:ext cx="708025" cy="255904"/>
            </a:xfrm>
            <a:custGeom>
              <a:avLst/>
              <a:gdLst/>
              <a:ahLst/>
              <a:cxnLst/>
              <a:rect l="l" t="t" r="r" b="b"/>
              <a:pathLst>
                <a:path w="708025" h="255904">
                  <a:moveTo>
                    <a:pt x="0" y="255677"/>
                  </a:moveTo>
                  <a:lnTo>
                    <a:pt x="707974" y="255677"/>
                  </a:lnTo>
                  <a:lnTo>
                    <a:pt x="70797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28061" y="4984921"/>
              <a:ext cx="708025" cy="511809"/>
            </a:xfrm>
            <a:custGeom>
              <a:avLst/>
              <a:gdLst/>
              <a:ahLst/>
              <a:cxnLst/>
              <a:rect l="l" t="t" r="r" b="b"/>
              <a:pathLst>
                <a:path w="708025" h="511810">
                  <a:moveTo>
                    <a:pt x="0" y="511697"/>
                  </a:moveTo>
                  <a:lnTo>
                    <a:pt x="707917" y="511697"/>
                  </a:lnTo>
                  <a:lnTo>
                    <a:pt x="707917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35979" y="4984963"/>
              <a:ext cx="704215" cy="256540"/>
            </a:xfrm>
            <a:custGeom>
              <a:avLst/>
              <a:gdLst/>
              <a:ahLst/>
              <a:cxnLst/>
              <a:rect l="l" t="t" r="r" b="b"/>
              <a:pathLst>
                <a:path w="704214" h="256539">
                  <a:moveTo>
                    <a:pt x="704212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212" y="256019"/>
                  </a:lnTo>
                  <a:lnTo>
                    <a:pt x="704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35979" y="4984963"/>
              <a:ext cx="704215" cy="256540"/>
            </a:xfrm>
            <a:custGeom>
              <a:avLst/>
              <a:gdLst/>
              <a:ahLst/>
              <a:cxnLst/>
              <a:rect l="l" t="t" r="r" b="b"/>
              <a:pathLst>
                <a:path w="704214" h="256539">
                  <a:moveTo>
                    <a:pt x="0" y="256019"/>
                  </a:moveTo>
                  <a:lnTo>
                    <a:pt x="704212" y="256019"/>
                  </a:lnTo>
                  <a:lnTo>
                    <a:pt x="704212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35979" y="5240940"/>
              <a:ext cx="704215" cy="255904"/>
            </a:xfrm>
            <a:custGeom>
              <a:avLst/>
              <a:gdLst/>
              <a:ahLst/>
              <a:cxnLst/>
              <a:rect l="l" t="t" r="r" b="b"/>
              <a:pathLst>
                <a:path w="704214" h="255904">
                  <a:moveTo>
                    <a:pt x="704212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4212" y="255677"/>
                  </a:lnTo>
                  <a:lnTo>
                    <a:pt x="704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35979" y="5240940"/>
              <a:ext cx="704215" cy="255904"/>
            </a:xfrm>
            <a:custGeom>
              <a:avLst/>
              <a:gdLst/>
              <a:ahLst/>
              <a:cxnLst/>
              <a:rect l="l" t="t" r="r" b="b"/>
              <a:pathLst>
                <a:path w="704214" h="255904">
                  <a:moveTo>
                    <a:pt x="0" y="255677"/>
                  </a:moveTo>
                  <a:lnTo>
                    <a:pt x="704212" y="255677"/>
                  </a:lnTo>
                  <a:lnTo>
                    <a:pt x="704212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35979" y="4984921"/>
              <a:ext cx="704850" cy="511809"/>
            </a:xfrm>
            <a:custGeom>
              <a:avLst/>
              <a:gdLst/>
              <a:ahLst/>
              <a:cxnLst/>
              <a:rect l="l" t="t" r="r" b="b"/>
              <a:pathLst>
                <a:path w="704850" h="511810">
                  <a:moveTo>
                    <a:pt x="0" y="511697"/>
                  </a:moveTo>
                  <a:lnTo>
                    <a:pt x="704283" y="511697"/>
                  </a:lnTo>
                  <a:lnTo>
                    <a:pt x="704283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40263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70455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554" y="256019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40263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0" y="256019"/>
                  </a:moveTo>
                  <a:lnTo>
                    <a:pt x="704554" y="256019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940263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704554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4554" y="255677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40263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0" y="255677"/>
                  </a:moveTo>
                  <a:lnTo>
                    <a:pt x="704554" y="255677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505331" y="5238281"/>
            <a:ext cx="217551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95"/>
              </a:spcBef>
              <a:tabLst>
                <a:tab pos="812165" algn="l"/>
                <a:tab pos="1517015" algn="l"/>
              </a:tabLst>
            </a:pPr>
            <a:r>
              <a:rPr sz="1350" spc="-10" dirty="0">
                <a:latin typeface="Arial MT"/>
                <a:cs typeface="Arial MT"/>
              </a:rPr>
              <a:t>11001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solidFill>
                  <a:srgbClr val="FF0000"/>
                </a:solidFill>
                <a:latin typeface="Arial MT"/>
                <a:cs typeface="Arial MT"/>
              </a:rPr>
              <a:t>10010</a:t>
            </a:r>
            <a:r>
              <a:rPr sz="1275" spc="-15" baseline="-29411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r>
              <a:rPr sz="1275" baseline="-29411" dirty="0">
                <a:solidFill>
                  <a:srgbClr val="FF0000"/>
                </a:solidFill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940263" y="4984921"/>
            <a:ext cx="704850" cy="511809"/>
          </a:xfrm>
          <a:custGeom>
            <a:avLst/>
            <a:gdLst/>
            <a:ahLst/>
            <a:cxnLst/>
            <a:rect l="l" t="t" r="r" b="b"/>
            <a:pathLst>
              <a:path w="704850" h="511810">
                <a:moveTo>
                  <a:pt x="0" y="511697"/>
                </a:moveTo>
                <a:lnTo>
                  <a:pt x="704568" y="511697"/>
                </a:lnTo>
                <a:lnTo>
                  <a:pt x="704568" y="0"/>
                </a:lnTo>
                <a:lnTo>
                  <a:pt x="0" y="0"/>
                </a:lnTo>
                <a:lnTo>
                  <a:pt x="0" y="511697"/>
                </a:lnTo>
              </a:path>
            </a:pathLst>
          </a:custGeom>
          <a:ln w="307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950716" y="5494200"/>
            <a:ext cx="187706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758190" algn="l"/>
                <a:tab pos="1462405" algn="l"/>
              </a:tabLst>
            </a:pPr>
            <a:r>
              <a:rPr sz="1350" spc="-20" dirty="0">
                <a:latin typeface="Arial MT"/>
                <a:cs typeface="Arial MT"/>
              </a:rPr>
              <a:t>000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001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010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28041" y="5494200"/>
            <a:ext cx="33020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25" dirty="0">
                <a:latin typeface="Arial MT"/>
                <a:cs typeface="Arial MT"/>
              </a:rPr>
              <a:t>11</a:t>
            </a:r>
            <a:r>
              <a:rPr sz="1275" spc="-37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201182" y="6005955"/>
            <a:ext cx="12065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5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213882" y="5752680"/>
            <a:ext cx="92710" cy="256540"/>
            <a:chOff x="3213882" y="5752680"/>
            <a:chExt cx="92710" cy="256540"/>
          </a:xfrm>
        </p:grpSpPr>
        <p:sp>
          <p:nvSpPr>
            <p:cNvPr id="57" name="object 57"/>
            <p:cNvSpPr/>
            <p:nvPr/>
          </p:nvSpPr>
          <p:spPr>
            <a:xfrm>
              <a:off x="3261765" y="5824315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184384"/>
                  </a:moveTo>
                  <a:lnTo>
                    <a:pt x="0" y="0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13882" y="5752680"/>
              <a:ext cx="92710" cy="92075"/>
            </a:xfrm>
            <a:custGeom>
              <a:avLst/>
              <a:gdLst/>
              <a:ahLst/>
              <a:cxnLst/>
              <a:rect l="l" t="t" r="r" b="b"/>
              <a:pathLst>
                <a:path w="92710" h="92075">
                  <a:moveTo>
                    <a:pt x="47883" y="0"/>
                  </a:moveTo>
                  <a:lnTo>
                    <a:pt x="0" y="92000"/>
                  </a:lnTo>
                  <a:lnTo>
                    <a:pt x="30782" y="85164"/>
                  </a:lnTo>
                  <a:lnTo>
                    <a:pt x="61564" y="85164"/>
                  </a:lnTo>
                  <a:lnTo>
                    <a:pt x="92346" y="92000"/>
                  </a:lnTo>
                  <a:lnTo>
                    <a:pt x="478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/>
          <p:nvPr/>
        </p:nvSpPr>
        <p:spPr>
          <a:xfrm>
            <a:off x="825211" y="6266428"/>
            <a:ext cx="5642610" cy="386080"/>
          </a:xfrm>
          <a:custGeom>
            <a:avLst/>
            <a:gdLst/>
            <a:ahLst/>
            <a:cxnLst/>
            <a:rect l="l" t="t" r="r" b="b"/>
            <a:pathLst>
              <a:path w="5642610" h="386079">
                <a:moveTo>
                  <a:pt x="2821330" y="0"/>
                </a:moveTo>
                <a:lnTo>
                  <a:pt x="2821330" y="129540"/>
                </a:lnTo>
                <a:lnTo>
                  <a:pt x="2814490" y="167038"/>
                </a:lnTo>
                <a:lnTo>
                  <a:pt x="2797388" y="204536"/>
                </a:lnTo>
                <a:lnTo>
                  <a:pt x="2770026" y="231808"/>
                </a:lnTo>
                <a:lnTo>
                  <a:pt x="2732404" y="248856"/>
                </a:lnTo>
                <a:lnTo>
                  <a:pt x="2694924" y="255663"/>
                </a:lnTo>
                <a:lnTo>
                  <a:pt x="1539026" y="255663"/>
                </a:lnTo>
                <a:lnTo>
                  <a:pt x="1497983" y="262485"/>
                </a:lnTo>
                <a:lnTo>
                  <a:pt x="1463781" y="279532"/>
                </a:lnTo>
                <a:lnTo>
                  <a:pt x="1436419" y="310208"/>
                </a:lnTo>
                <a:lnTo>
                  <a:pt x="1415898" y="344644"/>
                </a:lnTo>
                <a:lnTo>
                  <a:pt x="1412477" y="385545"/>
                </a:lnTo>
                <a:lnTo>
                  <a:pt x="1405637" y="344644"/>
                </a:lnTo>
                <a:lnTo>
                  <a:pt x="1385258" y="310208"/>
                </a:lnTo>
                <a:lnTo>
                  <a:pt x="1357526" y="279532"/>
                </a:lnTo>
                <a:lnTo>
                  <a:pt x="1323352" y="262485"/>
                </a:lnTo>
                <a:lnTo>
                  <a:pt x="1282352" y="255663"/>
                </a:lnTo>
                <a:lnTo>
                  <a:pt x="129846" y="255663"/>
                </a:lnTo>
                <a:lnTo>
                  <a:pt x="88832" y="248856"/>
                </a:lnTo>
                <a:lnTo>
                  <a:pt x="51253" y="231808"/>
                </a:lnTo>
                <a:lnTo>
                  <a:pt x="23918" y="204536"/>
                </a:lnTo>
                <a:lnTo>
                  <a:pt x="6834" y="167038"/>
                </a:lnTo>
                <a:lnTo>
                  <a:pt x="0" y="129540"/>
                </a:lnTo>
                <a:lnTo>
                  <a:pt x="0" y="0"/>
                </a:lnTo>
              </a:path>
              <a:path w="5642610" h="386079">
                <a:moveTo>
                  <a:pt x="5642598" y="0"/>
                </a:moveTo>
                <a:lnTo>
                  <a:pt x="5642598" y="129540"/>
                </a:lnTo>
                <a:lnTo>
                  <a:pt x="5635757" y="167038"/>
                </a:lnTo>
                <a:lnTo>
                  <a:pt x="5618656" y="204536"/>
                </a:lnTo>
                <a:lnTo>
                  <a:pt x="5591437" y="231808"/>
                </a:lnTo>
                <a:lnTo>
                  <a:pt x="5553814" y="248856"/>
                </a:lnTo>
                <a:lnTo>
                  <a:pt x="5516191" y="255663"/>
                </a:lnTo>
                <a:lnTo>
                  <a:pt x="4360294" y="255663"/>
                </a:lnTo>
                <a:lnTo>
                  <a:pt x="4319251" y="262485"/>
                </a:lnTo>
                <a:lnTo>
                  <a:pt x="4285049" y="279532"/>
                </a:lnTo>
                <a:lnTo>
                  <a:pt x="4257829" y="310208"/>
                </a:lnTo>
                <a:lnTo>
                  <a:pt x="4236880" y="344644"/>
                </a:lnTo>
                <a:lnTo>
                  <a:pt x="4233460" y="385545"/>
                </a:lnTo>
                <a:lnTo>
                  <a:pt x="4226620" y="344644"/>
                </a:lnTo>
                <a:lnTo>
                  <a:pt x="4206098" y="310208"/>
                </a:lnTo>
                <a:lnTo>
                  <a:pt x="4178879" y="279532"/>
                </a:lnTo>
                <a:lnTo>
                  <a:pt x="4144677" y="262485"/>
                </a:lnTo>
                <a:lnTo>
                  <a:pt x="4103634" y="255663"/>
                </a:lnTo>
                <a:lnTo>
                  <a:pt x="2951156" y="255663"/>
                </a:lnTo>
                <a:lnTo>
                  <a:pt x="2910114" y="248856"/>
                </a:lnTo>
                <a:lnTo>
                  <a:pt x="2872634" y="231808"/>
                </a:lnTo>
                <a:lnTo>
                  <a:pt x="2845272" y="204536"/>
                </a:lnTo>
                <a:lnTo>
                  <a:pt x="2828170" y="167038"/>
                </a:lnTo>
                <a:lnTo>
                  <a:pt x="2821330" y="129540"/>
                </a:lnTo>
                <a:lnTo>
                  <a:pt x="2821330" y="0"/>
                </a:lnTo>
              </a:path>
            </a:pathLst>
          </a:custGeom>
          <a:ln w="34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874472" y="6685115"/>
            <a:ext cx="699770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latin typeface="Arial MT"/>
                <a:cs typeface="Arial MT"/>
              </a:rPr>
              <a:t>Zône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primaire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616875" y="6688518"/>
            <a:ext cx="877569" cy="16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latin typeface="Arial MT"/>
                <a:cs typeface="Arial MT"/>
              </a:rPr>
              <a:t>Zône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d'expansion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619045" y="4039712"/>
            <a:ext cx="0" cy="81915"/>
          </a:xfrm>
          <a:custGeom>
            <a:avLst/>
            <a:gdLst/>
            <a:ahLst/>
            <a:cxnLst/>
            <a:rect l="l" t="t" r="r" b="b"/>
            <a:pathLst>
              <a:path h="81914">
                <a:moveTo>
                  <a:pt x="0" y="81746"/>
                </a:moveTo>
                <a:lnTo>
                  <a:pt x="0" y="0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40028" y="4046548"/>
            <a:ext cx="0" cy="81915"/>
          </a:xfrm>
          <a:custGeom>
            <a:avLst/>
            <a:gdLst/>
            <a:ahLst/>
            <a:cxnLst/>
            <a:rect l="l" t="t" r="r" b="b"/>
            <a:pathLst>
              <a:path h="81914">
                <a:moveTo>
                  <a:pt x="0" y="0"/>
                </a:moveTo>
                <a:lnTo>
                  <a:pt x="0" y="81746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40028" y="4179849"/>
            <a:ext cx="0" cy="81915"/>
          </a:xfrm>
          <a:custGeom>
            <a:avLst/>
            <a:gdLst/>
            <a:ahLst/>
            <a:cxnLst/>
            <a:rect l="l" t="t" r="r" b="b"/>
            <a:pathLst>
              <a:path h="81914">
                <a:moveTo>
                  <a:pt x="0" y="0"/>
                </a:moveTo>
                <a:lnTo>
                  <a:pt x="0" y="81746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440028" y="4312722"/>
            <a:ext cx="0" cy="81915"/>
          </a:xfrm>
          <a:custGeom>
            <a:avLst/>
            <a:gdLst/>
            <a:ahLst/>
            <a:cxnLst/>
            <a:rect l="l" t="t" r="r" b="b"/>
            <a:pathLst>
              <a:path h="81914">
                <a:moveTo>
                  <a:pt x="0" y="0"/>
                </a:moveTo>
                <a:lnTo>
                  <a:pt x="0" y="81888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440028" y="4445737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031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440028" y="4579038"/>
            <a:ext cx="0" cy="81915"/>
          </a:xfrm>
          <a:custGeom>
            <a:avLst/>
            <a:gdLst/>
            <a:ahLst/>
            <a:cxnLst/>
            <a:rect l="l" t="t" r="r" b="b"/>
            <a:pathLst>
              <a:path h="81914">
                <a:moveTo>
                  <a:pt x="0" y="0"/>
                </a:moveTo>
                <a:lnTo>
                  <a:pt x="0" y="81746"/>
                </a:lnTo>
              </a:path>
            </a:pathLst>
          </a:custGeom>
          <a:ln w="10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5395565" y="4711911"/>
            <a:ext cx="92710" cy="146685"/>
            <a:chOff x="5395565" y="4711911"/>
            <a:chExt cx="92710" cy="146685"/>
          </a:xfrm>
        </p:grpSpPr>
        <p:sp>
          <p:nvSpPr>
            <p:cNvPr id="69" name="object 69"/>
            <p:cNvSpPr/>
            <p:nvPr/>
          </p:nvSpPr>
          <p:spPr>
            <a:xfrm>
              <a:off x="5440028" y="4711911"/>
              <a:ext cx="0" cy="75565"/>
            </a:xfrm>
            <a:custGeom>
              <a:avLst/>
              <a:gdLst/>
              <a:ahLst/>
              <a:cxnLst/>
              <a:rect l="l" t="t" r="r" b="b"/>
              <a:pathLst>
                <a:path h="75564">
                  <a:moveTo>
                    <a:pt x="0" y="0"/>
                  </a:moveTo>
                  <a:lnTo>
                    <a:pt x="0" y="75052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395565" y="4766456"/>
              <a:ext cx="92710" cy="92075"/>
            </a:xfrm>
            <a:custGeom>
              <a:avLst/>
              <a:gdLst/>
              <a:ahLst/>
              <a:cxnLst/>
              <a:rect l="l" t="t" r="r" b="b"/>
              <a:pathLst>
                <a:path w="92710" h="92075">
                  <a:moveTo>
                    <a:pt x="92631" y="0"/>
                  </a:moveTo>
                  <a:lnTo>
                    <a:pt x="61564" y="10253"/>
                  </a:lnTo>
                  <a:lnTo>
                    <a:pt x="27361" y="10253"/>
                  </a:lnTo>
                  <a:lnTo>
                    <a:pt x="0" y="0"/>
                  </a:lnTo>
                  <a:lnTo>
                    <a:pt x="44463" y="92000"/>
                  </a:lnTo>
                  <a:lnTo>
                    <a:pt x="92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1" name="object 71"/>
          <p:cNvGrpSpPr/>
          <p:nvPr/>
        </p:nvGrpSpPr>
        <p:grpSpPr>
          <a:xfrm>
            <a:off x="2574297" y="4167615"/>
            <a:ext cx="2488565" cy="1846580"/>
            <a:chOff x="2574297" y="4167615"/>
            <a:chExt cx="2488565" cy="1846580"/>
          </a:xfrm>
        </p:grpSpPr>
        <p:sp>
          <p:nvSpPr>
            <p:cNvPr id="72" name="object 72"/>
            <p:cNvSpPr/>
            <p:nvPr/>
          </p:nvSpPr>
          <p:spPr>
            <a:xfrm>
              <a:off x="2940263" y="4217261"/>
              <a:ext cx="704850" cy="1791970"/>
            </a:xfrm>
            <a:custGeom>
              <a:avLst/>
              <a:gdLst/>
              <a:ahLst/>
              <a:cxnLst/>
              <a:rect l="l" t="t" r="r" b="b"/>
              <a:pathLst>
                <a:path w="704850" h="1791970">
                  <a:moveTo>
                    <a:pt x="704568" y="255677"/>
                  </a:moveTo>
                  <a:lnTo>
                    <a:pt x="704568" y="1791438"/>
                  </a:lnTo>
                </a:path>
                <a:path w="704850" h="1791970">
                  <a:moveTo>
                    <a:pt x="0" y="255677"/>
                  </a:moveTo>
                  <a:lnTo>
                    <a:pt x="704554" y="255677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  <a:path w="704850" h="1791970">
                  <a:moveTo>
                    <a:pt x="0" y="511739"/>
                  </a:moveTo>
                  <a:lnTo>
                    <a:pt x="704554" y="511739"/>
                  </a:lnTo>
                  <a:lnTo>
                    <a:pt x="704554" y="255720"/>
                  </a:lnTo>
                  <a:lnTo>
                    <a:pt x="0" y="255720"/>
                  </a:lnTo>
                  <a:lnTo>
                    <a:pt x="0" y="511739"/>
                  </a:lnTo>
                  <a:close/>
                </a:path>
              </a:pathLst>
            </a:custGeom>
            <a:ln w="102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940263" y="4217304"/>
              <a:ext cx="704850" cy="511809"/>
            </a:xfrm>
            <a:custGeom>
              <a:avLst/>
              <a:gdLst/>
              <a:ahLst/>
              <a:cxnLst/>
              <a:rect l="l" t="t" r="r" b="b"/>
              <a:pathLst>
                <a:path w="704850" h="511810">
                  <a:moveTo>
                    <a:pt x="0" y="511697"/>
                  </a:moveTo>
                  <a:lnTo>
                    <a:pt x="704568" y="511697"/>
                  </a:lnTo>
                  <a:lnTo>
                    <a:pt x="704568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323329" y="4800493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184427"/>
                  </a:moveTo>
                  <a:lnTo>
                    <a:pt x="0" y="0"/>
                  </a:lnTo>
                </a:path>
              </a:pathLst>
            </a:custGeom>
            <a:ln w="102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278866" y="4729001"/>
              <a:ext cx="92710" cy="92075"/>
            </a:xfrm>
            <a:custGeom>
              <a:avLst/>
              <a:gdLst/>
              <a:ahLst/>
              <a:cxnLst/>
              <a:rect l="l" t="t" r="r" b="b"/>
              <a:pathLst>
                <a:path w="92710" h="92075">
                  <a:moveTo>
                    <a:pt x="44463" y="0"/>
                  </a:moveTo>
                  <a:lnTo>
                    <a:pt x="0" y="92000"/>
                  </a:lnTo>
                  <a:lnTo>
                    <a:pt x="30782" y="85164"/>
                  </a:lnTo>
                  <a:lnTo>
                    <a:pt x="61564" y="85164"/>
                  </a:lnTo>
                  <a:lnTo>
                    <a:pt x="92203" y="92000"/>
                  </a:lnTo>
                  <a:lnTo>
                    <a:pt x="444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44831" y="4984964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70455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554" y="256019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44831" y="4984964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0" y="256019"/>
                  </a:moveTo>
                  <a:lnTo>
                    <a:pt x="704554" y="256019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644831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704554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4554" y="255677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644831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0" y="255677"/>
                  </a:moveTo>
                  <a:lnTo>
                    <a:pt x="704554" y="255677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644831" y="4984921"/>
              <a:ext cx="704850" cy="511809"/>
            </a:xfrm>
            <a:custGeom>
              <a:avLst/>
              <a:gdLst/>
              <a:ahLst/>
              <a:cxnLst/>
              <a:rect l="l" t="t" r="r" b="b"/>
              <a:pathLst>
                <a:path w="704850" h="511810">
                  <a:moveTo>
                    <a:pt x="0" y="511697"/>
                  </a:moveTo>
                  <a:lnTo>
                    <a:pt x="704568" y="511697"/>
                  </a:lnTo>
                  <a:lnTo>
                    <a:pt x="704568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9046" y="4173013"/>
              <a:ext cx="0" cy="614045"/>
            </a:xfrm>
            <a:custGeom>
              <a:avLst/>
              <a:gdLst/>
              <a:ahLst/>
              <a:cxnLst/>
              <a:rect l="l" t="t" r="r" b="b"/>
              <a:pathLst>
                <a:path h="614045">
                  <a:moveTo>
                    <a:pt x="0" y="613951"/>
                  </a:moveTo>
                  <a:lnTo>
                    <a:pt x="0" y="532062"/>
                  </a:lnTo>
                </a:path>
                <a:path h="614045">
                  <a:moveTo>
                    <a:pt x="0" y="480935"/>
                  </a:moveTo>
                  <a:lnTo>
                    <a:pt x="0" y="399189"/>
                  </a:lnTo>
                </a:path>
                <a:path h="614045">
                  <a:moveTo>
                    <a:pt x="0" y="348062"/>
                  </a:moveTo>
                  <a:lnTo>
                    <a:pt x="0" y="265888"/>
                  </a:lnTo>
                </a:path>
                <a:path h="614045">
                  <a:moveTo>
                    <a:pt x="0" y="214761"/>
                  </a:moveTo>
                  <a:lnTo>
                    <a:pt x="0" y="132873"/>
                  </a:lnTo>
                </a:path>
                <a:path h="614045">
                  <a:moveTo>
                    <a:pt x="0" y="81746"/>
                  </a:moveTo>
                  <a:lnTo>
                    <a:pt x="0" y="0"/>
                  </a:lnTo>
                </a:path>
              </a:pathLst>
            </a:custGeom>
            <a:ln w="102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574297" y="4766456"/>
              <a:ext cx="92710" cy="92075"/>
            </a:xfrm>
            <a:custGeom>
              <a:avLst/>
              <a:gdLst/>
              <a:ahLst/>
              <a:cxnLst/>
              <a:rect l="l" t="t" r="r" b="b"/>
              <a:pathLst>
                <a:path w="92710" h="92075">
                  <a:moveTo>
                    <a:pt x="92631" y="0"/>
                  </a:moveTo>
                  <a:lnTo>
                    <a:pt x="61849" y="10253"/>
                  </a:lnTo>
                  <a:lnTo>
                    <a:pt x="27361" y="10253"/>
                  </a:lnTo>
                  <a:lnTo>
                    <a:pt x="0" y="0"/>
                  </a:lnTo>
                  <a:lnTo>
                    <a:pt x="44748" y="92000"/>
                  </a:lnTo>
                  <a:lnTo>
                    <a:pt x="92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349400" y="4984964"/>
              <a:ext cx="708025" cy="256540"/>
            </a:xfrm>
            <a:custGeom>
              <a:avLst/>
              <a:gdLst/>
              <a:ahLst/>
              <a:cxnLst/>
              <a:rect l="l" t="t" r="r" b="b"/>
              <a:pathLst>
                <a:path w="708025" h="256539">
                  <a:moveTo>
                    <a:pt x="707632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7632" y="256019"/>
                  </a:lnTo>
                  <a:lnTo>
                    <a:pt x="707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349400" y="4984964"/>
              <a:ext cx="708025" cy="256540"/>
            </a:xfrm>
            <a:custGeom>
              <a:avLst/>
              <a:gdLst/>
              <a:ahLst/>
              <a:cxnLst/>
              <a:rect l="l" t="t" r="r" b="b"/>
              <a:pathLst>
                <a:path w="708025" h="256539">
                  <a:moveTo>
                    <a:pt x="0" y="256019"/>
                  </a:moveTo>
                  <a:lnTo>
                    <a:pt x="707632" y="256019"/>
                  </a:lnTo>
                  <a:lnTo>
                    <a:pt x="707632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349400" y="5240940"/>
              <a:ext cx="708025" cy="255904"/>
            </a:xfrm>
            <a:custGeom>
              <a:avLst/>
              <a:gdLst/>
              <a:ahLst/>
              <a:cxnLst/>
              <a:rect l="l" t="t" r="r" b="b"/>
              <a:pathLst>
                <a:path w="708025" h="255904">
                  <a:moveTo>
                    <a:pt x="707632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7632" y="255677"/>
                  </a:lnTo>
                  <a:lnTo>
                    <a:pt x="7076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349400" y="5240940"/>
              <a:ext cx="708025" cy="255904"/>
            </a:xfrm>
            <a:custGeom>
              <a:avLst/>
              <a:gdLst/>
              <a:ahLst/>
              <a:cxnLst/>
              <a:rect l="l" t="t" r="r" b="b"/>
              <a:pathLst>
                <a:path w="708025" h="255904">
                  <a:moveTo>
                    <a:pt x="0" y="255677"/>
                  </a:moveTo>
                  <a:lnTo>
                    <a:pt x="707632" y="255677"/>
                  </a:lnTo>
                  <a:lnTo>
                    <a:pt x="707632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339370" y="5238281"/>
            <a:ext cx="72771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latin typeface="Arial MT"/>
                <a:cs typeface="Arial MT"/>
              </a:rPr>
              <a:t>11101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333843" y="4969363"/>
            <a:ext cx="1433195" cy="542925"/>
            <a:chOff x="4333843" y="4969363"/>
            <a:chExt cx="1433195" cy="542925"/>
          </a:xfrm>
        </p:grpSpPr>
        <p:sp>
          <p:nvSpPr>
            <p:cNvPr id="89" name="object 89"/>
            <p:cNvSpPr/>
            <p:nvPr/>
          </p:nvSpPr>
          <p:spPr>
            <a:xfrm>
              <a:off x="4349400" y="4984921"/>
              <a:ext cx="708025" cy="511809"/>
            </a:xfrm>
            <a:custGeom>
              <a:avLst/>
              <a:gdLst/>
              <a:ahLst/>
              <a:cxnLst/>
              <a:rect l="l" t="t" r="r" b="b"/>
              <a:pathLst>
                <a:path w="708025" h="511810">
                  <a:moveTo>
                    <a:pt x="0" y="511697"/>
                  </a:moveTo>
                  <a:lnTo>
                    <a:pt x="707561" y="511697"/>
                  </a:lnTo>
                  <a:lnTo>
                    <a:pt x="707561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056962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704554" y="0"/>
                  </a:moveTo>
                  <a:lnTo>
                    <a:pt x="0" y="0"/>
                  </a:lnTo>
                  <a:lnTo>
                    <a:pt x="0" y="256019"/>
                  </a:lnTo>
                  <a:lnTo>
                    <a:pt x="704554" y="256019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056962" y="4984963"/>
              <a:ext cx="704850" cy="256540"/>
            </a:xfrm>
            <a:custGeom>
              <a:avLst/>
              <a:gdLst/>
              <a:ahLst/>
              <a:cxnLst/>
              <a:rect l="l" t="t" r="r" b="b"/>
              <a:pathLst>
                <a:path w="704850" h="256539">
                  <a:moveTo>
                    <a:pt x="0" y="256019"/>
                  </a:moveTo>
                  <a:lnTo>
                    <a:pt x="704554" y="256019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6019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800772" y="4982218"/>
            <a:ext cx="5047615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  <a:tabLst>
                <a:tab pos="812165" algn="l"/>
                <a:tab pos="1517015" algn="l"/>
                <a:tab pos="2221230" algn="l"/>
                <a:tab pos="2925445" algn="l"/>
                <a:tab pos="3633470" algn="l"/>
                <a:tab pos="4338320" algn="l"/>
              </a:tabLst>
            </a:pPr>
            <a:r>
              <a:rPr sz="1350" spc="-10" dirty="0">
                <a:latin typeface="Arial MT"/>
                <a:cs typeface="Arial MT"/>
              </a:rPr>
              <a:t>11000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00001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11010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01111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10100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10110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5041593" y="4969551"/>
            <a:ext cx="735330" cy="542925"/>
            <a:chOff x="5041593" y="4969551"/>
            <a:chExt cx="735330" cy="542925"/>
          </a:xfrm>
        </p:grpSpPr>
        <p:sp>
          <p:nvSpPr>
            <p:cNvPr id="94" name="object 94"/>
            <p:cNvSpPr/>
            <p:nvPr/>
          </p:nvSpPr>
          <p:spPr>
            <a:xfrm>
              <a:off x="5056962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704554" y="0"/>
                  </a:moveTo>
                  <a:lnTo>
                    <a:pt x="0" y="0"/>
                  </a:lnTo>
                  <a:lnTo>
                    <a:pt x="0" y="255677"/>
                  </a:lnTo>
                  <a:lnTo>
                    <a:pt x="704554" y="255677"/>
                  </a:lnTo>
                  <a:lnTo>
                    <a:pt x="704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056962" y="5240940"/>
              <a:ext cx="704850" cy="255904"/>
            </a:xfrm>
            <a:custGeom>
              <a:avLst/>
              <a:gdLst/>
              <a:ahLst/>
              <a:cxnLst/>
              <a:rect l="l" t="t" r="r" b="b"/>
              <a:pathLst>
                <a:path w="704850" h="255904">
                  <a:moveTo>
                    <a:pt x="0" y="255677"/>
                  </a:moveTo>
                  <a:lnTo>
                    <a:pt x="704554" y="255677"/>
                  </a:lnTo>
                  <a:lnTo>
                    <a:pt x="704554" y="0"/>
                  </a:lnTo>
                  <a:lnTo>
                    <a:pt x="0" y="0"/>
                  </a:lnTo>
                  <a:lnTo>
                    <a:pt x="0" y="255677"/>
                  </a:lnTo>
                  <a:close/>
                </a:path>
              </a:pathLst>
            </a:custGeom>
            <a:ln w="10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5056962" y="4984921"/>
              <a:ext cx="704850" cy="511809"/>
            </a:xfrm>
            <a:custGeom>
              <a:avLst/>
              <a:gdLst/>
              <a:ahLst/>
              <a:cxnLst/>
              <a:rect l="l" t="t" r="r" b="b"/>
              <a:pathLst>
                <a:path w="704850" h="511810">
                  <a:moveTo>
                    <a:pt x="0" y="511697"/>
                  </a:moveTo>
                  <a:lnTo>
                    <a:pt x="704568" y="511697"/>
                  </a:lnTo>
                  <a:lnTo>
                    <a:pt x="704568" y="0"/>
                  </a:lnTo>
                  <a:lnTo>
                    <a:pt x="0" y="0"/>
                  </a:lnTo>
                  <a:lnTo>
                    <a:pt x="0" y="511697"/>
                  </a:lnTo>
                </a:path>
              </a:pathLst>
            </a:custGeom>
            <a:ln w="307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3771741" y="5494200"/>
            <a:ext cx="1877060" cy="230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758190" algn="l"/>
                <a:tab pos="1463040" algn="l"/>
              </a:tabLst>
            </a:pPr>
            <a:r>
              <a:rPr sz="1350" spc="-20" dirty="0">
                <a:latin typeface="Arial MT"/>
                <a:cs typeface="Arial MT"/>
              </a:rPr>
              <a:t>100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101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r>
              <a:rPr sz="1275" baseline="-29411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110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499371" y="2625504"/>
            <a:ext cx="215836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14"/>
              </a:spcBef>
              <a:tabLst>
                <a:tab pos="805815" algn="l"/>
                <a:tab pos="1504950" algn="l"/>
              </a:tabLst>
            </a:pPr>
            <a:r>
              <a:rPr sz="1350" spc="-10" dirty="0">
                <a:latin typeface="Arial MT"/>
                <a:cs typeface="Arial MT"/>
              </a:rPr>
              <a:t>11001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2923220" y="2367611"/>
            <a:ext cx="699135" cy="521334"/>
          </a:xfrm>
          <a:custGeom>
            <a:avLst/>
            <a:gdLst/>
            <a:ahLst/>
            <a:cxnLst/>
            <a:rect l="l" t="t" r="r" b="b"/>
            <a:pathLst>
              <a:path w="699135" h="521335">
                <a:moveTo>
                  <a:pt x="0" y="520942"/>
                </a:moveTo>
                <a:lnTo>
                  <a:pt x="698964" y="520942"/>
                </a:lnTo>
                <a:lnTo>
                  <a:pt x="698964" y="0"/>
                </a:lnTo>
                <a:lnTo>
                  <a:pt x="0" y="0"/>
                </a:lnTo>
                <a:lnTo>
                  <a:pt x="0" y="520942"/>
                </a:lnTo>
              </a:path>
            </a:pathLst>
          </a:custGeom>
          <a:ln w="30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948811" y="2885982"/>
            <a:ext cx="11512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752475" algn="l"/>
              </a:tabLst>
            </a:pPr>
            <a:r>
              <a:rPr sz="1350" spc="-20" dirty="0">
                <a:latin typeface="Arial MT"/>
                <a:cs typeface="Arial MT"/>
              </a:rPr>
              <a:t>000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409954" y="2885982"/>
            <a:ext cx="32893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Arial MT"/>
                <a:cs typeface="Arial MT"/>
              </a:rPr>
              <a:t>10</a:t>
            </a:r>
            <a:r>
              <a:rPr sz="1350" spc="-3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108919" y="2885982"/>
            <a:ext cx="32893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350" spc="-25" dirty="0">
                <a:latin typeface="Arial MT"/>
                <a:cs typeface="Arial MT"/>
              </a:rPr>
              <a:t>11</a:t>
            </a:r>
            <a:r>
              <a:rPr sz="1350" spc="-3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2471312" y="3331772"/>
            <a:ext cx="2740660" cy="111315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sz="1350" spc="-5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  <a:p>
            <a:pPr marL="454659">
              <a:lnSpc>
                <a:spcPct val="100000"/>
              </a:lnSpc>
              <a:spcBef>
                <a:spcPts val="575"/>
              </a:spcBef>
            </a:pPr>
            <a:r>
              <a:rPr sz="1350" dirty="0">
                <a:latin typeface="Arial MT"/>
                <a:cs typeface="Arial MT"/>
              </a:rPr>
              <a:t>Division du bloc</a:t>
            </a:r>
            <a:r>
              <a:rPr sz="1350" spc="-5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10</a:t>
            </a:r>
            <a:r>
              <a:rPr sz="1275" baseline="-29411" dirty="0">
                <a:latin typeface="Arial MT"/>
                <a:cs typeface="Arial MT"/>
              </a:rPr>
              <a:t>2</a:t>
            </a:r>
            <a:r>
              <a:rPr sz="1275" spc="187" baseline="-29411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(</a:t>
            </a:r>
            <a:r>
              <a:rPr sz="1350" i="1" dirty="0">
                <a:latin typeface="Arial"/>
                <a:cs typeface="Arial"/>
              </a:rPr>
              <a:t>p</a:t>
            </a:r>
            <a:r>
              <a:rPr sz="1350" i="1" spc="5" dirty="0">
                <a:latin typeface="Arial"/>
                <a:cs typeface="Arial"/>
              </a:rPr>
              <a:t> </a:t>
            </a:r>
            <a:r>
              <a:rPr sz="1350" dirty="0">
                <a:latin typeface="Arial MT"/>
                <a:cs typeface="Arial MT"/>
              </a:rPr>
              <a:t>=</a:t>
            </a:r>
            <a:r>
              <a:rPr sz="1350" spc="-5" dirty="0">
                <a:latin typeface="Arial MT"/>
                <a:cs typeface="Arial MT"/>
              </a:rPr>
              <a:t> </a:t>
            </a:r>
            <a:r>
              <a:rPr sz="1350" spc="-20" dirty="0">
                <a:latin typeface="Arial MT"/>
                <a:cs typeface="Arial MT"/>
              </a:rPr>
              <a:t>10</a:t>
            </a:r>
            <a:r>
              <a:rPr sz="1275" spc="-30" baseline="-29411" dirty="0">
                <a:latin typeface="Arial MT"/>
                <a:cs typeface="Arial MT"/>
              </a:rPr>
              <a:t>2</a:t>
            </a:r>
            <a:r>
              <a:rPr sz="1350" spc="-20" dirty="0">
                <a:latin typeface="Arial MT"/>
                <a:cs typeface="Arial MT"/>
              </a:rPr>
              <a:t>)</a:t>
            </a:r>
            <a:endParaRPr sz="1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350">
              <a:latin typeface="Arial MT"/>
              <a:cs typeface="Arial MT"/>
            </a:endParaRPr>
          </a:p>
          <a:p>
            <a:pPr marL="551180">
              <a:lnSpc>
                <a:spcPct val="100000"/>
              </a:lnSpc>
            </a:pPr>
            <a:r>
              <a:rPr sz="1350" spc="-10" dirty="0">
                <a:latin typeface="Arial MT"/>
                <a:cs typeface="Arial MT"/>
              </a:rPr>
              <a:t>10111</a:t>
            </a:r>
            <a:r>
              <a:rPr sz="1275" spc="-15" baseline="-29411" dirty="0">
                <a:latin typeface="Arial MT"/>
                <a:cs typeface="Arial MT"/>
              </a:rPr>
              <a:t>2</a:t>
            </a:r>
            <a:endParaRPr sz="1275" baseline="-29411">
              <a:latin typeface="Arial MT"/>
              <a:cs typeface="Arial MT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2509412" y="1581125"/>
            <a:ext cx="1118235" cy="1833880"/>
            <a:chOff x="2509412" y="1581125"/>
            <a:chExt cx="1118235" cy="1833880"/>
          </a:xfrm>
        </p:grpSpPr>
        <p:sp>
          <p:nvSpPr>
            <p:cNvPr id="105" name="object 105"/>
            <p:cNvSpPr/>
            <p:nvPr/>
          </p:nvSpPr>
          <p:spPr>
            <a:xfrm>
              <a:off x="2556773" y="3218394"/>
              <a:ext cx="0" cy="191135"/>
            </a:xfrm>
            <a:custGeom>
              <a:avLst/>
              <a:gdLst/>
              <a:ahLst/>
              <a:cxnLst/>
              <a:rect l="l" t="t" r="r" b="b"/>
              <a:pathLst>
                <a:path h="191135">
                  <a:moveTo>
                    <a:pt x="0" y="190769"/>
                  </a:moveTo>
                  <a:lnTo>
                    <a:pt x="0" y="0"/>
                  </a:lnTo>
                </a:path>
              </a:pathLst>
            </a:custGeom>
            <a:ln w="10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09412" y="3148685"/>
              <a:ext cx="92075" cy="94615"/>
            </a:xfrm>
            <a:custGeom>
              <a:avLst/>
              <a:gdLst/>
              <a:ahLst/>
              <a:cxnLst/>
              <a:rect l="l" t="t" r="r" b="b"/>
              <a:pathLst>
                <a:path w="92075" h="94614">
                  <a:moveTo>
                    <a:pt x="47361" y="0"/>
                  </a:moveTo>
                  <a:lnTo>
                    <a:pt x="0" y="93993"/>
                  </a:lnTo>
                  <a:lnTo>
                    <a:pt x="30537" y="83590"/>
                  </a:lnTo>
                  <a:lnTo>
                    <a:pt x="64326" y="83590"/>
                  </a:lnTo>
                  <a:lnTo>
                    <a:pt x="91470" y="93993"/>
                  </a:lnTo>
                  <a:lnTo>
                    <a:pt x="473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923220" y="1586523"/>
              <a:ext cx="699135" cy="1823085"/>
            </a:xfrm>
            <a:custGeom>
              <a:avLst/>
              <a:gdLst/>
              <a:ahLst/>
              <a:cxnLst/>
              <a:rect l="l" t="t" r="r" b="b"/>
              <a:pathLst>
                <a:path w="699135" h="1823085">
                  <a:moveTo>
                    <a:pt x="698964" y="260478"/>
                  </a:moveTo>
                  <a:lnTo>
                    <a:pt x="698964" y="1822640"/>
                  </a:lnTo>
                </a:path>
                <a:path w="699135" h="18230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2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2913323" y="1584241"/>
            <a:ext cx="71882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latin typeface="Arial MT"/>
                <a:cs typeface="Arial MT"/>
              </a:rPr>
              <a:t>10111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2907663" y="1570922"/>
            <a:ext cx="2121535" cy="1333500"/>
            <a:chOff x="2907663" y="1570922"/>
            <a:chExt cx="2121535" cy="1333500"/>
          </a:xfrm>
        </p:grpSpPr>
        <p:sp>
          <p:nvSpPr>
            <p:cNvPr id="110" name="object 110"/>
            <p:cNvSpPr/>
            <p:nvPr/>
          </p:nvSpPr>
          <p:spPr>
            <a:xfrm>
              <a:off x="2923220" y="1847045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950" y="260478"/>
                  </a:lnTo>
                  <a:lnTo>
                    <a:pt x="698950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923220" y="1586480"/>
              <a:ext cx="699135" cy="521334"/>
            </a:xfrm>
            <a:custGeom>
              <a:avLst/>
              <a:gdLst/>
              <a:ahLst/>
              <a:cxnLst/>
              <a:rect l="l" t="t" r="r" b="b"/>
              <a:pathLst>
                <a:path w="699135" h="521335">
                  <a:moveTo>
                    <a:pt x="0" y="521044"/>
                  </a:moveTo>
                  <a:lnTo>
                    <a:pt x="698964" y="521044"/>
                  </a:lnTo>
                  <a:lnTo>
                    <a:pt x="698964" y="0"/>
                  </a:lnTo>
                  <a:lnTo>
                    <a:pt x="0" y="0"/>
                  </a:lnTo>
                  <a:lnTo>
                    <a:pt x="0" y="521044"/>
                  </a:lnTo>
                </a:path>
              </a:pathLst>
            </a:custGeom>
            <a:ln w="30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303240" y="2176784"/>
              <a:ext cx="0" cy="191135"/>
            </a:xfrm>
            <a:custGeom>
              <a:avLst/>
              <a:gdLst/>
              <a:ahLst/>
              <a:cxnLst/>
              <a:rect l="l" t="t" r="r" b="b"/>
              <a:pathLst>
                <a:path h="191135">
                  <a:moveTo>
                    <a:pt x="0" y="190827"/>
                  </a:moveTo>
                  <a:lnTo>
                    <a:pt x="0" y="0"/>
                  </a:lnTo>
                </a:path>
              </a:pathLst>
            </a:custGeom>
            <a:ln w="101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259131" y="2107524"/>
              <a:ext cx="92075" cy="93980"/>
            </a:xfrm>
            <a:custGeom>
              <a:avLst/>
              <a:gdLst/>
              <a:ahLst/>
              <a:cxnLst/>
              <a:rect l="l" t="t" r="r" b="b"/>
              <a:pathLst>
                <a:path w="92075" h="93980">
                  <a:moveTo>
                    <a:pt x="44109" y="0"/>
                  </a:moveTo>
                  <a:lnTo>
                    <a:pt x="0" y="93602"/>
                  </a:lnTo>
                  <a:lnTo>
                    <a:pt x="30537" y="83170"/>
                  </a:lnTo>
                  <a:lnTo>
                    <a:pt x="61074" y="83170"/>
                  </a:lnTo>
                  <a:lnTo>
                    <a:pt x="91611" y="93602"/>
                  </a:lnTo>
                  <a:lnTo>
                    <a:pt x="441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622185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611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611" y="260478"/>
                  </a:lnTo>
                  <a:lnTo>
                    <a:pt x="6986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622185" y="2367597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611" y="260478"/>
                  </a:lnTo>
                  <a:lnTo>
                    <a:pt x="698611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622185" y="2628076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698611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698611" y="260478"/>
                  </a:lnTo>
                  <a:lnTo>
                    <a:pt x="6986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622185" y="2628076"/>
              <a:ext cx="699135" cy="260985"/>
            </a:xfrm>
            <a:custGeom>
              <a:avLst/>
              <a:gdLst/>
              <a:ahLst/>
              <a:cxnLst/>
              <a:rect l="l" t="t" r="r" b="b"/>
              <a:pathLst>
                <a:path w="699135" h="260985">
                  <a:moveTo>
                    <a:pt x="0" y="260478"/>
                  </a:moveTo>
                  <a:lnTo>
                    <a:pt x="698611" y="260478"/>
                  </a:lnTo>
                  <a:lnTo>
                    <a:pt x="698611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622185" y="2367611"/>
              <a:ext cx="699135" cy="521334"/>
            </a:xfrm>
            <a:custGeom>
              <a:avLst/>
              <a:gdLst/>
              <a:ahLst/>
              <a:cxnLst/>
              <a:rect l="l" t="t" r="r" b="b"/>
              <a:pathLst>
                <a:path w="699135" h="521335">
                  <a:moveTo>
                    <a:pt x="0" y="520942"/>
                  </a:moveTo>
                  <a:lnTo>
                    <a:pt x="698682" y="520942"/>
                  </a:lnTo>
                  <a:lnTo>
                    <a:pt x="698682" y="0"/>
                  </a:lnTo>
                  <a:lnTo>
                    <a:pt x="0" y="0"/>
                  </a:lnTo>
                  <a:lnTo>
                    <a:pt x="0" y="520942"/>
                  </a:lnTo>
                </a:path>
              </a:pathLst>
            </a:custGeom>
            <a:ln w="309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320867" y="2367597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5" h="260985">
                  <a:moveTo>
                    <a:pt x="702343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702343" y="260478"/>
                  </a:lnTo>
                  <a:lnTo>
                    <a:pt x="702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320867" y="2367597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5" h="260985">
                  <a:moveTo>
                    <a:pt x="0" y="260478"/>
                  </a:moveTo>
                  <a:lnTo>
                    <a:pt x="702343" y="260478"/>
                  </a:lnTo>
                  <a:lnTo>
                    <a:pt x="702343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800415" y="2365373"/>
            <a:ext cx="429641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14"/>
              </a:spcBef>
              <a:tabLst>
                <a:tab pos="805815" algn="l"/>
                <a:tab pos="1504950" algn="l"/>
                <a:tab pos="2204085" algn="l"/>
                <a:tab pos="2902585" algn="l"/>
                <a:tab pos="3604895" algn="l"/>
              </a:tabLst>
            </a:pPr>
            <a:r>
              <a:rPr sz="1350" spc="-10" dirty="0">
                <a:latin typeface="Arial MT"/>
                <a:cs typeface="Arial MT"/>
              </a:rPr>
              <a:t>11000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00001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01111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4315470" y="2622678"/>
            <a:ext cx="713740" cy="271780"/>
            <a:chOff x="4315470" y="2622678"/>
            <a:chExt cx="713740" cy="271780"/>
          </a:xfrm>
        </p:grpSpPr>
        <p:sp>
          <p:nvSpPr>
            <p:cNvPr id="123" name="object 123"/>
            <p:cNvSpPr/>
            <p:nvPr/>
          </p:nvSpPr>
          <p:spPr>
            <a:xfrm>
              <a:off x="4320867" y="2628075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5" h="260985">
                  <a:moveTo>
                    <a:pt x="702343" y="0"/>
                  </a:moveTo>
                  <a:lnTo>
                    <a:pt x="0" y="0"/>
                  </a:lnTo>
                  <a:lnTo>
                    <a:pt x="0" y="260478"/>
                  </a:lnTo>
                  <a:lnTo>
                    <a:pt x="702343" y="260478"/>
                  </a:lnTo>
                  <a:lnTo>
                    <a:pt x="702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320867" y="2628075"/>
              <a:ext cx="702945" cy="260985"/>
            </a:xfrm>
            <a:custGeom>
              <a:avLst/>
              <a:gdLst/>
              <a:ahLst/>
              <a:cxnLst/>
              <a:rect l="l" t="t" r="r" b="b"/>
              <a:pathLst>
                <a:path w="702945" h="260985">
                  <a:moveTo>
                    <a:pt x="0" y="260478"/>
                  </a:moveTo>
                  <a:lnTo>
                    <a:pt x="702343" y="260478"/>
                  </a:lnTo>
                  <a:lnTo>
                    <a:pt x="702343" y="0"/>
                  </a:lnTo>
                  <a:lnTo>
                    <a:pt x="0" y="0"/>
                  </a:lnTo>
                  <a:lnTo>
                    <a:pt x="0" y="260478"/>
                  </a:lnTo>
                  <a:close/>
                </a:path>
              </a:pathLst>
            </a:custGeom>
            <a:ln w="103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4310970" y="2625504"/>
            <a:ext cx="72263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latin typeface="Arial MT"/>
                <a:cs typeface="Arial MT"/>
              </a:rPr>
              <a:t>11101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26" name="object 126"/>
          <p:cNvSpPr/>
          <p:nvPr/>
        </p:nvSpPr>
        <p:spPr>
          <a:xfrm>
            <a:off x="4320868" y="2367611"/>
            <a:ext cx="702945" cy="521334"/>
          </a:xfrm>
          <a:custGeom>
            <a:avLst/>
            <a:gdLst/>
            <a:ahLst/>
            <a:cxnLst/>
            <a:rect l="l" t="t" r="r" b="b"/>
            <a:pathLst>
              <a:path w="702945" h="521335">
                <a:moveTo>
                  <a:pt x="0" y="520942"/>
                </a:moveTo>
                <a:lnTo>
                  <a:pt x="702357" y="520942"/>
                </a:lnTo>
                <a:lnTo>
                  <a:pt x="702357" y="0"/>
                </a:lnTo>
                <a:lnTo>
                  <a:pt x="0" y="0"/>
                </a:lnTo>
                <a:lnTo>
                  <a:pt x="0" y="520942"/>
                </a:lnTo>
              </a:path>
            </a:pathLst>
          </a:custGeom>
          <a:ln w="309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 txBox="1"/>
          <p:nvPr/>
        </p:nvSpPr>
        <p:spPr>
          <a:xfrm>
            <a:off x="3747682" y="2885982"/>
            <a:ext cx="115125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752475" algn="l"/>
              </a:tabLst>
            </a:pPr>
            <a:r>
              <a:rPr sz="1350" spc="-20" dirty="0">
                <a:latin typeface="Arial MT"/>
                <a:cs typeface="Arial MT"/>
              </a:rPr>
              <a:t>100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4690109" y="1708530"/>
            <a:ext cx="38087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3180" indent="-343535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93700" algn="l"/>
              </a:tabLst>
            </a:pPr>
            <a:r>
              <a:rPr sz="2400" dirty="0">
                <a:latin typeface="Tahoma"/>
                <a:cs typeface="Tahoma"/>
              </a:rPr>
              <a:t>Bloc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#10</a:t>
            </a:r>
            <a:r>
              <a:rPr sz="2400" baseline="-20833" dirty="0">
                <a:latin typeface="Tahoma"/>
                <a:cs typeface="Tahoma"/>
              </a:rPr>
              <a:t>2</a:t>
            </a:r>
            <a:r>
              <a:rPr sz="2400" spc="367" baseline="-2083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déborde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est </a:t>
            </a:r>
            <a:r>
              <a:rPr sz="2400" spc="-10" dirty="0">
                <a:latin typeface="Tahoma"/>
                <a:cs typeface="Tahoma"/>
              </a:rPr>
              <a:t>divisé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9281" y="6427419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49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57220" y="635888"/>
            <a:ext cx="41344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01101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1037" y="2383226"/>
            <a:ext cx="8086725" cy="1579245"/>
            <a:chOff x="681037" y="2383226"/>
            <a:chExt cx="8086725" cy="1579245"/>
          </a:xfrm>
        </p:grpSpPr>
        <p:sp>
          <p:nvSpPr>
            <p:cNvPr id="5" name="object 5"/>
            <p:cNvSpPr/>
            <p:nvPr/>
          </p:nvSpPr>
          <p:spPr>
            <a:xfrm>
              <a:off x="1238250" y="34290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36576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3512" y="2525728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619"/>
                  </a:lnTo>
                  <a:lnTo>
                    <a:pt x="704818" y="256619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3555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3555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3555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555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3555" y="2398783"/>
              <a:ext cx="704850" cy="514350"/>
            </a:xfrm>
            <a:custGeom>
              <a:avLst/>
              <a:gdLst/>
              <a:ahLst/>
              <a:cxnLst/>
              <a:rect l="l" t="t" r="r" b="b"/>
              <a:pathLst>
                <a:path w="704850" h="514350">
                  <a:moveTo>
                    <a:pt x="0" y="513924"/>
                  </a:moveTo>
                  <a:lnTo>
                    <a:pt x="704822" y="513924"/>
                  </a:lnTo>
                  <a:lnTo>
                    <a:pt x="704822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28378" y="2398783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707899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7899" y="256962"/>
                  </a:lnTo>
                  <a:lnTo>
                    <a:pt x="707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28378" y="2398783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0" y="256962"/>
                  </a:moveTo>
                  <a:lnTo>
                    <a:pt x="707899" y="256962"/>
                  </a:lnTo>
                  <a:lnTo>
                    <a:pt x="707899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8378" y="2655746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707899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7899" y="256962"/>
                  </a:lnTo>
                  <a:lnTo>
                    <a:pt x="707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28378" y="2655746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0" y="256962"/>
                  </a:moveTo>
                  <a:lnTo>
                    <a:pt x="707899" y="256962"/>
                  </a:lnTo>
                  <a:lnTo>
                    <a:pt x="707899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8378" y="2398783"/>
              <a:ext cx="708025" cy="514350"/>
            </a:xfrm>
            <a:custGeom>
              <a:avLst/>
              <a:gdLst/>
              <a:ahLst/>
              <a:cxnLst/>
              <a:rect l="l" t="t" r="r" b="b"/>
              <a:pathLst>
                <a:path w="708025" h="514350">
                  <a:moveTo>
                    <a:pt x="0" y="513924"/>
                  </a:moveTo>
                  <a:lnTo>
                    <a:pt x="707870" y="513924"/>
                  </a:lnTo>
                  <a:lnTo>
                    <a:pt x="707870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36248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36248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36248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36248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36248" y="2398783"/>
              <a:ext cx="705485" cy="514350"/>
            </a:xfrm>
            <a:custGeom>
              <a:avLst/>
              <a:gdLst/>
              <a:ahLst/>
              <a:cxnLst/>
              <a:rect l="l" t="t" r="r" b="b"/>
              <a:pathLst>
                <a:path w="705485" h="514350">
                  <a:moveTo>
                    <a:pt x="0" y="513924"/>
                  </a:moveTo>
                  <a:lnTo>
                    <a:pt x="704889" y="513924"/>
                  </a:lnTo>
                  <a:lnTo>
                    <a:pt x="704889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41138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41138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41138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41138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05689" y="2653037"/>
            <a:ext cx="21761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  <a:tabLst>
                <a:tab pos="812800" algn="l"/>
                <a:tab pos="1517015" algn="l"/>
              </a:tabLst>
            </a:pPr>
            <a:r>
              <a:rPr sz="1350" spc="-10" dirty="0">
                <a:latin typeface="Arial MT"/>
                <a:cs typeface="Arial MT"/>
              </a:rPr>
              <a:t>11001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10010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941138" y="2398783"/>
            <a:ext cx="704850" cy="514350"/>
          </a:xfrm>
          <a:custGeom>
            <a:avLst/>
            <a:gdLst/>
            <a:ahLst/>
            <a:cxnLst/>
            <a:rect l="l" t="t" r="r" b="b"/>
            <a:pathLst>
              <a:path w="704850" h="514350">
                <a:moveTo>
                  <a:pt x="0" y="513924"/>
                </a:moveTo>
                <a:lnTo>
                  <a:pt x="704746" y="513924"/>
                </a:lnTo>
                <a:lnTo>
                  <a:pt x="704746" y="0"/>
                </a:lnTo>
                <a:lnTo>
                  <a:pt x="0" y="0"/>
                </a:lnTo>
                <a:lnTo>
                  <a:pt x="0" y="513924"/>
                </a:lnTo>
              </a:path>
            </a:pathLst>
          </a:custGeom>
          <a:ln w="308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50579" y="2909986"/>
            <a:ext cx="18776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58825" algn="l"/>
                <a:tab pos="1463675" algn="l"/>
              </a:tabLst>
            </a:pPr>
            <a:r>
              <a:rPr sz="1350" spc="-20" dirty="0">
                <a:latin typeface="Arial MT"/>
                <a:cs typeface="Arial MT"/>
              </a:rPr>
              <a:t>000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010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28682" y="2909986"/>
            <a:ext cx="3308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latin typeface="Arial MT"/>
                <a:cs typeface="Arial MT"/>
              </a:rPr>
              <a:t>11</a:t>
            </a:r>
            <a:r>
              <a:rPr sz="1350" spc="-3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02007" y="3423568"/>
            <a:ext cx="1206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935740" y="1622841"/>
            <a:ext cx="715645" cy="1809114"/>
            <a:chOff x="2935740" y="1622841"/>
            <a:chExt cx="715645" cy="1809114"/>
          </a:xfrm>
        </p:grpSpPr>
        <p:sp>
          <p:nvSpPr>
            <p:cNvPr id="33" name="object 33"/>
            <p:cNvSpPr/>
            <p:nvPr/>
          </p:nvSpPr>
          <p:spPr>
            <a:xfrm>
              <a:off x="3262917" y="3241169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20">
                  <a:moveTo>
                    <a:pt x="0" y="185106"/>
                  </a:moveTo>
                  <a:lnTo>
                    <a:pt x="0" y="0"/>
                  </a:lnTo>
                </a:path>
              </a:pathLst>
            </a:custGeom>
            <a:ln w="10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14707" y="3169328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48209" y="0"/>
                  </a:moveTo>
                  <a:lnTo>
                    <a:pt x="0" y="92381"/>
                  </a:lnTo>
                  <a:lnTo>
                    <a:pt x="30808" y="85535"/>
                  </a:lnTo>
                  <a:lnTo>
                    <a:pt x="61902" y="85535"/>
                  </a:lnTo>
                  <a:lnTo>
                    <a:pt x="92711" y="92381"/>
                  </a:lnTo>
                  <a:lnTo>
                    <a:pt x="48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41138" y="1628239"/>
              <a:ext cx="704850" cy="1798320"/>
            </a:xfrm>
            <a:custGeom>
              <a:avLst/>
              <a:gdLst/>
              <a:ahLst/>
              <a:cxnLst/>
              <a:rect l="l" t="t" r="r" b="b"/>
              <a:pathLst>
                <a:path w="704850" h="1798320">
                  <a:moveTo>
                    <a:pt x="704746" y="256962"/>
                  </a:moveTo>
                  <a:lnTo>
                    <a:pt x="704746" y="1798037"/>
                  </a:lnTo>
                </a:path>
                <a:path w="704850" h="1798320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931149" y="1625816"/>
            <a:ext cx="7251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10111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925580" y="1612639"/>
            <a:ext cx="2138680" cy="1315720"/>
            <a:chOff x="2925580" y="1612639"/>
            <a:chExt cx="2138680" cy="1315720"/>
          </a:xfrm>
        </p:grpSpPr>
        <p:sp>
          <p:nvSpPr>
            <p:cNvPr id="38" name="object 38"/>
            <p:cNvSpPr/>
            <p:nvPr/>
          </p:nvSpPr>
          <p:spPr>
            <a:xfrm>
              <a:off x="2941138" y="1885244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41138" y="1628196"/>
              <a:ext cx="704850" cy="514350"/>
            </a:xfrm>
            <a:custGeom>
              <a:avLst/>
              <a:gdLst/>
              <a:ahLst/>
              <a:cxnLst/>
              <a:rect l="l" t="t" r="r" b="b"/>
              <a:pathLst>
                <a:path w="704850" h="514350">
                  <a:moveTo>
                    <a:pt x="0" y="514010"/>
                  </a:moveTo>
                  <a:lnTo>
                    <a:pt x="704746" y="514010"/>
                  </a:lnTo>
                  <a:lnTo>
                    <a:pt x="704746" y="0"/>
                  </a:lnTo>
                  <a:lnTo>
                    <a:pt x="0" y="0"/>
                  </a:lnTo>
                  <a:lnTo>
                    <a:pt x="0" y="514010"/>
                  </a:lnTo>
                </a:path>
              </a:pathLst>
            </a:custGeom>
            <a:ln w="30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324534" y="2213962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19">
                  <a:moveTo>
                    <a:pt x="0" y="184820"/>
                  </a:moveTo>
                  <a:lnTo>
                    <a:pt x="0" y="0"/>
                  </a:lnTo>
                </a:path>
              </a:pathLst>
            </a:custGeom>
            <a:ln w="10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0032" y="214220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44501" y="0"/>
                  </a:moveTo>
                  <a:lnTo>
                    <a:pt x="0" y="92338"/>
                  </a:lnTo>
                  <a:lnTo>
                    <a:pt x="30808" y="85477"/>
                  </a:lnTo>
                  <a:lnTo>
                    <a:pt x="61474" y="85477"/>
                  </a:lnTo>
                  <a:lnTo>
                    <a:pt x="92283" y="92338"/>
                  </a:lnTo>
                  <a:lnTo>
                    <a:pt x="445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45885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645885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45885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45885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45885" y="2398783"/>
              <a:ext cx="705485" cy="514350"/>
            </a:xfrm>
            <a:custGeom>
              <a:avLst/>
              <a:gdLst/>
              <a:ahLst/>
              <a:cxnLst/>
              <a:rect l="l" t="t" r="r" b="b"/>
              <a:pathLst>
                <a:path w="705485" h="514350">
                  <a:moveTo>
                    <a:pt x="0" y="513924"/>
                  </a:moveTo>
                  <a:lnTo>
                    <a:pt x="704889" y="513924"/>
                  </a:lnTo>
                  <a:lnTo>
                    <a:pt x="704889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50774" y="2398783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707899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7899" y="256962"/>
                  </a:lnTo>
                  <a:lnTo>
                    <a:pt x="707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350774" y="2398783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0" y="256962"/>
                  </a:moveTo>
                  <a:lnTo>
                    <a:pt x="707899" y="256962"/>
                  </a:lnTo>
                  <a:lnTo>
                    <a:pt x="707899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50774" y="2655746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707899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7899" y="256962"/>
                  </a:lnTo>
                  <a:lnTo>
                    <a:pt x="707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50774" y="2655746"/>
              <a:ext cx="708025" cy="257175"/>
            </a:xfrm>
            <a:custGeom>
              <a:avLst/>
              <a:gdLst/>
              <a:ahLst/>
              <a:cxnLst/>
              <a:rect l="l" t="t" r="r" b="b"/>
              <a:pathLst>
                <a:path w="708025" h="257175">
                  <a:moveTo>
                    <a:pt x="0" y="256962"/>
                  </a:moveTo>
                  <a:lnTo>
                    <a:pt x="707899" y="256962"/>
                  </a:lnTo>
                  <a:lnTo>
                    <a:pt x="707899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340785" y="2653037"/>
            <a:ext cx="7283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11101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335217" y="2383226"/>
            <a:ext cx="1433830" cy="545465"/>
            <a:chOff x="4335217" y="2383226"/>
            <a:chExt cx="1433830" cy="545465"/>
          </a:xfrm>
        </p:grpSpPr>
        <p:sp>
          <p:nvSpPr>
            <p:cNvPr id="53" name="object 53"/>
            <p:cNvSpPr/>
            <p:nvPr/>
          </p:nvSpPr>
          <p:spPr>
            <a:xfrm>
              <a:off x="4350774" y="2398783"/>
              <a:ext cx="708025" cy="514350"/>
            </a:xfrm>
            <a:custGeom>
              <a:avLst/>
              <a:gdLst/>
              <a:ahLst/>
              <a:cxnLst/>
              <a:rect l="l" t="t" r="r" b="b"/>
              <a:pathLst>
                <a:path w="708025" h="514350">
                  <a:moveTo>
                    <a:pt x="0" y="513924"/>
                  </a:moveTo>
                  <a:lnTo>
                    <a:pt x="707884" y="513924"/>
                  </a:lnTo>
                  <a:lnTo>
                    <a:pt x="707884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58659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58659" y="2398783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800866" y="2396418"/>
            <a:ext cx="504888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  <a:tabLst>
                <a:tab pos="812800" algn="l"/>
                <a:tab pos="1517650" algn="l"/>
                <a:tab pos="2221865" algn="l"/>
                <a:tab pos="2926715" algn="l"/>
                <a:tab pos="3634740" algn="l"/>
                <a:tab pos="4339590" algn="l"/>
              </a:tabLst>
            </a:pPr>
            <a:r>
              <a:rPr sz="1350" spc="-10" dirty="0">
                <a:latin typeface="Arial MT"/>
                <a:cs typeface="Arial MT"/>
              </a:rPr>
              <a:t>11000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00001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01111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043101" y="2383226"/>
            <a:ext cx="735965" cy="545465"/>
            <a:chOff x="5043101" y="2383226"/>
            <a:chExt cx="735965" cy="545465"/>
          </a:xfrm>
        </p:grpSpPr>
        <p:sp>
          <p:nvSpPr>
            <p:cNvPr id="58" name="object 58"/>
            <p:cNvSpPr/>
            <p:nvPr/>
          </p:nvSpPr>
          <p:spPr>
            <a:xfrm>
              <a:off x="5058659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704818" y="0"/>
                  </a:moveTo>
                  <a:lnTo>
                    <a:pt x="0" y="0"/>
                  </a:lnTo>
                  <a:lnTo>
                    <a:pt x="0" y="256962"/>
                  </a:lnTo>
                  <a:lnTo>
                    <a:pt x="704818" y="256962"/>
                  </a:lnTo>
                  <a:lnTo>
                    <a:pt x="7048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58659" y="2655746"/>
              <a:ext cx="704850" cy="257175"/>
            </a:xfrm>
            <a:custGeom>
              <a:avLst/>
              <a:gdLst/>
              <a:ahLst/>
              <a:cxnLst/>
              <a:rect l="l" t="t" r="r" b="b"/>
              <a:pathLst>
                <a:path w="704850" h="257175">
                  <a:moveTo>
                    <a:pt x="0" y="256962"/>
                  </a:moveTo>
                  <a:lnTo>
                    <a:pt x="704818" y="256962"/>
                  </a:lnTo>
                  <a:lnTo>
                    <a:pt x="704818" y="0"/>
                  </a:lnTo>
                  <a:lnTo>
                    <a:pt x="0" y="0"/>
                  </a:lnTo>
                  <a:lnTo>
                    <a:pt x="0" y="256962"/>
                  </a:lnTo>
                  <a:close/>
                </a:path>
              </a:pathLst>
            </a:custGeom>
            <a:ln w="10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58659" y="2398783"/>
              <a:ext cx="704850" cy="514350"/>
            </a:xfrm>
            <a:custGeom>
              <a:avLst/>
              <a:gdLst/>
              <a:ahLst/>
              <a:cxnLst/>
              <a:rect l="l" t="t" r="r" b="b"/>
              <a:pathLst>
                <a:path w="704850" h="514350">
                  <a:moveTo>
                    <a:pt x="0" y="513924"/>
                  </a:moveTo>
                  <a:lnTo>
                    <a:pt x="704746" y="513924"/>
                  </a:lnTo>
                  <a:lnTo>
                    <a:pt x="704746" y="0"/>
                  </a:lnTo>
                  <a:lnTo>
                    <a:pt x="0" y="0"/>
                  </a:lnTo>
                  <a:lnTo>
                    <a:pt x="0" y="513924"/>
                  </a:lnTo>
                </a:path>
              </a:pathLst>
            </a:custGeom>
            <a:ln w="30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3772947" y="2909986"/>
            <a:ext cx="187769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58825" algn="l"/>
                <a:tab pos="1463040" algn="l"/>
              </a:tabLst>
            </a:pPr>
            <a:r>
              <a:rPr sz="1350" spc="-20" dirty="0">
                <a:latin typeface="Arial MT"/>
                <a:cs typeface="Arial MT"/>
              </a:rPr>
              <a:t>100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110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846064" y="1483273"/>
            <a:ext cx="3100705" cy="21501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6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80365" algn="l"/>
              </a:tabLst>
            </a:pPr>
            <a:r>
              <a:rPr sz="2400" dirty="0">
                <a:latin typeface="Tahoma"/>
                <a:cs typeface="Tahoma"/>
              </a:rPr>
              <a:t>Bloc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#101</a:t>
            </a:r>
            <a:r>
              <a:rPr sz="2400" baseline="-20833" dirty="0">
                <a:latin typeface="Tahoma"/>
                <a:cs typeface="Tahoma"/>
              </a:rPr>
              <a:t>2</a:t>
            </a:r>
            <a:r>
              <a:rPr sz="2400" spc="330" baseline="-20833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déborde</a:t>
            </a:r>
            <a:endParaRPr sz="2400">
              <a:latin typeface="Tahoma"/>
              <a:cs typeface="Tahoma"/>
            </a:endParaRPr>
          </a:p>
          <a:p>
            <a:pPr marL="286385" marR="144780" lvl="1" indent="-286385" algn="r">
              <a:lnSpc>
                <a:spcPct val="100000"/>
              </a:lnSpc>
              <a:spcBef>
                <a:spcPts val="489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286385" algn="l"/>
              </a:tabLst>
            </a:pPr>
            <a:r>
              <a:rPr sz="2000" dirty="0">
                <a:latin typeface="Tahoma"/>
                <a:cs typeface="Tahoma"/>
              </a:rPr>
              <a:t>zone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’expansion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!</a:t>
            </a:r>
            <a:endParaRPr sz="2000">
              <a:latin typeface="Tahoma"/>
              <a:cs typeface="Tahoma"/>
            </a:endParaRPr>
          </a:p>
          <a:p>
            <a:pPr marL="342265" marR="214629" indent="-342265" algn="r">
              <a:lnSpc>
                <a:spcPct val="100000"/>
              </a:lnSpc>
              <a:spcBef>
                <a:spcPts val="57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42265" algn="l"/>
              </a:tabLst>
            </a:pPr>
            <a:r>
              <a:rPr sz="2400" dirty="0">
                <a:latin typeface="Tahoma"/>
                <a:cs typeface="Tahoma"/>
              </a:rPr>
              <a:t>Fin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’expansion</a:t>
            </a:r>
            <a:endParaRPr sz="24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475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80365" algn="l"/>
              </a:tabLst>
            </a:pPr>
            <a:r>
              <a:rPr sz="2500" dirty="0">
                <a:latin typeface="Tahoma"/>
                <a:cs typeface="Tahoma"/>
              </a:rPr>
              <a:t>p</a:t>
            </a:r>
            <a:r>
              <a:rPr sz="25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50" dirty="0">
                <a:latin typeface="Tahoma"/>
                <a:cs typeface="Tahoma"/>
              </a:rPr>
              <a:t> 0</a:t>
            </a:r>
            <a:endParaRPr sz="2400">
              <a:latin typeface="Tahoma"/>
              <a:cs typeface="Tahoma"/>
            </a:endParaRPr>
          </a:p>
          <a:p>
            <a:pPr marL="380365" indent="-342265">
              <a:lnSpc>
                <a:spcPct val="100000"/>
              </a:lnSpc>
              <a:spcBef>
                <a:spcPts val="455"/>
              </a:spcBef>
              <a:buClr>
                <a:srgbClr val="B1B1B1"/>
              </a:buClr>
              <a:buSzPct val="72000"/>
              <a:buFont typeface="Wingdings"/>
              <a:buChar char=""/>
              <a:tabLst>
                <a:tab pos="380365" algn="l"/>
              </a:tabLst>
            </a:pPr>
            <a:r>
              <a:rPr sz="2500" dirty="0">
                <a:latin typeface="Tahoma"/>
                <a:cs typeface="Tahoma"/>
              </a:rPr>
              <a:t>d</a:t>
            </a:r>
            <a:r>
              <a:rPr sz="25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d</a:t>
            </a:r>
            <a:r>
              <a:rPr sz="2400" dirty="0">
                <a:latin typeface="Tahoma"/>
                <a:cs typeface="Tahoma"/>
              </a:rPr>
              <a:t>+1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0" dirty="0">
                <a:latin typeface="Tahoma"/>
                <a:cs typeface="Tahoma"/>
              </a:rPr>
              <a:t> 3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08175" y="4920732"/>
            <a:ext cx="2145665" cy="545465"/>
            <a:chOff x="808175" y="4920732"/>
            <a:chExt cx="2145665" cy="545465"/>
          </a:xfrm>
        </p:grpSpPr>
        <p:sp>
          <p:nvSpPr>
            <p:cNvPr id="64" name="object 64"/>
            <p:cNvSpPr/>
            <p:nvPr/>
          </p:nvSpPr>
          <p:spPr>
            <a:xfrm>
              <a:off x="954062" y="5063268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7184" y="256805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3732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90" h="257175">
                  <a:moveTo>
                    <a:pt x="707184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7184" y="257148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23732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90" h="257175">
                  <a:moveTo>
                    <a:pt x="0" y="257148"/>
                  </a:moveTo>
                  <a:lnTo>
                    <a:pt x="707184" y="257148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23732" y="5193294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90" h="257175">
                  <a:moveTo>
                    <a:pt x="707184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7184" y="256805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23732" y="5193294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90" h="257175">
                  <a:moveTo>
                    <a:pt x="0" y="256805"/>
                  </a:moveTo>
                  <a:lnTo>
                    <a:pt x="707184" y="256805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23732" y="4936289"/>
              <a:ext cx="707390" cy="514350"/>
            </a:xfrm>
            <a:custGeom>
              <a:avLst/>
              <a:gdLst/>
              <a:ahLst/>
              <a:cxnLst/>
              <a:rect l="l" t="t" r="r" b="b"/>
              <a:pathLst>
                <a:path w="707390" h="514350">
                  <a:moveTo>
                    <a:pt x="0" y="513810"/>
                  </a:moveTo>
                  <a:lnTo>
                    <a:pt x="707189" y="513810"/>
                  </a:lnTo>
                  <a:lnTo>
                    <a:pt x="707189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530921" y="4936189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710617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10617" y="257148"/>
                  </a:lnTo>
                  <a:lnTo>
                    <a:pt x="710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30921" y="4936189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7148"/>
                  </a:moveTo>
                  <a:lnTo>
                    <a:pt x="710617" y="257148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530921" y="5193294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710617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10617" y="256805"/>
                  </a:lnTo>
                  <a:lnTo>
                    <a:pt x="710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530921" y="5193294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6805"/>
                  </a:moveTo>
                  <a:lnTo>
                    <a:pt x="710617" y="256805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530921" y="4936289"/>
              <a:ext cx="710565" cy="514350"/>
            </a:xfrm>
            <a:custGeom>
              <a:avLst/>
              <a:gdLst/>
              <a:ahLst/>
              <a:cxnLst/>
              <a:rect l="l" t="t" r="r" b="b"/>
              <a:pathLst>
                <a:path w="710564" h="514350">
                  <a:moveTo>
                    <a:pt x="0" y="513810"/>
                  </a:moveTo>
                  <a:lnTo>
                    <a:pt x="710560" y="513810"/>
                  </a:lnTo>
                  <a:lnTo>
                    <a:pt x="710560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241482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6841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6841" y="257148"/>
                  </a:lnTo>
                  <a:lnTo>
                    <a:pt x="706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241482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7148"/>
                  </a:moveTo>
                  <a:lnTo>
                    <a:pt x="706841" y="257148"/>
                  </a:lnTo>
                  <a:lnTo>
                    <a:pt x="706841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241482" y="5193294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6841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6841" y="256805"/>
                  </a:lnTo>
                  <a:lnTo>
                    <a:pt x="706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241482" y="5193294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6805"/>
                  </a:moveTo>
                  <a:lnTo>
                    <a:pt x="706841" y="256805"/>
                  </a:lnTo>
                  <a:lnTo>
                    <a:pt x="706841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508255" y="5190679"/>
            <a:ext cx="146304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0"/>
              </a:spcBef>
              <a:tabLst>
                <a:tab pos="815340" algn="l"/>
              </a:tabLst>
            </a:pPr>
            <a:r>
              <a:rPr sz="1350" spc="-10" dirty="0">
                <a:latin typeface="Arial MT"/>
                <a:cs typeface="Arial MT"/>
              </a:rPr>
              <a:t>11001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10010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1163604" y="5707291"/>
            <a:ext cx="92710" cy="257175"/>
            <a:chOff x="1163604" y="5707291"/>
            <a:chExt cx="92710" cy="257175"/>
          </a:xfrm>
        </p:grpSpPr>
        <p:sp>
          <p:nvSpPr>
            <p:cNvPr id="81" name="object 81"/>
            <p:cNvSpPr/>
            <p:nvPr/>
          </p:nvSpPr>
          <p:spPr>
            <a:xfrm>
              <a:off x="1211623" y="5779242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20">
                  <a:moveTo>
                    <a:pt x="0" y="184811"/>
                  </a:moveTo>
                  <a:lnTo>
                    <a:pt x="0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63604" y="5707291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10">
                  <a:moveTo>
                    <a:pt x="48019" y="0"/>
                  </a:moveTo>
                  <a:lnTo>
                    <a:pt x="0" y="92405"/>
                  </a:lnTo>
                  <a:lnTo>
                    <a:pt x="30868" y="85682"/>
                  </a:lnTo>
                  <a:lnTo>
                    <a:pt x="61736" y="85682"/>
                  </a:lnTo>
                  <a:lnTo>
                    <a:pt x="92605" y="92405"/>
                  </a:lnTo>
                  <a:lnTo>
                    <a:pt x="480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/>
          <p:nvPr/>
        </p:nvSpPr>
        <p:spPr>
          <a:xfrm>
            <a:off x="825447" y="6222961"/>
            <a:ext cx="5664200" cy="387350"/>
          </a:xfrm>
          <a:custGeom>
            <a:avLst/>
            <a:gdLst/>
            <a:ahLst/>
            <a:cxnLst/>
            <a:rect l="l" t="t" r="r" b="b"/>
            <a:pathLst>
              <a:path w="5664200" h="387350">
                <a:moveTo>
                  <a:pt x="5663663" y="0"/>
                </a:moveTo>
                <a:lnTo>
                  <a:pt x="5663663" y="130111"/>
                </a:lnTo>
                <a:lnTo>
                  <a:pt x="5656797" y="167789"/>
                </a:lnTo>
                <a:lnTo>
                  <a:pt x="5639632" y="205452"/>
                </a:lnTo>
                <a:lnTo>
                  <a:pt x="5612311" y="232845"/>
                </a:lnTo>
                <a:lnTo>
                  <a:pt x="5574548" y="249953"/>
                </a:lnTo>
                <a:lnTo>
                  <a:pt x="5536785" y="256805"/>
                </a:lnTo>
                <a:lnTo>
                  <a:pt x="2962174" y="256805"/>
                </a:lnTo>
                <a:lnTo>
                  <a:pt x="2920978" y="263656"/>
                </a:lnTo>
                <a:lnTo>
                  <a:pt x="2883358" y="280779"/>
                </a:lnTo>
                <a:lnTo>
                  <a:pt x="2855894" y="311590"/>
                </a:lnTo>
                <a:lnTo>
                  <a:pt x="2838729" y="346178"/>
                </a:lnTo>
                <a:lnTo>
                  <a:pt x="2831863" y="387260"/>
                </a:lnTo>
                <a:lnTo>
                  <a:pt x="2824997" y="346178"/>
                </a:lnTo>
                <a:lnTo>
                  <a:pt x="2807832" y="311590"/>
                </a:lnTo>
                <a:lnTo>
                  <a:pt x="2780368" y="280779"/>
                </a:lnTo>
                <a:lnTo>
                  <a:pt x="2742604" y="263656"/>
                </a:lnTo>
                <a:lnTo>
                  <a:pt x="2704984" y="256805"/>
                </a:lnTo>
                <a:lnTo>
                  <a:pt x="130331" y="256805"/>
                </a:lnTo>
                <a:lnTo>
                  <a:pt x="89163" y="249953"/>
                </a:lnTo>
                <a:lnTo>
                  <a:pt x="51445" y="232845"/>
                </a:lnTo>
                <a:lnTo>
                  <a:pt x="24008" y="205452"/>
                </a:lnTo>
                <a:lnTo>
                  <a:pt x="6860" y="167789"/>
                </a:lnTo>
                <a:lnTo>
                  <a:pt x="0" y="130111"/>
                </a:lnTo>
                <a:lnTo>
                  <a:pt x="0" y="0"/>
                </a:lnTo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3278995" y="6643564"/>
            <a:ext cx="70231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20" dirty="0">
                <a:latin typeface="Arial MT"/>
                <a:cs typeface="Arial MT"/>
              </a:rPr>
              <a:t>Zone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primaire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332891" y="4521894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82249"/>
                </a:moveTo>
                <a:lnTo>
                  <a:pt x="0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332891" y="4388006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82535"/>
                </a:moveTo>
                <a:lnTo>
                  <a:pt x="0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332891" y="4254547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82106"/>
                </a:moveTo>
                <a:lnTo>
                  <a:pt x="0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332891" y="4120944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82249"/>
                </a:moveTo>
                <a:lnTo>
                  <a:pt x="0" y="0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3327747" y="3903524"/>
            <a:ext cx="2842260" cy="173355"/>
            <a:chOff x="3327747" y="3903524"/>
            <a:chExt cx="2842260" cy="173355"/>
          </a:xfrm>
        </p:grpSpPr>
        <p:sp>
          <p:nvSpPr>
            <p:cNvPr id="90" name="object 90"/>
            <p:cNvSpPr/>
            <p:nvPr/>
          </p:nvSpPr>
          <p:spPr>
            <a:xfrm>
              <a:off x="3332891" y="3908669"/>
              <a:ext cx="55244" cy="161290"/>
            </a:xfrm>
            <a:custGeom>
              <a:avLst/>
              <a:gdLst/>
              <a:ahLst/>
              <a:cxnLst/>
              <a:rect l="l" t="t" r="r" b="b"/>
              <a:pathLst>
                <a:path w="55245" h="161289">
                  <a:moveTo>
                    <a:pt x="0" y="160923"/>
                  </a:moveTo>
                  <a:lnTo>
                    <a:pt x="0" y="78816"/>
                  </a:lnTo>
                </a:path>
                <a:path w="55245" h="161289">
                  <a:moveTo>
                    <a:pt x="0" y="27464"/>
                  </a:moveTo>
                  <a:lnTo>
                    <a:pt x="0" y="0"/>
                  </a:lnTo>
                  <a:lnTo>
                    <a:pt x="54785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439457" y="3908669"/>
              <a:ext cx="2626360" cy="0"/>
            </a:xfrm>
            <a:custGeom>
              <a:avLst/>
              <a:gdLst/>
              <a:ahLst/>
              <a:cxnLst/>
              <a:rect l="l" t="t" r="r" b="b"/>
              <a:pathLst>
                <a:path w="2626360">
                  <a:moveTo>
                    <a:pt x="0" y="0"/>
                  </a:moveTo>
                  <a:lnTo>
                    <a:pt x="2625819" y="0"/>
                  </a:lnTo>
                </a:path>
              </a:pathLst>
            </a:custGeom>
            <a:ln w="10288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116629" y="3908669"/>
              <a:ext cx="48260" cy="168275"/>
            </a:xfrm>
            <a:custGeom>
              <a:avLst/>
              <a:gdLst/>
              <a:ahLst/>
              <a:cxnLst/>
              <a:rect l="l" t="t" r="r" b="b"/>
              <a:pathLst>
                <a:path w="48260" h="168275">
                  <a:moveTo>
                    <a:pt x="0" y="0"/>
                  </a:moveTo>
                  <a:lnTo>
                    <a:pt x="48062" y="0"/>
                  </a:lnTo>
                  <a:lnTo>
                    <a:pt x="48062" y="34187"/>
                  </a:lnTo>
                </a:path>
                <a:path w="48260" h="168275">
                  <a:moveTo>
                    <a:pt x="48062" y="85539"/>
                  </a:moveTo>
                  <a:lnTo>
                    <a:pt x="48062" y="167789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/>
          <p:nvPr/>
        </p:nvSpPr>
        <p:spPr>
          <a:xfrm>
            <a:off x="6164691" y="4127811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106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164691" y="4261413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106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164691" y="4394872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535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164691" y="4528760"/>
            <a:ext cx="0" cy="82550"/>
          </a:xfrm>
          <a:custGeom>
            <a:avLst/>
            <a:gdLst/>
            <a:ahLst/>
            <a:cxnLst/>
            <a:rect l="l" t="t" r="r" b="b"/>
            <a:pathLst>
              <a:path h="82550">
                <a:moveTo>
                  <a:pt x="0" y="0"/>
                </a:moveTo>
                <a:lnTo>
                  <a:pt x="0" y="82106"/>
                </a:lnTo>
              </a:path>
            </a:pathLst>
          </a:custGeom>
          <a:ln w="102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7" name="object 97"/>
          <p:cNvGrpSpPr/>
          <p:nvPr/>
        </p:nvGrpSpPr>
        <p:grpSpPr>
          <a:xfrm>
            <a:off x="3288262" y="4655496"/>
            <a:ext cx="92710" cy="154305"/>
            <a:chOff x="3288262" y="4655496"/>
            <a:chExt cx="92710" cy="154305"/>
          </a:xfrm>
        </p:grpSpPr>
        <p:sp>
          <p:nvSpPr>
            <p:cNvPr id="98" name="object 98"/>
            <p:cNvSpPr/>
            <p:nvPr/>
          </p:nvSpPr>
          <p:spPr>
            <a:xfrm>
              <a:off x="3332891" y="4655496"/>
              <a:ext cx="0" cy="82550"/>
            </a:xfrm>
            <a:custGeom>
              <a:avLst/>
              <a:gdLst/>
              <a:ahLst/>
              <a:cxnLst/>
              <a:rect l="l" t="t" r="r" b="b"/>
              <a:pathLst>
                <a:path h="82550">
                  <a:moveTo>
                    <a:pt x="0" y="82106"/>
                  </a:moveTo>
                  <a:lnTo>
                    <a:pt x="0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288262" y="471714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92548" y="0"/>
                  </a:moveTo>
                  <a:lnTo>
                    <a:pt x="61794" y="10156"/>
                  </a:lnTo>
                  <a:lnTo>
                    <a:pt x="30897" y="10156"/>
                  </a:lnTo>
                  <a:lnTo>
                    <a:pt x="0" y="0"/>
                  </a:lnTo>
                  <a:lnTo>
                    <a:pt x="44629" y="92405"/>
                  </a:lnTo>
                  <a:lnTo>
                    <a:pt x="92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0" name="object 100"/>
          <p:cNvGrpSpPr/>
          <p:nvPr/>
        </p:nvGrpSpPr>
        <p:grpSpPr>
          <a:xfrm>
            <a:off x="6120062" y="4662362"/>
            <a:ext cx="92710" cy="147320"/>
            <a:chOff x="6120062" y="4662362"/>
            <a:chExt cx="92710" cy="147320"/>
          </a:xfrm>
        </p:grpSpPr>
        <p:sp>
          <p:nvSpPr>
            <p:cNvPr id="101" name="object 101"/>
            <p:cNvSpPr/>
            <p:nvPr/>
          </p:nvSpPr>
          <p:spPr>
            <a:xfrm>
              <a:off x="6164691" y="4662362"/>
              <a:ext cx="0" cy="75565"/>
            </a:xfrm>
            <a:custGeom>
              <a:avLst/>
              <a:gdLst/>
              <a:ahLst/>
              <a:cxnLst/>
              <a:rect l="l" t="t" r="r" b="b"/>
              <a:pathLst>
                <a:path h="75564">
                  <a:moveTo>
                    <a:pt x="0" y="0"/>
                  </a:moveTo>
                  <a:lnTo>
                    <a:pt x="0" y="7524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120062" y="4717148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92691" y="0"/>
                  </a:moveTo>
                  <a:lnTo>
                    <a:pt x="61794" y="10156"/>
                  </a:lnTo>
                  <a:lnTo>
                    <a:pt x="30897" y="10156"/>
                  </a:lnTo>
                  <a:lnTo>
                    <a:pt x="0" y="0"/>
                  </a:lnTo>
                  <a:lnTo>
                    <a:pt x="44629" y="92405"/>
                  </a:lnTo>
                  <a:lnTo>
                    <a:pt x="926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3" name="object 103"/>
          <p:cNvGrpSpPr/>
          <p:nvPr/>
        </p:nvGrpSpPr>
        <p:grpSpPr>
          <a:xfrm>
            <a:off x="2225924" y="4417224"/>
            <a:ext cx="4267200" cy="1552575"/>
            <a:chOff x="2225924" y="4417224"/>
            <a:chExt cx="4267200" cy="1552575"/>
          </a:xfrm>
        </p:grpSpPr>
        <p:sp>
          <p:nvSpPr>
            <p:cNvPr id="104" name="object 104"/>
            <p:cNvSpPr/>
            <p:nvPr/>
          </p:nvSpPr>
          <p:spPr>
            <a:xfrm>
              <a:off x="2241482" y="4936289"/>
              <a:ext cx="707390" cy="514350"/>
            </a:xfrm>
            <a:custGeom>
              <a:avLst/>
              <a:gdLst/>
              <a:ahLst/>
              <a:cxnLst/>
              <a:rect l="l" t="t" r="r" b="b"/>
              <a:pathLst>
                <a:path w="707389" h="514350">
                  <a:moveTo>
                    <a:pt x="0" y="513810"/>
                  </a:moveTo>
                  <a:lnTo>
                    <a:pt x="706912" y="513810"/>
                  </a:lnTo>
                  <a:lnTo>
                    <a:pt x="706912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94839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7184" y="257148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94839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7148"/>
                  </a:moveTo>
                  <a:lnTo>
                    <a:pt x="707184" y="257148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94839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7184" y="256805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94839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6805"/>
                  </a:moveTo>
                  <a:lnTo>
                    <a:pt x="707184" y="256805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948395" y="4936289"/>
              <a:ext cx="707390" cy="514350"/>
            </a:xfrm>
            <a:custGeom>
              <a:avLst/>
              <a:gdLst/>
              <a:ahLst/>
              <a:cxnLst/>
              <a:rect l="l" t="t" r="r" b="b"/>
              <a:pathLst>
                <a:path w="707389" h="514350">
                  <a:moveTo>
                    <a:pt x="0" y="513810"/>
                  </a:moveTo>
                  <a:lnTo>
                    <a:pt x="707199" y="513810"/>
                  </a:lnTo>
                  <a:lnTo>
                    <a:pt x="707199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487394" y="4422622"/>
              <a:ext cx="0" cy="1541780"/>
            </a:xfrm>
            <a:custGeom>
              <a:avLst/>
              <a:gdLst/>
              <a:ahLst/>
              <a:cxnLst/>
              <a:rect l="l" t="t" r="r" b="b"/>
              <a:pathLst>
                <a:path h="1541779">
                  <a:moveTo>
                    <a:pt x="0" y="0"/>
                  </a:moveTo>
                  <a:lnTo>
                    <a:pt x="0" y="154143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655594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7184" y="257148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655594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7148"/>
                  </a:moveTo>
                  <a:lnTo>
                    <a:pt x="707184" y="257148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655594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7184" y="256805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655594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6805"/>
                  </a:moveTo>
                  <a:lnTo>
                    <a:pt x="707184" y="256805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655594" y="4936289"/>
              <a:ext cx="707390" cy="514350"/>
            </a:xfrm>
            <a:custGeom>
              <a:avLst/>
              <a:gdLst/>
              <a:ahLst/>
              <a:cxnLst/>
              <a:rect l="l" t="t" r="r" b="b"/>
              <a:pathLst>
                <a:path w="707389" h="514350">
                  <a:moveTo>
                    <a:pt x="0" y="513810"/>
                  </a:moveTo>
                  <a:lnTo>
                    <a:pt x="707199" y="513810"/>
                  </a:lnTo>
                  <a:lnTo>
                    <a:pt x="707199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362793" y="4936189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710617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10617" y="257148"/>
                  </a:lnTo>
                  <a:lnTo>
                    <a:pt x="710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362793" y="4936189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7148"/>
                  </a:moveTo>
                  <a:lnTo>
                    <a:pt x="710617" y="257148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362793" y="5193295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710617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10617" y="256805"/>
                  </a:lnTo>
                  <a:lnTo>
                    <a:pt x="710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362793" y="5193295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6805"/>
                  </a:moveTo>
                  <a:lnTo>
                    <a:pt x="710617" y="256805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4352826" y="5190679"/>
            <a:ext cx="7308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11101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4347235" y="4160076"/>
            <a:ext cx="1449070" cy="1306195"/>
            <a:chOff x="4347235" y="4160076"/>
            <a:chExt cx="1449070" cy="1306195"/>
          </a:xfrm>
        </p:grpSpPr>
        <p:sp>
          <p:nvSpPr>
            <p:cNvPr id="122" name="object 122"/>
            <p:cNvSpPr/>
            <p:nvPr/>
          </p:nvSpPr>
          <p:spPr>
            <a:xfrm>
              <a:off x="4362793" y="4936289"/>
              <a:ext cx="711200" cy="514350"/>
            </a:xfrm>
            <a:custGeom>
              <a:avLst/>
              <a:gdLst/>
              <a:ahLst/>
              <a:cxnLst/>
              <a:rect l="l" t="t" r="r" b="b"/>
              <a:pathLst>
                <a:path w="711200" h="514350">
                  <a:moveTo>
                    <a:pt x="0" y="513810"/>
                  </a:moveTo>
                  <a:lnTo>
                    <a:pt x="710632" y="513810"/>
                  </a:lnTo>
                  <a:lnTo>
                    <a:pt x="710632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07342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6841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6841" y="257148"/>
                  </a:lnTo>
                  <a:lnTo>
                    <a:pt x="706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07342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7148"/>
                  </a:moveTo>
                  <a:lnTo>
                    <a:pt x="706841" y="257148"/>
                  </a:lnTo>
                  <a:lnTo>
                    <a:pt x="706841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07342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6841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6841" y="256805"/>
                  </a:lnTo>
                  <a:lnTo>
                    <a:pt x="706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07342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6805"/>
                  </a:moveTo>
                  <a:lnTo>
                    <a:pt x="706841" y="256805"/>
                  </a:lnTo>
                  <a:lnTo>
                    <a:pt x="706841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073425" y="4936289"/>
              <a:ext cx="707390" cy="514350"/>
            </a:xfrm>
            <a:custGeom>
              <a:avLst/>
              <a:gdLst/>
              <a:ahLst/>
              <a:cxnLst/>
              <a:rect l="l" t="t" r="r" b="b"/>
              <a:pathLst>
                <a:path w="707389" h="514350">
                  <a:moveTo>
                    <a:pt x="0" y="513810"/>
                  </a:moveTo>
                  <a:lnTo>
                    <a:pt x="706769" y="513810"/>
                  </a:lnTo>
                  <a:lnTo>
                    <a:pt x="706769" y="0"/>
                  </a:lnTo>
                  <a:lnTo>
                    <a:pt x="0" y="0"/>
                  </a:lnTo>
                  <a:lnTo>
                    <a:pt x="0" y="513810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362793" y="4165474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7148"/>
                  </a:moveTo>
                  <a:lnTo>
                    <a:pt x="710617" y="257148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3996156" y="3635087"/>
            <a:ext cx="162369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latin typeface="Arial MT"/>
                <a:cs typeface="Arial MT"/>
              </a:rPr>
              <a:t>Division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du</a:t>
            </a:r>
            <a:r>
              <a:rPr sz="1350" spc="10" dirty="0">
                <a:latin typeface="Arial MT"/>
                <a:cs typeface="Arial MT"/>
              </a:rPr>
              <a:t> </a:t>
            </a:r>
            <a:r>
              <a:rPr sz="1350" dirty="0">
                <a:latin typeface="Arial MT"/>
                <a:cs typeface="Arial MT"/>
              </a:rPr>
              <a:t>bloc</a:t>
            </a:r>
            <a:r>
              <a:rPr sz="1350" spc="5" dirty="0">
                <a:latin typeface="Arial MT"/>
                <a:cs typeface="Arial MT"/>
              </a:rPr>
              <a:t> </a:t>
            </a:r>
            <a:r>
              <a:rPr sz="1350" spc="-25" dirty="0">
                <a:latin typeface="Arial MT"/>
                <a:cs typeface="Arial MT"/>
              </a:rPr>
              <a:t>11</a:t>
            </a:r>
            <a:r>
              <a:rPr sz="1350" spc="-37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350">
              <a:latin typeface="Arial MT"/>
              <a:cs typeface="Arial MT"/>
            </a:endParaRPr>
          </a:p>
          <a:p>
            <a:pPr marL="452120">
              <a:lnSpc>
                <a:spcPct val="100000"/>
              </a:lnSpc>
            </a:pPr>
            <a:r>
              <a:rPr sz="1350" spc="-10" dirty="0">
                <a:latin typeface="Arial MT"/>
                <a:cs typeface="Arial MT"/>
              </a:rPr>
              <a:t>01101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4347235" y="4149873"/>
            <a:ext cx="2145665" cy="1049020"/>
            <a:chOff x="4347235" y="4149873"/>
            <a:chExt cx="2145665" cy="1049020"/>
          </a:xfrm>
        </p:grpSpPr>
        <p:sp>
          <p:nvSpPr>
            <p:cNvPr id="131" name="object 131"/>
            <p:cNvSpPr/>
            <p:nvPr/>
          </p:nvSpPr>
          <p:spPr>
            <a:xfrm>
              <a:off x="4362793" y="4422579"/>
              <a:ext cx="711200" cy="257175"/>
            </a:xfrm>
            <a:custGeom>
              <a:avLst/>
              <a:gdLst/>
              <a:ahLst/>
              <a:cxnLst/>
              <a:rect l="l" t="t" r="r" b="b"/>
              <a:pathLst>
                <a:path w="711200" h="257175">
                  <a:moveTo>
                    <a:pt x="0" y="256805"/>
                  </a:moveTo>
                  <a:lnTo>
                    <a:pt x="710617" y="256805"/>
                  </a:lnTo>
                  <a:lnTo>
                    <a:pt x="710617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362793" y="4165431"/>
              <a:ext cx="711200" cy="514350"/>
            </a:xfrm>
            <a:custGeom>
              <a:avLst/>
              <a:gdLst/>
              <a:ahLst/>
              <a:cxnLst/>
              <a:rect l="l" t="t" r="r" b="b"/>
              <a:pathLst>
                <a:path w="711200" h="514350">
                  <a:moveTo>
                    <a:pt x="0" y="513953"/>
                  </a:moveTo>
                  <a:lnTo>
                    <a:pt x="710632" y="513953"/>
                  </a:lnTo>
                  <a:lnTo>
                    <a:pt x="710632" y="0"/>
                  </a:lnTo>
                  <a:lnTo>
                    <a:pt x="0" y="0"/>
                  </a:lnTo>
                  <a:lnTo>
                    <a:pt x="0" y="513953"/>
                  </a:lnTo>
                </a:path>
              </a:pathLst>
            </a:custGeom>
            <a:ln w="308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750722" y="4751335"/>
              <a:ext cx="0" cy="185420"/>
            </a:xfrm>
            <a:custGeom>
              <a:avLst/>
              <a:gdLst/>
              <a:ahLst/>
              <a:cxnLst/>
              <a:rect l="l" t="t" r="r" b="b"/>
              <a:pathLst>
                <a:path h="185420">
                  <a:moveTo>
                    <a:pt x="0" y="184954"/>
                  </a:moveTo>
                  <a:lnTo>
                    <a:pt x="0" y="0"/>
                  </a:lnTo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702660" y="4679384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48062" y="0"/>
                  </a:moveTo>
                  <a:lnTo>
                    <a:pt x="0" y="92548"/>
                  </a:lnTo>
                  <a:lnTo>
                    <a:pt x="30897" y="85682"/>
                  </a:lnTo>
                  <a:lnTo>
                    <a:pt x="61651" y="85682"/>
                  </a:lnTo>
                  <a:lnTo>
                    <a:pt x="92548" y="92548"/>
                  </a:lnTo>
                  <a:lnTo>
                    <a:pt x="480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78019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7148"/>
                  </a:lnTo>
                  <a:lnTo>
                    <a:pt x="707184" y="257148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5780195" y="4936189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7148"/>
                  </a:moveTo>
                  <a:lnTo>
                    <a:pt x="707184" y="257148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7148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7" name="object 137"/>
          <p:cNvSpPr txBox="1"/>
          <p:nvPr/>
        </p:nvSpPr>
        <p:spPr>
          <a:xfrm>
            <a:off x="788366" y="4933917"/>
            <a:ext cx="57854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  <a:tabLst>
                <a:tab pos="828040" algn="l"/>
                <a:tab pos="1535430" algn="l"/>
                <a:tab pos="2242185" algn="l"/>
                <a:tab pos="2948940" algn="l"/>
                <a:tab pos="3659504" algn="l"/>
                <a:tab pos="4366895" algn="l"/>
                <a:tab pos="5074285" algn="l"/>
              </a:tabLst>
            </a:pPr>
            <a:r>
              <a:rPr sz="1350" spc="-10" dirty="0">
                <a:latin typeface="Arial MT"/>
                <a:cs typeface="Arial MT"/>
              </a:rPr>
              <a:t>11000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00001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11011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10101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10110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10" dirty="0">
                <a:latin typeface="Arial MT"/>
                <a:cs typeface="Arial MT"/>
              </a:rPr>
              <a:t>01111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5774797" y="5187897"/>
            <a:ext cx="718185" cy="267970"/>
            <a:chOff x="5774797" y="5187897"/>
            <a:chExt cx="718185" cy="267970"/>
          </a:xfrm>
        </p:grpSpPr>
        <p:sp>
          <p:nvSpPr>
            <p:cNvPr id="139" name="object 139"/>
            <p:cNvSpPr/>
            <p:nvPr/>
          </p:nvSpPr>
          <p:spPr>
            <a:xfrm>
              <a:off x="578019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707184" y="0"/>
                  </a:moveTo>
                  <a:lnTo>
                    <a:pt x="0" y="0"/>
                  </a:lnTo>
                  <a:lnTo>
                    <a:pt x="0" y="256805"/>
                  </a:lnTo>
                  <a:lnTo>
                    <a:pt x="707184" y="256805"/>
                  </a:lnTo>
                  <a:lnTo>
                    <a:pt x="707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780195" y="5193295"/>
              <a:ext cx="707390" cy="257175"/>
            </a:xfrm>
            <a:custGeom>
              <a:avLst/>
              <a:gdLst/>
              <a:ahLst/>
              <a:cxnLst/>
              <a:rect l="l" t="t" r="r" b="b"/>
              <a:pathLst>
                <a:path w="707389" h="257175">
                  <a:moveTo>
                    <a:pt x="0" y="256805"/>
                  </a:moveTo>
                  <a:lnTo>
                    <a:pt x="707184" y="256805"/>
                  </a:lnTo>
                  <a:lnTo>
                    <a:pt x="707184" y="0"/>
                  </a:lnTo>
                  <a:lnTo>
                    <a:pt x="0" y="0"/>
                  </a:lnTo>
                  <a:lnTo>
                    <a:pt x="0" y="256805"/>
                  </a:lnTo>
                  <a:close/>
                </a:path>
              </a:pathLst>
            </a:custGeom>
            <a:ln w="102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5770228" y="5190679"/>
            <a:ext cx="7277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Arial MT"/>
                <a:cs typeface="Arial MT"/>
              </a:rPr>
              <a:t>10111</a:t>
            </a:r>
            <a:r>
              <a:rPr sz="1350" spc="-15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5780195" y="4936289"/>
            <a:ext cx="707390" cy="514350"/>
          </a:xfrm>
          <a:custGeom>
            <a:avLst/>
            <a:gdLst/>
            <a:ahLst/>
            <a:cxnLst/>
            <a:rect l="l" t="t" r="r" b="b"/>
            <a:pathLst>
              <a:path w="707389" h="514350">
                <a:moveTo>
                  <a:pt x="0" y="513810"/>
                </a:moveTo>
                <a:lnTo>
                  <a:pt x="707199" y="513810"/>
                </a:lnTo>
                <a:lnTo>
                  <a:pt x="707199" y="0"/>
                </a:lnTo>
                <a:lnTo>
                  <a:pt x="0" y="0"/>
                </a:lnTo>
                <a:lnTo>
                  <a:pt x="0" y="513810"/>
                </a:lnTo>
              </a:path>
            </a:pathLst>
          </a:custGeom>
          <a:ln w="308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926210" y="5447870"/>
            <a:ext cx="5498465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786130" algn="l"/>
                <a:tab pos="1493520" algn="l"/>
                <a:tab pos="2200275" algn="l"/>
                <a:tab pos="2907665" algn="l"/>
                <a:tab pos="3618229" algn="l"/>
                <a:tab pos="4324985" algn="l"/>
                <a:tab pos="5032375" algn="l"/>
              </a:tabLst>
            </a:pPr>
            <a:r>
              <a:rPr sz="1350" spc="-20" dirty="0">
                <a:latin typeface="Arial MT"/>
                <a:cs typeface="Arial MT"/>
              </a:rPr>
              <a:t>000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010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011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100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101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110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r>
              <a:rPr sz="1350" baseline="-27777" dirty="0">
                <a:latin typeface="Arial MT"/>
                <a:cs typeface="Arial MT"/>
              </a:rPr>
              <a:t>	</a:t>
            </a:r>
            <a:r>
              <a:rPr sz="1350" spc="-20" dirty="0">
                <a:latin typeface="Arial MT"/>
                <a:cs typeface="Arial MT"/>
              </a:rPr>
              <a:t>111</a:t>
            </a:r>
            <a:r>
              <a:rPr sz="1350" spc="-30" baseline="-27777" dirty="0">
                <a:latin typeface="Arial MT"/>
                <a:cs typeface="Arial MT"/>
              </a:rPr>
              <a:t>2</a:t>
            </a:r>
            <a:endParaRPr sz="1350" baseline="-27777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350">
              <a:latin typeface="Arial MT"/>
              <a:cs typeface="Arial MT"/>
            </a:endParaRPr>
          </a:p>
          <a:p>
            <a:pPr marL="236854">
              <a:lnSpc>
                <a:spcPct val="100000"/>
              </a:lnSpc>
            </a:pPr>
            <a:r>
              <a:rPr sz="1350" spc="-50" dirty="0">
                <a:latin typeface="Arial MT"/>
                <a:cs typeface="Arial MT"/>
              </a:rPr>
              <a:t>p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90600" y="4343400"/>
            <a:ext cx="838200" cy="40640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Times New Roman"/>
                <a:cs typeface="Times New Roman"/>
              </a:rPr>
              <a:t>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829" y="613028"/>
            <a:ext cx="6088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Variantes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du hachage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linéaire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24485"/>
            <a:ext cx="6410960" cy="40157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3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Variante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du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contrôle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division</a:t>
            </a:r>
            <a:endParaRPr sz="20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algorithme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base</a:t>
            </a:r>
            <a:endParaRPr sz="1800">
              <a:latin typeface="Tahoma"/>
              <a:cs typeface="Tahoma"/>
            </a:endParaRPr>
          </a:p>
          <a:p>
            <a:pPr marL="1155065" lvl="2" indent="-228600">
              <a:lnSpc>
                <a:spcPct val="100000"/>
              </a:lnSpc>
              <a:spcBef>
                <a:spcPts val="20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latin typeface="Tahoma"/>
                <a:cs typeface="Tahoma"/>
              </a:rPr>
              <a:t>débordement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=&gt;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division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</a:t>
            </a:r>
            <a:r>
              <a:rPr sz="1600" spc="-4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taux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’occupation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~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60%</a:t>
            </a:r>
            <a:endParaRPr sz="1600">
              <a:latin typeface="Tahoma"/>
              <a:cs typeface="Tahoma"/>
            </a:endParaRPr>
          </a:p>
          <a:p>
            <a:pPr marL="826135" lvl="1" indent="-35687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826135" algn="l"/>
              </a:tabLst>
            </a:pPr>
            <a:r>
              <a:rPr sz="1800" dirty="0">
                <a:latin typeface="Tahoma"/>
                <a:cs typeface="Tahoma"/>
              </a:rPr>
              <a:t>division/fusion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contrôlée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par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taux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’occupation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44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Variante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gestion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des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débordements</a:t>
            </a:r>
            <a:endParaRPr sz="20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hachage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linéaire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au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niveau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suivant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Variante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division</a:t>
            </a:r>
            <a:endParaRPr sz="2000">
              <a:latin typeface="Tahoma"/>
              <a:cs typeface="Tahoma"/>
            </a:endParaRPr>
          </a:p>
          <a:p>
            <a:pPr marL="826135" lvl="1" indent="-356870">
              <a:lnSpc>
                <a:spcPct val="100000"/>
              </a:lnSpc>
              <a:spcBef>
                <a:spcPts val="114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826135" algn="l"/>
              </a:tabLst>
            </a:pPr>
            <a:r>
              <a:rPr sz="1800" dirty="0">
                <a:latin typeface="Tahoma"/>
                <a:cs typeface="Tahoma"/>
              </a:rPr>
              <a:t>biais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dans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les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chaînages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(à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droite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p</a:t>
            </a:r>
            <a:r>
              <a:rPr sz="1800" spc="-25" dirty="0">
                <a:latin typeface="Tahoma"/>
                <a:cs typeface="Tahoma"/>
              </a:rPr>
              <a:t>)</a:t>
            </a:r>
            <a:endParaRPr sz="1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9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expansions</a:t>
            </a:r>
            <a:r>
              <a:rPr sz="1800" spc="-1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partielles</a:t>
            </a:r>
            <a:endParaRPr sz="1800">
              <a:latin typeface="Tahoma"/>
              <a:cs typeface="Tahoma"/>
            </a:endParaRPr>
          </a:p>
          <a:p>
            <a:pPr marL="1155065" lvl="2" indent="-228600">
              <a:lnSpc>
                <a:spcPct val="100000"/>
              </a:lnSpc>
              <a:spcBef>
                <a:spcPts val="15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5065" algn="l"/>
              </a:tabLst>
            </a:pPr>
            <a:r>
              <a:rPr sz="1600" dirty="0">
                <a:latin typeface="Tahoma"/>
                <a:cs typeface="Tahoma"/>
              </a:rPr>
              <a:t>diviser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50" dirty="0">
                <a:latin typeface="Tahoma"/>
                <a:cs typeface="Tahoma"/>
              </a:rPr>
              <a:t>n</a:t>
            </a:r>
            <a:r>
              <a:rPr sz="1650" spc="-6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blocs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en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50" spc="-25" dirty="0">
                <a:latin typeface="Tahoma"/>
                <a:cs typeface="Tahoma"/>
              </a:rPr>
              <a:t>n</a:t>
            </a:r>
            <a:r>
              <a:rPr sz="1600" spc="-25" dirty="0">
                <a:latin typeface="Tahoma"/>
                <a:cs typeface="Tahoma"/>
              </a:rPr>
              <a:t>+1</a:t>
            </a:r>
            <a:endParaRPr sz="16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fonction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hachage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exponentielle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24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Gestion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’espace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’adressage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primaire</a:t>
            </a:r>
            <a:endParaRPr sz="20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latin typeface="Tahoma"/>
                <a:cs typeface="Tahoma"/>
              </a:rPr>
              <a:t>préserver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la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contiguité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’espace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malgré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expansions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50" dirty="0">
                <a:latin typeface="Tahoma"/>
                <a:cs typeface="Tahoma"/>
              </a:rPr>
              <a:t>?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052" y="635888"/>
            <a:ext cx="40271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extensible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21165"/>
            <a:ext cx="6751955" cy="366267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64820" indent="-452120">
              <a:lnSpc>
                <a:spcPct val="100000"/>
              </a:lnSpc>
              <a:spcBef>
                <a:spcPts val="5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64820" algn="l"/>
              </a:tabLst>
            </a:pPr>
            <a:r>
              <a:rPr sz="2800" dirty="0">
                <a:latin typeface="Tahoma"/>
                <a:cs typeface="Tahoma"/>
              </a:rPr>
              <a:t>Ajoute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niveau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’indirection</a:t>
            </a:r>
            <a:endParaRPr sz="2800">
              <a:latin typeface="Tahoma"/>
              <a:cs typeface="Tahoma"/>
            </a:endParaRPr>
          </a:p>
          <a:p>
            <a:pPr marL="464820" indent="-452120">
              <a:lnSpc>
                <a:spcPct val="100000"/>
              </a:lnSpc>
              <a:spcBef>
                <a:spcPts val="52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464820" algn="l"/>
              </a:tabLst>
            </a:pPr>
            <a:r>
              <a:rPr sz="2800" spc="-55" dirty="0">
                <a:latin typeface="Tahoma"/>
                <a:cs typeface="Tahoma"/>
              </a:rPr>
              <a:t>R</a:t>
            </a:r>
            <a:r>
              <a:rPr sz="2950" spc="-55" dirty="0">
                <a:latin typeface="Tahoma"/>
                <a:cs typeface="Tahoma"/>
              </a:rPr>
              <a:t>épertoire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d'adresses</a:t>
            </a:r>
            <a:r>
              <a:rPr sz="2950" spc="-15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de</a:t>
            </a:r>
            <a:r>
              <a:rPr sz="2950" spc="-16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paquets</a:t>
            </a:r>
            <a:endParaRPr sz="295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espace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supplémentaire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accès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disque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supplémentaire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pour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répertoire</a:t>
            </a:r>
            <a:endParaRPr sz="2400">
              <a:latin typeface="Tahoma"/>
              <a:cs typeface="Tahoma"/>
            </a:endParaRPr>
          </a:p>
          <a:p>
            <a:pPr marL="1155065" lvl="2" indent="-228600">
              <a:lnSpc>
                <a:spcPct val="100000"/>
              </a:lnSpc>
              <a:spcBef>
                <a:spcPts val="484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5065" algn="l"/>
              </a:tabLst>
            </a:pPr>
            <a:r>
              <a:rPr sz="2000" spc="-10" dirty="0">
                <a:latin typeface="Tahoma"/>
                <a:cs typeface="Tahoma"/>
              </a:rPr>
              <a:t>antémémoire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Bloc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qui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déborde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est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divisé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pas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dégradation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chaînage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400" dirty="0">
                <a:latin typeface="Tahoma"/>
                <a:cs typeface="Tahoma"/>
              </a:rPr>
              <a:t>pire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transferts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4039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Analogie</a:t>
            </a:r>
            <a:r>
              <a:rPr sz="2800" b="1" spc="-9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avec</a:t>
            </a:r>
            <a:r>
              <a:rPr sz="28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arbre</a:t>
            </a:r>
            <a:r>
              <a:rPr sz="28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42058"/>
            <a:ext cx="5727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Répertoire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vu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comme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arbre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digital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854" y="2211704"/>
            <a:ext cx="30518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Chemin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suffixe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11606" y="4099213"/>
            <a:ext cx="1274445" cy="463550"/>
          </a:xfrm>
          <a:custGeom>
            <a:avLst/>
            <a:gdLst/>
            <a:ahLst/>
            <a:cxnLst/>
            <a:rect l="l" t="t" r="r" b="b"/>
            <a:pathLst>
              <a:path w="1274445" h="463550">
                <a:moveTo>
                  <a:pt x="0" y="463114"/>
                </a:moveTo>
                <a:lnTo>
                  <a:pt x="1273935" y="463114"/>
                </a:lnTo>
                <a:lnTo>
                  <a:pt x="1273935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1782" y="4103902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10100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11606" y="4562328"/>
            <a:ext cx="1274445" cy="463550"/>
          </a:xfrm>
          <a:custGeom>
            <a:avLst/>
            <a:gdLst/>
            <a:ahLst/>
            <a:cxnLst/>
            <a:rect l="l" t="t" r="r" b="b"/>
            <a:pathLst>
              <a:path w="1274445" h="463550">
                <a:moveTo>
                  <a:pt x="0" y="463114"/>
                </a:moveTo>
                <a:lnTo>
                  <a:pt x="1273935" y="463114"/>
                </a:lnTo>
                <a:lnTo>
                  <a:pt x="1273935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21782" y="4567017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11000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11606" y="4099239"/>
            <a:ext cx="1274445" cy="926465"/>
          </a:xfrm>
          <a:custGeom>
            <a:avLst/>
            <a:gdLst/>
            <a:ahLst/>
            <a:cxnLst/>
            <a:rect l="l" t="t" r="r" b="b"/>
            <a:pathLst>
              <a:path w="1274445" h="926464">
                <a:moveTo>
                  <a:pt x="0" y="926204"/>
                </a:moveTo>
                <a:lnTo>
                  <a:pt x="1273943" y="926204"/>
                </a:lnTo>
                <a:lnTo>
                  <a:pt x="1273943" y="0"/>
                </a:lnTo>
                <a:lnTo>
                  <a:pt x="0" y="0"/>
                </a:lnTo>
                <a:lnTo>
                  <a:pt x="0" y="926204"/>
                </a:lnTo>
              </a:path>
            </a:pathLst>
          </a:custGeom>
          <a:ln w="555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202362" y="2237512"/>
            <a:ext cx="481965" cy="481965"/>
            <a:chOff x="6202362" y="2237512"/>
            <a:chExt cx="481965" cy="481965"/>
          </a:xfrm>
        </p:grpSpPr>
        <p:sp>
          <p:nvSpPr>
            <p:cNvPr id="11" name="object 11"/>
            <p:cNvSpPr/>
            <p:nvPr/>
          </p:nvSpPr>
          <p:spPr>
            <a:xfrm>
              <a:off x="6211628" y="2246779"/>
              <a:ext cx="228600" cy="463550"/>
            </a:xfrm>
            <a:custGeom>
              <a:avLst/>
              <a:gdLst/>
              <a:ahLst/>
              <a:cxnLst/>
              <a:rect l="l" t="t" r="r" b="b"/>
              <a:pathLst>
                <a:path w="228600" h="463550">
                  <a:moveTo>
                    <a:pt x="228594" y="0"/>
                  </a:moveTo>
                  <a:lnTo>
                    <a:pt x="0" y="0"/>
                  </a:lnTo>
                  <a:lnTo>
                    <a:pt x="0" y="463114"/>
                  </a:lnTo>
                  <a:lnTo>
                    <a:pt x="228594" y="463114"/>
                  </a:lnTo>
                  <a:lnTo>
                    <a:pt x="22859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11628" y="2246779"/>
              <a:ext cx="228600" cy="463550"/>
            </a:xfrm>
            <a:custGeom>
              <a:avLst/>
              <a:gdLst/>
              <a:ahLst/>
              <a:cxnLst/>
              <a:rect l="l" t="t" r="r" b="b"/>
              <a:pathLst>
                <a:path w="228600" h="463550">
                  <a:moveTo>
                    <a:pt x="0" y="463114"/>
                  </a:moveTo>
                  <a:lnTo>
                    <a:pt x="228594" y="463114"/>
                  </a:lnTo>
                  <a:lnTo>
                    <a:pt x="228594" y="0"/>
                  </a:lnTo>
                  <a:lnTo>
                    <a:pt x="0" y="0"/>
                  </a:lnTo>
                  <a:lnTo>
                    <a:pt x="0" y="463114"/>
                  </a:lnTo>
                  <a:close/>
                </a:path>
              </a:pathLst>
            </a:custGeom>
            <a:ln w="18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40189" y="2246779"/>
              <a:ext cx="234950" cy="463550"/>
            </a:xfrm>
            <a:custGeom>
              <a:avLst/>
              <a:gdLst/>
              <a:ahLst/>
              <a:cxnLst/>
              <a:rect l="l" t="t" r="r" b="b"/>
              <a:pathLst>
                <a:path w="234950" h="463550">
                  <a:moveTo>
                    <a:pt x="234770" y="0"/>
                  </a:moveTo>
                  <a:lnTo>
                    <a:pt x="0" y="0"/>
                  </a:lnTo>
                  <a:lnTo>
                    <a:pt x="0" y="463114"/>
                  </a:lnTo>
                  <a:lnTo>
                    <a:pt x="234770" y="463114"/>
                  </a:lnTo>
                  <a:lnTo>
                    <a:pt x="23477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0189" y="2246779"/>
              <a:ext cx="234950" cy="463550"/>
            </a:xfrm>
            <a:custGeom>
              <a:avLst/>
              <a:gdLst/>
              <a:ahLst/>
              <a:cxnLst/>
              <a:rect l="l" t="t" r="r" b="b"/>
              <a:pathLst>
                <a:path w="234950" h="463550">
                  <a:moveTo>
                    <a:pt x="0" y="463114"/>
                  </a:moveTo>
                  <a:lnTo>
                    <a:pt x="234770" y="463114"/>
                  </a:lnTo>
                  <a:lnTo>
                    <a:pt x="234770" y="0"/>
                  </a:lnTo>
                  <a:lnTo>
                    <a:pt x="0" y="0"/>
                  </a:lnTo>
                  <a:lnTo>
                    <a:pt x="0" y="463114"/>
                  </a:lnTo>
                  <a:close/>
                </a:path>
              </a:pathLst>
            </a:custGeom>
            <a:ln w="18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76283" y="3163742"/>
            <a:ext cx="481965" cy="481965"/>
            <a:chOff x="4576283" y="3163742"/>
            <a:chExt cx="481965" cy="481965"/>
          </a:xfrm>
        </p:grpSpPr>
        <p:sp>
          <p:nvSpPr>
            <p:cNvPr id="16" name="object 16"/>
            <p:cNvSpPr/>
            <p:nvPr/>
          </p:nvSpPr>
          <p:spPr>
            <a:xfrm>
              <a:off x="4585549" y="3173009"/>
              <a:ext cx="234950" cy="463550"/>
            </a:xfrm>
            <a:custGeom>
              <a:avLst/>
              <a:gdLst/>
              <a:ahLst/>
              <a:cxnLst/>
              <a:rect l="l" t="t" r="r" b="b"/>
              <a:pathLst>
                <a:path w="234950" h="463550">
                  <a:moveTo>
                    <a:pt x="234770" y="0"/>
                  </a:moveTo>
                  <a:lnTo>
                    <a:pt x="0" y="0"/>
                  </a:lnTo>
                  <a:lnTo>
                    <a:pt x="0" y="463114"/>
                  </a:lnTo>
                  <a:lnTo>
                    <a:pt x="234770" y="463114"/>
                  </a:lnTo>
                  <a:lnTo>
                    <a:pt x="23477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85549" y="3173009"/>
              <a:ext cx="234950" cy="463550"/>
            </a:xfrm>
            <a:custGeom>
              <a:avLst/>
              <a:gdLst/>
              <a:ahLst/>
              <a:cxnLst/>
              <a:rect l="l" t="t" r="r" b="b"/>
              <a:pathLst>
                <a:path w="234950" h="463550">
                  <a:moveTo>
                    <a:pt x="0" y="463114"/>
                  </a:moveTo>
                  <a:lnTo>
                    <a:pt x="234770" y="463114"/>
                  </a:lnTo>
                  <a:lnTo>
                    <a:pt x="234770" y="0"/>
                  </a:lnTo>
                  <a:lnTo>
                    <a:pt x="0" y="0"/>
                  </a:lnTo>
                  <a:lnTo>
                    <a:pt x="0" y="463114"/>
                  </a:lnTo>
                  <a:close/>
                </a:path>
              </a:pathLst>
            </a:custGeom>
            <a:ln w="18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20320" y="3173009"/>
              <a:ext cx="228600" cy="463550"/>
            </a:xfrm>
            <a:custGeom>
              <a:avLst/>
              <a:gdLst/>
              <a:ahLst/>
              <a:cxnLst/>
              <a:rect l="l" t="t" r="r" b="b"/>
              <a:pathLst>
                <a:path w="228600" h="463550">
                  <a:moveTo>
                    <a:pt x="228594" y="0"/>
                  </a:moveTo>
                  <a:lnTo>
                    <a:pt x="0" y="0"/>
                  </a:lnTo>
                  <a:lnTo>
                    <a:pt x="0" y="463114"/>
                  </a:lnTo>
                  <a:lnTo>
                    <a:pt x="228594" y="463114"/>
                  </a:lnTo>
                  <a:lnTo>
                    <a:pt x="22859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20320" y="3173009"/>
              <a:ext cx="228600" cy="463550"/>
            </a:xfrm>
            <a:custGeom>
              <a:avLst/>
              <a:gdLst/>
              <a:ahLst/>
              <a:cxnLst/>
              <a:rect l="l" t="t" r="r" b="b"/>
              <a:pathLst>
                <a:path w="228600" h="463550">
                  <a:moveTo>
                    <a:pt x="0" y="463114"/>
                  </a:moveTo>
                  <a:lnTo>
                    <a:pt x="228594" y="463114"/>
                  </a:lnTo>
                  <a:lnTo>
                    <a:pt x="228594" y="0"/>
                  </a:lnTo>
                  <a:lnTo>
                    <a:pt x="0" y="0"/>
                  </a:lnTo>
                  <a:lnTo>
                    <a:pt x="0" y="463114"/>
                  </a:lnTo>
                  <a:close/>
                </a:path>
              </a:pathLst>
            </a:custGeom>
            <a:ln w="185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820320" y="2472382"/>
            <a:ext cx="1518285" cy="601980"/>
            <a:chOff x="4820320" y="2472382"/>
            <a:chExt cx="1518285" cy="601980"/>
          </a:xfrm>
        </p:grpSpPr>
        <p:sp>
          <p:nvSpPr>
            <p:cNvPr id="21" name="object 21"/>
            <p:cNvSpPr/>
            <p:nvPr/>
          </p:nvSpPr>
          <p:spPr>
            <a:xfrm>
              <a:off x="4937718" y="2481647"/>
              <a:ext cx="1391920" cy="531495"/>
            </a:xfrm>
            <a:custGeom>
              <a:avLst/>
              <a:gdLst/>
              <a:ahLst/>
              <a:cxnLst/>
              <a:rect l="l" t="t" r="r" b="b"/>
              <a:pathLst>
                <a:path w="1391920" h="531494">
                  <a:moveTo>
                    <a:pt x="1391411" y="0"/>
                  </a:moveTo>
                  <a:lnTo>
                    <a:pt x="0" y="531048"/>
                  </a:lnTo>
                </a:path>
              </a:pathLst>
            </a:custGeom>
            <a:ln w="185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0320" y="2919593"/>
              <a:ext cx="185420" cy="154940"/>
            </a:xfrm>
            <a:custGeom>
              <a:avLst/>
              <a:gdLst/>
              <a:ahLst/>
              <a:cxnLst/>
              <a:rect l="l" t="t" r="r" b="b"/>
              <a:pathLst>
                <a:path w="185420" h="154939">
                  <a:moveTo>
                    <a:pt x="123556" y="0"/>
                  </a:moveTo>
                  <a:lnTo>
                    <a:pt x="0" y="136252"/>
                  </a:lnTo>
                  <a:lnTo>
                    <a:pt x="185348" y="154749"/>
                  </a:lnTo>
                  <a:lnTo>
                    <a:pt x="148268" y="111598"/>
                  </a:lnTo>
                  <a:lnTo>
                    <a:pt x="129741" y="56082"/>
                  </a:lnTo>
                  <a:lnTo>
                    <a:pt x="1235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6548425" y="2472382"/>
            <a:ext cx="1518285" cy="601980"/>
            <a:chOff x="6548425" y="2472382"/>
            <a:chExt cx="1518285" cy="601980"/>
          </a:xfrm>
        </p:grpSpPr>
        <p:sp>
          <p:nvSpPr>
            <p:cNvPr id="24" name="object 24"/>
            <p:cNvSpPr/>
            <p:nvPr/>
          </p:nvSpPr>
          <p:spPr>
            <a:xfrm>
              <a:off x="6557690" y="2481647"/>
              <a:ext cx="1391285" cy="531495"/>
            </a:xfrm>
            <a:custGeom>
              <a:avLst/>
              <a:gdLst/>
              <a:ahLst/>
              <a:cxnLst/>
              <a:rect l="l" t="t" r="r" b="b"/>
              <a:pathLst>
                <a:path w="1391284" h="531494">
                  <a:moveTo>
                    <a:pt x="0" y="0"/>
                  </a:moveTo>
                  <a:lnTo>
                    <a:pt x="1391205" y="531048"/>
                  </a:lnTo>
                </a:path>
              </a:pathLst>
            </a:custGeom>
            <a:ln w="185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80353" y="2919593"/>
              <a:ext cx="186055" cy="154940"/>
            </a:xfrm>
            <a:custGeom>
              <a:avLst/>
              <a:gdLst/>
              <a:ahLst/>
              <a:cxnLst/>
              <a:rect l="l" t="t" r="r" b="b"/>
              <a:pathLst>
                <a:path w="186054" h="154939">
                  <a:moveTo>
                    <a:pt x="56173" y="0"/>
                  </a:moveTo>
                  <a:lnTo>
                    <a:pt x="56173" y="56082"/>
                  </a:lnTo>
                  <a:lnTo>
                    <a:pt x="37621" y="111598"/>
                  </a:lnTo>
                  <a:lnTo>
                    <a:pt x="0" y="154749"/>
                  </a:lnTo>
                  <a:lnTo>
                    <a:pt x="186043" y="136252"/>
                  </a:lnTo>
                  <a:lnTo>
                    <a:pt x="561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4441" y="2504962"/>
            <a:ext cx="19812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13304" y="2504962"/>
            <a:ext cx="19812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48906" y="4099213"/>
            <a:ext cx="1280160" cy="463550"/>
          </a:xfrm>
          <a:custGeom>
            <a:avLst/>
            <a:gdLst/>
            <a:ahLst/>
            <a:cxnLst/>
            <a:rect l="l" t="t" r="r" b="b"/>
            <a:pathLst>
              <a:path w="1280160" h="463550">
                <a:moveTo>
                  <a:pt x="0" y="463114"/>
                </a:moveTo>
                <a:lnTo>
                  <a:pt x="1280120" y="463114"/>
                </a:lnTo>
                <a:lnTo>
                  <a:pt x="1280120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165259" y="4103902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01010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48906" y="4562328"/>
            <a:ext cx="1280160" cy="463550"/>
          </a:xfrm>
          <a:custGeom>
            <a:avLst/>
            <a:gdLst/>
            <a:ahLst/>
            <a:cxnLst/>
            <a:rect l="l" t="t" r="r" b="b"/>
            <a:pathLst>
              <a:path w="1280160" h="463550">
                <a:moveTo>
                  <a:pt x="0" y="463114"/>
                </a:moveTo>
                <a:lnTo>
                  <a:pt x="1280120" y="463114"/>
                </a:lnTo>
                <a:lnTo>
                  <a:pt x="1280120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65259" y="4567017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01110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048906" y="4099239"/>
            <a:ext cx="1280795" cy="926465"/>
          </a:xfrm>
          <a:custGeom>
            <a:avLst/>
            <a:gdLst/>
            <a:ahLst/>
            <a:cxnLst/>
            <a:rect l="l" t="t" r="r" b="b"/>
            <a:pathLst>
              <a:path w="1280795" h="926464">
                <a:moveTo>
                  <a:pt x="0" y="926204"/>
                </a:moveTo>
                <a:lnTo>
                  <a:pt x="1280223" y="926204"/>
                </a:lnTo>
                <a:lnTo>
                  <a:pt x="1280223" y="0"/>
                </a:lnTo>
                <a:lnTo>
                  <a:pt x="0" y="0"/>
                </a:lnTo>
                <a:lnTo>
                  <a:pt x="0" y="926204"/>
                </a:lnTo>
              </a:path>
            </a:pathLst>
          </a:custGeom>
          <a:ln w="555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17854" y="4945917"/>
            <a:ext cx="6538595" cy="100393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541905">
              <a:lnSpc>
                <a:spcPct val="100000"/>
              </a:lnSpc>
              <a:spcBef>
                <a:spcPts val="800"/>
              </a:spcBef>
              <a:tabLst>
                <a:tab pos="4279265" algn="l"/>
              </a:tabLst>
            </a:pPr>
            <a:r>
              <a:rPr sz="2400" dirty="0">
                <a:latin typeface="Arial MT"/>
                <a:cs typeface="Arial MT"/>
              </a:rPr>
              <a:t>Bloc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0</a:t>
            </a:r>
            <a:r>
              <a:rPr sz="2400" dirty="0">
                <a:latin typeface="Arial MT"/>
                <a:cs typeface="Arial MT"/>
              </a:rPr>
              <a:t>	Bloc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Pas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lien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direct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entre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suffixe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et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#bloc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010360" y="3398070"/>
            <a:ext cx="702310" cy="584200"/>
            <a:chOff x="4010360" y="3398070"/>
            <a:chExt cx="702310" cy="584200"/>
          </a:xfrm>
        </p:grpSpPr>
        <p:sp>
          <p:nvSpPr>
            <p:cNvPr id="35" name="object 35"/>
            <p:cNvSpPr/>
            <p:nvPr/>
          </p:nvSpPr>
          <p:spPr>
            <a:xfrm>
              <a:off x="4103021" y="3407336"/>
              <a:ext cx="600075" cy="494030"/>
            </a:xfrm>
            <a:custGeom>
              <a:avLst/>
              <a:gdLst/>
              <a:ahLst/>
              <a:cxnLst/>
              <a:rect l="l" t="t" r="r" b="b"/>
              <a:pathLst>
                <a:path w="600075" h="494029">
                  <a:moveTo>
                    <a:pt x="599926" y="0"/>
                  </a:moveTo>
                  <a:lnTo>
                    <a:pt x="0" y="493951"/>
                  </a:lnTo>
                </a:path>
              </a:pathLst>
            </a:custGeom>
            <a:ln w="185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10360" y="3814960"/>
              <a:ext cx="179705" cy="167640"/>
            </a:xfrm>
            <a:custGeom>
              <a:avLst/>
              <a:gdLst/>
              <a:ahLst/>
              <a:cxnLst/>
              <a:rect l="l" t="t" r="r" b="b"/>
              <a:pathLst>
                <a:path w="179704" h="167639">
                  <a:moveTo>
                    <a:pt x="74134" y="0"/>
                  </a:moveTo>
                  <a:lnTo>
                    <a:pt x="0" y="167115"/>
                  </a:lnTo>
                  <a:lnTo>
                    <a:pt x="179163" y="123320"/>
                  </a:lnTo>
                  <a:lnTo>
                    <a:pt x="129741" y="92483"/>
                  </a:lnTo>
                  <a:lnTo>
                    <a:pt x="92661" y="49333"/>
                  </a:lnTo>
                  <a:lnTo>
                    <a:pt x="741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4928452" y="3398070"/>
            <a:ext cx="702310" cy="584200"/>
            <a:chOff x="4928452" y="3398070"/>
            <a:chExt cx="702310" cy="584200"/>
          </a:xfrm>
        </p:grpSpPr>
        <p:sp>
          <p:nvSpPr>
            <p:cNvPr id="38" name="object 38"/>
            <p:cNvSpPr/>
            <p:nvPr/>
          </p:nvSpPr>
          <p:spPr>
            <a:xfrm>
              <a:off x="4937718" y="3407336"/>
              <a:ext cx="593725" cy="494030"/>
            </a:xfrm>
            <a:custGeom>
              <a:avLst/>
              <a:gdLst/>
              <a:ahLst/>
              <a:cxnLst/>
              <a:rect l="l" t="t" r="r" b="b"/>
              <a:pathLst>
                <a:path w="593725" h="494029">
                  <a:moveTo>
                    <a:pt x="0" y="0"/>
                  </a:moveTo>
                  <a:lnTo>
                    <a:pt x="593716" y="493951"/>
                  </a:lnTo>
                </a:path>
              </a:pathLst>
            </a:custGeom>
            <a:ln w="185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51116" y="3814960"/>
              <a:ext cx="179705" cy="167640"/>
            </a:xfrm>
            <a:custGeom>
              <a:avLst/>
              <a:gdLst/>
              <a:ahLst/>
              <a:cxnLst/>
              <a:rect l="l" t="t" r="r" b="b"/>
              <a:pathLst>
                <a:path w="179704" h="167639">
                  <a:moveTo>
                    <a:pt x="105029" y="0"/>
                  </a:moveTo>
                  <a:lnTo>
                    <a:pt x="80318" y="49333"/>
                  </a:lnTo>
                  <a:lnTo>
                    <a:pt x="43238" y="92483"/>
                  </a:lnTo>
                  <a:lnTo>
                    <a:pt x="0" y="123320"/>
                  </a:lnTo>
                  <a:lnTo>
                    <a:pt x="179163" y="167115"/>
                  </a:lnTo>
                  <a:lnTo>
                    <a:pt x="1050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047082" y="3431140"/>
            <a:ext cx="19812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95178" y="3431140"/>
            <a:ext cx="19812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367573" y="3173009"/>
            <a:ext cx="1279525" cy="463550"/>
          </a:xfrm>
          <a:custGeom>
            <a:avLst/>
            <a:gdLst/>
            <a:ahLst/>
            <a:cxnLst/>
            <a:rect l="l" t="t" r="r" b="b"/>
            <a:pathLst>
              <a:path w="1279525" h="463550">
                <a:moveTo>
                  <a:pt x="0" y="463114"/>
                </a:moveTo>
                <a:lnTo>
                  <a:pt x="1279501" y="463114"/>
                </a:lnTo>
                <a:lnTo>
                  <a:pt x="1279501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7483823" y="3178316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10001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367573" y="3636124"/>
            <a:ext cx="1279525" cy="463550"/>
          </a:xfrm>
          <a:custGeom>
            <a:avLst/>
            <a:gdLst/>
            <a:ahLst/>
            <a:cxnLst/>
            <a:rect l="l" t="t" r="r" b="b"/>
            <a:pathLst>
              <a:path w="1279525" h="463550">
                <a:moveTo>
                  <a:pt x="0" y="463114"/>
                </a:moveTo>
                <a:lnTo>
                  <a:pt x="1279501" y="463114"/>
                </a:lnTo>
                <a:lnTo>
                  <a:pt x="1279501" y="0"/>
                </a:lnTo>
                <a:lnTo>
                  <a:pt x="0" y="0"/>
                </a:lnTo>
                <a:lnTo>
                  <a:pt x="0" y="463114"/>
                </a:lnTo>
                <a:close/>
              </a:path>
            </a:pathLst>
          </a:custGeom>
          <a:ln w="185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483823" y="3640813"/>
            <a:ext cx="1055370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00" spc="-10" dirty="0">
                <a:latin typeface="Arial MT"/>
                <a:cs typeface="Arial MT"/>
              </a:rPr>
              <a:t>11101</a:t>
            </a:r>
            <a:r>
              <a:rPr sz="2400" spc="-15" baseline="-27777" dirty="0">
                <a:latin typeface="Arial MT"/>
                <a:cs typeface="Arial MT"/>
              </a:rPr>
              <a:t>2</a:t>
            </a:r>
            <a:endParaRPr sz="2400" baseline="-27777">
              <a:latin typeface="Arial MT"/>
              <a:cs typeface="Arial MT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367573" y="3173009"/>
            <a:ext cx="1280160" cy="926465"/>
          </a:xfrm>
          <a:custGeom>
            <a:avLst/>
            <a:gdLst/>
            <a:ahLst/>
            <a:cxnLst/>
            <a:rect l="l" t="t" r="r" b="b"/>
            <a:pathLst>
              <a:path w="1280159" h="926464">
                <a:moveTo>
                  <a:pt x="0" y="926229"/>
                </a:moveTo>
                <a:lnTo>
                  <a:pt x="1279630" y="926229"/>
                </a:lnTo>
                <a:lnTo>
                  <a:pt x="1279630" y="0"/>
                </a:lnTo>
                <a:lnTo>
                  <a:pt x="0" y="0"/>
                </a:lnTo>
                <a:lnTo>
                  <a:pt x="0" y="926229"/>
                </a:lnTo>
              </a:path>
            </a:pathLst>
          </a:custGeom>
          <a:ln w="555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503296" y="4103902"/>
            <a:ext cx="889635" cy="396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latin typeface="Arial MT"/>
                <a:cs typeface="Arial MT"/>
              </a:rPr>
              <a:t>Bloc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3489" y="591022"/>
            <a:ext cx="5942330" cy="540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9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350" b="1" i="1" spc="-30" dirty="0">
                <a:solidFill>
                  <a:srgbClr val="0000FF"/>
                </a:solidFill>
                <a:latin typeface="Verdana"/>
                <a:cs typeface="Verdana"/>
              </a:rPr>
              <a:t>h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(clé)</a:t>
            </a:r>
            <a:r>
              <a:rPr sz="3200" b="1" spc="-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10011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17815" y="2945746"/>
            <a:ext cx="908050" cy="330200"/>
          </a:xfrm>
          <a:custGeom>
            <a:avLst/>
            <a:gdLst/>
            <a:ahLst/>
            <a:cxnLst/>
            <a:rect l="l" t="t" r="r" b="b"/>
            <a:pathLst>
              <a:path w="908050" h="330200">
                <a:moveTo>
                  <a:pt x="0" y="329815"/>
                </a:moveTo>
                <a:lnTo>
                  <a:pt x="907459" y="329815"/>
                </a:lnTo>
                <a:lnTo>
                  <a:pt x="907459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12213" y="2945430"/>
            <a:ext cx="918844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10100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17815" y="3275562"/>
            <a:ext cx="908050" cy="330200"/>
          </a:xfrm>
          <a:custGeom>
            <a:avLst/>
            <a:gdLst/>
            <a:ahLst/>
            <a:cxnLst/>
            <a:rect l="l" t="t" r="r" b="b"/>
            <a:pathLst>
              <a:path w="908050" h="330200">
                <a:moveTo>
                  <a:pt x="0" y="329815"/>
                </a:moveTo>
                <a:lnTo>
                  <a:pt x="907459" y="329815"/>
                </a:lnTo>
                <a:lnTo>
                  <a:pt x="907459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12213" y="3275246"/>
            <a:ext cx="918844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11000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17815" y="2945764"/>
            <a:ext cx="908050" cy="659765"/>
          </a:xfrm>
          <a:custGeom>
            <a:avLst/>
            <a:gdLst/>
            <a:ahLst/>
            <a:cxnLst/>
            <a:rect l="l" t="t" r="r" b="b"/>
            <a:pathLst>
              <a:path w="908050" h="659764">
                <a:moveTo>
                  <a:pt x="0" y="659613"/>
                </a:moveTo>
                <a:lnTo>
                  <a:pt x="907464" y="659613"/>
                </a:lnTo>
                <a:lnTo>
                  <a:pt x="907464" y="0"/>
                </a:lnTo>
                <a:lnTo>
                  <a:pt x="0" y="0"/>
                </a:lnTo>
                <a:lnTo>
                  <a:pt x="0" y="659613"/>
                </a:lnTo>
              </a:path>
            </a:pathLst>
          </a:custGeom>
          <a:ln w="39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176979" y="1619900"/>
            <a:ext cx="343535" cy="343535"/>
            <a:chOff x="6176979" y="1619900"/>
            <a:chExt cx="343535" cy="343535"/>
          </a:xfrm>
        </p:grpSpPr>
        <p:sp>
          <p:nvSpPr>
            <p:cNvPr id="9" name="object 9"/>
            <p:cNvSpPr/>
            <p:nvPr/>
          </p:nvSpPr>
          <p:spPr>
            <a:xfrm>
              <a:off x="6183580" y="1626500"/>
              <a:ext cx="163195" cy="330200"/>
            </a:xfrm>
            <a:custGeom>
              <a:avLst/>
              <a:gdLst/>
              <a:ahLst/>
              <a:cxnLst/>
              <a:rect l="l" t="t" r="r" b="b"/>
              <a:pathLst>
                <a:path w="163195" h="330200">
                  <a:moveTo>
                    <a:pt x="162833" y="0"/>
                  </a:moveTo>
                  <a:lnTo>
                    <a:pt x="0" y="0"/>
                  </a:lnTo>
                  <a:lnTo>
                    <a:pt x="0" y="329815"/>
                  </a:lnTo>
                  <a:lnTo>
                    <a:pt x="162833" y="329815"/>
                  </a:lnTo>
                  <a:lnTo>
                    <a:pt x="1628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83580" y="1626500"/>
              <a:ext cx="163195" cy="330200"/>
            </a:xfrm>
            <a:custGeom>
              <a:avLst/>
              <a:gdLst/>
              <a:ahLst/>
              <a:cxnLst/>
              <a:rect l="l" t="t" r="r" b="b"/>
              <a:pathLst>
                <a:path w="163195" h="330200">
                  <a:moveTo>
                    <a:pt x="0" y="329815"/>
                  </a:moveTo>
                  <a:lnTo>
                    <a:pt x="162833" y="329815"/>
                  </a:lnTo>
                  <a:lnTo>
                    <a:pt x="162833" y="0"/>
                  </a:lnTo>
                  <a:lnTo>
                    <a:pt x="0" y="0"/>
                  </a:lnTo>
                  <a:lnTo>
                    <a:pt x="0" y="329815"/>
                  </a:lnTo>
                  <a:close/>
                </a:path>
              </a:pathLst>
            </a:custGeom>
            <a:ln w="13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6390" y="1626500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67233" y="0"/>
                  </a:moveTo>
                  <a:lnTo>
                    <a:pt x="0" y="0"/>
                  </a:lnTo>
                  <a:lnTo>
                    <a:pt x="0" y="329815"/>
                  </a:lnTo>
                  <a:lnTo>
                    <a:pt x="167233" y="329815"/>
                  </a:lnTo>
                  <a:lnTo>
                    <a:pt x="1672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6390" y="1626500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0" y="329815"/>
                  </a:moveTo>
                  <a:lnTo>
                    <a:pt x="167233" y="329815"/>
                  </a:lnTo>
                  <a:lnTo>
                    <a:pt x="167233" y="0"/>
                  </a:lnTo>
                  <a:lnTo>
                    <a:pt x="0" y="0"/>
                  </a:lnTo>
                  <a:lnTo>
                    <a:pt x="0" y="329815"/>
                  </a:lnTo>
                  <a:close/>
                </a:path>
              </a:pathLst>
            </a:custGeom>
            <a:ln w="13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018679" y="2279532"/>
            <a:ext cx="343535" cy="343535"/>
            <a:chOff x="5018679" y="2279532"/>
            <a:chExt cx="343535" cy="343535"/>
          </a:xfrm>
        </p:grpSpPr>
        <p:sp>
          <p:nvSpPr>
            <p:cNvPr id="14" name="object 14"/>
            <p:cNvSpPr/>
            <p:nvPr/>
          </p:nvSpPr>
          <p:spPr>
            <a:xfrm>
              <a:off x="5025280" y="2286132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67233" y="0"/>
                  </a:moveTo>
                  <a:lnTo>
                    <a:pt x="0" y="0"/>
                  </a:lnTo>
                  <a:lnTo>
                    <a:pt x="0" y="329815"/>
                  </a:lnTo>
                  <a:lnTo>
                    <a:pt x="167233" y="329815"/>
                  </a:lnTo>
                  <a:lnTo>
                    <a:pt x="1672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25280" y="2286132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0" y="329815"/>
                  </a:moveTo>
                  <a:lnTo>
                    <a:pt x="167233" y="329815"/>
                  </a:lnTo>
                  <a:lnTo>
                    <a:pt x="167233" y="0"/>
                  </a:lnTo>
                  <a:lnTo>
                    <a:pt x="0" y="0"/>
                  </a:lnTo>
                  <a:lnTo>
                    <a:pt x="0" y="329815"/>
                  </a:lnTo>
                  <a:close/>
                </a:path>
              </a:pathLst>
            </a:custGeom>
            <a:ln w="13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92513" y="2286132"/>
              <a:ext cx="163195" cy="330200"/>
            </a:xfrm>
            <a:custGeom>
              <a:avLst/>
              <a:gdLst/>
              <a:ahLst/>
              <a:cxnLst/>
              <a:rect l="l" t="t" r="r" b="b"/>
              <a:pathLst>
                <a:path w="163195" h="330200">
                  <a:moveTo>
                    <a:pt x="162833" y="0"/>
                  </a:moveTo>
                  <a:lnTo>
                    <a:pt x="0" y="0"/>
                  </a:lnTo>
                  <a:lnTo>
                    <a:pt x="0" y="329815"/>
                  </a:lnTo>
                  <a:lnTo>
                    <a:pt x="162833" y="329815"/>
                  </a:lnTo>
                  <a:lnTo>
                    <a:pt x="16283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92513" y="2286132"/>
              <a:ext cx="163195" cy="330200"/>
            </a:xfrm>
            <a:custGeom>
              <a:avLst/>
              <a:gdLst/>
              <a:ahLst/>
              <a:cxnLst/>
              <a:rect l="l" t="t" r="r" b="b"/>
              <a:pathLst>
                <a:path w="163195" h="330200">
                  <a:moveTo>
                    <a:pt x="0" y="329815"/>
                  </a:moveTo>
                  <a:lnTo>
                    <a:pt x="162833" y="329815"/>
                  </a:lnTo>
                  <a:lnTo>
                    <a:pt x="162833" y="0"/>
                  </a:lnTo>
                  <a:lnTo>
                    <a:pt x="0" y="0"/>
                  </a:lnTo>
                  <a:lnTo>
                    <a:pt x="0" y="329815"/>
                  </a:lnTo>
                  <a:close/>
                </a:path>
              </a:pathLst>
            </a:custGeom>
            <a:ln w="132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5192513" y="1787167"/>
            <a:ext cx="1081405" cy="429259"/>
            <a:chOff x="5192513" y="1787167"/>
            <a:chExt cx="1081405" cy="429259"/>
          </a:xfrm>
        </p:grpSpPr>
        <p:sp>
          <p:nvSpPr>
            <p:cNvPr id="19" name="object 19"/>
            <p:cNvSpPr/>
            <p:nvPr/>
          </p:nvSpPr>
          <p:spPr>
            <a:xfrm>
              <a:off x="5276139" y="1793766"/>
              <a:ext cx="991235" cy="378460"/>
            </a:xfrm>
            <a:custGeom>
              <a:avLst/>
              <a:gdLst/>
              <a:ahLst/>
              <a:cxnLst/>
              <a:rect l="l" t="t" r="r" b="b"/>
              <a:pathLst>
                <a:path w="991235" h="378460">
                  <a:moveTo>
                    <a:pt x="991140" y="0"/>
                  </a:moveTo>
                  <a:lnTo>
                    <a:pt x="0" y="378195"/>
                  </a:lnTo>
                </a:path>
              </a:pathLst>
            </a:custGeom>
            <a:ln w="13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2513" y="2105657"/>
              <a:ext cx="132080" cy="110489"/>
            </a:xfrm>
            <a:custGeom>
              <a:avLst/>
              <a:gdLst/>
              <a:ahLst/>
              <a:cxnLst/>
              <a:rect l="l" t="t" r="r" b="b"/>
              <a:pathLst>
                <a:path w="132079" h="110489">
                  <a:moveTo>
                    <a:pt x="88012" y="0"/>
                  </a:moveTo>
                  <a:lnTo>
                    <a:pt x="0" y="97034"/>
                  </a:lnTo>
                  <a:lnTo>
                    <a:pt x="132028" y="110207"/>
                  </a:lnTo>
                  <a:lnTo>
                    <a:pt x="105615" y="79477"/>
                  </a:lnTo>
                  <a:lnTo>
                    <a:pt x="92418" y="39940"/>
                  </a:lnTo>
                  <a:lnTo>
                    <a:pt x="88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423421" y="1787099"/>
            <a:ext cx="1081405" cy="429259"/>
            <a:chOff x="6423421" y="1787099"/>
            <a:chExt cx="1081405" cy="429259"/>
          </a:xfrm>
        </p:grpSpPr>
        <p:sp>
          <p:nvSpPr>
            <p:cNvPr id="22" name="object 22"/>
            <p:cNvSpPr/>
            <p:nvPr/>
          </p:nvSpPr>
          <p:spPr>
            <a:xfrm>
              <a:off x="6430089" y="1793766"/>
              <a:ext cx="991235" cy="378460"/>
            </a:xfrm>
            <a:custGeom>
              <a:avLst/>
              <a:gdLst/>
              <a:ahLst/>
              <a:cxnLst/>
              <a:rect l="l" t="t" r="r" b="b"/>
              <a:pathLst>
                <a:path w="991234" h="378460">
                  <a:moveTo>
                    <a:pt x="0" y="0"/>
                  </a:moveTo>
                  <a:lnTo>
                    <a:pt x="990993" y="378195"/>
                  </a:lnTo>
                </a:path>
              </a:pathLst>
            </a:custGeom>
            <a:ln w="131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72258" y="2105657"/>
              <a:ext cx="132715" cy="110489"/>
            </a:xfrm>
            <a:custGeom>
              <a:avLst/>
              <a:gdLst/>
              <a:ahLst/>
              <a:cxnLst/>
              <a:rect l="l" t="t" r="r" b="b"/>
              <a:pathLst>
                <a:path w="132715" h="110489">
                  <a:moveTo>
                    <a:pt x="40014" y="0"/>
                  </a:moveTo>
                  <a:lnTo>
                    <a:pt x="40014" y="39940"/>
                  </a:lnTo>
                  <a:lnTo>
                    <a:pt x="26798" y="79477"/>
                  </a:lnTo>
                  <a:lnTo>
                    <a:pt x="0" y="110207"/>
                  </a:lnTo>
                  <a:lnTo>
                    <a:pt x="132524" y="97034"/>
                  </a:lnTo>
                  <a:lnTo>
                    <a:pt x="400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298644" y="1806714"/>
            <a:ext cx="148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49610" y="1806714"/>
            <a:ext cx="148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55341" y="2945746"/>
            <a:ext cx="911860" cy="330200"/>
          </a:xfrm>
          <a:custGeom>
            <a:avLst/>
            <a:gdLst/>
            <a:ahLst/>
            <a:cxnLst/>
            <a:rect l="l" t="t" r="r" b="b"/>
            <a:pathLst>
              <a:path w="911860" h="330200">
                <a:moveTo>
                  <a:pt x="0" y="329815"/>
                </a:moveTo>
                <a:lnTo>
                  <a:pt x="911864" y="329815"/>
                </a:lnTo>
                <a:lnTo>
                  <a:pt x="911864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49739" y="2945430"/>
            <a:ext cx="9232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01010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355341" y="3275562"/>
            <a:ext cx="911860" cy="330200"/>
          </a:xfrm>
          <a:custGeom>
            <a:avLst/>
            <a:gdLst/>
            <a:ahLst/>
            <a:cxnLst/>
            <a:rect l="l" t="t" r="r" b="b"/>
            <a:pathLst>
              <a:path w="911860" h="330200">
                <a:moveTo>
                  <a:pt x="0" y="329815"/>
                </a:moveTo>
                <a:lnTo>
                  <a:pt x="911864" y="329815"/>
                </a:lnTo>
                <a:lnTo>
                  <a:pt x="911864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49739" y="3275246"/>
            <a:ext cx="9232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01110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55341" y="2945764"/>
            <a:ext cx="912494" cy="659765"/>
          </a:xfrm>
          <a:custGeom>
            <a:avLst/>
            <a:gdLst/>
            <a:ahLst/>
            <a:cxnLst/>
            <a:rect l="l" t="t" r="r" b="b"/>
            <a:pathLst>
              <a:path w="912495" h="659764">
                <a:moveTo>
                  <a:pt x="0" y="659613"/>
                </a:moveTo>
                <a:lnTo>
                  <a:pt x="911937" y="659613"/>
                </a:lnTo>
                <a:lnTo>
                  <a:pt x="911937" y="0"/>
                </a:lnTo>
                <a:lnTo>
                  <a:pt x="0" y="0"/>
                </a:lnTo>
                <a:lnTo>
                  <a:pt x="0" y="659613"/>
                </a:lnTo>
              </a:path>
            </a:pathLst>
          </a:custGeom>
          <a:ln w="39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4615556" y="2446413"/>
            <a:ext cx="500380" cy="415925"/>
            <a:chOff x="4615556" y="2446413"/>
            <a:chExt cx="500380" cy="415925"/>
          </a:xfrm>
        </p:grpSpPr>
        <p:sp>
          <p:nvSpPr>
            <p:cNvPr id="32" name="object 32"/>
            <p:cNvSpPr/>
            <p:nvPr/>
          </p:nvSpPr>
          <p:spPr>
            <a:xfrm>
              <a:off x="4681561" y="2453013"/>
              <a:ext cx="427355" cy="351790"/>
            </a:xfrm>
            <a:custGeom>
              <a:avLst/>
              <a:gdLst/>
              <a:ahLst/>
              <a:cxnLst/>
              <a:rect l="l" t="t" r="r" b="b"/>
              <a:pathLst>
                <a:path w="427354" h="351789">
                  <a:moveTo>
                    <a:pt x="427344" y="0"/>
                  </a:moveTo>
                  <a:lnTo>
                    <a:pt x="0" y="351776"/>
                  </a:lnTo>
                </a:path>
              </a:pathLst>
            </a:custGeom>
            <a:ln w="131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15556" y="2743310"/>
              <a:ext cx="127635" cy="119380"/>
            </a:xfrm>
            <a:custGeom>
              <a:avLst/>
              <a:gdLst/>
              <a:ahLst/>
              <a:cxnLst/>
              <a:rect l="l" t="t" r="r" b="b"/>
              <a:pathLst>
                <a:path w="127635" h="119380">
                  <a:moveTo>
                    <a:pt x="52807" y="0"/>
                  </a:moveTo>
                  <a:lnTo>
                    <a:pt x="0" y="119014"/>
                  </a:lnTo>
                  <a:lnTo>
                    <a:pt x="127623" y="87824"/>
                  </a:lnTo>
                  <a:lnTo>
                    <a:pt x="92418" y="65864"/>
                  </a:lnTo>
                  <a:lnTo>
                    <a:pt x="66005" y="35133"/>
                  </a:lnTo>
                  <a:lnTo>
                    <a:pt x="528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269539" y="2446413"/>
            <a:ext cx="500380" cy="415925"/>
            <a:chOff x="5269539" y="2446413"/>
            <a:chExt cx="500380" cy="415925"/>
          </a:xfrm>
        </p:grpSpPr>
        <p:sp>
          <p:nvSpPr>
            <p:cNvPr id="35" name="object 35"/>
            <p:cNvSpPr/>
            <p:nvPr/>
          </p:nvSpPr>
          <p:spPr>
            <a:xfrm>
              <a:off x="5276139" y="2453013"/>
              <a:ext cx="423545" cy="351790"/>
            </a:xfrm>
            <a:custGeom>
              <a:avLst/>
              <a:gdLst/>
              <a:ahLst/>
              <a:cxnLst/>
              <a:rect l="l" t="t" r="r" b="b"/>
              <a:pathLst>
                <a:path w="423545" h="351789">
                  <a:moveTo>
                    <a:pt x="0" y="0"/>
                  </a:moveTo>
                  <a:lnTo>
                    <a:pt x="422920" y="351776"/>
                  </a:lnTo>
                </a:path>
              </a:pathLst>
            </a:custGeom>
            <a:ln w="13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41847" y="2743310"/>
              <a:ext cx="127635" cy="119380"/>
            </a:xfrm>
            <a:custGeom>
              <a:avLst/>
              <a:gdLst/>
              <a:ahLst/>
              <a:cxnLst/>
              <a:rect l="l" t="t" r="r" b="b"/>
              <a:pathLst>
                <a:path w="127635" h="119380">
                  <a:moveTo>
                    <a:pt x="74815" y="0"/>
                  </a:moveTo>
                  <a:lnTo>
                    <a:pt x="57212" y="35133"/>
                  </a:lnTo>
                  <a:lnTo>
                    <a:pt x="30799" y="65864"/>
                  </a:lnTo>
                  <a:lnTo>
                    <a:pt x="0" y="87824"/>
                  </a:lnTo>
                  <a:lnTo>
                    <a:pt x="127623" y="119014"/>
                  </a:lnTo>
                  <a:lnTo>
                    <a:pt x="748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17854" y="1729990"/>
            <a:ext cx="3997960" cy="102679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3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1800" spc="-10" dirty="0">
                <a:latin typeface="Tahoma"/>
                <a:cs typeface="Tahoma"/>
              </a:rPr>
              <a:t>Débordement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division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du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bloc</a:t>
            </a:r>
            <a:r>
              <a:rPr sz="1800" spc="-25" dirty="0">
                <a:latin typeface="Tahoma"/>
                <a:cs typeface="Tahoma"/>
              </a:rPr>
              <a:t> #1</a:t>
            </a:r>
            <a:endParaRPr sz="1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latin typeface="Tahoma"/>
                <a:cs typeface="Tahoma"/>
              </a:rPr>
              <a:t>Utilisation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’un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bit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de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plus</a:t>
            </a:r>
            <a:endParaRPr sz="1800">
              <a:latin typeface="Tahoma"/>
              <a:cs typeface="Tahoma"/>
            </a:endParaRPr>
          </a:p>
          <a:p>
            <a:pPr marR="135255" algn="r">
              <a:lnSpc>
                <a:spcPct val="100000"/>
              </a:lnSpc>
              <a:spcBef>
                <a:spcPts val="645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98347" y="2466309"/>
            <a:ext cx="148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006990" y="2286132"/>
            <a:ext cx="911860" cy="330200"/>
          </a:xfrm>
          <a:custGeom>
            <a:avLst/>
            <a:gdLst/>
            <a:ahLst/>
            <a:cxnLst/>
            <a:rect l="l" t="t" r="r" b="b"/>
            <a:pathLst>
              <a:path w="911859" h="330200">
                <a:moveTo>
                  <a:pt x="0" y="329815"/>
                </a:moveTo>
                <a:lnTo>
                  <a:pt x="911423" y="329815"/>
                </a:lnTo>
                <a:lnTo>
                  <a:pt x="911423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001388" y="2286256"/>
            <a:ext cx="9232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10001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006990" y="2615948"/>
            <a:ext cx="911860" cy="330200"/>
          </a:xfrm>
          <a:custGeom>
            <a:avLst/>
            <a:gdLst/>
            <a:ahLst/>
            <a:cxnLst/>
            <a:rect l="l" t="t" r="r" b="b"/>
            <a:pathLst>
              <a:path w="911859" h="330200">
                <a:moveTo>
                  <a:pt x="0" y="329815"/>
                </a:moveTo>
                <a:lnTo>
                  <a:pt x="911423" y="329815"/>
                </a:lnTo>
                <a:lnTo>
                  <a:pt x="911423" y="0"/>
                </a:lnTo>
                <a:lnTo>
                  <a:pt x="0" y="0"/>
                </a:lnTo>
                <a:lnTo>
                  <a:pt x="0" y="329815"/>
                </a:lnTo>
                <a:close/>
              </a:path>
            </a:pathLst>
          </a:custGeom>
          <a:ln w="131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001388" y="2615632"/>
            <a:ext cx="9232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35"/>
              </a:spcBef>
            </a:pPr>
            <a:r>
              <a:rPr sz="1700" spc="-10" dirty="0">
                <a:latin typeface="Arial MT"/>
                <a:cs typeface="Arial MT"/>
              </a:rPr>
              <a:t>11101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006990" y="2286132"/>
            <a:ext cx="911860" cy="659765"/>
          </a:xfrm>
          <a:custGeom>
            <a:avLst/>
            <a:gdLst/>
            <a:ahLst/>
            <a:cxnLst/>
            <a:rect l="l" t="t" r="r" b="b"/>
            <a:pathLst>
              <a:path w="911859" h="659764">
                <a:moveTo>
                  <a:pt x="0" y="659631"/>
                </a:moveTo>
                <a:lnTo>
                  <a:pt x="911515" y="659631"/>
                </a:lnTo>
                <a:lnTo>
                  <a:pt x="911515" y="0"/>
                </a:lnTo>
                <a:lnTo>
                  <a:pt x="0" y="0"/>
                </a:lnTo>
                <a:lnTo>
                  <a:pt x="0" y="659631"/>
                </a:lnTo>
              </a:path>
            </a:pathLst>
          </a:custGeom>
          <a:ln w="39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210736" y="3605054"/>
            <a:ext cx="6407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00017" y="2945430"/>
            <a:ext cx="6407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48275" y="3605054"/>
            <a:ext cx="64071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116939" y="5368809"/>
            <a:ext cx="897255" cy="326390"/>
          </a:xfrm>
          <a:custGeom>
            <a:avLst/>
            <a:gdLst/>
            <a:ahLst/>
            <a:cxnLst/>
            <a:rect l="l" t="t" r="r" b="b"/>
            <a:pathLst>
              <a:path w="897254" h="326389">
                <a:moveTo>
                  <a:pt x="0" y="326059"/>
                </a:moveTo>
                <a:lnTo>
                  <a:pt x="896986" y="326059"/>
                </a:lnTo>
                <a:lnTo>
                  <a:pt x="896986" y="0"/>
                </a:lnTo>
                <a:lnTo>
                  <a:pt x="0" y="0"/>
                </a:lnTo>
                <a:lnTo>
                  <a:pt x="0" y="326059"/>
                </a:lnTo>
                <a:close/>
              </a:path>
            </a:pathLst>
          </a:custGeom>
          <a:ln w="13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111114" y="5368352"/>
            <a:ext cx="908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14"/>
              </a:spcBef>
            </a:pPr>
            <a:r>
              <a:rPr sz="1700" spc="-10" dirty="0">
                <a:latin typeface="Arial MT"/>
                <a:cs typeface="Arial MT"/>
              </a:rPr>
              <a:t>10100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endParaRPr sz="1650" baseline="-27777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116939" y="5694869"/>
            <a:ext cx="897255" cy="326390"/>
          </a:xfrm>
          <a:custGeom>
            <a:avLst/>
            <a:gdLst/>
            <a:ahLst/>
            <a:cxnLst/>
            <a:rect l="l" t="t" r="r" b="b"/>
            <a:pathLst>
              <a:path w="897254" h="326389">
                <a:moveTo>
                  <a:pt x="0" y="326059"/>
                </a:moveTo>
                <a:lnTo>
                  <a:pt x="896986" y="326059"/>
                </a:lnTo>
                <a:lnTo>
                  <a:pt x="896986" y="0"/>
                </a:lnTo>
                <a:lnTo>
                  <a:pt x="0" y="0"/>
                </a:lnTo>
                <a:lnTo>
                  <a:pt x="0" y="326059"/>
                </a:lnTo>
                <a:close/>
              </a:path>
            </a:pathLst>
          </a:custGeom>
          <a:ln w="13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111114" y="5694412"/>
            <a:ext cx="908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14"/>
              </a:spcBef>
            </a:pPr>
            <a:r>
              <a:rPr sz="1700" spc="-10" dirty="0">
                <a:latin typeface="Arial MT"/>
                <a:cs typeface="Arial MT"/>
              </a:rPr>
              <a:t>11000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endParaRPr sz="1650" baseline="-27777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116939" y="5368827"/>
            <a:ext cx="897255" cy="652145"/>
          </a:xfrm>
          <a:custGeom>
            <a:avLst/>
            <a:gdLst/>
            <a:ahLst/>
            <a:cxnLst/>
            <a:rect l="l" t="t" r="r" b="b"/>
            <a:pathLst>
              <a:path w="897254" h="652145">
                <a:moveTo>
                  <a:pt x="0" y="652101"/>
                </a:moveTo>
                <a:lnTo>
                  <a:pt x="896992" y="652101"/>
                </a:lnTo>
                <a:lnTo>
                  <a:pt x="896992" y="0"/>
                </a:lnTo>
                <a:lnTo>
                  <a:pt x="0" y="0"/>
                </a:lnTo>
                <a:lnTo>
                  <a:pt x="0" y="652101"/>
                </a:lnTo>
              </a:path>
            </a:pathLst>
          </a:custGeom>
          <a:ln w="39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5179314" y="4057920"/>
            <a:ext cx="2286635" cy="589915"/>
            <a:chOff x="5179314" y="4057920"/>
            <a:chExt cx="2286635" cy="589915"/>
          </a:xfrm>
        </p:grpSpPr>
        <p:sp>
          <p:nvSpPr>
            <p:cNvPr id="53" name="object 53"/>
            <p:cNvSpPr/>
            <p:nvPr/>
          </p:nvSpPr>
          <p:spPr>
            <a:xfrm>
              <a:off x="6158947" y="4064588"/>
              <a:ext cx="161925" cy="326390"/>
            </a:xfrm>
            <a:custGeom>
              <a:avLst/>
              <a:gdLst/>
              <a:ahLst/>
              <a:cxnLst/>
              <a:rect l="l" t="t" r="r" b="b"/>
              <a:pathLst>
                <a:path w="161925" h="326389">
                  <a:moveTo>
                    <a:pt x="161466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1466" y="326059"/>
                  </a:lnTo>
                  <a:lnTo>
                    <a:pt x="16146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158947" y="4064588"/>
              <a:ext cx="161925" cy="326390"/>
            </a:xfrm>
            <a:custGeom>
              <a:avLst/>
              <a:gdLst/>
              <a:ahLst/>
              <a:cxnLst/>
              <a:rect l="l" t="t" r="r" b="b"/>
              <a:pathLst>
                <a:path w="161925" h="326389">
                  <a:moveTo>
                    <a:pt x="0" y="326059"/>
                  </a:moveTo>
                  <a:lnTo>
                    <a:pt x="161466" y="326059"/>
                  </a:lnTo>
                  <a:lnTo>
                    <a:pt x="161466" y="0"/>
                  </a:lnTo>
                  <a:lnTo>
                    <a:pt x="0" y="0"/>
                  </a:lnTo>
                  <a:lnTo>
                    <a:pt x="0" y="326059"/>
                  </a:lnTo>
                  <a:close/>
                </a:path>
              </a:pathLst>
            </a:custGeom>
            <a:ln w="13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320501" y="4064588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5" h="326389">
                  <a:moveTo>
                    <a:pt x="165383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5383" y="326059"/>
                  </a:lnTo>
                  <a:lnTo>
                    <a:pt x="1653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62015" y="4064588"/>
              <a:ext cx="1224280" cy="539750"/>
            </a:xfrm>
            <a:custGeom>
              <a:avLst/>
              <a:gdLst/>
              <a:ahLst/>
              <a:cxnLst/>
              <a:rect l="l" t="t" r="r" b="b"/>
              <a:pathLst>
                <a:path w="1224279" h="539750">
                  <a:moveTo>
                    <a:pt x="1058485" y="326059"/>
                  </a:moveTo>
                  <a:lnTo>
                    <a:pt x="1223869" y="326059"/>
                  </a:lnTo>
                  <a:lnTo>
                    <a:pt x="1223869" y="0"/>
                  </a:lnTo>
                  <a:lnTo>
                    <a:pt x="1058485" y="0"/>
                  </a:lnTo>
                  <a:lnTo>
                    <a:pt x="1058485" y="326059"/>
                  </a:lnTo>
                  <a:close/>
                </a:path>
                <a:path w="1224279" h="539750">
                  <a:moveTo>
                    <a:pt x="979705" y="165360"/>
                  </a:moveTo>
                  <a:lnTo>
                    <a:pt x="0" y="539249"/>
                  </a:lnTo>
                </a:path>
              </a:pathLst>
            </a:custGeom>
            <a:ln w="13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179314" y="4538288"/>
              <a:ext cx="130810" cy="109220"/>
            </a:xfrm>
            <a:custGeom>
              <a:avLst/>
              <a:gdLst/>
              <a:ahLst/>
              <a:cxnLst/>
              <a:rect l="l" t="t" r="r" b="b"/>
              <a:pathLst>
                <a:path w="130810" h="109220">
                  <a:moveTo>
                    <a:pt x="87039" y="0"/>
                  </a:moveTo>
                  <a:lnTo>
                    <a:pt x="0" y="95929"/>
                  </a:lnTo>
                  <a:lnTo>
                    <a:pt x="130568" y="108952"/>
                  </a:lnTo>
                  <a:lnTo>
                    <a:pt x="104447" y="78572"/>
                  </a:lnTo>
                  <a:lnTo>
                    <a:pt x="91395" y="39485"/>
                  </a:lnTo>
                  <a:lnTo>
                    <a:pt x="870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403093" y="4229948"/>
              <a:ext cx="979805" cy="374015"/>
            </a:xfrm>
            <a:custGeom>
              <a:avLst/>
              <a:gdLst/>
              <a:ahLst/>
              <a:cxnLst/>
              <a:rect l="l" t="t" r="r" b="b"/>
              <a:pathLst>
                <a:path w="979804" h="374014">
                  <a:moveTo>
                    <a:pt x="0" y="0"/>
                  </a:moveTo>
                  <a:lnTo>
                    <a:pt x="979669" y="373888"/>
                  </a:lnTo>
                </a:path>
              </a:pathLst>
            </a:custGeom>
            <a:ln w="130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35023" y="4538288"/>
              <a:ext cx="130810" cy="109220"/>
            </a:xfrm>
            <a:custGeom>
              <a:avLst/>
              <a:gdLst/>
              <a:ahLst/>
              <a:cxnLst/>
              <a:rect l="l" t="t" r="r" b="b"/>
              <a:pathLst>
                <a:path w="130809" h="109220">
                  <a:moveTo>
                    <a:pt x="39027" y="0"/>
                  </a:moveTo>
                  <a:lnTo>
                    <a:pt x="39027" y="39485"/>
                  </a:lnTo>
                  <a:lnTo>
                    <a:pt x="26139" y="78572"/>
                  </a:lnTo>
                  <a:lnTo>
                    <a:pt x="0" y="108952"/>
                  </a:lnTo>
                  <a:lnTo>
                    <a:pt x="130513" y="95929"/>
                  </a:lnTo>
                  <a:lnTo>
                    <a:pt x="390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4609175" y="4710180"/>
            <a:ext cx="1141095" cy="576580"/>
            <a:chOff x="4609175" y="4710180"/>
            <a:chExt cx="1141095" cy="576580"/>
          </a:xfrm>
        </p:grpSpPr>
        <p:sp>
          <p:nvSpPr>
            <p:cNvPr id="61" name="object 61"/>
            <p:cNvSpPr/>
            <p:nvPr/>
          </p:nvSpPr>
          <p:spPr>
            <a:xfrm>
              <a:off x="5013931" y="4716708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5" h="326389">
                  <a:moveTo>
                    <a:pt x="165383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5383" y="326059"/>
                  </a:lnTo>
                  <a:lnTo>
                    <a:pt x="1653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013931" y="4716708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5" h="326389">
                  <a:moveTo>
                    <a:pt x="0" y="326059"/>
                  </a:moveTo>
                  <a:lnTo>
                    <a:pt x="165383" y="326059"/>
                  </a:lnTo>
                  <a:lnTo>
                    <a:pt x="165383" y="0"/>
                  </a:lnTo>
                  <a:lnTo>
                    <a:pt x="0" y="0"/>
                  </a:lnTo>
                  <a:lnTo>
                    <a:pt x="0" y="326059"/>
                  </a:lnTo>
                  <a:close/>
                </a:path>
              </a:pathLst>
            </a:custGeom>
            <a:ln w="13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179314" y="4716708"/>
              <a:ext cx="161290" cy="326390"/>
            </a:xfrm>
            <a:custGeom>
              <a:avLst/>
              <a:gdLst/>
              <a:ahLst/>
              <a:cxnLst/>
              <a:rect l="l" t="t" r="r" b="b"/>
              <a:pathLst>
                <a:path w="161289" h="326389">
                  <a:moveTo>
                    <a:pt x="161032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1032" y="326059"/>
                  </a:lnTo>
                  <a:lnTo>
                    <a:pt x="16103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74450" y="4716708"/>
              <a:ext cx="666115" cy="513080"/>
            </a:xfrm>
            <a:custGeom>
              <a:avLst/>
              <a:gdLst/>
              <a:ahLst/>
              <a:cxnLst/>
              <a:rect l="l" t="t" r="r" b="b"/>
              <a:pathLst>
                <a:path w="666114" h="513079">
                  <a:moveTo>
                    <a:pt x="504864" y="326059"/>
                  </a:moveTo>
                  <a:lnTo>
                    <a:pt x="665897" y="326059"/>
                  </a:lnTo>
                  <a:lnTo>
                    <a:pt x="665897" y="0"/>
                  </a:lnTo>
                  <a:lnTo>
                    <a:pt x="504864" y="0"/>
                  </a:lnTo>
                  <a:lnTo>
                    <a:pt x="504864" y="326059"/>
                  </a:lnTo>
                  <a:close/>
                </a:path>
                <a:path w="666114" h="513079">
                  <a:moveTo>
                    <a:pt x="422181" y="164979"/>
                  </a:moveTo>
                  <a:lnTo>
                    <a:pt x="0" y="512750"/>
                  </a:lnTo>
                </a:path>
              </a:pathLst>
            </a:custGeom>
            <a:ln w="13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09175" y="5168679"/>
              <a:ext cx="126364" cy="118110"/>
            </a:xfrm>
            <a:custGeom>
              <a:avLst/>
              <a:gdLst/>
              <a:ahLst/>
              <a:cxnLst/>
              <a:rect l="l" t="t" r="r" b="b"/>
              <a:pathLst>
                <a:path w="126364" h="118110">
                  <a:moveTo>
                    <a:pt x="52223" y="0"/>
                  </a:moveTo>
                  <a:lnTo>
                    <a:pt x="0" y="117658"/>
                  </a:lnTo>
                  <a:lnTo>
                    <a:pt x="126211" y="86824"/>
                  </a:lnTo>
                  <a:lnTo>
                    <a:pt x="91395" y="65114"/>
                  </a:lnTo>
                  <a:lnTo>
                    <a:pt x="65274" y="34733"/>
                  </a:lnTo>
                  <a:lnTo>
                    <a:pt x="52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62015" y="4881687"/>
              <a:ext cx="418465" cy="347980"/>
            </a:xfrm>
            <a:custGeom>
              <a:avLst/>
              <a:gdLst/>
              <a:ahLst/>
              <a:cxnLst/>
              <a:rect l="l" t="t" r="r" b="b"/>
              <a:pathLst>
                <a:path w="418464" h="347979">
                  <a:moveTo>
                    <a:pt x="0" y="0"/>
                  </a:moveTo>
                  <a:lnTo>
                    <a:pt x="418242" y="347770"/>
                  </a:lnTo>
                </a:path>
              </a:pathLst>
            </a:custGeom>
            <a:ln w="13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623678" y="5168679"/>
              <a:ext cx="126364" cy="118110"/>
            </a:xfrm>
            <a:custGeom>
              <a:avLst/>
              <a:gdLst/>
              <a:ahLst/>
              <a:cxnLst/>
              <a:rect l="l" t="t" r="r" b="b"/>
              <a:pathLst>
                <a:path w="126364" h="118110">
                  <a:moveTo>
                    <a:pt x="73988" y="0"/>
                  </a:moveTo>
                  <a:lnTo>
                    <a:pt x="56580" y="34733"/>
                  </a:lnTo>
                  <a:lnTo>
                    <a:pt x="30459" y="65114"/>
                  </a:lnTo>
                  <a:lnTo>
                    <a:pt x="0" y="86824"/>
                  </a:lnTo>
                  <a:lnTo>
                    <a:pt x="126211" y="117658"/>
                  </a:lnTo>
                  <a:lnTo>
                    <a:pt x="739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284131" y="4242605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213410" y="4242605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5320767" y="5349252"/>
            <a:ext cx="941069" cy="691515"/>
            <a:chOff x="5320767" y="5349252"/>
            <a:chExt cx="941069" cy="691515"/>
          </a:xfrm>
        </p:grpSpPr>
        <p:sp>
          <p:nvSpPr>
            <p:cNvPr id="71" name="object 71"/>
            <p:cNvSpPr/>
            <p:nvPr/>
          </p:nvSpPr>
          <p:spPr>
            <a:xfrm>
              <a:off x="5340342" y="5368809"/>
              <a:ext cx="901700" cy="652145"/>
            </a:xfrm>
            <a:custGeom>
              <a:avLst/>
              <a:gdLst/>
              <a:ahLst/>
              <a:cxnLst/>
              <a:rect l="l" t="t" r="r" b="b"/>
              <a:pathLst>
                <a:path w="901700" h="652145">
                  <a:moveTo>
                    <a:pt x="0" y="326059"/>
                  </a:moveTo>
                  <a:lnTo>
                    <a:pt x="901343" y="326059"/>
                  </a:lnTo>
                  <a:lnTo>
                    <a:pt x="901343" y="0"/>
                  </a:lnTo>
                  <a:lnTo>
                    <a:pt x="0" y="0"/>
                  </a:lnTo>
                  <a:lnTo>
                    <a:pt x="0" y="326059"/>
                  </a:lnTo>
                  <a:close/>
                </a:path>
                <a:path w="901700" h="652145">
                  <a:moveTo>
                    <a:pt x="0" y="652119"/>
                  </a:moveTo>
                  <a:lnTo>
                    <a:pt x="901343" y="652119"/>
                  </a:lnTo>
                  <a:lnTo>
                    <a:pt x="901343" y="326059"/>
                  </a:lnTo>
                  <a:lnTo>
                    <a:pt x="0" y="326059"/>
                  </a:lnTo>
                  <a:lnTo>
                    <a:pt x="0" y="652119"/>
                  </a:lnTo>
                  <a:close/>
                </a:path>
              </a:pathLst>
            </a:custGeom>
            <a:ln w="13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340342" y="5368827"/>
              <a:ext cx="901700" cy="652145"/>
            </a:xfrm>
            <a:custGeom>
              <a:avLst/>
              <a:gdLst/>
              <a:ahLst/>
              <a:cxnLst/>
              <a:rect l="l" t="t" r="r" b="b"/>
              <a:pathLst>
                <a:path w="901700" h="652145">
                  <a:moveTo>
                    <a:pt x="0" y="652101"/>
                  </a:moveTo>
                  <a:lnTo>
                    <a:pt x="901379" y="652101"/>
                  </a:lnTo>
                  <a:lnTo>
                    <a:pt x="901379" y="0"/>
                  </a:lnTo>
                  <a:lnTo>
                    <a:pt x="0" y="0"/>
                  </a:lnTo>
                  <a:lnTo>
                    <a:pt x="0" y="652101"/>
                  </a:lnTo>
                </a:path>
              </a:pathLst>
            </a:custGeom>
            <a:ln w="39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631290" y="4894688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80519" y="4894688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403094" y="5368809"/>
            <a:ext cx="897255" cy="326390"/>
          </a:xfrm>
          <a:custGeom>
            <a:avLst/>
            <a:gdLst/>
            <a:ahLst/>
            <a:cxnLst/>
            <a:rect l="l" t="t" r="r" b="b"/>
            <a:pathLst>
              <a:path w="897254" h="326389">
                <a:moveTo>
                  <a:pt x="0" y="326059"/>
                </a:moveTo>
                <a:lnTo>
                  <a:pt x="896986" y="326059"/>
                </a:lnTo>
                <a:lnTo>
                  <a:pt x="896986" y="0"/>
                </a:lnTo>
                <a:lnTo>
                  <a:pt x="0" y="0"/>
                </a:lnTo>
                <a:lnTo>
                  <a:pt x="0" y="326059"/>
                </a:lnTo>
                <a:close/>
              </a:path>
            </a:pathLst>
          </a:custGeom>
          <a:ln w="13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321817" y="5368352"/>
            <a:ext cx="199707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14"/>
              </a:spcBef>
              <a:tabLst>
                <a:tab pos="1185545" algn="l"/>
              </a:tabLst>
            </a:pPr>
            <a:r>
              <a:rPr sz="1700" spc="-10" dirty="0">
                <a:latin typeface="Arial MT"/>
                <a:cs typeface="Arial MT"/>
              </a:rPr>
              <a:t>01010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r>
              <a:rPr sz="1650" baseline="-27777" dirty="0">
                <a:latin typeface="Arial MT"/>
                <a:cs typeface="Arial MT"/>
              </a:rPr>
              <a:t>	</a:t>
            </a:r>
            <a:r>
              <a:rPr sz="1700" spc="-10" dirty="0">
                <a:latin typeface="Arial MT"/>
                <a:cs typeface="Arial MT"/>
              </a:rPr>
              <a:t>10001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endParaRPr sz="1650" baseline="-27777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403094" y="5694869"/>
            <a:ext cx="897255" cy="326390"/>
          </a:xfrm>
          <a:custGeom>
            <a:avLst/>
            <a:gdLst/>
            <a:ahLst/>
            <a:cxnLst/>
            <a:rect l="l" t="t" r="r" b="b"/>
            <a:pathLst>
              <a:path w="897254" h="326389">
                <a:moveTo>
                  <a:pt x="0" y="326059"/>
                </a:moveTo>
                <a:lnTo>
                  <a:pt x="896986" y="326059"/>
                </a:lnTo>
                <a:lnTo>
                  <a:pt x="896986" y="0"/>
                </a:lnTo>
                <a:lnTo>
                  <a:pt x="0" y="0"/>
                </a:lnTo>
                <a:lnTo>
                  <a:pt x="0" y="326059"/>
                </a:lnTo>
                <a:close/>
              </a:path>
            </a:pathLst>
          </a:custGeom>
          <a:ln w="13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321817" y="5694412"/>
            <a:ext cx="199707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14"/>
              </a:spcBef>
              <a:tabLst>
                <a:tab pos="1185545" algn="l"/>
              </a:tabLst>
            </a:pPr>
            <a:r>
              <a:rPr sz="1700" spc="-10" dirty="0">
                <a:latin typeface="Arial MT"/>
                <a:cs typeface="Arial MT"/>
              </a:rPr>
              <a:t>01110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r>
              <a:rPr sz="1650" baseline="-27777" dirty="0">
                <a:latin typeface="Arial MT"/>
                <a:cs typeface="Arial MT"/>
              </a:rPr>
              <a:t>	</a:t>
            </a:r>
            <a:r>
              <a:rPr sz="1700" spc="-10" dirty="0">
                <a:latin typeface="Arial MT"/>
                <a:cs typeface="Arial MT"/>
              </a:rPr>
              <a:t>11101</a:t>
            </a:r>
            <a:r>
              <a:rPr sz="1650" spc="-15" baseline="-27777" dirty="0">
                <a:latin typeface="Arial MT"/>
                <a:cs typeface="Arial MT"/>
              </a:rPr>
              <a:t>2</a:t>
            </a:r>
            <a:endParaRPr sz="1650" baseline="-27777">
              <a:latin typeface="Arial MT"/>
              <a:cs typeface="Arial MT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6403094" y="5368827"/>
            <a:ext cx="897255" cy="652145"/>
          </a:xfrm>
          <a:custGeom>
            <a:avLst/>
            <a:gdLst/>
            <a:ahLst/>
            <a:cxnLst/>
            <a:rect l="l" t="t" r="r" b="b"/>
            <a:pathLst>
              <a:path w="897254" h="652145">
                <a:moveTo>
                  <a:pt x="0" y="652101"/>
                </a:moveTo>
                <a:lnTo>
                  <a:pt x="897077" y="652101"/>
                </a:lnTo>
                <a:lnTo>
                  <a:pt x="897077" y="0"/>
                </a:lnTo>
                <a:lnTo>
                  <a:pt x="0" y="0"/>
                </a:lnTo>
                <a:lnTo>
                  <a:pt x="0" y="652101"/>
                </a:lnTo>
              </a:path>
            </a:pathLst>
          </a:custGeom>
          <a:ln w="391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4208691" y="6020464"/>
            <a:ext cx="63436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494950" y="6020464"/>
            <a:ext cx="63436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432543" y="6020464"/>
            <a:ext cx="63436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2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895016" y="4710180"/>
            <a:ext cx="1141095" cy="576580"/>
            <a:chOff x="6895016" y="4710180"/>
            <a:chExt cx="1141095" cy="576580"/>
          </a:xfrm>
        </p:grpSpPr>
        <p:sp>
          <p:nvSpPr>
            <p:cNvPr id="84" name="object 84"/>
            <p:cNvSpPr/>
            <p:nvPr/>
          </p:nvSpPr>
          <p:spPr>
            <a:xfrm>
              <a:off x="7300171" y="4716708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4" h="326389">
                  <a:moveTo>
                    <a:pt x="165383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5383" y="326059"/>
                  </a:lnTo>
                  <a:lnTo>
                    <a:pt x="16538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300171" y="4716708"/>
              <a:ext cx="165735" cy="326390"/>
            </a:xfrm>
            <a:custGeom>
              <a:avLst/>
              <a:gdLst/>
              <a:ahLst/>
              <a:cxnLst/>
              <a:rect l="l" t="t" r="r" b="b"/>
              <a:pathLst>
                <a:path w="165734" h="326389">
                  <a:moveTo>
                    <a:pt x="0" y="326059"/>
                  </a:moveTo>
                  <a:lnTo>
                    <a:pt x="165383" y="326059"/>
                  </a:lnTo>
                  <a:lnTo>
                    <a:pt x="165383" y="0"/>
                  </a:lnTo>
                  <a:lnTo>
                    <a:pt x="0" y="0"/>
                  </a:lnTo>
                  <a:lnTo>
                    <a:pt x="0" y="326059"/>
                  </a:lnTo>
                  <a:close/>
                </a:path>
              </a:pathLst>
            </a:custGeom>
            <a:ln w="13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465537" y="4716708"/>
              <a:ext cx="161290" cy="326390"/>
            </a:xfrm>
            <a:custGeom>
              <a:avLst/>
              <a:gdLst/>
              <a:ahLst/>
              <a:cxnLst/>
              <a:rect l="l" t="t" r="r" b="b"/>
              <a:pathLst>
                <a:path w="161290" h="326389">
                  <a:moveTo>
                    <a:pt x="161032" y="0"/>
                  </a:moveTo>
                  <a:lnTo>
                    <a:pt x="0" y="0"/>
                  </a:lnTo>
                  <a:lnTo>
                    <a:pt x="0" y="326059"/>
                  </a:lnTo>
                  <a:lnTo>
                    <a:pt x="161032" y="326059"/>
                  </a:lnTo>
                  <a:lnTo>
                    <a:pt x="16103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960182" y="4716708"/>
              <a:ext cx="666750" cy="513080"/>
            </a:xfrm>
            <a:custGeom>
              <a:avLst/>
              <a:gdLst/>
              <a:ahLst/>
              <a:cxnLst/>
              <a:rect l="l" t="t" r="r" b="b"/>
              <a:pathLst>
                <a:path w="666750" h="513079">
                  <a:moveTo>
                    <a:pt x="505354" y="326059"/>
                  </a:moveTo>
                  <a:lnTo>
                    <a:pt x="666387" y="326059"/>
                  </a:lnTo>
                  <a:lnTo>
                    <a:pt x="666387" y="0"/>
                  </a:lnTo>
                  <a:lnTo>
                    <a:pt x="505354" y="0"/>
                  </a:lnTo>
                  <a:lnTo>
                    <a:pt x="505354" y="326059"/>
                  </a:lnTo>
                  <a:close/>
                </a:path>
                <a:path w="666750" h="513079">
                  <a:moveTo>
                    <a:pt x="422581" y="164979"/>
                  </a:moveTo>
                  <a:lnTo>
                    <a:pt x="0" y="512750"/>
                  </a:lnTo>
                </a:path>
              </a:pathLst>
            </a:custGeom>
            <a:ln w="13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895016" y="5168679"/>
              <a:ext cx="126364" cy="118110"/>
            </a:xfrm>
            <a:custGeom>
              <a:avLst/>
              <a:gdLst/>
              <a:ahLst/>
              <a:cxnLst/>
              <a:rect l="l" t="t" r="r" b="b"/>
              <a:pathLst>
                <a:path w="126365" h="118110">
                  <a:moveTo>
                    <a:pt x="52096" y="0"/>
                  </a:moveTo>
                  <a:lnTo>
                    <a:pt x="0" y="117658"/>
                  </a:lnTo>
                  <a:lnTo>
                    <a:pt x="126157" y="86824"/>
                  </a:lnTo>
                  <a:lnTo>
                    <a:pt x="91305" y="65114"/>
                  </a:lnTo>
                  <a:lnTo>
                    <a:pt x="65166" y="34733"/>
                  </a:lnTo>
                  <a:lnTo>
                    <a:pt x="52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548310" y="4881687"/>
              <a:ext cx="417830" cy="347980"/>
            </a:xfrm>
            <a:custGeom>
              <a:avLst/>
              <a:gdLst/>
              <a:ahLst/>
              <a:cxnLst/>
              <a:rect l="l" t="t" r="r" b="b"/>
              <a:pathLst>
                <a:path w="417829" h="347979">
                  <a:moveTo>
                    <a:pt x="0" y="0"/>
                  </a:moveTo>
                  <a:lnTo>
                    <a:pt x="417680" y="347770"/>
                  </a:lnTo>
                </a:path>
              </a:pathLst>
            </a:custGeom>
            <a:ln w="13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909537" y="5168679"/>
              <a:ext cx="126364" cy="118110"/>
            </a:xfrm>
            <a:custGeom>
              <a:avLst/>
              <a:gdLst/>
              <a:ahLst/>
              <a:cxnLst/>
              <a:rect l="l" t="t" r="r" b="b"/>
              <a:pathLst>
                <a:path w="126365" h="118110">
                  <a:moveTo>
                    <a:pt x="73879" y="0"/>
                  </a:moveTo>
                  <a:lnTo>
                    <a:pt x="56453" y="34733"/>
                  </a:lnTo>
                  <a:lnTo>
                    <a:pt x="30314" y="65114"/>
                  </a:lnTo>
                  <a:lnTo>
                    <a:pt x="0" y="86824"/>
                  </a:lnTo>
                  <a:lnTo>
                    <a:pt x="126157" y="117658"/>
                  </a:lnTo>
                  <a:lnTo>
                    <a:pt x="73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6917168" y="4894688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866341" y="4894688"/>
            <a:ext cx="14668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spc="-50" dirty="0">
                <a:latin typeface="Arial MT"/>
                <a:cs typeface="Arial MT"/>
              </a:rPr>
              <a:t>1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626546" y="5368809"/>
            <a:ext cx="901700" cy="326390"/>
          </a:xfrm>
          <a:custGeom>
            <a:avLst/>
            <a:gdLst/>
            <a:ahLst/>
            <a:cxnLst/>
            <a:rect l="l" t="t" r="r" b="b"/>
            <a:pathLst>
              <a:path w="901700" h="326389">
                <a:moveTo>
                  <a:pt x="0" y="326059"/>
                </a:moveTo>
                <a:lnTo>
                  <a:pt x="901343" y="326059"/>
                </a:lnTo>
                <a:lnTo>
                  <a:pt x="901343" y="0"/>
                </a:lnTo>
                <a:lnTo>
                  <a:pt x="0" y="0"/>
                </a:lnTo>
                <a:lnTo>
                  <a:pt x="0" y="326059"/>
                </a:lnTo>
                <a:close/>
              </a:path>
            </a:pathLst>
          </a:custGeom>
          <a:ln w="130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7620720" y="5368352"/>
            <a:ext cx="913130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14"/>
              </a:spcBef>
            </a:pPr>
            <a:r>
              <a:rPr sz="1700" spc="-10" dirty="0">
                <a:solidFill>
                  <a:srgbClr val="FF0000"/>
                </a:solidFill>
                <a:latin typeface="Arial MT"/>
                <a:cs typeface="Arial MT"/>
              </a:rPr>
              <a:t>10011</a:t>
            </a:r>
            <a:r>
              <a:rPr sz="1650" spc="-15" baseline="-27777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1650" baseline="-27777">
              <a:latin typeface="Arial MT"/>
              <a:cs typeface="Arial MT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606971" y="5349252"/>
            <a:ext cx="941069" cy="691515"/>
            <a:chOff x="7606971" y="5349252"/>
            <a:chExt cx="941069" cy="691515"/>
          </a:xfrm>
        </p:grpSpPr>
        <p:sp>
          <p:nvSpPr>
            <p:cNvPr id="96" name="object 96"/>
            <p:cNvSpPr/>
            <p:nvPr/>
          </p:nvSpPr>
          <p:spPr>
            <a:xfrm>
              <a:off x="7626546" y="5694869"/>
              <a:ext cx="901700" cy="326390"/>
            </a:xfrm>
            <a:custGeom>
              <a:avLst/>
              <a:gdLst/>
              <a:ahLst/>
              <a:cxnLst/>
              <a:rect l="l" t="t" r="r" b="b"/>
              <a:pathLst>
                <a:path w="901700" h="326389">
                  <a:moveTo>
                    <a:pt x="0" y="326059"/>
                  </a:moveTo>
                  <a:lnTo>
                    <a:pt x="901343" y="326059"/>
                  </a:lnTo>
                  <a:lnTo>
                    <a:pt x="901343" y="0"/>
                  </a:lnTo>
                  <a:lnTo>
                    <a:pt x="0" y="0"/>
                  </a:lnTo>
                  <a:lnTo>
                    <a:pt x="0" y="326059"/>
                  </a:lnTo>
                  <a:close/>
                </a:path>
              </a:pathLst>
            </a:custGeom>
            <a:ln w="130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626546" y="5368827"/>
              <a:ext cx="901700" cy="652145"/>
            </a:xfrm>
            <a:custGeom>
              <a:avLst/>
              <a:gdLst/>
              <a:ahLst/>
              <a:cxnLst/>
              <a:rect l="l" t="t" r="r" b="b"/>
              <a:pathLst>
                <a:path w="901700" h="652145">
                  <a:moveTo>
                    <a:pt x="0" y="652101"/>
                  </a:moveTo>
                  <a:lnTo>
                    <a:pt x="901433" y="652101"/>
                  </a:lnTo>
                  <a:lnTo>
                    <a:pt x="901433" y="0"/>
                  </a:lnTo>
                  <a:lnTo>
                    <a:pt x="0" y="0"/>
                  </a:lnTo>
                  <a:lnTo>
                    <a:pt x="0" y="652101"/>
                  </a:lnTo>
                </a:path>
              </a:pathLst>
            </a:custGeom>
            <a:ln w="39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718402" y="6020464"/>
            <a:ext cx="634365" cy="2870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00" dirty="0">
                <a:latin typeface="Arial MT"/>
                <a:cs typeface="Arial MT"/>
              </a:rPr>
              <a:t>Bloc</a:t>
            </a:r>
            <a:r>
              <a:rPr sz="1700" spc="1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3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685800" y="3657600"/>
            <a:ext cx="8077200" cy="533400"/>
            <a:chOff x="685800" y="3657600"/>
            <a:chExt cx="8077200" cy="533400"/>
          </a:xfrm>
        </p:grpSpPr>
        <p:sp>
          <p:nvSpPr>
            <p:cNvPr id="100" name="object 100"/>
            <p:cNvSpPr/>
            <p:nvPr/>
          </p:nvSpPr>
          <p:spPr>
            <a:xfrm>
              <a:off x="685800" y="3962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410450" y="36576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/>
          <p:nvPr/>
        </p:nvSpPr>
        <p:spPr>
          <a:xfrm>
            <a:off x="6457930" y="1885930"/>
            <a:ext cx="705485" cy="330200"/>
          </a:xfrm>
          <a:custGeom>
            <a:avLst/>
            <a:gdLst/>
            <a:ahLst/>
            <a:cxnLst/>
            <a:rect l="l" t="t" r="r" b="b"/>
            <a:pathLst>
              <a:path w="705484" h="330200">
                <a:moveTo>
                  <a:pt x="19423" y="0"/>
                </a:moveTo>
                <a:lnTo>
                  <a:pt x="12243" y="1258"/>
                </a:lnTo>
                <a:lnTo>
                  <a:pt x="6064" y="5135"/>
                </a:lnTo>
                <a:lnTo>
                  <a:pt x="1670" y="11322"/>
                </a:lnTo>
                <a:lnTo>
                  <a:pt x="0" y="18716"/>
                </a:lnTo>
                <a:lnTo>
                  <a:pt x="1258" y="25896"/>
                </a:lnTo>
                <a:lnTo>
                  <a:pt x="5135" y="32075"/>
                </a:lnTo>
                <a:lnTo>
                  <a:pt x="11322" y="36468"/>
                </a:lnTo>
                <a:lnTo>
                  <a:pt x="18734" y="38139"/>
                </a:lnTo>
                <a:lnTo>
                  <a:pt x="25943" y="36881"/>
                </a:lnTo>
                <a:lnTo>
                  <a:pt x="32129" y="33004"/>
                </a:lnTo>
                <a:lnTo>
                  <a:pt x="36468" y="26816"/>
                </a:lnTo>
                <a:lnTo>
                  <a:pt x="38139" y="19476"/>
                </a:lnTo>
                <a:lnTo>
                  <a:pt x="36881" y="12291"/>
                </a:lnTo>
                <a:lnTo>
                  <a:pt x="33004" y="6082"/>
                </a:lnTo>
                <a:lnTo>
                  <a:pt x="26816" y="1670"/>
                </a:lnTo>
                <a:lnTo>
                  <a:pt x="19423" y="0"/>
                </a:lnTo>
                <a:close/>
              </a:path>
              <a:path w="705484" h="330200">
                <a:moveTo>
                  <a:pt x="89128" y="30987"/>
                </a:moveTo>
                <a:lnTo>
                  <a:pt x="81918" y="32246"/>
                </a:lnTo>
                <a:lnTo>
                  <a:pt x="75733" y="36123"/>
                </a:lnTo>
                <a:lnTo>
                  <a:pt x="71393" y="42310"/>
                </a:lnTo>
                <a:lnTo>
                  <a:pt x="69721" y="49651"/>
                </a:lnTo>
                <a:lnTo>
                  <a:pt x="70965" y="56836"/>
                </a:lnTo>
                <a:lnTo>
                  <a:pt x="74804" y="63045"/>
                </a:lnTo>
                <a:lnTo>
                  <a:pt x="80918" y="67456"/>
                </a:lnTo>
                <a:lnTo>
                  <a:pt x="88386" y="69127"/>
                </a:lnTo>
                <a:lnTo>
                  <a:pt x="95571" y="67869"/>
                </a:lnTo>
                <a:lnTo>
                  <a:pt x="101780" y="63992"/>
                </a:lnTo>
                <a:lnTo>
                  <a:pt x="106191" y="57804"/>
                </a:lnTo>
                <a:lnTo>
                  <a:pt x="107862" y="50411"/>
                </a:lnTo>
                <a:lnTo>
                  <a:pt x="106604" y="43231"/>
                </a:lnTo>
                <a:lnTo>
                  <a:pt x="102727" y="37052"/>
                </a:lnTo>
                <a:lnTo>
                  <a:pt x="96539" y="32658"/>
                </a:lnTo>
                <a:lnTo>
                  <a:pt x="89128" y="30987"/>
                </a:lnTo>
                <a:close/>
              </a:path>
              <a:path w="705484" h="330200">
                <a:moveTo>
                  <a:pt x="158742" y="61975"/>
                </a:moveTo>
                <a:lnTo>
                  <a:pt x="151562" y="63234"/>
                </a:lnTo>
                <a:lnTo>
                  <a:pt x="145383" y="67111"/>
                </a:lnTo>
                <a:lnTo>
                  <a:pt x="140989" y="73298"/>
                </a:lnTo>
                <a:lnTo>
                  <a:pt x="139319" y="80639"/>
                </a:lnTo>
                <a:lnTo>
                  <a:pt x="140577" y="87824"/>
                </a:lnTo>
                <a:lnTo>
                  <a:pt x="144454" y="94033"/>
                </a:lnTo>
                <a:lnTo>
                  <a:pt x="150641" y="98444"/>
                </a:lnTo>
                <a:lnTo>
                  <a:pt x="158053" y="100044"/>
                </a:lnTo>
                <a:lnTo>
                  <a:pt x="165262" y="98762"/>
                </a:lnTo>
                <a:lnTo>
                  <a:pt x="171448" y="94908"/>
                </a:lnTo>
                <a:lnTo>
                  <a:pt x="175787" y="88792"/>
                </a:lnTo>
                <a:lnTo>
                  <a:pt x="177458" y="81381"/>
                </a:lnTo>
                <a:lnTo>
                  <a:pt x="176200" y="74171"/>
                </a:lnTo>
                <a:lnTo>
                  <a:pt x="172323" y="67986"/>
                </a:lnTo>
                <a:lnTo>
                  <a:pt x="166135" y="63646"/>
                </a:lnTo>
                <a:lnTo>
                  <a:pt x="158742" y="61975"/>
                </a:lnTo>
                <a:close/>
              </a:path>
              <a:path w="705484" h="330200">
                <a:moveTo>
                  <a:pt x="228447" y="92908"/>
                </a:moveTo>
                <a:lnTo>
                  <a:pt x="221237" y="94190"/>
                </a:lnTo>
                <a:lnTo>
                  <a:pt x="215052" y="98044"/>
                </a:lnTo>
                <a:lnTo>
                  <a:pt x="210712" y="104159"/>
                </a:lnTo>
                <a:lnTo>
                  <a:pt x="209042" y="111571"/>
                </a:lnTo>
                <a:lnTo>
                  <a:pt x="210300" y="118780"/>
                </a:lnTo>
                <a:lnTo>
                  <a:pt x="214177" y="124966"/>
                </a:lnTo>
                <a:lnTo>
                  <a:pt x="220364" y="129305"/>
                </a:lnTo>
                <a:lnTo>
                  <a:pt x="227758" y="131032"/>
                </a:lnTo>
                <a:lnTo>
                  <a:pt x="234938" y="129750"/>
                </a:lnTo>
                <a:lnTo>
                  <a:pt x="241117" y="125896"/>
                </a:lnTo>
                <a:lnTo>
                  <a:pt x="245510" y="119780"/>
                </a:lnTo>
                <a:lnTo>
                  <a:pt x="247181" y="112369"/>
                </a:lnTo>
                <a:lnTo>
                  <a:pt x="245923" y="105159"/>
                </a:lnTo>
                <a:lnTo>
                  <a:pt x="242046" y="98974"/>
                </a:lnTo>
                <a:lnTo>
                  <a:pt x="235858" y="94634"/>
                </a:lnTo>
                <a:lnTo>
                  <a:pt x="228447" y="92908"/>
                </a:lnTo>
                <a:close/>
              </a:path>
              <a:path w="705484" h="330200">
                <a:moveTo>
                  <a:pt x="298114" y="123825"/>
                </a:moveTo>
                <a:lnTo>
                  <a:pt x="290929" y="125083"/>
                </a:lnTo>
                <a:lnTo>
                  <a:pt x="284720" y="128960"/>
                </a:lnTo>
                <a:lnTo>
                  <a:pt x="280308" y="135147"/>
                </a:lnTo>
                <a:lnTo>
                  <a:pt x="278638" y="142541"/>
                </a:lnTo>
                <a:lnTo>
                  <a:pt x="279896" y="149721"/>
                </a:lnTo>
                <a:lnTo>
                  <a:pt x="283773" y="155900"/>
                </a:lnTo>
                <a:lnTo>
                  <a:pt x="289960" y="160293"/>
                </a:lnTo>
                <a:lnTo>
                  <a:pt x="297372" y="161964"/>
                </a:lnTo>
                <a:lnTo>
                  <a:pt x="304581" y="160706"/>
                </a:lnTo>
                <a:lnTo>
                  <a:pt x="310767" y="156829"/>
                </a:lnTo>
                <a:lnTo>
                  <a:pt x="315106" y="150641"/>
                </a:lnTo>
                <a:lnTo>
                  <a:pt x="316779" y="143301"/>
                </a:lnTo>
                <a:lnTo>
                  <a:pt x="315535" y="136116"/>
                </a:lnTo>
                <a:lnTo>
                  <a:pt x="311695" y="129907"/>
                </a:lnTo>
                <a:lnTo>
                  <a:pt x="305581" y="125495"/>
                </a:lnTo>
                <a:lnTo>
                  <a:pt x="298114" y="123825"/>
                </a:lnTo>
                <a:close/>
              </a:path>
              <a:path w="705484" h="330200">
                <a:moveTo>
                  <a:pt x="367766" y="154812"/>
                </a:moveTo>
                <a:lnTo>
                  <a:pt x="360556" y="156071"/>
                </a:lnTo>
                <a:lnTo>
                  <a:pt x="354371" y="159948"/>
                </a:lnTo>
                <a:lnTo>
                  <a:pt x="350031" y="166135"/>
                </a:lnTo>
                <a:lnTo>
                  <a:pt x="348361" y="173529"/>
                </a:lnTo>
                <a:lnTo>
                  <a:pt x="349619" y="180709"/>
                </a:lnTo>
                <a:lnTo>
                  <a:pt x="353496" y="186888"/>
                </a:lnTo>
                <a:lnTo>
                  <a:pt x="359683" y="191281"/>
                </a:lnTo>
                <a:lnTo>
                  <a:pt x="367077" y="192952"/>
                </a:lnTo>
                <a:lnTo>
                  <a:pt x="374257" y="191694"/>
                </a:lnTo>
                <a:lnTo>
                  <a:pt x="380436" y="187817"/>
                </a:lnTo>
                <a:lnTo>
                  <a:pt x="384829" y="181629"/>
                </a:lnTo>
                <a:lnTo>
                  <a:pt x="386500" y="174289"/>
                </a:lnTo>
                <a:lnTo>
                  <a:pt x="385242" y="167104"/>
                </a:lnTo>
                <a:lnTo>
                  <a:pt x="381365" y="160895"/>
                </a:lnTo>
                <a:lnTo>
                  <a:pt x="375177" y="156483"/>
                </a:lnTo>
                <a:lnTo>
                  <a:pt x="367766" y="154812"/>
                </a:lnTo>
                <a:close/>
              </a:path>
              <a:path w="705484" h="330200">
                <a:moveTo>
                  <a:pt x="437433" y="185800"/>
                </a:moveTo>
                <a:lnTo>
                  <a:pt x="430248" y="187059"/>
                </a:lnTo>
                <a:lnTo>
                  <a:pt x="424039" y="190936"/>
                </a:lnTo>
                <a:lnTo>
                  <a:pt x="419627" y="197123"/>
                </a:lnTo>
                <a:lnTo>
                  <a:pt x="418028" y="204464"/>
                </a:lnTo>
                <a:lnTo>
                  <a:pt x="419310" y="211649"/>
                </a:lnTo>
                <a:lnTo>
                  <a:pt x="423163" y="217858"/>
                </a:lnTo>
                <a:lnTo>
                  <a:pt x="429279" y="222269"/>
                </a:lnTo>
                <a:lnTo>
                  <a:pt x="436747" y="223940"/>
                </a:lnTo>
                <a:lnTo>
                  <a:pt x="443932" y="222682"/>
                </a:lnTo>
                <a:lnTo>
                  <a:pt x="450141" y="218805"/>
                </a:lnTo>
                <a:lnTo>
                  <a:pt x="454552" y="212617"/>
                </a:lnTo>
                <a:lnTo>
                  <a:pt x="456152" y="205224"/>
                </a:lnTo>
                <a:lnTo>
                  <a:pt x="454870" y="198044"/>
                </a:lnTo>
                <a:lnTo>
                  <a:pt x="451016" y="191865"/>
                </a:lnTo>
                <a:lnTo>
                  <a:pt x="444900" y="187471"/>
                </a:lnTo>
                <a:lnTo>
                  <a:pt x="437433" y="185800"/>
                </a:lnTo>
                <a:close/>
              </a:path>
              <a:path w="705484" h="330200">
                <a:moveTo>
                  <a:pt x="507085" y="216735"/>
                </a:moveTo>
                <a:lnTo>
                  <a:pt x="499875" y="218031"/>
                </a:lnTo>
                <a:lnTo>
                  <a:pt x="493690" y="221922"/>
                </a:lnTo>
                <a:lnTo>
                  <a:pt x="489350" y="228111"/>
                </a:lnTo>
                <a:lnTo>
                  <a:pt x="487680" y="235505"/>
                </a:lnTo>
                <a:lnTo>
                  <a:pt x="488938" y="242685"/>
                </a:lnTo>
                <a:lnTo>
                  <a:pt x="492815" y="248864"/>
                </a:lnTo>
                <a:lnTo>
                  <a:pt x="499002" y="253257"/>
                </a:lnTo>
                <a:lnTo>
                  <a:pt x="506468" y="254855"/>
                </a:lnTo>
                <a:lnTo>
                  <a:pt x="513639" y="253559"/>
                </a:lnTo>
                <a:lnTo>
                  <a:pt x="519811" y="249668"/>
                </a:lnTo>
                <a:lnTo>
                  <a:pt x="524148" y="243478"/>
                </a:lnTo>
                <a:lnTo>
                  <a:pt x="525819" y="236140"/>
                </a:lnTo>
                <a:lnTo>
                  <a:pt x="524561" y="228969"/>
                </a:lnTo>
                <a:lnTo>
                  <a:pt x="520684" y="222797"/>
                </a:lnTo>
                <a:lnTo>
                  <a:pt x="514496" y="218459"/>
                </a:lnTo>
                <a:lnTo>
                  <a:pt x="507085" y="216735"/>
                </a:lnTo>
                <a:close/>
              </a:path>
              <a:path w="705484" h="330200">
                <a:moveTo>
                  <a:pt x="623589" y="225190"/>
                </a:moveTo>
                <a:lnTo>
                  <a:pt x="577234" y="329711"/>
                </a:lnTo>
                <a:lnTo>
                  <a:pt x="704869" y="323869"/>
                </a:lnTo>
                <a:lnTo>
                  <a:pt x="623589" y="225190"/>
                </a:lnTo>
                <a:close/>
              </a:path>
              <a:path w="705484" h="330200">
                <a:moveTo>
                  <a:pt x="576699" y="247723"/>
                </a:moveTo>
                <a:lnTo>
                  <a:pt x="569519" y="249019"/>
                </a:lnTo>
                <a:lnTo>
                  <a:pt x="563340" y="252910"/>
                </a:lnTo>
                <a:lnTo>
                  <a:pt x="558946" y="259099"/>
                </a:lnTo>
                <a:lnTo>
                  <a:pt x="557349" y="266493"/>
                </a:lnTo>
                <a:lnTo>
                  <a:pt x="558645" y="273673"/>
                </a:lnTo>
                <a:lnTo>
                  <a:pt x="562536" y="279852"/>
                </a:lnTo>
                <a:lnTo>
                  <a:pt x="568725" y="284245"/>
                </a:lnTo>
                <a:lnTo>
                  <a:pt x="576119" y="285843"/>
                </a:lnTo>
                <a:lnTo>
                  <a:pt x="583299" y="284547"/>
                </a:lnTo>
                <a:lnTo>
                  <a:pt x="589478" y="280656"/>
                </a:lnTo>
                <a:lnTo>
                  <a:pt x="593871" y="274466"/>
                </a:lnTo>
                <a:lnTo>
                  <a:pt x="595469" y="267073"/>
                </a:lnTo>
                <a:lnTo>
                  <a:pt x="594173" y="259893"/>
                </a:lnTo>
                <a:lnTo>
                  <a:pt x="590282" y="253714"/>
                </a:lnTo>
                <a:lnTo>
                  <a:pt x="584092" y="249320"/>
                </a:lnTo>
                <a:lnTo>
                  <a:pt x="576699" y="2477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54</a:t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3698" y="392049"/>
            <a:ext cx="705993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03170" marR="5080" indent="-249110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«Remplacer»</a:t>
            </a:r>
            <a:r>
              <a:rPr sz="32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l'arbre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un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répertoire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4939" y="2971981"/>
            <a:ext cx="925194" cy="336550"/>
          </a:xfrm>
          <a:custGeom>
            <a:avLst/>
            <a:gdLst/>
            <a:ahLst/>
            <a:cxnLst/>
            <a:rect l="l" t="t" r="r" b="b"/>
            <a:pathLst>
              <a:path w="925195" h="336550">
                <a:moveTo>
                  <a:pt x="0" y="336220"/>
                </a:moveTo>
                <a:lnTo>
                  <a:pt x="924924" y="336220"/>
                </a:lnTo>
                <a:lnTo>
                  <a:pt x="924924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493" y="2971906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10100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4939" y="3308202"/>
            <a:ext cx="925194" cy="336550"/>
          </a:xfrm>
          <a:custGeom>
            <a:avLst/>
            <a:gdLst/>
            <a:ahLst/>
            <a:cxnLst/>
            <a:rect l="l" t="t" r="r" b="b"/>
            <a:pathLst>
              <a:path w="925195" h="336550">
                <a:moveTo>
                  <a:pt x="0" y="336220"/>
                </a:moveTo>
                <a:lnTo>
                  <a:pt x="924924" y="336220"/>
                </a:lnTo>
                <a:lnTo>
                  <a:pt x="924924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74493" y="3308126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11000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04939" y="2972000"/>
            <a:ext cx="925194" cy="672465"/>
          </a:xfrm>
          <a:custGeom>
            <a:avLst/>
            <a:gdLst/>
            <a:ahLst/>
            <a:cxnLst/>
            <a:rect l="l" t="t" r="r" b="b"/>
            <a:pathLst>
              <a:path w="925195" h="672464">
                <a:moveTo>
                  <a:pt x="0" y="672422"/>
                </a:moveTo>
                <a:lnTo>
                  <a:pt x="924929" y="672422"/>
                </a:lnTo>
                <a:lnTo>
                  <a:pt x="924929" y="0"/>
                </a:lnTo>
                <a:lnTo>
                  <a:pt x="0" y="0"/>
                </a:lnTo>
                <a:lnTo>
                  <a:pt x="0" y="672422"/>
                </a:lnTo>
              </a:path>
            </a:pathLst>
          </a:custGeom>
          <a:ln w="40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300322" y="1620390"/>
            <a:ext cx="2357120" cy="607695"/>
            <a:chOff x="4300322" y="1620390"/>
            <a:chExt cx="2357120" cy="607695"/>
          </a:xfrm>
        </p:grpSpPr>
        <p:sp>
          <p:nvSpPr>
            <p:cNvPr id="9" name="object 9"/>
            <p:cNvSpPr/>
            <p:nvPr/>
          </p:nvSpPr>
          <p:spPr>
            <a:xfrm>
              <a:off x="5310463" y="1627118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5967" y="0"/>
                  </a:moveTo>
                  <a:lnTo>
                    <a:pt x="0" y="0"/>
                  </a:lnTo>
                  <a:lnTo>
                    <a:pt x="0" y="336220"/>
                  </a:lnTo>
                  <a:lnTo>
                    <a:pt x="165967" y="336220"/>
                  </a:lnTo>
                  <a:lnTo>
                    <a:pt x="1659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10463" y="1627118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0" y="336220"/>
                  </a:moveTo>
                  <a:lnTo>
                    <a:pt x="165967" y="336220"/>
                  </a:lnTo>
                  <a:lnTo>
                    <a:pt x="165967" y="0"/>
                  </a:lnTo>
                  <a:lnTo>
                    <a:pt x="0" y="0"/>
                  </a:lnTo>
                  <a:lnTo>
                    <a:pt x="0" y="336220"/>
                  </a:lnTo>
                  <a:close/>
                </a:path>
              </a:pathLst>
            </a:custGeom>
            <a:ln w="13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476406" y="1627118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452" y="0"/>
                  </a:moveTo>
                  <a:lnTo>
                    <a:pt x="0" y="0"/>
                  </a:lnTo>
                  <a:lnTo>
                    <a:pt x="0" y="336220"/>
                  </a:lnTo>
                  <a:lnTo>
                    <a:pt x="170452" y="336220"/>
                  </a:lnTo>
                  <a:lnTo>
                    <a:pt x="170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85557" y="1627118"/>
              <a:ext cx="1261745" cy="556260"/>
            </a:xfrm>
            <a:custGeom>
              <a:avLst/>
              <a:gdLst/>
              <a:ahLst/>
              <a:cxnLst/>
              <a:rect l="l" t="t" r="r" b="b"/>
              <a:pathLst>
                <a:path w="1261745" h="556260">
                  <a:moveTo>
                    <a:pt x="1090849" y="336220"/>
                  </a:moveTo>
                  <a:lnTo>
                    <a:pt x="1261301" y="336220"/>
                  </a:lnTo>
                  <a:lnTo>
                    <a:pt x="1261301" y="0"/>
                  </a:lnTo>
                  <a:lnTo>
                    <a:pt x="1090849" y="0"/>
                  </a:lnTo>
                  <a:lnTo>
                    <a:pt x="1090849" y="336220"/>
                  </a:lnTo>
                  <a:close/>
                </a:path>
                <a:path w="1261745" h="556260">
                  <a:moveTo>
                    <a:pt x="1010215" y="170513"/>
                  </a:moveTo>
                  <a:lnTo>
                    <a:pt x="0" y="556053"/>
                  </a:lnTo>
                </a:path>
              </a:pathLst>
            </a:custGeom>
            <a:ln w="134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0322" y="2115580"/>
              <a:ext cx="134620" cy="112395"/>
            </a:xfrm>
            <a:custGeom>
              <a:avLst/>
              <a:gdLst/>
              <a:ahLst/>
              <a:cxnLst/>
              <a:rect l="l" t="t" r="r" b="b"/>
              <a:pathLst>
                <a:path w="134620" h="112394">
                  <a:moveTo>
                    <a:pt x="89706" y="0"/>
                  </a:moveTo>
                  <a:lnTo>
                    <a:pt x="0" y="98919"/>
                  </a:lnTo>
                  <a:lnTo>
                    <a:pt x="134569" y="112347"/>
                  </a:lnTo>
                  <a:lnTo>
                    <a:pt x="107648" y="81020"/>
                  </a:lnTo>
                  <a:lnTo>
                    <a:pt x="94196" y="40716"/>
                  </a:lnTo>
                  <a:lnTo>
                    <a:pt x="897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1716" y="1797632"/>
              <a:ext cx="1010285" cy="386080"/>
            </a:xfrm>
            <a:custGeom>
              <a:avLst/>
              <a:gdLst/>
              <a:ahLst/>
              <a:cxnLst/>
              <a:rect l="l" t="t" r="r" b="b"/>
              <a:pathLst>
                <a:path w="1010284" h="386080">
                  <a:moveTo>
                    <a:pt x="0" y="0"/>
                  </a:moveTo>
                  <a:lnTo>
                    <a:pt x="1010066" y="385539"/>
                  </a:lnTo>
                </a:path>
              </a:pathLst>
            </a:custGeom>
            <a:ln w="134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22018" y="2115580"/>
              <a:ext cx="135255" cy="112395"/>
            </a:xfrm>
            <a:custGeom>
              <a:avLst/>
              <a:gdLst/>
              <a:ahLst/>
              <a:cxnLst/>
              <a:rect l="l" t="t" r="r" b="b"/>
              <a:pathLst>
                <a:path w="135254" h="112394">
                  <a:moveTo>
                    <a:pt x="40784" y="0"/>
                  </a:moveTo>
                  <a:lnTo>
                    <a:pt x="40784" y="40716"/>
                  </a:lnTo>
                  <a:lnTo>
                    <a:pt x="27314" y="81020"/>
                  </a:lnTo>
                  <a:lnTo>
                    <a:pt x="0" y="112347"/>
                  </a:lnTo>
                  <a:lnTo>
                    <a:pt x="135074" y="98919"/>
                  </a:lnTo>
                  <a:lnTo>
                    <a:pt x="407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123141" y="2292831"/>
            <a:ext cx="349885" cy="349885"/>
            <a:chOff x="4123141" y="2292831"/>
            <a:chExt cx="349885" cy="349885"/>
          </a:xfrm>
        </p:grpSpPr>
        <p:sp>
          <p:nvSpPr>
            <p:cNvPr id="17" name="object 17"/>
            <p:cNvSpPr/>
            <p:nvPr/>
          </p:nvSpPr>
          <p:spPr>
            <a:xfrm>
              <a:off x="4129869" y="2299559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170452" y="0"/>
                  </a:moveTo>
                  <a:lnTo>
                    <a:pt x="0" y="0"/>
                  </a:lnTo>
                  <a:lnTo>
                    <a:pt x="0" y="336220"/>
                  </a:lnTo>
                  <a:lnTo>
                    <a:pt x="170452" y="336220"/>
                  </a:lnTo>
                  <a:lnTo>
                    <a:pt x="17045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869" y="2299559"/>
              <a:ext cx="170815" cy="336550"/>
            </a:xfrm>
            <a:custGeom>
              <a:avLst/>
              <a:gdLst/>
              <a:ahLst/>
              <a:cxnLst/>
              <a:rect l="l" t="t" r="r" b="b"/>
              <a:pathLst>
                <a:path w="170814" h="336550">
                  <a:moveTo>
                    <a:pt x="0" y="336220"/>
                  </a:moveTo>
                  <a:lnTo>
                    <a:pt x="170452" y="336220"/>
                  </a:lnTo>
                  <a:lnTo>
                    <a:pt x="170452" y="0"/>
                  </a:lnTo>
                  <a:lnTo>
                    <a:pt x="0" y="0"/>
                  </a:lnTo>
                  <a:lnTo>
                    <a:pt x="0" y="336220"/>
                  </a:lnTo>
                  <a:close/>
                </a:path>
              </a:pathLst>
            </a:custGeom>
            <a:ln w="13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00321" y="2299559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5967" y="0"/>
                  </a:moveTo>
                  <a:lnTo>
                    <a:pt x="0" y="0"/>
                  </a:lnTo>
                  <a:lnTo>
                    <a:pt x="0" y="336220"/>
                  </a:lnTo>
                  <a:lnTo>
                    <a:pt x="165967" y="336220"/>
                  </a:lnTo>
                  <a:lnTo>
                    <a:pt x="1659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00321" y="2299559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0" y="336220"/>
                  </a:moveTo>
                  <a:lnTo>
                    <a:pt x="165967" y="336220"/>
                  </a:lnTo>
                  <a:lnTo>
                    <a:pt x="165967" y="0"/>
                  </a:lnTo>
                  <a:lnTo>
                    <a:pt x="0" y="0"/>
                  </a:lnTo>
                  <a:lnTo>
                    <a:pt x="0" y="336220"/>
                  </a:lnTo>
                  <a:close/>
                </a:path>
              </a:pathLst>
            </a:custGeom>
            <a:ln w="134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08740" y="1811078"/>
            <a:ext cx="15049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97255" y="1811078"/>
            <a:ext cx="15049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66283" y="2971981"/>
            <a:ext cx="929640" cy="336550"/>
          </a:xfrm>
          <a:custGeom>
            <a:avLst/>
            <a:gdLst/>
            <a:ahLst/>
            <a:cxnLst/>
            <a:rect l="l" t="t" r="r" b="b"/>
            <a:pathLst>
              <a:path w="929639" h="336550">
                <a:moveTo>
                  <a:pt x="0" y="336220"/>
                </a:moveTo>
                <a:lnTo>
                  <a:pt x="929414" y="336220"/>
                </a:lnTo>
                <a:lnTo>
                  <a:pt x="929414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540322" y="2971906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01010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66283" y="3308202"/>
            <a:ext cx="929640" cy="336550"/>
          </a:xfrm>
          <a:custGeom>
            <a:avLst/>
            <a:gdLst/>
            <a:ahLst/>
            <a:cxnLst/>
            <a:rect l="l" t="t" r="r" b="b"/>
            <a:pathLst>
              <a:path w="929639" h="336550">
                <a:moveTo>
                  <a:pt x="0" y="336220"/>
                </a:moveTo>
                <a:lnTo>
                  <a:pt x="929414" y="336220"/>
                </a:lnTo>
                <a:lnTo>
                  <a:pt x="929414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40322" y="3308126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01110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466283" y="2972000"/>
            <a:ext cx="929640" cy="672465"/>
          </a:xfrm>
          <a:custGeom>
            <a:avLst/>
            <a:gdLst/>
            <a:ahLst/>
            <a:cxnLst/>
            <a:rect l="l" t="t" r="r" b="b"/>
            <a:pathLst>
              <a:path w="929639" h="672464">
                <a:moveTo>
                  <a:pt x="0" y="672422"/>
                </a:moveTo>
                <a:lnTo>
                  <a:pt x="929489" y="672422"/>
                </a:lnTo>
                <a:lnTo>
                  <a:pt x="929489" y="0"/>
                </a:lnTo>
                <a:lnTo>
                  <a:pt x="0" y="0"/>
                </a:lnTo>
                <a:lnTo>
                  <a:pt x="0" y="672422"/>
                </a:lnTo>
              </a:path>
            </a:pathLst>
          </a:custGeom>
          <a:ln w="40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3712261" y="2462953"/>
            <a:ext cx="509905" cy="424180"/>
            <a:chOff x="3712261" y="2462953"/>
            <a:chExt cx="509905" cy="424180"/>
          </a:xfrm>
        </p:grpSpPr>
        <p:sp>
          <p:nvSpPr>
            <p:cNvPr id="29" name="object 29"/>
            <p:cNvSpPr/>
            <p:nvPr/>
          </p:nvSpPr>
          <p:spPr>
            <a:xfrm>
              <a:off x="3779536" y="2469680"/>
              <a:ext cx="435609" cy="358775"/>
            </a:xfrm>
            <a:custGeom>
              <a:avLst/>
              <a:gdLst/>
              <a:ahLst/>
              <a:cxnLst/>
              <a:rect l="l" t="t" r="r" b="b"/>
              <a:pathLst>
                <a:path w="435610" h="358775">
                  <a:moveTo>
                    <a:pt x="435568" y="0"/>
                  </a:moveTo>
                  <a:lnTo>
                    <a:pt x="0" y="358607"/>
                  </a:lnTo>
                </a:path>
              </a:pathLst>
            </a:custGeom>
            <a:ln w="134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12261" y="2765615"/>
              <a:ext cx="130175" cy="121920"/>
            </a:xfrm>
            <a:custGeom>
              <a:avLst/>
              <a:gdLst/>
              <a:ahLst/>
              <a:cxnLst/>
              <a:rect l="l" t="t" r="r" b="b"/>
              <a:pathLst>
                <a:path w="130175" h="121919">
                  <a:moveTo>
                    <a:pt x="53824" y="0"/>
                  </a:moveTo>
                  <a:lnTo>
                    <a:pt x="0" y="121325"/>
                  </a:lnTo>
                  <a:lnTo>
                    <a:pt x="130079" y="89530"/>
                  </a:lnTo>
                  <a:lnTo>
                    <a:pt x="94196" y="67143"/>
                  </a:lnTo>
                  <a:lnTo>
                    <a:pt x="67275" y="35815"/>
                  </a:lnTo>
                  <a:lnTo>
                    <a:pt x="53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378830" y="2462953"/>
            <a:ext cx="509905" cy="424180"/>
            <a:chOff x="4378830" y="2462953"/>
            <a:chExt cx="509905" cy="424180"/>
          </a:xfrm>
        </p:grpSpPr>
        <p:sp>
          <p:nvSpPr>
            <p:cNvPr id="32" name="object 32"/>
            <p:cNvSpPr/>
            <p:nvPr/>
          </p:nvSpPr>
          <p:spPr>
            <a:xfrm>
              <a:off x="4385557" y="2469680"/>
              <a:ext cx="431165" cy="358775"/>
            </a:xfrm>
            <a:custGeom>
              <a:avLst/>
              <a:gdLst/>
              <a:ahLst/>
              <a:cxnLst/>
              <a:rect l="l" t="t" r="r" b="b"/>
              <a:pathLst>
                <a:path w="431164" h="358775">
                  <a:moveTo>
                    <a:pt x="0" y="0"/>
                  </a:moveTo>
                  <a:lnTo>
                    <a:pt x="431060" y="358607"/>
                  </a:lnTo>
                </a:path>
              </a:pathLst>
            </a:custGeom>
            <a:ln w="134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8303" y="2765615"/>
              <a:ext cx="130175" cy="121920"/>
            </a:xfrm>
            <a:custGeom>
              <a:avLst/>
              <a:gdLst/>
              <a:ahLst/>
              <a:cxnLst/>
              <a:rect l="l" t="t" r="r" b="b"/>
              <a:pathLst>
                <a:path w="130175" h="121919">
                  <a:moveTo>
                    <a:pt x="76255" y="0"/>
                  </a:moveTo>
                  <a:lnTo>
                    <a:pt x="58314" y="35815"/>
                  </a:lnTo>
                  <a:lnTo>
                    <a:pt x="31392" y="67143"/>
                  </a:lnTo>
                  <a:lnTo>
                    <a:pt x="0" y="89530"/>
                  </a:lnTo>
                  <a:lnTo>
                    <a:pt x="130079" y="121325"/>
                  </a:lnTo>
                  <a:lnTo>
                    <a:pt x="762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735443" y="2483482"/>
            <a:ext cx="15049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14210" y="2483482"/>
            <a:ext cx="15049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49721" y="2299559"/>
            <a:ext cx="929005" cy="336550"/>
          </a:xfrm>
          <a:custGeom>
            <a:avLst/>
            <a:gdLst/>
            <a:ahLst/>
            <a:cxnLst/>
            <a:rect l="l" t="t" r="r" b="b"/>
            <a:pathLst>
              <a:path w="929004" h="336550">
                <a:moveTo>
                  <a:pt x="0" y="336220"/>
                </a:moveTo>
                <a:lnTo>
                  <a:pt x="928965" y="336220"/>
                </a:lnTo>
                <a:lnTo>
                  <a:pt x="928965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23684" y="2299933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10001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149721" y="2635780"/>
            <a:ext cx="929005" cy="336550"/>
          </a:xfrm>
          <a:custGeom>
            <a:avLst/>
            <a:gdLst/>
            <a:ahLst/>
            <a:cxnLst/>
            <a:rect l="l" t="t" r="r" b="b"/>
            <a:pathLst>
              <a:path w="929004" h="336550">
                <a:moveTo>
                  <a:pt x="0" y="336220"/>
                </a:moveTo>
                <a:lnTo>
                  <a:pt x="928965" y="336220"/>
                </a:lnTo>
                <a:lnTo>
                  <a:pt x="928965" y="0"/>
                </a:lnTo>
                <a:lnTo>
                  <a:pt x="0" y="0"/>
                </a:lnTo>
                <a:lnTo>
                  <a:pt x="0" y="336220"/>
                </a:lnTo>
                <a:close/>
              </a:path>
            </a:pathLst>
          </a:custGeom>
          <a:ln w="134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223684" y="2635704"/>
            <a:ext cx="78740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11101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49721" y="2299559"/>
            <a:ext cx="929640" cy="672465"/>
          </a:xfrm>
          <a:custGeom>
            <a:avLst/>
            <a:gdLst/>
            <a:ahLst/>
            <a:cxnLst/>
            <a:rect l="l" t="t" r="r" b="b"/>
            <a:pathLst>
              <a:path w="929640" h="672464">
                <a:moveTo>
                  <a:pt x="0" y="672440"/>
                </a:moveTo>
                <a:lnTo>
                  <a:pt x="929058" y="672440"/>
                </a:lnTo>
                <a:lnTo>
                  <a:pt x="929058" y="0"/>
                </a:lnTo>
                <a:lnTo>
                  <a:pt x="0" y="0"/>
                </a:lnTo>
                <a:lnTo>
                  <a:pt x="0" y="672440"/>
                </a:lnTo>
              </a:path>
            </a:pathLst>
          </a:custGeom>
          <a:ln w="40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99893" y="3644339"/>
            <a:ext cx="65278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44782" y="2971906"/>
            <a:ext cx="65278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561251" y="3644339"/>
            <a:ext cx="65278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45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81037" y="3957637"/>
            <a:ext cx="8086725" cy="632460"/>
            <a:chOff x="681037" y="3957637"/>
            <a:chExt cx="8086725" cy="632460"/>
          </a:xfrm>
        </p:grpSpPr>
        <p:sp>
          <p:nvSpPr>
            <p:cNvPr id="45" name="object 45"/>
            <p:cNvSpPr/>
            <p:nvPr/>
          </p:nvSpPr>
          <p:spPr>
            <a:xfrm>
              <a:off x="685800" y="3962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306522" y="3989256"/>
              <a:ext cx="165735" cy="336550"/>
            </a:xfrm>
            <a:custGeom>
              <a:avLst/>
              <a:gdLst/>
              <a:ahLst/>
              <a:cxnLst/>
              <a:rect l="l" t="t" r="r" b="b"/>
              <a:pathLst>
                <a:path w="165735" h="336550">
                  <a:moveTo>
                    <a:pt x="165640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5640" y="336001"/>
                  </a:lnTo>
                  <a:lnTo>
                    <a:pt x="1656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306522" y="3989256"/>
              <a:ext cx="165735" cy="336550"/>
            </a:xfrm>
            <a:custGeom>
              <a:avLst/>
              <a:gdLst/>
              <a:ahLst/>
              <a:cxnLst/>
              <a:rect l="l" t="t" r="r" b="b"/>
              <a:pathLst>
                <a:path w="165735" h="336550">
                  <a:moveTo>
                    <a:pt x="0" y="336001"/>
                  </a:moveTo>
                  <a:lnTo>
                    <a:pt x="165640" y="336001"/>
                  </a:lnTo>
                  <a:lnTo>
                    <a:pt x="165640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72324" y="3989256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83516" y="3989256"/>
              <a:ext cx="1259205" cy="556260"/>
            </a:xfrm>
            <a:custGeom>
              <a:avLst/>
              <a:gdLst/>
              <a:ahLst/>
              <a:cxnLst/>
              <a:rect l="l" t="t" r="r" b="b"/>
              <a:pathLst>
                <a:path w="1259204" h="556260">
                  <a:moveTo>
                    <a:pt x="1088808" y="336001"/>
                  </a:moveTo>
                  <a:lnTo>
                    <a:pt x="1258924" y="336001"/>
                  </a:lnTo>
                  <a:lnTo>
                    <a:pt x="1258924" y="0"/>
                  </a:lnTo>
                  <a:lnTo>
                    <a:pt x="1088808" y="0"/>
                  </a:lnTo>
                  <a:lnTo>
                    <a:pt x="1088808" y="336001"/>
                  </a:lnTo>
                  <a:close/>
                </a:path>
                <a:path w="1259204" h="556260">
                  <a:moveTo>
                    <a:pt x="1008147" y="170249"/>
                  </a:moveTo>
                  <a:lnTo>
                    <a:pt x="0" y="555808"/>
                  </a:lnTo>
                </a:path>
              </a:pathLst>
            </a:custGeom>
            <a:ln w="13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98000" y="4477570"/>
              <a:ext cx="135255" cy="112395"/>
            </a:xfrm>
            <a:custGeom>
              <a:avLst/>
              <a:gdLst/>
              <a:ahLst/>
              <a:cxnLst/>
              <a:rect l="l" t="t" r="r" b="b"/>
              <a:pathLst>
                <a:path w="135254" h="112395">
                  <a:moveTo>
                    <a:pt x="89977" y="0"/>
                  </a:moveTo>
                  <a:lnTo>
                    <a:pt x="0" y="98778"/>
                  </a:lnTo>
                  <a:lnTo>
                    <a:pt x="134752" y="112180"/>
                  </a:lnTo>
                  <a:lnTo>
                    <a:pt x="107883" y="80897"/>
                  </a:lnTo>
                  <a:lnTo>
                    <a:pt x="94458" y="40317"/>
                  </a:lnTo>
                  <a:lnTo>
                    <a:pt x="899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57280" y="4159506"/>
              <a:ext cx="1008380" cy="386080"/>
            </a:xfrm>
            <a:custGeom>
              <a:avLst/>
              <a:gdLst/>
              <a:ahLst/>
              <a:cxnLst/>
              <a:rect l="l" t="t" r="r" b="b"/>
              <a:pathLst>
                <a:path w="1008379" h="386079">
                  <a:moveTo>
                    <a:pt x="0" y="0"/>
                  </a:moveTo>
                  <a:lnTo>
                    <a:pt x="1008259" y="385558"/>
                  </a:lnTo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516246" y="4477570"/>
              <a:ext cx="134620" cy="112395"/>
            </a:xfrm>
            <a:custGeom>
              <a:avLst/>
              <a:gdLst/>
              <a:ahLst/>
              <a:cxnLst/>
              <a:rect l="l" t="t" r="r" b="b"/>
              <a:pathLst>
                <a:path w="134620" h="112395">
                  <a:moveTo>
                    <a:pt x="40330" y="0"/>
                  </a:moveTo>
                  <a:lnTo>
                    <a:pt x="40330" y="40317"/>
                  </a:lnTo>
                  <a:lnTo>
                    <a:pt x="26886" y="80897"/>
                  </a:lnTo>
                  <a:lnTo>
                    <a:pt x="0" y="112180"/>
                  </a:lnTo>
                  <a:lnTo>
                    <a:pt x="134247" y="98778"/>
                  </a:lnTo>
                  <a:lnTo>
                    <a:pt x="40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3204780" y="5333225"/>
            <a:ext cx="923290" cy="336550"/>
          </a:xfrm>
          <a:custGeom>
            <a:avLst/>
            <a:gdLst/>
            <a:ahLst/>
            <a:cxnLst/>
            <a:rect l="l" t="t" r="r" b="b"/>
            <a:pathLst>
              <a:path w="923289" h="336550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199521" y="5334020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10100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204780" y="5669207"/>
            <a:ext cx="923290" cy="336550"/>
          </a:xfrm>
          <a:custGeom>
            <a:avLst/>
            <a:gdLst/>
            <a:ahLst/>
            <a:cxnLst/>
            <a:rect l="l" t="t" r="r" b="b"/>
            <a:pathLst>
              <a:path w="923289" h="336550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199521" y="5670003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11000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204780" y="5333225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89" h="672464">
                <a:moveTo>
                  <a:pt x="0" y="671984"/>
                </a:moveTo>
                <a:lnTo>
                  <a:pt x="923104" y="671984"/>
                </a:lnTo>
                <a:lnTo>
                  <a:pt x="923104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8" name="object 58"/>
          <p:cNvGrpSpPr/>
          <p:nvPr/>
        </p:nvGrpSpPr>
        <p:grpSpPr>
          <a:xfrm>
            <a:off x="3711100" y="4654507"/>
            <a:ext cx="1174750" cy="594360"/>
            <a:chOff x="3711100" y="4654507"/>
            <a:chExt cx="1174750" cy="594360"/>
          </a:xfrm>
        </p:grpSpPr>
        <p:sp>
          <p:nvSpPr>
            <p:cNvPr id="59" name="object 59"/>
            <p:cNvSpPr/>
            <p:nvPr/>
          </p:nvSpPr>
          <p:spPr>
            <a:xfrm>
              <a:off x="4127885" y="4661222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127885" y="4661222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0" y="336001"/>
                  </a:moveTo>
                  <a:lnTo>
                    <a:pt x="170115" y="336001"/>
                  </a:lnTo>
                  <a:lnTo>
                    <a:pt x="170115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298001" y="4661222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6086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6086" y="336001"/>
                  </a:lnTo>
                  <a:lnTo>
                    <a:pt x="166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778243" y="4661222"/>
              <a:ext cx="686435" cy="528955"/>
            </a:xfrm>
            <a:custGeom>
              <a:avLst/>
              <a:gdLst/>
              <a:ahLst/>
              <a:cxnLst/>
              <a:rect l="l" t="t" r="r" b="b"/>
              <a:pathLst>
                <a:path w="686435" h="528954">
                  <a:moveTo>
                    <a:pt x="519757" y="336001"/>
                  </a:moveTo>
                  <a:lnTo>
                    <a:pt x="685844" y="336001"/>
                  </a:lnTo>
                  <a:lnTo>
                    <a:pt x="685844" y="0"/>
                  </a:lnTo>
                  <a:lnTo>
                    <a:pt x="519757" y="0"/>
                  </a:lnTo>
                  <a:lnTo>
                    <a:pt x="519757" y="336001"/>
                  </a:lnTo>
                  <a:close/>
                </a:path>
                <a:path w="686435" h="528954">
                  <a:moveTo>
                    <a:pt x="434709" y="170249"/>
                  </a:moveTo>
                  <a:lnTo>
                    <a:pt x="0" y="528575"/>
                  </a:lnTo>
                </a:path>
              </a:pathLst>
            </a:custGeom>
            <a:ln w="134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11100" y="5127249"/>
              <a:ext cx="130175" cy="121285"/>
            </a:xfrm>
            <a:custGeom>
              <a:avLst/>
              <a:gdLst/>
              <a:ahLst/>
              <a:cxnLst/>
              <a:rect l="l" t="t" r="r" b="b"/>
              <a:pathLst>
                <a:path w="130175" h="121285">
                  <a:moveTo>
                    <a:pt x="53717" y="0"/>
                  </a:moveTo>
                  <a:lnTo>
                    <a:pt x="0" y="121084"/>
                  </a:lnTo>
                  <a:lnTo>
                    <a:pt x="129822" y="89800"/>
                  </a:lnTo>
                  <a:lnTo>
                    <a:pt x="94010" y="67028"/>
                  </a:lnTo>
                  <a:lnTo>
                    <a:pt x="67142" y="35744"/>
                  </a:lnTo>
                  <a:lnTo>
                    <a:pt x="53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83516" y="4831472"/>
              <a:ext cx="429895" cy="358775"/>
            </a:xfrm>
            <a:custGeom>
              <a:avLst/>
              <a:gdLst/>
              <a:ahLst/>
              <a:cxnLst/>
              <a:rect l="l" t="t" r="r" b="b"/>
              <a:pathLst>
                <a:path w="429895" h="358775">
                  <a:moveTo>
                    <a:pt x="0" y="0"/>
                  </a:moveTo>
                  <a:lnTo>
                    <a:pt x="429761" y="358325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55078" y="5127249"/>
              <a:ext cx="130810" cy="121285"/>
            </a:xfrm>
            <a:custGeom>
              <a:avLst/>
              <a:gdLst/>
              <a:ahLst/>
              <a:cxnLst/>
              <a:rect l="l" t="t" r="r" b="b"/>
              <a:pathLst>
                <a:path w="130810" h="121285">
                  <a:moveTo>
                    <a:pt x="76553" y="0"/>
                  </a:moveTo>
                  <a:lnTo>
                    <a:pt x="58198" y="35744"/>
                  </a:lnTo>
                  <a:lnTo>
                    <a:pt x="31330" y="67028"/>
                  </a:lnTo>
                  <a:lnTo>
                    <a:pt x="0" y="89800"/>
                  </a:lnTo>
                  <a:lnTo>
                    <a:pt x="130270" y="121084"/>
                  </a:lnTo>
                  <a:lnTo>
                    <a:pt x="76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406628" y="4173647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391518" y="4173647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464083" y="5333225"/>
            <a:ext cx="927735" cy="336550"/>
          </a:xfrm>
          <a:custGeom>
            <a:avLst/>
            <a:gdLst/>
            <a:ahLst/>
            <a:cxnLst/>
            <a:rect l="l" t="t" r="r" b="b"/>
            <a:pathLst>
              <a:path w="927735" h="336550">
                <a:moveTo>
                  <a:pt x="0" y="336001"/>
                </a:moveTo>
                <a:lnTo>
                  <a:pt x="927580" y="336001"/>
                </a:lnTo>
                <a:lnTo>
                  <a:pt x="927580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458825" y="5334020"/>
            <a:ext cx="93853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01010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464083" y="5669207"/>
            <a:ext cx="927735" cy="336550"/>
          </a:xfrm>
          <a:custGeom>
            <a:avLst/>
            <a:gdLst/>
            <a:ahLst/>
            <a:cxnLst/>
            <a:rect l="l" t="t" r="r" b="b"/>
            <a:pathLst>
              <a:path w="927735" h="336550">
                <a:moveTo>
                  <a:pt x="0" y="336001"/>
                </a:moveTo>
                <a:lnTo>
                  <a:pt x="927580" y="336001"/>
                </a:lnTo>
                <a:lnTo>
                  <a:pt x="927580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458825" y="5670003"/>
            <a:ext cx="93853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01110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4464083" y="5333225"/>
            <a:ext cx="927735" cy="672465"/>
          </a:xfrm>
          <a:custGeom>
            <a:avLst/>
            <a:gdLst/>
            <a:ahLst/>
            <a:cxnLst/>
            <a:rect l="l" t="t" r="r" b="b"/>
            <a:pathLst>
              <a:path w="927735" h="672464">
                <a:moveTo>
                  <a:pt x="0" y="671984"/>
                </a:moveTo>
                <a:lnTo>
                  <a:pt x="927580" y="671984"/>
                </a:lnTo>
                <a:lnTo>
                  <a:pt x="927580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734212" y="4845650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711048" y="4845650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229266" y="5346627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90" h="672464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  <a:path w="923290" h="672464">
                <a:moveTo>
                  <a:pt x="0" y="671984"/>
                </a:moveTo>
                <a:lnTo>
                  <a:pt x="923099" y="671984"/>
                </a:lnTo>
                <a:lnTo>
                  <a:pt x="923099" y="335982"/>
                </a:lnTo>
                <a:lnTo>
                  <a:pt x="0" y="335982"/>
                </a:lnTo>
                <a:lnTo>
                  <a:pt x="0" y="671984"/>
                </a:lnTo>
                <a:close/>
              </a:path>
            </a:pathLst>
          </a:custGeom>
          <a:ln w="13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224008" y="5683405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11101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229266" y="5346627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90" h="672464">
                <a:moveTo>
                  <a:pt x="0" y="671984"/>
                </a:moveTo>
                <a:lnTo>
                  <a:pt x="923117" y="671984"/>
                </a:lnTo>
                <a:lnTo>
                  <a:pt x="923117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299521" y="6006000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324487" y="6019404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558838" y="6006000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473412" y="4654237"/>
            <a:ext cx="350520" cy="350520"/>
            <a:chOff x="6473412" y="4654237"/>
            <a:chExt cx="350520" cy="350520"/>
          </a:xfrm>
        </p:grpSpPr>
        <p:sp>
          <p:nvSpPr>
            <p:cNvPr id="82" name="object 82"/>
            <p:cNvSpPr/>
            <p:nvPr/>
          </p:nvSpPr>
          <p:spPr>
            <a:xfrm>
              <a:off x="6480397" y="4661222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480397" y="4661222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0" y="336001"/>
                  </a:moveTo>
                  <a:lnTo>
                    <a:pt x="170115" y="336001"/>
                  </a:lnTo>
                  <a:lnTo>
                    <a:pt x="170115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650494" y="4661222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6086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6086" y="336001"/>
                  </a:lnTo>
                  <a:lnTo>
                    <a:pt x="166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650494" y="4661222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0" y="336001"/>
                  </a:moveTo>
                  <a:lnTo>
                    <a:pt x="166086" y="336001"/>
                  </a:lnTo>
                  <a:lnTo>
                    <a:pt x="166086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6211308" y="4859052"/>
            <a:ext cx="959485" cy="782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14"/>
              </a:spcBef>
              <a:tabLst>
                <a:tab pos="730250" algn="l"/>
              </a:tabLst>
            </a:pPr>
            <a:r>
              <a:rPr sz="1750" spc="-50" dirty="0">
                <a:latin typeface="Arial MT"/>
                <a:cs typeface="Arial MT"/>
              </a:rPr>
              <a:t>0</a:t>
            </a:r>
            <a:r>
              <a:rPr sz="1750" dirty="0">
                <a:latin typeface="Arial MT"/>
                <a:cs typeface="Arial MT"/>
              </a:rPr>
              <a:t>	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125730">
              <a:lnSpc>
                <a:spcPct val="100000"/>
              </a:lnSpc>
              <a:spcBef>
                <a:spcPts val="1745"/>
              </a:spcBef>
            </a:pPr>
            <a:r>
              <a:rPr sz="1750" spc="-10" dirty="0">
                <a:latin typeface="Arial MT"/>
                <a:cs typeface="Arial MT"/>
              </a:rPr>
              <a:t>10001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6558824" y="4838159"/>
            <a:ext cx="184150" cy="424180"/>
            <a:chOff x="6558824" y="4838159"/>
            <a:chExt cx="184150" cy="424180"/>
          </a:xfrm>
        </p:grpSpPr>
        <p:sp>
          <p:nvSpPr>
            <p:cNvPr id="88" name="object 88"/>
            <p:cNvSpPr/>
            <p:nvPr/>
          </p:nvSpPr>
          <p:spPr>
            <a:xfrm>
              <a:off x="6565539" y="4844874"/>
              <a:ext cx="85090" cy="327660"/>
            </a:xfrm>
            <a:custGeom>
              <a:avLst/>
              <a:gdLst/>
              <a:ahLst/>
              <a:cxnLst/>
              <a:rect l="l" t="t" r="r" b="b"/>
              <a:pathLst>
                <a:path w="85090" h="327660">
                  <a:moveTo>
                    <a:pt x="0" y="0"/>
                  </a:moveTo>
                  <a:lnTo>
                    <a:pt x="0" y="251091"/>
                  </a:lnTo>
                  <a:lnTo>
                    <a:pt x="84955" y="251091"/>
                  </a:lnTo>
                  <a:lnTo>
                    <a:pt x="84955" y="327060"/>
                  </a:lnTo>
                </a:path>
              </a:pathLst>
            </a:custGeom>
            <a:ln w="134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587945" y="5140651"/>
              <a:ext cx="121285" cy="121285"/>
            </a:xfrm>
            <a:custGeom>
              <a:avLst/>
              <a:gdLst/>
              <a:ahLst/>
              <a:cxnLst/>
              <a:rect l="l" t="t" r="r" b="b"/>
              <a:pathLst>
                <a:path w="121284" h="121285">
                  <a:moveTo>
                    <a:pt x="120804" y="0"/>
                  </a:moveTo>
                  <a:lnTo>
                    <a:pt x="80474" y="13401"/>
                  </a:lnTo>
                  <a:lnTo>
                    <a:pt x="40143" y="13401"/>
                  </a:lnTo>
                  <a:lnTo>
                    <a:pt x="0" y="0"/>
                  </a:lnTo>
                  <a:lnTo>
                    <a:pt x="62549" y="121084"/>
                  </a:lnTo>
                  <a:lnTo>
                    <a:pt x="1208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650494" y="4844874"/>
              <a:ext cx="85725" cy="251460"/>
            </a:xfrm>
            <a:custGeom>
              <a:avLst/>
              <a:gdLst/>
              <a:ahLst/>
              <a:cxnLst/>
              <a:rect l="l" t="t" r="r" b="b"/>
              <a:pathLst>
                <a:path w="85725" h="251460">
                  <a:moveTo>
                    <a:pt x="85141" y="0"/>
                  </a:moveTo>
                  <a:lnTo>
                    <a:pt x="85141" y="251091"/>
                  </a:lnTo>
                  <a:lnTo>
                    <a:pt x="0" y="251091"/>
                  </a:lnTo>
                </a:path>
              </a:pathLst>
            </a:custGeom>
            <a:ln w="134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917854" y="1784730"/>
            <a:ext cx="3312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«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Compléter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»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’arbre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6267450" y="3733800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95250"/>
                </a:moveTo>
                <a:lnTo>
                  <a:pt x="38100" y="9525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9525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  <a:path w="114300" h="5334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334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3252" y="635888"/>
            <a:ext cx="61595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Arbre</a:t>
            </a:r>
            <a:r>
              <a:rPr sz="32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digital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=&gt;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un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répertoire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396240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ln w="9525">
            <a:solidFill>
              <a:srgbClr val="FF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4780" y="2971088"/>
            <a:ext cx="923290" cy="336550"/>
          </a:xfrm>
          <a:custGeom>
            <a:avLst/>
            <a:gdLst/>
            <a:ahLst/>
            <a:cxnLst/>
            <a:rect l="l" t="t" r="r" b="b"/>
            <a:pathLst>
              <a:path w="923289" h="336550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99521" y="2971883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10100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4780" y="3307071"/>
            <a:ext cx="923290" cy="336550"/>
          </a:xfrm>
          <a:custGeom>
            <a:avLst/>
            <a:gdLst/>
            <a:ahLst/>
            <a:cxnLst/>
            <a:rect l="l" t="t" r="r" b="b"/>
            <a:pathLst>
              <a:path w="923289" h="336550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99521" y="3307866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11000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04780" y="2971088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89" h="672464">
                <a:moveTo>
                  <a:pt x="0" y="671984"/>
                </a:moveTo>
                <a:lnTo>
                  <a:pt x="923104" y="671984"/>
                </a:lnTo>
                <a:lnTo>
                  <a:pt x="923104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299807" y="1620405"/>
            <a:ext cx="349885" cy="349885"/>
            <a:chOff x="5299807" y="1620405"/>
            <a:chExt cx="349885" cy="349885"/>
          </a:xfrm>
        </p:grpSpPr>
        <p:sp>
          <p:nvSpPr>
            <p:cNvPr id="10" name="object 10"/>
            <p:cNvSpPr/>
            <p:nvPr/>
          </p:nvSpPr>
          <p:spPr>
            <a:xfrm>
              <a:off x="5306522" y="1627120"/>
              <a:ext cx="165735" cy="336550"/>
            </a:xfrm>
            <a:custGeom>
              <a:avLst/>
              <a:gdLst/>
              <a:ahLst/>
              <a:cxnLst/>
              <a:rect l="l" t="t" r="r" b="b"/>
              <a:pathLst>
                <a:path w="165735" h="336550">
                  <a:moveTo>
                    <a:pt x="165640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5640" y="336001"/>
                  </a:lnTo>
                  <a:lnTo>
                    <a:pt x="1656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06522" y="1627120"/>
              <a:ext cx="165735" cy="336550"/>
            </a:xfrm>
            <a:custGeom>
              <a:avLst/>
              <a:gdLst/>
              <a:ahLst/>
              <a:cxnLst/>
              <a:rect l="l" t="t" r="r" b="b"/>
              <a:pathLst>
                <a:path w="165735" h="336550">
                  <a:moveTo>
                    <a:pt x="0" y="336001"/>
                  </a:moveTo>
                  <a:lnTo>
                    <a:pt x="165640" y="336001"/>
                  </a:lnTo>
                  <a:lnTo>
                    <a:pt x="165640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72324" y="1627120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72324" y="1627120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0" y="336001"/>
                  </a:moveTo>
                  <a:lnTo>
                    <a:pt x="170115" y="336001"/>
                  </a:lnTo>
                  <a:lnTo>
                    <a:pt x="170115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121170" y="2292371"/>
            <a:ext cx="349885" cy="349885"/>
            <a:chOff x="4121170" y="2292371"/>
            <a:chExt cx="349885" cy="349885"/>
          </a:xfrm>
        </p:grpSpPr>
        <p:sp>
          <p:nvSpPr>
            <p:cNvPr id="15" name="object 15"/>
            <p:cNvSpPr/>
            <p:nvPr/>
          </p:nvSpPr>
          <p:spPr>
            <a:xfrm>
              <a:off x="4127885" y="2299085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27885" y="2299085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0" y="336001"/>
                  </a:moveTo>
                  <a:lnTo>
                    <a:pt x="170115" y="336001"/>
                  </a:lnTo>
                  <a:lnTo>
                    <a:pt x="170115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98001" y="2299085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6086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6086" y="336001"/>
                  </a:lnTo>
                  <a:lnTo>
                    <a:pt x="166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98001" y="2299085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0" y="336001"/>
                  </a:moveTo>
                  <a:lnTo>
                    <a:pt x="166086" y="336001"/>
                  </a:lnTo>
                  <a:lnTo>
                    <a:pt x="166086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298000" y="1790656"/>
            <a:ext cx="1100455" cy="437515"/>
            <a:chOff x="4298000" y="1790656"/>
            <a:chExt cx="1100455" cy="437515"/>
          </a:xfrm>
        </p:grpSpPr>
        <p:sp>
          <p:nvSpPr>
            <p:cNvPr id="20" name="object 20"/>
            <p:cNvSpPr/>
            <p:nvPr/>
          </p:nvSpPr>
          <p:spPr>
            <a:xfrm>
              <a:off x="4383516" y="1797370"/>
              <a:ext cx="1008380" cy="386080"/>
            </a:xfrm>
            <a:custGeom>
              <a:avLst/>
              <a:gdLst/>
              <a:ahLst/>
              <a:cxnLst/>
              <a:rect l="l" t="t" r="r" b="b"/>
              <a:pathLst>
                <a:path w="1008379" h="386080">
                  <a:moveTo>
                    <a:pt x="1008147" y="0"/>
                  </a:moveTo>
                  <a:lnTo>
                    <a:pt x="0" y="385558"/>
                  </a:lnTo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98000" y="2115433"/>
              <a:ext cx="135255" cy="112395"/>
            </a:xfrm>
            <a:custGeom>
              <a:avLst/>
              <a:gdLst/>
              <a:ahLst/>
              <a:cxnLst/>
              <a:rect l="l" t="t" r="r" b="b"/>
              <a:pathLst>
                <a:path w="135254" h="112394">
                  <a:moveTo>
                    <a:pt x="89977" y="0"/>
                  </a:moveTo>
                  <a:lnTo>
                    <a:pt x="0" y="98778"/>
                  </a:lnTo>
                  <a:lnTo>
                    <a:pt x="134752" y="112180"/>
                  </a:lnTo>
                  <a:lnTo>
                    <a:pt x="107883" y="80897"/>
                  </a:lnTo>
                  <a:lnTo>
                    <a:pt x="94458" y="40317"/>
                  </a:lnTo>
                  <a:lnTo>
                    <a:pt x="899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550566" y="1790656"/>
            <a:ext cx="1100455" cy="437515"/>
            <a:chOff x="5550566" y="1790656"/>
            <a:chExt cx="1100455" cy="437515"/>
          </a:xfrm>
        </p:grpSpPr>
        <p:sp>
          <p:nvSpPr>
            <p:cNvPr id="23" name="object 23"/>
            <p:cNvSpPr/>
            <p:nvPr/>
          </p:nvSpPr>
          <p:spPr>
            <a:xfrm>
              <a:off x="5557279" y="1797370"/>
              <a:ext cx="1008380" cy="386080"/>
            </a:xfrm>
            <a:custGeom>
              <a:avLst/>
              <a:gdLst/>
              <a:ahLst/>
              <a:cxnLst/>
              <a:rect l="l" t="t" r="r" b="b"/>
              <a:pathLst>
                <a:path w="1008379" h="386080">
                  <a:moveTo>
                    <a:pt x="0" y="0"/>
                  </a:moveTo>
                  <a:lnTo>
                    <a:pt x="1008259" y="385558"/>
                  </a:lnTo>
                </a:path>
              </a:pathLst>
            </a:custGeom>
            <a:ln w="134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16246" y="2115433"/>
              <a:ext cx="134620" cy="112395"/>
            </a:xfrm>
            <a:custGeom>
              <a:avLst/>
              <a:gdLst/>
              <a:ahLst/>
              <a:cxnLst/>
              <a:rect l="l" t="t" r="r" b="b"/>
              <a:pathLst>
                <a:path w="134620" h="112394">
                  <a:moveTo>
                    <a:pt x="40330" y="0"/>
                  </a:moveTo>
                  <a:lnTo>
                    <a:pt x="40330" y="40317"/>
                  </a:lnTo>
                  <a:lnTo>
                    <a:pt x="26886" y="80897"/>
                  </a:lnTo>
                  <a:lnTo>
                    <a:pt x="0" y="112180"/>
                  </a:lnTo>
                  <a:lnTo>
                    <a:pt x="134247" y="98778"/>
                  </a:lnTo>
                  <a:lnTo>
                    <a:pt x="403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391518" y="1811511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7854" y="1784731"/>
            <a:ext cx="3639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Bijection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chemin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&lt;-</a:t>
            </a:r>
            <a:r>
              <a:rPr sz="2000" dirty="0">
                <a:latin typeface="Tahoma"/>
                <a:cs typeface="Tahoma"/>
              </a:rPr>
              <a:t>&gt;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indice</a:t>
            </a:r>
            <a:r>
              <a:rPr sz="2000" spc="-325" dirty="0">
                <a:latin typeface="Tahoma"/>
                <a:cs typeface="Tahoma"/>
              </a:rPr>
              <a:t> </a:t>
            </a:r>
            <a:r>
              <a:rPr sz="2625" spc="-75" baseline="1587" dirty="0">
                <a:latin typeface="Arial MT"/>
                <a:cs typeface="Arial MT"/>
              </a:rPr>
              <a:t>0</a:t>
            </a:r>
            <a:endParaRPr sz="2625" baseline="1587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464083" y="2971088"/>
            <a:ext cx="927735" cy="336550"/>
          </a:xfrm>
          <a:custGeom>
            <a:avLst/>
            <a:gdLst/>
            <a:ahLst/>
            <a:cxnLst/>
            <a:rect l="l" t="t" r="r" b="b"/>
            <a:pathLst>
              <a:path w="927735" h="336550">
                <a:moveTo>
                  <a:pt x="0" y="336001"/>
                </a:moveTo>
                <a:lnTo>
                  <a:pt x="927580" y="336001"/>
                </a:lnTo>
                <a:lnTo>
                  <a:pt x="927580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58825" y="2971883"/>
            <a:ext cx="93853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01010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464083" y="3307071"/>
            <a:ext cx="927735" cy="336550"/>
          </a:xfrm>
          <a:custGeom>
            <a:avLst/>
            <a:gdLst/>
            <a:ahLst/>
            <a:cxnLst/>
            <a:rect l="l" t="t" r="r" b="b"/>
            <a:pathLst>
              <a:path w="927735" h="336550">
                <a:moveTo>
                  <a:pt x="0" y="336001"/>
                </a:moveTo>
                <a:lnTo>
                  <a:pt x="927580" y="336001"/>
                </a:lnTo>
                <a:lnTo>
                  <a:pt x="927580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</a:pathLst>
          </a:custGeom>
          <a:ln w="134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458825" y="3307866"/>
            <a:ext cx="93853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01110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464083" y="2971088"/>
            <a:ext cx="927735" cy="672465"/>
          </a:xfrm>
          <a:custGeom>
            <a:avLst/>
            <a:gdLst/>
            <a:ahLst/>
            <a:cxnLst/>
            <a:rect l="l" t="t" r="r" b="b"/>
            <a:pathLst>
              <a:path w="927735" h="672464">
                <a:moveTo>
                  <a:pt x="0" y="671984"/>
                </a:moveTo>
                <a:lnTo>
                  <a:pt x="927580" y="671984"/>
                </a:lnTo>
                <a:lnTo>
                  <a:pt x="927580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3711100" y="2462621"/>
            <a:ext cx="508634" cy="424180"/>
            <a:chOff x="3711100" y="2462621"/>
            <a:chExt cx="508634" cy="424180"/>
          </a:xfrm>
        </p:grpSpPr>
        <p:sp>
          <p:nvSpPr>
            <p:cNvPr id="33" name="object 33"/>
            <p:cNvSpPr/>
            <p:nvPr/>
          </p:nvSpPr>
          <p:spPr>
            <a:xfrm>
              <a:off x="3778243" y="2469335"/>
              <a:ext cx="434975" cy="358775"/>
            </a:xfrm>
            <a:custGeom>
              <a:avLst/>
              <a:gdLst/>
              <a:ahLst/>
              <a:cxnLst/>
              <a:rect l="l" t="t" r="r" b="b"/>
              <a:pathLst>
                <a:path w="434975" h="358775">
                  <a:moveTo>
                    <a:pt x="434709" y="0"/>
                  </a:moveTo>
                  <a:lnTo>
                    <a:pt x="0" y="358325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11100" y="2765112"/>
              <a:ext cx="130175" cy="121285"/>
            </a:xfrm>
            <a:custGeom>
              <a:avLst/>
              <a:gdLst/>
              <a:ahLst/>
              <a:cxnLst/>
              <a:rect l="l" t="t" r="r" b="b"/>
              <a:pathLst>
                <a:path w="130175" h="121285">
                  <a:moveTo>
                    <a:pt x="53717" y="0"/>
                  </a:moveTo>
                  <a:lnTo>
                    <a:pt x="0" y="121084"/>
                  </a:lnTo>
                  <a:lnTo>
                    <a:pt x="129822" y="89800"/>
                  </a:lnTo>
                  <a:lnTo>
                    <a:pt x="94010" y="67028"/>
                  </a:lnTo>
                  <a:lnTo>
                    <a:pt x="67142" y="35744"/>
                  </a:lnTo>
                  <a:lnTo>
                    <a:pt x="53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4376802" y="2462621"/>
            <a:ext cx="508634" cy="424180"/>
            <a:chOff x="4376802" y="2462621"/>
            <a:chExt cx="508634" cy="424180"/>
          </a:xfrm>
        </p:grpSpPr>
        <p:sp>
          <p:nvSpPr>
            <p:cNvPr id="36" name="object 36"/>
            <p:cNvSpPr/>
            <p:nvPr/>
          </p:nvSpPr>
          <p:spPr>
            <a:xfrm>
              <a:off x="4383516" y="2469335"/>
              <a:ext cx="429895" cy="358775"/>
            </a:xfrm>
            <a:custGeom>
              <a:avLst/>
              <a:gdLst/>
              <a:ahLst/>
              <a:cxnLst/>
              <a:rect l="l" t="t" r="r" b="b"/>
              <a:pathLst>
                <a:path w="429895" h="358775">
                  <a:moveTo>
                    <a:pt x="0" y="0"/>
                  </a:moveTo>
                  <a:lnTo>
                    <a:pt x="429761" y="358325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55078" y="2765112"/>
              <a:ext cx="130810" cy="121285"/>
            </a:xfrm>
            <a:custGeom>
              <a:avLst/>
              <a:gdLst/>
              <a:ahLst/>
              <a:cxnLst/>
              <a:rect l="l" t="t" r="r" b="b"/>
              <a:pathLst>
                <a:path w="130810" h="121285">
                  <a:moveTo>
                    <a:pt x="76553" y="0"/>
                  </a:moveTo>
                  <a:lnTo>
                    <a:pt x="58198" y="35744"/>
                  </a:lnTo>
                  <a:lnTo>
                    <a:pt x="31330" y="67028"/>
                  </a:lnTo>
                  <a:lnTo>
                    <a:pt x="0" y="89800"/>
                  </a:lnTo>
                  <a:lnTo>
                    <a:pt x="130270" y="121084"/>
                  </a:lnTo>
                  <a:lnTo>
                    <a:pt x="765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734212" y="2483514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11048" y="2483514"/>
            <a:ext cx="15049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229266" y="2984490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90" h="672464">
                <a:moveTo>
                  <a:pt x="0" y="336001"/>
                </a:moveTo>
                <a:lnTo>
                  <a:pt x="923099" y="336001"/>
                </a:lnTo>
                <a:lnTo>
                  <a:pt x="923099" y="0"/>
                </a:lnTo>
                <a:lnTo>
                  <a:pt x="0" y="0"/>
                </a:lnTo>
                <a:lnTo>
                  <a:pt x="0" y="336001"/>
                </a:lnTo>
                <a:close/>
              </a:path>
              <a:path w="923290" h="672464">
                <a:moveTo>
                  <a:pt x="0" y="671984"/>
                </a:moveTo>
                <a:lnTo>
                  <a:pt x="923099" y="671984"/>
                </a:lnTo>
                <a:lnTo>
                  <a:pt x="923099" y="335982"/>
                </a:lnTo>
                <a:lnTo>
                  <a:pt x="0" y="335982"/>
                </a:lnTo>
                <a:lnTo>
                  <a:pt x="0" y="671984"/>
                </a:lnTo>
                <a:close/>
              </a:path>
            </a:pathLst>
          </a:custGeom>
          <a:ln w="134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224008" y="3321268"/>
            <a:ext cx="934085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14"/>
              </a:spcBef>
            </a:pPr>
            <a:r>
              <a:rPr sz="1750" spc="-10" dirty="0">
                <a:latin typeface="Arial MT"/>
                <a:cs typeface="Arial MT"/>
              </a:rPr>
              <a:t>11101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29266" y="2984490"/>
            <a:ext cx="923290" cy="672465"/>
          </a:xfrm>
          <a:custGeom>
            <a:avLst/>
            <a:gdLst/>
            <a:ahLst/>
            <a:cxnLst/>
            <a:rect l="l" t="t" r="r" b="b"/>
            <a:pathLst>
              <a:path w="923290" h="672464">
                <a:moveTo>
                  <a:pt x="0" y="671984"/>
                </a:moveTo>
                <a:lnTo>
                  <a:pt x="923117" y="671984"/>
                </a:lnTo>
                <a:lnTo>
                  <a:pt x="923117" y="0"/>
                </a:lnTo>
                <a:lnTo>
                  <a:pt x="0" y="0"/>
                </a:lnTo>
                <a:lnTo>
                  <a:pt x="0" y="671984"/>
                </a:lnTo>
              </a:path>
            </a:pathLst>
          </a:custGeom>
          <a:ln w="40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299521" y="3643864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0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24487" y="3657268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58838" y="3643864"/>
            <a:ext cx="651510" cy="2946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latin typeface="Arial MT"/>
                <a:cs typeface="Arial MT"/>
              </a:rPr>
              <a:t>Bloc</a:t>
            </a:r>
            <a:r>
              <a:rPr sz="1750" spc="30" dirty="0">
                <a:latin typeface="Arial MT"/>
                <a:cs typeface="Arial MT"/>
              </a:rPr>
              <a:t> </a:t>
            </a:r>
            <a:r>
              <a:rPr sz="1750" spc="-50" dirty="0"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473683" y="2292371"/>
            <a:ext cx="349885" cy="349885"/>
            <a:chOff x="6473683" y="2292371"/>
            <a:chExt cx="349885" cy="349885"/>
          </a:xfrm>
        </p:grpSpPr>
        <p:sp>
          <p:nvSpPr>
            <p:cNvPr id="47" name="object 47"/>
            <p:cNvSpPr/>
            <p:nvPr/>
          </p:nvSpPr>
          <p:spPr>
            <a:xfrm>
              <a:off x="6480397" y="2299085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170115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70115" y="336001"/>
                  </a:lnTo>
                  <a:lnTo>
                    <a:pt x="17011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80397" y="2299085"/>
              <a:ext cx="170180" cy="336550"/>
            </a:xfrm>
            <a:custGeom>
              <a:avLst/>
              <a:gdLst/>
              <a:ahLst/>
              <a:cxnLst/>
              <a:rect l="l" t="t" r="r" b="b"/>
              <a:pathLst>
                <a:path w="170179" h="336550">
                  <a:moveTo>
                    <a:pt x="0" y="336001"/>
                  </a:moveTo>
                  <a:lnTo>
                    <a:pt x="170115" y="336001"/>
                  </a:lnTo>
                  <a:lnTo>
                    <a:pt x="170115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650494" y="2299085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166086" y="0"/>
                  </a:moveTo>
                  <a:lnTo>
                    <a:pt x="0" y="0"/>
                  </a:lnTo>
                  <a:lnTo>
                    <a:pt x="0" y="336001"/>
                  </a:lnTo>
                  <a:lnTo>
                    <a:pt x="166086" y="336001"/>
                  </a:lnTo>
                  <a:lnTo>
                    <a:pt x="1660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650494" y="2299085"/>
              <a:ext cx="166370" cy="336550"/>
            </a:xfrm>
            <a:custGeom>
              <a:avLst/>
              <a:gdLst/>
              <a:ahLst/>
              <a:cxnLst/>
              <a:rect l="l" t="t" r="r" b="b"/>
              <a:pathLst>
                <a:path w="166370" h="336550">
                  <a:moveTo>
                    <a:pt x="0" y="336001"/>
                  </a:moveTo>
                  <a:lnTo>
                    <a:pt x="166086" y="336001"/>
                  </a:lnTo>
                  <a:lnTo>
                    <a:pt x="166086" y="0"/>
                  </a:lnTo>
                  <a:lnTo>
                    <a:pt x="0" y="0"/>
                  </a:lnTo>
                  <a:lnTo>
                    <a:pt x="0" y="336001"/>
                  </a:lnTo>
                  <a:close/>
                </a:path>
              </a:pathLst>
            </a:custGeom>
            <a:ln w="13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211308" y="2496916"/>
            <a:ext cx="959485" cy="782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14"/>
              </a:spcBef>
              <a:tabLst>
                <a:tab pos="730250" algn="l"/>
              </a:tabLst>
            </a:pPr>
            <a:r>
              <a:rPr sz="1750" spc="-50" dirty="0">
                <a:latin typeface="Arial MT"/>
                <a:cs typeface="Arial MT"/>
              </a:rPr>
              <a:t>0</a:t>
            </a:r>
            <a:r>
              <a:rPr sz="1750" dirty="0">
                <a:latin typeface="Arial MT"/>
                <a:cs typeface="Arial MT"/>
              </a:rPr>
              <a:t>	</a:t>
            </a:r>
            <a:r>
              <a:rPr sz="1750" spc="-50" dirty="0"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  <a:p>
            <a:pPr marL="125730">
              <a:lnSpc>
                <a:spcPct val="100000"/>
              </a:lnSpc>
              <a:spcBef>
                <a:spcPts val="1745"/>
              </a:spcBef>
            </a:pPr>
            <a:r>
              <a:rPr sz="1750" spc="-10" dirty="0">
                <a:latin typeface="Arial MT"/>
                <a:cs typeface="Arial MT"/>
              </a:rPr>
              <a:t>10001</a:t>
            </a:r>
            <a:r>
              <a:rPr sz="1725" spc="-15" baseline="-26570" dirty="0">
                <a:latin typeface="Arial MT"/>
                <a:cs typeface="Arial MT"/>
              </a:rPr>
              <a:t>2</a:t>
            </a:r>
            <a:endParaRPr sz="1725" baseline="-26570">
              <a:latin typeface="Arial MT"/>
              <a:cs typeface="Arial MT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58824" y="2476022"/>
            <a:ext cx="184150" cy="424180"/>
            <a:chOff x="6558824" y="2476022"/>
            <a:chExt cx="184150" cy="424180"/>
          </a:xfrm>
        </p:grpSpPr>
        <p:sp>
          <p:nvSpPr>
            <p:cNvPr id="53" name="object 53"/>
            <p:cNvSpPr/>
            <p:nvPr/>
          </p:nvSpPr>
          <p:spPr>
            <a:xfrm>
              <a:off x="6565539" y="2482737"/>
              <a:ext cx="85090" cy="327660"/>
            </a:xfrm>
            <a:custGeom>
              <a:avLst/>
              <a:gdLst/>
              <a:ahLst/>
              <a:cxnLst/>
              <a:rect l="l" t="t" r="r" b="b"/>
              <a:pathLst>
                <a:path w="85090" h="327660">
                  <a:moveTo>
                    <a:pt x="0" y="0"/>
                  </a:moveTo>
                  <a:lnTo>
                    <a:pt x="0" y="251091"/>
                  </a:lnTo>
                  <a:lnTo>
                    <a:pt x="84955" y="251091"/>
                  </a:lnTo>
                  <a:lnTo>
                    <a:pt x="84955" y="327060"/>
                  </a:lnTo>
                </a:path>
              </a:pathLst>
            </a:custGeom>
            <a:ln w="134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587945" y="2778514"/>
              <a:ext cx="121285" cy="121285"/>
            </a:xfrm>
            <a:custGeom>
              <a:avLst/>
              <a:gdLst/>
              <a:ahLst/>
              <a:cxnLst/>
              <a:rect l="l" t="t" r="r" b="b"/>
              <a:pathLst>
                <a:path w="121284" h="121285">
                  <a:moveTo>
                    <a:pt x="120804" y="0"/>
                  </a:moveTo>
                  <a:lnTo>
                    <a:pt x="80474" y="13401"/>
                  </a:lnTo>
                  <a:lnTo>
                    <a:pt x="40143" y="13401"/>
                  </a:lnTo>
                  <a:lnTo>
                    <a:pt x="0" y="0"/>
                  </a:lnTo>
                  <a:lnTo>
                    <a:pt x="62549" y="121084"/>
                  </a:lnTo>
                  <a:lnTo>
                    <a:pt x="1208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650494" y="2482737"/>
              <a:ext cx="85725" cy="251460"/>
            </a:xfrm>
            <a:custGeom>
              <a:avLst/>
              <a:gdLst/>
              <a:ahLst/>
              <a:cxnLst/>
              <a:rect l="l" t="t" r="r" b="b"/>
              <a:pathLst>
                <a:path w="85725" h="251460">
                  <a:moveTo>
                    <a:pt x="85141" y="0"/>
                  </a:moveTo>
                  <a:lnTo>
                    <a:pt x="85141" y="251091"/>
                  </a:lnTo>
                  <a:lnTo>
                    <a:pt x="0" y="251091"/>
                  </a:lnTo>
                </a:path>
              </a:pathLst>
            </a:custGeom>
            <a:ln w="1342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1390650" y="3733800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95250"/>
                </a:moveTo>
                <a:lnTo>
                  <a:pt x="38100" y="9525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9525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  <a:path w="114300" h="5334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5334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028954" y="6061306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2925980" y="5439854"/>
          <a:ext cx="1141095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11000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9" name="object 59"/>
          <p:cNvSpPr txBox="1"/>
          <p:nvPr/>
        </p:nvSpPr>
        <p:spPr>
          <a:xfrm>
            <a:off x="4248001" y="6061306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4144587" y="5439854"/>
          <a:ext cx="1141730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10001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1" name="object 61"/>
          <p:cNvSpPr txBox="1"/>
          <p:nvPr/>
        </p:nvSpPr>
        <p:spPr>
          <a:xfrm>
            <a:off x="5466693" y="6061306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5363617" y="5439854"/>
          <a:ext cx="1141730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01010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01110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3" name="object 63"/>
          <p:cNvSpPr/>
          <p:nvPr/>
        </p:nvSpPr>
        <p:spPr>
          <a:xfrm>
            <a:off x="2639357" y="4545505"/>
            <a:ext cx="5180965" cy="304165"/>
          </a:xfrm>
          <a:custGeom>
            <a:avLst/>
            <a:gdLst/>
            <a:ahLst/>
            <a:cxnLst/>
            <a:rect l="l" t="t" r="r" b="b"/>
            <a:pathLst>
              <a:path w="5180965" h="304164">
                <a:moveTo>
                  <a:pt x="304876" y="304071"/>
                </a:moveTo>
                <a:lnTo>
                  <a:pt x="1523517" y="304071"/>
                </a:lnTo>
                <a:lnTo>
                  <a:pt x="1523517" y="0"/>
                </a:lnTo>
                <a:lnTo>
                  <a:pt x="304876" y="0"/>
                </a:lnTo>
                <a:lnTo>
                  <a:pt x="304876" y="304071"/>
                </a:lnTo>
                <a:close/>
              </a:path>
              <a:path w="5180965" h="304164">
                <a:moveTo>
                  <a:pt x="1523483" y="304071"/>
                </a:moveTo>
                <a:lnTo>
                  <a:pt x="2742530" y="304071"/>
                </a:lnTo>
                <a:lnTo>
                  <a:pt x="2742530" y="0"/>
                </a:lnTo>
                <a:lnTo>
                  <a:pt x="1523483" y="0"/>
                </a:lnTo>
                <a:lnTo>
                  <a:pt x="1523483" y="304071"/>
                </a:lnTo>
                <a:close/>
              </a:path>
              <a:path w="5180965" h="304164">
                <a:moveTo>
                  <a:pt x="2742513" y="304071"/>
                </a:moveTo>
                <a:lnTo>
                  <a:pt x="3961561" y="304071"/>
                </a:lnTo>
                <a:lnTo>
                  <a:pt x="3961561" y="0"/>
                </a:lnTo>
                <a:lnTo>
                  <a:pt x="2742513" y="0"/>
                </a:lnTo>
                <a:lnTo>
                  <a:pt x="2742513" y="304071"/>
                </a:lnTo>
                <a:close/>
              </a:path>
              <a:path w="5180965" h="304164">
                <a:moveTo>
                  <a:pt x="3961544" y="304071"/>
                </a:moveTo>
                <a:lnTo>
                  <a:pt x="5180591" y="304071"/>
                </a:lnTo>
                <a:lnTo>
                  <a:pt x="5180591" y="0"/>
                </a:lnTo>
                <a:lnTo>
                  <a:pt x="3961544" y="0"/>
                </a:lnTo>
                <a:lnTo>
                  <a:pt x="3961544" y="304071"/>
                </a:lnTo>
                <a:close/>
              </a:path>
              <a:path w="5180965" h="304164">
                <a:moveTo>
                  <a:pt x="0" y="304071"/>
                </a:moveTo>
                <a:lnTo>
                  <a:pt x="304859" y="304071"/>
                </a:lnTo>
                <a:lnTo>
                  <a:pt x="304859" y="0"/>
                </a:lnTo>
                <a:lnTo>
                  <a:pt x="0" y="0"/>
                </a:lnTo>
                <a:lnTo>
                  <a:pt x="0" y="304071"/>
                </a:lnTo>
                <a:close/>
              </a:path>
            </a:pathLst>
          </a:custGeom>
          <a:ln w="121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2645443" y="4540569"/>
            <a:ext cx="2927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422342" y="4089255"/>
            <a:ext cx="4626610" cy="1291590"/>
            <a:chOff x="1422342" y="4089255"/>
            <a:chExt cx="4626610" cy="1291590"/>
          </a:xfrm>
        </p:grpSpPr>
        <p:sp>
          <p:nvSpPr>
            <p:cNvPr id="66" name="object 66"/>
            <p:cNvSpPr/>
            <p:nvPr/>
          </p:nvSpPr>
          <p:spPr>
            <a:xfrm>
              <a:off x="3553495" y="4695756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00839" y="5271457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109543" y="0"/>
                  </a:moveTo>
                  <a:lnTo>
                    <a:pt x="72972" y="12144"/>
                  </a:lnTo>
                  <a:lnTo>
                    <a:pt x="32338" y="12144"/>
                  </a:lnTo>
                  <a:lnTo>
                    <a:pt x="0" y="0"/>
                  </a:lnTo>
                  <a:lnTo>
                    <a:pt x="52655" y="109318"/>
                  </a:lnTo>
                  <a:lnTo>
                    <a:pt x="109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772525" y="4695756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719870" y="5271457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109543" y="0"/>
                  </a:moveTo>
                  <a:lnTo>
                    <a:pt x="72972" y="12144"/>
                  </a:lnTo>
                  <a:lnTo>
                    <a:pt x="32507" y="12144"/>
                  </a:lnTo>
                  <a:lnTo>
                    <a:pt x="0" y="0"/>
                  </a:lnTo>
                  <a:lnTo>
                    <a:pt x="52655" y="109318"/>
                  </a:lnTo>
                  <a:lnTo>
                    <a:pt x="1095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91725" y="4695756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938392" y="5271457"/>
              <a:ext cx="110489" cy="109855"/>
            </a:xfrm>
            <a:custGeom>
              <a:avLst/>
              <a:gdLst/>
              <a:ahLst/>
              <a:cxnLst/>
              <a:rect l="l" t="t" r="r" b="b"/>
              <a:pathLst>
                <a:path w="110489" h="109854">
                  <a:moveTo>
                    <a:pt x="110051" y="0"/>
                  </a:moveTo>
                  <a:lnTo>
                    <a:pt x="73480" y="12144"/>
                  </a:lnTo>
                  <a:lnTo>
                    <a:pt x="32507" y="12144"/>
                  </a:lnTo>
                  <a:lnTo>
                    <a:pt x="0" y="0"/>
                  </a:lnTo>
                  <a:lnTo>
                    <a:pt x="53332" y="109318"/>
                  </a:lnTo>
                  <a:lnTo>
                    <a:pt x="110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81459" y="4393326"/>
              <a:ext cx="788670" cy="288290"/>
            </a:xfrm>
            <a:custGeom>
              <a:avLst/>
              <a:gdLst/>
              <a:ahLst/>
              <a:cxnLst/>
              <a:rect l="l" t="t" r="r" b="b"/>
              <a:pathLst>
                <a:path w="788669" h="288289">
                  <a:moveTo>
                    <a:pt x="0" y="0"/>
                  </a:moveTo>
                  <a:lnTo>
                    <a:pt x="788340" y="288222"/>
                  </a:lnTo>
                </a:path>
              </a:pathLst>
            </a:custGeom>
            <a:ln w="4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39357" y="4638586"/>
              <a:ext cx="77470" cy="65405"/>
            </a:xfrm>
            <a:custGeom>
              <a:avLst/>
              <a:gdLst/>
              <a:ahLst/>
              <a:cxnLst/>
              <a:rect l="l" t="t" r="r" b="b"/>
              <a:pathLst>
                <a:path w="77469" h="65404">
                  <a:moveTo>
                    <a:pt x="24363" y="0"/>
                  </a:moveTo>
                  <a:lnTo>
                    <a:pt x="20300" y="24695"/>
                  </a:lnTo>
                  <a:lnTo>
                    <a:pt x="12190" y="49051"/>
                  </a:lnTo>
                  <a:lnTo>
                    <a:pt x="0" y="65289"/>
                  </a:lnTo>
                  <a:lnTo>
                    <a:pt x="77137" y="57170"/>
                  </a:lnTo>
                  <a:lnTo>
                    <a:pt x="24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22342" y="4089255"/>
              <a:ext cx="914400" cy="608965"/>
            </a:xfrm>
            <a:custGeom>
              <a:avLst/>
              <a:gdLst/>
              <a:ahLst/>
              <a:cxnLst/>
              <a:rect l="l" t="t" r="r" b="b"/>
              <a:pathLst>
                <a:path w="914400" h="608964">
                  <a:moveTo>
                    <a:pt x="914188" y="0"/>
                  </a:moveTo>
                  <a:lnTo>
                    <a:pt x="0" y="0"/>
                  </a:lnTo>
                  <a:lnTo>
                    <a:pt x="0" y="608531"/>
                  </a:lnTo>
                  <a:lnTo>
                    <a:pt x="914188" y="608531"/>
                  </a:lnTo>
                  <a:lnTo>
                    <a:pt x="914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3365217" y="4236481"/>
            <a:ext cx="378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00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583908" y="4236481"/>
            <a:ext cx="379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01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802939" y="4236481"/>
            <a:ext cx="379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21969" y="4236481"/>
            <a:ext cx="378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11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422342" y="4089255"/>
            <a:ext cx="914400" cy="608965"/>
          </a:xfrm>
          <a:prstGeom prst="rect">
            <a:avLst/>
          </a:prstGeom>
          <a:ln w="405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3185" marR="76200" indent="48260" algn="just">
              <a:lnSpc>
                <a:spcPct val="101299"/>
              </a:lnSpc>
              <a:spcBef>
                <a:spcPts val="355"/>
              </a:spcBef>
            </a:pPr>
            <a:r>
              <a:rPr sz="1050" spc="-10" dirty="0">
                <a:latin typeface="Arial MT"/>
                <a:cs typeface="Arial MT"/>
              </a:rPr>
              <a:t>Profondeur </a:t>
            </a:r>
            <a:r>
              <a:rPr sz="1050" spc="-25" dirty="0">
                <a:latin typeface="Arial MT"/>
                <a:cs typeface="Arial MT"/>
              </a:rPr>
              <a:t>globale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répertoire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(d)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2944233" y="5701440"/>
            <a:ext cx="77470" cy="65405"/>
          </a:xfrm>
          <a:custGeom>
            <a:avLst/>
            <a:gdLst/>
            <a:ahLst/>
            <a:cxnLst/>
            <a:rect l="l" t="t" r="r" b="b"/>
            <a:pathLst>
              <a:path w="77469" h="65404">
                <a:moveTo>
                  <a:pt x="24346" y="0"/>
                </a:moveTo>
                <a:lnTo>
                  <a:pt x="24346" y="24289"/>
                </a:lnTo>
                <a:lnTo>
                  <a:pt x="16236" y="48595"/>
                </a:lnTo>
                <a:lnTo>
                  <a:pt x="0" y="64782"/>
                </a:lnTo>
                <a:lnTo>
                  <a:pt x="77120" y="60739"/>
                </a:lnTo>
                <a:lnTo>
                  <a:pt x="24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1422342" y="5001807"/>
            <a:ext cx="1555115" cy="744855"/>
            <a:chOff x="1422342" y="5001807"/>
            <a:chExt cx="1555115" cy="744855"/>
          </a:xfrm>
        </p:grpSpPr>
        <p:sp>
          <p:nvSpPr>
            <p:cNvPr id="82" name="object 82"/>
            <p:cNvSpPr/>
            <p:nvPr/>
          </p:nvSpPr>
          <p:spPr>
            <a:xfrm>
              <a:off x="1881459" y="5305878"/>
              <a:ext cx="1093470" cy="438150"/>
            </a:xfrm>
            <a:custGeom>
              <a:avLst/>
              <a:gdLst/>
              <a:ahLst/>
              <a:cxnLst/>
              <a:rect l="l" t="t" r="r" b="b"/>
              <a:pathLst>
                <a:path w="1093470" h="438150">
                  <a:moveTo>
                    <a:pt x="0" y="0"/>
                  </a:moveTo>
                  <a:lnTo>
                    <a:pt x="1093216" y="438067"/>
                  </a:lnTo>
                </a:path>
              </a:pathLst>
            </a:custGeom>
            <a:ln w="4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22342" y="5001807"/>
              <a:ext cx="914400" cy="608330"/>
            </a:xfrm>
            <a:custGeom>
              <a:avLst/>
              <a:gdLst/>
              <a:ahLst/>
              <a:cxnLst/>
              <a:rect l="l" t="t" r="r" b="b"/>
              <a:pathLst>
                <a:path w="914400" h="608329">
                  <a:moveTo>
                    <a:pt x="914188" y="0"/>
                  </a:moveTo>
                  <a:lnTo>
                    <a:pt x="0" y="0"/>
                  </a:lnTo>
                  <a:lnTo>
                    <a:pt x="0" y="608125"/>
                  </a:lnTo>
                  <a:lnTo>
                    <a:pt x="914188" y="608125"/>
                  </a:lnTo>
                  <a:lnTo>
                    <a:pt x="914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1422342" y="5001807"/>
            <a:ext cx="914400" cy="608330"/>
          </a:xfrm>
          <a:prstGeom prst="rect">
            <a:avLst/>
          </a:prstGeom>
          <a:ln w="405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31445" marR="128905" algn="ctr">
              <a:lnSpc>
                <a:spcPct val="101299"/>
              </a:lnSpc>
              <a:spcBef>
                <a:spcPts val="355"/>
              </a:spcBef>
            </a:pPr>
            <a:r>
              <a:rPr sz="1050" spc="-25" dirty="0">
                <a:latin typeface="Arial MT"/>
                <a:cs typeface="Arial MT"/>
              </a:rPr>
              <a:t>Profondeur locale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</a:t>
            </a:r>
            <a:r>
              <a:rPr sz="1050" spc="-20" dirty="0">
                <a:latin typeface="Arial MT"/>
                <a:cs typeface="Arial MT"/>
              </a:rPr>
              <a:t>bloc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772525" y="4695757"/>
            <a:ext cx="2437765" cy="304165"/>
          </a:xfrm>
          <a:custGeom>
            <a:avLst/>
            <a:gdLst/>
            <a:ahLst/>
            <a:cxnLst/>
            <a:rect l="l" t="t" r="r" b="b"/>
            <a:pathLst>
              <a:path w="2437765" h="304164">
                <a:moveTo>
                  <a:pt x="2437722" y="0"/>
                </a:moveTo>
                <a:lnTo>
                  <a:pt x="2437722" y="304020"/>
                </a:lnTo>
                <a:lnTo>
                  <a:pt x="0" y="304020"/>
                </a:lnTo>
              </a:path>
            </a:pathLst>
          </a:custGeom>
          <a:ln w="1216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410450" y="1676400"/>
            <a:ext cx="114300" cy="1066800"/>
          </a:xfrm>
          <a:custGeom>
            <a:avLst/>
            <a:gdLst/>
            <a:ahLst/>
            <a:cxnLst/>
            <a:rect l="l" t="t" r="r" b="b"/>
            <a:pathLst>
              <a:path w="114300" h="1066800">
                <a:moveTo>
                  <a:pt x="76200" y="95250"/>
                </a:moveTo>
                <a:lnTo>
                  <a:pt x="38100" y="95250"/>
                </a:lnTo>
                <a:lnTo>
                  <a:pt x="38100" y="1066800"/>
                </a:lnTo>
                <a:lnTo>
                  <a:pt x="76200" y="1066800"/>
                </a:lnTo>
                <a:lnTo>
                  <a:pt x="76200" y="95250"/>
                </a:lnTo>
                <a:close/>
              </a:path>
              <a:path w="114300" h="1066800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1066800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7700009" y="1776730"/>
            <a:ext cx="74612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Sens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de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lecture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des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indices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5997" y="370042"/>
            <a:ext cx="6955790" cy="102361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50465" marR="30480" indent="-2413000">
              <a:lnSpc>
                <a:spcPts val="3840"/>
              </a:lnSpc>
              <a:spcBef>
                <a:spcPts val="37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8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350" b="1" i="1" spc="-30" dirty="0">
                <a:solidFill>
                  <a:srgbClr val="0000FF"/>
                </a:solidFill>
                <a:latin typeface="Verdana"/>
                <a:cs typeface="Verdana"/>
              </a:rPr>
              <a:t>h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(clé)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</a:t>
            </a:r>
            <a:r>
              <a:rPr sz="3200" b="1" spc="-6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10011</a:t>
            </a:r>
            <a:r>
              <a:rPr sz="3150" b="1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r>
              <a:rPr sz="3150" b="1" spc="-52" baseline="-21164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avec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répertoire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1037" y="3733800"/>
            <a:ext cx="8086725" cy="533400"/>
            <a:chOff x="681037" y="3733800"/>
            <a:chExt cx="8086725" cy="533400"/>
          </a:xfrm>
        </p:grpSpPr>
        <p:sp>
          <p:nvSpPr>
            <p:cNvPr id="4" name="object 4"/>
            <p:cNvSpPr/>
            <p:nvPr/>
          </p:nvSpPr>
          <p:spPr>
            <a:xfrm>
              <a:off x="685800" y="3962400"/>
              <a:ext cx="8077200" cy="0"/>
            </a:xfrm>
            <a:custGeom>
              <a:avLst/>
              <a:gdLst/>
              <a:ahLst/>
              <a:cxnLst/>
              <a:rect l="l" t="t" r="r" b="b"/>
              <a:pathLst>
                <a:path w="8077200">
                  <a:moveTo>
                    <a:pt x="0" y="0"/>
                  </a:moveTo>
                  <a:lnTo>
                    <a:pt x="8077200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0650" y="3733800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67154" y="3699170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764179" y="3077718"/>
          <a:ext cx="1141095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11000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086201" y="3699170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982787" y="3077718"/>
          <a:ext cx="1141730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10001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304893" y="3699170"/>
            <a:ext cx="593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201817" y="3077718"/>
          <a:ext cx="1141730" cy="607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/>
                <a:gridCol w="836930"/>
              </a:tblGrid>
              <a:tr h="30353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01010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129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01110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477557" y="2183369"/>
            <a:ext cx="5180965" cy="304165"/>
          </a:xfrm>
          <a:custGeom>
            <a:avLst/>
            <a:gdLst/>
            <a:ahLst/>
            <a:cxnLst/>
            <a:rect l="l" t="t" r="r" b="b"/>
            <a:pathLst>
              <a:path w="5180965" h="304164">
                <a:moveTo>
                  <a:pt x="304876" y="304071"/>
                </a:moveTo>
                <a:lnTo>
                  <a:pt x="1523517" y="304071"/>
                </a:lnTo>
                <a:lnTo>
                  <a:pt x="1523517" y="0"/>
                </a:lnTo>
                <a:lnTo>
                  <a:pt x="304876" y="0"/>
                </a:lnTo>
                <a:lnTo>
                  <a:pt x="304876" y="304071"/>
                </a:lnTo>
                <a:close/>
              </a:path>
              <a:path w="5180965" h="304164">
                <a:moveTo>
                  <a:pt x="1523483" y="304071"/>
                </a:moveTo>
                <a:lnTo>
                  <a:pt x="2742530" y="304071"/>
                </a:lnTo>
                <a:lnTo>
                  <a:pt x="2742530" y="0"/>
                </a:lnTo>
                <a:lnTo>
                  <a:pt x="1523483" y="0"/>
                </a:lnTo>
                <a:lnTo>
                  <a:pt x="1523483" y="304071"/>
                </a:lnTo>
                <a:close/>
              </a:path>
              <a:path w="5180965" h="304164">
                <a:moveTo>
                  <a:pt x="2742513" y="304071"/>
                </a:moveTo>
                <a:lnTo>
                  <a:pt x="3961561" y="304071"/>
                </a:lnTo>
                <a:lnTo>
                  <a:pt x="3961561" y="0"/>
                </a:lnTo>
                <a:lnTo>
                  <a:pt x="2742513" y="0"/>
                </a:lnTo>
                <a:lnTo>
                  <a:pt x="2742513" y="304071"/>
                </a:lnTo>
                <a:close/>
              </a:path>
              <a:path w="5180965" h="304164">
                <a:moveTo>
                  <a:pt x="3961544" y="304071"/>
                </a:moveTo>
                <a:lnTo>
                  <a:pt x="5180591" y="304071"/>
                </a:lnTo>
                <a:lnTo>
                  <a:pt x="5180591" y="0"/>
                </a:lnTo>
                <a:lnTo>
                  <a:pt x="3961544" y="0"/>
                </a:lnTo>
                <a:lnTo>
                  <a:pt x="3961544" y="304071"/>
                </a:lnTo>
                <a:close/>
              </a:path>
              <a:path w="5180965" h="304164">
                <a:moveTo>
                  <a:pt x="0" y="304071"/>
                </a:moveTo>
                <a:lnTo>
                  <a:pt x="304859" y="304071"/>
                </a:lnTo>
                <a:lnTo>
                  <a:pt x="304859" y="0"/>
                </a:lnTo>
                <a:lnTo>
                  <a:pt x="0" y="0"/>
                </a:lnTo>
                <a:lnTo>
                  <a:pt x="0" y="304071"/>
                </a:lnTo>
                <a:close/>
              </a:path>
            </a:pathLst>
          </a:custGeom>
          <a:ln w="121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83643" y="2178433"/>
            <a:ext cx="2927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60542" y="1727118"/>
            <a:ext cx="4626610" cy="1291590"/>
            <a:chOff x="2260542" y="1727118"/>
            <a:chExt cx="4626610" cy="1291590"/>
          </a:xfrm>
        </p:grpSpPr>
        <p:sp>
          <p:nvSpPr>
            <p:cNvPr id="15" name="object 15"/>
            <p:cNvSpPr/>
            <p:nvPr/>
          </p:nvSpPr>
          <p:spPr>
            <a:xfrm>
              <a:off x="4391695" y="2333620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39039" y="290932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5">
                  <a:moveTo>
                    <a:pt x="109543" y="0"/>
                  </a:moveTo>
                  <a:lnTo>
                    <a:pt x="72972" y="12144"/>
                  </a:lnTo>
                  <a:lnTo>
                    <a:pt x="32338" y="12144"/>
                  </a:lnTo>
                  <a:lnTo>
                    <a:pt x="0" y="0"/>
                  </a:lnTo>
                  <a:lnTo>
                    <a:pt x="52655" y="109318"/>
                  </a:lnTo>
                  <a:lnTo>
                    <a:pt x="109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0725" y="2333620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58070" y="290932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5">
                  <a:moveTo>
                    <a:pt x="109543" y="0"/>
                  </a:moveTo>
                  <a:lnTo>
                    <a:pt x="72972" y="12144"/>
                  </a:lnTo>
                  <a:lnTo>
                    <a:pt x="32507" y="12144"/>
                  </a:lnTo>
                  <a:lnTo>
                    <a:pt x="0" y="0"/>
                  </a:lnTo>
                  <a:lnTo>
                    <a:pt x="52655" y="109318"/>
                  </a:lnTo>
                  <a:lnTo>
                    <a:pt x="10954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29925" y="2333620"/>
              <a:ext cx="0" cy="600075"/>
            </a:xfrm>
            <a:custGeom>
              <a:avLst/>
              <a:gdLst/>
              <a:ahLst/>
              <a:cxnLst/>
              <a:rect l="l" t="t" r="r" b="b"/>
              <a:pathLst>
                <a:path h="600075">
                  <a:moveTo>
                    <a:pt x="0" y="0"/>
                  </a:moveTo>
                  <a:lnTo>
                    <a:pt x="0" y="599989"/>
                  </a:lnTo>
                </a:path>
              </a:pathLst>
            </a:custGeom>
            <a:ln w="121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76592" y="2909321"/>
              <a:ext cx="110489" cy="109855"/>
            </a:xfrm>
            <a:custGeom>
              <a:avLst/>
              <a:gdLst/>
              <a:ahLst/>
              <a:cxnLst/>
              <a:rect l="l" t="t" r="r" b="b"/>
              <a:pathLst>
                <a:path w="110490" h="109855">
                  <a:moveTo>
                    <a:pt x="110051" y="0"/>
                  </a:moveTo>
                  <a:lnTo>
                    <a:pt x="73480" y="12144"/>
                  </a:lnTo>
                  <a:lnTo>
                    <a:pt x="32507" y="12144"/>
                  </a:lnTo>
                  <a:lnTo>
                    <a:pt x="0" y="0"/>
                  </a:lnTo>
                  <a:lnTo>
                    <a:pt x="53332" y="109318"/>
                  </a:lnTo>
                  <a:lnTo>
                    <a:pt x="1100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19659" y="2031189"/>
              <a:ext cx="788670" cy="288290"/>
            </a:xfrm>
            <a:custGeom>
              <a:avLst/>
              <a:gdLst/>
              <a:ahLst/>
              <a:cxnLst/>
              <a:rect l="l" t="t" r="r" b="b"/>
              <a:pathLst>
                <a:path w="788670" h="288289">
                  <a:moveTo>
                    <a:pt x="0" y="0"/>
                  </a:moveTo>
                  <a:lnTo>
                    <a:pt x="788340" y="288222"/>
                  </a:lnTo>
                </a:path>
              </a:pathLst>
            </a:custGeom>
            <a:ln w="4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77557" y="2276449"/>
              <a:ext cx="77470" cy="65405"/>
            </a:xfrm>
            <a:custGeom>
              <a:avLst/>
              <a:gdLst/>
              <a:ahLst/>
              <a:cxnLst/>
              <a:rect l="l" t="t" r="r" b="b"/>
              <a:pathLst>
                <a:path w="77470" h="65405">
                  <a:moveTo>
                    <a:pt x="24363" y="0"/>
                  </a:moveTo>
                  <a:lnTo>
                    <a:pt x="20300" y="24695"/>
                  </a:lnTo>
                  <a:lnTo>
                    <a:pt x="12190" y="49051"/>
                  </a:lnTo>
                  <a:lnTo>
                    <a:pt x="0" y="65289"/>
                  </a:lnTo>
                  <a:lnTo>
                    <a:pt x="77137" y="57170"/>
                  </a:lnTo>
                  <a:lnTo>
                    <a:pt x="24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60542" y="1727118"/>
              <a:ext cx="914400" cy="608965"/>
            </a:xfrm>
            <a:custGeom>
              <a:avLst/>
              <a:gdLst/>
              <a:ahLst/>
              <a:cxnLst/>
              <a:rect l="l" t="t" r="r" b="b"/>
              <a:pathLst>
                <a:path w="914400" h="608964">
                  <a:moveTo>
                    <a:pt x="914188" y="0"/>
                  </a:moveTo>
                  <a:lnTo>
                    <a:pt x="0" y="0"/>
                  </a:lnTo>
                  <a:lnTo>
                    <a:pt x="0" y="608531"/>
                  </a:lnTo>
                  <a:lnTo>
                    <a:pt x="914188" y="608531"/>
                  </a:lnTo>
                  <a:lnTo>
                    <a:pt x="914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03417" y="1874344"/>
            <a:ext cx="378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00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2108" y="1874344"/>
            <a:ext cx="379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01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41139" y="1874344"/>
            <a:ext cx="3790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60169" y="1874344"/>
            <a:ext cx="378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Arial MT"/>
                <a:cs typeface="Arial MT"/>
              </a:rPr>
              <a:t>11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60542" y="1727118"/>
            <a:ext cx="914400" cy="608965"/>
          </a:xfrm>
          <a:prstGeom prst="rect">
            <a:avLst/>
          </a:prstGeom>
          <a:ln w="405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3185" marR="76200" indent="48260" algn="just">
              <a:lnSpc>
                <a:spcPct val="101299"/>
              </a:lnSpc>
              <a:spcBef>
                <a:spcPts val="355"/>
              </a:spcBef>
            </a:pPr>
            <a:r>
              <a:rPr sz="1050" spc="-10" dirty="0">
                <a:latin typeface="Arial MT"/>
                <a:cs typeface="Arial MT"/>
              </a:rPr>
              <a:t>Profondeur </a:t>
            </a:r>
            <a:r>
              <a:rPr sz="1050" spc="-25" dirty="0">
                <a:latin typeface="Arial MT"/>
                <a:cs typeface="Arial MT"/>
              </a:rPr>
              <a:t>globale</a:t>
            </a:r>
            <a:r>
              <a:rPr sz="1050" spc="-3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répertoire</a:t>
            </a:r>
            <a:r>
              <a:rPr sz="1050" spc="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(d)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82433" y="3339303"/>
            <a:ext cx="77470" cy="65405"/>
          </a:xfrm>
          <a:custGeom>
            <a:avLst/>
            <a:gdLst/>
            <a:ahLst/>
            <a:cxnLst/>
            <a:rect l="l" t="t" r="r" b="b"/>
            <a:pathLst>
              <a:path w="77470" h="65404">
                <a:moveTo>
                  <a:pt x="24346" y="0"/>
                </a:moveTo>
                <a:lnTo>
                  <a:pt x="24346" y="24289"/>
                </a:lnTo>
                <a:lnTo>
                  <a:pt x="16236" y="48595"/>
                </a:lnTo>
                <a:lnTo>
                  <a:pt x="0" y="64782"/>
                </a:lnTo>
                <a:lnTo>
                  <a:pt x="77120" y="60739"/>
                </a:lnTo>
                <a:lnTo>
                  <a:pt x="243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2260542" y="2639670"/>
            <a:ext cx="1555115" cy="744855"/>
            <a:chOff x="2260542" y="2639670"/>
            <a:chExt cx="1555115" cy="744855"/>
          </a:xfrm>
        </p:grpSpPr>
        <p:sp>
          <p:nvSpPr>
            <p:cNvPr id="31" name="object 31"/>
            <p:cNvSpPr/>
            <p:nvPr/>
          </p:nvSpPr>
          <p:spPr>
            <a:xfrm>
              <a:off x="2719659" y="2943742"/>
              <a:ext cx="1093470" cy="438150"/>
            </a:xfrm>
            <a:custGeom>
              <a:avLst/>
              <a:gdLst/>
              <a:ahLst/>
              <a:cxnLst/>
              <a:rect l="l" t="t" r="r" b="b"/>
              <a:pathLst>
                <a:path w="1093470" h="438150">
                  <a:moveTo>
                    <a:pt x="0" y="0"/>
                  </a:moveTo>
                  <a:lnTo>
                    <a:pt x="1093216" y="438067"/>
                  </a:lnTo>
                </a:path>
              </a:pathLst>
            </a:custGeom>
            <a:ln w="40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60542" y="2639670"/>
              <a:ext cx="914400" cy="608330"/>
            </a:xfrm>
            <a:custGeom>
              <a:avLst/>
              <a:gdLst/>
              <a:ahLst/>
              <a:cxnLst/>
              <a:rect l="l" t="t" r="r" b="b"/>
              <a:pathLst>
                <a:path w="914400" h="608330">
                  <a:moveTo>
                    <a:pt x="914188" y="0"/>
                  </a:moveTo>
                  <a:lnTo>
                    <a:pt x="0" y="0"/>
                  </a:lnTo>
                  <a:lnTo>
                    <a:pt x="0" y="608125"/>
                  </a:lnTo>
                  <a:lnTo>
                    <a:pt x="914188" y="608125"/>
                  </a:lnTo>
                  <a:lnTo>
                    <a:pt x="9141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260542" y="2639670"/>
            <a:ext cx="914400" cy="608330"/>
          </a:xfrm>
          <a:prstGeom prst="rect">
            <a:avLst/>
          </a:prstGeom>
          <a:ln w="405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31445" marR="128905" algn="ctr">
              <a:lnSpc>
                <a:spcPct val="101299"/>
              </a:lnSpc>
              <a:spcBef>
                <a:spcPts val="355"/>
              </a:spcBef>
            </a:pPr>
            <a:r>
              <a:rPr sz="1050" spc="-25" dirty="0">
                <a:latin typeface="Arial MT"/>
                <a:cs typeface="Arial MT"/>
              </a:rPr>
              <a:t>Profondeur locale</a:t>
            </a:r>
            <a:r>
              <a:rPr sz="1050" spc="-2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</a:t>
            </a:r>
            <a:r>
              <a:rPr sz="1050" spc="-20" dirty="0">
                <a:latin typeface="Arial MT"/>
                <a:cs typeface="Arial MT"/>
              </a:rPr>
              <a:t>bloc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10725" y="2333620"/>
            <a:ext cx="2437765" cy="304165"/>
          </a:xfrm>
          <a:custGeom>
            <a:avLst/>
            <a:gdLst/>
            <a:ahLst/>
            <a:cxnLst/>
            <a:rect l="l" t="t" r="r" b="b"/>
            <a:pathLst>
              <a:path w="2437765" h="304164">
                <a:moveTo>
                  <a:pt x="2437722" y="0"/>
                </a:moveTo>
                <a:lnTo>
                  <a:pt x="2437722" y="304020"/>
                </a:lnTo>
                <a:lnTo>
                  <a:pt x="0" y="304020"/>
                </a:lnTo>
              </a:path>
            </a:pathLst>
          </a:custGeom>
          <a:ln w="1216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824929" y="6101007"/>
            <a:ext cx="6045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719614" y="5467196"/>
          <a:ext cx="1164590" cy="61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515"/>
                <a:gridCol w="854075"/>
              </a:tblGrid>
              <a:tr h="309880">
                <a:tc row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11000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5068777" y="6101007"/>
            <a:ext cx="6045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4963012" y="5467196"/>
          <a:ext cx="1165225" cy="61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/>
                <a:gridCol w="854075"/>
              </a:tblGrid>
              <a:tr h="309880">
                <a:tc rowSpan="2"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10001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9" name="object 39"/>
          <p:cNvSpPr txBox="1"/>
          <p:nvPr/>
        </p:nvSpPr>
        <p:spPr>
          <a:xfrm>
            <a:off x="6312261" y="6101007"/>
            <a:ext cx="6045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2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6206842" y="5467196"/>
          <a:ext cx="1165225" cy="61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/>
                <a:gridCol w="854075"/>
              </a:tblGrid>
              <a:tr h="309880">
                <a:tc row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01010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01110</a:t>
                      </a:r>
                      <a:r>
                        <a:rPr sz="1575" spc="-15" baseline="-29100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3420941" y="4549218"/>
          <a:ext cx="5282562" cy="763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/>
                <a:gridCol w="621665"/>
                <a:gridCol w="621665"/>
                <a:gridCol w="621665"/>
                <a:gridCol w="621030"/>
                <a:gridCol w="621665"/>
                <a:gridCol w="621029"/>
                <a:gridCol w="621029"/>
                <a:gridCol w="621664"/>
              </a:tblGrid>
              <a:tr h="153035">
                <a:tc row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6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465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4306156" y="5295521"/>
            <a:ext cx="112395" cy="111760"/>
          </a:xfrm>
          <a:custGeom>
            <a:avLst/>
            <a:gdLst/>
            <a:ahLst/>
            <a:cxnLst/>
            <a:rect l="l" t="t" r="r" b="b"/>
            <a:pathLst>
              <a:path w="112395" h="111760">
                <a:moveTo>
                  <a:pt x="111771" y="0"/>
                </a:moveTo>
                <a:lnTo>
                  <a:pt x="74457" y="12381"/>
                </a:lnTo>
                <a:lnTo>
                  <a:pt x="32996" y="12381"/>
                </a:lnTo>
                <a:lnTo>
                  <a:pt x="0" y="0"/>
                </a:lnTo>
                <a:lnTo>
                  <a:pt x="53726" y="111448"/>
                </a:lnTo>
                <a:lnTo>
                  <a:pt x="111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49986" y="5295521"/>
            <a:ext cx="112395" cy="111760"/>
          </a:xfrm>
          <a:custGeom>
            <a:avLst/>
            <a:gdLst/>
            <a:ahLst/>
            <a:cxnLst/>
            <a:rect l="l" t="t" r="r" b="b"/>
            <a:pathLst>
              <a:path w="112395" h="111760">
                <a:moveTo>
                  <a:pt x="111771" y="0"/>
                </a:moveTo>
                <a:lnTo>
                  <a:pt x="74457" y="12381"/>
                </a:lnTo>
                <a:lnTo>
                  <a:pt x="33168" y="12381"/>
                </a:lnTo>
                <a:lnTo>
                  <a:pt x="0" y="0"/>
                </a:lnTo>
                <a:lnTo>
                  <a:pt x="53726" y="111448"/>
                </a:lnTo>
                <a:lnTo>
                  <a:pt x="111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793297" y="5295521"/>
            <a:ext cx="112395" cy="111760"/>
          </a:xfrm>
          <a:custGeom>
            <a:avLst/>
            <a:gdLst/>
            <a:ahLst/>
            <a:cxnLst/>
            <a:rect l="l" t="t" r="r" b="b"/>
            <a:pathLst>
              <a:path w="112395" h="111760">
                <a:moveTo>
                  <a:pt x="112290" y="0"/>
                </a:moveTo>
                <a:lnTo>
                  <a:pt x="74975" y="12381"/>
                </a:lnTo>
                <a:lnTo>
                  <a:pt x="33168" y="12381"/>
                </a:lnTo>
                <a:lnTo>
                  <a:pt x="0" y="0"/>
                </a:lnTo>
                <a:lnTo>
                  <a:pt x="54417" y="111448"/>
                </a:lnTo>
                <a:lnTo>
                  <a:pt x="112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037300" y="5295521"/>
            <a:ext cx="112395" cy="111760"/>
          </a:xfrm>
          <a:custGeom>
            <a:avLst/>
            <a:gdLst/>
            <a:ahLst/>
            <a:cxnLst/>
            <a:rect l="l" t="t" r="r" b="b"/>
            <a:pathLst>
              <a:path w="112395" h="111760">
                <a:moveTo>
                  <a:pt x="111771" y="0"/>
                </a:moveTo>
                <a:lnTo>
                  <a:pt x="74457" y="12381"/>
                </a:lnTo>
                <a:lnTo>
                  <a:pt x="32996" y="12381"/>
                </a:lnTo>
                <a:lnTo>
                  <a:pt x="0" y="0"/>
                </a:lnTo>
                <a:lnTo>
                  <a:pt x="53726" y="111448"/>
                </a:lnTo>
                <a:lnTo>
                  <a:pt x="111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4168549" y="4240627"/>
            <a:ext cx="3848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-25" dirty="0">
                <a:latin typeface="Arial MT"/>
                <a:cs typeface="Arial MT"/>
              </a:rPr>
              <a:t>00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12034" y="4240627"/>
            <a:ext cx="3848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-25" dirty="0">
                <a:latin typeface="Arial MT"/>
                <a:cs typeface="Arial MT"/>
              </a:rPr>
              <a:t>01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55864" y="4240627"/>
            <a:ext cx="3848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-25" dirty="0">
                <a:latin typeface="Arial MT"/>
                <a:cs typeface="Arial MT"/>
              </a:rPr>
              <a:t>10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899693" y="4240627"/>
            <a:ext cx="3848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600" spc="-25" dirty="0">
                <a:latin typeface="Arial MT"/>
                <a:cs typeface="Arial MT"/>
              </a:rPr>
              <a:t>11</a:t>
            </a:r>
            <a:r>
              <a:rPr sz="1575" spc="-37" baseline="-29100" dirty="0">
                <a:latin typeface="Arial MT"/>
                <a:cs typeface="Arial MT"/>
              </a:rPr>
              <a:t>2</a:t>
            </a:r>
            <a:endParaRPr sz="1575" baseline="-29100">
              <a:latin typeface="Arial MT"/>
              <a:cs typeface="Arial M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427148" y="4650319"/>
            <a:ext cx="78740" cy="66675"/>
          </a:xfrm>
          <a:custGeom>
            <a:avLst/>
            <a:gdLst/>
            <a:ahLst/>
            <a:cxnLst/>
            <a:rect l="l" t="t" r="r" b="b"/>
            <a:pathLst>
              <a:path w="78739" h="66675">
                <a:moveTo>
                  <a:pt x="24859" y="0"/>
                </a:moveTo>
                <a:lnTo>
                  <a:pt x="20713" y="25176"/>
                </a:lnTo>
                <a:lnTo>
                  <a:pt x="12438" y="50007"/>
                </a:lnTo>
                <a:lnTo>
                  <a:pt x="0" y="66561"/>
                </a:lnTo>
                <a:lnTo>
                  <a:pt x="78706" y="58284"/>
                </a:lnTo>
                <a:lnTo>
                  <a:pt x="24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2185374" y="4090285"/>
            <a:ext cx="1275080" cy="620395"/>
            <a:chOff x="2185374" y="4090285"/>
            <a:chExt cx="1275080" cy="620395"/>
          </a:xfrm>
        </p:grpSpPr>
        <p:sp>
          <p:nvSpPr>
            <p:cNvPr id="52" name="object 52"/>
            <p:cNvSpPr/>
            <p:nvPr/>
          </p:nvSpPr>
          <p:spPr>
            <a:xfrm>
              <a:off x="2653831" y="4400281"/>
              <a:ext cx="804545" cy="294005"/>
            </a:xfrm>
            <a:custGeom>
              <a:avLst/>
              <a:gdLst/>
              <a:ahLst/>
              <a:cxnLst/>
              <a:rect l="l" t="t" r="r" b="b"/>
              <a:pathLst>
                <a:path w="804545" h="294004">
                  <a:moveTo>
                    <a:pt x="0" y="0"/>
                  </a:moveTo>
                  <a:lnTo>
                    <a:pt x="804377" y="293838"/>
                  </a:lnTo>
                </a:path>
              </a:pathLst>
            </a:custGeom>
            <a:ln w="4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185374" y="4090285"/>
              <a:ext cx="932815" cy="620395"/>
            </a:xfrm>
            <a:custGeom>
              <a:avLst/>
              <a:gdLst/>
              <a:ahLst/>
              <a:cxnLst/>
              <a:rect l="l" t="t" r="r" b="b"/>
              <a:pathLst>
                <a:path w="932814" h="620395">
                  <a:moveTo>
                    <a:pt x="932786" y="0"/>
                  </a:moveTo>
                  <a:lnTo>
                    <a:pt x="0" y="0"/>
                  </a:lnTo>
                  <a:lnTo>
                    <a:pt x="0" y="620388"/>
                  </a:lnTo>
                  <a:lnTo>
                    <a:pt x="932786" y="620388"/>
                  </a:lnTo>
                  <a:lnTo>
                    <a:pt x="932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185374" y="4090285"/>
            <a:ext cx="932815" cy="620395"/>
          </a:xfrm>
          <a:prstGeom prst="rect">
            <a:avLst/>
          </a:prstGeom>
          <a:ln w="413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84455" marR="77470" indent="49530" algn="just">
              <a:lnSpc>
                <a:spcPct val="103299"/>
              </a:lnSpc>
              <a:spcBef>
                <a:spcPts val="355"/>
              </a:spcBef>
            </a:pPr>
            <a:r>
              <a:rPr sz="1050" spc="-10" dirty="0">
                <a:latin typeface="Arial MT"/>
                <a:cs typeface="Arial MT"/>
              </a:rPr>
              <a:t>Profondeur </a:t>
            </a:r>
            <a:r>
              <a:rPr sz="1050" spc="-20" dirty="0">
                <a:latin typeface="Arial MT"/>
                <a:cs typeface="Arial MT"/>
              </a:rPr>
              <a:t>globale</a:t>
            </a:r>
            <a:r>
              <a:rPr sz="1050" spc="-1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</a:t>
            </a:r>
            <a:r>
              <a:rPr sz="1050" spc="-10" dirty="0">
                <a:latin typeface="Arial MT"/>
                <a:cs typeface="Arial MT"/>
              </a:rPr>
              <a:t>répertoire</a:t>
            </a:r>
            <a:r>
              <a:rPr sz="1050" spc="-55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(d)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738226" y="5733882"/>
            <a:ext cx="78740" cy="66040"/>
          </a:xfrm>
          <a:custGeom>
            <a:avLst/>
            <a:gdLst/>
            <a:ahLst/>
            <a:cxnLst/>
            <a:rect l="l" t="t" r="r" b="b"/>
            <a:pathLst>
              <a:path w="78739" h="66039">
                <a:moveTo>
                  <a:pt x="24842" y="0"/>
                </a:moveTo>
                <a:lnTo>
                  <a:pt x="24842" y="24762"/>
                </a:lnTo>
                <a:lnTo>
                  <a:pt x="16567" y="49542"/>
                </a:lnTo>
                <a:lnTo>
                  <a:pt x="0" y="66044"/>
                </a:lnTo>
                <a:lnTo>
                  <a:pt x="78689" y="61923"/>
                </a:lnTo>
                <a:lnTo>
                  <a:pt x="248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56"/>
          <p:cNvGrpSpPr/>
          <p:nvPr/>
        </p:nvGrpSpPr>
        <p:grpSpPr>
          <a:xfrm>
            <a:off x="2185374" y="5020617"/>
            <a:ext cx="1586230" cy="758825"/>
            <a:chOff x="2185374" y="5020617"/>
            <a:chExt cx="1586230" cy="758825"/>
          </a:xfrm>
        </p:grpSpPr>
        <p:sp>
          <p:nvSpPr>
            <p:cNvPr id="57" name="object 57"/>
            <p:cNvSpPr/>
            <p:nvPr/>
          </p:nvSpPr>
          <p:spPr>
            <a:xfrm>
              <a:off x="2653831" y="5330613"/>
              <a:ext cx="1115695" cy="447040"/>
            </a:xfrm>
            <a:custGeom>
              <a:avLst/>
              <a:gdLst/>
              <a:ahLst/>
              <a:cxnLst/>
              <a:rect l="l" t="t" r="r" b="b"/>
              <a:pathLst>
                <a:path w="1115695" h="447039">
                  <a:moveTo>
                    <a:pt x="0" y="0"/>
                  </a:moveTo>
                  <a:lnTo>
                    <a:pt x="1115456" y="446603"/>
                  </a:lnTo>
                </a:path>
              </a:pathLst>
            </a:custGeom>
            <a:ln w="41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85374" y="5020617"/>
              <a:ext cx="932815" cy="620395"/>
            </a:xfrm>
            <a:custGeom>
              <a:avLst/>
              <a:gdLst/>
              <a:ahLst/>
              <a:cxnLst/>
              <a:rect l="l" t="t" r="r" b="b"/>
              <a:pathLst>
                <a:path w="932814" h="620395">
                  <a:moveTo>
                    <a:pt x="932786" y="0"/>
                  </a:moveTo>
                  <a:lnTo>
                    <a:pt x="0" y="0"/>
                  </a:lnTo>
                  <a:lnTo>
                    <a:pt x="0" y="619974"/>
                  </a:lnTo>
                  <a:lnTo>
                    <a:pt x="932786" y="619974"/>
                  </a:lnTo>
                  <a:lnTo>
                    <a:pt x="9327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185374" y="5020617"/>
            <a:ext cx="932815" cy="620395"/>
          </a:xfrm>
          <a:prstGeom prst="rect">
            <a:avLst/>
          </a:prstGeom>
          <a:ln w="4136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133985" marR="131445" algn="ctr">
              <a:lnSpc>
                <a:spcPct val="103299"/>
              </a:lnSpc>
              <a:spcBef>
                <a:spcPts val="355"/>
              </a:spcBef>
            </a:pPr>
            <a:r>
              <a:rPr sz="1050" spc="-10" dirty="0">
                <a:latin typeface="Arial MT"/>
                <a:cs typeface="Arial MT"/>
              </a:rPr>
              <a:t>Profondeur locale</a:t>
            </a:r>
            <a:r>
              <a:rPr sz="1050" spc="-60" dirty="0">
                <a:latin typeface="Arial MT"/>
                <a:cs typeface="Arial MT"/>
              </a:rPr>
              <a:t> </a:t>
            </a:r>
            <a:r>
              <a:rPr sz="1050" spc="-25" dirty="0">
                <a:latin typeface="Arial MT"/>
                <a:cs typeface="Arial MT"/>
              </a:rPr>
              <a:t>du </a:t>
            </a:r>
            <a:r>
              <a:rPr sz="1050" spc="-20" dirty="0">
                <a:latin typeface="Arial MT"/>
                <a:cs typeface="Arial MT"/>
              </a:rPr>
              <a:t>bloc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479281" y="6446834"/>
            <a:ext cx="205740" cy="222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25" dirty="0">
                <a:latin typeface="Times New Roman"/>
                <a:cs typeface="Times New Roman"/>
              </a:rPr>
              <a:t>56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556091" y="6101007"/>
            <a:ext cx="6045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latin typeface="Arial MT"/>
                <a:cs typeface="Arial MT"/>
              </a:rPr>
              <a:t>Bloc</a:t>
            </a:r>
            <a:r>
              <a:rPr sz="1600" spc="8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3</a:t>
            </a:r>
            <a:endParaRPr sz="1600">
              <a:latin typeface="Arial MT"/>
              <a:cs typeface="Arial MT"/>
            </a:endParaRPr>
          </a:p>
        </p:txBody>
      </p:sp>
      <p:graphicFrame>
        <p:nvGraphicFramePr>
          <p:cNvPr id="61" name="object 61"/>
          <p:cNvGraphicFramePr>
            <a:graphicFrameLocks noGrp="1"/>
          </p:cNvGraphicFramePr>
          <p:nvPr/>
        </p:nvGraphicFramePr>
        <p:xfrm>
          <a:off x="7450671" y="5467196"/>
          <a:ext cx="1165225" cy="61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150"/>
                <a:gridCol w="854075"/>
              </a:tblGrid>
              <a:tr h="309880">
                <a:tc rowSpan="2"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-5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spc="-1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10011</a:t>
                      </a:r>
                      <a:r>
                        <a:rPr sz="1575" spc="-15" baseline="-2910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575" baseline="-29100">
                        <a:latin typeface="Arial MT"/>
                        <a:cs typeface="Arial MT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9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827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1034" y="392049"/>
            <a:ext cx="7528559" cy="100584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66775" marR="30480" indent="-829310">
              <a:lnSpc>
                <a:spcPts val="3840"/>
              </a:lnSpc>
              <a:spcBef>
                <a:spcPts val="229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Cas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 dédoublement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 répertoire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: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insertion</a:t>
            </a:r>
            <a:r>
              <a:rPr sz="3200" b="1" spc="-1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350" b="1" i="1" spc="-30" dirty="0">
                <a:solidFill>
                  <a:srgbClr val="0000FF"/>
                </a:solidFill>
                <a:latin typeface="Verdana"/>
                <a:cs typeface="Verdana"/>
              </a:rPr>
              <a:t>h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(clé)</a:t>
            </a:r>
            <a:r>
              <a:rPr sz="3200" b="1" spc="-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=</a:t>
            </a:r>
            <a:r>
              <a:rPr sz="3200" b="1" spc="-5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10110</a:t>
            </a:r>
            <a:r>
              <a:rPr sz="3150" b="1" spc="-15" baseline="-21164" dirty="0">
                <a:solidFill>
                  <a:srgbClr val="0000FF"/>
                </a:solidFill>
                <a:latin typeface="Tahoma"/>
                <a:cs typeface="Tahoma"/>
              </a:rPr>
              <a:t>2</a:t>
            </a:r>
            <a:endParaRPr sz="3150" baseline="-21164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1037" y="2398731"/>
            <a:ext cx="3438525" cy="878205"/>
            <a:chOff x="681037" y="2398731"/>
            <a:chExt cx="3438525" cy="878205"/>
          </a:xfrm>
        </p:grpSpPr>
        <p:sp>
          <p:nvSpPr>
            <p:cNvPr id="4" name="object 4"/>
            <p:cNvSpPr/>
            <p:nvPr/>
          </p:nvSpPr>
          <p:spPr>
            <a:xfrm>
              <a:off x="685800" y="2971800"/>
              <a:ext cx="3429000" cy="0"/>
            </a:xfrm>
            <a:custGeom>
              <a:avLst/>
              <a:gdLst/>
              <a:ahLst/>
              <a:cxnLst/>
              <a:rect l="l" t="t" r="r" b="b"/>
              <a:pathLst>
                <a:path w="3429000">
                  <a:moveTo>
                    <a:pt x="1981567" y="0"/>
                  </a:moveTo>
                  <a:lnTo>
                    <a:pt x="3429000" y="0"/>
                  </a:lnTo>
                </a:path>
                <a:path w="3429000">
                  <a:moveTo>
                    <a:pt x="0" y="0"/>
                  </a:moveTo>
                  <a:lnTo>
                    <a:pt x="1792572" y="0"/>
                  </a:lnTo>
                </a:path>
              </a:pathLst>
            </a:custGeom>
            <a:ln w="9525">
              <a:solidFill>
                <a:srgbClr val="FF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850" y="2743199"/>
              <a:ext cx="114300" cy="533400"/>
            </a:xfrm>
            <a:custGeom>
              <a:avLst/>
              <a:gdLst/>
              <a:ahLst/>
              <a:cxnLst/>
              <a:rect l="l" t="t" r="r" b="b"/>
              <a:pathLst>
                <a:path w="114300" h="533400">
                  <a:moveTo>
                    <a:pt x="38100" y="419100"/>
                  </a:moveTo>
                  <a:lnTo>
                    <a:pt x="0" y="419100"/>
                  </a:lnTo>
                  <a:lnTo>
                    <a:pt x="57150" y="533400"/>
                  </a:lnTo>
                  <a:lnTo>
                    <a:pt x="104775" y="438150"/>
                  </a:lnTo>
                  <a:lnTo>
                    <a:pt x="38100" y="438150"/>
                  </a:lnTo>
                  <a:lnTo>
                    <a:pt x="38100" y="419100"/>
                  </a:lnTo>
                  <a:close/>
                </a:path>
                <a:path w="114300" h="533400">
                  <a:moveTo>
                    <a:pt x="76200" y="0"/>
                  </a:moveTo>
                  <a:lnTo>
                    <a:pt x="38100" y="0"/>
                  </a:lnTo>
                  <a:lnTo>
                    <a:pt x="38100" y="438150"/>
                  </a:lnTo>
                  <a:lnTo>
                    <a:pt x="76200" y="438150"/>
                  </a:lnTo>
                  <a:lnTo>
                    <a:pt x="76200" y="0"/>
                  </a:lnTo>
                  <a:close/>
                </a:path>
                <a:path w="114300" h="533400">
                  <a:moveTo>
                    <a:pt x="114300" y="419100"/>
                  </a:moveTo>
                  <a:lnTo>
                    <a:pt x="76200" y="419100"/>
                  </a:lnTo>
                  <a:lnTo>
                    <a:pt x="76200" y="438150"/>
                  </a:lnTo>
                  <a:lnTo>
                    <a:pt x="104775" y="438150"/>
                  </a:lnTo>
                  <a:lnTo>
                    <a:pt x="114300" y="419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9224" y="2402858"/>
              <a:ext cx="541020" cy="196850"/>
            </a:xfrm>
            <a:custGeom>
              <a:avLst/>
              <a:gdLst/>
              <a:ahLst/>
              <a:cxnLst/>
              <a:rect l="l" t="t" r="r" b="b"/>
              <a:pathLst>
                <a:path w="541019" h="196850">
                  <a:moveTo>
                    <a:pt x="0" y="196733"/>
                  </a:moveTo>
                  <a:lnTo>
                    <a:pt x="540982" y="196733"/>
                  </a:lnTo>
                  <a:lnTo>
                    <a:pt x="540982" y="0"/>
                  </a:lnTo>
                  <a:lnTo>
                    <a:pt x="0" y="0"/>
                  </a:lnTo>
                  <a:lnTo>
                    <a:pt x="0" y="196733"/>
                  </a:lnTo>
                  <a:close/>
                </a:path>
              </a:pathLst>
            </a:custGeom>
            <a:ln w="7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57167" y="3024743"/>
            <a:ext cx="42608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0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17675" y="3024743"/>
            <a:ext cx="42608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1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7933" y="3024743"/>
            <a:ext cx="42608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Arial MT"/>
                <a:cs typeface="Arial MT"/>
              </a:rPr>
              <a:t>Bloc</a:t>
            </a:r>
            <a:r>
              <a:rPr sz="1100" spc="5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88211" y="2589661"/>
          <a:ext cx="2523489" cy="4292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29"/>
                <a:gridCol w="590550"/>
                <a:gridCol w="53975"/>
                <a:gridCol w="214630"/>
                <a:gridCol w="590550"/>
                <a:gridCol w="53975"/>
                <a:gridCol w="214630"/>
                <a:gridCol w="590550"/>
              </a:tblGrid>
              <a:tr h="214629">
                <a:tc row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1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10001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100" spc="-50" dirty="0">
                          <a:latin typeface="Arial MT"/>
                          <a:cs typeface="Arial MT"/>
                        </a:rPr>
                        <a:t>2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01010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46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11000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74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01110</a:t>
                      </a:r>
                      <a:r>
                        <a:rPr sz="1125" spc="-15" baseline="-29629" dirty="0">
                          <a:latin typeface="Arial MT"/>
                          <a:cs typeface="Arial MT"/>
                        </a:rPr>
                        <a:t>2</a:t>
                      </a:r>
                      <a:endParaRPr sz="1125" baseline="-29629">
                        <a:latin typeface="Arial MT"/>
                        <a:cs typeface="Arial MT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301099" y="1958149"/>
            <a:ext cx="3441700" cy="215265"/>
          </a:xfrm>
          <a:custGeom>
            <a:avLst/>
            <a:gdLst/>
            <a:ahLst/>
            <a:cxnLst/>
            <a:rect l="l" t="t" r="r" b="b"/>
            <a:pathLst>
              <a:path w="3441700" h="215264">
                <a:moveTo>
                  <a:pt x="0" y="214708"/>
                </a:moveTo>
                <a:lnTo>
                  <a:pt x="860221" y="214708"/>
                </a:lnTo>
                <a:lnTo>
                  <a:pt x="860221" y="0"/>
                </a:lnTo>
                <a:lnTo>
                  <a:pt x="0" y="0"/>
                </a:lnTo>
                <a:lnTo>
                  <a:pt x="0" y="214708"/>
                </a:lnTo>
                <a:close/>
              </a:path>
              <a:path w="3441700" h="215264">
                <a:moveTo>
                  <a:pt x="860197" y="214708"/>
                </a:moveTo>
                <a:lnTo>
                  <a:pt x="1720705" y="214708"/>
                </a:lnTo>
                <a:lnTo>
                  <a:pt x="1720705" y="0"/>
                </a:lnTo>
                <a:lnTo>
                  <a:pt x="860197" y="0"/>
                </a:lnTo>
                <a:lnTo>
                  <a:pt x="860197" y="214708"/>
                </a:lnTo>
                <a:close/>
              </a:path>
              <a:path w="3441700" h="215264">
                <a:moveTo>
                  <a:pt x="1720693" y="214708"/>
                </a:moveTo>
                <a:lnTo>
                  <a:pt x="2581201" y="214708"/>
                </a:lnTo>
                <a:lnTo>
                  <a:pt x="2581201" y="0"/>
                </a:lnTo>
                <a:lnTo>
                  <a:pt x="1720693" y="0"/>
                </a:lnTo>
                <a:lnTo>
                  <a:pt x="1720693" y="214708"/>
                </a:lnTo>
                <a:close/>
              </a:path>
              <a:path w="3441700" h="215264">
                <a:moveTo>
                  <a:pt x="2581189" y="214708"/>
                </a:moveTo>
                <a:lnTo>
                  <a:pt x="3441697" y="214708"/>
                </a:lnTo>
                <a:lnTo>
                  <a:pt x="3441697" y="0"/>
                </a:lnTo>
                <a:lnTo>
                  <a:pt x="2581189" y="0"/>
                </a:lnTo>
                <a:lnTo>
                  <a:pt x="2581189" y="214708"/>
                </a:lnTo>
                <a:close/>
              </a:path>
            </a:pathLst>
          </a:custGeom>
          <a:ln w="8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85891" y="1958149"/>
            <a:ext cx="215265" cy="215265"/>
          </a:xfrm>
          <a:prstGeom prst="rect">
            <a:avLst/>
          </a:prstGeom>
          <a:ln w="8604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70"/>
              </a:spcBef>
            </a:pPr>
            <a:r>
              <a:rPr sz="1100" spc="-50" dirty="0">
                <a:latin typeface="Arial MT"/>
                <a:cs typeface="Arial MT"/>
              </a:rPr>
              <a:t>2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7060" y="1736211"/>
            <a:ext cx="2895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Arial MT"/>
                <a:cs typeface="Arial MT"/>
              </a:rPr>
              <a:t>00</a:t>
            </a:r>
            <a:r>
              <a:rPr sz="1125" spc="-37" baseline="-29629" dirty="0">
                <a:latin typeface="Arial MT"/>
                <a:cs typeface="Arial MT"/>
              </a:rPr>
              <a:t>2</a:t>
            </a:r>
            <a:endParaRPr sz="1125" baseline="-29629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7317" y="1736211"/>
            <a:ext cx="2901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Arial MT"/>
                <a:cs typeface="Arial MT"/>
              </a:rPr>
              <a:t>01</a:t>
            </a:r>
            <a:r>
              <a:rPr sz="1125" spc="-37" baseline="-29629" dirty="0">
                <a:latin typeface="Arial MT"/>
                <a:cs typeface="Arial MT"/>
              </a:rPr>
              <a:t>2</a:t>
            </a:r>
            <a:endParaRPr sz="1125" baseline="-29629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07813" y="1736211"/>
            <a:ext cx="290195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Arial MT"/>
                <a:cs typeface="Arial MT"/>
              </a:rPr>
              <a:t>10</a:t>
            </a:r>
            <a:r>
              <a:rPr sz="1125" spc="-37" baseline="-29629" dirty="0">
                <a:latin typeface="Arial MT"/>
                <a:cs typeface="Arial MT"/>
              </a:rPr>
              <a:t>2</a:t>
            </a:r>
            <a:endParaRPr sz="1125" baseline="-29629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68309" y="1736211"/>
            <a:ext cx="289560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00" spc="-25" dirty="0">
                <a:latin typeface="Arial MT"/>
                <a:cs typeface="Arial MT"/>
              </a:rPr>
              <a:t>11</a:t>
            </a:r>
            <a:r>
              <a:rPr sz="1125" spc="-37" baseline="-29629" dirty="0">
                <a:latin typeface="Arial MT"/>
                <a:cs typeface="Arial MT"/>
              </a:rPr>
              <a:t>2</a:t>
            </a:r>
            <a:endParaRPr sz="1125" baseline="-29629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26817" y="1635985"/>
            <a:ext cx="913765" cy="434340"/>
            <a:chOff x="4226817" y="1635985"/>
            <a:chExt cx="913765" cy="434340"/>
          </a:xfrm>
        </p:grpSpPr>
        <p:sp>
          <p:nvSpPr>
            <p:cNvPr id="18" name="object 18"/>
            <p:cNvSpPr/>
            <p:nvPr/>
          </p:nvSpPr>
          <p:spPr>
            <a:xfrm>
              <a:off x="4550902" y="1850693"/>
              <a:ext cx="556895" cy="203835"/>
            </a:xfrm>
            <a:custGeom>
              <a:avLst/>
              <a:gdLst/>
              <a:ahLst/>
              <a:cxnLst/>
              <a:rect l="l" t="t" r="r" b="b"/>
              <a:pathLst>
                <a:path w="556895" h="203835">
                  <a:moveTo>
                    <a:pt x="0" y="0"/>
                  </a:moveTo>
                  <a:lnTo>
                    <a:pt x="556478" y="20351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085891" y="2023874"/>
              <a:ext cx="54610" cy="46355"/>
            </a:xfrm>
            <a:custGeom>
              <a:avLst/>
              <a:gdLst/>
              <a:ahLst/>
              <a:cxnLst/>
              <a:rect l="l" t="t" r="r" b="b"/>
              <a:pathLst>
                <a:path w="54610" h="46355">
                  <a:moveTo>
                    <a:pt x="17197" y="0"/>
                  </a:moveTo>
                  <a:lnTo>
                    <a:pt x="14329" y="17437"/>
                  </a:lnTo>
                  <a:lnTo>
                    <a:pt x="8604" y="34636"/>
                  </a:lnTo>
                  <a:lnTo>
                    <a:pt x="0" y="46101"/>
                  </a:lnTo>
                  <a:lnTo>
                    <a:pt x="54450" y="40369"/>
                  </a:lnTo>
                  <a:lnTo>
                    <a:pt x="1719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26817" y="1635985"/>
              <a:ext cx="645795" cy="429895"/>
            </a:xfrm>
            <a:custGeom>
              <a:avLst/>
              <a:gdLst/>
              <a:ahLst/>
              <a:cxnLst/>
              <a:rect l="l" t="t" r="r" b="b"/>
              <a:pathLst>
                <a:path w="645795" h="429894">
                  <a:moveTo>
                    <a:pt x="645312" y="0"/>
                  </a:moveTo>
                  <a:lnTo>
                    <a:pt x="0" y="0"/>
                  </a:lnTo>
                  <a:lnTo>
                    <a:pt x="0" y="429691"/>
                  </a:lnTo>
                  <a:lnTo>
                    <a:pt x="645312" y="429691"/>
                  </a:lnTo>
                  <a:lnTo>
                    <a:pt x="645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226817" y="2059798"/>
            <a:ext cx="3265804" cy="746760"/>
            <a:chOff x="4226817" y="2059798"/>
            <a:chExt cx="3265804" cy="746760"/>
          </a:xfrm>
        </p:grpSpPr>
        <p:sp>
          <p:nvSpPr>
            <p:cNvPr id="22" name="object 22"/>
            <p:cNvSpPr/>
            <p:nvPr/>
          </p:nvSpPr>
          <p:spPr>
            <a:xfrm>
              <a:off x="5731168" y="2064243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80">
                  <a:moveTo>
                    <a:pt x="0" y="0"/>
                  </a:moveTo>
                  <a:lnTo>
                    <a:pt x="0" y="423660"/>
                  </a:lnTo>
                </a:path>
              </a:pathLst>
            </a:custGeom>
            <a:ln w="8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93999" y="2470753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70" h="77469">
                  <a:moveTo>
                    <a:pt x="77325" y="0"/>
                  </a:moveTo>
                  <a:lnTo>
                    <a:pt x="51510" y="8575"/>
                  </a:lnTo>
                  <a:lnTo>
                    <a:pt x="22827" y="8575"/>
                  </a:lnTo>
                  <a:lnTo>
                    <a:pt x="0" y="0"/>
                  </a:lnTo>
                  <a:lnTo>
                    <a:pt x="37168" y="77190"/>
                  </a:lnTo>
                  <a:lnTo>
                    <a:pt x="773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91664" y="2064243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80">
                  <a:moveTo>
                    <a:pt x="0" y="0"/>
                  </a:moveTo>
                  <a:lnTo>
                    <a:pt x="0" y="423660"/>
                  </a:lnTo>
                </a:path>
              </a:pathLst>
            </a:custGeom>
            <a:ln w="859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54495" y="2470753"/>
              <a:ext cx="77470" cy="77470"/>
            </a:xfrm>
            <a:custGeom>
              <a:avLst/>
              <a:gdLst/>
              <a:ahLst/>
              <a:cxnLst/>
              <a:rect l="l" t="t" r="r" b="b"/>
              <a:pathLst>
                <a:path w="77470" h="77469">
                  <a:moveTo>
                    <a:pt x="77325" y="0"/>
                  </a:moveTo>
                  <a:lnTo>
                    <a:pt x="51510" y="8575"/>
                  </a:lnTo>
                  <a:lnTo>
                    <a:pt x="22946" y="8575"/>
                  </a:lnTo>
                  <a:lnTo>
                    <a:pt x="0" y="0"/>
                  </a:lnTo>
                  <a:lnTo>
                    <a:pt x="37168" y="77190"/>
                  </a:lnTo>
                  <a:lnTo>
                    <a:pt x="7732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452280" y="2064243"/>
              <a:ext cx="0" cy="424180"/>
            </a:xfrm>
            <a:custGeom>
              <a:avLst/>
              <a:gdLst/>
              <a:ahLst/>
              <a:cxnLst/>
              <a:rect l="l" t="t" r="r" b="b"/>
              <a:pathLst>
                <a:path h="424180">
                  <a:moveTo>
                    <a:pt x="0" y="0"/>
                  </a:moveTo>
                  <a:lnTo>
                    <a:pt x="0" y="423660"/>
                  </a:lnTo>
                </a:path>
              </a:pathLst>
            </a:custGeom>
            <a:ln w="8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14633" y="2470753"/>
              <a:ext cx="78105" cy="77470"/>
            </a:xfrm>
            <a:custGeom>
              <a:avLst/>
              <a:gdLst/>
              <a:ahLst/>
              <a:cxnLst/>
              <a:rect l="l" t="t" r="r" b="b"/>
              <a:pathLst>
                <a:path w="78104" h="77469">
                  <a:moveTo>
                    <a:pt x="77683" y="0"/>
                  </a:moveTo>
                  <a:lnTo>
                    <a:pt x="51868" y="8575"/>
                  </a:lnTo>
                  <a:lnTo>
                    <a:pt x="22946" y="8575"/>
                  </a:lnTo>
                  <a:lnTo>
                    <a:pt x="0" y="0"/>
                  </a:lnTo>
                  <a:lnTo>
                    <a:pt x="37646" y="77190"/>
                  </a:lnTo>
                  <a:lnTo>
                    <a:pt x="776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50902" y="2495058"/>
              <a:ext cx="772160" cy="309880"/>
            </a:xfrm>
            <a:custGeom>
              <a:avLst/>
              <a:gdLst/>
              <a:ahLst/>
              <a:cxnLst/>
              <a:rect l="l" t="t" r="r" b="b"/>
              <a:pathLst>
                <a:path w="772160" h="309880">
                  <a:moveTo>
                    <a:pt x="0" y="0"/>
                  </a:moveTo>
                  <a:lnTo>
                    <a:pt x="771685" y="30932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26817" y="2280349"/>
              <a:ext cx="645795" cy="429895"/>
            </a:xfrm>
            <a:custGeom>
              <a:avLst/>
              <a:gdLst/>
              <a:ahLst/>
              <a:cxnLst/>
              <a:rect l="l" t="t" r="r" b="b"/>
              <a:pathLst>
                <a:path w="645795" h="429894">
                  <a:moveTo>
                    <a:pt x="645312" y="0"/>
                  </a:moveTo>
                  <a:lnTo>
                    <a:pt x="0" y="0"/>
                  </a:lnTo>
                  <a:lnTo>
                    <a:pt x="0" y="429405"/>
                  </a:lnTo>
                  <a:lnTo>
                    <a:pt x="645312" y="429405"/>
                  </a:lnTo>
                  <a:lnTo>
                    <a:pt x="645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226817" y="1635985"/>
            <a:ext cx="645795" cy="4298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58419" marR="51435" indent="34290" algn="just">
              <a:lnSpc>
                <a:spcPct val="100000"/>
              </a:lnSpc>
              <a:spcBef>
                <a:spcPts val="254"/>
              </a:spcBef>
            </a:pPr>
            <a:r>
              <a:rPr sz="750" spc="-10" dirty="0">
                <a:latin typeface="Arial MT"/>
                <a:cs typeface="Arial MT"/>
              </a:rPr>
              <a:t>Profondeur </a:t>
            </a:r>
            <a:r>
              <a:rPr sz="750" spc="-20" dirty="0">
                <a:latin typeface="Arial MT"/>
                <a:cs typeface="Arial MT"/>
              </a:rPr>
              <a:t>globale</a:t>
            </a:r>
            <a:r>
              <a:rPr sz="750" spc="-5" dirty="0">
                <a:latin typeface="Arial MT"/>
                <a:cs typeface="Arial MT"/>
              </a:rPr>
              <a:t> </a:t>
            </a:r>
            <a:r>
              <a:rPr sz="750" spc="-25" dirty="0">
                <a:latin typeface="Arial MT"/>
                <a:cs typeface="Arial MT"/>
              </a:rPr>
              <a:t>du</a:t>
            </a:r>
            <a:r>
              <a:rPr sz="750" spc="500" dirty="0">
                <a:latin typeface="Arial MT"/>
                <a:cs typeface="Arial MT"/>
              </a:rPr>
              <a:t> </a:t>
            </a:r>
            <a:r>
              <a:rPr sz="750" spc="-20" dirty="0">
                <a:latin typeface="Arial MT"/>
                <a:cs typeface="Arial MT"/>
              </a:rPr>
              <a:t>répertoire</a:t>
            </a:r>
            <a:r>
              <a:rPr sz="750" spc="5" dirty="0">
                <a:latin typeface="Arial MT"/>
                <a:cs typeface="Arial MT"/>
              </a:rPr>
              <a:t> </a:t>
            </a:r>
            <a:r>
              <a:rPr sz="750" spc="-25" dirty="0">
                <a:latin typeface="Arial MT"/>
                <a:cs typeface="Arial MT"/>
              </a:rPr>
              <a:t>(d)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01099" y="2774369"/>
            <a:ext cx="54610" cy="46355"/>
          </a:xfrm>
          <a:custGeom>
            <a:avLst/>
            <a:gdLst/>
            <a:ahLst/>
            <a:cxnLst/>
            <a:rect l="l" t="t" r="r" b="b"/>
            <a:pathLst>
              <a:path w="54610" h="46355">
                <a:moveTo>
                  <a:pt x="17186" y="0"/>
                </a:moveTo>
                <a:lnTo>
                  <a:pt x="17186" y="17150"/>
                </a:lnTo>
                <a:lnTo>
                  <a:pt x="11461" y="34313"/>
                </a:lnTo>
                <a:lnTo>
                  <a:pt x="0" y="45743"/>
                </a:lnTo>
                <a:lnTo>
                  <a:pt x="54438" y="42889"/>
                </a:lnTo>
                <a:lnTo>
                  <a:pt x="171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226817" y="2280349"/>
            <a:ext cx="645795" cy="42989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2710" marR="88265" algn="ctr">
              <a:lnSpc>
                <a:spcPct val="100000"/>
              </a:lnSpc>
              <a:spcBef>
                <a:spcPts val="254"/>
              </a:spcBef>
            </a:pPr>
            <a:r>
              <a:rPr sz="750" spc="-20" dirty="0">
                <a:latin typeface="Arial MT"/>
                <a:cs typeface="Arial MT"/>
              </a:rPr>
              <a:t>Profondeur</a:t>
            </a:r>
            <a:r>
              <a:rPr sz="750" spc="500" dirty="0">
                <a:latin typeface="Arial MT"/>
                <a:cs typeface="Arial MT"/>
              </a:rPr>
              <a:t> </a:t>
            </a:r>
            <a:r>
              <a:rPr sz="750" spc="-20" dirty="0">
                <a:latin typeface="Arial MT"/>
                <a:cs typeface="Arial MT"/>
              </a:rPr>
              <a:t>locale</a:t>
            </a:r>
            <a:r>
              <a:rPr sz="750" spc="-5" dirty="0">
                <a:latin typeface="Arial MT"/>
                <a:cs typeface="Arial MT"/>
              </a:rPr>
              <a:t> </a:t>
            </a:r>
            <a:r>
              <a:rPr sz="750" spc="-25" dirty="0">
                <a:latin typeface="Arial MT"/>
                <a:cs typeface="Arial MT"/>
              </a:rPr>
              <a:t>du</a:t>
            </a:r>
            <a:r>
              <a:rPr sz="750" spc="500" dirty="0">
                <a:latin typeface="Arial MT"/>
                <a:cs typeface="Arial MT"/>
              </a:rPr>
              <a:t> </a:t>
            </a:r>
            <a:r>
              <a:rPr sz="750" spc="-20" dirty="0">
                <a:latin typeface="Arial MT"/>
                <a:cs typeface="Arial MT"/>
              </a:rPr>
              <a:t>bloc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591664" y="2064243"/>
            <a:ext cx="1720850" cy="215265"/>
          </a:xfrm>
          <a:custGeom>
            <a:avLst/>
            <a:gdLst/>
            <a:ahLst/>
            <a:cxnLst/>
            <a:rect l="l" t="t" r="r" b="b"/>
            <a:pathLst>
              <a:path w="1720850" h="215264">
                <a:moveTo>
                  <a:pt x="1720753" y="0"/>
                </a:moveTo>
                <a:lnTo>
                  <a:pt x="1720753" y="214672"/>
                </a:lnTo>
                <a:lnTo>
                  <a:pt x="0" y="214672"/>
                </a:lnTo>
              </a:path>
            </a:pathLst>
          </a:custGeom>
          <a:ln w="859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95631" y="2397545"/>
            <a:ext cx="56832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10100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09224" y="2599592"/>
            <a:ext cx="541020" cy="196850"/>
          </a:xfrm>
          <a:custGeom>
            <a:avLst/>
            <a:gdLst/>
            <a:ahLst/>
            <a:cxnLst/>
            <a:rect l="l" t="t" r="r" b="b"/>
            <a:pathLst>
              <a:path w="541019" h="196850">
                <a:moveTo>
                  <a:pt x="0" y="196733"/>
                </a:moveTo>
                <a:lnTo>
                  <a:pt x="540982" y="196733"/>
                </a:lnTo>
                <a:lnTo>
                  <a:pt x="540982" y="0"/>
                </a:lnTo>
                <a:lnTo>
                  <a:pt x="0" y="0"/>
                </a:lnTo>
                <a:lnTo>
                  <a:pt x="0" y="196733"/>
                </a:lnTo>
                <a:close/>
              </a:path>
            </a:pathLst>
          </a:custGeom>
          <a:ln w="7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95631" y="2594279"/>
            <a:ext cx="56832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11000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97159" y="1612000"/>
            <a:ext cx="2031364" cy="1196975"/>
            <a:chOff x="797159" y="1612000"/>
            <a:chExt cx="2031364" cy="1196975"/>
          </a:xfrm>
        </p:grpSpPr>
        <p:sp>
          <p:nvSpPr>
            <p:cNvPr id="38" name="object 38"/>
            <p:cNvSpPr/>
            <p:nvPr/>
          </p:nvSpPr>
          <p:spPr>
            <a:xfrm>
              <a:off x="809224" y="2402869"/>
              <a:ext cx="541020" cy="393700"/>
            </a:xfrm>
            <a:custGeom>
              <a:avLst/>
              <a:gdLst/>
              <a:ahLst/>
              <a:cxnLst/>
              <a:rect l="l" t="t" r="r" b="b"/>
              <a:pathLst>
                <a:path w="541019" h="393700">
                  <a:moveTo>
                    <a:pt x="0" y="393455"/>
                  </a:moveTo>
                  <a:lnTo>
                    <a:pt x="540985" y="393455"/>
                  </a:lnTo>
                  <a:lnTo>
                    <a:pt x="540985" y="0"/>
                  </a:lnTo>
                  <a:lnTo>
                    <a:pt x="0" y="0"/>
                  </a:lnTo>
                  <a:lnTo>
                    <a:pt x="0" y="393455"/>
                  </a:lnTo>
                </a:path>
              </a:pathLst>
            </a:custGeom>
            <a:ln w="23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6796" y="1612000"/>
              <a:ext cx="204626" cy="2046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6274" y="2005467"/>
              <a:ext cx="204640" cy="20460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499760" y="1715708"/>
              <a:ext cx="591185" cy="226060"/>
            </a:xfrm>
            <a:custGeom>
              <a:avLst/>
              <a:gdLst/>
              <a:ahLst/>
              <a:cxnLst/>
              <a:rect l="l" t="t" r="r" b="b"/>
              <a:pathLst>
                <a:path w="591185" h="226060">
                  <a:moveTo>
                    <a:pt x="590868" y="0"/>
                  </a:moveTo>
                  <a:lnTo>
                    <a:pt x="0" y="225591"/>
                  </a:lnTo>
                </a:path>
              </a:pathLst>
            </a:custGeom>
            <a:ln w="7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49906" y="1901750"/>
              <a:ext cx="78740" cy="66040"/>
            </a:xfrm>
            <a:custGeom>
              <a:avLst/>
              <a:gdLst/>
              <a:ahLst/>
              <a:cxnLst/>
              <a:rect l="l" t="t" r="r" b="b"/>
              <a:pathLst>
                <a:path w="78740" h="66039">
                  <a:moveTo>
                    <a:pt x="52468" y="0"/>
                  </a:moveTo>
                  <a:lnTo>
                    <a:pt x="0" y="57880"/>
                  </a:lnTo>
                  <a:lnTo>
                    <a:pt x="78708" y="65738"/>
                  </a:lnTo>
                  <a:lnTo>
                    <a:pt x="62962" y="47407"/>
                  </a:lnTo>
                  <a:lnTo>
                    <a:pt x="55095" y="23824"/>
                  </a:lnTo>
                  <a:lnTo>
                    <a:pt x="52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87688" y="1715708"/>
              <a:ext cx="591185" cy="226060"/>
            </a:xfrm>
            <a:custGeom>
              <a:avLst/>
              <a:gdLst/>
              <a:ahLst/>
              <a:cxnLst/>
              <a:rect l="l" t="t" r="r" b="b"/>
              <a:pathLst>
                <a:path w="591185" h="226060">
                  <a:moveTo>
                    <a:pt x="0" y="0"/>
                  </a:moveTo>
                  <a:lnTo>
                    <a:pt x="590781" y="225591"/>
                  </a:lnTo>
                </a:path>
              </a:pathLst>
            </a:custGeom>
            <a:ln w="7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749362" y="1901750"/>
              <a:ext cx="79375" cy="66040"/>
            </a:xfrm>
            <a:custGeom>
              <a:avLst/>
              <a:gdLst/>
              <a:ahLst/>
              <a:cxnLst/>
              <a:rect l="l" t="t" r="r" b="b"/>
              <a:pathLst>
                <a:path w="79375" h="66039">
                  <a:moveTo>
                    <a:pt x="23854" y="0"/>
                  </a:moveTo>
                  <a:lnTo>
                    <a:pt x="23854" y="23824"/>
                  </a:lnTo>
                  <a:lnTo>
                    <a:pt x="15975" y="47407"/>
                  </a:lnTo>
                  <a:lnTo>
                    <a:pt x="0" y="65738"/>
                  </a:lnTo>
                  <a:lnTo>
                    <a:pt x="79004" y="57880"/>
                  </a:lnTo>
                  <a:lnTo>
                    <a:pt x="238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08047" y="1718308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71117" y="1718308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546976" y="2402858"/>
            <a:ext cx="544195" cy="196850"/>
          </a:xfrm>
          <a:custGeom>
            <a:avLst/>
            <a:gdLst/>
            <a:ahLst/>
            <a:cxnLst/>
            <a:rect l="l" t="t" r="r" b="b"/>
            <a:pathLst>
              <a:path w="544194" h="196850">
                <a:moveTo>
                  <a:pt x="0" y="196733"/>
                </a:moveTo>
                <a:lnTo>
                  <a:pt x="543608" y="196733"/>
                </a:lnTo>
                <a:lnTo>
                  <a:pt x="543608" y="0"/>
                </a:lnTo>
                <a:lnTo>
                  <a:pt x="0" y="0"/>
                </a:lnTo>
                <a:lnTo>
                  <a:pt x="0" y="196733"/>
                </a:lnTo>
                <a:close/>
              </a:path>
            </a:pathLst>
          </a:custGeom>
          <a:ln w="7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533383" y="2397545"/>
            <a:ext cx="57086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01010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546976" y="2599592"/>
            <a:ext cx="544195" cy="196850"/>
          </a:xfrm>
          <a:custGeom>
            <a:avLst/>
            <a:gdLst/>
            <a:ahLst/>
            <a:cxnLst/>
            <a:rect l="l" t="t" r="r" b="b"/>
            <a:pathLst>
              <a:path w="544194" h="196850">
                <a:moveTo>
                  <a:pt x="0" y="196733"/>
                </a:moveTo>
                <a:lnTo>
                  <a:pt x="543608" y="196733"/>
                </a:lnTo>
                <a:lnTo>
                  <a:pt x="543608" y="0"/>
                </a:lnTo>
                <a:lnTo>
                  <a:pt x="0" y="0"/>
                </a:lnTo>
                <a:lnTo>
                  <a:pt x="0" y="196733"/>
                </a:lnTo>
                <a:close/>
              </a:path>
            </a:pathLst>
          </a:custGeom>
          <a:ln w="7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533383" y="2594279"/>
            <a:ext cx="57086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01110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105953" y="2104818"/>
            <a:ext cx="996950" cy="703580"/>
            <a:chOff x="1105953" y="2104818"/>
            <a:chExt cx="996950" cy="703580"/>
          </a:xfrm>
        </p:grpSpPr>
        <p:sp>
          <p:nvSpPr>
            <p:cNvPr id="52" name="object 52"/>
            <p:cNvSpPr/>
            <p:nvPr/>
          </p:nvSpPr>
          <p:spPr>
            <a:xfrm>
              <a:off x="1546976" y="2402869"/>
              <a:ext cx="544195" cy="393700"/>
            </a:xfrm>
            <a:custGeom>
              <a:avLst/>
              <a:gdLst/>
              <a:ahLst/>
              <a:cxnLst/>
              <a:rect l="l" t="t" r="r" b="b"/>
              <a:pathLst>
                <a:path w="544194" h="393700">
                  <a:moveTo>
                    <a:pt x="0" y="393455"/>
                  </a:moveTo>
                  <a:lnTo>
                    <a:pt x="543652" y="393455"/>
                  </a:lnTo>
                  <a:lnTo>
                    <a:pt x="543652" y="0"/>
                  </a:lnTo>
                  <a:lnTo>
                    <a:pt x="0" y="0"/>
                  </a:lnTo>
                  <a:lnTo>
                    <a:pt x="0" y="393455"/>
                  </a:lnTo>
                </a:path>
              </a:pathLst>
            </a:custGeom>
            <a:ln w="236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45302" y="2108946"/>
              <a:ext cx="255270" cy="210185"/>
            </a:xfrm>
            <a:custGeom>
              <a:avLst/>
              <a:gdLst/>
              <a:ahLst/>
              <a:cxnLst/>
              <a:rect l="l" t="t" r="r" b="b"/>
              <a:pathLst>
                <a:path w="255269" h="210185">
                  <a:moveTo>
                    <a:pt x="254761" y="0"/>
                  </a:moveTo>
                  <a:lnTo>
                    <a:pt x="0" y="209832"/>
                  </a:lnTo>
                </a:path>
              </a:pathLst>
            </a:custGeom>
            <a:ln w="7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105953" y="2282106"/>
              <a:ext cx="76200" cy="71120"/>
            </a:xfrm>
            <a:custGeom>
              <a:avLst/>
              <a:gdLst/>
              <a:ahLst/>
              <a:cxnLst/>
              <a:rect l="l" t="t" r="r" b="b"/>
              <a:pathLst>
                <a:path w="76200" h="71119">
                  <a:moveTo>
                    <a:pt x="31481" y="0"/>
                  </a:moveTo>
                  <a:lnTo>
                    <a:pt x="0" y="70991"/>
                  </a:lnTo>
                  <a:lnTo>
                    <a:pt x="76082" y="52387"/>
                  </a:lnTo>
                  <a:lnTo>
                    <a:pt x="55095" y="39287"/>
                  </a:lnTo>
                  <a:lnTo>
                    <a:pt x="39348" y="20957"/>
                  </a:lnTo>
                  <a:lnTo>
                    <a:pt x="314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99759" y="2108946"/>
              <a:ext cx="252729" cy="210185"/>
            </a:xfrm>
            <a:custGeom>
              <a:avLst/>
              <a:gdLst/>
              <a:ahLst/>
              <a:cxnLst/>
              <a:rect l="l" t="t" r="r" b="b"/>
              <a:pathLst>
                <a:path w="252730" h="210185">
                  <a:moveTo>
                    <a:pt x="0" y="0"/>
                  </a:moveTo>
                  <a:lnTo>
                    <a:pt x="252124" y="209832"/>
                  </a:lnTo>
                </a:path>
              </a:pathLst>
            </a:custGeom>
            <a:ln w="78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717776" y="2282106"/>
              <a:ext cx="76200" cy="71120"/>
            </a:xfrm>
            <a:custGeom>
              <a:avLst/>
              <a:gdLst/>
              <a:ahLst/>
              <a:cxnLst/>
              <a:rect l="l" t="t" r="r" b="b"/>
              <a:pathLst>
                <a:path w="76200" h="71119">
                  <a:moveTo>
                    <a:pt x="44601" y="0"/>
                  </a:moveTo>
                  <a:lnTo>
                    <a:pt x="34107" y="20957"/>
                  </a:lnTo>
                  <a:lnTo>
                    <a:pt x="18361" y="39287"/>
                  </a:lnTo>
                  <a:lnTo>
                    <a:pt x="0" y="52387"/>
                  </a:lnTo>
                  <a:lnTo>
                    <a:pt x="76082" y="70991"/>
                  </a:lnTo>
                  <a:lnTo>
                    <a:pt x="446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114240" y="2111753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86715" y="2111753"/>
            <a:ext cx="9906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531608" y="2009402"/>
            <a:ext cx="543560" cy="196850"/>
          </a:xfrm>
          <a:custGeom>
            <a:avLst/>
            <a:gdLst/>
            <a:ahLst/>
            <a:cxnLst/>
            <a:rect l="l" t="t" r="r" b="b"/>
            <a:pathLst>
              <a:path w="543560" h="196850">
                <a:moveTo>
                  <a:pt x="0" y="196733"/>
                </a:moveTo>
                <a:lnTo>
                  <a:pt x="543346" y="196733"/>
                </a:lnTo>
                <a:lnTo>
                  <a:pt x="543346" y="0"/>
                </a:lnTo>
                <a:lnTo>
                  <a:pt x="0" y="0"/>
                </a:lnTo>
                <a:lnTo>
                  <a:pt x="0" y="196733"/>
                </a:lnTo>
                <a:close/>
              </a:path>
            </a:pathLst>
          </a:custGeom>
          <a:ln w="7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518015" y="2004352"/>
            <a:ext cx="57086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10001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531608" y="2206136"/>
            <a:ext cx="543560" cy="196850"/>
          </a:xfrm>
          <a:custGeom>
            <a:avLst/>
            <a:gdLst/>
            <a:ahLst/>
            <a:cxnLst/>
            <a:rect l="l" t="t" r="r" b="b"/>
            <a:pathLst>
              <a:path w="543560" h="196850">
                <a:moveTo>
                  <a:pt x="0" y="196733"/>
                </a:moveTo>
                <a:lnTo>
                  <a:pt x="543346" y="196733"/>
                </a:lnTo>
                <a:lnTo>
                  <a:pt x="543346" y="0"/>
                </a:lnTo>
                <a:lnTo>
                  <a:pt x="0" y="0"/>
                </a:lnTo>
                <a:lnTo>
                  <a:pt x="0" y="196733"/>
                </a:lnTo>
                <a:close/>
              </a:path>
            </a:pathLst>
          </a:custGeom>
          <a:ln w="7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2518015" y="2200823"/>
            <a:ext cx="57086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Arial MT"/>
                <a:cs typeface="Arial MT"/>
              </a:rPr>
              <a:t>11101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531608" y="2009402"/>
            <a:ext cx="543560" cy="393700"/>
          </a:xfrm>
          <a:custGeom>
            <a:avLst/>
            <a:gdLst/>
            <a:ahLst/>
            <a:cxnLst/>
            <a:rect l="l" t="t" r="r" b="b"/>
            <a:pathLst>
              <a:path w="543560" h="393700">
                <a:moveTo>
                  <a:pt x="0" y="393466"/>
                </a:moveTo>
                <a:lnTo>
                  <a:pt x="543400" y="393466"/>
                </a:lnTo>
                <a:lnTo>
                  <a:pt x="543400" y="0"/>
                </a:lnTo>
                <a:lnTo>
                  <a:pt x="0" y="0"/>
                </a:lnTo>
                <a:lnTo>
                  <a:pt x="0" y="393466"/>
                </a:lnTo>
              </a:path>
            </a:pathLst>
          </a:custGeom>
          <a:ln w="236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59490" y="2791008"/>
            <a:ext cx="39243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81936" y="2397545"/>
            <a:ext cx="39243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597250" y="2791008"/>
            <a:ext cx="39243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31085" y="3672102"/>
            <a:ext cx="518795" cy="188595"/>
          </a:xfrm>
          <a:custGeom>
            <a:avLst/>
            <a:gdLst/>
            <a:ahLst/>
            <a:cxnLst/>
            <a:rect l="l" t="t" r="r" b="b"/>
            <a:pathLst>
              <a:path w="518794" h="188595">
                <a:moveTo>
                  <a:pt x="0" y="188396"/>
                </a:moveTo>
                <a:lnTo>
                  <a:pt x="518778" y="188396"/>
                </a:lnTo>
                <a:lnTo>
                  <a:pt x="518778" y="0"/>
                </a:lnTo>
                <a:lnTo>
                  <a:pt x="0" y="0"/>
                </a:lnTo>
                <a:lnTo>
                  <a:pt x="0" y="188396"/>
                </a:lnTo>
                <a:close/>
              </a:path>
            </a:pathLst>
          </a:custGeom>
          <a:ln w="7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16998" y="3666728"/>
            <a:ext cx="54737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10100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1085" y="3860499"/>
            <a:ext cx="518795" cy="188595"/>
          </a:xfrm>
          <a:custGeom>
            <a:avLst/>
            <a:gdLst/>
            <a:ahLst/>
            <a:cxnLst/>
            <a:rect l="l" t="t" r="r" b="b"/>
            <a:pathLst>
              <a:path w="518794" h="188595">
                <a:moveTo>
                  <a:pt x="0" y="188396"/>
                </a:moveTo>
                <a:lnTo>
                  <a:pt x="518778" y="188396"/>
                </a:lnTo>
                <a:lnTo>
                  <a:pt x="518778" y="0"/>
                </a:lnTo>
                <a:lnTo>
                  <a:pt x="0" y="0"/>
                </a:lnTo>
                <a:lnTo>
                  <a:pt x="0" y="188396"/>
                </a:lnTo>
                <a:close/>
              </a:path>
            </a:pathLst>
          </a:custGeom>
          <a:ln w="7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16998" y="3855124"/>
            <a:ext cx="54737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11000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474599" y="2907030"/>
            <a:ext cx="196850" cy="196215"/>
            <a:chOff x="2474599" y="2907030"/>
            <a:chExt cx="196850" cy="196215"/>
          </a:xfrm>
        </p:grpSpPr>
        <p:sp>
          <p:nvSpPr>
            <p:cNvPr id="72" name="object 72"/>
            <p:cNvSpPr/>
            <p:nvPr/>
          </p:nvSpPr>
          <p:spPr>
            <a:xfrm>
              <a:off x="2478372" y="2910803"/>
              <a:ext cx="93345" cy="188595"/>
            </a:xfrm>
            <a:custGeom>
              <a:avLst/>
              <a:gdLst/>
              <a:ahLst/>
              <a:cxnLst/>
              <a:rect l="l" t="t" r="r" b="b"/>
              <a:pathLst>
                <a:path w="93344" h="188594">
                  <a:moveTo>
                    <a:pt x="93340" y="0"/>
                  </a:moveTo>
                  <a:lnTo>
                    <a:pt x="0" y="0"/>
                  </a:lnTo>
                  <a:lnTo>
                    <a:pt x="0" y="188396"/>
                  </a:lnTo>
                  <a:lnTo>
                    <a:pt x="93340" y="188396"/>
                  </a:lnTo>
                  <a:lnTo>
                    <a:pt x="9334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478372" y="2910803"/>
              <a:ext cx="93345" cy="188595"/>
            </a:xfrm>
            <a:custGeom>
              <a:avLst/>
              <a:gdLst/>
              <a:ahLst/>
              <a:cxnLst/>
              <a:rect l="l" t="t" r="r" b="b"/>
              <a:pathLst>
                <a:path w="93344" h="188594">
                  <a:moveTo>
                    <a:pt x="0" y="188396"/>
                  </a:moveTo>
                  <a:lnTo>
                    <a:pt x="93340" y="188396"/>
                  </a:lnTo>
                  <a:lnTo>
                    <a:pt x="93340" y="0"/>
                  </a:lnTo>
                  <a:lnTo>
                    <a:pt x="0" y="0"/>
                  </a:lnTo>
                  <a:lnTo>
                    <a:pt x="0" y="188396"/>
                  </a:lnTo>
                  <a:close/>
                </a:path>
              </a:pathLst>
            </a:custGeom>
            <a:ln w="7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571762" y="2910803"/>
              <a:ext cx="95885" cy="188595"/>
            </a:xfrm>
            <a:custGeom>
              <a:avLst/>
              <a:gdLst/>
              <a:ahLst/>
              <a:cxnLst/>
              <a:rect l="l" t="t" r="r" b="b"/>
              <a:pathLst>
                <a:path w="95885" h="188594">
                  <a:moveTo>
                    <a:pt x="95604" y="0"/>
                  </a:moveTo>
                  <a:lnTo>
                    <a:pt x="0" y="0"/>
                  </a:lnTo>
                  <a:lnTo>
                    <a:pt x="0" y="188396"/>
                  </a:lnTo>
                  <a:lnTo>
                    <a:pt x="95604" y="188396"/>
                  </a:lnTo>
                  <a:lnTo>
                    <a:pt x="9560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571762" y="2910803"/>
              <a:ext cx="95885" cy="188595"/>
            </a:xfrm>
            <a:custGeom>
              <a:avLst/>
              <a:gdLst/>
              <a:ahLst/>
              <a:cxnLst/>
              <a:rect l="l" t="t" r="r" b="b"/>
              <a:pathLst>
                <a:path w="95885" h="188594">
                  <a:moveTo>
                    <a:pt x="0" y="188396"/>
                  </a:moveTo>
                  <a:lnTo>
                    <a:pt x="95604" y="188396"/>
                  </a:lnTo>
                  <a:lnTo>
                    <a:pt x="95604" y="0"/>
                  </a:lnTo>
                  <a:lnTo>
                    <a:pt x="0" y="0"/>
                  </a:lnTo>
                  <a:lnTo>
                    <a:pt x="0" y="188396"/>
                  </a:lnTo>
                  <a:close/>
                </a:path>
              </a:pathLst>
            </a:custGeom>
            <a:ln w="75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719655" y="3002538"/>
            <a:ext cx="2844165" cy="1057910"/>
            <a:chOff x="719655" y="3002538"/>
            <a:chExt cx="2844165" cy="1057910"/>
          </a:xfrm>
        </p:grpSpPr>
        <p:sp>
          <p:nvSpPr>
            <p:cNvPr id="77" name="object 77"/>
            <p:cNvSpPr/>
            <p:nvPr/>
          </p:nvSpPr>
          <p:spPr>
            <a:xfrm>
              <a:off x="731085" y="3672102"/>
              <a:ext cx="518795" cy="377190"/>
            </a:xfrm>
            <a:custGeom>
              <a:avLst/>
              <a:gdLst/>
              <a:ahLst/>
              <a:cxnLst/>
              <a:rect l="l" t="t" r="r" b="b"/>
              <a:pathLst>
                <a:path w="518794" h="377189">
                  <a:moveTo>
                    <a:pt x="0" y="376792"/>
                  </a:moveTo>
                  <a:lnTo>
                    <a:pt x="518781" y="376792"/>
                  </a:lnTo>
                  <a:lnTo>
                    <a:pt x="518781" y="0"/>
                  </a:lnTo>
                  <a:lnTo>
                    <a:pt x="0" y="0"/>
                  </a:lnTo>
                  <a:lnTo>
                    <a:pt x="0" y="376792"/>
                  </a:lnTo>
                </a:path>
              </a:pathLst>
            </a:custGeom>
            <a:ln w="22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4785" y="3291285"/>
              <a:ext cx="196491" cy="196193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630019" y="3006348"/>
              <a:ext cx="896619" cy="228600"/>
            </a:xfrm>
            <a:custGeom>
              <a:avLst/>
              <a:gdLst/>
              <a:ahLst/>
              <a:cxnLst/>
              <a:rect l="l" t="t" r="r" b="b"/>
              <a:pathLst>
                <a:path w="896619" h="228600">
                  <a:moveTo>
                    <a:pt x="896202" y="0"/>
                  </a:moveTo>
                  <a:lnTo>
                    <a:pt x="0" y="228565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582222" y="3199701"/>
              <a:ext cx="73025" cy="65405"/>
            </a:xfrm>
            <a:custGeom>
              <a:avLst/>
              <a:gdLst/>
              <a:ahLst/>
              <a:cxnLst/>
              <a:rect l="l" t="t" r="r" b="b"/>
              <a:pathLst>
                <a:path w="73025" h="65404">
                  <a:moveTo>
                    <a:pt x="55352" y="0"/>
                  </a:moveTo>
                  <a:lnTo>
                    <a:pt x="0" y="47683"/>
                  </a:lnTo>
                  <a:lnTo>
                    <a:pt x="72959" y="65289"/>
                  </a:lnTo>
                  <a:lnTo>
                    <a:pt x="60378" y="45168"/>
                  </a:lnTo>
                  <a:lnTo>
                    <a:pt x="55352" y="22636"/>
                  </a:lnTo>
                  <a:lnTo>
                    <a:pt x="55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619507" y="3006348"/>
              <a:ext cx="894080" cy="228600"/>
            </a:xfrm>
            <a:custGeom>
              <a:avLst/>
              <a:gdLst/>
              <a:ahLst/>
              <a:cxnLst/>
              <a:rect l="l" t="t" r="r" b="b"/>
              <a:pathLst>
                <a:path w="894079" h="228600">
                  <a:moveTo>
                    <a:pt x="0" y="0"/>
                  </a:moveTo>
                  <a:lnTo>
                    <a:pt x="893715" y="228565"/>
                  </a:lnTo>
                </a:path>
              </a:pathLst>
            </a:custGeom>
            <a:ln w="753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88038" y="3199701"/>
              <a:ext cx="76200" cy="65405"/>
            </a:xfrm>
            <a:custGeom>
              <a:avLst/>
              <a:gdLst/>
              <a:ahLst/>
              <a:cxnLst/>
              <a:rect l="l" t="t" r="r" b="b"/>
              <a:pathLst>
                <a:path w="76200" h="65404">
                  <a:moveTo>
                    <a:pt x="17628" y="0"/>
                  </a:moveTo>
                  <a:lnTo>
                    <a:pt x="20147" y="22636"/>
                  </a:lnTo>
                  <a:lnTo>
                    <a:pt x="12591" y="45168"/>
                  </a:lnTo>
                  <a:lnTo>
                    <a:pt x="0" y="65289"/>
                  </a:lnTo>
                  <a:lnTo>
                    <a:pt x="75761" y="47683"/>
                  </a:lnTo>
                  <a:lnTo>
                    <a:pt x="176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1730511" y="3016054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412378" y="3016054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1015636" y="3386835"/>
            <a:ext cx="944880" cy="237490"/>
            <a:chOff x="1015636" y="3386835"/>
            <a:chExt cx="944880" cy="237490"/>
          </a:xfrm>
        </p:grpSpPr>
        <p:sp>
          <p:nvSpPr>
            <p:cNvPr id="86" name="object 86"/>
            <p:cNvSpPr/>
            <p:nvPr/>
          </p:nvSpPr>
          <p:spPr>
            <a:xfrm>
              <a:off x="1060925" y="3390645"/>
              <a:ext cx="425450" cy="211454"/>
            </a:xfrm>
            <a:custGeom>
              <a:avLst/>
              <a:gdLst/>
              <a:ahLst/>
              <a:cxnLst/>
              <a:rect l="l" t="t" r="r" b="b"/>
              <a:pathLst>
                <a:path w="425450" h="211454">
                  <a:moveTo>
                    <a:pt x="425440" y="0"/>
                  </a:moveTo>
                  <a:lnTo>
                    <a:pt x="0" y="210970"/>
                  </a:lnTo>
                </a:path>
              </a:pathLst>
            </a:custGeom>
            <a:ln w="75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015636" y="3563982"/>
              <a:ext cx="75565" cy="60325"/>
            </a:xfrm>
            <a:custGeom>
              <a:avLst/>
              <a:gdLst/>
              <a:ahLst/>
              <a:cxnLst/>
              <a:rect l="l" t="t" r="r" b="b"/>
              <a:pathLst>
                <a:path w="75565" h="60325">
                  <a:moveTo>
                    <a:pt x="45289" y="0"/>
                  </a:moveTo>
                  <a:lnTo>
                    <a:pt x="0" y="60206"/>
                  </a:lnTo>
                  <a:lnTo>
                    <a:pt x="75478" y="60206"/>
                  </a:lnTo>
                  <a:lnTo>
                    <a:pt x="57870" y="45157"/>
                  </a:lnTo>
                  <a:lnTo>
                    <a:pt x="47807" y="22584"/>
                  </a:lnTo>
                  <a:lnTo>
                    <a:pt x="452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582222" y="3390645"/>
              <a:ext cx="332740" cy="208915"/>
            </a:xfrm>
            <a:custGeom>
              <a:avLst/>
              <a:gdLst/>
              <a:ahLst/>
              <a:cxnLst/>
              <a:rect l="l" t="t" r="r" b="b"/>
              <a:pathLst>
                <a:path w="332739" h="208914">
                  <a:moveTo>
                    <a:pt x="0" y="0"/>
                  </a:moveTo>
                  <a:lnTo>
                    <a:pt x="332344" y="208465"/>
                  </a:lnTo>
                </a:path>
              </a:pathLst>
            </a:custGeom>
            <a:ln w="75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881827" y="3561466"/>
              <a:ext cx="78105" cy="62865"/>
            </a:xfrm>
            <a:custGeom>
              <a:avLst/>
              <a:gdLst/>
              <a:ahLst/>
              <a:cxnLst/>
              <a:rect l="l" t="t" r="r" b="b"/>
              <a:pathLst>
                <a:path w="78105" h="62864">
                  <a:moveTo>
                    <a:pt x="37775" y="0"/>
                  </a:moveTo>
                  <a:lnTo>
                    <a:pt x="30220" y="22636"/>
                  </a:lnTo>
                  <a:lnTo>
                    <a:pt x="20147" y="42653"/>
                  </a:lnTo>
                  <a:lnTo>
                    <a:pt x="0" y="57712"/>
                  </a:lnTo>
                  <a:lnTo>
                    <a:pt x="78070" y="62721"/>
                  </a:lnTo>
                  <a:lnTo>
                    <a:pt x="377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070870" y="3392805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826105" y="3392805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3319411" y="3300088"/>
            <a:ext cx="518795" cy="189230"/>
          </a:xfrm>
          <a:custGeom>
            <a:avLst/>
            <a:gdLst/>
            <a:ahLst/>
            <a:cxnLst/>
            <a:rect l="l" t="t" r="r" b="b"/>
            <a:pathLst>
              <a:path w="518795" h="189229">
                <a:moveTo>
                  <a:pt x="0" y="188648"/>
                </a:moveTo>
                <a:lnTo>
                  <a:pt x="518526" y="188648"/>
                </a:lnTo>
                <a:lnTo>
                  <a:pt x="518526" y="0"/>
                </a:lnTo>
                <a:lnTo>
                  <a:pt x="0" y="0"/>
                </a:lnTo>
                <a:lnTo>
                  <a:pt x="0" y="188648"/>
                </a:lnTo>
                <a:close/>
              </a:path>
            </a:pathLst>
          </a:custGeom>
          <a:ln w="7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3305323" y="3292198"/>
            <a:ext cx="54737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10001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3319411" y="3488726"/>
            <a:ext cx="518795" cy="188595"/>
          </a:xfrm>
          <a:custGeom>
            <a:avLst/>
            <a:gdLst/>
            <a:ahLst/>
            <a:cxnLst/>
            <a:rect l="l" t="t" r="r" b="b"/>
            <a:pathLst>
              <a:path w="518795" h="188595">
                <a:moveTo>
                  <a:pt x="0" y="188396"/>
                </a:moveTo>
                <a:lnTo>
                  <a:pt x="518526" y="188396"/>
                </a:lnTo>
                <a:lnTo>
                  <a:pt x="518526" y="0"/>
                </a:lnTo>
                <a:lnTo>
                  <a:pt x="0" y="0"/>
                </a:lnTo>
                <a:lnTo>
                  <a:pt x="0" y="188396"/>
                </a:lnTo>
                <a:close/>
              </a:path>
            </a:pathLst>
          </a:custGeom>
          <a:ln w="7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3305323" y="3480595"/>
            <a:ext cx="54737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Arial MT"/>
                <a:cs typeface="Arial MT"/>
              </a:rPr>
              <a:t>11101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3319411" y="3300098"/>
            <a:ext cx="518795" cy="377190"/>
          </a:xfrm>
          <a:custGeom>
            <a:avLst/>
            <a:gdLst/>
            <a:ahLst/>
            <a:cxnLst/>
            <a:rect l="l" t="t" r="r" b="b"/>
            <a:pathLst>
              <a:path w="518795" h="377189">
                <a:moveTo>
                  <a:pt x="0" y="377023"/>
                </a:moveTo>
                <a:lnTo>
                  <a:pt x="518579" y="377023"/>
                </a:lnTo>
                <a:lnTo>
                  <a:pt x="518579" y="0"/>
                </a:lnTo>
                <a:lnTo>
                  <a:pt x="0" y="0"/>
                </a:lnTo>
                <a:lnTo>
                  <a:pt x="0" y="377023"/>
                </a:lnTo>
              </a:path>
            </a:pathLst>
          </a:custGeom>
          <a:ln w="22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3367152" y="3669233"/>
            <a:ext cx="37719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334042" y="3668329"/>
            <a:ext cx="1242060" cy="768985"/>
            <a:chOff x="1334042" y="3668329"/>
            <a:chExt cx="1242060" cy="768985"/>
          </a:xfrm>
        </p:grpSpPr>
        <p:sp>
          <p:nvSpPr>
            <p:cNvPr id="99" name="object 99"/>
            <p:cNvSpPr/>
            <p:nvPr/>
          </p:nvSpPr>
          <p:spPr>
            <a:xfrm>
              <a:off x="1345472" y="4048885"/>
              <a:ext cx="518795" cy="377190"/>
            </a:xfrm>
            <a:custGeom>
              <a:avLst/>
              <a:gdLst/>
              <a:ahLst/>
              <a:cxnLst/>
              <a:rect l="l" t="t" r="r" b="b"/>
              <a:pathLst>
                <a:path w="518794" h="377189">
                  <a:moveTo>
                    <a:pt x="0" y="188396"/>
                  </a:moveTo>
                  <a:lnTo>
                    <a:pt x="518526" y="188396"/>
                  </a:lnTo>
                  <a:lnTo>
                    <a:pt x="518526" y="0"/>
                  </a:lnTo>
                  <a:lnTo>
                    <a:pt x="0" y="0"/>
                  </a:lnTo>
                  <a:lnTo>
                    <a:pt x="0" y="188396"/>
                  </a:lnTo>
                  <a:close/>
                </a:path>
                <a:path w="518794" h="377189">
                  <a:moveTo>
                    <a:pt x="0" y="376792"/>
                  </a:moveTo>
                  <a:lnTo>
                    <a:pt x="518526" y="376792"/>
                  </a:lnTo>
                  <a:lnTo>
                    <a:pt x="518526" y="188396"/>
                  </a:lnTo>
                  <a:lnTo>
                    <a:pt x="0" y="188396"/>
                  </a:lnTo>
                  <a:lnTo>
                    <a:pt x="0" y="376792"/>
                  </a:lnTo>
                  <a:close/>
                </a:path>
              </a:pathLst>
            </a:custGeom>
            <a:ln w="75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345472" y="4048895"/>
              <a:ext cx="518795" cy="377190"/>
            </a:xfrm>
            <a:custGeom>
              <a:avLst/>
              <a:gdLst/>
              <a:ahLst/>
              <a:cxnLst/>
              <a:rect l="l" t="t" r="r" b="b"/>
              <a:pathLst>
                <a:path w="518794" h="377189">
                  <a:moveTo>
                    <a:pt x="0" y="376782"/>
                  </a:moveTo>
                  <a:lnTo>
                    <a:pt x="518516" y="376782"/>
                  </a:lnTo>
                  <a:lnTo>
                    <a:pt x="518516" y="0"/>
                  </a:lnTo>
                  <a:lnTo>
                    <a:pt x="0" y="0"/>
                  </a:lnTo>
                  <a:lnTo>
                    <a:pt x="0" y="376782"/>
                  </a:lnTo>
                </a:path>
              </a:pathLst>
            </a:custGeom>
            <a:ln w="22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0216" y="3668329"/>
              <a:ext cx="196543" cy="19594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2052973" y="4048885"/>
              <a:ext cx="518795" cy="188595"/>
            </a:xfrm>
            <a:custGeom>
              <a:avLst/>
              <a:gdLst/>
              <a:ahLst/>
              <a:cxnLst/>
              <a:rect l="l" t="t" r="r" b="b"/>
              <a:pathLst>
                <a:path w="518794" h="188595">
                  <a:moveTo>
                    <a:pt x="0" y="188396"/>
                  </a:moveTo>
                  <a:lnTo>
                    <a:pt x="518778" y="188396"/>
                  </a:lnTo>
                  <a:lnTo>
                    <a:pt x="518778" y="0"/>
                  </a:lnTo>
                  <a:lnTo>
                    <a:pt x="0" y="0"/>
                  </a:lnTo>
                  <a:lnTo>
                    <a:pt x="0" y="188396"/>
                  </a:lnTo>
                  <a:close/>
                </a:path>
              </a:pathLst>
            </a:custGeom>
            <a:ln w="75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740667" y="4043510"/>
            <a:ext cx="185801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664845" algn="l"/>
                <a:tab pos="1372235" algn="l"/>
              </a:tabLst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Arial MT"/>
                <a:cs typeface="Arial MT"/>
              </a:rPr>
              <a:t>01010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r>
              <a:rPr sz="975" baseline="-25641" dirty="0">
                <a:latin typeface="Arial MT"/>
                <a:cs typeface="Arial MT"/>
              </a:rPr>
              <a:t>	</a:t>
            </a:r>
            <a:r>
              <a:rPr sz="1000" spc="-10" dirty="0">
                <a:latin typeface="Arial MT"/>
                <a:cs typeface="Arial MT"/>
              </a:rPr>
              <a:t>01110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052973" y="4237281"/>
            <a:ext cx="518795" cy="188595"/>
          </a:xfrm>
          <a:custGeom>
            <a:avLst/>
            <a:gdLst/>
            <a:ahLst/>
            <a:cxnLst/>
            <a:rect l="l" t="t" r="r" b="b"/>
            <a:pathLst>
              <a:path w="518794" h="188595">
                <a:moveTo>
                  <a:pt x="0" y="188396"/>
                </a:moveTo>
                <a:lnTo>
                  <a:pt x="518778" y="188396"/>
                </a:lnTo>
                <a:lnTo>
                  <a:pt x="518778" y="0"/>
                </a:lnTo>
                <a:lnTo>
                  <a:pt x="0" y="0"/>
                </a:lnTo>
                <a:lnTo>
                  <a:pt x="0" y="188396"/>
                </a:lnTo>
                <a:close/>
              </a:path>
            </a:pathLst>
          </a:custGeom>
          <a:ln w="75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2038885" y="4231907"/>
            <a:ext cx="54737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solidFill>
                  <a:srgbClr val="FF0000"/>
                </a:solidFill>
                <a:latin typeface="Arial MT"/>
                <a:cs typeface="Arial MT"/>
              </a:rPr>
              <a:t>10110</a:t>
            </a:r>
            <a:r>
              <a:rPr sz="975" spc="-15" baseline="-25641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627511" y="3763656"/>
            <a:ext cx="955675" cy="673735"/>
            <a:chOff x="1627511" y="3763656"/>
            <a:chExt cx="955675" cy="673735"/>
          </a:xfrm>
        </p:grpSpPr>
        <p:sp>
          <p:nvSpPr>
            <p:cNvPr id="107" name="object 107"/>
            <p:cNvSpPr/>
            <p:nvPr/>
          </p:nvSpPr>
          <p:spPr>
            <a:xfrm>
              <a:off x="2052973" y="4048895"/>
              <a:ext cx="518795" cy="377190"/>
            </a:xfrm>
            <a:custGeom>
              <a:avLst/>
              <a:gdLst/>
              <a:ahLst/>
              <a:cxnLst/>
              <a:rect l="l" t="t" r="r" b="b"/>
              <a:pathLst>
                <a:path w="518794" h="377189">
                  <a:moveTo>
                    <a:pt x="0" y="376782"/>
                  </a:moveTo>
                  <a:lnTo>
                    <a:pt x="518789" y="376782"/>
                  </a:lnTo>
                  <a:lnTo>
                    <a:pt x="518789" y="0"/>
                  </a:lnTo>
                  <a:lnTo>
                    <a:pt x="0" y="0"/>
                  </a:lnTo>
                  <a:lnTo>
                    <a:pt x="0" y="376782"/>
                  </a:lnTo>
                </a:path>
              </a:pathLst>
            </a:custGeom>
            <a:ln w="22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7511" y="3763656"/>
              <a:ext cx="288307" cy="23757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01353" y="3763656"/>
              <a:ext cx="288349" cy="237576"/>
            </a:xfrm>
            <a:prstGeom prst="rect">
              <a:avLst/>
            </a:prstGeom>
          </p:spPr>
        </p:pic>
      </p:grpSp>
      <p:sp>
        <p:nvSpPr>
          <p:cNvPr id="110" name="object 110"/>
          <p:cNvSpPr txBox="1"/>
          <p:nvPr/>
        </p:nvSpPr>
        <p:spPr>
          <a:xfrm>
            <a:off x="1637445" y="3769577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2186130" y="3769577"/>
            <a:ext cx="9588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720241" y="5741287"/>
            <a:ext cx="552450" cy="408305"/>
            <a:chOff x="720241" y="5741287"/>
            <a:chExt cx="552450" cy="408305"/>
          </a:xfrm>
        </p:grpSpPr>
        <p:sp>
          <p:nvSpPr>
            <p:cNvPr id="113" name="object 113"/>
            <p:cNvSpPr/>
            <p:nvPr/>
          </p:nvSpPr>
          <p:spPr>
            <a:xfrm>
              <a:off x="731988" y="5753035"/>
              <a:ext cx="528955" cy="384810"/>
            </a:xfrm>
            <a:custGeom>
              <a:avLst/>
              <a:gdLst/>
              <a:ahLst/>
              <a:cxnLst/>
              <a:rect l="l" t="t" r="r" b="b"/>
              <a:pathLst>
                <a:path w="528955" h="384810">
                  <a:moveTo>
                    <a:pt x="0" y="192271"/>
                  </a:moveTo>
                  <a:lnTo>
                    <a:pt x="528860" y="192271"/>
                  </a:lnTo>
                  <a:lnTo>
                    <a:pt x="528860" y="0"/>
                  </a:lnTo>
                  <a:lnTo>
                    <a:pt x="0" y="0"/>
                  </a:lnTo>
                  <a:lnTo>
                    <a:pt x="0" y="192271"/>
                  </a:lnTo>
                  <a:close/>
                </a:path>
                <a:path w="528955" h="384810">
                  <a:moveTo>
                    <a:pt x="0" y="384542"/>
                  </a:moveTo>
                  <a:lnTo>
                    <a:pt x="528860" y="384542"/>
                  </a:lnTo>
                  <a:lnTo>
                    <a:pt x="528860" y="192271"/>
                  </a:lnTo>
                  <a:lnTo>
                    <a:pt x="0" y="192271"/>
                  </a:lnTo>
                  <a:lnTo>
                    <a:pt x="0" y="384542"/>
                  </a:lnTo>
                  <a:close/>
                </a:path>
              </a:pathLst>
            </a:custGeom>
            <a:ln w="76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31988" y="5753035"/>
              <a:ext cx="528955" cy="384810"/>
            </a:xfrm>
            <a:custGeom>
              <a:avLst/>
              <a:gdLst/>
              <a:ahLst/>
              <a:cxnLst/>
              <a:rect l="l" t="t" r="r" b="b"/>
              <a:pathLst>
                <a:path w="528955" h="384810">
                  <a:moveTo>
                    <a:pt x="0" y="384542"/>
                  </a:moveTo>
                  <a:lnTo>
                    <a:pt x="528864" y="384542"/>
                  </a:lnTo>
                  <a:lnTo>
                    <a:pt x="528864" y="0"/>
                  </a:lnTo>
                  <a:lnTo>
                    <a:pt x="0" y="0"/>
                  </a:lnTo>
                  <a:lnTo>
                    <a:pt x="0" y="384542"/>
                  </a:lnTo>
                </a:path>
              </a:pathLst>
            </a:custGeom>
            <a:ln w="23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5" name="object 115"/>
          <p:cNvGrpSpPr/>
          <p:nvPr/>
        </p:nvGrpSpPr>
        <p:grpSpPr>
          <a:xfrm>
            <a:off x="1029904" y="4583579"/>
            <a:ext cx="3074035" cy="736600"/>
            <a:chOff x="1029904" y="4583579"/>
            <a:chExt cx="3074035" cy="736600"/>
          </a:xfrm>
        </p:grpSpPr>
        <p:sp>
          <p:nvSpPr>
            <p:cNvPr id="116" name="object 116"/>
            <p:cNvSpPr/>
            <p:nvPr/>
          </p:nvSpPr>
          <p:spPr>
            <a:xfrm>
              <a:off x="2521802" y="4587428"/>
              <a:ext cx="97790" cy="192405"/>
            </a:xfrm>
            <a:custGeom>
              <a:avLst/>
              <a:gdLst/>
              <a:ahLst/>
              <a:cxnLst/>
              <a:rect l="l" t="t" r="r" b="b"/>
              <a:pathLst>
                <a:path w="97789" h="192404">
                  <a:moveTo>
                    <a:pt x="97509" y="0"/>
                  </a:moveTo>
                  <a:lnTo>
                    <a:pt x="0" y="0"/>
                  </a:lnTo>
                  <a:lnTo>
                    <a:pt x="0" y="192271"/>
                  </a:lnTo>
                  <a:lnTo>
                    <a:pt x="97509" y="192271"/>
                  </a:lnTo>
                  <a:lnTo>
                    <a:pt x="9750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521802" y="4587428"/>
              <a:ext cx="97790" cy="192405"/>
            </a:xfrm>
            <a:custGeom>
              <a:avLst/>
              <a:gdLst/>
              <a:ahLst/>
              <a:cxnLst/>
              <a:rect l="l" t="t" r="r" b="b"/>
              <a:pathLst>
                <a:path w="97789" h="192404">
                  <a:moveTo>
                    <a:pt x="0" y="192271"/>
                  </a:moveTo>
                  <a:lnTo>
                    <a:pt x="97509" y="192271"/>
                  </a:lnTo>
                  <a:lnTo>
                    <a:pt x="97509" y="0"/>
                  </a:lnTo>
                  <a:lnTo>
                    <a:pt x="0" y="0"/>
                  </a:lnTo>
                  <a:lnTo>
                    <a:pt x="0" y="192271"/>
                  </a:lnTo>
                  <a:close/>
                </a:path>
              </a:pathLst>
            </a:custGeom>
            <a:ln w="7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619301" y="4587428"/>
              <a:ext cx="95250" cy="192405"/>
            </a:xfrm>
            <a:custGeom>
              <a:avLst/>
              <a:gdLst/>
              <a:ahLst/>
              <a:cxnLst/>
              <a:rect l="l" t="t" r="r" b="b"/>
              <a:pathLst>
                <a:path w="95250" h="192404">
                  <a:moveTo>
                    <a:pt x="94944" y="0"/>
                  </a:moveTo>
                  <a:lnTo>
                    <a:pt x="0" y="0"/>
                  </a:lnTo>
                  <a:lnTo>
                    <a:pt x="0" y="192271"/>
                  </a:lnTo>
                  <a:lnTo>
                    <a:pt x="94944" y="192271"/>
                  </a:lnTo>
                  <a:lnTo>
                    <a:pt x="9494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619301" y="4587428"/>
              <a:ext cx="95250" cy="192405"/>
            </a:xfrm>
            <a:custGeom>
              <a:avLst/>
              <a:gdLst/>
              <a:ahLst/>
              <a:cxnLst/>
              <a:rect l="l" t="t" r="r" b="b"/>
              <a:pathLst>
                <a:path w="95250" h="192404">
                  <a:moveTo>
                    <a:pt x="0" y="192271"/>
                  </a:moveTo>
                  <a:lnTo>
                    <a:pt x="94944" y="192271"/>
                  </a:lnTo>
                  <a:lnTo>
                    <a:pt x="94944" y="0"/>
                  </a:lnTo>
                  <a:lnTo>
                    <a:pt x="0" y="0"/>
                  </a:lnTo>
                  <a:lnTo>
                    <a:pt x="0" y="192271"/>
                  </a:lnTo>
                  <a:close/>
                </a:path>
              </a:pathLst>
            </a:custGeom>
            <a:ln w="76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9975" y="4975459"/>
              <a:ext cx="200159" cy="199968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1658843" y="4684724"/>
              <a:ext cx="911860" cy="233679"/>
            </a:xfrm>
            <a:custGeom>
              <a:avLst/>
              <a:gdLst/>
              <a:ahLst/>
              <a:cxnLst/>
              <a:rect l="l" t="t" r="r" b="b"/>
              <a:pathLst>
                <a:path w="911860" h="233679">
                  <a:moveTo>
                    <a:pt x="911761" y="0"/>
                  </a:moveTo>
                  <a:lnTo>
                    <a:pt x="0" y="233160"/>
                  </a:lnTo>
                </a:path>
              </a:pathLst>
            </a:custGeom>
            <a:ln w="76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607525" y="4882054"/>
              <a:ext cx="77470" cy="66675"/>
            </a:xfrm>
            <a:custGeom>
              <a:avLst/>
              <a:gdLst/>
              <a:ahLst/>
              <a:cxnLst/>
              <a:rect l="l" t="t" r="r" b="b"/>
              <a:pathLst>
                <a:path w="77469" h="66675">
                  <a:moveTo>
                    <a:pt x="59023" y="0"/>
                  </a:moveTo>
                  <a:lnTo>
                    <a:pt x="0" y="48664"/>
                  </a:lnTo>
                  <a:lnTo>
                    <a:pt x="76982" y="66632"/>
                  </a:lnTo>
                  <a:lnTo>
                    <a:pt x="64150" y="46097"/>
                  </a:lnTo>
                  <a:lnTo>
                    <a:pt x="56455" y="23102"/>
                  </a:lnTo>
                  <a:lnTo>
                    <a:pt x="59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668105" y="4684724"/>
              <a:ext cx="911860" cy="233679"/>
            </a:xfrm>
            <a:custGeom>
              <a:avLst/>
              <a:gdLst/>
              <a:ahLst/>
              <a:cxnLst/>
              <a:rect l="l" t="t" r="r" b="b"/>
              <a:pathLst>
                <a:path w="911860" h="233679">
                  <a:moveTo>
                    <a:pt x="0" y="0"/>
                  </a:moveTo>
                  <a:lnTo>
                    <a:pt x="911419" y="233160"/>
                  </a:lnTo>
                </a:path>
              </a:pathLst>
            </a:custGeom>
            <a:ln w="76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553838" y="4882054"/>
              <a:ext cx="77470" cy="66675"/>
            </a:xfrm>
            <a:custGeom>
              <a:avLst/>
              <a:gdLst/>
              <a:ahLst/>
              <a:cxnLst/>
              <a:rect l="l" t="t" r="r" b="b"/>
              <a:pathLst>
                <a:path w="77470" h="66675">
                  <a:moveTo>
                    <a:pt x="17980" y="0"/>
                  </a:moveTo>
                  <a:lnTo>
                    <a:pt x="17980" y="23102"/>
                  </a:lnTo>
                  <a:lnTo>
                    <a:pt x="12842" y="46097"/>
                  </a:lnTo>
                  <a:lnTo>
                    <a:pt x="0" y="66632"/>
                  </a:lnTo>
                  <a:lnTo>
                    <a:pt x="77057" y="48664"/>
                  </a:lnTo>
                  <a:lnTo>
                    <a:pt x="17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76096" y="5076604"/>
              <a:ext cx="436880" cy="215900"/>
            </a:xfrm>
            <a:custGeom>
              <a:avLst/>
              <a:gdLst/>
              <a:ahLst/>
              <a:cxnLst/>
              <a:rect l="l" t="t" r="r" b="b"/>
              <a:pathLst>
                <a:path w="436880" h="215900">
                  <a:moveTo>
                    <a:pt x="436488" y="0"/>
                  </a:moveTo>
                  <a:lnTo>
                    <a:pt x="0" y="215352"/>
                  </a:lnTo>
                </a:path>
              </a:pathLst>
            </a:custGeom>
            <a:ln w="7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29904" y="5253506"/>
              <a:ext cx="77470" cy="61594"/>
            </a:xfrm>
            <a:custGeom>
              <a:avLst/>
              <a:gdLst/>
              <a:ahLst/>
              <a:cxnLst/>
              <a:rect l="l" t="t" r="r" b="b"/>
              <a:pathLst>
                <a:path w="77469" h="61595">
                  <a:moveTo>
                    <a:pt x="46191" y="0"/>
                  </a:moveTo>
                  <a:lnTo>
                    <a:pt x="0" y="61487"/>
                  </a:lnTo>
                  <a:lnTo>
                    <a:pt x="76982" y="61487"/>
                  </a:lnTo>
                  <a:lnTo>
                    <a:pt x="61592" y="46129"/>
                  </a:lnTo>
                  <a:lnTo>
                    <a:pt x="51328" y="23102"/>
                  </a:lnTo>
                  <a:lnTo>
                    <a:pt x="4619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607525" y="5076604"/>
              <a:ext cx="341630" cy="213360"/>
            </a:xfrm>
            <a:custGeom>
              <a:avLst/>
              <a:gdLst/>
              <a:ahLst/>
              <a:cxnLst/>
              <a:rect l="l" t="t" r="r" b="b"/>
              <a:pathLst>
                <a:path w="341630" h="213360">
                  <a:moveTo>
                    <a:pt x="0" y="0"/>
                  </a:moveTo>
                  <a:lnTo>
                    <a:pt x="341589" y="212785"/>
                  </a:lnTo>
                </a:path>
              </a:pathLst>
            </a:custGeom>
            <a:ln w="7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915723" y="5250939"/>
              <a:ext cx="77470" cy="64135"/>
            </a:xfrm>
            <a:custGeom>
              <a:avLst/>
              <a:gdLst/>
              <a:ahLst/>
              <a:cxnLst/>
              <a:rect l="l" t="t" r="r" b="b"/>
              <a:pathLst>
                <a:path w="77469" h="64135">
                  <a:moveTo>
                    <a:pt x="35960" y="0"/>
                  </a:moveTo>
                  <a:lnTo>
                    <a:pt x="30823" y="23102"/>
                  </a:lnTo>
                  <a:lnTo>
                    <a:pt x="17980" y="43573"/>
                  </a:lnTo>
                  <a:lnTo>
                    <a:pt x="0" y="58931"/>
                  </a:lnTo>
                  <a:lnTo>
                    <a:pt x="76950" y="64054"/>
                  </a:lnTo>
                  <a:lnTo>
                    <a:pt x="35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7970" y="4980593"/>
              <a:ext cx="200396" cy="199968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3186638" y="5079491"/>
              <a:ext cx="434340" cy="217804"/>
            </a:xfrm>
            <a:custGeom>
              <a:avLst/>
              <a:gdLst/>
              <a:ahLst/>
              <a:cxnLst/>
              <a:rect l="l" t="t" r="r" b="b"/>
              <a:pathLst>
                <a:path w="434339" h="217804">
                  <a:moveTo>
                    <a:pt x="433983" y="0"/>
                  </a:moveTo>
                  <a:lnTo>
                    <a:pt x="0" y="217576"/>
                  </a:lnTo>
                </a:path>
              </a:pathLst>
            </a:custGeom>
            <a:ln w="7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140510" y="5258640"/>
              <a:ext cx="77470" cy="61594"/>
            </a:xfrm>
            <a:custGeom>
              <a:avLst/>
              <a:gdLst/>
              <a:ahLst/>
              <a:cxnLst/>
              <a:rect l="l" t="t" r="r" b="b"/>
              <a:pathLst>
                <a:path w="77469" h="61595">
                  <a:moveTo>
                    <a:pt x="46127" y="0"/>
                  </a:moveTo>
                  <a:lnTo>
                    <a:pt x="0" y="61477"/>
                  </a:lnTo>
                  <a:lnTo>
                    <a:pt x="76950" y="61477"/>
                  </a:lnTo>
                  <a:lnTo>
                    <a:pt x="58970" y="43551"/>
                  </a:lnTo>
                  <a:lnTo>
                    <a:pt x="48696" y="23070"/>
                  </a:lnTo>
                  <a:lnTo>
                    <a:pt x="461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718334" y="5079491"/>
              <a:ext cx="339090" cy="212725"/>
            </a:xfrm>
            <a:custGeom>
              <a:avLst/>
              <a:gdLst/>
              <a:ahLst/>
              <a:cxnLst/>
              <a:rect l="l" t="t" r="r" b="b"/>
              <a:pathLst>
                <a:path w="339089" h="212725">
                  <a:moveTo>
                    <a:pt x="0" y="0"/>
                  </a:moveTo>
                  <a:lnTo>
                    <a:pt x="338732" y="212464"/>
                  </a:lnTo>
                </a:path>
              </a:pathLst>
            </a:custGeom>
            <a:ln w="76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023675" y="5253506"/>
              <a:ext cx="80010" cy="66675"/>
            </a:xfrm>
            <a:custGeom>
              <a:avLst/>
              <a:gdLst/>
              <a:ahLst/>
              <a:cxnLst/>
              <a:rect l="l" t="t" r="r" b="b"/>
              <a:pathLst>
                <a:path w="80010" h="66675">
                  <a:moveTo>
                    <a:pt x="38528" y="0"/>
                  </a:moveTo>
                  <a:lnTo>
                    <a:pt x="30823" y="23102"/>
                  </a:lnTo>
                  <a:lnTo>
                    <a:pt x="20548" y="43562"/>
                  </a:lnTo>
                  <a:lnTo>
                    <a:pt x="0" y="58931"/>
                  </a:lnTo>
                  <a:lnTo>
                    <a:pt x="79840" y="66611"/>
                  </a:lnTo>
                  <a:lnTo>
                    <a:pt x="385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673100" y="4420300"/>
            <a:ext cx="3454400" cy="8439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2155" algn="l"/>
                <a:tab pos="1439545" algn="l"/>
                <a:tab pos="3441065" algn="l"/>
              </a:tabLst>
            </a:pPr>
            <a:r>
              <a:rPr sz="1000" u="dash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	Bloc</a:t>
            </a:r>
            <a:r>
              <a:rPr sz="1000" u="dash" spc="-15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000" u="dash" spc="-50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2</a:t>
            </a:r>
            <a:r>
              <a:rPr sz="1000" u="dash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	Bloc</a:t>
            </a:r>
            <a:r>
              <a:rPr sz="1000" u="dash" spc="-15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 </a:t>
            </a:r>
            <a:r>
              <a:rPr sz="1000" u="dash" spc="-50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3</a:t>
            </a:r>
            <a:r>
              <a:rPr sz="1000" u="dash" dirty="0"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	</a:t>
            </a:r>
            <a:endParaRPr sz="1000">
              <a:latin typeface="Arial MT"/>
              <a:cs typeface="Arial MT"/>
            </a:endParaRPr>
          </a:p>
          <a:p>
            <a:pPr marL="1101090">
              <a:lnSpc>
                <a:spcPct val="100000"/>
              </a:lnSpc>
              <a:spcBef>
                <a:spcPts val="980"/>
              </a:spcBef>
              <a:tabLst>
                <a:tab pos="2816225" algn="l"/>
              </a:tabLst>
            </a:pP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000">
              <a:latin typeface="Arial MT"/>
              <a:cs typeface="Arial MT"/>
            </a:endParaRPr>
          </a:p>
          <a:p>
            <a:pPr marL="426084">
              <a:lnSpc>
                <a:spcPct val="100000"/>
              </a:lnSpc>
              <a:spcBef>
                <a:spcPts val="5"/>
              </a:spcBef>
              <a:tabLst>
                <a:tab pos="1195705" algn="l"/>
                <a:tab pos="2536190" algn="l"/>
                <a:tab pos="3306445" algn="l"/>
              </a:tabLst>
            </a:pPr>
            <a:r>
              <a:rPr sz="1500" spc="-75" baseline="2777" dirty="0">
                <a:latin typeface="Arial MT"/>
                <a:cs typeface="Arial MT"/>
              </a:rPr>
              <a:t>0</a:t>
            </a:r>
            <a:r>
              <a:rPr sz="1500" baseline="2777" dirty="0">
                <a:latin typeface="Arial MT"/>
                <a:cs typeface="Arial MT"/>
              </a:rPr>
              <a:t>	</a:t>
            </a:r>
            <a:r>
              <a:rPr sz="1500" spc="-75" baseline="2777" dirty="0">
                <a:latin typeface="Arial MT"/>
                <a:cs typeface="Arial MT"/>
              </a:rPr>
              <a:t>1</a:t>
            </a:r>
            <a:r>
              <a:rPr sz="1500" baseline="2777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3379389" y="5753035"/>
            <a:ext cx="531495" cy="192405"/>
          </a:xfrm>
          <a:custGeom>
            <a:avLst/>
            <a:gdLst/>
            <a:ahLst/>
            <a:cxnLst/>
            <a:rect l="l" t="t" r="r" b="b"/>
            <a:pathLst>
              <a:path w="531495" h="192404">
                <a:moveTo>
                  <a:pt x="0" y="192271"/>
                </a:moveTo>
                <a:lnTo>
                  <a:pt x="531429" y="192271"/>
                </a:lnTo>
                <a:lnTo>
                  <a:pt x="531429" y="0"/>
                </a:lnTo>
                <a:lnTo>
                  <a:pt x="0" y="0"/>
                </a:lnTo>
                <a:lnTo>
                  <a:pt x="0" y="192271"/>
                </a:lnTo>
                <a:close/>
              </a:path>
            </a:pathLst>
          </a:custGeom>
          <a:ln w="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3365531" y="5745501"/>
            <a:ext cx="55943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10"/>
              </a:spcBef>
            </a:pPr>
            <a:r>
              <a:rPr sz="1000" spc="-10" dirty="0">
                <a:latin typeface="Arial MT"/>
                <a:cs typeface="Arial MT"/>
              </a:rPr>
              <a:t>10001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3379389" y="5945306"/>
            <a:ext cx="531495" cy="192405"/>
          </a:xfrm>
          <a:custGeom>
            <a:avLst/>
            <a:gdLst/>
            <a:ahLst/>
            <a:cxnLst/>
            <a:rect l="l" t="t" r="r" b="b"/>
            <a:pathLst>
              <a:path w="531495" h="192404">
                <a:moveTo>
                  <a:pt x="0" y="192271"/>
                </a:moveTo>
                <a:lnTo>
                  <a:pt x="531429" y="192271"/>
                </a:lnTo>
                <a:lnTo>
                  <a:pt x="531429" y="0"/>
                </a:lnTo>
                <a:lnTo>
                  <a:pt x="0" y="0"/>
                </a:lnTo>
                <a:lnTo>
                  <a:pt x="0" y="192271"/>
                </a:lnTo>
                <a:close/>
              </a:path>
            </a:pathLst>
          </a:custGeom>
          <a:ln w="76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3365531" y="5937516"/>
            <a:ext cx="55943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10"/>
              </a:spcBef>
            </a:pPr>
            <a:r>
              <a:rPr sz="1000" spc="-10" dirty="0">
                <a:latin typeface="Arial MT"/>
                <a:cs typeface="Arial MT"/>
              </a:rPr>
              <a:t>11101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endParaRPr sz="975" baseline="-29914">
              <a:latin typeface="Arial MT"/>
              <a:cs typeface="Arial MT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3379389" y="5753035"/>
            <a:ext cx="531495" cy="384810"/>
          </a:xfrm>
          <a:custGeom>
            <a:avLst/>
            <a:gdLst/>
            <a:ahLst/>
            <a:cxnLst/>
            <a:rect l="l" t="t" r="r" b="b"/>
            <a:pathLst>
              <a:path w="531495" h="384810">
                <a:moveTo>
                  <a:pt x="0" y="384542"/>
                </a:moveTo>
                <a:lnTo>
                  <a:pt x="531482" y="384542"/>
                </a:lnTo>
                <a:lnTo>
                  <a:pt x="531482" y="0"/>
                </a:lnTo>
                <a:lnTo>
                  <a:pt x="0" y="0"/>
                </a:lnTo>
                <a:lnTo>
                  <a:pt x="0" y="384542"/>
                </a:lnTo>
              </a:path>
            </a:pathLst>
          </a:custGeom>
          <a:ln w="230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 txBox="1"/>
          <p:nvPr/>
        </p:nvSpPr>
        <p:spPr>
          <a:xfrm>
            <a:off x="3428227" y="6129785"/>
            <a:ext cx="38417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354771" y="5359788"/>
            <a:ext cx="1276350" cy="784225"/>
            <a:chOff x="1354771" y="5359788"/>
            <a:chExt cx="1276350" cy="784225"/>
          </a:xfrm>
        </p:grpSpPr>
        <p:sp>
          <p:nvSpPr>
            <p:cNvPr id="142" name="object 142"/>
            <p:cNvSpPr/>
            <p:nvPr/>
          </p:nvSpPr>
          <p:spPr>
            <a:xfrm>
              <a:off x="1366314" y="5747912"/>
              <a:ext cx="531495" cy="384810"/>
            </a:xfrm>
            <a:custGeom>
              <a:avLst/>
              <a:gdLst/>
              <a:ahLst/>
              <a:cxnLst/>
              <a:rect l="l" t="t" r="r" b="b"/>
              <a:pathLst>
                <a:path w="531494" h="384810">
                  <a:moveTo>
                    <a:pt x="0" y="192271"/>
                  </a:moveTo>
                  <a:lnTo>
                    <a:pt x="531429" y="192271"/>
                  </a:lnTo>
                  <a:lnTo>
                    <a:pt x="531429" y="0"/>
                  </a:lnTo>
                  <a:lnTo>
                    <a:pt x="0" y="0"/>
                  </a:lnTo>
                  <a:lnTo>
                    <a:pt x="0" y="192271"/>
                  </a:lnTo>
                  <a:close/>
                </a:path>
                <a:path w="531494" h="384810">
                  <a:moveTo>
                    <a:pt x="0" y="384542"/>
                  </a:moveTo>
                  <a:lnTo>
                    <a:pt x="531429" y="384542"/>
                  </a:lnTo>
                  <a:lnTo>
                    <a:pt x="531429" y="192271"/>
                  </a:lnTo>
                  <a:lnTo>
                    <a:pt x="0" y="192271"/>
                  </a:lnTo>
                  <a:lnTo>
                    <a:pt x="0" y="384542"/>
                  </a:lnTo>
                  <a:close/>
                </a:path>
              </a:pathLst>
            </a:custGeom>
            <a:ln w="76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366314" y="5747912"/>
              <a:ext cx="531495" cy="384810"/>
            </a:xfrm>
            <a:custGeom>
              <a:avLst/>
              <a:gdLst/>
              <a:ahLst/>
              <a:cxnLst/>
              <a:rect l="l" t="t" r="r" b="b"/>
              <a:pathLst>
                <a:path w="531494" h="384810">
                  <a:moveTo>
                    <a:pt x="0" y="384542"/>
                  </a:moveTo>
                  <a:lnTo>
                    <a:pt x="531429" y="384542"/>
                  </a:lnTo>
                  <a:lnTo>
                    <a:pt x="531429" y="0"/>
                  </a:lnTo>
                  <a:lnTo>
                    <a:pt x="0" y="0"/>
                  </a:lnTo>
                  <a:lnTo>
                    <a:pt x="0" y="384542"/>
                  </a:lnTo>
                </a:path>
              </a:pathLst>
            </a:custGeom>
            <a:ln w="23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895" y="5359788"/>
              <a:ext cx="200394" cy="199968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2090494" y="5747912"/>
              <a:ext cx="528955" cy="384810"/>
            </a:xfrm>
            <a:custGeom>
              <a:avLst/>
              <a:gdLst/>
              <a:ahLst/>
              <a:cxnLst/>
              <a:rect l="l" t="t" r="r" b="b"/>
              <a:pathLst>
                <a:path w="528955" h="384810">
                  <a:moveTo>
                    <a:pt x="0" y="192271"/>
                  </a:moveTo>
                  <a:lnTo>
                    <a:pt x="528860" y="192271"/>
                  </a:lnTo>
                  <a:lnTo>
                    <a:pt x="528860" y="0"/>
                  </a:lnTo>
                  <a:lnTo>
                    <a:pt x="0" y="0"/>
                  </a:lnTo>
                  <a:lnTo>
                    <a:pt x="0" y="192271"/>
                  </a:lnTo>
                  <a:close/>
                </a:path>
                <a:path w="528955" h="384810">
                  <a:moveTo>
                    <a:pt x="0" y="384542"/>
                  </a:moveTo>
                  <a:lnTo>
                    <a:pt x="528860" y="384542"/>
                  </a:lnTo>
                  <a:lnTo>
                    <a:pt x="528860" y="192271"/>
                  </a:lnTo>
                  <a:lnTo>
                    <a:pt x="0" y="192271"/>
                  </a:lnTo>
                  <a:lnTo>
                    <a:pt x="0" y="384542"/>
                  </a:lnTo>
                  <a:close/>
                </a:path>
              </a:pathLst>
            </a:custGeom>
            <a:ln w="76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090494" y="5747912"/>
              <a:ext cx="528955" cy="384810"/>
            </a:xfrm>
            <a:custGeom>
              <a:avLst/>
              <a:gdLst/>
              <a:ahLst/>
              <a:cxnLst/>
              <a:rect l="l" t="t" r="r" b="b"/>
              <a:pathLst>
                <a:path w="528955" h="384810">
                  <a:moveTo>
                    <a:pt x="0" y="384542"/>
                  </a:moveTo>
                  <a:lnTo>
                    <a:pt x="528807" y="384542"/>
                  </a:lnTo>
                  <a:lnTo>
                    <a:pt x="528807" y="0"/>
                  </a:lnTo>
                  <a:lnTo>
                    <a:pt x="0" y="0"/>
                  </a:lnTo>
                  <a:lnTo>
                    <a:pt x="0" y="384542"/>
                  </a:lnTo>
                </a:path>
              </a:pathLst>
            </a:custGeom>
            <a:ln w="230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697597" y="5461179"/>
              <a:ext cx="246379" cy="205104"/>
            </a:xfrm>
            <a:custGeom>
              <a:avLst/>
              <a:gdLst/>
              <a:ahLst/>
              <a:cxnLst/>
              <a:rect l="l" t="t" r="r" b="b"/>
              <a:pathLst>
                <a:path w="246380" h="205104">
                  <a:moveTo>
                    <a:pt x="246380" y="0"/>
                  </a:moveTo>
                  <a:lnTo>
                    <a:pt x="0" y="204817"/>
                  </a:lnTo>
                </a:path>
              </a:pathLst>
            </a:custGeom>
            <a:ln w="76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656286" y="5630145"/>
              <a:ext cx="74930" cy="69215"/>
            </a:xfrm>
            <a:custGeom>
              <a:avLst/>
              <a:gdLst/>
              <a:ahLst/>
              <a:cxnLst/>
              <a:rect l="l" t="t" r="r" b="b"/>
              <a:pathLst>
                <a:path w="74930" h="69214">
                  <a:moveTo>
                    <a:pt x="30790" y="0"/>
                  </a:moveTo>
                  <a:lnTo>
                    <a:pt x="0" y="69124"/>
                  </a:lnTo>
                  <a:lnTo>
                    <a:pt x="74670" y="51209"/>
                  </a:lnTo>
                  <a:lnTo>
                    <a:pt x="54143" y="38407"/>
                  </a:lnTo>
                  <a:lnTo>
                    <a:pt x="38742" y="20481"/>
                  </a:lnTo>
                  <a:lnTo>
                    <a:pt x="307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041477" y="5461179"/>
              <a:ext cx="249554" cy="205104"/>
            </a:xfrm>
            <a:custGeom>
              <a:avLst/>
              <a:gdLst/>
              <a:ahLst/>
              <a:cxnLst/>
              <a:rect l="l" t="t" r="r" b="b"/>
              <a:pathLst>
                <a:path w="249555" h="205104">
                  <a:moveTo>
                    <a:pt x="0" y="0"/>
                  </a:moveTo>
                  <a:lnTo>
                    <a:pt x="249152" y="204817"/>
                  </a:lnTo>
                </a:path>
              </a:pathLst>
            </a:custGeom>
            <a:ln w="76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254670" y="5630145"/>
              <a:ext cx="74930" cy="69215"/>
            </a:xfrm>
            <a:custGeom>
              <a:avLst/>
              <a:gdLst/>
              <a:ahLst/>
              <a:cxnLst/>
              <a:rect l="l" t="t" r="r" b="b"/>
              <a:pathLst>
                <a:path w="74930" h="69214">
                  <a:moveTo>
                    <a:pt x="43665" y="0"/>
                  </a:moveTo>
                  <a:lnTo>
                    <a:pt x="35960" y="20481"/>
                  </a:lnTo>
                  <a:lnTo>
                    <a:pt x="20548" y="38407"/>
                  </a:lnTo>
                  <a:lnTo>
                    <a:pt x="0" y="51209"/>
                  </a:lnTo>
                  <a:lnTo>
                    <a:pt x="74381" y="69124"/>
                  </a:lnTo>
                  <a:lnTo>
                    <a:pt x="436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667330" y="5707346"/>
            <a:ext cx="2004060" cy="6019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409"/>
              </a:spcBef>
              <a:tabLst>
                <a:tab pos="762635" algn="l"/>
                <a:tab pos="1484630" algn="l"/>
              </a:tabLst>
            </a:pPr>
            <a:r>
              <a:rPr sz="1000" spc="-10" dirty="0">
                <a:latin typeface="Arial MT"/>
                <a:cs typeface="Arial MT"/>
              </a:rPr>
              <a:t>10100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r>
              <a:rPr sz="975" baseline="-29914" dirty="0">
                <a:latin typeface="Arial MT"/>
                <a:cs typeface="Arial MT"/>
              </a:rPr>
              <a:t>	</a:t>
            </a:r>
            <a:r>
              <a:rPr sz="1000" spc="-10" dirty="0">
                <a:latin typeface="Arial MT"/>
                <a:cs typeface="Arial MT"/>
              </a:rPr>
              <a:t>01010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r>
              <a:rPr sz="975" baseline="-25641" dirty="0">
                <a:latin typeface="Arial MT"/>
                <a:cs typeface="Arial MT"/>
              </a:rPr>
              <a:t>	</a:t>
            </a:r>
            <a:r>
              <a:rPr sz="1000" spc="-10" dirty="0">
                <a:latin typeface="Arial MT"/>
                <a:cs typeface="Arial MT"/>
              </a:rPr>
              <a:t>01110</a:t>
            </a:r>
            <a:r>
              <a:rPr sz="975" spc="-15" baseline="-25641" dirty="0"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  <a:p>
            <a:pPr marL="125730">
              <a:lnSpc>
                <a:spcPct val="100000"/>
              </a:lnSpc>
              <a:spcBef>
                <a:spcPts val="310"/>
              </a:spcBef>
              <a:tabLst>
                <a:tab pos="1484630" algn="l"/>
              </a:tabLst>
            </a:pPr>
            <a:r>
              <a:rPr sz="1000" spc="-10" dirty="0">
                <a:latin typeface="Arial MT"/>
                <a:cs typeface="Arial MT"/>
              </a:rPr>
              <a:t>11000</a:t>
            </a:r>
            <a:r>
              <a:rPr sz="975" spc="-15" baseline="-29914" dirty="0">
                <a:latin typeface="Arial MT"/>
                <a:cs typeface="Arial MT"/>
              </a:rPr>
              <a:t>2</a:t>
            </a:r>
            <a:r>
              <a:rPr sz="975" baseline="-29914" dirty="0">
                <a:latin typeface="Arial MT"/>
                <a:cs typeface="Arial MT"/>
              </a:rPr>
              <a:t>	</a:t>
            </a:r>
            <a:r>
              <a:rPr sz="1000" spc="-10" dirty="0">
                <a:solidFill>
                  <a:srgbClr val="FF0000"/>
                </a:solidFill>
                <a:latin typeface="Arial MT"/>
                <a:cs typeface="Arial MT"/>
              </a:rPr>
              <a:t>10110</a:t>
            </a:r>
            <a:r>
              <a:rPr sz="975" spc="-15" baseline="-25641" dirty="0">
                <a:solidFill>
                  <a:srgbClr val="FF0000"/>
                </a:solidFill>
                <a:latin typeface="Arial MT"/>
                <a:cs typeface="Arial MT"/>
              </a:rPr>
              <a:t>2</a:t>
            </a:r>
            <a:endParaRPr sz="975" baseline="-25641">
              <a:latin typeface="Arial MT"/>
              <a:cs typeface="Arial MT"/>
            </a:endParaRPr>
          </a:p>
          <a:p>
            <a:pPr marL="125730">
              <a:lnSpc>
                <a:spcPct val="100000"/>
              </a:lnSpc>
              <a:spcBef>
                <a:spcPts val="315"/>
              </a:spcBef>
              <a:tabLst>
                <a:tab pos="760095" algn="l"/>
                <a:tab pos="1484630" algn="l"/>
              </a:tabLst>
            </a:pPr>
            <a:r>
              <a:rPr sz="1000" dirty="0">
                <a:latin typeface="Arial MT"/>
                <a:cs typeface="Arial MT"/>
              </a:rPr>
              <a:t>Bloc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Bloc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2</a:t>
            </a:r>
            <a:r>
              <a:rPr sz="1000" dirty="0">
                <a:latin typeface="Arial MT"/>
                <a:cs typeface="Arial MT"/>
              </a:rPr>
              <a:t>	Bloc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3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059711" y="5364900"/>
            <a:ext cx="1132840" cy="202565"/>
            <a:chOff x="3059711" y="5364900"/>
            <a:chExt cx="1132840" cy="202565"/>
          </a:xfrm>
        </p:grpSpPr>
        <p:pic>
          <p:nvPicPr>
            <p:cNvPr id="153" name="object 1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91679" y="5364900"/>
              <a:ext cx="200396" cy="199968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59711" y="5367467"/>
              <a:ext cx="200137" cy="199968"/>
            </a:xfrm>
            <a:prstGeom prst="rect">
              <a:avLst/>
            </a:prstGeom>
          </p:spPr>
        </p:pic>
      </p:grpSp>
      <p:sp>
        <p:nvSpPr>
          <p:cNvPr id="155" name="object 155"/>
          <p:cNvSpPr txBox="1"/>
          <p:nvPr/>
        </p:nvSpPr>
        <p:spPr>
          <a:xfrm>
            <a:off x="3330728" y="5448275"/>
            <a:ext cx="62865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3560" algn="l"/>
              </a:tabLst>
            </a:pPr>
            <a:r>
              <a:rPr sz="1000" spc="-50" dirty="0">
                <a:latin typeface="Arial MT"/>
                <a:cs typeface="Arial MT"/>
              </a:rPr>
              <a:t>1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0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4247392" y="5448275"/>
            <a:ext cx="9715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157" name="object 15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9073" y="5364900"/>
            <a:ext cx="200151" cy="199968"/>
          </a:xfrm>
          <a:prstGeom prst="rect">
            <a:avLst/>
          </a:prstGeom>
        </p:spPr>
      </p:pic>
      <p:sp>
        <p:nvSpPr>
          <p:cNvPr id="158" name="object 158"/>
          <p:cNvSpPr txBox="1"/>
          <p:nvPr/>
        </p:nvSpPr>
        <p:spPr>
          <a:xfrm>
            <a:off x="819370" y="5476436"/>
            <a:ext cx="48196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97510" algn="l"/>
              </a:tabLst>
            </a:pP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664113" y="5463634"/>
            <a:ext cx="137096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72135" algn="l"/>
                <a:tab pos="1285875" algn="l"/>
              </a:tabLst>
            </a:pPr>
            <a:r>
              <a:rPr sz="1000" spc="-50" dirty="0">
                <a:latin typeface="Arial MT"/>
                <a:cs typeface="Arial MT"/>
              </a:rPr>
              <a:t>0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50" dirty="0">
                <a:latin typeface="Arial MT"/>
                <a:cs typeface="Arial MT"/>
              </a:rPr>
              <a:t>1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500" spc="-75" baseline="2777" dirty="0">
                <a:latin typeface="Arial MT"/>
                <a:cs typeface="Arial MT"/>
              </a:rPr>
              <a:t>0</a:t>
            </a:r>
            <a:endParaRPr sz="1500" baseline="2777">
              <a:latin typeface="Arial MT"/>
              <a:cs typeface="Arial MT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3087859" y="5459886"/>
            <a:ext cx="1066165" cy="245110"/>
            <a:chOff x="3087859" y="5459886"/>
            <a:chExt cx="1066165" cy="245110"/>
          </a:xfrm>
        </p:grpSpPr>
        <p:sp>
          <p:nvSpPr>
            <p:cNvPr id="161" name="object 161"/>
            <p:cNvSpPr/>
            <p:nvPr/>
          </p:nvSpPr>
          <p:spPr>
            <a:xfrm>
              <a:off x="3669317" y="5463735"/>
              <a:ext cx="385445" cy="187325"/>
            </a:xfrm>
            <a:custGeom>
              <a:avLst/>
              <a:gdLst/>
              <a:ahLst/>
              <a:cxnLst/>
              <a:rect l="l" t="t" r="r" b="b"/>
              <a:pathLst>
                <a:path w="385445" h="187325">
                  <a:moveTo>
                    <a:pt x="385180" y="0"/>
                  </a:moveTo>
                  <a:lnTo>
                    <a:pt x="385180" y="143372"/>
                  </a:lnTo>
                  <a:lnTo>
                    <a:pt x="0" y="143372"/>
                  </a:lnTo>
                  <a:lnTo>
                    <a:pt x="0" y="186891"/>
                  </a:lnTo>
                </a:path>
              </a:pathLst>
            </a:custGeom>
            <a:ln w="769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3633464" y="5635268"/>
              <a:ext cx="69850" cy="69215"/>
            </a:xfrm>
            <a:custGeom>
              <a:avLst/>
              <a:gdLst/>
              <a:ahLst/>
              <a:cxnLst/>
              <a:rect l="l" t="t" r="r" b="b"/>
              <a:pathLst>
                <a:path w="69850" h="69214">
                  <a:moveTo>
                    <a:pt x="69458" y="0"/>
                  </a:moveTo>
                  <a:lnTo>
                    <a:pt x="46127" y="7679"/>
                  </a:lnTo>
                  <a:lnTo>
                    <a:pt x="23010" y="7679"/>
                  </a:lnTo>
                  <a:lnTo>
                    <a:pt x="0" y="0"/>
                  </a:lnTo>
                  <a:lnTo>
                    <a:pt x="35853" y="69124"/>
                  </a:lnTo>
                  <a:lnTo>
                    <a:pt x="694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3091707" y="5463735"/>
              <a:ext cx="1058545" cy="143510"/>
            </a:xfrm>
            <a:custGeom>
              <a:avLst/>
              <a:gdLst/>
              <a:ahLst/>
              <a:cxnLst/>
              <a:rect l="l" t="t" r="r" b="b"/>
              <a:pathLst>
                <a:path w="1058545" h="143510">
                  <a:moveTo>
                    <a:pt x="1058042" y="0"/>
                  </a:moveTo>
                  <a:lnTo>
                    <a:pt x="1058042" y="143372"/>
                  </a:lnTo>
                  <a:lnTo>
                    <a:pt x="962791" y="143372"/>
                  </a:lnTo>
                </a:path>
                <a:path w="1058545" h="143510">
                  <a:moveTo>
                    <a:pt x="94930" y="0"/>
                  </a:moveTo>
                  <a:lnTo>
                    <a:pt x="94930" y="143372"/>
                  </a:lnTo>
                  <a:lnTo>
                    <a:pt x="577610" y="143372"/>
                  </a:lnTo>
                </a:path>
                <a:path w="1058545" h="143510">
                  <a:moveTo>
                    <a:pt x="0" y="0"/>
                  </a:moveTo>
                  <a:lnTo>
                    <a:pt x="0" y="143372"/>
                  </a:lnTo>
                  <a:lnTo>
                    <a:pt x="143733" y="143372"/>
                  </a:lnTo>
                </a:path>
              </a:pathLst>
            </a:custGeom>
            <a:ln w="769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4" name="object 16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8360" y="5459886"/>
            <a:ext cx="102639" cy="244506"/>
          </a:xfrm>
          <a:prstGeom prst="rect">
            <a:avLst/>
          </a:prstGeom>
        </p:spPr>
      </p:pic>
      <p:sp>
        <p:nvSpPr>
          <p:cNvPr id="165" name="object 165"/>
          <p:cNvSpPr txBox="1"/>
          <p:nvPr/>
        </p:nvSpPr>
        <p:spPr>
          <a:xfrm>
            <a:off x="4517033" y="5678390"/>
            <a:ext cx="273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Bloc </a:t>
            </a:r>
            <a:r>
              <a:rPr sz="700" spc="-50" dirty="0"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5049597" y="5678390"/>
            <a:ext cx="273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Bloc </a:t>
            </a: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5582154" y="5678390"/>
            <a:ext cx="273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Bloc 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68" name="object 168"/>
          <p:cNvGraphicFramePr>
            <a:graphicFrameLocks noGrp="1"/>
          </p:cNvGraphicFramePr>
          <p:nvPr/>
        </p:nvGraphicFramePr>
        <p:xfrm>
          <a:off x="4479169" y="5412429"/>
          <a:ext cx="1565908" cy="26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"/>
                <a:gridCol w="382905"/>
                <a:gridCol w="150495"/>
                <a:gridCol w="382905"/>
                <a:gridCol w="150494"/>
                <a:gridCol w="365759"/>
              </a:tblGrid>
              <a:tr h="132715">
                <a:tc row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10100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10001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01010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27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11000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25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11101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9" name="object 169"/>
          <p:cNvSpPr/>
          <p:nvPr/>
        </p:nvSpPr>
        <p:spPr>
          <a:xfrm>
            <a:off x="4487145" y="5021845"/>
            <a:ext cx="2130425" cy="133350"/>
          </a:xfrm>
          <a:custGeom>
            <a:avLst/>
            <a:gdLst/>
            <a:ahLst/>
            <a:cxnLst/>
            <a:rect l="l" t="t" r="r" b="b"/>
            <a:pathLst>
              <a:path w="2130425" h="133350">
                <a:moveTo>
                  <a:pt x="0" y="132853"/>
                </a:moveTo>
                <a:lnTo>
                  <a:pt x="532563" y="132853"/>
                </a:lnTo>
                <a:lnTo>
                  <a:pt x="532563" y="0"/>
                </a:lnTo>
                <a:lnTo>
                  <a:pt x="0" y="0"/>
                </a:lnTo>
                <a:lnTo>
                  <a:pt x="0" y="132853"/>
                </a:lnTo>
                <a:close/>
              </a:path>
              <a:path w="2130425" h="133350">
                <a:moveTo>
                  <a:pt x="532563" y="132853"/>
                </a:moveTo>
                <a:lnTo>
                  <a:pt x="1065127" y="132853"/>
                </a:lnTo>
                <a:lnTo>
                  <a:pt x="1065127" y="0"/>
                </a:lnTo>
                <a:lnTo>
                  <a:pt x="532563" y="0"/>
                </a:lnTo>
                <a:lnTo>
                  <a:pt x="532563" y="132853"/>
                </a:lnTo>
                <a:close/>
              </a:path>
              <a:path w="2130425" h="133350">
                <a:moveTo>
                  <a:pt x="1065149" y="132853"/>
                </a:moveTo>
                <a:lnTo>
                  <a:pt x="1597536" y="132853"/>
                </a:lnTo>
                <a:lnTo>
                  <a:pt x="1597536" y="0"/>
                </a:lnTo>
                <a:lnTo>
                  <a:pt x="1065149" y="0"/>
                </a:lnTo>
                <a:lnTo>
                  <a:pt x="1065149" y="132853"/>
                </a:lnTo>
                <a:close/>
              </a:path>
              <a:path w="2130425" h="133350">
                <a:moveTo>
                  <a:pt x="1597543" y="132853"/>
                </a:moveTo>
                <a:lnTo>
                  <a:pt x="2130107" y="132853"/>
                </a:lnTo>
                <a:lnTo>
                  <a:pt x="2130107" y="0"/>
                </a:lnTo>
                <a:lnTo>
                  <a:pt x="1597543" y="0"/>
                </a:lnTo>
                <a:lnTo>
                  <a:pt x="1597543" y="132853"/>
                </a:lnTo>
                <a:close/>
              </a:path>
            </a:pathLst>
          </a:custGeom>
          <a:ln w="53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 txBox="1"/>
          <p:nvPr/>
        </p:nvSpPr>
        <p:spPr>
          <a:xfrm>
            <a:off x="4354047" y="5021845"/>
            <a:ext cx="133350" cy="133350"/>
          </a:xfrm>
          <a:prstGeom prst="rect">
            <a:avLst/>
          </a:prstGeom>
          <a:ln w="532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40"/>
              </a:spcBef>
            </a:pP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4730441" y="5018988"/>
            <a:ext cx="4020185" cy="368300"/>
            <a:chOff x="4730441" y="5018988"/>
            <a:chExt cx="4020185" cy="368300"/>
          </a:xfrm>
        </p:grpSpPr>
        <p:sp>
          <p:nvSpPr>
            <p:cNvPr id="172" name="object 172"/>
            <p:cNvSpPr/>
            <p:nvPr/>
          </p:nvSpPr>
          <p:spPr>
            <a:xfrm>
              <a:off x="4753512" y="5089096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h="262254">
                  <a:moveTo>
                    <a:pt x="0" y="0"/>
                  </a:moveTo>
                  <a:lnTo>
                    <a:pt x="0" y="262137"/>
                  </a:lnTo>
                </a:path>
              </a:pathLst>
            </a:custGeom>
            <a:ln w="5323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4730441" y="53388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60">
                  <a:moveTo>
                    <a:pt x="47917" y="0"/>
                  </a:moveTo>
                  <a:lnTo>
                    <a:pt x="31945" y="5306"/>
                  </a:lnTo>
                  <a:lnTo>
                    <a:pt x="14203" y="5306"/>
                  </a:lnTo>
                  <a:lnTo>
                    <a:pt x="0" y="0"/>
                  </a:lnTo>
                  <a:lnTo>
                    <a:pt x="23070" y="47940"/>
                  </a:lnTo>
                  <a:lnTo>
                    <a:pt x="47917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5285913" y="5089096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h="262254">
                  <a:moveTo>
                    <a:pt x="0" y="0"/>
                  </a:moveTo>
                  <a:lnTo>
                    <a:pt x="0" y="262137"/>
                  </a:lnTo>
                </a:path>
              </a:pathLst>
            </a:custGeom>
            <a:ln w="5323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262820" y="53388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60">
                  <a:moveTo>
                    <a:pt x="47962" y="0"/>
                  </a:moveTo>
                  <a:lnTo>
                    <a:pt x="31974" y="5306"/>
                  </a:lnTo>
                  <a:lnTo>
                    <a:pt x="14210" y="5306"/>
                  </a:lnTo>
                  <a:lnTo>
                    <a:pt x="0" y="0"/>
                  </a:lnTo>
                  <a:lnTo>
                    <a:pt x="23092" y="47940"/>
                  </a:lnTo>
                  <a:lnTo>
                    <a:pt x="4796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818455" y="5089096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h="262254">
                  <a:moveTo>
                    <a:pt x="0" y="0"/>
                  </a:moveTo>
                  <a:lnTo>
                    <a:pt x="0" y="262137"/>
                  </a:lnTo>
                </a:path>
              </a:pathLst>
            </a:custGeom>
            <a:ln w="5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5795362" y="5338855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60">
                  <a:moveTo>
                    <a:pt x="47962" y="0"/>
                  </a:moveTo>
                  <a:lnTo>
                    <a:pt x="31974" y="5306"/>
                  </a:lnTo>
                  <a:lnTo>
                    <a:pt x="14210" y="5306"/>
                  </a:lnTo>
                  <a:lnTo>
                    <a:pt x="0" y="0"/>
                  </a:lnTo>
                  <a:lnTo>
                    <a:pt x="23092" y="47940"/>
                  </a:lnTo>
                  <a:lnTo>
                    <a:pt x="479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6617230" y="5021845"/>
              <a:ext cx="2130425" cy="133350"/>
            </a:xfrm>
            <a:custGeom>
              <a:avLst/>
              <a:gdLst/>
              <a:ahLst/>
              <a:cxnLst/>
              <a:rect l="l" t="t" r="r" b="b"/>
              <a:pathLst>
                <a:path w="2130425" h="133350">
                  <a:moveTo>
                    <a:pt x="0" y="132853"/>
                  </a:moveTo>
                  <a:lnTo>
                    <a:pt x="532563" y="132853"/>
                  </a:lnTo>
                  <a:lnTo>
                    <a:pt x="532563" y="0"/>
                  </a:lnTo>
                  <a:lnTo>
                    <a:pt x="0" y="0"/>
                  </a:lnTo>
                  <a:lnTo>
                    <a:pt x="0" y="132853"/>
                  </a:lnTo>
                  <a:close/>
                </a:path>
                <a:path w="2130425" h="133350">
                  <a:moveTo>
                    <a:pt x="532541" y="132853"/>
                  </a:moveTo>
                  <a:lnTo>
                    <a:pt x="1065105" y="132853"/>
                  </a:lnTo>
                  <a:lnTo>
                    <a:pt x="1065105" y="0"/>
                  </a:lnTo>
                  <a:lnTo>
                    <a:pt x="532541" y="0"/>
                  </a:lnTo>
                  <a:lnTo>
                    <a:pt x="532541" y="132853"/>
                  </a:lnTo>
                  <a:close/>
                </a:path>
                <a:path w="2130425" h="133350">
                  <a:moveTo>
                    <a:pt x="1065157" y="132853"/>
                  </a:moveTo>
                  <a:lnTo>
                    <a:pt x="1597543" y="132853"/>
                  </a:lnTo>
                  <a:lnTo>
                    <a:pt x="1597543" y="0"/>
                  </a:lnTo>
                  <a:lnTo>
                    <a:pt x="1065157" y="0"/>
                  </a:lnTo>
                  <a:lnTo>
                    <a:pt x="1065157" y="132853"/>
                  </a:lnTo>
                  <a:close/>
                </a:path>
                <a:path w="2130425" h="133350">
                  <a:moveTo>
                    <a:pt x="1597476" y="132853"/>
                  </a:moveTo>
                  <a:lnTo>
                    <a:pt x="2130040" y="132853"/>
                  </a:lnTo>
                  <a:lnTo>
                    <a:pt x="2130040" y="0"/>
                  </a:lnTo>
                  <a:lnTo>
                    <a:pt x="1597476" y="0"/>
                  </a:lnTo>
                  <a:lnTo>
                    <a:pt x="1597476" y="132853"/>
                  </a:lnTo>
                  <a:close/>
                </a:path>
              </a:pathLst>
            </a:custGeom>
            <a:ln w="53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9" name="object 179"/>
          <p:cNvSpPr txBox="1"/>
          <p:nvPr/>
        </p:nvSpPr>
        <p:spPr>
          <a:xfrm>
            <a:off x="4624728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000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5157292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001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5689834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010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6222450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011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6754843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100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7287385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101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7819926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110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8352542" y="4881428"/>
            <a:ext cx="2584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Arial MT"/>
                <a:cs typeface="Arial MT"/>
              </a:rPr>
              <a:t>111</a:t>
            </a:r>
            <a:r>
              <a:rPr sz="675" spc="-30" baseline="-24691" dirty="0">
                <a:latin typeface="Arial MT"/>
                <a:cs typeface="Arial MT"/>
              </a:rPr>
              <a:t>2</a:t>
            </a:r>
            <a:endParaRPr sz="675" baseline="-24691">
              <a:latin typeface="Arial MT"/>
              <a:cs typeface="Arial MT"/>
            </a:endParaRPr>
          </a:p>
        </p:txBody>
      </p:sp>
      <p:grpSp>
        <p:nvGrpSpPr>
          <p:cNvPr id="187" name="object 187"/>
          <p:cNvGrpSpPr/>
          <p:nvPr/>
        </p:nvGrpSpPr>
        <p:grpSpPr>
          <a:xfrm>
            <a:off x="4750854" y="4888970"/>
            <a:ext cx="3733165" cy="497840"/>
            <a:chOff x="4750854" y="4888970"/>
            <a:chExt cx="3733165" cy="497840"/>
          </a:xfrm>
        </p:grpSpPr>
        <p:sp>
          <p:nvSpPr>
            <p:cNvPr id="188" name="object 188"/>
            <p:cNvSpPr/>
            <p:nvPr/>
          </p:nvSpPr>
          <p:spPr>
            <a:xfrm>
              <a:off x="6617230" y="4888970"/>
              <a:ext cx="0" cy="398780"/>
            </a:xfrm>
            <a:custGeom>
              <a:avLst/>
              <a:gdLst/>
              <a:ahLst/>
              <a:cxnLst/>
              <a:rect l="l" t="t" r="r" b="b"/>
              <a:pathLst>
                <a:path h="398779">
                  <a:moveTo>
                    <a:pt x="0" y="0"/>
                  </a:moveTo>
                  <a:lnTo>
                    <a:pt x="0" y="398582"/>
                  </a:lnTo>
                </a:path>
              </a:pathLst>
            </a:custGeom>
            <a:ln w="5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5285913" y="5089096"/>
              <a:ext cx="1065530" cy="133350"/>
            </a:xfrm>
            <a:custGeom>
              <a:avLst/>
              <a:gdLst/>
              <a:ahLst/>
              <a:cxnLst/>
              <a:rect l="l" t="t" r="r" b="b"/>
              <a:pathLst>
                <a:path w="1065529" h="133350">
                  <a:moveTo>
                    <a:pt x="1065083" y="0"/>
                  </a:moveTo>
                  <a:lnTo>
                    <a:pt x="1065083" y="132823"/>
                  </a:lnTo>
                  <a:lnTo>
                    <a:pt x="0" y="132823"/>
                  </a:lnTo>
                </a:path>
              </a:pathLst>
            </a:custGeom>
            <a:ln w="53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948547" y="5089096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h="262254">
                  <a:moveTo>
                    <a:pt x="0" y="0"/>
                  </a:moveTo>
                  <a:lnTo>
                    <a:pt x="0" y="262137"/>
                  </a:lnTo>
                </a:path>
              </a:pathLst>
            </a:custGeom>
            <a:ln w="53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925454" y="5338854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59" h="48260">
                  <a:moveTo>
                    <a:pt x="47962" y="0"/>
                  </a:moveTo>
                  <a:lnTo>
                    <a:pt x="31974" y="5306"/>
                  </a:lnTo>
                  <a:lnTo>
                    <a:pt x="14210" y="5306"/>
                  </a:lnTo>
                  <a:lnTo>
                    <a:pt x="0" y="0"/>
                  </a:lnTo>
                  <a:lnTo>
                    <a:pt x="23092" y="47940"/>
                  </a:lnTo>
                  <a:lnTo>
                    <a:pt x="479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6350996" y="5089096"/>
              <a:ext cx="2130425" cy="133350"/>
            </a:xfrm>
            <a:custGeom>
              <a:avLst/>
              <a:gdLst/>
              <a:ahLst/>
              <a:cxnLst/>
              <a:rect l="l" t="t" r="r" b="b"/>
              <a:pathLst>
                <a:path w="2130425" h="133350">
                  <a:moveTo>
                    <a:pt x="1065009" y="0"/>
                  </a:moveTo>
                  <a:lnTo>
                    <a:pt x="1065009" y="132823"/>
                  </a:lnTo>
                  <a:lnTo>
                    <a:pt x="0" y="132823"/>
                  </a:lnTo>
                </a:path>
                <a:path w="2130425" h="133350">
                  <a:moveTo>
                    <a:pt x="2130092" y="0"/>
                  </a:moveTo>
                  <a:lnTo>
                    <a:pt x="2130092" y="132823"/>
                  </a:lnTo>
                  <a:lnTo>
                    <a:pt x="1065009" y="132823"/>
                  </a:lnTo>
                </a:path>
              </a:pathLst>
            </a:custGeom>
            <a:ln w="531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4753512" y="5089096"/>
              <a:ext cx="2130425" cy="198755"/>
            </a:xfrm>
            <a:custGeom>
              <a:avLst/>
              <a:gdLst/>
              <a:ahLst/>
              <a:cxnLst/>
              <a:rect l="l" t="t" r="r" b="b"/>
              <a:pathLst>
                <a:path w="2130425" h="198754">
                  <a:moveTo>
                    <a:pt x="2130099" y="0"/>
                  </a:moveTo>
                  <a:lnTo>
                    <a:pt x="2130099" y="198455"/>
                  </a:lnTo>
                  <a:lnTo>
                    <a:pt x="0" y="198455"/>
                  </a:lnTo>
                </a:path>
              </a:pathLst>
            </a:custGeom>
            <a:ln w="531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7712247" y="5678390"/>
            <a:ext cx="2736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 MT"/>
                <a:cs typeface="Arial MT"/>
              </a:rPr>
              <a:t>Bloc </a:t>
            </a: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95" name="object 195"/>
          <p:cNvGraphicFramePr>
            <a:graphicFrameLocks noGrp="1"/>
          </p:cNvGraphicFramePr>
          <p:nvPr/>
        </p:nvGraphicFramePr>
        <p:xfrm>
          <a:off x="7674411" y="5412429"/>
          <a:ext cx="499109" cy="26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350"/>
                <a:gridCol w="365759"/>
              </a:tblGrid>
              <a:tr h="132715">
                <a:tc rowSpan="2"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700" spc="-50" dirty="0">
                          <a:latin typeface="Arial MT"/>
                          <a:cs typeface="Arial MT"/>
                        </a:rPr>
                        <a:t>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latin typeface="Arial MT"/>
                          <a:cs typeface="Arial MT"/>
                        </a:rPr>
                        <a:t>01110</a:t>
                      </a:r>
                      <a:r>
                        <a:rPr sz="675" spc="-15" baseline="-24691" dirty="0"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27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04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700" spc="-10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10110</a:t>
                      </a:r>
                      <a:r>
                        <a:rPr sz="675" spc="-15" baseline="-24691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675" baseline="-24691">
                        <a:latin typeface="Arial MT"/>
                        <a:cs typeface="Arial MT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6" name="object 196"/>
          <p:cNvSpPr/>
          <p:nvPr/>
        </p:nvSpPr>
        <p:spPr>
          <a:xfrm>
            <a:off x="5657850" y="3733800"/>
            <a:ext cx="114300" cy="533400"/>
          </a:xfrm>
          <a:custGeom>
            <a:avLst/>
            <a:gdLst/>
            <a:ahLst/>
            <a:cxnLst/>
            <a:rect l="l" t="t" r="r" b="b"/>
            <a:pathLst>
              <a:path w="114300" h="533400">
                <a:moveTo>
                  <a:pt x="38100" y="419100"/>
                </a:moveTo>
                <a:lnTo>
                  <a:pt x="0" y="419100"/>
                </a:lnTo>
                <a:lnTo>
                  <a:pt x="57150" y="533400"/>
                </a:lnTo>
                <a:lnTo>
                  <a:pt x="104775" y="438150"/>
                </a:lnTo>
                <a:lnTo>
                  <a:pt x="38100" y="438150"/>
                </a:lnTo>
                <a:lnTo>
                  <a:pt x="38100" y="419100"/>
                </a:lnTo>
                <a:close/>
              </a:path>
              <a:path w="114300" h="533400">
                <a:moveTo>
                  <a:pt x="76200" y="0"/>
                </a:moveTo>
                <a:lnTo>
                  <a:pt x="38100" y="0"/>
                </a:lnTo>
                <a:lnTo>
                  <a:pt x="38100" y="438150"/>
                </a:lnTo>
                <a:lnTo>
                  <a:pt x="76200" y="438150"/>
                </a:lnTo>
                <a:lnTo>
                  <a:pt x="76200" y="0"/>
                </a:lnTo>
                <a:close/>
              </a:path>
              <a:path w="114300" h="533400">
                <a:moveTo>
                  <a:pt x="114300" y="419100"/>
                </a:moveTo>
                <a:lnTo>
                  <a:pt x="76200" y="419100"/>
                </a:lnTo>
                <a:lnTo>
                  <a:pt x="76200" y="438150"/>
                </a:lnTo>
                <a:lnTo>
                  <a:pt x="104775" y="438150"/>
                </a:lnTo>
                <a:lnTo>
                  <a:pt x="114300" y="419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 txBox="1"/>
          <p:nvPr/>
        </p:nvSpPr>
        <p:spPr>
          <a:xfrm>
            <a:off x="5947028" y="3605860"/>
            <a:ext cx="26892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Profondeur</a:t>
            </a:r>
            <a:r>
              <a:rPr sz="2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locale</a:t>
            </a:r>
            <a:r>
              <a:rPr sz="2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dépasse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profondeur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globale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8" name="object 1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59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7864" y="635888"/>
            <a:ext cx="55137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extensible</a:t>
            </a:r>
            <a:r>
              <a:rPr sz="3200" b="1" spc="-4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(suite)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684306"/>
            <a:ext cx="7346950" cy="403987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Occupation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’espace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comportement</a:t>
            </a:r>
            <a:r>
              <a:rPr sz="2800" spc="-1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oscillatoire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assez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prononcé</a:t>
            </a:r>
            <a:endParaRPr sz="28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58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4430" algn="l"/>
              </a:tabLst>
            </a:pPr>
            <a:r>
              <a:rPr sz="2400" dirty="0">
                <a:latin typeface="Tahoma"/>
                <a:cs typeface="Tahoma"/>
              </a:rPr>
              <a:t>entre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.53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.94</a:t>
            </a:r>
            <a:endParaRPr sz="24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8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4430" algn="l"/>
              </a:tabLst>
            </a:pPr>
            <a:r>
              <a:rPr sz="2400" dirty="0">
                <a:latin typeface="Tahoma"/>
                <a:cs typeface="Tahoma"/>
              </a:rPr>
              <a:t>moyenne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500" dirty="0">
                <a:latin typeface="Tahoma"/>
                <a:cs typeface="Tahoma"/>
              </a:rPr>
              <a:t>ln</a:t>
            </a:r>
            <a:r>
              <a:rPr sz="25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5" dirty="0">
                <a:latin typeface="Tahoma"/>
                <a:cs typeface="Tahoma"/>
              </a:rPr>
              <a:t> .69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spc="-10" dirty="0">
                <a:latin typeface="Tahoma"/>
                <a:cs typeface="Tahoma"/>
              </a:rPr>
              <a:t>Variation</a:t>
            </a:r>
            <a:endParaRPr sz="3200">
              <a:latin typeface="Tahoma"/>
              <a:cs typeface="Tahoma"/>
            </a:endParaRPr>
          </a:p>
          <a:p>
            <a:pPr marL="756285" marR="1751964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contrôle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la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division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taux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’occupation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gestion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débordements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60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3950" y="392049"/>
            <a:ext cx="759714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38780" marR="5080" indent="-292671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Réalisation</a:t>
            </a:r>
            <a:r>
              <a:rPr sz="3200" b="1" spc="-7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l'accès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par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IDE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avec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le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683928"/>
            <a:ext cx="7464425" cy="38512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Hachage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statique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bloc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’ancrage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fixe</a:t>
            </a:r>
            <a:endParaRPr sz="28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IDE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950" spc="-60" dirty="0">
                <a:latin typeface="Tahoma"/>
                <a:cs typeface="Tahoma"/>
              </a:rPr>
              <a:t>idFichier,</a:t>
            </a:r>
            <a:r>
              <a:rPr sz="2950" spc="-90" dirty="0">
                <a:latin typeface="Tahoma"/>
                <a:cs typeface="Tahoma"/>
              </a:rPr>
              <a:t> #blocAncrage,</a:t>
            </a:r>
            <a:r>
              <a:rPr sz="2950" spc="-10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#séquence</a:t>
            </a:r>
            <a:endParaRPr sz="295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260"/>
              </a:spcBef>
              <a:buClr>
                <a:srgbClr val="CC00FF"/>
              </a:buClr>
              <a:buSzPct val="75000"/>
              <a:buFont typeface="Wingdings"/>
              <a:buChar char=""/>
              <a:tabLst>
                <a:tab pos="1154430" algn="l"/>
              </a:tabLst>
            </a:pPr>
            <a:r>
              <a:rPr sz="2400" dirty="0">
                <a:latin typeface="Tahoma"/>
                <a:cs typeface="Tahoma"/>
              </a:rPr>
              <a:t>HASH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CLUSTER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’Oracle</a:t>
            </a:r>
            <a:endParaRPr sz="2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applicable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dans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le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cas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non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unique</a:t>
            </a:r>
            <a:endParaRPr sz="28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380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Cas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’une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clé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hachage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unique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190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IDE</a:t>
            </a:r>
            <a:r>
              <a:rPr sz="2800" spc="-9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id_fichier,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valeur</a:t>
            </a:r>
            <a:r>
              <a:rPr sz="2950" spc="-114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de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la</a:t>
            </a:r>
            <a:r>
              <a:rPr sz="2950" spc="-130" dirty="0">
                <a:latin typeface="Tahoma"/>
                <a:cs typeface="Tahoma"/>
              </a:rPr>
              <a:t> </a:t>
            </a:r>
            <a:r>
              <a:rPr sz="2950" spc="-30" dirty="0">
                <a:latin typeface="Tahoma"/>
                <a:cs typeface="Tahoma"/>
              </a:rPr>
              <a:t>clé</a:t>
            </a:r>
            <a:r>
              <a:rPr sz="2950" spc="-1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unique</a:t>
            </a:r>
            <a:endParaRPr sz="295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309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nécessaire</a:t>
            </a:r>
            <a:r>
              <a:rPr sz="2800" spc="-114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avec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hachage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dynamique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078" y="392049"/>
            <a:ext cx="707707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4214" marR="5080" indent="-196215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sur une</a:t>
            </a:r>
            <a:r>
              <a:rPr sz="3200" b="1" spc="-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clé</a:t>
            </a:r>
            <a:r>
              <a:rPr sz="3200" b="1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non unique</a:t>
            </a:r>
            <a:r>
              <a:rPr sz="3200" b="1" spc="-25" dirty="0">
                <a:solidFill>
                  <a:srgbClr val="0000FF"/>
                </a:solidFill>
                <a:latin typeface="Tahoma"/>
                <a:cs typeface="Tahoma"/>
              </a:rPr>
              <a:t> et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effet</a:t>
            </a:r>
            <a:r>
              <a:rPr sz="32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de</a:t>
            </a:r>
            <a:r>
              <a:rPr sz="3200" b="1" spc="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grappe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783156"/>
            <a:ext cx="71475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Regroupement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des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mêmes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valeurs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de clé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9628" y="2823436"/>
            <a:ext cx="4069079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SzPct val="71186"/>
              <a:buFont typeface="Wingdings"/>
              <a:buChar char=""/>
              <a:tabLst>
                <a:tab pos="324485" algn="l"/>
              </a:tabLst>
            </a:pPr>
            <a:r>
              <a:rPr sz="2950" dirty="0">
                <a:latin typeface="Tahoma"/>
                <a:cs typeface="Tahoma"/>
              </a:rPr>
              <a:t>v</a:t>
            </a:r>
            <a:r>
              <a:rPr sz="2775" baseline="-21021" dirty="0">
                <a:latin typeface="Tahoma"/>
                <a:cs typeface="Tahoma"/>
              </a:rPr>
              <a:t>1</a:t>
            </a:r>
            <a:r>
              <a:rPr sz="2775" spc="315" baseline="-21021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775" baseline="-21021" dirty="0">
                <a:latin typeface="Tahoma"/>
                <a:cs typeface="Tahoma"/>
              </a:rPr>
              <a:t>2</a:t>
            </a:r>
            <a:r>
              <a:rPr sz="2775" spc="337" baseline="-21021" dirty="0">
                <a:latin typeface="Tahoma"/>
                <a:cs typeface="Tahoma"/>
              </a:rPr>
              <a:t> </a:t>
            </a:r>
            <a:r>
              <a:rPr sz="2800" dirty="0">
                <a:latin typeface="Symbol"/>
                <a:cs typeface="Symbol"/>
              </a:rPr>
              <a:t>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950" dirty="0">
                <a:latin typeface="Tahoma"/>
                <a:cs typeface="Tahoma"/>
              </a:rPr>
              <a:t>h</a:t>
            </a:r>
            <a:r>
              <a:rPr sz="2800" dirty="0">
                <a:latin typeface="Tahoma"/>
                <a:cs typeface="Tahoma"/>
              </a:rPr>
              <a:t>(</a:t>
            </a:r>
            <a:r>
              <a:rPr sz="2950" dirty="0">
                <a:latin typeface="Tahoma"/>
                <a:cs typeface="Tahoma"/>
              </a:rPr>
              <a:t>v</a:t>
            </a:r>
            <a:r>
              <a:rPr sz="2775" baseline="-21021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)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h</a:t>
            </a:r>
            <a:r>
              <a:rPr sz="2800" spc="-10" dirty="0">
                <a:latin typeface="Tahoma"/>
                <a:cs typeface="Tahoma"/>
              </a:rPr>
              <a:t>(</a:t>
            </a:r>
            <a:r>
              <a:rPr sz="2950" spc="-10" dirty="0">
                <a:latin typeface="Tahoma"/>
                <a:cs typeface="Tahoma"/>
              </a:rPr>
              <a:t>v</a:t>
            </a:r>
            <a:r>
              <a:rPr sz="2775" spc="-15" baseline="-21021" dirty="0">
                <a:latin typeface="Tahoma"/>
                <a:cs typeface="Tahoma"/>
              </a:rPr>
              <a:t>2</a:t>
            </a:r>
            <a:r>
              <a:rPr sz="2800" spc="-10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99464" y="3456218"/>
          <a:ext cx="2587625" cy="937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30"/>
                <a:gridCol w="1410970"/>
                <a:gridCol w="527050"/>
                <a:gridCol w="295275"/>
              </a:tblGrid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52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Pin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18.99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80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Poirier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26.99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883701" y="3817157"/>
            <a:ext cx="1130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latin typeface="Arial MT"/>
                <a:cs typeface="Arial MT"/>
              </a:rPr>
              <a:t>0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3701" y="4756118"/>
            <a:ext cx="1130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3701" y="5694936"/>
            <a:ext cx="11303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50" dirty="0">
                <a:latin typeface="Arial MT"/>
                <a:cs typeface="Arial MT"/>
              </a:rPr>
              <a:t>2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9391" y="3896103"/>
            <a:ext cx="85090" cy="84455"/>
          </a:xfrm>
          <a:custGeom>
            <a:avLst/>
            <a:gdLst/>
            <a:ahLst/>
            <a:cxnLst/>
            <a:rect l="l" t="t" r="r" b="b"/>
            <a:pathLst>
              <a:path w="85089" h="84454">
                <a:moveTo>
                  <a:pt x="0" y="0"/>
                </a:moveTo>
                <a:lnTo>
                  <a:pt x="9410" y="28211"/>
                </a:lnTo>
                <a:lnTo>
                  <a:pt x="9410" y="56293"/>
                </a:lnTo>
                <a:lnTo>
                  <a:pt x="0" y="84374"/>
                </a:lnTo>
                <a:lnTo>
                  <a:pt x="84696" y="4375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042159" y="3456218"/>
          <a:ext cx="2933063" cy="2811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330"/>
                <a:gridCol w="1410970"/>
                <a:gridCol w="526414"/>
                <a:gridCol w="294005"/>
                <a:gridCol w="347344"/>
              </a:tblGrid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Sapin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12.99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90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Pommier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25.99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6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81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Catalpa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25.99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40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Epinette</a:t>
                      </a:r>
                      <a:r>
                        <a:rPr sz="1000" spc="1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bleue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25.99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70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Herbe</a:t>
                      </a:r>
                      <a:r>
                        <a:rPr sz="1000" spc="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à</a:t>
                      </a:r>
                      <a:r>
                        <a:rPr sz="10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0" dirty="0">
                          <a:latin typeface="Arial MT"/>
                          <a:cs typeface="Arial MT"/>
                        </a:rPr>
                        <a:t>puce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10.99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95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Génévrier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15.99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10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Cèdre</a:t>
                      </a:r>
                      <a:r>
                        <a:rPr sz="10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dirty="0">
                          <a:latin typeface="Arial MT"/>
                          <a:cs typeface="Arial MT"/>
                        </a:rPr>
                        <a:t>en</a:t>
                      </a:r>
                      <a:r>
                        <a:rPr sz="1000" spc="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boule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10.99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1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50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Chêne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22.99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60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dirty="0">
                          <a:latin typeface="Arial MT"/>
                          <a:cs typeface="Arial MT"/>
                        </a:rPr>
                        <a:t>Erable</a:t>
                      </a:r>
                      <a:r>
                        <a:rPr sz="1000" spc="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10" dirty="0">
                          <a:latin typeface="Arial MT"/>
                          <a:cs typeface="Arial MT"/>
                        </a:rPr>
                        <a:t>argenté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15.99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20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25" dirty="0">
                          <a:latin typeface="Arial MT"/>
                          <a:cs typeface="Arial MT"/>
                        </a:rPr>
                        <a:t>43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Magnolia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10" dirty="0">
                          <a:latin typeface="Arial MT"/>
                          <a:cs typeface="Arial MT"/>
                        </a:rPr>
                        <a:t>28.99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000" spc="-50" dirty="0">
                          <a:latin typeface="Arial MT"/>
                          <a:cs typeface="Arial MT"/>
                        </a:rPr>
                        <a:t>5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04603" y="4703409"/>
            <a:ext cx="1765935" cy="351155"/>
          </a:xfrm>
          <a:prstGeom prst="rect">
            <a:avLst/>
          </a:prstGeom>
          <a:ln w="9394">
            <a:solidFill>
              <a:srgbClr val="000000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550"/>
              </a:spcBef>
            </a:pPr>
            <a:r>
              <a:rPr sz="1200" i="1" dirty="0">
                <a:latin typeface="Arial"/>
                <a:cs typeface="Arial"/>
              </a:rPr>
              <a:t>h</a:t>
            </a:r>
            <a:r>
              <a:rPr sz="1200" dirty="0">
                <a:latin typeface="Arial MT"/>
                <a:cs typeface="Arial MT"/>
              </a:rPr>
              <a:t>(</a:t>
            </a:r>
            <a:r>
              <a:rPr sz="1200" i="1" dirty="0">
                <a:latin typeface="Arial"/>
                <a:cs typeface="Arial"/>
              </a:rPr>
              <a:t>taille</a:t>
            </a:r>
            <a:r>
              <a:rPr sz="1200" dirty="0">
                <a:latin typeface="Arial MT"/>
                <a:cs typeface="Arial MT"/>
              </a:rPr>
              <a:t>)</a:t>
            </a:r>
            <a:r>
              <a:rPr sz="1200" spc="6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=</a:t>
            </a:r>
            <a:r>
              <a:rPr sz="1200" spc="60" dirty="0">
                <a:latin typeface="Arial MT"/>
                <a:cs typeface="Arial MT"/>
              </a:rPr>
              <a:t> </a:t>
            </a:r>
            <a:r>
              <a:rPr sz="1200" i="1" dirty="0">
                <a:latin typeface="Arial"/>
                <a:cs typeface="Arial"/>
              </a:rPr>
              <a:t>taille</a:t>
            </a:r>
            <a:r>
              <a:rPr sz="1200" i="1" spc="65" dirty="0">
                <a:latin typeface="Arial"/>
                <a:cs typeface="Arial"/>
              </a:rPr>
              <a:t> </a:t>
            </a:r>
            <a:r>
              <a:rPr sz="1200" dirty="0">
                <a:latin typeface="Arial MT"/>
                <a:cs typeface="Arial MT"/>
              </a:rPr>
              <a:t>MOD</a:t>
            </a:r>
            <a:r>
              <a:rPr sz="1200" spc="6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3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69913" y="4834934"/>
            <a:ext cx="351790" cy="85090"/>
            <a:chOff x="2469913" y="4834934"/>
            <a:chExt cx="351790" cy="85090"/>
          </a:xfrm>
        </p:grpSpPr>
        <p:sp>
          <p:nvSpPr>
            <p:cNvPr id="13" name="object 13"/>
            <p:cNvSpPr/>
            <p:nvPr/>
          </p:nvSpPr>
          <p:spPr>
            <a:xfrm>
              <a:off x="2469913" y="4878819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>
                  <a:moveTo>
                    <a:pt x="288595" y="0"/>
                  </a:moveTo>
                  <a:lnTo>
                    <a:pt x="0" y="0"/>
                  </a:lnTo>
                </a:path>
              </a:pathLst>
            </a:custGeom>
            <a:ln w="93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36550" y="4834934"/>
              <a:ext cx="85090" cy="85090"/>
            </a:xfrm>
            <a:custGeom>
              <a:avLst/>
              <a:gdLst/>
              <a:ahLst/>
              <a:cxnLst/>
              <a:rect l="l" t="t" r="r" b="b"/>
              <a:pathLst>
                <a:path w="85089" h="85089">
                  <a:moveTo>
                    <a:pt x="0" y="0"/>
                  </a:moveTo>
                  <a:lnTo>
                    <a:pt x="9410" y="28211"/>
                  </a:lnTo>
                  <a:lnTo>
                    <a:pt x="9410" y="56293"/>
                  </a:lnTo>
                  <a:lnTo>
                    <a:pt x="0" y="84505"/>
                  </a:lnTo>
                  <a:lnTo>
                    <a:pt x="84696" y="43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5528786" y="3118315"/>
            <a:ext cx="351790" cy="353695"/>
          </a:xfrm>
          <a:custGeom>
            <a:avLst/>
            <a:gdLst/>
            <a:ahLst/>
            <a:cxnLst/>
            <a:rect l="l" t="t" r="r" b="b"/>
            <a:pathLst>
              <a:path w="351789" h="353695">
                <a:moveTo>
                  <a:pt x="0" y="353563"/>
                </a:moveTo>
                <a:lnTo>
                  <a:pt x="3513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28786" y="2827249"/>
            <a:ext cx="705485" cy="29146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315"/>
              </a:spcBef>
            </a:pPr>
            <a:r>
              <a:rPr sz="1200" i="1" spc="-10" dirty="0">
                <a:latin typeface="Arial"/>
                <a:cs typeface="Arial"/>
              </a:rPr>
              <a:t>taille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62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8236" y="635888"/>
            <a:ext cx="413257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FF"/>
                </a:solidFill>
                <a:latin typeface="Tahoma"/>
                <a:cs typeface="Tahoma"/>
              </a:rPr>
              <a:t>Hachage</a:t>
            </a:r>
            <a:r>
              <a:rPr sz="32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Tahoma"/>
                <a:cs typeface="Tahoma"/>
              </a:rPr>
              <a:t>secondaire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7854" y="1684306"/>
            <a:ext cx="4188460" cy="11252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5"/>
              </a:spcBef>
              <a:buClr>
                <a:srgbClr val="B1B1B1"/>
              </a:buClr>
              <a:buSzPct val="75000"/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Tahoma"/>
                <a:cs typeface="Tahoma"/>
              </a:rPr>
              <a:t>Hachage</a:t>
            </a:r>
            <a:r>
              <a:rPr sz="3200" spc="-8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sur</a:t>
            </a:r>
            <a:endParaRPr sz="32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75000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Tahoma"/>
                <a:cs typeface="Tahoma"/>
              </a:rPr>
              <a:t>(clé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hachage,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IDE)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pPr marL="38100">
                <a:lnSpc>
                  <a:spcPts val="1630"/>
                </a:lnSpc>
              </a:pPr>
              <a:t>63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376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Tableau</a:t>
            </a:r>
            <a:r>
              <a:rPr sz="2800" b="1" spc="-9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comparatif</a:t>
            </a:r>
            <a:r>
              <a:rPr sz="2800" b="1" spc="-8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ahoma"/>
                <a:cs typeface="Tahoma"/>
              </a:rPr>
              <a:t>des</a:t>
            </a:r>
            <a:r>
              <a:rPr sz="2800" b="1" spc="-10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organisations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56667" y="1600261"/>
          <a:ext cx="6408418" cy="4755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235"/>
                <a:gridCol w="1073785"/>
                <a:gridCol w="1076959"/>
                <a:gridCol w="981075"/>
                <a:gridCol w="977264"/>
                <a:gridCol w="927100"/>
              </a:tblGrid>
              <a:tr h="325120"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Critère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5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Sériel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485775">
                        <a:lnSpc>
                          <a:spcPts val="1200"/>
                        </a:lnSpc>
                        <a:spcBef>
                          <a:spcPts val="15"/>
                        </a:spcBef>
                      </a:pPr>
                      <a:r>
                        <a:rPr sz="1050" b="1" spc="-35" dirty="0">
                          <a:latin typeface="Times New Roman"/>
                          <a:cs typeface="Times New Roman"/>
                        </a:rPr>
                        <a:t>Arbre-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050" b="1" spc="-37" baseline="19841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50" b="1" spc="750" baseline="1984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primaire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281940">
                        <a:lnSpc>
                          <a:spcPts val="1200"/>
                        </a:lnSpc>
                        <a:spcBef>
                          <a:spcPts val="15"/>
                        </a:spcBef>
                      </a:pPr>
                      <a:r>
                        <a:rPr sz="1050" b="1" spc="-35" dirty="0">
                          <a:latin typeface="Times New Roman"/>
                          <a:cs typeface="Times New Roman"/>
                        </a:rPr>
                        <a:t>Arbre-</a:t>
                      </a: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050" b="1" spc="-37" baseline="19841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50" b="1" spc="750" baseline="1984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secondaire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381000">
                        <a:lnSpc>
                          <a:spcPts val="1200"/>
                        </a:lnSpc>
                        <a:spcBef>
                          <a:spcPts val="15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Hachage statique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208279">
                        <a:lnSpc>
                          <a:spcPts val="1200"/>
                        </a:lnSpc>
                        <a:spcBef>
                          <a:spcPts val="15"/>
                        </a:spcBef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Hachage dynamique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55880" marR="45085">
                        <a:lnSpc>
                          <a:spcPts val="12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Sélection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par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égalité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sur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clé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unique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  <a:tabLst>
                          <a:tab pos="586105" algn="l"/>
                        </a:tabLst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moyen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4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(N/FB/2)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i="1" spc="-9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9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90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105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i="1" spc="-9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9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90" dirty="0">
                          <a:latin typeface="Times New Roman"/>
                          <a:cs typeface="Times New Roman"/>
                        </a:rPr>
                        <a:t>log</a:t>
                      </a:r>
                      <a:r>
                        <a:rPr sz="105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  <a:tabLst>
                          <a:tab pos="75565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  <a:tabLst>
                          <a:tab pos="75565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65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55880" marR="4508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Sélection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par</a:t>
                      </a:r>
                      <a:r>
                        <a:rPr sz="105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égalité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sur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clé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non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unique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55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Card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clé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))+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Sel/FB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48895">
                        <a:lnSpc>
                          <a:spcPts val="1200"/>
                        </a:lnSpc>
                        <a:spcBef>
                          <a:spcPts val="10"/>
                        </a:spcBef>
                        <a:tabLst>
                          <a:tab pos="768350" algn="l"/>
                        </a:tabLst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Approche</a:t>
                      </a:r>
                      <a:r>
                        <a:rPr sz="1050" i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i="1" spc="-100" dirty="0">
                          <a:latin typeface="Times New Roman"/>
                          <a:cs typeface="Times New Roman"/>
                        </a:rPr>
                        <a:t>par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 duplication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125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)+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Sel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4826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spc="1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spc="1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6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Sel/FB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25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spc="14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spc="1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6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Sel/FB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25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65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55880">
                        <a:lnSpc>
                          <a:spcPts val="11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Sélection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par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intervalle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30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Card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clé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))+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Sel/FB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30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3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30" dirty="0">
                          <a:latin typeface="Times New Roman"/>
                          <a:cs typeface="Times New Roman"/>
                        </a:rPr>
                        <a:t>)+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Sel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55880">
                        <a:lnSpc>
                          <a:spcPts val="115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Itération</a:t>
                      </a:r>
                      <a:r>
                        <a:rPr sz="105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sérielle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55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085">
                <a:tc>
                  <a:txBody>
                    <a:bodyPr/>
                    <a:lstStyle/>
                    <a:p>
                      <a:pPr marL="55880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Itération</a:t>
                      </a:r>
                      <a:r>
                        <a:rPr sz="105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séquentielle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O(tri)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0"/>
                        </a:lnSpc>
                      </a:pP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2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O(tri)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O(tri)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Insertion/suppression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8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O(1)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i="1" spc="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35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85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(log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i="1" spc="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050" spc="35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  <a:tabLst>
                          <a:tab pos="75565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9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:O(1)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90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55"/>
                        </a:lnSpc>
                        <a:tabLst>
                          <a:tab pos="75565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Meilleur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9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:O(1)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90"/>
                        </a:lnSpc>
                        <a:tabLst>
                          <a:tab pos="500380" algn="l"/>
                          <a:tab pos="89154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65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i="1" spc="-10" dirty="0">
                          <a:latin typeface="Times New Roman"/>
                          <a:cs typeface="Times New Roman"/>
                        </a:rPr>
                        <a:t>N/FB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marL="55880">
                        <a:lnSpc>
                          <a:spcPts val="1130"/>
                        </a:lnSpc>
                        <a:tabLst>
                          <a:tab pos="626110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Taux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d'occupation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mémoire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secondaire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3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Maximal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3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approche</a:t>
                      </a:r>
                      <a:r>
                        <a:rPr sz="105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100%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30"/>
                        </a:lnSpc>
                        <a:tabLst>
                          <a:tab pos="390525" algn="l"/>
                        </a:tabLst>
                      </a:pPr>
                      <a:r>
                        <a:rPr sz="1050" spc="3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moyennne</a:t>
                      </a:r>
                      <a:r>
                        <a:rPr sz="105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>
                        <a:lnSpc>
                          <a:spcPts val="123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66%</a:t>
                      </a:r>
                      <a:r>
                        <a:rPr sz="105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(2/3)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ts val="1130"/>
                        </a:lnSpc>
                        <a:tabLst>
                          <a:tab pos="86741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Ajouter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à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5880" marR="202565">
                        <a:lnSpc>
                          <a:spcPts val="1200"/>
                        </a:lnSpc>
                        <a:spcBef>
                          <a:spcPts val="6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l'organisation primaire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ts val="1130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~80%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20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À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ajuster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 marR="46990">
                        <a:lnSpc>
                          <a:spcPts val="1200"/>
                        </a:lnSpc>
                        <a:spcBef>
                          <a:spcPts val="60"/>
                        </a:spcBef>
                        <a:tabLst>
                          <a:tab pos="410209" algn="l"/>
                          <a:tab pos="711835" algn="l"/>
                        </a:tabLst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Pire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cas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non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borné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just">
                        <a:lnSpc>
                          <a:spcPts val="113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~69%</a:t>
                      </a:r>
                      <a:r>
                        <a:rPr sz="105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(ln</a:t>
                      </a:r>
                      <a:r>
                        <a:rPr sz="105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2)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 algn="just">
                        <a:lnSpc>
                          <a:spcPts val="1200"/>
                        </a:lnSpc>
                        <a:spcBef>
                          <a:spcPts val="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Peut</a:t>
                      </a:r>
                      <a:r>
                        <a:rPr sz="105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augmenter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au</a:t>
                      </a:r>
                      <a:r>
                        <a:rPr sz="1050" spc="1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prix</a:t>
                      </a:r>
                      <a:r>
                        <a:rPr sz="1050" spc="1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d'une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diminution</a:t>
                      </a:r>
                      <a:r>
                        <a:rPr sz="1050" spc="3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performance.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89025">
                <a:tc>
                  <a:txBody>
                    <a:bodyPr/>
                    <a:lstStyle/>
                    <a:p>
                      <a:pPr marL="55880">
                        <a:lnSpc>
                          <a:spcPts val="1180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Autres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considérations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47625">
                        <a:lnSpc>
                          <a:spcPts val="1200"/>
                        </a:lnSpc>
                        <a:spcBef>
                          <a:spcPts val="10"/>
                        </a:spcBef>
                        <a:tabLst>
                          <a:tab pos="347345" algn="l"/>
                          <a:tab pos="848360" algn="l"/>
                        </a:tabLst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sz="1050" spc="21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difficile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l'accès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par </a:t>
                      </a:r>
                      <a:r>
                        <a:rPr sz="1050" spc="65" dirty="0">
                          <a:latin typeface="Times New Roman"/>
                          <a:cs typeface="Times New Roman"/>
                        </a:rPr>
                        <a:t>IDE</a:t>
                      </a:r>
                      <a:r>
                        <a:rPr sz="105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05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donc</a:t>
                      </a:r>
                      <a:r>
                        <a:rPr sz="105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des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organisations secondaires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 marR="47625" algn="just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Peut</a:t>
                      </a:r>
                      <a:r>
                        <a:rPr sz="1050" spc="3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50" spc="30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avoir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plusieurs</a:t>
                      </a:r>
                      <a:r>
                        <a:rPr sz="1050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index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secondaires</a:t>
                      </a:r>
                      <a:r>
                        <a:rPr sz="105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sur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même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table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48260">
                        <a:lnSpc>
                          <a:spcPts val="1200"/>
                        </a:lnSpc>
                        <a:spcBef>
                          <a:spcPts val="10"/>
                        </a:spcBef>
                        <a:tabLst>
                          <a:tab pos="390525" algn="l"/>
                          <a:tab pos="748665" algn="l"/>
                          <a:tab pos="791210" algn="l"/>
                        </a:tabLst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Distribution</a:t>
                      </a:r>
                      <a:r>
                        <a:rPr sz="1050" spc="5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des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clés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par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fonction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hachage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?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 marR="50165">
                        <a:lnSpc>
                          <a:spcPts val="1180"/>
                        </a:lnSpc>
                        <a:spcBef>
                          <a:spcPts val="3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Problème</a:t>
                      </a:r>
                      <a:r>
                        <a:rPr sz="1050" spc="17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avec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tables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volatiles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705">
                        <a:lnSpc>
                          <a:spcPts val="1175"/>
                        </a:lnSpc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Stress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du</a:t>
                      </a:r>
                      <a:r>
                        <a:rPr sz="105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DBA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marR="16827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Disponibilité restreinte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605" y="3021038"/>
            <a:ext cx="5730875" cy="9525"/>
          </a:xfrm>
          <a:custGeom>
            <a:avLst/>
            <a:gdLst/>
            <a:ahLst/>
            <a:cxnLst/>
            <a:rect l="l" t="t" r="r" b="b"/>
            <a:pathLst>
              <a:path w="5730875" h="9525">
                <a:moveTo>
                  <a:pt x="5730580" y="0"/>
                </a:moveTo>
                <a:lnTo>
                  <a:pt x="0" y="0"/>
                </a:lnTo>
                <a:lnTo>
                  <a:pt x="0" y="9464"/>
                </a:lnTo>
                <a:lnTo>
                  <a:pt x="5730580" y="9464"/>
                </a:lnTo>
                <a:lnTo>
                  <a:pt x="573058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8500" y="4203700"/>
            <a:ext cx="5730875" cy="52705"/>
          </a:xfrm>
          <a:custGeom>
            <a:avLst/>
            <a:gdLst/>
            <a:ahLst/>
            <a:cxnLst/>
            <a:rect l="l" t="t" r="r" b="b"/>
            <a:pathLst>
              <a:path w="5730875" h="52705">
                <a:moveTo>
                  <a:pt x="5730583" y="44170"/>
                </a:moveTo>
                <a:lnTo>
                  <a:pt x="0" y="44170"/>
                </a:lnTo>
                <a:lnTo>
                  <a:pt x="0" y="52578"/>
                </a:lnTo>
                <a:lnTo>
                  <a:pt x="5730583" y="52578"/>
                </a:lnTo>
                <a:lnTo>
                  <a:pt x="5730583" y="44170"/>
                </a:lnTo>
                <a:close/>
              </a:path>
              <a:path w="5730875" h="52705">
                <a:moveTo>
                  <a:pt x="5730583" y="17881"/>
                </a:moveTo>
                <a:lnTo>
                  <a:pt x="0" y="17881"/>
                </a:lnTo>
                <a:lnTo>
                  <a:pt x="0" y="35763"/>
                </a:lnTo>
                <a:lnTo>
                  <a:pt x="5730583" y="35763"/>
                </a:lnTo>
                <a:lnTo>
                  <a:pt x="5730583" y="17881"/>
                </a:lnTo>
                <a:close/>
              </a:path>
              <a:path w="5730875" h="52705">
                <a:moveTo>
                  <a:pt x="5730583" y="0"/>
                </a:moveTo>
                <a:lnTo>
                  <a:pt x="0" y="0"/>
                </a:lnTo>
                <a:lnTo>
                  <a:pt x="0" y="9474"/>
                </a:lnTo>
                <a:lnTo>
                  <a:pt x="5730583" y="9474"/>
                </a:lnTo>
                <a:lnTo>
                  <a:pt x="5730583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31900" y="2755900"/>
            <a:ext cx="5124450" cy="869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5"/>
              </a:spcBef>
            </a:pPr>
            <a:r>
              <a:rPr sz="3000" b="1" dirty="0">
                <a:solidFill>
                  <a:srgbClr val="003299"/>
                </a:solidFill>
                <a:latin typeface="Times New Roman"/>
                <a:cs typeface="Times New Roman"/>
              </a:rPr>
              <a:t>Bases</a:t>
            </a:r>
            <a:r>
              <a:rPr sz="30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30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3299"/>
                </a:solidFill>
                <a:latin typeface="Times New Roman"/>
                <a:cs typeface="Times New Roman"/>
              </a:rPr>
              <a:t>données</a:t>
            </a:r>
            <a:r>
              <a:rPr sz="30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avancées</a:t>
            </a:r>
            <a:endParaRPr sz="3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2450" b="1" i="1" dirty="0">
                <a:solidFill>
                  <a:srgbClr val="003299"/>
                </a:solidFill>
                <a:latin typeface="Times New Roman"/>
                <a:cs typeface="Times New Roman"/>
              </a:rPr>
              <a:t>Évaluation</a:t>
            </a:r>
            <a:r>
              <a:rPr sz="2450" b="1" i="1" spc="8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450" b="1" i="1" dirty="0">
                <a:solidFill>
                  <a:srgbClr val="003299"/>
                </a:solidFill>
                <a:latin typeface="Times New Roman"/>
                <a:cs typeface="Times New Roman"/>
              </a:rPr>
              <a:t>et</a:t>
            </a:r>
            <a:r>
              <a:rPr sz="2450" b="1" i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450" b="1" i="1" dirty="0">
                <a:solidFill>
                  <a:srgbClr val="003299"/>
                </a:solidFill>
                <a:latin typeface="Times New Roman"/>
                <a:cs typeface="Times New Roman"/>
              </a:rPr>
              <a:t>optimisation</a:t>
            </a:r>
            <a:r>
              <a:rPr sz="2450" b="1" i="1" spc="9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450" b="1" i="1" dirty="0">
                <a:solidFill>
                  <a:srgbClr val="003299"/>
                </a:solidFill>
                <a:latin typeface="Times New Roman"/>
                <a:cs typeface="Times New Roman"/>
              </a:rPr>
              <a:t>des</a:t>
            </a:r>
            <a:r>
              <a:rPr sz="2450" b="1" i="1" spc="7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450" b="1" i="1" spc="-10" dirty="0">
                <a:solidFill>
                  <a:srgbClr val="003299"/>
                </a:solidFill>
                <a:latin typeface="Times New Roman"/>
                <a:cs typeface="Times New Roman"/>
              </a:rPr>
              <a:t>requêtes</a:t>
            </a:r>
            <a:endParaRPr sz="24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937602" y="2229090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5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5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5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83164" y="5753696"/>
            <a:ext cx="638175" cy="404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7989" y="6451780"/>
            <a:ext cx="5470525" cy="348424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09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Traitement</a:t>
            </a:r>
            <a:r>
              <a:rPr sz="16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Étapes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Décomposition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Traduction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Principes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Règles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réécriture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fusion,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hachage,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Évaluation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requêtes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Oracle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49067" y="10199249"/>
            <a:ext cx="78105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9067" y="4847206"/>
            <a:ext cx="781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5023" y="435182"/>
            <a:ext cx="309435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Traitement</a:t>
            </a:r>
            <a:r>
              <a:rPr sz="2200" b="1" spc="-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d'une</a:t>
            </a:r>
            <a:r>
              <a:rPr sz="2200" b="1" spc="-2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requête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82" y="1111173"/>
            <a:ext cx="4771390" cy="28549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09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exprimées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SQL: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langage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déclaratif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indique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ce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l'on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veut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obtenir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comment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l'obtenir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SGBD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doit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faire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reste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Déterminer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façon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d'exécuter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requête: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choisir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meilleur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Exécuter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choisi: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évaluation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Exprimé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relationnelle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(expression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algébrique)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Forme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exécutable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sait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précisément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comment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l'évaluer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7989" y="5797869"/>
            <a:ext cx="5423535" cy="17405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3835" algn="ctr">
              <a:lnSpc>
                <a:spcPct val="100000"/>
              </a:lnSpc>
              <a:spcBef>
                <a:spcPts val="130"/>
              </a:spcBef>
            </a:pP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Étapes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Times New Roman"/>
              <a:buChar char="•"/>
              <a:tabLst>
                <a:tab pos="180340" algn="l"/>
              </a:tabLst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Décomposition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SQL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expr.</a:t>
            </a:r>
            <a:r>
              <a:rPr sz="16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relationnelle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expr.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relationnelle</a:t>
            </a:r>
            <a:r>
              <a:rPr sz="1650"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Évaluation</a:t>
            </a:r>
            <a:r>
              <a:rPr sz="1650" b="1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(traitement):</a:t>
            </a:r>
            <a:r>
              <a:rPr sz="16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1647" y="7976826"/>
            <a:ext cx="2174240" cy="2030730"/>
            <a:chOff x="2971647" y="7976826"/>
            <a:chExt cx="2174240" cy="2030730"/>
          </a:xfrm>
        </p:grpSpPr>
        <p:sp>
          <p:nvSpPr>
            <p:cNvPr id="11" name="object 11"/>
            <p:cNvSpPr/>
            <p:nvPr/>
          </p:nvSpPr>
          <p:spPr>
            <a:xfrm>
              <a:off x="4867107" y="7994807"/>
              <a:ext cx="276225" cy="1379855"/>
            </a:xfrm>
            <a:custGeom>
              <a:avLst/>
              <a:gdLst/>
              <a:ahLst/>
              <a:cxnLst/>
              <a:rect l="l" t="t" r="r" b="b"/>
              <a:pathLst>
                <a:path w="276225" h="1379854">
                  <a:moveTo>
                    <a:pt x="0" y="0"/>
                  </a:moveTo>
                  <a:lnTo>
                    <a:pt x="0" y="1379617"/>
                  </a:lnTo>
                  <a:lnTo>
                    <a:pt x="275935" y="7489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7104" y="7994806"/>
              <a:ext cx="276225" cy="1379855"/>
            </a:xfrm>
            <a:custGeom>
              <a:avLst/>
              <a:gdLst/>
              <a:ahLst/>
              <a:cxnLst/>
              <a:rect l="l" t="t" r="r" b="b"/>
              <a:pathLst>
                <a:path w="276225" h="1379854">
                  <a:moveTo>
                    <a:pt x="0" y="0"/>
                  </a:moveTo>
                  <a:lnTo>
                    <a:pt x="275946" y="748940"/>
                  </a:lnTo>
                  <a:lnTo>
                    <a:pt x="0" y="1379618"/>
                  </a:lnTo>
                  <a:lnTo>
                    <a:pt x="0" y="0"/>
                  </a:lnTo>
                  <a:close/>
                </a:path>
              </a:pathLst>
            </a:custGeom>
            <a:ln w="39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107" y="9374425"/>
              <a:ext cx="236854" cy="631190"/>
            </a:xfrm>
            <a:custGeom>
              <a:avLst/>
              <a:gdLst/>
              <a:ahLst/>
              <a:cxnLst/>
              <a:rect l="l" t="t" r="r" b="b"/>
              <a:pathLst>
                <a:path w="236854" h="631190">
                  <a:moveTo>
                    <a:pt x="0" y="0"/>
                  </a:moveTo>
                  <a:lnTo>
                    <a:pt x="0" y="630679"/>
                  </a:lnTo>
                  <a:lnTo>
                    <a:pt x="236524" y="315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7104" y="9374425"/>
              <a:ext cx="236854" cy="631190"/>
            </a:xfrm>
            <a:custGeom>
              <a:avLst/>
              <a:gdLst/>
              <a:ahLst/>
              <a:cxnLst/>
              <a:rect l="l" t="t" r="r" b="b"/>
              <a:pathLst>
                <a:path w="236854" h="631190">
                  <a:moveTo>
                    <a:pt x="0" y="0"/>
                  </a:moveTo>
                  <a:lnTo>
                    <a:pt x="236519" y="315336"/>
                  </a:lnTo>
                  <a:lnTo>
                    <a:pt x="0" y="630681"/>
                  </a:lnTo>
                  <a:lnTo>
                    <a:pt x="0" y="0"/>
                  </a:lnTo>
                  <a:close/>
                </a:path>
              </a:pathLst>
            </a:custGeom>
            <a:ln w="39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73872" y="8727988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0"/>
                  </a:moveTo>
                  <a:lnTo>
                    <a:pt x="0" y="31531"/>
                  </a:lnTo>
                  <a:lnTo>
                    <a:pt x="63063" y="15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73869" y="8727974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31545"/>
                  </a:moveTo>
                  <a:lnTo>
                    <a:pt x="63065" y="15772"/>
                  </a:lnTo>
                  <a:lnTo>
                    <a:pt x="0" y="0"/>
                  </a:lnTo>
                  <a:lnTo>
                    <a:pt x="0" y="31545"/>
                  </a:lnTo>
                  <a:close/>
                </a:path>
              </a:pathLst>
            </a:custGeom>
            <a:ln w="3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73872" y="7979049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0"/>
                  </a:moveTo>
                  <a:lnTo>
                    <a:pt x="0" y="31531"/>
                  </a:lnTo>
                  <a:lnTo>
                    <a:pt x="63063" y="157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3869" y="7979048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31530"/>
                  </a:moveTo>
                  <a:lnTo>
                    <a:pt x="63065" y="15757"/>
                  </a:lnTo>
                  <a:lnTo>
                    <a:pt x="0" y="0"/>
                  </a:lnTo>
                  <a:lnTo>
                    <a:pt x="0" y="31530"/>
                  </a:lnTo>
                  <a:close/>
                </a:path>
              </a:pathLst>
            </a:custGeom>
            <a:ln w="3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73872" y="9358656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0"/>
                  </a:moveTo>
                  <a:lnTo>
                    <a:pt x="0" y="31533"/>
                  </a:lnTo>
                  <a:lnTo>
                    <a:pt x="63063" y="15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73869" y="9358655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31533"/>
                  </a:moveTo>
                  <a:lnTo>
                    <a:pt x="63065" y="15769"/>
                  </a:lnTo>
                  <a:lnTo>
                    <a:pt x="0" y="0"/>
                  </a:lnTo>
                  <a:lnTo>
                    <a:pt x="0" y="31533"/>
                  </a:lnTo>
                  <a:close/>
                </a:path>
              </a:pathLst>
            </a:custGeom>
            <a:ln w="3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976703" y="7879634"/>
            <a:ext cx="79438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imes New Roman"/>
                <a:cs typeface="Times New Roman"/>
              </a:rPr>
              <a:t>Requête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SQL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88285" y="8628557"/>
            <a:ext cx="165735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latin typeface="Times New Roman"/>
                <a:cs typeface="Times New Roman"/>
              </a:rPr>
              <a:t>Expression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l’Algèbre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Rel.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00754" y="9259236"/>
            <a:ext cx="10147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i="1" dirty="0">
                <a:latin typeface="Times New Roman"/>
                <a:cs typeface="Times New Roman"/>
              </a:rPr>
              <a:t>Plan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d’Exécution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88015" y="8628557"/>
            <a:ext cx="127508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imes New Roman"/>
                <a:cs typeface="Times New Roman"/>
              </a:rPr>
              <a:t>COUCHE </a:t>
            </a:r>
            <a:r>
              <a:rPr sz="1100" spc="-10" dirty="0">
                <a:latin typeface="Times New Roman"/>
                <a:cs typeface="Times New Roman"/>
              </a:rPr>
              <a:t>LOGIQUE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88015" y="9574573"/>
            <a:ext cx="134620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latin typeface="Times New Roman"/>
                <a:cs typeface="Times New Roman"/>
              </a:rPr>
              <a:t>COUCHE </a:t>
            </a:r>
            <a:r>
              <a:rPr sz="1100" spc="-10" dirty="0">
                <a:latin typeface="Times New Roman"/>
                <a:cs typeface="Times New Roman"/>
              </a:rPr>
              <a:t>PHYSIQUE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854698" y="7986922"/>
          <a:ext cx="2009139" cy="2009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850"/>
                <a:gridCol w="1812289"/>
              </a:tblGrid>
              <a:tr h="748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DECOMPOSITION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Analyse/Simplification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Traduction</a:t>
                      </a:r>
                      <a:r>
                        <a:rPr sz="1100" i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algébrique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OPTIMISATION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5590" marR="252095">
                        <a:lnSpc>
                          <a:spcPct val="117600"/>
                        </a:lnSpc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Choix</a:t>
                      </a:r>
                      <a:r>
                        <a:rPr sz="1100" i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des</a:t>
                      </a:r>
                      <a:r>
                        <a:rPr sz="1100" i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algorithmes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10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des</a:t>
                      </a:r>
                      <a:r>
                        <a:rPr sz="1100" i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coûts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0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TRAITEMENT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i="1" dirty="0">
                          <a:latin typeface="Times New Roman"/>
                          <a:cs typeface="Times New Roman"/>
                        </a:rPr>
                        <a:t>Accès</a:t>
                      </a:r>
                      <a:r>
                        <a:rPr sz="1100" i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dirty="0">
                          <a:latin typeface="Times New Roman"/>
                          <a:cs typeface="Times New Roman"/>
                        </a:rPr>
                        <a:t>aux</a:t>
                      </a:r>
                      <a:r>
                        <a:rPr sz="1100" i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i="1" spc="-10" dirty="0">
                          <a:latin typeface="Times New Roman"/>
                          <a:cs typeface="Times New Roman"/>
                        </a:rPr>
                        <a:t>fichiers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965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49067" y="10199249"/>
            <a:ext cx="78105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9067" y="4847206"/>
            <a:ext cx="781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5582920" cy="3862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450" algn="ctr">
              <a:lnSpc>
                <a:spcPct val="100000"/>
              </a:lnSpc>
              <a:spcBef>
                <a:spcPts val="130"/>
              </a:spcBef>
            </a:pP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Décomposition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Sous-étapes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Analyse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syntaxique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Analyse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sémantique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Simplification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Normalisation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Traduction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Analyse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syntaxique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chaîne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caractères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Contrôle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structure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grammaticale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(respect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syntaxe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SQL)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Vérification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l'existence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relations/attributs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adressés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Utilisation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dictionnaire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base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Transformation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représentation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interne: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arbre/graphe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syntaxique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8" y="5797869"/>
            <a:ext cx="4777105" cy="3685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78939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Décomposition</a:t>
            </a:r>
            <a:r>
              <a:rPr sz="1900" b="1" spc="10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Analyse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sémantique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Vérification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réalisés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attributs</a:t>
            </a:r>
            <a:endParaRPr sz="1350">
              <a:latin typeface="Times New Roman"/>
              <a:cs typeface="Times New Roman"/>
            </a:endParaRPr>
          </a:p>
          <a:p>
            <a:pPr marL="608330">
              <a:lnSpc>
                <a:spcPct val="100000"/>
              </a:lnSpc>
              <a:spcBef>
                <a:spcPts val="300"/>
              </a:spcBef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Ex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.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d'addition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attribut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texte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Détection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d'incohérences</a:t>
            </a:r>
            <a:endParaRPr sz="1350">
              <a:latin typeface="Times New Roman"/>
              <a:cs typeface="Times New Roman"/>
            </a:endParaRPr>
          </a:p>
          <a:p>
            <a:pPr marL="608330">
              <a:lnSpc>
                <a:spcPct val="100000"/>
              </a:lnSpc>
              <a:spcBef>
                <a:spcPts val="300"/>
              </a:spcBef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Ex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.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prix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=5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2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prix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=6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80"/>
              </a:spcBef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Simplification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inutilement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complexes</a:t>
            </a:r>
            <a:endParaRPr sz="1350">
              <a:latin typeface="Times New Roman"/>
              <a:cs typeface="Times New Roman"/>
            </a:endParaRPr>
          </a:p>
          <a:p>
            <a:pPr marL="608330">
              <a:lnSpc>
                <a:spcPct val="100000"/>
              </a:lnSpc>
              <a:spcBef>
                <a:spcPts val="300"/>
              </a:spcBef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Ex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.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(A</a:t>
            </a:r>
            <a:r>
              <a:rPr sz="12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or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not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B)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sz="1250" i="1" spc="13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équivalent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250" spc="13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8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Normalisation:</a:t>
            </a:r>
            <a:r>
              <a:rPr sz="16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simplifie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traduction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Transformation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forme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normale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conjonctive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Décomposition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blocs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Select-From-</a:t>
            </a:r>
            <a:r>
              <a:rPr sz="13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9067" y="10199249"/>
            <a:ext cx="78105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9067" y="4847206"/>
            <a:ext cx="781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5" y="457254"/>
            <a:ext cx="5633720" cy="32562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Traduction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algébrique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Déterminer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l'expression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équivalente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SQL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Clause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Clause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FROM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apparaissent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l'expression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Clause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Attr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constante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Attr1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Attr2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ou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Résultat: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expression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Représentée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arbre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885" y="5797869"/>
            <a:ext cx="5356225" cy="409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6934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traduction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algébrique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Soit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schéma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relationnel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(simplifié)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b="1" i="1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r>
              <a:rPr sz="1350" b="1" i="1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adresse)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b="1" i="1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r>
              <a:rPr sz="1350" b="1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ID-salle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ID-cinéma,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capacité)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b="1" i="1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1350" b="1" i="1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ID-salle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film)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Requête: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quels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films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commencent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Multiplex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heures?</a:t>
            </a:r>
            <a:endParaRPr sz="165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Séance.film</a:t>
            </a:r>
            <a:endParaRPr sz="135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Cinéma,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350">
              <a:latin typeface="Times New Roman"/>
              <a:cs typeface="Times New Roman"/>
            </a:endParaRPr>
          </a:p>
          <a:p>
            <a:pPr marL="1162050" marR="1901825" indent="-647065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Cinéma.nom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Séance.heure-début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endParaRPr sz="1350">
              <a:latin typeface="Times New Roman"/>
              <a:cs typeface="Times New Roman"/>
            </a:endParaRPr>
          </a:p>
          <a:p>
            <a:pPr marL="1162050" marR="1097280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Cinéma.ID-cinéma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Salle.ID-cinéma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Salle.ID-salle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Séance.ID-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Expression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720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900" i="1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9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9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r>
              <a:rPr sz="9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9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9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r>
              <a:rPr sz="2025" b="1" i="1" spc="30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60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2025" spc="37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5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2025" baseline="1440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9067" y="10199249"/>
            <a:ext cx="78105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49067" y="4847206"/>
            <a:ext cx="781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0000CC"/>
                </a:solidFill>
                <a:latin typeface="Times New Roman"/>
                <a:cs typeface="Times New Roman"/>
              </a:rPr>
              <a:t>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5291" y="457254"/>
            <a:ext cx="1654175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589" y="1058290"/>
            <a:ext cx="5286375" cy="68072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05740" indent="-167640">
              <a:lnSpc>
                <a:spcPct val="100000"/>
              </a:lnSpc>
              <a:spcBef>
                <a:spcPts val="925"/>
              </a:spcBef>
              <a:buChar char="•"/>
              <a:tabLst>
                <a:tab pos="2057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Arbre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65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  <a:spcBef>
                <a:spcPts val="725"/>
              </a:spcBef>
            </a:pP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2025" spc="494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90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9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9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r>
              <a:rPr sz="9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9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9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r>
              <a:rPr sz="2025" b="1" i="1" spc="22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67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2025" spc="30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60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2025" baseline="1440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6718" y="4096437"/>
            <a:ext cx="53467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4334" y="4080661"/>
            <a:ext cx="34988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5679" y="4080661"/>
            <a:ext cx="49022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82329" y="3269005"/>
            <a:ext cx="1299210" cy="553085"/>
          </a:xfrm>
          <a:custGeom>
            <a:avLst/>
            <a:gdLst/>
            <a:ahLst/>
            <a:cxnLst/>
            <a:rect l="l" t="t" r="r" b="b"/>
            <a:pathLst>
              <a:path w="1299210" h="553085">
                <a:moveTo>
                  <a:pt x="255524" y="398513"/>
                </a:moveTo>
                <a:lnTo>
                  <a:pt x="254457" y="398513"/>
                </a:lnTo>
                <a:lnTo>
                  <a:pt x="253403" y="397459"/>
                </a:lnTo>
                <a:lnTo>
                  <a:pt x="251307" y="397459"/>
                </a:lnTo>
                <a:lnTo>
                  <a:pt x="250253" y="398513"/>
                </a:lnTo>
                <a:lnTo>
                  <a:pt x="249199" y="399148"/>
                </a:lnTo>
                <a:lnTo>
                  <a:pt x="249199" y="400621"/>
                </a:lnTo>
                <a:lnTo>
                  <a:pt x="249199" y="406920"/>
                </a:lnTo>
                <a:lnTo>
                  <a:pt x="249199" y="543648"/>
                </a:lnTo>
                <a:lnTo>
                  <a:pt x="249199" y="549922"/>
                </a:lnTo>
                <a:lnTo>
                  <a:pt x="249161" y="543623"/>
                </a:lnTo>
                <a:lnTo>
                  <a:pt x="134696" y="475526"/>
                </a:lnTo>
                <a:lnTo>
                  <a:pt x="249161" y="406946"/>
                </a:lnTo>
                <a:lnTo>
                  <a:pt x="249199" y="400621"/>
                </a:lnTo>
                <a:lnTo>
                  <a:pt x="249199" y="399148"/>
                </a:lnTo>
                <a:lnTo>
                  <a:pt x="128016" y="471551"/>
                </a:lnTo>
                <a:lnTo>
                  <a:pt x="121348" y="467588"/>
                </a:lnTo>
                <a:lnTo>
                  <a:pt x="121348" y="475526"/>
                </a:lnTo>
                <a:lnTo>
                  <a:pt x="7378" y="543623"/>
                </a:lnTo>
                <a:lnTo>
                  <a:pt x="7340" y="406933"/>
                </a:lnTo>
                <a:lnTo>
                  <a:pt x="121348" y="475526"/>
                </a:lnTo>
                <a:lnTo>
                  <a:pt x="121348" y="467588"/>
                </a:lnTo>
                <a:lnTo>
                  <a:pt x="8788" y="400621"/>
                </a:lnTo>
                <a:lnTo>
                  <a:pt x="5257" y="398513"/>
                </a:lnTo>
                <a:lnTo>
                  <a:pt x="4216" y="397459"/>
                </a:lnTo>
                <a:lnTo>
                  <a:pt x="3162" y="397459"/>
                </a:lnTo>
                <a:lnTo>
                  <a:pt x="2095" y="398513"/>
                </a:lnTo>
                <a:lnTo>
                  <a:pt x="1066" y="398513"/>
                </a:lnTo>
                <a:lnTo>
                  <a:pt x="0" y="399567"/>
                </a:lnTo>
                <a:lnTo>
                  <a:pt x="0" y="550976"/>
                </a:lnTo>
                <a:lnTo>
                  <a:pt x="2095" y="553085"/>
                </a:lnTo>
                <a:lnTo>
                  <a:pt x="5257" y="553085"/>
                </a:lnTo>
                <a:lnTo>
                  <a:pt x="10515" y="549922"/>
                </a:lnTo>
                <a:lnTo>
                  <a:pt x="128016" y="479526"/>
                </a:lnTo>
                <a:lnTo>
                  <a:pt x="250253" y="553085"/>
                </a:lnTo>
                <a:lnTo>
                  <a:pt x="254457" y="553085"/>
                </a:lnTo>
                <a:lnTo>
                  <a:pt x="255524" y="552030"/>
                </a:lnTo>
                <a:lnTo>
                  <a:pt x="255524" y="549922"/>
                </a:lnTo>
                <a:lnTo>
                  <a:pt x="255524" y="400621"/>
                </a:lnTo>
                <a:lnTo>
                  <a:pt x="255524" y="398513"/>
                </a:lnTo>
                <a:close/>
              </a:path>
              <a:path w="1299210" h="553085">
                <a:moveTo>
                  <a:pt x="1298587" y="2108"/>
                </a:moveTo>
                <a:lnTo>
                  <a:pt x="1296479" y="0"/>
                </a:lnTo>
                <a:lnTo>
                  <a:pt x="1293329" y="0"/>
                </a:lnTo>
                <a:lnTo>
                  <a:pt x="1292275" y="635"/>
                </a:lnTo>
                <a:lnTo>
                  <a:pt x="1292275" y="3162"/>
                </a:lnTo>
                <a:lnTo>
                  <a:pt x="1292275" y="8826"/>
                </a:lnTo>
                <a:lnTo>
                  <a:pt x="1292275" y="146786"/>
                </a:lnTo>
                <a:lnTo>
                  <a:pt x="1292275" y="152463"/>
                </a:lnTo>
                <a:lnTo>
                  <a:pt x="1292263" y="146773"/>
                </a:lnTo>
                <a:lnTo>
                  <a:pt x="1177226" y="77558"/>
                </a:lnTo>
                <a:lnTo>
                  <a:pt x="1292263" y="8839"/>
                </a:lnTo>
                <a:lnTo>
                  <a:pt x="1292275" y="3162"/>
                </a:lnTo>
                <a:lnTo>
                  <a:pt x="1292275" y="635"/>
                </a:lnTo>
                <a:lnTo>
                  <a:pt x="1170825" y="73710"/>
                </a:lnTo>
                <a:lnTo>
                  <a:pt x="1164424" y="69862"/>
                </a:lnTo>
                <a:lnTo>
                  <a:pt x="1164424" y="77558"/>
                </a:lnTo>
                <a:lnTo>
                  <a:pt x="1049388" y="146773"/>
                </a:lnTo>
                <a:lnTo>
                  <a:pt x="1049375" y="8839"/>
                </a:lnTo>
                <a:lnTo>
                  <a:pt x="1164424" y="77558"/>
                </a:lnTo>
                <a:lnTo>
                  <a:pt x="1164424" y="69862"/>
                </a:lnTo>
                <a:lnTo>
                  <a:pt x="1053566" y="3162"/>
                </a:lnTo>
                <a:lnTo>
                  <a:pt x="1048321" y="0"/>
                </a:lnTo>
                <a:lnTo>
                  <a:pt x="1045171" y="0"/>
                </a:lnTo>
                <a:lnTo>
                  <a:pt x="1043063" y="2108"/>
                </a:lnTo>
                <a:lnTo>
                  <a:pt x="1043063" y="153517"/>
                </a:lnTo>
                <a:lnTo>
                  <a:pt x="1045171" y="155625"/>
                </a:lnTo>
                <a:lnTo>
                  <a:pt x="1047292" y="155625"/>
                </a:lnTo>
                <a:lnTo>
                  <a:pt x="1048321" y="154571"/>
                </a:lnTo>
                <a:lnTo>
                  <a:pt x="1051852" y="152463"/>
                </a:lnTo>
                <a:lnTo>
                  <a:pt x="1170825" y="81381"/>
                </a:lnTo>
                <a:lnTo>
                  <a:pt x="1293329" y="154571"/>
                </a:lnTo>
                <a:lnTo>
                  <a:pt x="1294371" y="155625"/>
                </a:lnTo>
                <a:lnTo>
                  <a:pt x="1296479" y="155625"/>
                </a:lnTo>
                <a:lnTo>
                  <a:pt x="1298587" y="153517"/>
                </a:lnTo>
                <a:lnTo>
                  <a:pt x="1298587" y="152463"/>
                </a:lnTo>
                <a:lnTo>
                  <a:pt x="1298587" y="3162"/>
                </a:lnTo>
                <a:lnTo>
                  <a:pt x="1298587" y="210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15695" y="2196420"/>
            <a:ext cx="2316480" cy="757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475" baseline="13468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10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 'Multiplex'</a:t>
            </a:r>
            <a:r>
              <a:rPr sz="11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11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heure-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r>
              <a:rPr sz="1100" i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1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12" name="object 12"/>
            <p:cNvSpPr/>
            <p:nvPr/>
          </p:nvSpPr>
          <p:spPr>
            <a:xfrm>
              <a:off x="1986965" y="2478303"/>
              <a:ext cx="2290445" cy="1591945"/>
            </a:xfrm>
            <a:custGeom>
              <a:avLst/>
              <a:gdLst/>
              <a:ahLst/>
              <a:cxnLst/>
              <a:rect l="l" t="t" r="r" b="b"/>
              <a:pathLst>
                <a:path w="2290445" h="1591945">
                  <a:moveTo>
                    <a:pt x="300736" y="1393202"/>
                  </a:moveTo>
                  <a:lnTo>
                    <a:pt x="297586" y="1387944"/>
                  </a:lnTo>
                  <a:lnTo>
                    <a:pt x="0" y="1586674"/>
                  </a:lnTo>
                  <a:lnTo>
                    <a:pt x="3162" y="1591932"/>
                  </a:lnTo>
                  <a:lnTo>
                    <a:pt x="300736" y="1393202"/>
                  </a:lnTo>
                  <a:close/>
                </a:path>
                <a:path w="2290445" h="1591945">
                  <a:moveTo>
                    <a:pt x="996823" y="1586674"/>
                  </a:moveTo>
                  <a:lnTo>
                    <a:pt x="748665" y="1387944"/>
                  </a:lnTo>
                  <a:lnTo>
                    <a:pt x="744461" y="1393202"/>
                  </a:lnTo>
                  <a:lnTo>
                    <a:pt x="992619" y="1591932"/>
                  </a:lnTo>
                  <a:lnTo>
                    <a:pt x="996823" y="1586674"/>
                  </a:lnTo>
                  <a:close/>
                </a:path>
                <a:path w="2290445" h="1591945">
                  <a:moveTo>
                    <a:pt x="1343812" y="946327"/>
                  </a:moveTo>
                  <a:lnTo>
                    <a:pt x="1342758" y="940015"/>
                  </a:lnTo>
                  <a:lnTo>
                    <a:pt x="646671" y="1138745"/>
                  </a:lnTo>
                  <a:lnTo>
                    <a:pt x="648766" y="1145057"/>
                  </a:lnTo>
                  <a:lnTo>
                    <a:pt x="1343812" y="946327"/>
                  </a:lnTo>
                  <a:close/>
                </a:path>
                <a:path w="2290445" h="1591945">
                  <a:moveTo>
                    <a:pt x="1529918" y="0"/>
                  </a:moveTo>
                  <a:lnTo>
                    <a:pt x="1522552" y="0"/>
                  </a:lnTo>
                  <a:lnTo>
                    <a:pt x="1522552" y="197675"/>
                  </a:lnTo>
                  <a:lnTo>
                    <a:pt x="1529918" y="197675"/>
                  </a:lnTo>
                  <a:lnTo>
                    <a:pt x="1529918" y="0"/>
                  </a:lnTo>
                  <a:close/>
                </a:path>
                <a:path w="2290445" h="1591945">
                  <a:moveTo>
                    <a:pt x="1544637" y="496290"/>
                  </a:moveTo>
                  <a:lnTo>
                    <a:pt x="1538325" y="496290"/>
                  </a:lnTo>
                  <a:lnTo>
                    <a:pt x="1538325" y="744435"/>
                  </a:lnTo>
                  <a:lnTo>
                    <a:pt x="1544637" y="744435"/>
                  </a:lnTo>
                  <a:lnTo>
                    <a:pt x="1544637" y="496290"/>
                  </a:lnTo>
                  <a:close/>
                </a:path>
                <a:path w="2290445" h="1591945">
                  <a:moveTo>
                    <a:pt x="2290140" y="1586674"/>
                  </a:moveTo>
                  <a:lnTo>
                    <a:pt x="1743367" y="991539"/>
                  </a:lnTo>
                  <a:lnTo>
                    <a:pt x="1738109" y="995743"/>
                  </a:lnTo>
                  <a:lnTo>
                    <a:pt x="2284882" y="1590878"/>
                  </a:lnTo>
                  <a:lnTo>
                    <a:pt x="2290140" y="1586674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87989" y="5775784"/>
            <a:ext cx="5461635" cy="2772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7005" algn="ctr">
              <a:lnSpc>
                <a:spcPct val="100000"/>
              </a:lnSpc>
              <a:spcBef>
                <a:spcPts val="110"/>
              </a:spcBef>
            </a:pP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Optimisation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2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SQL, il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y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expressions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algébriques</a:t>
            </a:r>
            <a:endParaRPr sz="16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équivalentes</a:t>
            </a:r>
            <a:r>
              <a:rPr sz="1650" i="1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possibles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rôle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principe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l'optimiseur: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Trouver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expressions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équivalentes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Évaluer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leurs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choisir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"la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meilleure"</a:t>
            </a:r>
            <a:endParaRPr sz="1350">
              <a:latin typeface="Times New Roman"/>
              <a:cs typeface="Times New Roman"/>
            </a:endParaRPr>
          </a:p>
          <a:p>
            <a:pPr marL="180340" marR="80010" indent="-168275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passe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expression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équivalente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utilisant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règles</a:t>
            </a:r>
            <a:r>
              <a:rPr sz="165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réécriture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0694" y="4847206"/>
            <a:ext cx="126364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2919" y="457254"/>
            <a:ext cx="2119630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Règles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réécriture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589" y="1036626"/>
            <a:ext cx="4304665" cy="28676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05740" indent="-167640">
              <a:lnSpc>
                <a:spcPct val="100000"/>
              </a:lnSpc>
              <a:spcBef>
                <a:spcPts val="1100"/>
              </a:spcBef>
              <a:buChar char="•"/>
              <a:tabLst>
                <a:tab pos="2057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nombreuses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règles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existent</a:t>
            </a:r>
            <a:endParaRPr sz="1650">
              <a:latin typeface="Times New Roman"/>
              <a:cs typeface="Times New Roman"/>
            </a:endParaRPr>
          </a:p>
          <a:p>
            <a:pPr marL="2057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2057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Exemples</a:t>
            </a:r>
            <a:endParaRPr sz="16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20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jointures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300"/>
              </a:spcBef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0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25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0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0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Associativité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jointures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50" i="1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25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0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Regroupement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sélections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605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80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8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B='b'</a:t>
            </a:r>
            <a:r>
              <a:rPr sz="80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875" spc="50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875" spc="50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spc="-15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spc="-1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875" spc="-14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B='b'</a:t>
            </a:r>
            <a:r>
              <a:rPr sz="80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spc="-3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spc="-3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spc="-3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1875" baseline="13333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29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610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spc="-16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Ai='a'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r>
              <a:rPr sz="1875" spc="48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875" spc="47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Ai='a'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)) , 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sz="1875" i="1" spc="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{1, …, </a:t>
            </a:r>
            <a:r>
              <a:rPr sz="1875" i="1" spc="-3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875" spc="-3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1875" baseline="13333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84360" y="5797869"/>
            <a:ext cx="2835910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Règles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réécriture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589" y="6414001"/>
            <a:ext cx="5231130" cy="245237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05740" indent="-167640">
              <a:lnSpc>
                <a:spcPct val="100000"/>
              </a:lnSpc>
              <a:spcBef>
                <a:spcPts val="810"/>
              </a:spcBef>
              <a:buChar char="•"/>
              <a:tabLst>
                <a:tab pos="2057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Exemples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(suite)</a:t>
            </a:r>
            <a:endParaRPr sz="16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20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1200" i="1" spc="3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(…,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A,</a:t>
            </a:r>
            <a:r>
              <a:rPr sz="12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…)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0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250" spc="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250" spc="3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1200" i="1" spc="15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 </a:t>
            </a:r>
            <a:r>
              <a:rPr sz="1250" spc="95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250" spc="-80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0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Distributivité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l'union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(pareil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différence)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1200" i="1" spc="3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2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250" spc="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25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1200" i="1" spc="15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2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A='a'</a:t>
            </a:r>
            <a:r>
              <a:rPr sz="1200" i="1" spc="3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60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605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An,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B1,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…,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Bm,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i="1" spc="1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spc="75" baseline="1333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80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Bj</a:t>
            </a:r>
            <a:r>
              <a:rPr sz="800" i="1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875" i="1" spc="2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875" spc="50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875" spc="494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875" spc="22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spc="75" baseline="1333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80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Bj</a:t>
            </a:r>
            <a:r>
              <a:rPr sz="800" i="1" spc="4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B1,</a:t>
            </a:r>
            <a:r>
              <a:rPr sz="80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…,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Bm</a:t>
            </a:r>
            <a:r>
              <a:rPr sz="1875" spc="-1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spc="-1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875" spc="-1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875" baseline="13333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295"/>
              </a:spcBef>
              <a:buChar char="–"/>
              <a:tabLst>
                <a:tab pos="5016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Distributivité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l'union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(pareil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différence)</a:t>
            </a:r>
            <a:endParaRPr sz="1350">
              <a:latin typeface="Times New Roman"/>
              <a:cs typeface="Times New Roman"/>
            </a:endParaRPr>
          </a:p>
          <a:p>
            <a:pPr marL="633730">
              <a:lnSpc>
                <a:spcPct val="100000"/>
              </a:lnSpc>
              <a:spcBef>
                <a:spcPts val="610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80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i="1" spc="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875" spc="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875" i="1" spc="1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875" spc="480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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8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875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875" spc="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A1,…,</a:t>
            </a:r>
            <a:r>
              <a:rPr sz="80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8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875" spc="-3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875" i="1" spc="-3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875" spc="-37" baseline="13333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875" baseline="1333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5481320" cy="3971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68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Restructuration</a:t>
            </a:r>
            <a:r>
              <a:rPr sz="1900" b="1" spc="10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(réécriture)</a:t>
            </a:r>
            <a:r>
              <a:rPr sz="1900" b="1" spc="12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algébrique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00660" marR="34290" indent="-188595">
              <a:lnSpc>
                <a:spcPct val="100000"/>
              </a:lnSpc>
              <a:buChar char="•"/>
              <a:tabLst>
                <a:tab pos="20193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Transformation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l'expression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obtenir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une 	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6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"meilleure"</a:t>
            </a:r>
            <a:r>
              <a:rPr sz="16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équivalente</a:t>
            </a:r>
            <a:endParaRPr sz="1650">
              <a:latin typeface="Times New Roman"/>
              <a:cs typeface="Times New Roman"/>
            </a:endParaRPr>
          </a:p>
          <a:p>
            <a:pPr marL="325755">
              <a:lnSpc>
                <a:spcPct val="100000"/>
              </a:lnSpc>
              <a:spcBef>
                <a:spcPts val="38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1350" spc="175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Utilisation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règles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réécriture</a:t>
            </a:r>
            <a:endParaRPr sz="1350">
              <a:latin typeface="Times New Roman"/>
              <a:cs typeface="Times New Roman"/>
            </a:endParaRPr>
          </a:p>
          <a:p>
            <a:pPr marL="201295" indent="-188595">
              <a:lnSpc>
                <a:spcPct val="100000"/>
              </a:lnSpc>
              <a:spcBef>
                <a:spcPts val="994"/>
              </a:spcBef>
              <a:buChar char="•"/>
              <a:tabLst>
                <a:tab pos="201295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Exemple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d'algorithme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restructuration</a:t>
            </a:r>
            <a:endParaRPr sz="1650">
              <a:latin typeface="Times New Roman"/>
              <a:cs typeface="Times New Roman"/>
            </a:endParaRPr>
          </a:p>
          <a:p>
            <a:pPr marL="532765" marR="5080" lvl="1" indent="-207010">
              <a:lnSpc>
                <a:spcPct val="102200"/>
              </a:lnSpc>
              <a:spcBef>
                <a:spcPts val="335"/>
              </a:spcBef>
              <a:buAutoNum type="arabicPeriod"/>
              <a:tabLst>
                <a:tab pos="53403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Séparer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prédicats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un 	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prédicat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(regroupement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sélections)</a:t>
            </a:r>
            <a:endParaRPr sz="1350">
              <a:latin typeface="Times New Roman"/>
              <a:cs typeface="Times New Roman"/>
            </a:endParaRPr>
          </a:p>
          <a:p>
            <a:pPr marL="532765" marR="253365" lvl="1" indent="-207010">
              <a:lnSpc>
                <a:spcPct val="102200"/>
              </a:lnSpc>
              <a:spcBef>
                <a:spcPts val="335"/>
              </a:spcBef>
              <a:buAutoNum type="arabicPeriod"/>
              <a:tabLst>
                <a:tab pos="53403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Descendre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bas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l'arbre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(règles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 	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distributivité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sélection)</a:t>
            </a:r>
            <a:endParaRPr sz="1350">
              <a:latin typeface="Times New Roman"/>
              <a:cs typeface="Times New Roman"/>
            </a:endParaRPr>
          </a:p>
          <a:p>
            <a:pPr marL="532765" marR="274320" lvl="1" indent="-207010">
              <a:lnSpc>
                <a:spcPct val="102200"/>
              </a:lnSpc>
              <a:spcBef>
                <a:spcPts val="330"/>
              </a:spcBef>
              <a:buAutoNum type="arabicPeriod"/>
              <a:tabLst>
                <a:tab pos="53403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Regrouper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(regroupement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des 	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sélections)</a:t>
            </a:r>
            <a:endParaRPr sz="1350">
              <a:latin typeface="Times New Roman"/>
              <a:cs typeface="Times New Roman"/>
            </a:endParaRPr>
          </a:p>
          <a:p>
            <a:pPr marL="532765" marR="165735" lvl="1" indent="-207010">
              <a:lnSpc>
                <a:spcPct val="102200"/>
              </a:lnSpc>
              <a:spcBef>
                <a:spcPts val="330"/>
              </a:spcBef>
              <a:buAutoNum type="arabicPeriod"/>
              <a:tabLst>
                <a:tab pos="53403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Descendre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bas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l'arbre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(règles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 	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commutativité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distributivité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projection)</a:t>
            </a:r>
            <a:endParaRPr sz="1350">
              <a:latin typeface="Times New Roman"/>
              <a:cs typeface="Times New Roman"/>
            </a:endParaRPr>
          </a:p>
          <a:p>
            <a:pPr marL="532765" lvl="1" indent="-207010">
              <a:lnSpc>
                <a:spcPct val="100000"/>
              </a:lnSpc>
              <a:spcBef>
                <a:spcPts val="370"/>
              </a:spcBef>
              <a:buAutoNum type="arabicPeriod"/>
              <a:tabLst>
                <a:tab pos="53276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Regrouper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608955" cy="3046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Justification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l'algorithme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marR="387350" indent="-168275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Idée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base: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réduire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taille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traitées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tôt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8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d'abord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sélections,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c'est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l'opérateur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"réducteur"</a:t>
            </a:r>
            <a:endParaRPr sz="1350">
              <a:latin typeface="Times New Roman"/>
              <a:cs typeface="Times New Roman"/>
            </a:endParaRPr>
          </a:p>
          <a:p>
            <a:pPr marL="476884" marR="273685" lvl="1" indent="-165100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dès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éliminer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attributs inutiles</a:t>
            </a:r>
            <a:endParaRPr sz="1350">
              <a:latin typeface="Times New Roman"/>
              <a:cs typeface="Times New Roman"/>
            </a:endParaRPr>
          </a:p>
          <a:p>
            <a:pPr marL="476884" marR="5080" lvl="1" indent="-165100">
              <a:lnSpc>
                <a:spcPct val="102200"/>
              </a:lnSpc>
              <a:spcBef>
                <a:spcPts val="334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(opération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très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coûteuse)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taille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des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été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réduite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maximum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Question:</a:t>
            </a:r>
            <a:r>
              <a:rPr sz="1650" spc="3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ainsi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obtenu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est-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toujours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optimal?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Réponse: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NON,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d'autres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facteurs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peuvent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intervenir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6271" y="457254"/>
            <a:ext cx="3451860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Résultat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après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la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restructuration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6044" y="3565450"/>
            <a:ext cx="53467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0439" y="3565450"/>
            <a:ext cx="34988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5885" y="3565450"/>
            <a:ext cx="49022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39380" y="2704363"/>
            <a:ext cx="553085" cy="603885"/>
          </a:xfrm>
          <a:custGeom>
            <a:avLst/>
            <a:gdLst/>
            <a:ahLst/>
            <a:cxnLst/>
            <a:rect l="l" t="t" r="r" b="b"/>
            <a:pathLst>
              <a:path w="553085" h="603885">
                <a:moveTo>
                  <a:pt x="255498" y="450024"/>
                </a:moveTo>
                <a:lnTo>
                  <a:pt x="253403" y="447929"/>
                </a:lnTo>
                <a:lnTo>
                  <a:pt x="253403" y="597242"/>
                </a:lnTo>
                <a:lnTo>
                  <a:pt x="248145" y="594080"/>
                </a:lnTo>
                <a:lnTo>
                  <a:pt x="133692" y="525221"/>
                </a:lnTo>
                <a:lnTo>
                  <a:pt x="248145" y="456349"/>
                </a:lnTo>
                <a:lnTo>
                  <a:pt x="248170" y="594093"/>
                </a:lnTo>
                <a:lnTo>
                  <a:pt x="253403" y="597242"/>
                </a:lnTo>
                <a:lnTo>
                  <a:pt x="253403" y="447929"/>
                </a:lnTo>
                <a:lnTo>
                  <a:pt x="252349" y="446874"/>
                </a:lnTo>
                <a:lnTo>
                  <a:pt x="251294" y="446874"/>
                </a:lnTo>
                <a:lnTo>
                  <a:pt x="250240" y="447941"/>
                </a:lnTo>
                <a:lnTo>
                  <a:pt x="127495" y="521487"/>
                </a:lnTo>
                <a:lnTo>
                  <a:pt x="121259" y="517740"/>
                </a:lnTo>
                <a:lnTo>
                  <a:pt x="121259" y="525221"/>
                </a:lnTo>
                <a:lnTo>
                  <a:pt x="6324" y="594080"/>
                </a:lnTo>
                <a:lnTo>
                  <a:pt x="6299" y="599351"/>
                </a:lnTo>
                <a:lnTo>
                  <a:pt x="6299" y="594093"/>
                </a:lnTo>
                <a:lnTo>
                  <a:pt x="6299" y="456336"/>
                </a:lnTo>
                <a:lnTo>
                  <a:pt x="6299" y="451091"/>
                </a:lnTo>
                <a:lnTo>
                  <a:pt x="6324" y="456349"/>
                </a:lnTo>
                <a:lnTo>
                  <a:pt x="121259" y="525221"/>
                </a:lnTo>
                <a:lnTo>
                  <a:pt x="121259" y="517740"/>
                </a:lnTo>
                <a:lnTo>
                  <a:pt x="10490" y="451091"/>
                </a:lnTo>
                <a:lnTo>
                  <a:pt x="5245" y="447941"/>
                </a:lnTo>
                <a:lnTo>
                  <a:pt x="4203" y="446874"/>
                </a:lnTo>
                <a:lnTo>
                  <a:pt x="2095" y="446874"/>
                </a:lnTo>
                <a:lnTo>
                  <a:pt x="2095" y="447941"/>
                </a:lnTo>
                <a:lnTo>
                  <a:pt x="0" y="450024"/>
                </a:lnTo>
                <a:lnTo>
                  <a:pt x="0" y="600405"/>
                </a:lnTo>
                <a:lnTo>
                  <a:pt x="1041" y="602500"/>
                </a:lnTo>
                <a:lnTo>
                  <a:pt x="2095" y="602500"/>
                </a:lnTo>
                <a:lnTo>
                  <a:pt x="2095" y="603554"/>
                </a:lnTo>
                <a:lnTo>
                  <a:pt x="4203" y="603554"/>
                </a:lnTo>
                <a:lnTo>
                  <a:pt x="5245" y="602500"/>
                </a:lnTo>
                <a:lnTo>
                  <a:pt x="10490" y="599351"/>
                </a:lnTo>
                <a:lnTo>
                  <a:pt x="127495" y="528955"/>
                </a:lnTo>
                <a:lnTo>
                  <a:pt x="250240" y="602500"/>
                </a:lnTo>
                <a:lnTo>
                  <a:pt x="251294" y="603554"/>
                </a:lnTo>
                <a:lnTo>
                  <a:pt x="252349" y="603554"/>
                </a:lnTo>
                <a:lnTo>
                  <a:pt x="253403" y="602500"/>
                </a:lnTo>
                <a:lnTo>
                  <a:pt x="254444" y="602500"/>
                </a:lnTo>
                <a:lnTo>
                  <a:pt x="255498" y="600405"/>
                </a:lnTo>
                <a:lnTo>
                  <a:pt x="255498" y="599351"/>
                </a:lnTo>
                <a:lnTo>
                  <a:pt x="255498" y="451091"/>
                </a:lnTo>
                <a:lnTo>
                  <a:pt x="255498" y="450024"/>
                </a:lnTo>
                <a:close/>
              </a:path>
              <a:path w="553085" h="603885">
                <a:moveTo>
                  <a:pt x="553072" y="3162"/>
                </a:moveTo>
                <a:lnTo>
                  <a:pt x="549910" y="0"/>
                </a:lnTo>
                <a:lnTo>
                  <a:pt x="548855" y="0"/>
                </a:lnTo>
                <a:lnTo>
                  <a:pt x="547814" y="1054"/>
                </a:lnTo>
                <a:lnTo>
                  <a:pt x="546773" y="1689"/>
                </a:lnTo>
                <a:lnTo>
                  <a:pt x="546773" y="8826"/>
                </a:lnTo>
                <a:lnTo>
                  <a:pt x="546773" y="147840"/>
                </a:lnTo>
                <a:lnTo>
                  <a:pt x="431253" y="78333"/>
                </a:lnTo>
                <a:lnTo>
                  <a:pt x="546773" y="8826"/>
                </a:lnTo>
                <a:lnTo>
                  <a:pt x="546773" y="1689"/>
                </a:lnTo>
                <a:lnTo>
                  <a:pt x="425323" y="74764"/>
                </a:lnTo>
                <a:lnTo>
                  <a:pt x="419379" y="71196"/>
                </a:lnTo>
                <a:lnTo>
                  <a:pt x="419379" y="78333"/>
                </a:lnTo>
                <a:lnTo>
                  <a:pt x="304914" y="147205"/>
                </a:lnTo>
                <a:lnTo>
                  <a:pt x="304914" y="9448"/>
                </a:lnTo>
                <a:lnTo>
                  <a:pt x="419379" y="78333"/>
                </a:lnTo>
                <a:lnTo>
                  <a:pt x="419379" y="71196"/>
                </a:lnTo>
                <a:lnTo>
                  <a:pt x="308063" y="4216"/>
                </a:lnTo>
                <a:lnTo>
                  <a:pt x="302831" y="1054"/>
                </a:lnTo>
                <a:lnTo>
                  <a:pt x="301777" y="0"/>
                </a:lnTo>
                <a:lnTo>
                  <a:pt x="300723" y="0"/>
                </a:lnTo>
                <a:lnTo>
                  <a:pt x="297573" y="3162"/>
                </a:lnTo>
                <a:lnTo>
                  <a:pt x="297573" y="153517"/>
                </a:lnTo>
                <a:lnTo>
                  <a:pt x="298615" y="155625"/>
                </a:lnTo>
                <a:lnTo>
                  <a:pt x="299669" y="155625"/>
                </a:lnTo>
                <a:lnTo>
                  <a:pt x="300723" y="156667"/>
                </a:lnTo>
                <a:lnTo>
                  <a:pt x="301777" y="156667"/>
                </a:lnTo>
                <a:lnTo>
                  <a:pt x="302831" y="155625"/>
                </a:lnTo>
                <a:lnTo>
                  <a:pt x="308063" y="152463"/>
                </a:lnTo>
                <a:lnTo>
                  <a:pt x="425323" y="81915"/>
                </a:lnTo>
                <a:lnTo>
                  <a:pt x="547814" y="155625"/>
                </a:lnTo>
                <a:lnTo>
                  <a:pt x="548855" y="156667"/>
                </a:lnTo>
                <a:lnTo>
                  <a:pt x="549910" y="156667"/>
                </a:lnTo>
                <a:lnTo>
                  <a:pt x="550964" y="155625"/>
                </a:lnTo>
                <a:lnTo>
                  <a:pt x="552018" y="155625"/>
                </a:lnTo>
                <a:lnTo>
                  <a:pt x="553072" y="153517"/>
                </a:lnTo>
                <a:lnTo>
                  <a:pt x="553072" y="152463"/>
                </a:lnTo>
                <a:lnTo>
                  <a:pt x="553072" y="4216"/>
                </a:lnTo>
                <a:lnTo>
                  <a:pt x="553072" y="316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2787" y="1649647"/>
            <a:ext cx="2316480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19734" algn="ctr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75" baseline="13468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10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 'Multiplex'</a:t>
            </a:r>
            <a:r>
              <a:rPr sz="11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110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heure-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r>
              <a:rPr sz="1100" i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1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41692" y="1931517"/>
            <a:ext cx="1445895" cy="1623695"/>
          </a:xfrm>
          <a:custGeom>
            <a:avLst/>
            <a:gdLst/>
            <a:ahLst/>
            <a:cxnLst/>
            <a:rect l="l" t="t" r="r" b="b"/>
            <a:pathLst>
              <a:path w="1445895" h="1623695">
                <a:moveTo>
                  <a:pt x="154571" y="1375346"/>
                </a:moveTo>
                <a:lnTo>
                  <a:pt x="148259" y="1372196"/>
                </a:lnTo>
                <a:lnTo>
                  <a:pt x="0" y="1619275"/>
                </a:lnTo>
                <a:lnTo>
                  <a:pt x="5257" y="1622437"/>
                </a:lnTo>
                <a:lnTo>
                  <a:pt x="154571" y="1375346"/>
                </a:lnTo>
                <a:close/>
              </a:path>
              <a:path w="1445895" h="1623695">
                <a:moveTo>
                  <a:pt x="452132" y="927417"/>
                </a:moveTo>
                <a:lnTo>
                  <a:pt x="446874" y="924255"/>
                </a:lnTo>
                <a:lnTo>
                  <a:pt x="346989" y="1173467"/>
                </a:lnTo>
                <a:lnTo>
                  <a:pt x="353301" y="1175562"/>
                </a:lnTo>
                <a:lnTo>
                  <a:pt x="452132" y="927417"/>
                </a:lnTo>
                <a:close/>
              </a:path>
              <a:path w="1445895" h="1623695">
                <a:moveTo>
                  <a:pt x="574103" y="0"/>
                </a:moveTo>
                <a:lnTo>
                  <a:pt x="567791" y="0"/>
                </a:lnTo>
                <a:lnTo>
                  <a:pt x="567791" y="198729"/>
                </a:lnTo>
                <a:lnTo>
                  <a:pt x="574103" y="198729"/>
                </a:lnTo>
                <a:lnTo>
                  <a:pt x="574103" y="0"/>
                </a:lnTo>
                <a:close/>
              </a:path>
              <a:path w="1445895" h="1623695">
                <a:moveTo>
                  <a:pt x="589876" y="496316"/>
                </a:moveTo>
                <a:lnTo>
                  <a:pt x="583577" y="496316"/>
                </a:lnTo>
                <a:lnTo>
                  <a:pt x="583577" y="744461"/>
                </a:lnTo>
                <a:lnTo>
                  <a:pt x="589876" y="744461"/>
                </a:lnTo>
                <a:lnTo>
                  <a:pt x="589876" y="496316"/>
                </a:lnTo>
                <a:close/>
              </a:path>
              <a:path w="1445895" h="1623695">
                <a:moveTo>
                  <a:pt x="700290" y="1619275"/>
                </a:moveTo>
                <a:lnTo>
                  <a:pt x="501561" y="1371142"/>
                </a:lnTo>
                <a:lnTo>
                  <a:pt x="496303" y="1375346"/>
                </a:lnTo>
                <a:lnTo>
                  <a:pt x="696087" y="1623504"/>
                </a:lnTo>
                <a:lnTo>
                  <a:pt x="700290" y="1619275"/>
                </a:lnTo>
                <a:close/>
              </a:path>
              <a:path w="1445895" h="1623695">
                <a:moveTo>
                  <a:pt x="1445793" y="1619275"/>
                </a:moveTo>
                <a:lnTo>
                  <a:pt x="799122" y="923213"/>
                </a:lnTo>
                <a:lnTo>
                  <a:pt x="793864" y="927417"/>
                </a:lnTo>
                <a:lnTo>
                  <a:pt x="1440535" y="1623504"/>
                </a:lnTo>
                <a:lnTo>
                  <a:pt x="1445793" y="16192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83670" y="4223665"/>
            <a:ext cx="53467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7377" y="4223665"/>
            <a:ext cx="34988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87583" y="4223665"/>
            <a:ext cx="49022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40097" y="2175458"/>
            <a:ext cx="900430" cy="1001394"/>
          </a:xfrm>
          <a:custGeom>
            <a:avLst/>
            <a:gdLst/>
            <a:ahLst/>
            <a:cxnLst/>
            <a:rect l="l" t="t" r="r" b="b"/>
            <a:pathLst>
              <a:path w="900429" h="1001394">
                <a:moveTo>
                  <a:pt x="254444" y="846455"/>
                </a:moveTo>
                <a:lnTo>
                  <a:pt x="252349" y="844346"/>
                </a:lnTo>
                <a:lnTo>
                  <a:pt x="251282" y="844346"/>
                </a:lnTo>
                <a:lnTo>
                  <a:pt x="250253" y="845400"/>
                </a:lnTo>
                <a:lnTo>
                  <a:pt x="248132" y="846683"/>
                </a:lnTo>
                <a:lnTo>
                  <a:pt x="248132" y="853808"/>
                </a:lnTo>
                <a:lnTo>
                  <a:pt x="248132" y="991552"/>
                </a:lnTo>
                <a:lnTo>
                  <a:pt x="133184" y="922680"/>
                </a:lnTo>
                <a:lnTo>
                  <a:pt x="248132" y="853808"/>
                </a:lnTo>
                <a:lnTo>
                  <a:pt x="248132" y="846683"/>
                </a:lnTo>
                <a:lnTo>
                  <a:pt x="127215" y="919111"/>
                </a:lnTo>
                <a:lnTo>
                  <a:pt x="121259" y="915543"/>
                </a:lnTo>
                <a:lnTo>
                  <a:pt x="121259" y="922680"/>
                </a:lnTo>
                <a:lnTo>
                  <a:pt x="6299" y="991552"/>
                </a:lnTo>
                <a:lnTo>
                  <a:pt x="6299" y="853808"/>
                </a:lnTo>
                <a:lnTo>
                  <a:pt x="121259" y="922680"/>
                </a:lnTo>
                <a:lnTo>
                  <a:pt x="121259" y="915543"/>
                </a:lnTo>
                <a:lnTo>
                  <a:pt x="9461" y="848550"/>
                </a:lnTo>
                <a:lnTo>
                  <a:pt x="4203" y="845400"/>
                </a:lnTo>
                <a:lnTo>
                  <a:pt x="3149" y="844346"/>
                </a:lnTo>
                <a:lnTo>
                  <a:pt x="2095" y="844346"/>
                </a:lnTo>
                <a:lnTo>
                  <a:pt x="0" y="846455"/>
                </a:lnTo>
                <a:lnTo>
                  <a:pt x="0" y="999972"/>
                </a:lnTo>
                <a:lnTo>
                  <a:pt x="1041" y="999972"/>
                </a:lnTo>
                <a:lnTo>
                  <a:pt x="2095" y="1001014"/>
                </a:lnTo>
                <a:lnTo>
                  <a:pt x="3149" y="1001014"/>
                </a:lnTo>
                <a:lnTo>
                  <a:pt x="4203" y="999972"/>
                </a:lnTo>
                <a:lnTo>
                  <a:pt x="9486" y="996810"/>
                </a:lnTo>
                <a:lnTo>
                  <a:pt x="127215" y="926261"/>
                </a:lnTo>
                <a:lnTo>
                  <a:pt x="250253" y="999972"/>
                </a:lnTo>
                <a:lnTo>
                  <a:pt x="251282" y="1001014"/>
                </a:lnTo>
                <a:lnTo>
                  <a:pt x="252349" y="1001014"/>
                </a:lnTo>
                <a:lnTo>
                  <a:pt x="253390" y="999972"/>
                </a:lnTo>
                <a:lnTo>
                  <a:pt x="254444" y="999972"/>
                </a:lnTo>
                <a:lnTo>
                  <a:pt x="254444" y="996810"/>
                </a:lnTo>
                <a:lnTo>
                  <a:pt x="254444" y="848550"/>
                </a:lnTo>
                <a:lnTo>
                  <a:pt x="254444" y="846455"/>
                </a:lnTo>
                <a:close/>
              </a:path>
              <a:path w="900429" h="1001394">
                <a:moveTo>
                  <a:pt x="900049" y="2108"/>
                </a:moveTo>
                <a:lnTo>
                  <a:pt x="899020" y="1054"/>
                </a:lnTo>
                <a:lnTo>
                  <a:pt x="897953" y="1054"/>
                </a:lnTo>
                <a:lnTo>
                  <a:pt x="896899" y="0"/>
                </a:lnTo>
                <a:lnTo>
                  <a:pt x="895858" y="0"/>
                </a:lnTo>
                <a:lnTo>
                  <a:pt x="894791" y="1054"/>
                </a:lnTo>
                <a:lnTo>
                  <a:pt x="893749" y="1689"/>
                </a:lnTo>
                <a:lnTo>
                  <a:pt x="893749" y="8851"/>
                </a:lnTo>
                <a:lnTo>
                  <a:pt x="893749" y="147828"/>
                </a:lnTo>
                <a:lnTo>
                  <a:pt x="778256" y="78333"/>
                </a:lnTo>
                <a:lnTo>
                  <a:pt x="893749" y="8851"/>
                </a:lnTo>
                <a:lnTo>
                  <a:pt x="893749" y="1689"/>
                </a:lnTo>
                <a:lnTo>
                  <a:pt x="772299" y="74764"/>
                </a:lnTo>
                <a:lnTo>
                  <a:pt x="766356" y="71196"/>
                </a:lnTo>
                <a:lnTo>
                  <a:pt x="766356" y="78333"/>
                </a:lnTo>
                <a:lnTo>
                  <a:pt x="650862" y="147828"/>
                </a:lnTo>
                <a:lnTo>
                  <a:pt x="650862" y="8851"/>
                </a:lnTo>
                <a:lnTo>
                  <a:pt x="766356" y="78333"/>
                </a:lnTo>
                <a:lnTo>
                  <a:pt x="766356" y="71196"/>
                </a:lnTo>
                <a:lnTo>
                  <a:pt x="655053" y="4216"/>
                </a:lnTo>
                <a:lnTo>
                  <a:pt x="649808" y="1054"/>
                </a:lnTo>
                <a:lnTo>
                  <a:pt x="648741" y="0"/>
                </a:lnTo>
                <a:lnTo>
                  <a:pt x="647712" y="0"/>
                </a:lnTo>
                <a:lnTo>
                  <a:pt x="646658" y="1054"/>
                </a:lnTo>
                <a:lnTo>
                  <a:pt x="645591" y="1054"/>
                </a:lnTo>
                <a:lnTo>
                  <a:pt x="644550" y="2108"/>
                </a:lnTo>
                <a:lnTo>
                  <a:pt x="644550" y="153530"/>
                </a:lnTo>
                <a:lnTo>
                  <a:pt x="646658" y="155625"/>
                </a:lnTo>
                <a:lnTo>
                  <a:pt x="649808" y="155625"/>
                </a:lnTo>
                <a:lnTo>
                  <a:pt x="655053" y="152463"/>
                </a:lnTo>
                <a:lnTo>
                  <a:pt x="772299" y="81915"/>
                </a:lnTo>
                <a:lnTo>
                  <a:pt x="894791" y="155625"/>
                </a:lnTo>
                <a:lnTo>
                  <a:pt x="897953" y="155625"/>
                </a:lnTo>
                <a:lnTo>
                  <a:pt x="900049" y="153530"/>
                </a:lnTo>
                <a:lnTo>
                  <a:pt x="900049" y="152463"/>
                </a:lnTo>
                <a:lnTo>
                  <a:pt x="900049" y="4216"/>
                </a:lnTo>
                <a:lnTo>
                  <a:pt x="900049" y="210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112790" y="1649647"/>
            <a:ext cx="4089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90886" y="1931517"/>
            <a:ext cx="2061210" cy="2279650"/>
          </a:xfrm>
          <a:custGeom>
            <a:avLst/>
            <a:gdLst/>
            <a:ahLst/>
            <a:cxnLst/>
            <a:rect l="l" t="t" r="r" b="b"/>
            <a:pathLst>
              <a:path w="2061210" h="2279650">
                <a:moveTo>
                  <a:pt x="6311" y="2135555"/>
                </a:moveTo>
                <a:lnTo>
                  <a:pt x="0" y="2135555"/>
                </a:lnTo>
                <a:lnTo>
                  <a:pt x="0" y="2279612"/>
                </a:lnTo>
                <a:lnTo>
                  <a:pt x="6311" y="2279612"/>
                </a:lnTo>
                <a:lnTo>
                  <a:pt x="6311" y="2135555"/>
                </a:lnTo>
                <a:close/>
              </a:path>
              <a:path w="2061210" h="2279650">
                <a:moveTo>
                  <a:pt x="354342" y="892708"/>
                </a:moveTo>
                <a:lnTo>
                  <a:pt x="346989" y="892708"/>
                </a:lnTo>
                <a:lnTo>
                  <a:pt x="346989" y="1092492"/>
                </a:lnTo>
                <a:lnTo>
                  <a:pt x="354342" y="1092492"/>
                </a:lnTo>
                <a:lnTo>
                  <a:pt x="354342" y="892708"/>
                </a:lnTo>
                <a:close/>
              </a:path>
              <a:path w="2061210" h="2279650">
                <a:moveTo>
                  <a:pt x="800176" y="350151"/>
                </a:moveTo>
                <a:lnTo>
                  <a:pt x="797026" y="344893"/>
                </a:lnTo>
                <a:lnTo>
                  <a:pt x="349084" y="642454"/>
                </a:lnTo>
                <a:lnTo>
                  <a:pt x="352247" y="647712"/>
                </a:lnTo>
                <a:lnTo>
                  <a:pt x="800176" y="350151"/>
                </a:lnTo>
                <a:close/>
              </a:path>
              <a:path w="2061210" h="2279650">
                <a:moveTo>
                  <a:pt x="851712" y="1986254"/>
                </a:moveTo>
                <a:lnTo>
                  <a:pt x="844346" y="1986254"/>
                </a:lnTo>
                <a:lnTo>
                  <a:pt x="844346" y="2279612"/>
                </a:lnTo>
                <a:lnTo>
                  <a:pt x="851712" y="2279612"/>
                </a:lnTo>
                <a:lnTo>
                  <a:pt x="851712" y="1986254"/>
                </a:lnTo>
                <a:close/>
              </a:path>
              <a:path w="2061210" h="2279650">
                <a:moveTo>
                  <a:pt x="1014679" y="0"/>
                </a:moveTo>
                <a:lnTo>
                  <a:pt x="1008367" y="0"/>
                </a:lnTo>
                <a:lnTo>
                  <a:pt x="1008367" y="198729"/>
                </a:lnTo>
                <a:lnTo>
                  <a:pt x="1014679" y="198729"/>
                </a:lnTo>
                <a:lnTo>
                  <a:pt x="1014679" y="0"/>
                </a:lnTo>
                <a:close/>
              </a:path>
              <a:path w="2061210" h="2279650">
                <a:moveTo>
                  <a:pt x="2060905" y="2279612"/>
                </a:moveTo>
                <a:lnTo>
                  <a:pt x="2044077" y="1738109"/>
                </a:lnTo>
                <a:lnTo>
                  <a:pt x="2037778" y="1738109"/>
                </a:lnTo>
                <a:lnTo>
                  <a:pt x="2053539" y="2279612"/>
                </a:lnTo>
                <a:lnTo>
                  <a:pt x="2060905" y="227961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99979" y="3716851"/>
            <a:ext cx="1524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50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28263" y="3838824"/>
            <a:ext cx="10179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10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 </a:t>
            </a:r>
            <a:r>
              <a:rPr sz="1100" spc="-1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90893" y="3673824"/>
            <a:ext cx="6350" cy="145415"/>
          </a:xfrm>
          <a:custGeom>
            <a:avLst/>
            <a:gdLst/>
            <a:ahLst/>
            <a:cxnLst/>
            <a:rect l="l" t="t" r="r" b="b"/>
            <a:pathLst>
              <a:path w="6350" h="145414">
                <a:moveTo>
                  <a:pt x="6310" y="0"/>
                </a:moveTo>
                <a:lnTo>
                  <a:pt x="0" y="0"/>
                </a:lnTo>
                <a:lnTo>
                  <a:pt x="0" y="145101"/>
                </a:lnTo>
                <a:lnTo>
                  <a:pt x="6310" y="145101"/>
                </a:lnTo>
                <a:lnTo>
                  <a:pt x="631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21689" y="3370915"/>
            <a:ext cx="7886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7187" y="3619065"/>
            <a:ext cx="13208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salle,</a:t>
            </a:r>
            <a:r>
              <a:rPr sz="110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42511" y="3170160"/>
            <a:ext cx="899160" cy="501650"/>
          </a:xfrm>
          <a:custGeom>
            <a:avLst/>
            <a:gdLst/>
            <a:ahLst/>
            <a:cxnLst/>
            <a:rect l="l" t="t" r="r" b="b"/>
            <a:pathLst>
              <a:path w="899160" h="501650">
                <a:moveTo>
                  <a:pt x="252361" y="5270"/>
                </a:moveTo>
                <a:lnTo>
                  <a:pt x="248158" y="0"/>
                </a:lnTo>
                <a:lnTo>
                  <a:pt x="0" y="249212"/>
                </a:lnTo>
                <a:lnTo>
                  <a:pt x="5257" y="253415"/>
                </a:lnTo>
                <a:lnTo>
                  <a:pt x="252361" y="5270"/>
                </a:lnTo>
                <a:close/>
              </a:path>
              <a:path w="899160" h="501650">
                <a:moveTo>
                  <a:pt x="899033" y="498411"/>
                </a:moveTo>
                <a:lnTo>
                  <a:pt x="601446" y="1054"/>
                </a:lnTo>
                <a:lnTo>
                  <a:pt x="595147" y="4203"/>
                </a:lnTo>
                <a:lnTo>
                  <a:pt x="893775" y="501561"/>
                </a:lnTo>
                <a:lnTo>
                  <a:pt x="899033" y="498411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560719" y="2892499"/>
            <a:ext cx="1166495" cy="72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salle,</a:t>
            </a:r>
            <a:r>
              <a:rPr sz="110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10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heure-</a:t>
            </a:r>
            <a:r>
              <a:rPr sz="1100" i="1" dirty="0">
                <a:solidFill>
                  <a:srgbClr val="0000CC"/>
                </a:solidFill>
                <a:latin typeface="Times New Roman"/>
                <a:cs typeface="Times New Roman"/>
              </a:rPr>
              <a:t>début </a:t>
            </a:r>
            <a:r>
              <a:rPr sz="1100" dirty="0">
                <a:solidFill>
                  <a:srgbClr val="0000CC"/>
                </a:solidFill>
                <a:latin typeface="Times New Roman"/>
                <a:cs typeface="Times New Roman"/>
              </a:rPr>
              <a:t>= </a:t>
            </a:r>
            <a:r>
              <a:rPr sz="110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385371" y="2276411"/>
            <a:ext cx="849630" cy="1141095"/>
          </a:xfrm>
          <a:custGeom>
            <a:avLst/>
            <a:gdLst/>
            <a:ahLst/>
            <a:cxnLst/>
            <a:rect l="l" t="t" r="r" b="b"/>
            <a:pathLst>
              <a:path w="849629" h="1141095">
                <a:moveTo>
                  <a:pt x="798068" y="695020"/>
                </a:moveTo>
                <a:lnTo>
                  <a:pt x="4203" y="0"/>
                </a:lnTo>
                <a:lnTo>
                  <a:pt x="0" y="5257"/>
                </a:lnTo>
                <a:lnTo>
                  <a:pt x="793877" y="700278"/>
                </a:lnTo>
                <a:lnTo>
                  <a:pt x="798068" y="695020"/>
                </a:lnTo>
                <a:close/>
              </a:path>
              <a:path w="849629" h="1141095">
                <a:moveTo>
                  <a:pt x="849591" y="895858"/>
                </a:moveTo>
                <a:lnTo>
                  <a:pt x="843292" y="895858"/>
                </a:lnTo>
                <a:lnTo>
                  <a:pt x="843292" y="1140853"/>
                </a:lnTo>
                <a:lnTo>
                  <a:pt x="849591" y="1140853"/>
                </a:lnTo>
                <a:lnTo>
                  <a:pt x="849591" y="89585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11668" y="2543409"/>
            <a:ext cx="6496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75" spc="-15" baseline="13468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11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ID-salle</a:t>
            </a:r>
            <a:endParaRPr sz="1100">
              <a:latin typeface="Times New Roman"/>
              <a:cs typeface="Times New Roman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27" name="object 27"/>
            <p:cNvSpPr/>
            <p:nvPr/>
          </p:nvSpPr>
          <p:spPr>
            <a:xfrm>
              <a:off x="3029010" y="1677065"/>
              <a:ext cx="955040" cy="259715"/>
            </a:xfrm>
            <a:custGeom>
              <a:avLst/>
              <a:gdLst/>
              <a:ahLst/>
              <a:cxnLst/>
              <a:rect l="l" t="t" r="r" b="b"/>
              <a:pathLst>
                <a:path w="955039" h="259714">
                  <a:moveTo>
                    <a:pt x="707638" y="192420"/>
                  </a:moveTo>
                  <a:lnTo>
                    <a:pt x="707638" y="259704"/>
                  </a:lnTo>
                  <a:lnTo>
                    <a:pt x="717684" y="254447"/>
                  </a:lnTo>
                  <a:lnTo>
                    <a:pt x="714999" y="254447"/>
                  </a:lnTo>
                  <a:lnTo>
                    <a:pt x="709742" y="251292"/>
                  </a:lnTo>
                  <a:lnTo>
                    <a:pt x="714999" y="248535"/>
                  </a:lnTo>
                  <a:lnTo>
                    <a:pt x="714999" y="195574"/>
                  </a:lnTo>
                  <a:lnTo>
                    <a:pt x="711845" y="195574"/>
                  </a:lnTo>
                  <a:lnTo>
                    <a:pt x="707638" y="192420"/>
                  </a:lnTo>
                  <a:close/>
                </a:path>
                <a:path w="955039" h="259714">
                  <a:moveTo>
                    <a:pt x="714999" y="248535"/>
                  </a:moveTo>
                  <a:lnTo>
                    <a:pt x="709742" y="251292"/>
                  </a:lnTo>
                  <a:lnTo>
                    <a:pt x="714999" y="254447"/>
                  </a:lnTo>
                  <a:lnTo>
                    <a:pt x="714999" y="248535"/>
                  </a:lnTo>
                  <a:close/>
                </a:path>
                <a:path w="955039" h="259714">
                  <a:moveTo>
                    <a:pt x="940337" y="130364"/>
                  </a:moveTo>
                  <a:lnTo>
                    <a:pt x="714999" y="248535"/>
                  </a:lnTo>
                  <a:lnTo>
                    <a:pt x="714999" y="254447"/>
                  </a:lnTo>
                  <a:lnTo>
                    <a:pt x="717684" y="254447"/>
                  </a:lnTo>
                  <a:lnTo>
                    <a:pt x="948712" y="133532"/>
                  </a:lnTo>
                  <a:lnTo>
                    <a:pt x="946327" y="133532"/>
                  </a:lnTo>
                  <a:lnTo>
                    <a:pt x="940337" y="130364"/>
                  </a:lnTo>
                  <a:close/>
                </a:path>
                <a:path w="955039" h="259714">
                  <a:moveTo>
                    <a:pt x="707638" y="65181"/>
                  </a:moveTo>
                  <a:lnTo>
                    <a:pt x="0" y="65181"/>
                  </a:lnTo>
                  <a:lnTo>
                    <a:pt x="0" y="195574"/>
                  </a:lnTo>
                  <a:lnTo>
                    <a:pt x="707638" y="195574"/>
                  </a:lnTo>
                  <a:lnTo>
                    <a:pt x="707638" y="192420"/>
                  </a:lnTo>
                  <a:lnTo>
                    <a:pt x="6309" y="192420"/>
                  </a:lnTo>
                  <a:lnTo>
                    <a:pt x="3154" y="189265"/>
                  </a:lnTo>
                  <a:lnTo>
                    <a:pt x="6309" y="189265"/>
                  </a:lnTo>
                  <a:lnTo>
                    <a:pt x="6309" y="71490"/>
                  </a:lnTo>
                  <a:lnTo>
                    <a:pt x="3154" y="71490"/>
                  </a:lnTo>
                  <a:lnTo>
                    <a:pt x="6309" y="68336"/>
                  </a:lnTo>
                  <a:lnTo>
                    <a:pt x="707638" y="68336"/>
                  </a:lnTo>
                  <a:lnTo>
                    <a:pt x="707638" y="65181"/>
                  </a:lnTo>
                  <a:close/>
                </a:path>
                <a:path w="955039" h="259714">
                  <a:moveTo>
                    <a:pt x="714999" y="189265"/>
                  </a:moveTo>
                  <a:lnTo>
                    <a:pt x="6309" y="189265"/>
                  </a:lnTo>
                  <a:lnTo>
                    <a:pt x="6309" y="192420"/>
                  </a:lnTo>
                  <a:lnTo>
                    <a:pt x="707638" y="192420"/>
                  </a:lnTo>
                  <a:lnTo>
                    <a:pt x="711845" y="195574"/>
                  </a:lnTo>
                  <a:lnTo>
                    <a:pt x="714999" y="195574"/>
                  </a:lnTo>
                  <a:lnTo>
                    <a:pt x="714999" y="189265"/>
                  </a:lnTo>
                  <a:close/>
                </a:path>
                <a:path w="955039" h="259714">
                  <a:moveTo>
                    <a:pt x="6309" y="189265"/>
                  </a:moveTo>
                  <a:lnTo>
                    <a:pt x="3154" y="189265"/>
                  </a:lnTo>
                  <a:lnTo>
                    <a:pt x="6309" y="192420"/>
                  </a:lnTo>
                  <a:lnTo>
                    <a:pt x="6309" y="189265"/>
                  </a:lnTo>
                  <a:close/>
                </a:path>
                <a:path w="955039" h="259714">
                  <a:moveTo>
                    <a:pt x="946327" y="127223"/>
                  </a:moveTo>
                  <a:lnTo>
                    <a:pt x="940337" y="130364"/>
                  </a:lnTo>
                  <a:lnTo>
                    <a:pt x="946327" y="133532"/>
                  </a:lnTo>
                  <a:lnTo>
                    <a:pt x="946327" y="127223"/>
                  </a:lnTo>
                  <a:close/>
                </a:path>
                <a:path w="955039" h="259714">
                  <a:moveTo>
                    <a:pt x="948761" y="127223"/>
                  </a:moveTo>
                  <a:lnTo>
                    <a:pt x="946327" y="127223"/>
                  </a:lnTo>
                  <a:lnTo>
                    <a:pt x="946327" y="133532"/>
                  </a:lnTo>
                  <a:lnTo>
                    <a:pt x="948712" y="133532"/>
                  </a:lnTo>
                  <a:lnTo>
                    <a:pt x="954740" y="130378"/>
                  </a:lnTo>
                  <a:lnTo>
                    <a:pt x="948761" y="127223"/>
                  </a:lnTo>
                  <a:close/>
                </a:path>
                <a:path w="955039" h="259714">
                  <a:moveTo>
                    <a:pt x="719596" y="6309"/>
                  </a:moveTo>
                  <a:lnTo>
                    <a:pt x="714999" y="6309"/>
                  </a:lnTo>
                  <a:lnTo>
                    <a:pt x="714999" y="11193"/>
                  </a:lnTo>
                  <a:lnTo>
                    <a:pt x="940337" y="130364"/>
                  </a:lnTo>
                  <a:lnTo>
                    <a:pt x="946327" y="127223"/>
                  </a:lnTo>
                  <a:lnTo>
                    <a:pt x="948761" y="127223"/>
                  </a:lnTo>
                  <a:lnTo>
                    <a:pt x="719596" y="6309"/>
                  </a:lnTo>
                  <a:close/>
                </a:path>
                <a:path w="955039" h="259714">
                  <a:moveTo>
                    <a:pt x="6309" y="68336"/>
                  </a:moveTo>
                  <a:lnTo>
                    <a:pt x="3154" y="71490"/>
                  </a:lnTo>
                  <a:lnTo>
                    <a:pt x="6309" y="71490"/>
                  </a:lnTo>
                  <a:lnTo>
                    <a:pt x="6309" y="68336"/>
                  </a:lnTo>
                  <a:close/>
                </a:path>
                <a:path w="955039" h="259714">
                  <a:moveTo>
                    <a:pt x="714999" y="65181"/>
                  </a:moveTo>
                  <a:lnTo>
                    <a:pt x="711845" y="65181"/>
                  </a:lnTo>
                  <a:lnTo>
                    <a:pt x="707638" y="68336"/>
                  </a:lnTo>
                  <a:lnTo>
                    <a:pt x="6309" y="68336"/>
                  </a:lnTo>
                  <a:lnTo>
                    <a:pt x="6309" y="71490"/>
                  </a:lnTo>
                  <a:lnTo>
                    <a:pt x="714999" y="71490"/>
                  </a:lnTo>
                  <a:lnTo>
                    <a:pt x="714999" y="65181"/>
                  </a:lnTo>
                  <a:close/>
                </a:path>
                <a:path w="955039" h="259714">
                  <a:moveTo>
                    <a:pt x="707638" y="0"/>
                  </a:moveTo>
                  <a:lnTo>
                    <a:pt x="707638" y="68336"/>
                  </a:lnTo>
                  <a:lnTo>
                    <a:pt x="711845" y="65181"/>
                  </a:lnTo>
                  <a:lnTo>
                    <a:pt x="714999" y="65181"/>
                  </a:lnTo>
                  <a:lnTo>
                    <a:pt x="714999" y="11193"/>
                  </a:lnTo>
                  <a:lnTo>
                    <a:pt x="709742" y="8412"/>
                  </a:lnTo>
                  <a:lnTo>
                    <a:pt x="714999" y="6309"/>
                  </a:lnTo>
                  <a:lnTo>
                    <a:pt x="719596" y="6309"/>
                  </a:lnTo>
                  <a:lnTo>
                    <a:pt x="707638" y="0"/>
                  </a:lnTo>
                  <a:close/>
                </a:path>
                <a:path w="955039" h="259714">
                  <a:moveTo>
                    <a:pt x="714999" y="6309"/>
                  </a:moveTo>
                  <a:lnTo>
                    <a:pt x="709742" y="8412"/>
                  </a:lnTo>
                  <a:lnTo>
                    <a:pt x="714999" y="11193"/>
                  </a:lnTo>
                  <a:lnTo>
                    <a:pt x="714999" y="6309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49877" y="5797869"/>
            <a:ext cx="5669915" cy="4265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9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d'optimisation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qui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échoue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rajoute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b="1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350" b="1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réalisateur,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année)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Requête: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réalisateurs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films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qu'on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voir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14h-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22h</a:t>
            </a:r>
            <a:endParaRPr sz="1650">
              <a:latin typeface="Times New Roman"/>
              <a:cs typeface="Times New Roman"/>
            </a:endParaRPr>
          </a:p>
          <a:p>
            <a:pPr marL="514984" marR="3355340">
              <a:lnSpc>
                <a:spcPct val="102200"/>
              </a:lnSpc>
              <a:spcBef>
                <a:spcPts val="3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Film.réalisateur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350">
              <a:latin typeface="Times New Roman"/>
              <a:cs typeface="Times New Roman"/>
            </a:endParaRPr>
          </a:p>
          <a:p>
            <a:pPr marL="1162050" marR="109855" indent="-647065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Séance.heure-début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Séance.heure-début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Film.film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Séance.film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Expressions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720"/>
              </a:spcBef>
              <a:buChar char="–"/>
              <a:tabLst>
                <a:tab pos="514350" algn="l"/>
              </a:tabLst>
            </a:pP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Initiale:</a:t>
            </a:r>
            <a:r>
              <a:rPr sz="2025" spc="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900" i="1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2025" spc="52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9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9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9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r>
              <a:rPr sz="9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2025" b="1" i="1" spc="44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89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2025" baseline="14403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514350" algn="l"/>
              </a:tabLst>
            </a:pP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Optimisée:</a:t>
            </a:r>
            <a:r>
              <a:rPr sz="2025" spc="44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90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2025" b="1" i="1" spc="44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67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2025" spc="60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9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90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9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r>
              <a:rPr sz="900" spc="1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2025" baseline="14403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645"/>
              </a:spcBef>
              <a:buChar char="•"/>
              <a:tabLst>
                <a:tab pos="2184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Hypothèses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occupe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8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contient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20%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occupe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90%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sont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14h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22h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9" y="457254"/>
            <a:ext cx="5624195" cy="3761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900">
              <a:latin typeface="Times New Roman"/>
              <a:cs typeface="Times New Roman"/>
            </a:endParaRPr>
          </a:p>
          <a:p>
            <a:pPr marL="217804" indent="-167640">
              <a:lnSpc>
                <a:spcPct val="100000"/>
              </a:lnSpc>
              <a:buChar char="•"/>
              <a:tabLst>
                <a:tab pos="217804" algn="l"/>
                <a:tab pos="349885" algn="l"/>
              </a:tabLst>
            </a:pPr>
            <a:r>
              <a:rPr sz="2475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2475" spc="22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75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initial:</a:t>
            </a:r>
            <a:r>
              <a:rPr sz="2475" spc="-7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90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2025" spc="30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9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9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90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r>
              <a:rPr sz="90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2025" b="1" i="1" spc="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104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2025" baseline="14403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8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400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produit 20%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Sélection: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3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produit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90%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14h-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22h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laisse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côté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(même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deux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cas)</a:t>
            </a:r>
            <a:endParaRPr sz="13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6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(E/S):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400E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429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E/S</a:t>
            </a:r>
            <a:endParaRPr sz="1350">
              <a:latin typeface="Times New Roman"/>
              <a:cs typeface="Times New Roman"/>
            </a:endParaRPr>
          </a:p>
          <a:p>
            <a:pPr marL="217804" indent="-167640">
              <a:lnSpc>
                <a:spcPct val="100000"/>
              </a:lnSpc>
              <a:spcBef>
                <a:spcPts val="1335"/>
              </a:spcBef>
              <a:buChar char="•"/>
              <a:tabLst>
                <a:tab pos="217804" algn="l"/>
                <a:tab pos="349885" algn="l"/>
              </a:tabLst>
            </a:pPr>
            <a:r>
              <a:rPr sz="2475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2475" spc="22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75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optimisé:</a:t>
            </a:r>
            <a:r>
              <a:rPr sz="2475" spc="7" baseline="117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90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2025" b="1" i="1" spc="22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202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2025" spc="-89" baseline="14403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2025" baseline="1440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2025" spc="44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9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900" spc="1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Symbol"/>
                <a:cs typeface="Symbol"/>
              </a:rPr>
              <a:t></a:t>
            </a:r>
            <a:r>
              <a:rPr sz="90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9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9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r>
              <a:rPr sz="90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2025" b="1" i="1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r>
              <a:rPr sz="2025" spc="-15" baseline="14403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2025" baseline="14403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Sélection: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produit 90%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45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8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45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360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produit 20%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45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6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(E/S):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50E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45S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360E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9S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464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E/S</a:t>
            </a:r>
            <a:endParaRPr sz="1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94"/>
              </a:spcBef>
            </a:pP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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initial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ici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meilleur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celui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optimisé!</a:t>
            </a:r>
            <a:endParaRPr sz="1650">
              <a:latin typeface="Times New Roman"/>
              <a:cs typeface="Times New Roman"/>
            </a:endParaRPr>
          </a:p>
          <a:p>
            <a:pPr marL="514350" indent="-164465">
              <a:lnSpc>
                <a:spcPct val="100000"/>
              </a:lnSpc>
              <a:spcBef>
                <a:spcPts val="375"/>
              </a:spcBef>
              <a:buChar char="•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rare: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ici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sélective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573395" cy="3673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588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Conclusions</a:t>
            </a:r>
            <a:r>
              <a:rPr sz="1900" b="1" spc="9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réécriture</a:t>
            </a:r>
            <a:r>
              <a:rPr sz="1900" b="1" spc="9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algébrique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réécriture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nécessaire,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mais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suffisante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tenir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compte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d'autres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critères: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Font typeface="Times New Roman"/>
              <a:buChar char="–"/>
              <a:tabLst>
                <a:tab pos="4762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endParaRPr sz="1350">
              <a:latin typeface="Times New Roman"/>
              <a:cs typeface="Times New Roman"/>
            </a:endParaRPr>
          </a:p>
          <a:p>
            <a:pPr marL="736600" marR="508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78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accéder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séquentiel,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index,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par 	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hachage,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etc.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45"/>
              </a:spcBef>
              <a:buFont typeface="Times New Roman"/>
              <a:buChar char="–"/>
              <a:tabLst>
                <a:tab pos="4762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différents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réaliser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existe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exemple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2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290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Souvent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dépendent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disponibles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Font typeface="Times New Roman"/>
              <a:buChar char="–"/>
              <a:tabLst>
                <a:tab pos="4762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propriétés</a:t>
            </a:r>
            <a:r>
              <a:rPr sz="135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statistiques</a:t>
            </a:r>
            <a:r>
              <a:rPr sz="13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base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Taille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endParaRPr sz="12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290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r>
              <a:rPr sz="12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attributs</a:t>
            </a:r>
            <a:endParaRPr sz="12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285"/>
              </a:spcBef>
              <a:buChar char="•"/>
              <a:tabLst>
                <a:tab pos="736600" algn="l"/>
              </a:tabLst>
            </a:pP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etc.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19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5722" y="435182"/>
            <a:ext cx="339217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Chemins</a:t>
            </a:r>
            <a:r>
              <a:rPr sz="2200" b="1" spc="-1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d'accès</a:t>
            </a:r>
            <a:r>
              <a:rPr sz="220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à</a:t>
            </a:r>
            <a:r>
              <a:rPr sz="2200" b="1" spc="-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une </a:t>
            </a: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table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89" y="1036626"/>
            <a:ext cx="5648960" cy="351662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9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Dépendent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l'organisation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800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séquentiel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toujours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805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04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attribut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table: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155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liste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d'adresses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(ROWID)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endParaRPr sz="1250">
              <a:latin typeface="Times New Roman"/>
              <a:cs typeface="Times New Roman"/>
            </a:endParaRPr>
          </a:p>
          <a:p>
            <a:pPr marL="736600" lvl="2" indent="-128270">
              <a:lnSpc>
                <a:spcPts val="1420"/>
              </a:lnSpc>
              <a:spcBef>
                <a:spcPts val="135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Intervalle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[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v1,v2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]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liste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d'adresses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endParaRPr sz="1250">
              <a:latin typeface="Times New Roman"/>
              <a:cs typeface="Times New Roman"/>
            </a:endParaRPr>
          </a:p>
          <a:p>
            <a:pPr marL="737870">
              <a:lnSpc>
                <a:spcPts val="1420"/>
              </a:lnSpc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[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v1,v2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]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19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liste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d'attributs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A1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A2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…,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155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vi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(1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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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liste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d'adresses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Ai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vi</a:t>
            </a:r>
            <a:endParaRPr sz="1250">
              <a:latin typeface="Times New Roman"/>
              <a:cs typeface="Times New Roman"/>
            </a:endParaRPr>
          </a:p>
          <a:p>
            <a:pPr marL="736600" marR="5080" lvl="2" indent="-128270">
              <a:lnSpc>
                <a:spcPts val="1340"/>
              </a:lnSpc>
              <a:spcBef>
                <a:spcPts val="315"/>
              </a:spcBef>
              <a:buChar char="•"/>
              <a:tabLst>
                <a:tab pos="7378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Remarque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250" i="1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A1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A2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…,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An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utilisable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aussi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comme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sur 	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A1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A2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…,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Ak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),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765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650">
              <a:latin typeface="Times New Roman"/>
              <a:cs typeface="Times New Roman"/>
            </a:endParaRPr>
          </a:p>
          <a:p>
            <a:pPr marL="164465" marR="1403350" lvl="1" indent="-164465" algn="r">
              <a:lnSpc>
                <a:spcPct val="100000"/>
              </a:lnSpc>
              <a:spcBef>
                <a:spcPts val="210"/>
              </a:spcBef>
              <a:buChar char="–"/>
              <a:tabLst>
                <a:tab pos="16446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organisée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attribut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endParaRPr sz="1350">
              <a:latin typeface="Times New Roman"/>
              <a:cs typeface="Times New Roman"/>
            </a:endParaRPr>
          </a:p>
          <a:p>
            <a:pPr marL="128270" marR="1358900" lvl="2" indent="-128270" algn="r">
              <a:lnSpc>
                <a:spcPct val="100000"/>
              </a:lnSpc>
              <a:spcBef>
                <a:spcPts val="150"/>
              </a:spcBef>
              <a:buChar char="•"/>
              <a:tabLst>
                <a:tab pos="1282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Étant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donnée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55975" y="5775784"/>
            <a:ext cx="28924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Algorithmes</a:t>
            </a:r>
            <a:r>
              <a:rPr sz="2200" b="1" spc="-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 jointure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7989" y="6451780"/>
            <a:ext cx="4693285" cy="28549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09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l'opération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coûteuse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très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importante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algorithmes,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dépendants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chemin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Chacun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être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meilleur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situations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spécifiques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Choix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meilleure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Principaux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simples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4519295" cy="3507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2077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boucles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imbriquées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Font typeface="Times New Roman"/>
              <a:buChar char="•"/>
              <a:tabLst>
                <a:tab pos="180340" algn="l"/>
              </a:tabLst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Algorithme</a:t>
            </a:r>
            <a:r>
              <a:rPr sz="1650" b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boucles-imbriquées</a:t>
            </a:r>
            <a:endParaRPr sz="1650">
              <a:latin typeface="Times New Roman"/>
              <a:cs typeface="Times New Roman"/>
            </a:endParaRPr>
          </a:p>
          <a:p>
            <a:pPr marL="391160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Entrées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  <a:p>
            <a:pPr marL="391160">
              <a:lnSpc>
                <a:spcPct val="100000"/>
              </a:lnSpc>
              <a:spcBef>
                <a:spcPts val="10"/>
              </a:spcBef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Sortie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endParaRPr sz="16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"/>
              </a:spcBef>
            </a:pP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endParaRPr sz="1650">
              <a:latin typeface="Times New Roman"/>
              <a:cs typeface="Times New Roman"/>
            </a:endParaRPr>
          </a:p>
          <a:p>
            <a:pPr marL="391160">
              <a:lnSpc>
                <a:spcPts val="1980"/>
              </a:lnSpc>
              <a:spcBef>
                <a:spcPts val="15"/>
              </a:spcBef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endParaRPr sz="1650">
              <a:latin typeface="Symbol"/>
              <a:cs typeface="Symbol"/>
            </a:endParaRPr>
          </a:p>
          <a:p>
            <a:pPr marL="601345" marR="1307465" indent="-210820">
              <a:lnSpc>
                <a:spcPct val="100000"/>
              </a:lnSpc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b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chaque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dans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chaque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dans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650">
              <a:latin typeface="Times New Roman"/>
              <a:cs typeface="Times New Roman"/>
            </a:endParaRPr>
          </a:p>
          <a:p>
            <a:pPr marL="811530">
              <a:lnSpc>
                <a:spcPts val="1980"/>
              </a:lnSpc>
              <a:spcBef>
                <a:spcPts val="25"/>
              </a:spcBef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joignable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alors</a:t>
            </a:r>
            <a:r>
              <a:rPr sz="165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 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 </a:t>
            </a:r>
            <a:r>
              <a:rPr sz="1650" spc="13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650" spc="-110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1650">
              <a:latin typeface="Times New Roman"/>
              <a:cs typeface="Times New Roman"/>
            </a:endParaRPr>
          </a:p>
          <a:p>
            <a:pPr marL="391160" marR="2957195" indent="210185">
              <a:lnSpc>
                <a:spcPct val="100000"/>
              </a:lnSpc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650" b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650" b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6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10"/>
              </a:spcBef>
            </a:pPr>
            <a:r>
              <a:rPr sz="16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139690" cy="9848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boucles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imbriquées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b="1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650" b="1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(titre,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année)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13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650" spc="-12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650" b="1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1650" b="1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(nom,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titre)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9552" y="6904228"/>
            <a:ext cx="1448435" cy="31877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540">
              <a:lnSpc>
                <a:spcPts val="1040"/>
              </a:lnSpc>
              <a:spcBef>
                <a:spcPts val="325"/>
              </a:spcBef>
              <a:tabLst>
                <a:tab pos="671195" algn="l"/>
              </a:tabLst>
            </a:pPr>
            <a:r>
              <a:rPr sz="1050" b="1" i="1" spc="-10" dirty="0">
                <a:latin typeface="Times New Roman"/>
                <a:cs typeface="Times New Roman"/>
              </a:rPr>
              <a:t>Spielberg</a:t>
            </a:r>
            <a:r>
              <a:rPr sz="1050" b="1" i="1" dirty="0">
                <a:latin typeface="Times New Roman"/>
                <a:cs typeface="Times New Roman"/>
              </a:rPr>
              <a:t>	Jurassic</a:t>
            </a:r>
            <a:r>
              <a:rPr sz="1050" b="1" i="1" spc="-10" dirty="0">
                <a:latin typeface="Times New Roman"/>
                <a:cs typeface="Times New Roman"/>
              </a:rPr>
              <a:t> </a:t>
            </a:r>
            <a:r>
              <a:rPr sz="1050" b="1" i="1" spc="-20" dirty="0">
                <a:latin typeface="Times New Roman"/>
                <a:cs typeface="Times New Roman"/>
              </a:rPr>
              <a:t>Park </a:t>
            </a:r>
            <a:r>
              <a:rPr sz="1050" b="1" i="1" dirty="0">
                <a:latin typeface="Times New Roman"/>
                <a:cs typeface="Times New Roman"/>
              </a:rPr>
              <a:t>Hitchcock</a:t>
            </a:r>
            <a:r>
              <a:rPr sz="1050" b="1" i="1" spc="150" dirty="0">
                <a:latin typeface="Times New Roman"/>
                <a:cs typeface="Times New Roman"/>
              </a:rPr>
              <a:t>  </a:t>
            </a:r>
            <a:r>
              <a:rPr sz="1050" b="1" i="1" spc="-10" dirty="0">
                <a:latin typeface="Times New Roman"/>
                <a:cs typeface="Times New Roman"/>
              </a:rPr>
              <a:t>Psychose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6012" y="7170671"/>
            <a:ext cx="1311910" cy="723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05"/>
              </a:spcBef>
              <a:tabLst>
                <a:tab pos="679450" algn="l"/>
              </a:tabLst>
            </a:pPr>
            <a:r>
              <a:rPr sz="1050" b="1" i="1" spc="-10" dirty="0">
                <a:latin typeface="Times New Roman"/>
                <a:cs typeface="Times New Roman"/>
              </a:rPr>
              <a:t>Allen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10" dirty="0">
                <a:latin typeface="Times New Roman"/>
                <a:cs typeface="Times New Roman"/>
              </a:rPr>
              <a:t>Manhattan</a:t>
            </a:r>
            <a:endParaRPr sz="1050">
              <a:latin typeface="Times New Roman"/>
              <a:cs typeface="Times New Roman"/>
            </a:endParaRPr>
          </a:p>
          <a:p>
            <a:pPr marL="45720" marR="8890">
              <a:lnSpc>
                <a:spcPts val="1060"/>
              </a:lnSpc>
              <a:spcBef>
                <a:spcPts val="100"/>
              </a:spcBef>
              <a:tabLst>
                <a:tab pos="671830" algn="l"/>
              </a:tabLst>
            </a:pPr>
            <a:r>
              <a:rPr sz="1050" b="1" i="1" spc="-20" dirty="0">
                <a:latin typeface="Times New Roman"/>
                <a:cs typeface="Times New Roman"/>
              </a:rPr>
              <a:t>Lang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10" dirty="0">
                <a:latin typeface="Times New Roman"/>
                <a:cs typeface="Times New Roman"/>
              </a:rPr>
              <a:t>Metropolis </a:t>
            </a:r>
            <a:r>
              <a:rPr sz="1050" b="1" i="1" dirty="0">
                <a:latin typeface="Times New Roman"/>
                <a:cs typeface="Times New Roman"/>
              </a:rPr>
              <a:t>Hitchcock</a:t>
            </a:r>
            <a:r>
              <a:rPr sz="1050" b="1" i="1" spc="305" dirty="0">
                <a:latin typeface="Times New Roman"/>
                <a:cs typeface="Times New Roman"/>
              </a:rPr>
              <a:t> </a:t>
            </a:r>
            <a:r>
              <a:rPr sz="1050" b="1" i="1" spc="-10" dirty="0">
                <a:latin typeface="Times New Roman"/>
                <a:cs typeface="Times New Roman"/>
              </a:rPr>
              <a:t>Vertigo Allen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204" dirty="0">
                <a:latin typeface="Times New Roman"/>
                <a:cs typeface="Times New Roman"/>
              </a:rPr>
              <a:t> </a:t>
            </a:r>
            <a:r>
              <a:rPr sz="1050" b="1" i="1" dirty="0">
                <a:latin typeface="Times New Roman"/>
                <a:cs typeface="Times New Roman"/>
              </a:rPr>
              <a:t>Annie Hall</a:t>
            </a:r>
            <a:endParaRPr sz="1050">
              <a:latin typeface="Times New Roman"/>
              <a:cs typeface="Times New Roman"/>
            </a:endParaRPr>
          </a:p>
          <a:p>
            <a:pPr marL="45720">
              <a:lnSpc>
                <a:spcPts val="1045"/>
              </a:lnSpc>
              <a:tabLst>
                <a:tab pos="668655" algn="l"/>
              </a:tabLst>
            </a:pPr>
            <a:r>
              <a:rPr sz="1050" b="1" i="1" spc="-10" dirty="0">
                <a:latin typeface="Times New Roman"/>
                <a:cs typeface="Times New Roman"/>
              </a:rPr>
              <a:t>Kubrik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10" dirty="0">
                <a:latin typeface="Times New Roman"/>
                <a:cs typeface="Times New Roman"/>
              </a:rPr>
              <a:t>Shining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39552" y="7978064"/>
            <a:ext cx="1448435" cy="31877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2540">
              <a:lnSpc>
                <a:spcPts val="1040"/>
              </a:lnSpc>
              <a:spcBef>
                <a:spcPts val="325"/>
              </a:spcBef>
              <a:tabLst>
                <a:tab pos="671195" algn="l"/>
              </a:tabLst>
            </a:pPr>
            <a:r>
              <a:rPr sz="1050" b="1" i="1" spc="-10" dirty="0">
                <a:latin typeface="Times New Roman"/>
                <a:cs typeface="Times New Roman"/>
              </a:rPr>
              <a:t>Spielberg</a:t>
            </a:r>
            <a:r>
              <a:rPr sz="1050" b="1" i="1" dirty="0">
                <a:latin typeface="Times New Roman"/>
                <a:cs typeface="Times New Roman"/>
              </a:rPr>
              <a:t>	Jurassic</a:t>
            </a:r>
            <a:r>
              <a:rPr sz="1050" b="1" i="1" spc="-10" dirty="0">
                <a:latin typeface="Times New Roman"/>
                <a:cs typeface="Times New Roman"/>
              </a:rPr>
              <a:t> </a:t>
            </a:r>
            <a:r>
              <a:rPr sz="1050" b="1" i="1" spc="-20" dirty="0">
                <a:latin typeface="Times New Roman"/>
                <a:cs typeface="Times New Roman"/>
              </a:rPr>
              <a:t>Park </a:t>
            </a:r>
            <a:r>
              <a:rPr sz="1050" b="1" i="1" dirty="0">
                <a:latin typeface="Times New Roman"/>
                <a:cs typeface="Times New Roman"/>
              </a:rPr>
              <a:t>Hitchcock</a:t>
            </a:r>
            <a:r>
              <a:rPr sz="1050" b="1" i="1" spc="150" dirty="0">
                <a:latin typeface="Times New Roman"/>
                <a:cs typeface="Times New Roman"/>
              </a:rPr>
              <a:t>  </a:t>
            </a:r>
            <a:r>
              <a:rPr sz="1050" b="1" i="1" spc="-10" dirty="0">
                <a:latin typeface="Times New Roman"/>
                <a:cs typeface="Times New Roman"/>
              </a:rPr>
              <a:t>Psychose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6013" y="8244508"/>
            <a:ext cx="1311910" cy="4546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160"/>
              </a:lnSpc>
              <a:spcBef>
                <a:spcPts val="105"/>
              </a:spcBef>
              <a:tabLst>
                <a:tab pos="679450" algn="l"/>
              </a:tabLst>
            </a:pPr>
            <a:r>
              <a:rPr sz="1050" b="1" i="1" spc="-10" dirty="0">
                <a:latin typeface="Times New Roman"/>
                <a:cs typeface="Times New Roman"/>
              </a:rPr>
              <a:t>Allen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10" dirty="0">
                <a:latin typeface="Times New Roman"/>
                <a:cs typeface="Times New Roman"/>
              </a:rPr>
              <a:t>Manhattan</a:t>
            </a:r>
            <a:endParaRPr sz="1050">
              <a:latin typeface="Times New Roman"/>
              <a:cs typeface="Times New Roman"/>
            </a:endParaRPr>
          </a:p>
          <a:p>
            <a:pPr marL="45720" marR="34925">
              <a:lnSpc>
                <a:spcPts val="1060"/>
              </a:lnSpc>
              <a:spcBef>
                <a:spcPts val="100"/>
              </a:spcBef>
              <a:tabLst>
                <a:tab pos="671830" algn="l"/>
              </a:tabLst>
            </a:pPr>
            <a:r>
              <a:rPr sz="1050" b="1" i="1" spc="-20" dirty="0">
                <a:latin typeface="Times New Roman"/>
                <a:cs typeface="Times New Roman"/>
              </a:rPr>
              <a:t>Lang</a:t>
            </a:r>
            <a:r>
              <a:rPr sz="1050" b="1" i="1" dirty="0">
                <a:latin typeface="Times New Roman"/>
                <a:cs typeface="Times New Roman"/>
              </a:rPr>
              <a:t>	</a:t>
            </a:r>
            <a:r>
              <a:rPr sz="1050" b="1" i="1" spc="-10" dirty="0">
                <a:latin typeface="Times New Roman"/>
                <a:cs typeface="Times New Roman"/>
              </a:rPr>
              <a:t>Metropolis </a:t>
            </a:r>
            <a:r>
              <a:rPr sz="1050" b="1" i="1" dirty="0">
                <a:latin typeface="Times New Roman"/>
                <a:cs typeface="Times New Roman"/>
              </a:rPr>
              <a:t>Hitchcock</a:t>
            </a:r>
            <a:r>
              <a:rPr sz="1050" b="1" i="1" spc="305" dirty="0">
                <a:latin typeface="Times New Roman"/>
                <a:cs typeface="Times New Roman"/>
              </a:rPr>
              <a:t> </a:t>
            </a:r>
            <a:r>
              <a:rPr sz="1050" b="1" i="1" spc="-10" dirty="0">
                <a:latin typeface="Times New Roman"/>
                <a:cs typeface="Times New Roman"/>
              </a:rPr>
              <a:t>Vertigo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3150" y="8646856"/>
            <a:ext cx="6407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latin typeface="Times New Roman"/>
                <a:cs typeface="Times New Roman"/>
              </a:rPr>
              <a:t>Annie </a:t>
            </a:r>
            <a:r>
              <a:rPr sz="1050" b="1" i="1" spc="-20" dirty="0">
                <a:latin typeface="Times New Roman"/>
                <a:cs typeface="Times New Roman"/>
              </a:rPr>
              <a:t>Hall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39552" y="8646856"/>
            <a:ext cx="413384" cy="32067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060"/>
              </a:lnSpc>
              <a:spcBef>
                <a:spcPts val="305"/>
              </a:spcBef>
            </a:pPr>
            <a:r>
              <a:rPr sz="1050" b="1" i="1" spc="-10" dirty="0">
                <a:latin typeface="Times New Roman"/>
                <a:cs typeface="Times New Roman"/>
              </a:rPr>
              <a:t>Allen Kubrik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62079" y="8780974"/>
            <a:ext cx="4660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10" dirty="0">
                <a:latin typeface="Times New Roman"/>
                <a:cs typeface="Times New Roman"/>
              </a:rPr>
              <a:t>Shining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00943" y="9769232"/>
            <a:ext cx="582295" cy="262255"/>
            <a:chOff x="1200943" y="9769232"/>
            <a:chExt cx="582295" cy="262255"/>
          </a:xfrm>
        </p:grpSpPr>
        <p:sp>
          <p:nvSpPr>
            <p:cNvPr id="17" name="object 17"/>
            <p:cNvSpPr/>
            <p:nvPr/>
          </p:nvSpPr>
          <p:spPr>
            <a:xfrm>
              <a:off x="1204429" y="9997553"/>
              <a:ext cx="570230" cy="6350"/>
            </a:xfrm>
            <a:custGeom>
              <a:avLst/>
              <a:gdLst/>
              <a:ahLst/>
              <a:cxnLst/>
              <a:rect l="l" t="t" r="r" b="b"/>
              <a:pathLst>
                <a:path w="570230" h="6350">
                  <a:moveTo>
                    <a:pt x="570014" y="2540"/>
                  </a:moveTo>
                  <a:lnTo>
                    <a:pt x="567499" y="2540"/>
                  </a:lnTo>
                  <a:lnTo>
                    <a:pt x="567499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570014" y="6350"/>
                  </a:lnTo>
                  <a:lnTo>
                    <a:pt x="570014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2208" y="9973899"/>
              <a:ext cx="107950" cy="53975"/>
            </a:xfrm>
            <a:custGeom>
              <a:avLst/>
              <a:gdLst/>
              <a:ahLst/>
              <a:cxnLst/>
              <a:rect l="l" t="t" r="r" b="b"/>
              <a:pathLst>
                <a:path w="107950" h="53975">
                  <a:moveTo>
                    <a:pt x="0" y="0"/>
                  </a:moveTo>
                  <a:lnTo>
                    <a:pt x="0" y="53643"/>
                  </a:lnTo>
                  <a:lnTo>
                    <a:pt x="107335" y="268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72202" y="9973899"/>
              <a:ext cx="107950" cy="53975"/>
            </a:xfrm>
            <a:custGeom>
              <a:avLst/>
              <a:gdLst/>
              <a:ahLst/>
              <a:cxnLst/>
              <a:rect l="l" t="t" r="r" b="b"/>
              <a:pathLst>
                <a:path w="107950" h="53975">
                  <a:moveTo>
                    <a:pt x="0" y="53643"/>
                  </a:moveTo>
                  <a:lnTo>
                    <a:pt x="107337" y="26824"/>
                  </a:lnTo>
                  <a:lnTo>
                    <a:pt x="0" y="0"/>
                  </a:lnTo>
                  <a:lnTo>
                    <a:pt x="0" y="53643"/>
                  </a:lnTo>
                  <a:close/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4436" y="9799544"/>
              <a:ext cx="574675" cy="0"/>
            </a:xfrm>
            <a:custGeom>
              <a:avLst/>
              <a:gdLst/>
              <a:ahLst/>
              <a:cxnLst/>
              <a:rect l="l" t="t" r="r" b="b"/>
              <a:pathLst>
                <a:path w="574675">
                  <a:moveTo>
                    <a:pt x="0" y="0"/>
                  </a:moveTo>
                  <a:lnTo>
                    <a:pt x="574204" y="0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71318" y="9772724"/>
              <a:ext cx="107950" cy="53975"/>
            </a:xfrm>
            <a:custGeom>
              <a:avLst/>
              <a:gdLst/>
              <a:ahLst/>
              <a:cxnLst/>
              <a:rect l="l" t="t" r="r" b="b"/>
              <a:pathLst>
                <a:path w="107950" h="53975">
                  <a:moveTo>
                    <a:pt x="0" y="53643"/>
                  </a:moveTo>
                  <a:lnTo>
                    <a:pt x="107322" y="26819"/>
                  </a:lnTo>
                  <a:lnTo>
                    <a:pt x="0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929624" y="9612489"/>
            <a:ext cx="74104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100"/>
              </a:spcBef>
            </a:pPr>
            <a:r>
              <a:rPr sz="1050" spc="-10" dirty="0">
                <a:latin typeface="Times New Roman"/>
                <a:cs typeface="Times New Roman"/>
              </a:rPr>
              <a:t>Comparaison Association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05003" y="6951877"/>
            <a:ext cx="1464310" cy="1962785"/>
            <a:chOff x="2005003" y="6951877"/>
            <a:chExt cx="1464310" cy="1962785"/>
          </a:xfrm>
        </p:grpSpPr>
        <p:sp>
          <p:nvSpPr>
            <p:cNvPr id="24" name="object 24"/>
            <p:cNvSpPr/>
            <p:nvPr/>
          </p:nvSpPr>
          <p:spPr>
            <a:xfrm>
              <a:off x="2209742" y="8122196"/>
              <a:ext cx="1233170" cy="584200"/>
            </a:xfrm>
            <a:custGeom>
              <a:avLst/>
              <a:gdLst/>
              <a:ahLst/>
              <a:cxnLst/>
              <a:rect l="l" t="t" r="r" b="b"/>
              <a:pathLst>
                <a:path w="1233170" h="584200">
                  <a:moveTo>
                    <a:pt x="0" y="0"/>
                  </a:moveTo>
                  <a:lnTo>
                    <a:pt x="1232967" y="583846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4646" y="8654410"/>
              <a:ext cx="104197" cy="6572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008496" y="6982203"/>
              <a:ext cx="1446530" cy="0"/>
            </a:xfrm>
            <a:custGeom>
              <a:avLst/>
              <a:gdLst/>
              <a:ahLst/>
              <a:cxnLst/>
              <a:rect l="l" t="t" r="r" b="b"/>
              <a:pathLst>
                <a:path w="1446529">
                  <a:moveTo>
                    <a:pt x="0" y="0"/>
                  </a:moveTo>
                  <a:lnTo>
                    <a:pt x="1446263" y="0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347422" y="6955370"/>
              <a:ext cx="107950" cy="53975"/>
            </a:xfrm>
            <a:custGeom>
              <a:avLst/>
              <a:gdLst/>
              <a:ahLst/>
              <a:cxnLst/>
              <a:rect l="l" t="t" r="r" b="b"/>
              <a:pathLst>
                <a:path w="107950" h="53975">
                  <a:moveTo>
                    <a:pt x="0" y="53651"/>
                  </a:moveTo>
                  <a:lnTo>
                    <a:pt x="107337" y="26833"/>
                  </a:lnTo>
                  <a:lnTo>
                    <a:pt x="0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08496" y="7049248"/>
              <a:ext cx="1444625" cy="66040"/>
            </a:xfrm>
            <a:custGeom>
              <a:avLst/>
              <a:gdLst/>
              <a:ahLst/>
              <a:cxnLst/>
              <a:rect l="l" t="t" r="r" b="b"/>
              <a:pathLst>
                <a:path w="1444625" h="66040">
                  <a:moveTo>
                    <a:pt x="0" y="0"/>
                  </a:moveTo>
                  <a:lnTo>
                    <a:pt x="1444463" y="65637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45638" y="7082344"/>
              <a:ext cx="109220" cy="53975"/>
            </a:xfrm>
            <a:custGeom>
              <a:avLst/>
              <a:gdLst/>
              <a:ahLst/>
              <a:cxnLst/>
              <a:rect l="l" t="t" r="r" b="b"/>
              <a:pathLst>
                <a:path w="109220" h="53975">
                  <a:moveTo>
                    <a:pt x="0" y="53635"/>
                  </a:moveTo>
                  <a:lnTo>
                    <a:pt x="109120" y="32181"/>
                  </a:lnTo>
                  <a:lnTo>
                    <a:pt x="2682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08496" y="7049248"/>
              <a:ext cx="1444625" cy="197485"/>
            </a:xfrm>
            <a:custGeom>
              <a:avLst/>
              <a:gdLst/>
              <a:ahLst/>
              <a:cxnLst/>
              <a:rect l="l" t="t" r="r" b="b"/>
              <a:pathLst>
                <a:path w="1444625" h="197484">
                  <a:moveTo>
                    <a:pt x="0" y="0"/>
                  </a:moveTo>
                  <a:lnTo>
                    <a:pt x="1444564" y="196926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44739" y="7205722"/>
              <a:ext cx="110489" cy="53340"/>
            </a:xfrm>
            <a:custGeom>
              <a:avLst/>
              <a:gdLst/>
              <a:ahLst/>
              <a:cxnLst/>
              <a:rect l="l" t="t" r="r" b="b"/>
              <a:pathLst>
                <a:path w="110489" h="53340">
                  <a:moveTo>
                    <a:pt x="0" y="52752"/>
                  </a:moveTo>
                  <a:lnTo>
                    <a:pt x="110019" y="41141"/>
                  </a:lnTo>
                  <a:lnTo>
                    <a:pt x="7163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08496" y="7049248"/>
              <a:ext cx="1446530" cy="328930"/>
            </a:xfrm>
            <a:custGeom>
              <a:avLst/>
              <a:gdLst/>
              <a:ahLst/>
              <a:cxnLst/>
              <a:rect l="l" t="t" r="r" b="b"/>
              <a:pathLst>
                <a:path w="1446529" h="328929">
                  <a:moveTo>
                    <a:pt x="0" y="0"/>
                  </a:moveTo>
                  <a:lnTo>
                    <a:pt x="1446319" y="328608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44739" y="7328216"/>
              <a:ext cx="111125" cy="52069"/>
            </a:xfrm>
            <a:custGeom>
              <a:avLst/>
              <a:gdLst/>
              <a:ahLst/>
              <a:cxnLst/>
              <a:rect l="l" t="t" r="r" b="b"/>
              <a:pathLst>
                <a:path w="111125" h="52070">
                  <a:moveTo>
                    <a:pt x="0" y="51868"/>
                  </a:moveTo>
                  <a:lnTo>
                    <a:pt x="110903" y="50070"/>
                  </a:lnTo>
                  <a:lnTo>
                    <a:pt x="11629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09742" y="8122196"/>
              <a:ext cx="1245235" cy="0"/>
            </a:xfrm>
            <a:custGeom>
              <a:avLst/>
              <a:gdLst/>
              <a:ahLst/>
              <a:cxnLst/>
              <a:rect l="l" t="t" r="r" b="b"/>
              <a:pathLst>
                <a:path w="1245235">
                  <a:moveTo>
                    <a:pt x="0" y="0"/>
                  </a:moveTo>
                  <a:lnTo>
                    <a:pt x="1245018" y="0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47422" y="8095362"/>
              <a:ext cx="107950" cy="53975"/>
            </a:xfrm>
            <a:custGeom>
              <a:avLst/>
              <a:gdLst/>
              <a:ahLst/>
              <a:cxnLst/>
              <a:rect l="l" t="t" r="r" b="b"/>
              <a:pathLst>
                <a:path w="107950" h="53975">
                  <a:moveTo>
                    <a:pt x="0" y="53651"/>
                  </a:moveTo>
                  <a:lnTo>
                    <a:pt x="107337" y="26833"/>
                  </a:lnTo>
                  <a:lnTo>
                    <a:pt x="0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08496" y="7049248"/>
              <a:ext cx="1447800" cy="657860"/>
            </a:xfrm>
            <a:custGeom>
              <a:avLst/>
              <a:gdLst/>
              <a:ahLst/>
              <a:cxnLst/>
              <a:rect l="l" t="t" r="r" b="b"/>
              <a:pathLst>
                <a:path w="1447800" h="657859">
                  <a:moveTo>
                    <a:pt x="0" y="0"/>
                  </a:moveTo>
                  <a:lnTo>
                    <a:pt x="1402954" y="637512"/>
                  </a:lnTo>
                </a:path>
                <a:path w="1447800" h="657859">
                  <a:moveTo>
                    <a:pt x="1402954" y="637512"/>
                  </a:moveTo>
                  <a:lnTo>
                    <a:pt x="1447660" y="657827"/>
                  </a:lnTo>
                </a:path>
              </a:pathLst>
            </a:custGeom>
            <a:ln w="670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348321" y="7638482"/>
              <a:ext cx="109220" cy="69215"/>
            </a:xfrm>
            <a:custGeom>
              <a:avLst/>
              <a:gdLst/>
              <a:ahLst/>
              <a:cxnLst/>
              <a:rect l="l" t="t" r="r" b="b"/>
              <a:pathLst>
                <a:path w="109220" h="69215">
                  <a:moveTo>
                    <a:pt x="0" y="48272"/>
                  </a:moveTo>
                  <a:lnTo>
                    <a:pt x="109120" y="68842"/>
                  </a:lnTo>
                  <a:lnTo>
                    <a:pt x="22360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08496" y="7049248"/>
              <a:ext cx="1449705" cy="790575"/>
            </a:xfrm>
            <a:custGeom>
              <a:avLst/>
              <a:gdLst/>
              <a:ahLst/>
              <a:cxnLst/>
              <a:rect l="l" t="t" r="r" b="b"/>
              <a:pathLst>
                <a:path w="1449704" h="790575">
                  <a:moveTo>
                    <a:pt x="0" y="0"/>
                  </a:moveTo>
                  <a:lnTo>
                    <a:pt x="1397075" y="761794"/>
                  </a:lnTo>
                </a:path>
                <a:path w="1449704" h="790575">
                  <a:moveTo>
                    <a:pt x="1397075" y="761794"/>
                  </a:moveTo>
                  <a:lnTo>
                    <a:pt x="1449229" y="790233"/>
                  </a:lnTo>
                </a:path>
              </a:pathLst>
            </a:custGeom>
            <a:ln w="670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351004" y="7764541"/>
              <a:ext cx="107950" cy="75565"/>
            </a:xfrm>
            <a:custGeom>
              <a:avLst/>
              <a:gdLst/>
              <a:ahLst/>
              <a:cxnLst/>
              <a:rect l="l" t="t" r="r" b="b"/>
              <a:pathLst>
                <a:path w="107950" h="75565">
                  <a:moveTo>
                    <a:pt x="0" y="46504"/>
                  </a:moveTo>
                  <a:lnTo>
                    <a:pt x="107322" y="75105"/>
                  </a:lnTo>
                  <a:lnTo>
                    <a:pt x="25942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08496" y="7049248"/>
              <a:ext cx="1417320" cy="515620"/>
            </a:xfrm>
            <a:custGeom>
              <a:avLst/>
              <a:gdLst/>
              <a:ahLst/>
              <a:cxnLst/>
              <a:rect l="l" t="t" r="r" b="b"/>
              <a:pathLst>
                <a:path w="1417320" h="515620">
                  <a:moveTo>
                    <a:pt x="0" y="0"/>
                  </a:moveTo>
                  <a:lnTo>
                    <a:pt x="1416718" y="515013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43184" y="7509953"/>
              <a:ext cx="117610" cy="6928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76823" y="8122196"/>
              <a:ext cx="1178560" cy="262255"/>
            </a:xfrm>
            <a:custGeom>
              <a:avLst/>
              <a:gdLst/>
              <a:ahLst/>
              <a:cxnLst/>
              <a:rect l="l" t="t" r="r" b="b"/>
              <a:pathLst>
                <a:path w="1178560" h="262254">
                  <a:moveTo>
                    <a:pt x="0" y="0"/>
                  </a:moveTo>
                  <a:lnTo>
                    <a:pt x="1178525" y="261801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44739" y="8334103"/>
              <a:ext cx="111125" cy="53340"/>
            </a:xfrm>
            <a:custGeom>
              <a:avLst/>
              <a:gdLst/>
              <a:ahLst/>
              <a:cxnLst/>
              <a:rect l="l" t="t" r="r" b="b"/>
              <a:pathLst>
                <a:path w="111125" h="53340">
                  <a:moveTo>
                    <a:pt x="0" y="52752"/>
                  </a:moveTo>
                  <a:lnTo>
                    <a:pt x="110903" y="50055"/>
                  </a:lnTo>
                  <a:lnTo>
                    <a:pt x="11629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76823" y="8122196"/>
              <a:ext cx="1179195" cy="393065"/>
            </a:xfrm>
            <a:custGeom>
              <a:avLst/>
              <a:gdLst/>
              <a:ahLst/>
              <a:cxnLst/>
              <a:rect l="l" t="t" r="r" b="b"/>
              <a:pathLst>
                <a:path w="1179195" h="393065">
                  <a:moveTo>
                    <a:pt x="0" y="0"/>
                  </a:moveTo>
                  <a:lnTo>
                    <a:pt x="1153775" y="384461"/>
                  </a:lnTo>
                </a:path>
                <a:path w="1179195" h="393065">
                  <a:moveTo>
                    <a:pt x="1153775" y="384461"/>
                  </a:moveTo>
                  <a:lnTo>
                    <a:pt x="1178785" y="392796"/>
                  </a:lnTo>
                </a:path>
              </a:pathLst>
            </a:custGeom>
            <a:ln w="670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45638" y="8455698"/>
              <a:ext cx="111125" cy="60325"/>
            </a:xfrm>
            <a:custGeom>
              <a:avLst/>
              <a:gdLst/>
              <a:ahLst/>
              <a:cxnLst/>
              <a:rect l="l" t="t" r="r" b="b"/>
              <a:pathLst>
                <a:path w="111125" h="60325">
                  <a:moveTo>
                    <a:pt x="0" y="50969"/>
                  </a:moveTo>
                  <a:lnTo>
                    <a:pt x="110903" y="59898"/>
                  </a:lnTo>
                  <a:lnTo>
                    <a:pt x="16995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209742" y="8122196"/>
              <a:ext cx="1245870" cy="459105"/>
            </a:xfrm>
            <a:custGeom>
              <a:avLst/>
              <a:gdLst/>
              <a:ahLst/>
              <a:cxnLst/>
              <a:rect l="l" t="t" r="r" b="b"/>
              <a:pathLst>
                <a:path w="1245870" h="459104">
                  <a:moveTo>
                    <a:pt x="0" y="0"/>
                  </a:moveTo>
                  <a:lnTo>
                    <a:pt x="1213833" y="447052"/>
                  </a:lnTo>
                </a:path>
                <a:path w="1245870" h="459104">
                  <a:moveTo>
                    <a:pt x="1213833" y="447052"/>
                  </a:moveTo>
                  <a:lnTo>
                    <a:pt x="1245668" y="458777"/>
                  </a:lnTo>
                </a:path>
              </a:pathLst>
            </a:custGeom>
            <a:ln w="670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46538" y="8519178"/>
              <a:ext cx="110489" cy="62865"/>
            </a:xfrm>
            <a:custGeom>
              <a:avLst/>
              <a:gdLst/>
              <a:ahLst/>
              <a:cxnLst/>
              <a:rect l="l" t="t" r="r" b="b"/>
              <a:pathLst>
                <a:path w="110489" h="62865">
                  <a:moveTo>
                    <a:pt x="0" y="50070"/>
                  </a:moveTo>
                  <a:lnTo>
                    <a:pt x="110004" y="62595"/>
                  </a:lnTo>
                  <a:lnTo>
                    <a:pt x="17879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09742" y="8122196"/>
              <a:ext cx="1249045" cy="788670"/>
            </a:xfrm>
            <a:custGeom>
              <a:avLst/>
              <a:gdLst/>
              <a:ahLst/>
              <a:cxnLst/>
              <a:rect l="l" t="t" r="r" b="b"/>
              <a:pathLst>
                <a:path w="1249045" h="788670">
                  <a:moveTo>
                    <a:pt x="0" y="0"/>
                  </a:moveTo>
                  <a:lnTo>
                    <a:pt x="1193805" y="753727"/>
                  </a:lnTo>
                </a:path>
                <a:path w="1249045" h="788670">
                  <a:moveTo>
                    <a:pt x="1193805" y="753727"/>
                  </a:moveTo>
                  <a:lnTo>
                    <a:pt x="1248528" y="788277"/>
                  </a:lnTo>
                </a:path>
              </a:pathLst>
            </a:custGeom>
            <a:ln w="670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53686" y="8830327"/>
              <a:ext cx="106045" cy="80645"/>
            </a:xfrm>
            <a:custGeom>
              <a:avLst/>
              <a:gdLst/>
              <a:ahLst/>
              <a:cxnLst/>
              <a:rect l="l" t="t" r="r" b="b"/>
              <a:pathLst>
                <a:path w="106045" h="80645">
                  <a:moveTo>
                    <a:pt x="0" y="45605"/>
                  </a:moveTo>
                  <a:lnTo>
                    <a:pt x="105538" y="80469"/>
                  </a:lnTo>
                  <a:lnTo>
                    <a:pt x="28625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76823" y="8122196"/>
              <a:ext cx="1176655" cy="130810"/>
            </a:xfrm>
            <a:custGeom>
              <a:avLst/>
              <a:gdLst/>
              <a:ahLst/>
              <a:cxnLst/>
              <a:rect l="l" t="t" r="r" b="b"/>
              <a:pathLst>
                <a:path w="1176654" h="130809">
                  <a:moveTo>
                    <a:pt x="0" y="0"/>
                  </a:moveTo>
                  <a:lnTo>
                    <a:pt x="1176658" y="130700"/>
                  </a:lnTo>
                </a:path>
              </a:pathLst>
            </a:custGeom>
            <a:ln w="670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344739" y="8213392"/>
              <a:ext cx="110489" cy="53975"/>
            </a:xfrm>
            <a:custGeom>
              <a:avLst/>
              <a:gdLst/>
              <a:ahLst/>
              <a:cxnLst/>
              <a:rect l="l" t="t" r="r" b="b"/>
              <a:pathLst>
                <a:path w="110489" h="53975">
                  <a:moveTo>
                    <a:pt x="0" y="53651"/>
                  </a:moveTo>
                  <a:lnTo>
                    <a:pt x="110019" y="39343"/>
                  </a:lnTo>
                  <a:lnTo>
                    <a:pt x="6264" y="0"/>
                  </a:lnTo>
                </a:path>
              </a:pathLst>
            </a:custGeom>
            <a:ln w="67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257934" y="6902433"/>
            <a:ext cx="7372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latin typeface="Times New Roman"/>
                <a:cs typeface="Times New Roman"/>
              </a:rPr>
              <a:t>Vertigo </a:t>
            </a:r>
            <a:r>
              <a:rPr sz="1050" b="1" i="1" spc="-20" dirty="0">
                <a:latin typeface="Times New Roman"/>
                <a:cs typeface="Times New Roman"/>
              </a:rPr>
              <a:t>1958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57934" y="8042426"/>
            <a:ext cx="9423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latin typeface="Times New Roman"/>
                <a:cs typeface="Times New Roman"/>
              </a:rPr>
              <a:t>Annie</a:t>
            </a:r>
            <a:r>
              <a:rPr sz="1050" b="1" i="1" spc="5" dirty="0">
                <a:latin typeface="Times New Roman"/>
                <a:cs typeface="Times New Roman"/>
              </a:rPr>
              <a:t> </a:t>
            </a:r>
            <a:r>
              <a:rPr sz="1050" b="1" i="1" dirty="0">
                <a:latin typeface="Times New Roman"/>
                <a:cs typeface="Times New Roman"/>
              </a:rPr>
              <a:t>Hall</a:t>
            </a:r>
            <a:r>
              <a:rPr sz="1050" b="1" i="1" spc="10" dirty="0">
                <a:latin typeface="Times New Roman"/>
                <a:cs typeface="Times New Roman"/>
              </a:rPr>
              <a:t> </a:t>
            </a:r>
            <a:r>
              <a:rPr sz="1050" b="1" i="1" spc="-20" dirty="0">
                <a:latin typeface="Times New Roman"/>
                <a:cs typeface="Times New Roman"/>
              </a:rPr>
              <a:t>1977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257934" y="9048308"/>
            <a:ext cx="6965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dirty="0">
                <a:latin typeface="Times New Roman"/>
                <a:cs typeface="Times New Roman"/>
              </a:rPr>
              <a:t>Brazil</a:t>
            </a:r>
            <a:r>
              <a:rPr sz="1050" b="1" i="1" spc="260" dirty="0">
                <a:latin typeface="Times New Roman"/>
                <a:cs typeface="Times New Roman"/>
              </a:rPr>
              <a:t> </a:t>
            </a:r>
            <a:r>
              <a:rPr sz="1050" b="1" i="1" spc="-20" dirty="0">
                <a:latin typeface="Times New Roman"/>
                <a:cs typeface="Times New Roman"/>
              </a:rPr>
              <a:t>1984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666759" y="9048308"/>
            <a:ext cx="26035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10" dirty="0">
                <a:latin typeface="Times New Roman"/>
                <a:cs typeface="Times New Roman"/>
              </a:rPr>
              <a:t>.......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8" y="457254"/>
            <a:ext cx="5486400" cy="40532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844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boucle: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21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disque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charger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20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795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niveau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coût: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seule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compte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disque</a:t>
            </a:r>
            <a:endParaRPr sz="16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805"/>
              </a:spcBef>
              <a:buChar char="•"/>
              <a:tabLst>
                <a:tab pos="2184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Hypothèses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204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Disque: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4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22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20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Mémoire: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(une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chacune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tables)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10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Coût: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195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209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405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650" spc="2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900" i="1" spc="15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195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-7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514984" marR="43180" lvl="1" indent="-165100">
              <a:lnSpc>
                <a:spcPts val="1490"/>
              </a:lnSpc>
              <a:spcBef>
                <a:spcPts val="415"/>
              </a:spcBef>
              <a:buChar char="–"/>
              <a:tabLst>
                <a:tab pos="5149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toutes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fait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endParaRPr sz="13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125"/>
              </a:spcBef>
              <a:buFont typeface="Times New Roman"/>
              <a:buChar char="•"/>
              <a:tabLst>
                <a:tab pos="774700" algn="l"/>
              </a:tabLst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lue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5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seule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endParaRPr sz="1250">
              <a:latin typeface="Times New Roman"/>
              <a:cs typeface="Times New Roman"/>
            </a:endParaRPr>
          </a:p>
          <a:p>
            <a:pPr marL="514984" marR="205740" lvl="1" indent="-165100">
              <a:lnSpc>
                <a:spcPts val="1490"/>
              </a:lnSpc>
              <a:spcBef>
                <a:spcPts val="350"/>
              </a:spcBef>
              <a:buChar char="–"/>
              <a:tabLst>
                <a:tab pos="5149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tient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compte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l'écriture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résultat,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sera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le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quel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soit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l'algorithme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866" y="5797869"/>
            <a:ext cx="5720080" cy="3921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7804" indent="-167640">
              <a:lnSpc>
                <a:spcPct val="100000"/>
              </a:lnSpc>
              <a:buChar char="•"/>
              <a:tabLst>
                <a:tab pos="217804" algn="l"/>
                <a:tab pos="349885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se passe-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t-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 l'on dispose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 N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mémoire?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Supposons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qu'on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alloue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reste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entier</a:t>
            </a:r>
            <a:endParaRPr sz="1350">
              <a:latin typeface="Times New Roman"/>
              <a:cs typeface="Times New Roman"/>
            </a:endParaRPr>
          </a:p>
          <a:p>
            <a:pPr marL="6464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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/K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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seule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  <a:p>
            <a:pPr marL="646430">
              <a:lnSpc>
                <a:spcPct val="100000"/>
              </a:lnSpc>
              <a:spcBef>
                <a:spcPts val="290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n'a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besoin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d'un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minimum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(1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page)</a:t>
            </a:r>
            <a:endParaRPr sz="1250">
              <a:latin typeface="Times New Roman"/>
              <a:cs typeface="Times New Roman"/>
            </a:endParaRPr>
          </a:p>
          <a:p>
            <a:pPr marL="514984" marR="43180" lvl="1" indent="-165100">
              <a:lnSpc>
                <a:spcPct val="102200"/>
              </a:lnSpc>
              <a:spcBef>
                <a:spcPts val="320"/>
              </a:spcBef>
              <a:buChar char="–"/>
              <a:tabLst>
                <a:tab pos="5149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Donc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besoin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d'allouer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maximum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(N-1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pages)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le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minimum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(1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Coût: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202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Symbol"/>
                <a:cs typeface="Symbol"/>
              </a:rPr>
              <a:t>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spc="-15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/(N-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1)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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 ×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spc="-37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650" baseline="-20202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65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alors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2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!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Conclusions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inefficace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grandes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Toutefois,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l'une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elle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très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efficace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9" y="457254"/>
            <a:ext cx="5485130" cy="33820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844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tri-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Font typeface="Times New Roman"/>
              <a:buChar char="•"/>
              <a:tabLst>
                <a:tab pos="218440" algn="l"/>
              </a:tabLst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Algorithme</a:t>
            </a:r>
            <a:r>
              <a:rPr sz="165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tri-fusion</a:t>
            </a:r>
            <a:endParaRPr sz="1650">
              <a:latin typeface="Times New Roman"/>
              <a:cs typeface="Times New Roman"/>
            </a:endParaRPr>
          </a:p>
          <a:p>
            <a:pPr marL="429259">
              <a:lnSpc>
                <a:spcPct val="100000"/>
              </a:lnSpc>
              <a:spcBef>
                <a:spcPts val="5"/>
              </a:spcBef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Entrées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  <a:p>
            <a:pPr marL="429259">
              <a:lnSpc>
                <a:spcPts val="1980"/>
              </a:lnSpc>
              <a:spcBef>
                <a:spcPts val="15"/>
              </a:spcBef>
            </a:pPr>
            <a:r>
              <a:rPr sz="1650" b="1" dirty="0">
                <a:solidFill>
                  <a:srgbClr val="0000CC"/>
                </a:solidFill>
                <a:latin typeface="Times New Roman"/>
                <a:cs typeface="Times New Roman"/>
              </a:rPr>
              <a:t>Sortie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 table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6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6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650" i="1" spc="247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6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</a:pPr>
            <a:r>
              <a:rPr sz="16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endParaRPr sz="1650">
              <a:latin typeface="Times New Roman"/>
              <a:cs typeface="Times New Roman"/>
            </a:endParaRPr>
          </a:p>
          <a:p>
            <a:pPr marL="429259" marR="2315210" algn="just">
              <a:lnSpc>
                <a:spcPct val="100000"/>
              </a:lnSpc>
              <a:spcBef>
                <a:spcPts val="10"/>
              </a:spcBef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trier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A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trier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B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b="1" i="1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6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  <a:spcBef>
                <a:spcPts val="20"/>
              </a:spcBef>
            </a:pPr>
            <a:r>
              <a:rPr sz="16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endParaRPr sz="16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000"/>
              </a:spcBef>
              <a:buFont typeface="Times New Roman"/>
              <a:buChar char="•"/>
              <a:tabLst>
                <a:tab pos="218440" algn="l"/>
              </a:tabLst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parcourt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parallèle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joignant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endParaRPr sz="16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  <a:spcBef>
                <a:spcPts val="15"/>
              </a:spcBef>
            </a:pP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qui ont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6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= 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4626610" cy="9848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1346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tri-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180340" algn="l"/>
              </a:tabLst>
            </a:pPr>
            <a:r>
              <a:rPr sz="1650" b="1" i="1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1650" b="1"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(nom,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titre)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13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650" spc="-125" dirty="0">
                <a:solidFill>
                  <a:srgbClr val="0000CC"/>
                </a:solidFill>
                <a:latin typeface="Lucida Sans Unicode"/>
                <a:cs typeface="Lucida Sans Unicode"/>
              </a:rPr>
              <a:t> </a:t>
            </a:r>
            <a:r>
              <a:rPr sz="1650" b="1" i="1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650" b="1"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(titre,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année)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25693" y="7890543"/>
            <a:ext cx="642620" cy="272415"/>
            <a:chOff x="2225693" y="7890543"/>
            <a:chExt cx="642620" cy="272415"/>
          </a:xfrm>
        </p:grpSpPr>
        <p:sp>
          <p:nvSpPr>
            <p:cNvPr id="10" name="object 10"/>
            <p:cNvSpPr/>
            <p:nvPr/>
          </p:nvSpPr>
          <p:spPr>
            <a:xfrm>
              <a:off x="2228551" y="7893892"/>
              <a:ext cx="636270" cy="266065"/>
            </a:xfrm>
            <a:custGeom>
              <a:avLst/>
              <a:gdLst/>
              <a:ahLst/>
              <a:cxnLst/>
              <a:rect l="l" t="t" r="r" b="b"/>
              <a:pathLst>
                <a:path w="636269" h="266065">
                  <a:moveTo>
                    <a:pt x="0" y="265994"/>
                  </a:moveTo>
                  <a:lnTo>
                    <a:pt x="606184" y="12461"/>
                  </a:lnTo>
                </a:path>
                <a:path w="636269" h="266065">
                  <a:moveTo>
                    <a:pt x="606184" y="12461"/>
                  </a:moveTo>
                  <a:lnTo>
                    <a:pt x="635979" y="0"/>
                  </a:lnTo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76636" y="7893385"/>
              <a:ext cx="88900" cy="52705"/>
            </a:xfrm>
            <a:custGeom>
              <a:avLst/>
              <a:gdLst/>
              <a:ahLst/>
              <a:cxnLst/>
              <a:rect l="l" t="t" r="r" b="b"/>
              <a:pathLst>
                <a:path w="88900" h="52704">
                  <a:moveTo>
                    <a:pt x="88590" y="0"/>
                  </a:moveTo>
                  <a:lnTo>
                    <a:pt x="0" y="12969"/>
                  </a:lnTo>
                  <a:lnTo>
                    <a:pt x="16565" y="52577"/>
                  </a:lnTo>
                  <a:lnTo>
                    <a:pt x="88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76640" y="7893400"/>
              <a:ext cx="88900" cy="52705"/>
            </a:xfrm>
            <a:custGeom>
              <a:avLst/>
              <a:gdLst/>
              <a:ahLst/>
              <a:cxnLst/>
              <a:rect l="l" t="t" r="r" b="b"/>
              <a:pathLst>
                <a:path w="88900" h="52704">
                  <a:moveTo>
                    <a:pt x="16565" y="52577"/>
                  </a:moveTo>
                  <a:lnTo>
                    <a:pt x="88574" y="0"/>
                  </a:lnTo>
                  <a:lnTo>
                    <a:pt x="0" y="12969"/>
                  </a:lnTo>
                  <a:lnTo>
                    <a:pt x="16565" y="52577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26094" y="7801472"/>
            <a:ext cx="51562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b="1" spc="-10" dirty="0">
                <a:latin typeface="Times New Roman"/>
                <a:cs typeface="Times New Roman"/>
              </a:rPr>
              <a:t>FUSION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1513" y="8159170"/>
            <a:ext cx="864869" cy="1296670"/>
          </a:xfrm>
          <a:prstGeom prst="rect">
            <a:avLst/>
          </a:prstGeom>
          <a:ln w="5401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140335" marR="145415" indent="22860">
              <a:lnSpc>
                <a:spcPct val="106300"/>
              </a:lnSpc>
              <a:spcBef>
                <a:spcPts val="635"/>
              </a:spcBef>
            </a:pPr>
            <a:r>
              <a:rPr sz="1000" b="1" i="1" spc="-10" dirty="0">
                <a:latin typeface="Times New Roman"/>
                <a:cs typeface="Times New Roman"/>
              </a:rPr>
              <a:t>Allen Spielberg Allen</a:t>
            </a:r>
            <a:r>
              <a:rPr sz="1000" b="1" i="1" spc="500" dirty="0">
                <a:latin typeface="Times New Roman"/>
                <a:cs typeface="Times New Roman"/>
              </a:rPr>
              <a:t> </a:t>
            </a:r>
            <a:r>
              <a:rPr sz="1000" b="1" i="1" spc="-20" dirty="0">
                <a:latin typeface="Times New Roman"/>
                <a:cs typeface="Times New Roman"/>
              </a:rPr>
              <a:t>Lang </a:t>
            </a:r>
            <a:r>
              <a:rPr sz="1000" b="1" i="1" spc="-10" dirty="0">
                <a:latin typeface="Times New Roman"/>
                <a:cs typeface="Times New Roman"/>
              </a:rPr>
              <a:t>Hitchcock Kubrik Hitchcock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5773" y="8159170"/>
            <a:ext cx="972819" cy="1296670"/>
          </a:xfrm>
          <a:prstGeom prst="rect">
            <a:avLst/>
          </a:prstGeom>
          <a:ln w="5401">
            <a:solidFill>
              <a:srgbClr val="000000"/>
            </a:solidFill>
          </a:ln>
        </p:spPr>
        <p:txBody>
          <a:bodyPr vert="horz" wrap="square" lIns="0" tIns="80645" rIns="0" bIns="0" rtlCol="0">
            <a:spAutoFit/>
          </a:bodyPr>
          <a:lstStyle/>
          <a:p>
            <a:pPr marL="62230" marR="163195" indent="43180">
              <a:lnSpc>
                <a:spcPct val="106300"/>
              </a:lnSpc>
              <a:spcBef>
                <a:spcPts val="635"/>
              </a:spcBef>
            </a:pPr>
            <a:r>
              <a:rPr sz="1000" b="1" i="1" dirty="0">
                <a:latin typeface="Times New Roman"/>
                <a:cs typeface="Times New Roman"/>
              </a:rPr>
              <a:t>Annie</a:t>
            </a:r>
            <a:r>
              <a:rPr sz="1000" b="1" i="1" spc="50" dirty="0">
                <a:latin typeface="Times New Roman"/>
                <a:cs typeface="Times New Roman"/>
              </a:rPr>
              <a:t> </a:t>
            </a:r>
            <a:r>
              <a:rPr sz="1000" b="1" i="1" spc="-20" dirty="0">
                <a:latin typeface="Times New Roman"/>
                <a:cs typeface="Times New Roman"/>
              </a:rPr>
              <a:t>Hall </a:t>
            </a:r>
            <a:r>
              <a:rPr sz="1000" b="1" i="1" dirty="0">
                <a:latin typeface="Times New Roman"/>
                <a:cs typeface="Times New Roman"/>
              </a:rPr>
              <a:t>Jurassic</a:t>
            </a:r>
            <a:r>
              <a:rPr sz="1000" b="1" i="1" spc="70" dirty="0">
                <a:latin typeface="Times New Roman"/>
                <a:cs typeface="Times New Roman"/>
              </a:rPr>
              <a:t> </a:t>
            </a:r>
            <a:r>
              <a:rPr sz="1000" b="1" i="1" spc="-20" dirty="0">
                <a:latin typeface="Times New Roman"/>
                <a:cs typeface="Times New Roman"/>
              </a:rPr>
              <a:t>Park </a:t>
            </a:r>
            <a:r>
              <a:rPr sz="1000" b="1" i="1" spc="-10" dirty="0">
                <a:latin typeface="Times New Roman"/>
                <a:cs typeface="Times New Roman"/>
              </a:rPr>
              <a:t>Manhattan Metropolis Psychose Shining Vertigo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575545" y="8102444"/>
          <a:ext cx="1674494" cy="134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6160"/>
                <a:gridCol w="392429"/>
                <a:gridCol w="255905"/>
              </a:tblGrid>
              <a:tr h="201930">
                <a:tc>
                  <a:txBody>
                    <a:bodyPr/>
                    <a:lstStyle/>
                    <a:p>
                      <a:pPr marL="164465">
                        <a:lnSpc>
                          <a:spcPts val="1195"/>
                        </a:lnSpc>
                        <a:spcBef>
                          <a:spcPts val="295"/>
                        </a:spcBef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Annie</a:t>
                      </a:r>
                      <a:r>
                        <a:rPr sz="1000" b="1" i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Hall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95"/>
                        </a:lnSpc>
                        <a:spcBef>
                          <a:spcPts val="295"/>
                        </a:spcBef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1977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Brazil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117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1984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000" b="1" i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Rider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ts val="117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1969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Greystoke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2384" algn="r">
                        <a:lnSpc>
                          <a:spcPts val="117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1984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Jurassic</a:t>
                      </a:r>
                      <a:r>
                        <a:rPr sz="1000" b="1" i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Park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117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1992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marL="164465">
                        <a:lnSpc>
                          <a:spcPts val="1175"/>
                        </a:lnSpc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Manhattan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0" algn="r">
                        <a:lnSpc>
                          <a:spcPts val="117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1979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marL="164465">
                        <a:lnSpc>
                          <a:spcPts val="1165"/>
                        </a:lnSpc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Metropolis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ts val="1165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1926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161925">
                        <a:lnSpc>
                          <a:spcPts val="1170"/>
                        </a:lnSpc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Psychose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170"/>
                        </a:lnSpc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1960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170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....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333170" y="6968101"/>
          <a:ext cx="2268220" cy="485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/>
                <a:gridCol w="972185"/>
                <a:gridCol w="539750"/>
              </a:tblGrid>
              <a:tr h="485775">
                <a:tc>
                  <a:txBody>
                    <a:bodyPr/>
                    <a:lstStyle/>
                    <a:p>
                      <a:pPr marL="161925" marR="81915">
                        <a:lnSpc>
                          <a:spcPct val="106300"/>
                        </a:lnSpc>
                        <a:spcBef>
                          <a:spcPts val="200"/>
                        </a:spcBef>
                      </a:pPr>
                      <a:r>
                        <a:rPr sz="1000" b="1" i="1" spc="-10" dirty="0">
                          <a:latin typeface="Times New Roman"/>
                          <a:cs typeface="Times New Roman"/>
                        </a:rPr>
                        <a:t>Allen Spielberg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54305" indent="10795">
                        <a:lnSpc>
                          <a:spcPts val="1280"/>
                        </a:lnSpc>
                        <a:spcBef>
                          <a:spcPts val="250"/>
                        </a:spcBef>
                      </a:pP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Annie</a:t>
                      </a:r>
                      <a:r>
                        <a:rPr sz="1000" b="1" i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Hall </a:t>
                      </a:r>
                      <a:r>
                        <a:rPr sz="1000" b="1" i="1" dirty="0">
                          <a:latin typeface="Times New Roman"/>
                          <a:cs typeface="Times New Roman"/>
                        </a:rPr>
                        <a:t>Jurassic</a:t>
                      </a:r>
                      <a:r>
                        <a:rPr sz="1000" b="1" i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Park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53975">
                        <a:lnSpc>
                          <a:spcPts val="790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....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1977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2384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00" b="1" i="1" spc="-20" dirty="0">
                          <a:latin typeface="Times New Roman"/>
                          <a:cs typeface="Times New Roman"/>
                        </a:rPr>
                        <a:t>1992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349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4051690" y="9613048"/>
            <a:ext cx="328295" cy="5340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740"/>
              </a:spcBef>
            </a:pPr>
            <a:r>
              <a:rPr sz="1000" b="1" spc="-25" dirty="0">
                <a:latin typeface="Times New Roman"/>
                <a:cs typeface="Times New Roman"/>
              </a:rPr>
              <a:t>TRI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b="1" spc="-20" dirty="0">
                <a:latin typeface="Times New Roman"/>
                <a:cs typeface="Times New Roman"/>
              </a:rPr>
              <a:t>Film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76751" y="7727756"/>
            <a:ext cx="756285" cy="324485"/>
          </a:xfrm>
          <a:custGeom>
            <a:avLst/>
            <a:gdLst/>
            <a:ahLst/>
            <a:cxnLst/>
            <a:rect l="l" t="t" r="r" b="b"/>
            <a:pathLst>
              <a:path w="756285" h="324484">
                <a:moveTo>
                  <a:pt x="756221" y="162046"/>
                </a:moveTo>
                <a:lnTo>
                  <a:pt x="732565" y="218587"/>
                </a:lnTo>
                <a:lnTo>
                  <a:pt x="667293" y="266448"/>
                </a:lnTo>
                <a:lnTo>
                  <a:pt x="621721" y="285980"/>
                </a:lnTo>
                <a:lnTo>
                  <a:pt x="568948" y="301968"/>
                </a:lnTo>
                <a:lnTo>
                  <a:pt x="510042" y="313954"/>
                </a:lnTo>
                <a:lnTo>
                  <a:pt x="446071" y="321482"/>
                </a:lnTo>
                <a:lnTo>
                  <a:pt x="378102" y="324093"/>
                </a:lnTo>
                <a:lnTo>
                  <a:pt x="310139" y="321482"/>
                </a:lnTo>
                <a:lnTo>
                  <a:pt x="246171" y="313954"/>
                </a:lnTo>
                <a:lnTo>
                  <a:pt x="187268" y="301968"/>
                </a:lnTo>
                <a:lnTo>
                  <a:pt x="134497" y="285980"/>
                </a:lnTo>
                <a:lnTo>
                  <a:pt x="88925" y="266448"/>
                </a:lnTo>
                <a:lnTo>
                  <a:pt x="51622" y="243832"/>
                </a:lnTo>
                <a:lnTo>
                  <a:pt x="6091" y="191173"/>
                </a:lnTo>
                <a:lnTo>
                  <a:pt x="0" y="162046"/>
                </a:lnTo>
                <a:lnTo>
                  <a:pt x="6091" y="132920"/>
                </a:lnTo>
                <a:lnTo>
                  <a:pt x="51622" y="80261"/>
                </a:lnTo>
                <a:lnTo>
                  <a:pt x="88925" y="57644"/>
                </a:lnTo>
                <a:lnTo>
                  <a:pt x="134497" y="38113"/>
                </a:lnTo>
                <a:lnTo>
                  <a:pt x="187268" y="22125"/>
                </a:lnTo>
                <a:lnTo>
                  <a:pt x="246171" y="10138"/>
                </a:lnTo>
                <a:lnTo>
                  <a:pt x="310139" y="2611"/>
                </a:lnTo>
                <a:lnTo>
                  <a:pt x="378102" y="0"/>
                </a:lnTo>
                <a:lnTo>
                  <a:pt x="446071" y="2611"/>
                </a:lnTo>
                <a:lnTo>
                  <a:pt x="510042" y="10138"/>
                </a:lnTo>
                <a:lnTo>
                  <a:pt x="568948" y="22125"/>
                </a:lnTo>
                <a:lnTo>
                  <a:pt x="621721" y="38113"/>
                </a:lnTo>
                <a:lnTo>
                  <a:pt x="667293" y="57644"/>
                </a:lnTo>
                <a:lnTo>
                  <a:pt x="704597" y="80261"/>
                </a:lnTo>
                <a:lnTo>
                  <a:pt x="750129" y="132920"/>
                </a:lnTo>
                <a:lnTo>
                  <a:pt x="756221" y="162046"/>
                </a:lnTo>
                <a:close/>
              </a:path>
            </a:pathLst>
          </a:custGeom>
          <a:ln w="54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66925" y="9613057"/>
            <a:ext cx="765175" cy="5340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740"/>
              </a:spcBef>
            </a:pPr>
            <a:r>
              <a:rPr sz="1000" b="1" spc="-25" dirty="0">
                <a:latin typeface="Times New Roman"/>
                <a:cs typeface="Times New Roman"/>
              </a:rPr>
              <a:t>TRI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-10" dirty="0">
                <a:latin typeface="Times New Roman"/>
                <a:cs typeface="Times New Roman"/>
              </a:rPr>
              <a:t>Réalisateur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176" y="5346080"/>
            <a:ext cx="7505700" cy="5341620"/>
            <a:chOff x="25176" y="5346080"/>
            <a:chExt cx="7505700" cy="5341620"/>
          </a:xfrm>
        </p:grpSpPr>
        <p:sp>
          <p:nvSpPr>
            <p:cNvPr id="22" name="object 22"/>
            <p:cNvSpPr/>
            <p:nvPr/>
          </p:nvSpPr>
          <p:spPr>
            <a:xfrm>
              <a:off x="1580351" y="9618335"/>
              <a:ext cx="3025140" cy="324485"/>
            </a:xfrm>
            <a:custGeom>
              <a:avLst/>
              <a:gdLst/>
              <a:ahLst/>
              <a:cxnLst/>
              <a:rect l="l" t="t" r="r" b="b"/>
              <a:pathLst>
                <a:path w="3025140" h="324484">
                  <a:moveTo>
                    <a:pt x="756236" y="162049"/>
                  </a:moveTo>
                  <a:lnTo>
                    <a:pt x="732578" y="218595"/>
                  </a:lnTo>
                  <a:lnTo>
                    <a:pt x="667303" y="266458"/>
                  </a:lnTo>
                  <a:lnTo>
                    <a:pt x="621730" y="285990"/>
                  </a:lnTo>
                  <a:lnTo>
                    <a:pt x="568956" y="301978"/>
                  </a:lnTo>
                  <a:lnTo>
                    <a:pt x="510051" y="313965"/>
                  </a:lnTo>
                  <a:lnTo>
                    <a:pt x="446082" y="321493"/>
                  </a:lnTo>
                  <a:lnTo>
                    <a:pt x="378118" y="324104"/>
                  </a:lnTo>
                  <a:lnTo>
                    <a:pt x="310149" y="321493"/>
                  </a:lnTo>
                  <a:lnTo>
                    <a:pt x="246178" y="313965"/>
                  </a:lnTo>
                  <a:lnTo>
                    <a:pt x="187272" y="301978"/>
                  </a:lnTo>
                  <a:lnTo>
                    <a:pt x="134499" y="285990"/>
                  </a:lnTo>
                  <a:lnTo>
                    <a:pt x="88927" y="266458"/>
                  </a:lnTo>
                  <a:lnTo>
                    <a:pt x="51623" y="243841"/>
                  </a:lnTo>
                  <a:lnTo>
                    <a:pt x="6091" y="191178"/>
                  </a:lnTo>
                  <a:lnTo>
                    <a:pt x="0" y="162049"/>
                  </a:lnTo>
                  <a:lnTo>
                    <a:pt x="6091" y="132922"/>
                  </a:lnTo>
                  <a:lnTo>
                    <a:pt x="51623" y="80262"/>
                  </a:lnTo>
                  <a:lnTo>
                    <a:pt x="88927" y="57645"/>
                  </a:lnTo>
                  <a:lnTo>
                    <a:pt x="134499" y="38113"/>
                  </a:lnTo>
                  <a:lnTo>
                    <a:pt x="187272" y="22125"/>
                  </a:lnTo>
                  <a:lnTo>
                    <a:pt x="246178" y="10138"/>
                  </a:lnTo>
                  <a:lnTo>
                    <a:pt x="310149" y="2611"/>
                  </a:lnTo>
                  <a:lnTo>
                    <a:pt x="378118" y="0"/>
                  </a:lnTo>
                  <a:lnTo>
                    <a:pt x="446082" y="2611"/>
                  </a:lnTo>
                  <a:lnTo>
                    <a:pt x="510051" y="10138"/>
                  </a:lnTo>
                  <a:lnTo>
                    <a:pt x="568956" y="22125"/>
                  </a:lnTo>
                  <a:lnTo>
                    <a:pt x="621730" y="38113"/>
                  </a:lnTo>
                  <a:lnTo>
                    <a:pt x="667303" y="57645"/>
                  </a:lnTo>
                  <a:lnTo>
                    <a:pt x="704609" y="80262"/>
                  </a:lnTo>
                  <a:lnTo>
                    <a:pt x="750143" y="132922"/>
                  </a:lnTo>
                  <a:lnTo>
                    <a:pt x="756236" y="162049"/>
                  </a:lnTo>
                  <a:close/>
                </a:path>
                <a:path w="3025140" h="324484">
                  <a:moveTo>
                    <a:pt x="3024929" y="162049"/>
                  </a:moveTo>
                  <a:lnTo>
                    <a:pt x="3001272" y="218595"/>
                  </a:lnTo>
                  <a:lnTo>
                    <a:pt x="2935997" y="266458"/>
                  </a:lnTo>
                  <a:lnTo>
                    <a:pt x="2890423" y="285990"/>
                  </a:lnTo>
                  <a:lnTo>
                    <a:pt x="2837650" y="301978"/>
                  </a:lnTo>
                  <a:lnTo>
                    <a:pt x="2778744" y="313965"/>
                  </a:lnTo>
                  <a:lnTo>
                    <a:pt x="2714775" y="321493"/>
                  </a:lnTo>
                  <a:lnTo>
                    <a:pt x="2646811" y="324104"/>
                  </a:lnTo>
                  <a:lnTo>
                    <a:pt x="2578843" y="321493"/>
                  </a:lnTo>
                  <a:lnTo>
                    <a:pt x="2514872" y="313965"/>
                  </a:lnTo>
                  <a:lnTo>
                    <a:pt x="2455966" y="301978"/>
                  </a:lnTo>
                  <a:lnTo>
                    <a:pt x="2403193" y="285990"/>
                  </a:lnTo>
                  <a:lnTo>
                    <a:pt x="2357620" y="266458"/>
                  </a:lnTo>
                  <a:lnTo>
                    <a:pt x="2320316" y="243841"/>
                  </a:lnTo>
                  <a:lnTo>
                    <a:pt x="2274785" y="191178"/>
                  </a:lnTo>
                  <a:lnTo>
                    <a:pt x="2268693" y="162049"/>
                  </a:lnTo>
                  <a:lnTo>
                    <a:pt x="2274785" y="132922"/>
                  </a:lnTo>
                  <a:lnTo>
                    <a:pt x="2320316" y="80262"/>
                  </a:lnTo>
                  <a:lnTo>
                    <a:pt x="2357620" y="57645"/>
                  </a:lnTo>
                  <a:lnTo>
                    <a:pt x="2403193" y="38113"/>
                  </a:lnTo>
                  <a:lnTo>
                    <a:pt x="2455966" y="22125"/>
                  </a:lnTo>
                  <a:lnTo>
                    <a:pt x="2514872" y="10138"/>
                  </a:lnTo>
                  <a:lnTo>
                    <a:pt x="2578843" y="2611"/>
                  </a:lnTo>
                  <a:lnTo>
                    <a:pt x="2646811" y="0"/>
                  </a:lnTo>
                  <a:lnTo>
                    <a:pt x="2714775" y="2611"/>
                  </a:lnTo>
                  <a:lnTo>
                    <a:pt x="2778744" y="10138"/>
                  </a:lnTo>
                  <a:lnTo>
                    <a:pt x="2837650" y="22125"/>
                  </a:lnTo>
                  <a:lnTo>
                    <a:pt x="2890423" y="38113"/>
                  </a:lnTo>
                  <a:lnTo>
                    <a:pt x="2935997" y="57645"/>
                  </a:lnTo>
                  <a:lnTo>
                    <a:pt x="2973303" y="80262"/>
                  </a:lnTo>
                  <a:lnTo>
                    <a:pt x="3018837" y="132922"/>
                  </a:lnTo>
                  <a:lnTo>
                    <a:pt x="3024929" y="162049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55762" y="9467850"/>
              <a:ext cx="5715" cy="149860"/>
            </a:xfrm>
            <a:custGeom>
              <a:avLst/>
              <a:gdLst/>
              <a:ahLst/>
              <a:cxnLst/>
              <a:rect l="l" t="t" r="r" b="b"/>
              <a:pathLst>
                <a:path w="5714" h="149859">
                  <a:moveTo>
                    <a:pt x="5397" y="10160"/>
                  </a:moveTo>
                  <a:lnTo>
                    <a:pt x="3975" y="10160"/>
                  </a:lnTo>
                  <a:lnTo>
                    <a:pt x="3975" y="0"/>
                  </a:lnTo>
                  <a:lnTo>
                    <a:pt x="1409" y="0"/>
                  </a:lnTo>
                  <a:lnTo>
                    <a:pt x="1409" y="10160"/>
                  </a:lnTo>
                  <a:lnTo>
                    <a:pt x="0" y="10160"/>
                  </a:lnTo>
                  <a:lnTo>
                    <a:pt x="0" y="149860"/>
                  </a:lnTo>
                  <a:lnTo>
                    <a:pt x="5397" y="149860"/>
                  </a:lnTo>
                  <a:lnTo>
                    <a:pt x="5397" y="101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36866" y="9467806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21595" y="0"/>
                  </a:moveTo>
                  <a:lnTo>
                    <a:pt x="0" y="86427"/>
                  </a:lnTo>
                  <a:lnTo>
                    <a:pt x="43205" y="86427"/>
                  </a:lnTo>
                  <a:lnTo>
                    <a:pt x="215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36859" y="9467811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43220" y="86427"/>
                  </a:moveTo>
                  <a:lnTo>
                    <a:pt x="21610" y="0"/>
                  </a:lnTo>
                  <a:lnTo>
                    <a:pt x="0" y="86427"/>
                  </a:lnTo>
                  <a:lnTo>
                    <a:pt x="43220" y="86427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24462" y="9478007"/>
              <a:ext cx="5715" cy="139700"/>
            </a:xfrm>
            <a:custGeom>
              <a:avLst/>
              <a:gdLst/>
              <a:ahLst/>
              <a:cxnLst/>
              <a:rect l="l" t="t" r="r" b="b"/>
              <a:pathLst>
                <a:path w="5714" h="139700">
                  <a:moveTo>
                    <a:pt x="0" y="0"/>
                  </a:moveTo>
                  <a:lnTo>
                    <a:pt x="5401" y="0"/>
                  </a:lnTo>
                  <a:lnTo>
                    <a:pt x="5401" y="139700"/>
                  </a:lnTo>
                  <a:lnTo>
                    <a:pt x="0" y="139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05554" y="9467806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21610" y="0"/>
                  </a:moveTo>
                  <a:lnTo>
                    <a:pt x="0" y="86427"/>
                  </a:lnTo>
                  <a:lnTo>
                    <a:pt x="43205" y="86427"/>
                  </a:lnTo>
                  <a:lnTo>
                    <a:pt x="21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05552" y="9467811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43205" y="86427"/>
                  </a:moveTo>
                  <a:lnTo>
                    <a:pt x="21610" y="0"/>
                  </a:lnTo>
                  <a:lnTo>
                    <a:pt x="0" y="86427"/>
                  </a:lnTo>
                  <a:lnTo>
                    <a:pt x="43205" y="86427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43816" y="7893410"/>
              <a:ext cx="636905" cy="212090"/>
            </a:xfrm>
            <a:custGeom>
              <a:avLst/>
              <a:gdLst/>
              <a:ahLst/>
              <a:cxnLst/>
              <a:rect l="l" t="t" r="r" b="b"/>
              <a:pathLst>
                <a:path w="636904" h="212090">
                  <a:moveTo>
                    <a:pt x="142847" y="47508"/>
                  </a:moveTo>
                  <a:lnTo>
                    <a:pt x="636640" y="211734"/>
                  </a:lnTo>
                </a:path>
                <a:path w="636904" h="212090">
                  <a:moveTo>
                    <a:pt x="0" y="0"/>
                  </a:moveTo>
                  <a:lnTo>
                    <a:pt x="142847" y="47508"/>
                  </a:lnTo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43777" y="7893385"/>
              <a:ext cx="88900" cy="47625"/>
            </a:xfrm>
            <a:custGeom>
              <a:avLst/>
              <a:gdLst/>
              <a:ahLst/>
              <a:cxnLst/>
              <a:rect l="l" t="t" r="r" b="b"/>
              <a:pathLst>
                <a:path w="88900" h="47625">
                  <a:moveTo>
                    <a:pt x="0" y="0"/>
                  </a:moveTo>
                  <a:lnTo>
                    <a:pt x="74904" y="47533"/>
                  </a:lnTo>
                  <a:lnTo>
                    <a:pt x="88590" y="6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43778" y="7893400"/>
              <a:ext cx="88900" cy="47625"/>
            </a:xfrm>
            <a:custGeom>
              <a:avLst/>
              <a:gdLst/>
              <a:ahLst/>
              <a:cxnLst/>
              <a:rect l="l" t="t" r="r" b="b"/>
              <a:pathLst>
                <a:path w="88900" h="47625">
                  <a:moveTo>
                    <a:pt x="88589" y="6476"/>
                  </a:moveTo>
                  <a:lnTo>
                    <a:pt x="0" y="0"/>
                  </a:lnTo>
                  <a:lnTo>
                    <a:pt x="74904" y="47533"/>
                  </a:lnTo>
                  <a:lnTo>
                    <a:pt x="88589" y="6476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0158" y="7468595"/>
              <a:ext cx="1270" cy="259715"/>
            </a:xfrm>
            <a:custGeom>
              <a:avLst/>
              <a:gdLst/>
              <a:ahLst/>
              <a:cxnLst/>
              <a:rect l="l" t="t" r="r" b="b"/>
              <a:pathLst>
                <a:path w="1269" h="259715">
                  <a:moveTo>
                    <a:pt x="685" y="259161"/>
                  </a:moveTo>
                  <a:lnTo>
                    <a:pt x="228" y="86293"/>
                  </a:lnTo>
                </a:path>
                <a:path w="1269" h="259715">
                  <a:moveTo>
                    <a:pt x="228" y="86293"/>
                  </a:moveTo>
                  <a:lnTo>
                    <a:pt x="0" y="0"/>
                  </a:lnTo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78515" y="7468463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21610" y="0"/>
                  </a:moveTo>
                  <a:lnTo>
                    <a:pt x="0" y="86426"/>
                  </a:lnTo>
                  <a:lnTo>
                    <a:pt x="43220" y="85709"/>
                  </a:lnTo>
                  <a:lnTo>
                    <a:pt x="216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78517" y="7468478"/>
              <a:ext cx="43815" cy="86995"/>
            </a:xfrm>
            <a:custGeom>
              <a:avLst/>
              <a:gdLst/>
              <a:ahLst/>
              <a:cxnLst/>
              <a:rect l="l" t="t" r="r" b="b"/>
              <a:pathLst>
                <a:path w="43814" h="86995">
                  <a:moveTo>
                    <a:pt x="43220" y="85709"/>
                  </a:moveTo>
                  <a:lnTo>
                    <a:pt x="21610" y="0"/>
                  </a:lnTo>
                  <a:lnTo>
                    <a:pt x="0" y="86426"/>
                  </a:lnTo>
                  <a:lnTo>
                    <a:pt x="43220" y="85709"/>
                  </a:lnTo>
                  <a:close/>
                </a:path>
              </a:pathLst>
            </a:custGeom>
            <a:ln w="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44" y="5346449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4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9" y="457254"/>
            <a:ext cx="4962525" cy="4009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41680" algn="ctr">
              <a:lnSpc>
                <a:spcPct val="100000"/>
              </a:lnSpc>
              <a:spcBef>
                <a:spcPts val="130"/>
              </a:spcBef>
            </a:pP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l'une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distinctes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place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seconde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position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(table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  <a:spcBef>
                <a:spcPts val="85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Algorithme</a:t>
            </a:r>
            <a:r>
              <a:rPr sz="1350" b="1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4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Entrées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triée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triée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35"/>
              </a:spcBef>
            </a:pPr>
            <a:r>
              <a:rPr sz="1350" b="1" spc="10" dirty="0">
                <a:solidFill>
                  <a:srgbClr val="0000CC"/>
                </a:solidFill>
                <a:latin typeface="Times New Roman"/>
                <a:cs typeface="Times New Roman"/>
              </a:rPr>
              <a:t>Sortie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spc="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  <a:spcBef>
                <a:spcPts val="35"/>
              </a:spcBef>
            </a:pP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45"/>
              </a:spcBef>
              <a:tabLst>
                <a:tab pos="1030605" algn="l"/>
                <a:tab pos="227838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35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r>
              <a:rPr sz="1350" spc="-35" dirty="0">
                <a:solidFill>
                  <a:srgbClr val="0000CC"/>
                </a:solidFill>
                <a:latin typeface="Times New Roman"/>
                <a:cs typeface="Times New Roman"/>
              </a:rPr>
              <a:t>;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premier(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);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	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premier(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568960" marR="2046605" indent="-174625">
              <a:lnSpc>
                <a:spcPts val="1660"/>
              </a:lnSpc>
              <a:spcBef>
                <a:spcPts val="5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tant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b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existe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b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existe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alors</a:t>
            </a:r>
            <a:endParaRPr sz="1350">
              <a:latin typeface="Times New Roman"/>
              <a:cs typeface="Times New Roman"/>
            </a:endParaRPr>
          </a:p>
          <a:p>
            <a:pPr marL="744220">
              <a:lnSpc>
                <a:spcPts val="1600"/>
              </a:lnSpc>
            </a:pP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spc="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1350">
              <a:latin typeface="Times New Roman"/>
              <a:cs typeface="Times New Roman"/>
            </a:endParaRPr>
          </a:p>
          <a:p>
            <a:pPr marL="744220">
              <a:lnSpc>
                <a:spcPct val="100000"/>
              </a:lnSpc>
              <a:spcBef>
                <a:spcPts val="2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568960">
              <a:lnSpc>
                <a:spcPct val="100000"/>
              </a:lnSpc>
              <a:spcBef>
                <a:spcPts val="35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sinon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b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&lt;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alors</a:t>
            </a:r>
            <a:r>
              <a:rPr sz="1350" b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568960">
              <a:lnSpc>
                <a:spcPct val="100000"/>
              </a:lnSpc>
              <a:spcBef>
                <a:spcPts val="4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sinon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218440" marR="3766820" indent="175260">
              <a:lnSpc>
                <a:spcPct val="102200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3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556250" cy="3214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112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marR="289560" indent="-168275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L'avantage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cas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précédent: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revient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jamais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arrière,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donc un seul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 deux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tables</a:t>
            </a:r>
            <a:endParaRPr sz="1650">
              <a:latin typeface="Times New Roman"/>
              <a:cs typeface="Times New Roman"/>
            </a:endParaRPr>
          </a:p>
          <a:p>
            <a:pPr marL="167640" marR="260985" indent="-167640" algn="ctr">
              <a:lnSpc>
                <a:spcPct val="100000"/>
              </a:lnSpc>
              <a:spcBef>
                <a:spcPts val="1010"/>
              </a:spcBef>
              <a:buChar char="•"/>
              <a:tabLst>
                <a:tab pos="1676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deux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doublons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jointure</a:t>
            </a:r>
            <a:endParaRPr sz="1650">
              <a:latin typeface="Times New Roman"/>
              <a:cs typeface="Times New Roman"/>
            </a:endParaRPr>
          </a:p>
          <a:p>
            <a:pPr marL="262890" lvl="1" indent="-164465" algn="ctr">
              <a:lnSpc>
                <a:spcPct val="100000"/>
              </a:lnSpc>
              <a:spcBef>
                <a:spcPts val="370"/>
              </a:spcBef>
              <a:buChar char="–"/>
              <a:tabLst>
                <a:tab pos="26289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où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fois)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v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fois),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produire</a:t>
            </a:r>
            <a:endParaRPr sz="1350">
              <a:latin typeface="Times New Roman"/>
              <a:cs typeface="Times New Roman"/>
            </a:endParaRPr>
          </a:p>
          <a:p>
            <a:pPr marR="2607945" algn="ctr">
              <a:lnSpc>
                <a:spcPct val="100000"/>
              </a:lnSpc>
              <a:spcBef>
                <a:spcPts val="3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m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  <a:p>
            <a:pPr marL="337185" lvl="1" indent="-164465" algn="ctr">
              <a:lnSpc>
                <a:spcPct val="100000"/>
              </a:lnSpc>
              <a:spcBef>
                <a:spcPts val="370"/>
              </a:spcBef>
              <a:buChar char="–"/>
              <a:tabLst>
                <a:tab pos="33718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nouvel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prendre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tel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endParaRPr sz="1350">
              <a:latin typeface="Wingdings"/>
              <a:cs typeface="Wingdings"/>
            </a:endParaRPr>
          </a:p>
          <a:p>
            <a:pPr marL="121285" algn="ctr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revenir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arrière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similaire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endParaRPr sz="1350">
              <a:latin typeface="Times New Roman"/>
              <a:cs typeface="Times New Roman"/>
            </a:endParaRPr>
          </a:p>
          <a:p>
            <a:pPr marL="476884" marR="5080" lvl="1" indent="-165100" algn="just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Comportement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similaire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simple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locales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(là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où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y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doublons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d'attribut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9" y="457254"/>
            <a:ext cx="5690235" cy="4013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tri-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1650">
              <a:latin typeface="Times New Roman"/>
              <a:cs typeface="Times New Roman"/>
            </a:endParaRPr>
          </a:p>
          <a:p>
            <a:pPr marL="514350" marR="1775460" lvl="1" indent="-164465">
              <a:lnSpc>
                <a:spcPct val="123000"/>
              </a:lnSpc>
              <a:buChar char="–"/>
              <a:tabLst>
                <a:tab pos="60579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mémoire: 	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r>
              <a:rPr sz="1350" spc="22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4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(1+log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N-1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650" i="1" spc="35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spc="-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025"/>
              </a:spcBef>
              <a:buChar char="•"/>
              <a:tabLst>
                <a:tab pos="2184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simple: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seul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endParaRPr sz="13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747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0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200" spc="15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72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spc="-3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200" baseline="-20833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doublons: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moyenne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moins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bon</a:t>
            </a:r>
            <a:endParaRPr sz="1350">
              <a:latin typeface="Times New Roman"/>
              <a:cs typeface="Times New Roman"/>
            </a:endParaRPr>
          </a:p>
          <a:p>
            <a:pPr marL="774700" marR="4318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pire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tous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coût 	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imbriquées: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0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200" spc="15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72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spc="-3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200" baseline="-20833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120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total: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900" i="1" spc="10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195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i="1" spc="209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202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650" i="1" spc="-37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425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coûteux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13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65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tri-fusion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donné</a:t>
            </a:r>
            <a:r>
              <a:rPr sz="1350" i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essentiellement</a:t>
            </a:r>
            <a:r>
              <a:rPr sz="135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884" y="5797869"/>
            <a:ext cx="5467350" cy="3594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Comparaison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boucles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imbriquées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–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tri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fusion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grandes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efficace</a:t>
            </a:r>
            <a:endParaRPr sz="16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7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Ex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.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09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9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1000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bi</a:t>
            </a:r>
            <a:r>
              <a:rPr sz="1350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2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19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1.000.000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36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tf</a:t>
            </a:r>
            <a:r>
              <a:rPr sz="1350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3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1000*10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1000*10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20.000</a:t>
            </a:r>
            <a:endParaRPr sz="1350">
              <a:latin typeface="Times New Roman"/>
              <a:cs typeface="Times New Roman"/>
            </a:endParaRPr>
          </a:p>
          <a:p>
            <a:pPr marL="514984" marR="146685" indent="-165100">
              <a:lnSpc>
                <a:spcPct val="102200"/>
              </a:lnSpc>
              <a:spcBef>
                <a:spcPts val="32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1350" spc="3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avantage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tri-fusion: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élimination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doublons,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groupement,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affichage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ordonné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rapides</a:t>
            </a:r>
            <a:endParaRPr sz="1350">
              <a:latin typeface="Times New Roman"/>
              <a:cs typeface="Times New Roman"/>
            </a:endParaRPr>
          </a:p>
          <a:p>
            <a:pPr marL="218440" marR="43180" indent="-168275">
              <a:lnSpc>
                <a:spcPct val="100000"/>
              </a:lnSpc>
              <a:spcBef>
                <a:spcPts val="995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l'une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imbriquées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efficace</a:t>
            </a:r>
            <a:endParaRPr sz="165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  <a:spcBef>
                <a:spcPts val="380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Ex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.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30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pages,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1000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bi</a:t>
            </a:r>
            <a:r>
              <a:rPr sz="1350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1030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  <a:p>
            <a:pPr marL="605790">
              <a:lnSpc>
                <a:spcPct val="100000"/>
              </a:lnSpc>
              <a:spcBef>
                <a:spcPts val="36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tf</a:t>
            </a:r>
            <a:r>
              <a:rPr sz="1350" spc="21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3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log(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30*5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1000*10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10.000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8688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UCP,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Master</a:t>
            </a:r>
            <a:r>
              <a:rPr sz="8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M1,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cours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BDA: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7189" y="457254"/>
            <a:ext cx="4008754" cy="4093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4688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hachage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900">
              <a:latin typeface="Times New Roman"/>
              <a:cs typeface="Times New Roman"/>
            </a:endParaRPr>
          </a:p>
          <a:p>
            <a:pPr marL="262890" indent="-199390">
              <a:lnSpc>
                <a:spcPts val="1555"/>
              </a:lnSpc>
              <a:buFont typeface="Times New Roman"/>
              <a:buChar char="•"/>
              <a:tabLst>
                <a:tab pos="262890" algn="l"/>
              </a:tabLst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Algorithme</a:t>
            </a:r>
            <a:r>
              <a:rPr sz="1350" b="1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350">
              <a:latin typeface="Times New Roman"/>
              <a:cs typeface="Times New Roman"/>
            </a:endParaRPr>
          </a:p>
          <a:p>
            <a:pPr marL="438784">
              <a:lnSpc>
                <a:spcPts val="1490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Entrées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;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fonction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H</a:t>
            </a:r>
            <a:endParaRPr sz="1350">
              <a:latin typeface="Times New Roman"/>
              <a:cs typeface="Times New Roman"/>
            </a:endParaRPr>
          </a:p>
          <a:p>
            <a:pPr marL="438784">
              <a:lnSpc>
                <a:spcPts val="1490"/>
              </a:lnSpc>
            </a:pPr>
            <a:r>
              <a:rPr sz="1350" b="1" spc="10" dirty="0">
                <a:solidFill>
                  <a:srgbClr val="0000CC"/>
                </a:solidFill>
                <a:latin typeface="Times New Roman"/>
                <a:cs typeface="Times New Roman"/>
              </a:rPr>
              <a:t>Sortie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spc="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262890">
              <a:lnSpc>
                <a:spcPts val="1495"/>
              </a:lnSpc>
            </a:pP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endParaRPr sz="1350">
              <a:latin typeface="Times New Roman"/>
              <a:cs typeface="Times New Roman"/>
            </a:endParaRPr>
          </a:p>
          <a:p>
            <a:pPr marL="438784">
              <a:lnSpc>
                <a:spcPts val="1490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b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b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613410">
              <a:lnSpc>
                <a:spcPts val="1485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placer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indiquée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438784">
              <a:lnSpc>
                <a:spcPts val="1495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438784">
              <a:lnSpc>
                <a:spcPts val="1495"/>
              </a:lnSpc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60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endParaRPr sz="1350">
              <a:latin typeface="Symbol"/>
              <a:cs typeface="Symbol"/>
            </a:endParaRPr>
          </a:p>
          <a:p>
            <a:pPr marL="438784">
              <a:lnSpc>
                <a:spcPts val="1485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b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b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613410">
              <a:lnSpc>
                <a:spcPts val="149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indiquée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613410">
              <a:lnSpc>
                <a:spcPts val="1495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b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b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793750">
              <a:lnSpc>
                <a:spcPts val="1485"/>
              </a:lnSpc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b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alors</a:t>
            </a:r>
            <a:r>
              <a:rPr sz="1350" b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54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1350">
              <a:latin typeface="Times New Roman"/>
              <a:cs typeface="Times New Roman"/>
            </a:endParaRPr>
          </a:p>
          <a:p>
            <a:pPr marL="262890" marR="2768600" indent="175260">
              <a:lnSpc>
                <a:spcPts val="1490"/>
              </a:lnSpc>
              <a:spcBef>
                <a:spcPts val="9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3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endParaRPr sz="1350">
              <a:latin typeface="Times New Roman"/>
              <a:cs typeface="Times New Roman"/>
            </a:endParaRPr>
          </a:p>
          <a:p>
            <a:pPr marL="262890" indent="-200025">
              <a:lnSpc>
                <a:spcPct val="100000"/>
              </a:lnSpc>
              <a:spcBef>
                <a:spcPts val="670"/>
              </a:spcBef>
              <a:buChar char="•"/>
              <a:tabLst>
                <a:tab pos="26289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Deux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phases</a:t>
            </a:r>
            <a:endParaRPr sz="1350">
              <a:latin typeface="Times New Roman"/>
              <a:cs typeface="Times New Roman"/>
            </a:endParaRPr>
          </a:p>
          <a:p>
            <a:pPr marL="577850" lvl="1" indent="-191770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5778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endParaRPr sz="1250">
              <a:latin typeface="Times New Roman"/>
              <a:cs typeface="Times New Roman"/>
            </a:endParaRPr>
          </a:p>
          <a:p>
            <a:pPr marL="577850" lvl="1" indent="-191770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5778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Calcul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l'autre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25117" y="10187800"/>
            <a:ext cx="18688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UCP,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Master</a:t>
            </a:r>
            <a:r>
              <a:rPr sz="8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M1,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cours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BDA: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96490" y="10187800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4223" y="5797869"/>
            <a:ext cx="2595880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hachage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587" y="6461617"/>
            <a:ext cx="5681980" cy="28162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05740" indent="-167640">
              <a:lnSpc>
                <a:spcPct val="100000"/>
              </a:lnSpc>
              <a:spcBef>
                <a:spcPts val="470"/>
              </a:spcBef>
              <a:buChar char="•"/>
              <a:tabLst>
                <a:tab pos="20574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Hypothèses</a:t>
            </a:r>
            <a:endParaRPr sz="13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300"/>
              </a:spcBef>
              <a:buChar char="–"/>
              <a:tabLst>
                <a:tab pos="5016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considère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entrée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290"/>
              </a:spcBef>
              <a:buChar char="–"/>
              <a:tabLst>
                <a:tab pos="5016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considère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&gt;&gt;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1articles/page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285"/>
              </a:spcBef>
              <a:buChar char="–"/>
              <a:tabLst>
                <a:tab pos="5016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Notation: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spc="-3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endParaRPr sz="1200" baseline="-20833">
              <a:latin typeface="Times New Roman"/>
              <a:cs typeface="Times New Roman"/>
            </a:endParaRPr>
          </a:p>
          <a:p>
            <a:pPr marL="205740" indent="-167640">
              <a:lnSpc>
                <a:spcPct val="100000"/>
              </a:lnSpc>
              <a:spcBef>
                <a:spcPts val="850"/>
              </a:spcBef>
              <a:buChar char="•"/>
              <a:tabLst>
                <a:tab pos="2057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Hachage: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lire/écrire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3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305"/>
              </a:spcBef>
              <a:buChar char="–"/>
              <a:tabLst>
                <a:tab pos="50165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r>
              <a:rPr sz="1200" spc="179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5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écritures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5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2|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endParaRPr sz="1250">
              <a:latin typeface="Times New Roman"/>
              <a:cs typeface="Times New Roman"/>
            </a:endParaRPr>
          </a:p>
          <a:p>
            <a:pPr marL="205740" indent="-167640">
              <a:lnSpc>
                <a:spcPct val="100000"/>
              </a:lnSpc>
              <a:spcBef>
                <a:spcPts val="850"/>
              </a:spcBef>
              <a:buChar char="•"/>
              <a:tabLst>
                <a:tab pos="2057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Jointure: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3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300"/>
              </a:spcBef>
              <a:buChar char="–"/>
              <a:tabLst>
                <a:tab pos="50165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200" spc="172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00" i="1" spc="15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lectures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spc="-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endParaRPr sz="1250">
              <a:latin typeface="Times New Roman"/>
              <a:cs typeface="Times New Roman"/>
            </a:endParaRPr>
          </a:p>
          <a:p>
            <a:pPr marL="205740" indent="-167640">
              <a:lnSpc>
                <a:spcPct val="100000"/>
              </a:lnSpc>
              <a:spcBef>
                <a:spcPts val="860"/>
              </a:spcBef>
              <a:buChar char="•"/>
              <a:tabLst>
                <a:tab pos="2057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total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09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spc="-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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endParaRPr sz="1350">
              <a:latin typeface="Times New Roman"/>
              <a:cs typeface="Times New Roman"/>
            </a:endParaRPr>
          </a:p>
          <a:p>
            <a:pPr marL="337185">
              <a:lnSpc>
                <a:spcPct val="100000"/>
              </a:lnSpc>
              <a:spcBef>
                <a:spcPts val="295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préférable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faire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relation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petite</a:t>
            </a:r>
            <a:endParaRPr sz="1250">
              <a:latin typeface="Times New Roman"/>
              <a:cs typeface="Times New Roman"/>
            </a:endParaRPr>
          </a:p>
          <a:p>
            <a:pPr marL="501650" lvl="1" indent="-164465">
              <a:lnSpc>
                <a:spcPct val="100000"/>
              </a:lnSpc>
              <a:spcBef>
                <a:spcPts val="285"/>
              </a:spcBef>
              <a:buChar char="–"/>
              <a:tabLst>
                <a:tab pos="5016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Remarque: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haché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tient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réduit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200" i="1" spc="150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200" i="1" spc="-3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200" baseline="-2083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868805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UCP,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Master</a:t>
            </a:r>
            <a:r>
              <a:rPr sz="80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M1,</a:t>
            </a:r>
            <a:r>
              <a:rPr sz="8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cours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BDA:</a:t>
            </a:r>
            <a:r>
              <a:rPr sz="80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3" y="457254"/>
            <a:ext cx="5650865" cy="317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270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Comparaison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les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autres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algorithmes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marR="338455" indent="-168275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d'opérations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dépend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du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pages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8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général,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comparaison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tri-fusion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dépend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endParaRPr sz="135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3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(comparaison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log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spc="-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))</a:t>
            </a:r>
            <a:endParaRPr sz="1350">
              <a:latin typeface="Times New Roman"/>
              <a:cs typeface="Times New Roman"/>
            </a:endParaRPr>
          </a:p>
          <a:p>
            <a:pPr marL="218440" marR="121920" indent="-168275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l'une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tient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aussi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efficace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les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(même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plus)</a:t>
            </a:r>
            <a:endParaRPr sz="1650">
              <a:latin typeface="Times New Roman"/>
              <a:cs typeface="Times New Roman"/>
            </a:endParaRPr>
          </a:p>
          <a:p>
            <a:pPr marL="217804" indent="-167640">
              <a:lnSpc>
                <a:spcPct val="100000"/>
              </a:lnSpc>
              <a:spcBef>
                <a:spcPts val="1010"/>
              </a:spcBef>
              <a:buChar char="•"/>
              <a:tabLst>
                <a:tab pos="217804" algn="l"/>
                <a:tab pos="349885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Inconvénient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hachage: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seulement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i="1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6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égalité</a:t>
            </a:r>
            <a:endParaRPr sz="1650">
              <a:latin typeface="Times New Roman"/>
              <a:cs typeface="Times New Roman"/>
            </a:endParaRPr>
          </a:p>
          <a:p>
            <a:pPr marL="514984" marR="186055" lvl="1" indent="-165100">
              <a:lnSpc>
                <a:spcPct val="102200"/>
              </a:lnSpc>
              <a:spcBef>
                <a:spcPts val="335"/>
              </a:spcBef>
              <a:buChar char="–"/>
              <a:tabLst>
                <a:tab pos="5149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tri-fusion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applicables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jointures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inégalité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887" y="5797869"/>
            <a:ext cx="5600700" cy="3988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477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une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table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indexée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Font typeface="Times New Roman"/>
              <a:buChar char="•"/>
              <a:tabLst>
                <a:tab pos="218440" algn="l"/>
              </a:tabLst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Algorithme</a:t>
            </a:r>
            <a:r>
              <a:rPr sz="1350" b="1" spc="2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boucles-imbriquées-</a:t>
            </a:r>
            <a:r>
              <a:rPr sz="13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35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Entrées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;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35"/>
              </a:spcBef>
            </a:pPr>
            <a:r>
              <a:rPr sz="1350" b="1" spc="10" dirty="0">
                <a:solidFill>
                  <a:srgbClr val="0000CC"/>
                </a:solidFill>
                <a:latin typeface="Times New Roman"/>
                <a:cs typeface="Times New Roman"/>
              </a:rPr>
              <a:t>Sortie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i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1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spc="1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350">
              <a:latin typeface="Times New Roman"/>
              <a:cs typeface="Times New Roman"/>
            </a:endParaRPr>
          </a:p>
          <a:p>
            <a:pPr marL="218440">
              <a:lnSpc>
                <a:spcPct val="100000"/>
              </a:lnSpc>
              <a:spcBef>
                <a:spcPts val="40"/>
              </a:spcBef>
            </a:pP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début</a:t>
            </a:r>
            <a:endParaRPr sz="1350">
              <a:latin typeface="Times New Roman"/>
              <a:cs typeface="Times New Roman"/>
            </a:endParaRPr>
          </a:p>
          <a:p>
            <a:pPr marL="394335">
              <a:lnSpc>
                <a:spcPct val="100000"/>
              </a:lnSpc>
              <a:spcBef>
                <a:spcPts val="40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60" dirty="0">
                <a:solidFill>
                  <a:srgbClr val="0000CC"/>
                </a:solidFill>
                <a:latin typeface="Symbol"/>
                <a:cs typeface="Symbol"/>
              </a:rPr>
              <a:t></a:t>
            </a:r>
            <a:endParaRPr sz="1350">
              <a:latin typeface="Symbol"/>
              <a:cs typeface="Symbol"/>
            </a:endParaRPr>
          </a:p>
          <a:p>
            <a:pPr marL="394335">
              <a:lnSpc>
                <a:spcPct val="100000"/>
              </a:lnSpc>
              <a:spcBef>
                <a:spcPts val="4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b="1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b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568960">
              <a:lnSpc>
                <a:spcPct val="100000"/>
              </a:lnSpc>
              <a:spcBef>
                <a:spcPts val="35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b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b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209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744220">
              <a:lnSpc>
                <a:spcPct val="100000"/>
              </a:lnSpc>
              <a:spcBef>
                <a:spcPts val="35"/>
              </a:spcBef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:=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J</a:t>
            </a:r>
            <a:r>
              <a:rPr sz="135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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{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Lucida Sans Unicode"/>
                <a:cs typeface="Lucida Sans Unicode"/>
              </a:rPr>
              <a:t>▷◁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R.A=S.B</a:t>
            </a:r>
            <a:r>
              <a:rPr sz="1350" i="1" spc="26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 </a:t>
            </a:r>
            <a:r>
              <a:rPr sz="1350"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35" dirty="0">
                <a:solidFill>
                  <a:srgbClr val="0000CC"/>
                </a:solidFill>
                <a:latin typeface="Times New Roman"/>
                <a:cs typeface="Times New Roman"/>
              </a:rPr>
              <a:t>}</a:t>
            </a:r>
            <a:endParaRPr sz="1350">
              <a:latin typeface="Times New Roman"/>
              <a:cs typeface="Times New Roman"/>
            </a:endParaRPr>
          </a:p>
          <a:p>
            <a:pPr marL="394335" marR="4229100" indent="173990">
              <a:lnSpc>
                <a:spcPts val="1660"/>
              </a:lnSpc>
              <a:spcBef>
                <a:spcPts val="50"/>
              </a:spcBef>
            </a:pP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350" b="1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</a:t>
            </a:r>
            <a:r>
              <a:rPr sz="1350" b="1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r>
              <a:rPr sz="1350" b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</a:t>
            </a:r>
            <a:endParaRPr sz="1350">
              <a:latin typeface="Times New Roman"/>
              <a:cs typeface="Times New Roman"/>
            </a:endParaRPr>
          </a:p>
          <a:p>
            <a:pPr marL="218440">
              <a:lnSpc>
                <a:spcPts val="1590"/>
              </a:lnSpc>
            </a:pPr>
            <a:r>
              <a:rPr sz="13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fin</a:t>
            </a:r>
            <a:endParaRPr sz="1350">
              <a:latin typeface="Times New Roman"/>
              <a:cs typeface="Times New Roman"/>
            </a:endParaRPr>
          </a:p>
          <a:p>
            <a:pPr marL="218440" marR="358140" indent="-168275">
              <a:lnSpc>
                <a:spcPct val="102200"/>
              </a:lnSpc>
              <a:spcBef>
                <a:spcPts val="825"/>
              </a:spcBef>
              <a:buChar char="•"/>
              <a:tabLst>
                <a:tab pos="2184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Fonction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20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cherche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l'aide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i="1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dont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r>
              <a:rPr sz="1350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endParaRPr sz="1350">
              <a:latin typeface="Times New Roman"/>
              <a:cs typeface="Times New Roman"/>
            </a:endParaRPr>
          </a:p>
          <a:p>
            <a:pPr marL="514984" marR="43180" indent="-165100">
              <a:lnSpc>
                <a:spcPct val="100000"/>
              </a:lnSpc>
              <a:spcBef>
                <a:spcPts val="305"/>
              </a:spcBef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1250" spc="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Généralement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retourne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liste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d'adresses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(ROWID),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utilisées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obtenir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5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9883" y="457254"/>
            <a:ext cx="5732145" cy="3857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index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Hypothèses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B+,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stockant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k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nb.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moyen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d'entrées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feuille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Font typeface="Times New Roman"/>
              <a:buChar char="–"/>
              <a:tabLst>
                <a:tab pos="5143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r>
              <a:rPr sz="1350" i="1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240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distinctes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endParaRPr sz="13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295"/>
              </a:spcBef>
              <a:buChar char="•"/>
              <a:tabLst>
                <a:tab pos="7747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1/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S.B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nombre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moyen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endParaRPr sz="1250">
              <a:latin typeface="Times New Roman"/>
              <a:cs typeface="Times New Roman"/>
            </a:endParaRPr>
          </a:p>
          <a:p>
            <a:pPr marL="217804" indent="-167640">
              <a:lnSpc>
                <a:spcPct val="100000"/>
              </a:lnSpc>
              <a:spcBef>
                <a:spcPts val="980"/>
              </a:spcBef>
              <a:buChar char="•"/>
              <a:tabLst>
                <a:tab pos="217804" algn="l"/>
                <a:tab pos="349885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650" i="1" spc="172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ère</a:t>
            </a:r>
            <a:r>
              <a:rPr sz="1350" spc="24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feuille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feuilles</a:t>
            </a:r>
            <a:endParaRPr sz="13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340"/>
              </a:spcBef>
              <a:buChar char="•"/>
              <a:tabLst>
                <a:tab pos="7747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200" baseline="24305" dirty="0">
                <a:solidFill>
                  <a:srgbClr val="0000CC"/>
                </a:solidFill>
                <a:latin typeface="Times New Roman"/>
                <a:cs typeface="Times New Roman"/>
              </a:rPr>
              <a:t>ère</a:t>
            </a:r>
            <a:r>
              <a:rPr sz="1200" spc="150" baseline="243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feuille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350" i="1" spc="20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(log(|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|))</a:t>
            </a:r>
            <a:endParaRPr sz="12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325"/>
              </a:spcBef>
              <a:buChar char="•"/>
              <a:tabLst>
                <a:tab pos="7747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feuilles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nb.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feuilles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ayant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recherchée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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k*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200" i="1" spc="142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50" dirty="0">
                <a:solidFill>
                  <a:srgbClr val="0000CC"/>
                </a:solidFill>
                <a:latin typeface="Symbol"/>
                <a:cs typeface="Symbol"/>
              </a:rPr>
              <a:t></a:t>
            </a:r>
            <a:endParaRPr sz="1250">
              <a:latin typeface="Symbol"/>
              <a:cs typeface="Symbol"/>
            </a:endParaRPr>
          </a:p>
          <a:p>
            <a:pPr marL="5143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articles: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faut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endParaRPr sz="1350">
              <a:latin typeface="Times New Roman"/>
              <a:cs typeface="Times New Roman"/>
            </a:endParaRPr>
          </a:p>
          <a:p>
            <a:pPr marL="7747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747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2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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200" i="1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200" i="1" spc="7" baseline="-20833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50" dirty="0">
                <a:solidFill>
                  <a:srgbClr val="0000CC"/>
                </a:solidFill>
                <a:latin typeface="Symbol"/>
                <a:cs typeface="Symbol"/>
              </a:rPr>
              <a:t></a:t>
            </a:r>
            <a:endParaRPr sz="1250">
              <a:latin typeface="Symbol"/>
              <a:cs typeface="Symbol"/>
            </a:endParaRPr>
          </a:p>
          <a:p>
            <a:pPr marL="349885">
              <a:lnSpc>
                <a:spcPct val="100000"/>
              </a:lnSpc>
              <a:spcBef>
                <a:spcPts val="365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179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650" i="1" spc="35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(log(|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|)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7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883" y="5797869"/>
            <a:ext cx="5504180" cy="41338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939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Analyse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coût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facteur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endParaRPr sz="1650">
              <a:latin typeface="Times New Roman"/>
              <a:cs typeface="Times New Roman"/>
            </a:endParaRPr>
          </a:p>
          <a:p>
            <a:pPr marL="514984" marR="177800" lvl="1" indent="-165100">
              <a:lnSpc>
                <a:spcPct val="101699"/>
              </a:lnSpc>
              <a:spcBef>
                <a:spcPts val="355"/>
              </a:spcBef>
              <a:buChar char="–"/>
              <a:tabLst>
                <a:tab pos="5149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unique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5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=1,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donc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facteur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négligeable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(une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de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plus)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non-unique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434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devenir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prédominant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(au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max.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|S|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!)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index: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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65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accède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total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T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i="1" spc="225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R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i="1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350" i="1" spc="172" baseline="-2160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r.A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140"/>
              </a:spcBef>
            </a:pP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Coût total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90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900" i="1" spc="15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(|R|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(log(|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|)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1 /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Symbol"/>
                <a:cs typeface="Symbol"/>
              </a:rPr>
              <a:t></a:t>
            </a:r>
            <a:r>
              <a:rPr sz="1650" i="1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S.B</a:t>
            </a:r>
            <a:r>
              <a:rPr sz="1650" i="1" spc="-7" baseline="-20202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050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Facteur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endParaRPr sz="16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380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unique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ou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très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sélectif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650" i="1" spc="40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(|R|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log(|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|)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514350" lvl="1" indent="-164465">
              <a:lnSpc>
                <a:spcPct val="100000"/>
              </a:lnSpc>
              <a:spcBef>
                <a:spcPts val="405"/>
              </a:spcBef>
              <a:buChar char="–"/>
              <a:tabLst>
                <a:tab pos="5143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Mauvaise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(ex.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p</a:t>
            </a:r>
            <a:r>
              <a:rPr sz="1350" i="1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seulement)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Candara"/>
                <a:cs typeface="Candara"/>
              </a:rPr>
              <a:t>O</a:t>
            </a:r>
            <a:r>
              <a:rPr sz="1650" i="1" spc="40" dirty="0">
                <a:solidFill>
                  <a:srgbClr val="0000CC"/>
                </a:solidFill>
                <a:latin typeface="Candara"/>
                <a:cs typeface="Candara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(|R|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×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|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/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p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218440" indent="-167640">
              <a:lnSpc>
                <a:spcPct val="100000"/>
              </a:lnSpc>
              <a:spcBef>
                <a:spcPts val="1025"/>
              </a:spcBef>
              <a:buChar char="•"/>
              <a:tabLst>
                <a:tab pos="2184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Conclusion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efficace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seulement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très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sélectif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4" y="457254"/>
            <a:ext cx="5632450" cy="2835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Statistiques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Importance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statistiques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taille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relations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permet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choisir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350">
              <a:latin typeface="Times New Roman"/>
              <a:cs typeface="Times New Roman"/>
            </a:endParaRPr>
          </a:p>
          <a:p>
            <a:pPr marL="476884" marR="5080" lvl="1" indent="-165100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sélectivité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attributs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permet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juger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l'opportunité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l'utilisation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d'un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etc.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Module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d'acquisition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statistiques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base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possibilité: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déclenchement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périodique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variante: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estimation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temps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réel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échantillonnage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558155" cy="3004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048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Algèbre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physique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vers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algébrique</a:t>
            </a:r>
            <a:endParaRPr sz="1350">
              <a:latin typeface="Times New Roman"/>
              <a:cs typeface="Times New Roman"/>
            </a:endParaRPr>
          </a:p>
          <a:p>
            <a:pPr marL="180340" marR="5080" indent="-168275">
              <a:lnSpc>
                <a:spcPct val="100000"/>
              </a:lnSpc>
              <a:spcBef>
                <a:spcPts val="994"/>
              </a:spcBef>
            </a:pP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On 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besoin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"plus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fine"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exprime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chemins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intermédiaires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39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8941" y="457254"/>
            <a:ext cx="3507740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Opérateurs</a:t>
            </a:r>
            <a:r>
              <a:rPr sz="1900" b="1" spc="7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l'algèbre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physique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57623" y="1765429"/>
            <a:ext cx="2827020" cy="1343025"/>
          </a:xfrm>
          <a:custGeom>
            <a:avLst/>
            <a:gdLst/>
            <a:ahLst/>
            <a:cxnLst/>
            <a:rect l="l" t="t" r="r" b="b"/>
            <a:pathLst>
              <a:path w="2827020" h="1343025">
                <a:moveTo>
                  <a:pt x="918609" y="141317"/>
                </a:moveTo>
                <a:lnTo>
                  <a:pt x="896993" y="185983"/>
                </a:lnTo>
                <a:lnTo>
                  <a:pt x="836803" y="224776"/>
                </a:lnTo>
                <a:lnTo>
                  <a:pt x="794425" y="241242"/>
                </a:lnTo>
                <a:lnTo>
                  <a:pt x="745023" y="255368"/>
                </a:lnTo>
                <a:lnTo>
                  <a:pt x="689471" y="266861"/>
                </a:lnTo>
                <a:lnTo>
                  <a:pt x="628640" y="275430"/>
                </a:lnTo>
                <a:lnTo>
                  <a:pt x="563405" y="280785"/>
                </a:lnTo>
                <a:lnTo>
                  <a:pt x="494639" y="282635"/>
                </a:lnTo>
                <a:lnTo>
                  <a:pt x="425865" y="280785"/>
                </a:lnTo>
                <a:lnTo>
                  <a:pt x="360624" y="275430"/>
                </a:lnTo>
                <a:lnTo>
                  <a:pt x="299790" y="266861"/>
                </a:lnTo>
                <a:lnTo>
                  <a:pt x="244236" y="255368"/>
                </a:lnTo>
                <a:lnTo>
                  <a:pt x="194833" y="241242"/>
                </a:lnTo>
                <a:lnTo>
                  <a:pt x="152456" y="224776"/>
                </a:lnTo>
                <a:lnTo>
                  <a:pt x="117977" y="206259"/>
                </a:lnTo>
                <a:lnTo>
                  <a:pt x="76203" y="164239"/>
                </a:lnTo>
                <a:lnTo>
                  <a:pt x="70654" y="141317"/>
                </a:lnTo>
                <a:lnTo>
                  <a:pt x="76203" y="118392"/>
                </a:lnTo>
                <a:lnTo>
                  <a:pt x="117977" y="76369"/>
                </a:lnTo>
                <a:lnTo>
                  <a:pt x="152456" y="57852"/>
                </a:lnTo>
                <a:lnTo>
                  <a:pt x="194833" y="41387"/>
                </a:lnTo>
                <a:lnTo>
                  <a:pt x="244236" y="27263"/>
                </a:lnTo>
                <a:lnTo>
                  <a:pt x="299790" y="15771"/>
                </a:lnTo>
                <a:lnTo>
                  <a:pt x="360624" y="7203"/>
                </a:lnTo>
                <a:lnTo>
                  <a:pt x="425865" y="1849"/>
                </a:lnTo>
                <a:lnTo>
                  <a:pt x="494639" y="0"/>
                </a:lnTo>
                <a:lnTo>
                  <a:pt x="563405" y="1849"/>
                </a:lnTo>
                <a:lnTo>
                  <a:pt x="628640" y="7203"/>
                </a:lnTo>
                <a:lnTo>
                  <a:pt x="689471" y="15771"/>
                </a:lnTo>
                <a:lnTo>
                  <a:pt x="745023" y="27263"/>
                </a:lnTo>
                <a:lnTo>
                  <a:pt x="794425" y="41387"/>
                </a:lnTo>
                <a:lnTo>
                  <a:pt x="836803" y="57852"/>
                </a:lnTo>
                <a:lnTo>
                  <a:pt x="871283" y="76369"/>
                </a:lnTo>
                <a:lnTo>
                  <a:pt x="913059" y="118392"/>
                </a:lnTo>
                <a:lnTo>
                  <a:pt x="918609" y="141317"/>
                </a:lnTo>
                <a:close/>
              </a:path>
              <a:path w="2827020" h="1343025">
                <a:moveTo>
                  <a:pt x="847940" y="1201209"/>
                </a:moveTo>
                <a:lnTo>
                  <a:pt x="826325" y="1245874"/>
                </a:lnTo>
                <a:lnTo>
                  <a:pt x="766138" y="1284667"/>
                </a:lnTo>
                <a:lnTo>
                  <a:pt x="723762" y="1301134"/>
                </a:lnTo>
                <a:lnTo>
                  <a:pt x="674361" y="1315259"/>
                </a:lnTo>
                <a:lnTo>
                  <a:pt x="618808" y="1326752"/>
                </a:lnTo>
                <a:lnTo>
                  <a:pt x="557977" y="1335322"/>
                </a:lnTo>
                <a:lnTo>
                  <a:pt x="492740" y="1340677"/>
                </a:lnTo>
                <a:lnTo>
                  <a:pt x="423970" y="1342527"/>
                </a:lnTo>
                <a:lnTo>
                  <a:pt x="355199" y="1340677"/>
                </a:lnTo>
                <a:lnTo>
                  <a:pt x="289962" y="1335322"/>
                </a:lnTo>
                <a:lnTo>
                  <a:pt x="229131" y="1326752"/>
                </a:lnTo>
                <a:lnTo>
                  <a:pt x="173578" y="1315259"/>
                </a:lnTo>
                <a:lnTo>
                  <a:pt x="124177" y="1301134"/>
                </a:lnTo>
                <a:lnTo>
                  <a:pt x="81801" y="1284667"/>
                </a:lnTo>
                <a:lnTo>
                  <a:pt x="47322" y="1266150"/>
                </a:lnTo>
                <a:lnTo>
                  <a:pt x="5549" y="1224130"/>
                </a:lnTo>
                <a:lnTo>
                  <a:pt x="0" y="1201209"/>
                </a:lnTo>
                <a:lnTo>
                  <a:pt x="5549" y="1178287"/>
                </a:lnTo>
                <a:lnTo>
                  <a:pt x="47322" y="1136267"/>
                </a:lnTo>
                <a:lnTo>
                  <a:pt x="81801" y="1117750"/>
                </a:lnTo>
                <a:lnTo>
                  <a:pt x="124177" y="1101284"/>
                </a:lnTo>
                <a:lnTo>
                  <a:pt x="173578" y="1087158"/>
                </a:lnTo>
                <a:lnTo>
                  <a:pt x="229131" y="1075665"/>
                </a:lnTo>
                <a:lnTo>
                  <a:pt x="289962" y="1067096"/>
                </a:lnTo>
                <a:lnTo>
                  <a:pt x="355199" y="1061741"/>
                </a:lnTo>
                <a:lnTo>
                  <a:pt x="423970" y="1059891"/>
                </a:lnTo>
                <a:lnTo>
                  <a:pt x="492740" y="1061741"/>
                </a:lnTo>
                <a:lnTo>
                  <a:pt x="557977" y="1067096"/>
                </a:lnTo>
                <a:lnTo>
                  <a:pt x="618808" y="1075665"/>
                </a:lnTo>
                <a:lnTo>
                  <a:pt x="674361" y="1087158"/>
                </a:lnTo>
                <a:lnTo>
                  <a:pt x="723762" y="1101284"/>
                </a:lnTo>
                <a:lnTo>
                  <a:pt x="766138" y="1117750"/>
                </a:lnTo>
                <a:lnTo>
                  <a:pt x="800617" y="1136267"/>
                </a:lnTo>
                <a:lnTo>
                  <a:pt x="842390" y="1178287"/>
                </a:lnTo>
                <a:lnTo>
                  <a:pt x="847940" y="1201209"/>
                </a:lnTo>
                <a:close/>
              </a:path>
              <a:path w="2827020" h="1343025">
                <a:moveTo>
                  <a:pt x="2826497" y="141317"/>
                </a:moveTo>
                <a:lnTo>
                  <a:pt x="2804881" y="185983"/>
                </a:lnTo>
                <a:lnTo>
                  <a:pt x="2744690" y="224776"/>
                </a:lnTo>
                <a:lnTo>
                  <a:pt x="2702311" y="241242"/>
                </a:lnTo>
                <a:lnTo>
                  <a:pt x="2652908" y="255368"/>
                </a:lnTo>
                <a:lnTo>
                  <a:pt x="2597353" y="266861"/>
                </a:lnTo>
                <a:lnTo>
                  <a:pt x="2536520" y="275430"/>
                </a:lnTo>
                <a:lnTo>
                  <a:pt x="2471282" y="280785"/>
                </a:lnTo>
                <a:lnTo>
                  <a:pt x="2402512" y="282635"/>
                </a:lnTo>
                <a:lnTo>
                  <a:pt x="2333741" y="280785"/>
                </a:lnTo>
                <a:lnTo>
                  <a:pt x="2268504" y="275430"/>
                </a:lnTo>
                <a:lnTo>
                  <a:pt x="2207673" y="266861"/>
                </a:lnTo>
                <a:lnTo>
                  <a:pt x="2152120" y="255368"/>
                </a:lnTo>
                <a:lnTo>
                  <a:pt x="2102720" y="241242"/>
                </a:lnTo>
                <a:lnTo>
                  <a:pt x="2060343" y="224776"/>
                </a:lnTo>
                <a:lnTo>
                  <a:pt x="2025864" y="206259"/>
                </a:lnTo>
                <a:lnTo>
                  <a:pt x="1984091" y="164239"/>
                </a:lnTo>
                <a:lnTo>
                  <a:pt x="1978542" y="141317"/>
                </a:lnTo>
                <a:lnTo>
                  <a:pt x="1984091" y="118392"/>
                </a:lnTo>
                <a:lnTo>
                  <a:pt x="2025864" y="76369"/>
                </a:lnTo>
                <a:lnTo>
                  <a:pt x="2060343" y="57852"/>
                </a:lnTo>
                <a:lnTo>
                  <a:pt x="2102720" y="41387"/>
                </a:lnTo>
                <a:lnTo>
                  <a:pt x="2152120" y="27263"/>
                </a:lnTo>
                <a:lnTo>
                  <a:pt x="2207673" y="15771"/>
                </a:lnTo>
                <a:lnTo>
                  <a:pt x="2268504" y="7203"/>
                </a:lnTo>
                <a:lnTo>
                  <a:pt x="2333741" y="1849"/>
                </a:lnTo>
                <a:lnTo>
                  <a:pt x="2402512" y="0"/>
                </a:lnTo>
                <a:lnTo>
                  <a:pt x="2471282" y="1849"/>
                </a:lnTo>
                <a:lnTo>
                  <a:pt x="2536520" y="7203"/>
                </a:lnTo>
                <a:lnTo>
                  <a:pt x="2597353" y="15771"/>
                </a:lnTo>
                <a:lnTo>
                  <a:pt x="2652908" y="27263"/>
                </a:lnTo>
                <a:lnTo>
                  <a:pt x="2702311" y="41387"/>
                </a:lnTo>
                <a:lnTo>
                  <a:pt x="2744690" y="57852"/>
                </a:lnTo>
                <a:lnTo>
                  <a:pt x="2779171" y="76369"/>
                </a:lnTo>
                <a:lnTo>
                  <a:pt x="2820947" y="118392"/>
                </a:lnTo>
                <a:lnTo>
                  <a:pt x="2826497" y="141317"/>
                </a:lnTo>
                <a:close/>
              </a:path>
            </a:pathLst>
          </a:custGeom>
          <a:ln w="7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06108" y="1823387"/>
            <a:ext cx="33210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10" dirty="0">
                <a:latin typeface="Times New Roman"/>
                <a:cs typeface="Times New Roman"/>
              </a:rPr>
              <a:t>Filtre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36165" y="2825320"/>
            <a:ext cx="848360" cy="1201420"/>
          </a:xfrm>
          <a:custGeom>
            <a:avLst/>
            <a:gdLst/>
            <a:ahLst/>
            <a:cxnLst/>
            <a:rect l="l" t="t" r="r" b="b"/>
            <a:pathLst>
              <a:path w="848360" h="1201420">
                <a:moveTo>
                  <a:pt x="847955" y="141317"/>
                </a:moveTo>
                <a:lnTo>
                  <a:pt x="826339" y="185983"/>
                </a:lnTo>
                <a:lnTo>
                  <a:pt x="766148" y="224776"/>
                </a:lnTo>
                <a:lnTo>
                  <a:pt x="723769" y="241242"/>
                </a:lnTo>
                <a:lnTo>
                  <a:pt x="674366" y="255368"/>
                </a:lnTo>
                <a:lnTo>
                  <a:pt x="618811" y="266861"/>
                </a:lnTo>
                <a:lnTo>
                  <a:pt x="557978" y="275430"/>
                </a:lnTo>
                <a:lnTo>
                  <a:pt x="492740" y="280785"/>
                </a:lnTo>
                <a:lnTo>
                  <a:pt x="423970" y="282635"/>
                </a:lnTo>
                <a:lnTo>
                  <a:pt x="355199" y="280785"/>
                </a:lnTo>
                <a:lnTo>
                  <a:pt x="289962" y="275430"/>
                </a:lnTo>
                <a:lnTo>
                  <a:pt x="229131" y="266861"/>
                </a:lnTo>
                <a:lnTo>
                  <a:pt x="173578" y="255368"/>
                </a:lnTo>
                <a:lnTo>
                  <a:pt x="124177" y="241242"/>
                </a:lnTo>
                <a:lnTo>
                  <a:pt x="81801" y="224776"/>
                </a:lnTo>
                <a:lnTo>
                  <a:pt x="47322" y="206259"/>
                </a:lnTo>
                <a:lnTo>
                  <a:pt x="5549" y="164239"/>
                </a:lnTo>
                <a:lnTo>
                  <a:pt x="0" y="141317"/>
                </a:lnTo>
                <a:lnTo>
                  <a:pt x="5549" y="118396"/>
                </a:lnTo>
                <a:lnTo>
                  <a:pt x="47322" y="76376"/>
                </a:lnTo>
                <a:lnTo>
                  <a:pt x="81801" y="57859"/>
                </a:lnTo>
                <a:lnTo>
                  <a:pt x="124177" y="41392"/>
                </a:lnTo>
                <a:lnTo>
                  <a:pt x="173578" y="27267"/>
                </a:lnTo>
                <a:lnTo>
                  <a:pt x="229131" y="15774"/>
                </a:lnTo>
                <a:lnTo>
                  <a:pt x="289962" y="7204"/>
                </a:lnTo>
                <a:lnTo>
                  <a:pt x="355199" y="1849"/>
                </a:lnTo>
                <a:lnTo>
                  <a:pt x="423970" y="0"/>
                </a:lnTo>
                <a:lnTo>
                  <a:pt x="492740" y="1849"/>
                </a:lnTo>
                <a:lnTo>
                  <a:pt x="557978" y="7204"/>
                </a:lnTo>
                <a:lnTo>
                  <a:pt x="618811" y="15774"/>
                </a:lnTo>
                <a:lnTo>
                  <a:pt x="674366" y="27267"/>
                </a:lnTo>
                <a:lnTo>
                  <a:pt x="723769" y="41392"/>
                </a:lnTo>
                <a:lnTo>
                  <a:pt x="766148" y="57859"/>
                </a:lnTo>
                <a:lnTo>
                  <a:pt x="800629" y="76376"/>
                </a:lnTo>
                <a:lnTo>
                  <a:pt x="842405" y="118396"/>
                </a:lnTo>
                <a:lnTo>
                  <a:pt x="847955" y="141317"/>
                </a:lnTo>
                <a:close/>
              </a:path>
              <a:path w="848360" h="1201420">
                <a:moveTo>
                  <a:pt x="847955" y="1059891"/>
                </a:moveTo>
                <a:lnTo>
                  <a:pt x="826339" y="1104556"/>
                </a:lnTo>
                <a:lnTo>
                  <a:pt x="766148" y="1143349"/>
                </a:lnTo>
                <a:lnTo>
                  <a:pt x="723769" y="1159816"/>
                </a:lnTo>
                <a:lnTo>
                  <a:pt x="674366" y="1173941"/>
                </a:lnTo>
                <a:lnTo>
                  <a:pt x="618811" y="1185434"/>
                </a:lnTo>
                <a:lnTo>
                  <a:pt x="557978" y="1194004"/>
                </a:lnTo>
                <a:lnTo>
                  <a:pt x="492740" y="1199359"/>
                </a:lnTo>
                <a:lnTo>
                  <a:pt x="423970" y="1201209"/>
                </a:lnTo>
                <a:lnTo>
                  <a:pt x="355199" y="1199359"/>
                </a:lnTo>
                <a:lnTo>
                  <a:pt x="289962" y="1194004"/>
                </a:lnTo>
                <a:lnTo>
                  <a:pt x="229131" y="1185434"/>
                </a:lnTo>
                <a:lnTo>
                  <a:pt x="173578" y="1173941"/>
                </a:lnTo>
                <a:lnTo>
                  <a:pt x="124177" y="1159816"/>
                </a:lnTo>
                <a:lnTo>
                  <a:pt x="81801" y="1143349"/>
                </a:lnTo>
                <a:lnTo>
                  <a:pt x="47322" y="1124832"/>
                </a:lnTo>
                <a:lnTo>
                  <a:pt x="5549" y="1082812"/>
                </a:lnTo>
                <a:lnTo>
                  <a:pt x="0" y="1059891"/>
                </a:lnTo>
                <a:lnTo>
                  <a:pt x="5549" y="1036970"/>
                </a:lnTo>
                <a:lnTo>
                  <a:pt x="47322" y="994949"/>
                </a:lnTo>
                <a:lnTo>
                  <a:pt x="81801" y="976433"/>
                </a:lnTo>
                <a:lnTo>
                  <a:pt x="124177" y="959966"/>
                </a:lnTo>
                <a:lnTo>
                  <a:pt x="173578" y="945841"/>
                </a:lnTo>
                <a:lnTo>
                  <a:pt x="229131" y="934348"/>
                </a:lnTo>
                <a:lnTo>
                  <a:pt x="289962" y="925778"/>
                </a:lnTo>
                <a:lnTo>
                  <a:pt x="355199" y="920423"/>
                </a:lnTo>
                <a:lnTo>
                  <a:pt x="423970" y="918573"/>
                </a:lnTo>
                <a:lnTo>
                  <a:pt x="492740" y="920423"/>
                </a:lnTo>
                <a:lnTo>
                  <a:pt x="557978" y="925778"/>
                </a:lnTo>
                <a:lnTo>
                  <a:pt x="618811" y="934348"/>
                </a:lnTo>
                <a:lnTo>
                  <a:pt x="674366" y="945841"/>
                </a:lnTo>
                <a:lnTo>
                  <a:pt x="723769" y="959966"/>
                </a:lnTo>
                <a:lnTo>
                  <a:pt x="766148" y="976433"/>
                </a:lnTo>
                <a:lnTo>
                  <a:pt x="800629" y="994949"/>
                </a:lnTo>
                <a:lnTo>
                  <a:pt x="842405" y="1036970"/>
                </a:lnTo>
                <a:lnTo>
                  <a:pt x="847955" y="1059891"/>
                </a:lnTo>
                <a:close/>
              </a:path>
            </a:pathLst>
          </a:custGeom>
          <a:ln w="70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64782" y="3801855"/>
            <a:ext cx="60642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10" dirty="0">
                <a:latin typeface="Times New Roman"/>
                <a:cs typeface="Times New Roman"/>
              </a:rPr>
              <a:t>Projection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86954" y="3743893"/>
            <a:ext cx="848360" cy="283210"/>
          </a:xfrm>
          <a:custGeom>
            <a:avLst/>
            <a:gdLst/>
            <a:ahLst/>
            <a:cxnLst/>
            <a:rect l="l" t="t" r="r" b="b"/>
            <a:pathLst>
              <a:path w="848360" h="283210">
                <a:moveTo>
                  <a:pt x="847955" y="141317"/>
                </a:moveTo>
                <a:lnTo>
                  <a:pt x="826340" y="185983"/>
                </a:lnTo>
                <a:lnTo>
                  <a:pt x="766152" y="224776"/>
                </a:lnTo>
                <a:lnTo>
                  <a:pt x="723775" y="241242"/>
                </a:lnTo>
                <a:lnTo>
                  <a:pt x="674373" y="255368"/>
                </a:lnTo>
                <a:lnTo>
                  <a:pt x="618818" y="266861"/>
                </a:lnTo>
                <a:lnTo>
                  <a:pt x="557984" y="275430"/>
                </a:lnTo>
                <a:lnTo>
                  <a:pt x="492744" y="280785"/>
                </a:lnTo>
                <a:lnTo>
                  <a:pt x="423970" y="282635"/>
                </a:lnTo>
                <a:lnTo>
                  <a:pt x="355199" y="280785"/>
                </a:lnTo>
                <a:lnTo>
                  <a:pt x="289962" y="275430"/>
                </a:lnTo>
                <a:lnTo>
                  <a:pt x="229131" y="266861"/>
                </a:lnTo>
                <a:lnTo>
                  <a:pt x="173578" y="255368"/>
                </a:lnTo>
                <a:lnTo>
                  <a:pt x="124177" y="241242"/>
                </a:lnTo>
                <a:lnTo>
                  <a:pt x="81801" y="224776"/>
                </a:lnTo>
                <a:lnTo>
                  <a:pt x="47322" y="206259"/>
                </a:lnTo>
                <a:lnTo>
                  <a:pt x="5549" y="164239"/>
                </a:lnTo>
                <a:lnTo>
                  <a:pt x="0" y="141317"/>
                </a:lnTo>
                <a:lnTo>
                  <a:pt x="5549" y="118396"/>
                </a:lnTo>
                <a:lnTo>
                  <a:pt x="47322" y="76376"/>
                </a:lnTo>
                <a:lnTo>
                  <a:pt x="81801" y="57859"/>
                </a:lnTo>
                <a:lnTo>
                  <a:pt x="124177" y="41392"/>
                </a:lnTo>
                <a:lnTo>
                  <a:pt x="173578" y="27267"/>
                </a:lnTo>
                <a:lnTo>
                  <a:pt x="229131" y="15774"/>
                </a:lnTo>
                <a:lnTo>
                  <a:pt x="289962" y="7204"/>
                </a:lnTo>
                <a:lnTo>
                  <a:pt x="355199" y="1849"/>
                </a:lnTo>
                <a:lnTo>
                  <a:pt x="423970" y="0"/>
                </a:lnTo>
                <a:lnTo>
                  <a:pt x="492744" y="1849"/>
                </a:lnTo>
                <a:lnTo>
                  <a:pt x="557984" y="7204"/>
                </a:lnTo>
                <a:lnTo>
                  <a:pt x="618818" y="15774"/>
                </a:lnTo>
                <a:lnTo>
                  <a:pt x="674373" y="27267"/>
                </a:lnTo>
                <a:lnTo>
                  <a:pt x="723775" y="41392"/>
                </a:lnTo>
                <a:lnTo>
                  <a:pt x="766152" y="57859"/>
                </a:lnTo>
                <a:lnTo>
                  <a:pt x="800632" y="76376"/>
                </a:lnTo>
                <a:lnTo>
                  <a:pt x="842406" y="118396"/>
                </a:lnTo>
                <a:lnTo>
                  <a:pt x="847955" y="141317"/>
                </a:lnTo>
                <a:close/>
              </a:path>
            </a:pathLst>
          </a:custGeom>
          <a:ln w="70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86238" y="3801855"/>
            <a:ext cx="41084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spc="-10" dirty="0">
                <a:latin typeface="Times New Roman"/>
                <a:cs typeface="Times New Roman"/>
              </a:rPr>
              <a:t>Fusion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82136" y="2162558"/>
            <a:ext cx="1285875" cy="393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95"/>
              </a:spcBef>
            </a:pPr>
            <a:r>
              <a:rPr sz="1100" i="1" dirty="0">
                <a:latin typeface="Times New Roman"/>
                <a:cs typeface="Times New Roman"/>
              </a:rPr>
              <a:t>Filtre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d’un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ensemble </a:t>
            </a:r>
            <a:r>
              <a:rPr sz="1100" i="1" dirty="0">
                <a:latin typeface="Times New Roman"/>
                <a:cs typeface="Times New Roman"/>
              </a:rPr>
              <a:t>en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fonction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d’un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autre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3588" y="2247344"/>
            <a:ext cx="146621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Selection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selon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un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critere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4251" y="2883290"/>
            <a:ext cx="1050290" cy="478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37795" algn="ctr">
              <a:lnSpc>
                <a:spcPct val="100000"/>
              </a:lnSpc>
              <a:spcBef>
                <a:spcPts val="110"/>
              </a:spcBef>
            </a:pPr>
            <a:r>
              <a:rPr sz="1100" spc="-25" dirty="0">
                <a:latin typeface="Times New Roman"/>
                <a:cs typeface="Times New Roman"/>
              </a:rPr>
              <a:t>Tri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00" i="1" dirty="0">
                <a:latin typeface="Times New Roman"/>
                <a:cs typeface="Times New Roman"/>
              </a:rPr>
              <a:t>Tri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sur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un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attribut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0806" y="2883290"/>
            <a:ext cx="1419225" cy="478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6245">
              <a:lnSpc>
                <a:spcPct val="100000"/>
              </a:lnSpc>
              <a:spcBef>
                <a:spcPts val="110"/>
              </a:spcBef>
            </a:pPr>
            <a:r>
              <a:rPr sz="1100" spc="-10" dirty="0">
                <a:latin typeface="Times New Roman"/>
                <a:cs typeface="Times New Roman"/>
              </a:rPr>
              <a:t>Jointure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100" i="1" dirty="0">
                <a:latin typeface="Times New Roman"/>
                <a:cs typeface="Times New Roman"/>
              </a:rPr>
              <a:t>Jointure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selon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un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critere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2266" y="4155155"/>
            <a:ext cx="1791970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Fusion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deux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ensembles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tries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11345" y="4155155"/>
            <a:ext cx="1576070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Projection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sur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des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attributs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2261" y="2699566"/>
            <a:ext cx="50292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Attribut(s)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74246" y="1601233"/>
            <a:ext cx="834390" cy="4171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900" spc="-10" dirty="0">
                <a:latin typeface="Times New Roman"/>
                <a:cs typeface="Times New Roman"/>
              </a:rPr>
              <a:t>Critere</a:t>
            </a:r>
            <a:endParaRPr sz="900">
              <a:latin typeface="Times New Roman"/>
              <a:cs typeface="Times New Roman"/>
            </a:endParaRPr>
          </a:p>
          <a:p>
            <a:pPr marL="295275">
              <a:lnSpc>
                <a:spcPct val="100000"/>
              </a:lnSpc>
              <a:spcBef>
                <a:spcPts val="390"/>
              </a:spcBef>
            </a:pPr>
            <a:r>
              <a:rPr sz="1100" spc="-10" dirty="0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2060" y="1639672"/>
            <a:ext cx="33972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Critere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1476" y="2699566"/>
            <a:ext cx="33972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Critere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03581" y="3547480"/>
            <a:ext cx="33972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Critere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1395" y="3547480"/>
            <a:ext cx="50292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Attribut(s)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0877" y="1328773"/>
            <a:ext cx="1647189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OPERATIONS </a:t>
            </a:r>
            <a:r>
              <a:rPr sz="1100" i="1" spc="-10" dirty="0">
                <a:latin typeface="Times New Roman"/>
                <a:cs typeface="Times New Roman"/>
              </a:rPr>
              <a:t>PHYSIQUES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95705" y="2247351"/>
            <a:ext cx="116014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Parcours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sequentiel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6369" y="3165923"/>
            <a:ext cx="1054100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Acces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par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adresse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7033" y="4155160"/>
            <a:ext cx="1010919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Parcours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d’index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66369" y="1328777"/>
            <a:ext cx="1254125" cy="195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00" i="1" dirty="0">
                <a:latin typeface="Times New Roman"/>
                <a:cs typeface="Times New Roman"/>
              </a:rPr>
              <a:t>CHEMINS </a:t>
            </a:r>
            <a:r>
              <a:rPr sz="1100" i="1" spc="-10" dirty="0">
                <a:latin typeface="Times New Roman"/>
                <a:cs typeface="Times New Roman"/>
              </a:rPr>
              <a:t>D’ACCES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1718" y="2825320"/>
            <a:ext cx="565785" cy="283210"/>
          </a:xfrm>
          <a:prstGeom prst="rect">
            <a:avLst/>
          </a:prstGeom>
          <a:ln w="7066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570"/>
              </a:spcBef>
            </a:pPr>
            <a:r>
              <a:rPr sz="1100" spc="-1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2382" y="3743893"/>
            <a:ext cx="565785" cy="283210"/>
          </a:xfrm>
          <a:prstGeom prst="rect">
            <a:avLst/>
          </a:prstGeom>
          <a:ln w="7066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570"/>
              </a:spcBef>
            </a:pPr>
            <a:r>
              <a:rPr sz="1100" spc="-10" dirty="0">
                <a:latin typeface="Times New Roman"/>
                <a:cs typeface="Times New Roman"/>
              </a:rPr>
              <a:t>INDEX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6370" y="3547480"/>
            <a:ext cx="50292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Attribut(s)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5706" y="1639674"/>
            <a:ext cx="50292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Sequentiel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61718" y="1836080"/>
            <a:ext cx="565785" cy="283210"/>
          </a:xfrm>
          <a:prstGeom prst="rect">
            <a:avLst/>
          </a:prstGeom>
          <a:ln w="7066">
            <a:solidFill>
              <a:srgbClr val="000000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70485">
              <a:lnSpc>
                <a:spcPct val="100000"/>
              </a:lnSpc>
              <a:spcBef>
                <a:spcPts val="570"/>
              </a:spcBef>
            </a:pPr>
            <a:r>
              <a:rPr sz="1100" spc="-10" dirty="0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6370" y="2628916"/>
            <a:ext cx="389890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spc="-10" dirty="0">
                <a:latin typeface="Times New Roman"/>
                <a:cs typeface="Times New Roman"/>
              </a:rPr>
              <a:t>Adresse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35" name="object 35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87988" y="5797869"/>
            <a:ext cx="4827270" cy="2665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3954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physique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Requête: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quels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films passent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Multiplex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heures?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Séance.film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Cinéma,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1350">
              <a:latin typeface="Times New Roman"/>
              <a:cs typeface="Times New Roman"/>
            </a:endParaRPr>
          </a:p>
          <a:p>
            <a:pPr marL="1123950" marR="1410335" indent="-647065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Cinéma.nom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Séance.heure-début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endParaRPr sz="1350">
              <a:latin typeface="Times New Roman"/>
              <a:cs typeface="Times New Roman"/>
            </a:endParaRPr>
          </a:p>
          <a:p>
            <a:pPr marL="1123950" marR="606425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Cinéma.ID-cinéma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Salle.ID-cinéma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Salle.ID-salle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Séance.ID-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logique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14204" y="9846070"/>
            <a:ext cx="42481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07922" y="9846070"/>
            <a:ext cx="28003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20672" y="9846070"/>
            <a:ext cx="38862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470618" y="8707399"/>
            <a:ext cx="831215" cy="553085"/>
          </a:xfrm>
          <a:custGeom>
            <a:avLst/>
            <a:gdLst/>
            <a:ahLst/>
            <a:cxnLst/>
            <a:rect l="l" t="t" r="r" b="b"/>
            <a:pathLst>
              <a:path w="831214" h="553084">
                <a:moveTo>
                  <a:pt x="255511" y="399567"/>
                </a:moveTo>
                <a:lnTo>
                  <a:pt x="253403" y="397459"/>
                </a:lnTo>
                <a:lnTo>
                  <a:pt x="253403" y="546773"/>
                </a:lnTo>
                <a:lnTo>
                  <a:pt x="248145" y="543610"/>
                </a:lnTo>
                <a:lnTo>
                  <a:pt x="134150" y="475018"/>
                </a:lnTo>
                <a:lnTo>
                  <a:pt x="248145" y="406920"/>
                </a:lnTo>
                <a:lnTo>
                  <a:pt x="248170" y="543623"/>
                </a:lnTo>
                <a:lnTo>
                  <a:pt x="253403" y="546773"/>
                </a:lnTo>
                <a:lnTo>
                  <a:pt x="253403" y="397459"/>
                </a:lnTo>
                <a:lnTo>
                  <a:pt x="250253" y="397459"/>
                </a:lnTo>
                <a:lnTo>
                  <a:pt x="127495" y="471017"/>
                </a:lnTo>
                <a:lnTo>
                  <a:pt x="120802" y="466991"/>
                </a:lnTo>
                <a:lnTo>
                  <a:pt x="120802" y="475018"/>
                </a:lnTo>
                <a:lnTo>
                  <a:pt x="6324" y="543610"/>
                </a:lnTo>
                <a:lnTo>
                  <a:pt x="6311" y="406908"/>
                </a:lnTo>
                <a:lnTo>
                  <a:pt x="120802" y="475018"/>
                </a:lnTo>
                <a:lnTo>
                  <a:pt x="120802" y="466991"/>
                </a:lnTo>
                <a:lnTo>
                  <a:pt x="10502" y="400621"/>
                </a:lnTo>
                <a:lnTo>
                  <a:pt x="5257" y="397459"/>
                </a:lnTo>
                <a:lnTo>
                  <a:pt x="1054" y="397459"/>
                </a:lnTo>
                <a:lnTo>
                  <a:pt x="0" y="398513"/>
                </a:lnTo>
                <a:lnTo>
                  <a:pt x="0" y="552030"/>
                </a:lnTo>
                <a:lnTo>
                  <a:pt x="1054" y="552030"/>
                </a:lnTo>
                <a:lnTo>
                  <a:pt x="2095" y="553085"/>
                </a:lnTo>
                <a:lnTo>
                  <a:pt x="4203" y="553085"/>
                </a:lnTo>
                <a:lnTo>
                  <a:pt x="5257" y="552030"/>
                </a:lnTo>
                <a:lnTo>
                  <a:pt x="8775" y="549922"/>
                </a:lnTo>
                <a:lnTo>
                  <a:pt x="127495" y="478993"/>
                </a:lnTo>
                <a:lnTo>
                  <a:pt x="250253" y="552030"/>
                </a:lnTo>
                <a:lnTo>
                  <a:pt x="251307" y="553085"/>
                </a:lnTo>
                <a:lnTo>
                  <a:pt x="252361" y="553085"/>
                </a:lnTo>
                <a:lnTo>
                  <a:pt x="253403" y="552030"/>
                </a:lnTo>
                <a:lnTo>
                  <a:pt x="254457" y="552030"/>
                </a:lnTo>
                <a:lnTo>
                  <a:pt x="255511" y="550976"/>
                </a:lnTo>
                <a:lnTo>
                  <a:pt x="255511" y="549922"/>
                </a:lnTo>
                <a:lnTo>
                  <a:pt x="255511" y="400621"/>
                </a:lnTo>
                <a:lnTo>
                  <a:pt x="255511" y="399567"/>
                </a:lnTo>
                <a:close/>
              </a:path>
              <a:path w="831214" h="553084">
                <a:moveTo>
                  <a:pt x="830681" y="1054"/>
                </a:moveTo>
                <a:lnTo>
                  <a:pt x="829614" y="0"/>
                </a:lnTo>
                <a:lnTo>
                  <a:pt x="826465" y="0"/>
                </a:lnTo>
                <a:lnTo>
                  <a:pt x="824357" y="1270"/>
                </a:lnTo>
                <a:lnTo>
                  <a:pt x="824357" y="3162"/>
                </a:lnTo>
                <a:lnTo>
                  <a:pt x="824357" y="9448"/>
                </a:lnTo>
                <a:lnTo>
                  <a:pt x="824357" y="146164"/>
                </a:lnTo>
                <a:lnTo>
                  <a:pt x="824357" y="152463"/>
                </a:lnTo>
                <a:lnTo>
                  <a:pt x="824344" y="146151"/>
                </a:lnTo>
                <a:lnTo>
                  <a:pt x="709853" y="77558"/>
                </a:lnTo>
                <a:lnTo>
                  <a:pt x="824344" y="9448"/>
                </a:lnTo>
                <a:lnTo>
                  <a:pt x="824357" y="3162"/>
                </a:lnTo>
                <a:lnTo>
                  <a:pt x="824357" y="1270"/>
                </a:lnTo>
                <a:lnTo>
                  <a:pt x="703440" y="73710"/>
                </a:lnTo>
                <a:lnTo>
                  <a:pt x="697014" y="69862"/>
                </a:lnTo>
                <a:lnTo>
                  <a:pt x="697014" y="77558"/>
                </a:lnTo>
                <a:lnTo>
                  <a:pt x="582536" y="146151"/>
                </a:lnTo>
                <a:lnTo>
                  <a:pt x="582510" y="9448"/>
                </a:lnTo>
                <a:lnTo>
                  <a:pt x="697014" y="77558"/>
                </a:lnTo>
                <a:lnTo>
                  <a:pt x="697014" y="69862"/>
                </a:lnTo>
                <a:lnTo>
                  <a:pt x="585673" y="3162"/>
                </a:lnTo>
                <a:lnTo>
                  <a:pt x="580415" y="0"/>
                </a:lnTo>
                <a:lnTo>
                  <a:pt x="577253" y="0"/>
                </a:lnTo>
                <a:lnTo>
                  <a:pt x="576224" y="1054"/>
                </a:lnTo>
                <a:lnTo>
                  <a:pt x="576224" y="154571"/>
                </a:lnTo>
                <a:lnTo>
                  <a:pt x="577253" y="154571"/>
                </a:lnTo>
                <a:lnTo>
                  <a:pt x="578319" y="155625"/>
                </a:lnTo>
                <a:lnTo>
                  <a:pt x="579374" y="155625"/>
                </a:lnTo>
                <a:lnTo>
                  <a:pt x="580415" y="154571"/>
                </a:lnTo>
                <a:lnTo>
                  <a:pt x="583946" y="152463"/>
                </a:lnTo>
                <a:lnTo>
                  <a:pt x="703440" y="81381"/>
                </a:lnTo>
                <a:lnTo>
                  <a:pt x="826465" y="154571"/>
                </a:lnTo>
                <a:lnTo>
                  <a:pt x="827519" y="155625"/>
                </a:lnTo>
                <a:lnTo>
                  <a:pt x="828560" y="155625"/>
                </a:lnTo>
                <a:lnTo>
                  <a:pt x="829614" y="154571"/>
                </a:lnTo>
                <a:lnTo>
                  <a:pt x="830681" y="154571"/>
                </a:lnTo>
                <a:lnTo>
                  <a:pt x="830681" y="152463"/>
                </a:lnTo>
                <a:lnTo>
                  <a:pt x="830681" y="3162"/>
                </a:lnTo>
                <a:lnTo>
                  <a:pt x="830681" y="1054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044485" y="8369786"/>
            <a:ext cx="32512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75" spc="-15" baseline="13333" dirty="0">
                <a:solidFill>
                  <a:srgbClr val="0000CC"/>
                </a:solidFill>
                <a:latin typeface="Symbol"/>
                <a:cs typeface="Symbol"/>
              </a:rPr>
              <a:t></a:t>
            </a:r>
            <a:r>
              <a:rPr sz="8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73057" y="8561247"/>
            <a:ext cx="1675130" cy="1292860"/>
          </a:xfrm>
          <a:custGeom>
            <a:avLst/>
            <a:gdLst/>
            <a:ahLst/>
            <a:cxnLst/>
            <a:rect l="l" t="t" r="r" b="b"/>
            <a:pathLst>
              <a:path w="1675129" h="1292859">
                <a:moveTo>
                  <a:pt x="55727" y="1149273"/>
                </a:moveTo>
                <a:lnTo>
                  <a:pt x="48374" y="1149273"/>
                </a:lnTo>
                <a:lnTo>
                  <a:pt x="48374" y="1292263"/>
                </a:lnTo>
                <a:lnTo>
                  <a:pt x="55727" y="1292263"/>
                </a:lnTo>
                <a:lnTo>
                  <a:pt x="55727" y="1149273"/>
                </a:lnTo>
                <a:close/>
              </a:path>
              <a:path w="1675129" h="1292859">
                <a:moveTo>
                  <a:pt x="252336" y="698182"/>
                </a:moveTo>
                <a:lnTo>
                  <a:pt x="248145" y="692924"/>
                </a:lnTo>
                <a:lnTo>
                  <a:pt x="0" y="942124"/>
                </a:lnTo>
                <a:lnTo>
                  <a:pt x="5257" y="946327"/>
                </a:lnTo>
                <a:lnTo>
                  <a:pt x="252336" y="698182"/>
                </a:lnTo>
                <a:close/>
              </a:path>
              <a:path w="1675129" h="1292859">
                <a:moveTo>
                  <a:pt x="829614" y="251294"/>
                </a:moveTo>
                <a:lnTo>
                  <a:pt x="825411" y="246037"/>
                </a:lnTo>
                <a:lnTo>
                  <a:pt x="427951" y="543623"/>
                </a:lnTo>
                <a:lnTo>
                  <a:pt x="432155" y="548868"/>
                </a:lnTo>
                <a:lnTo>
                  <a:pt x="829614" y="251294"/>
                </a:lnTo>
                <a:close/>
              </a:path>
              <a:path w="1675129" h="1292859">
                <a:moveTo>
                  <a:pt x="830668" y="1240751"/>
                </a:moveTo>
                <a:lnTo>
                  <a:pt x="601446" y="693978"/>
                </a:lnTo>
                <a:lnTo>
                  <a:pt x="595134" y="697128"/>
                </a:lnTo>
                <a:lnTo>
                  <a:pt x="824357" y="1243901"/>
                </a:lnTo>
                <a:lnTo>
                  <a:pt x="830668" y="1240751"/>
                </a:lnTo>
                <a:close/>
              </a:path>
              <a:path w="1675129" h="1292859">
                <a:moveTo>
                  <a:pt x="979970" y="0"/>
                </a:moveTo>
                <a:lnTo>
                  <a:pt x="973670" y="0"/>
                </a:lnTo>
                <a:lnTo>
                  <a:pt x="973670" y="149313"/>
                </a:lnTo>
                <a:lnTo>
                  <a:pt x="979970" y="149313"/>
                </a:lnTo>
                <a:lnTo>
                  <a:pt x="979970" y="0"/>
                </a:lnTo>
                <a:close/>
              </a:path>
              <a:path w="1675129" h="1292859">
                <a:moveTo>
                  <a:pt x="1675015" y="944232"/>
                </a:moveTo>
                <a:lnTo>
                  <a:pt x="1668703" y="944232"/>
                </a:lnTo>
                <a:lnTo>
                  <a:pt x="1668703" y="1241793"/>
                </a:lnTo>
                <a:lnTo>
                  <a:pt x="1675015" y="1241793"/>
                </a:lnTo>
                <a:lnTo>
                  <a:pt x="1675015" y="94423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323129" y="9262499"/>
            <a:ext cx="89471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800" i="1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8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345457" y="8808333"/>
            <a:ext cx="452755" cy="501650"/>
          </a:xfrm>
          <a:custGeom>
            <a:avLst/>
            <a:gdLst/>
            <a:ahLst/>
            <a:cxnLst/>
            <a:rect l="l" t="t" r="r" b="b"/>
            <a:pathLst>
              <a:path w="452754" h="501650">
                <a:moveTo>
                  <a:pt x="5257" y="0"/>
                </a:moveTo>
                <a:lnTo>
                  <a:pt x="0" y="4206"/>
                </a:lnTo>
                <a:lnTo>
                  <a:pt x="446882" y="501559"/>
                </a:lnTo>
                <a:lnTo>
                  <a:pt x="452140" y="496302"/>
                </a:lnTo>
                <a:lnTo>
                  <a:pt x="5257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807950" y="9457022"/>
            <a:ext cx="91757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875" baseline="13333" dirty="0">
                <a:solidFill>
                  <a:srgbClr val="0000CC"/>
                </a:solidFill>
                <a:latin typeface="Symbol"/>
                <a:cs typeface="Symbol"/>
              </a:rPr>
              <a:t></a:t>
            </a:r>
            <a:r>
              <a:rPr sz="800" i="1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8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80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800" spc="-1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2306" y="457254"/>
            <a:ext cx="3900804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physique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sans</a:t>
            </a:r>
            <a:r>
              <a:rPr sz="1900" b="1" spc="2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index,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ni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hachage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71" y="1481475"/>
            <a:ext cx="3633932" cy="3036692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22855" y="4139365"/>
          <a:ext cx="3889374" cy="334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5225"/>
                <a:gridCol w="1469389"/>
                <a:gridCol w="1254760"/>
              </a:tblGrid>
              <a:tr h="167005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</a:pP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Séquentiel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ts val="1055"/>
                        </a:lnSpc>
                      </a:pP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Séquentiel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055"/>
                        </a:lnSpc>
                      </a:pP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Séquentiel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7005">
                <a:tc>
                  <a:txBody>
                    <a:bodyPr/>
                    <a:lstStyle/>
                    <a:p>
                      <a:pPr marL="460375">
                        <a:lnSpc>
                          <a:spcPts val="1060"/>
                        </a:lnSpc>
                        <a:spcBef>
                          <a:spcPts val="160"/>
                        </a:spcBef>
                      </a:pP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Cinéma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752475">
                        <a:lnSpc>
                          <a:spcPts val="1060"/>
                        </a:lnSpc>
                        <a:spcBef>
                          <a:spcPts val="160"/>
                        </a:spcBef>
                      </a:pP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Salle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  <a:spcBef>
                          <a:spcPts val="160"/>
                        </a:spcBef>
                      </a:pP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Séance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442236" y="3544819"/>
            <a:ext cx="1188085" cy="4629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nom='Multiplex'</a:t>
            </a:r>
            <a:endParaRPr sz="950">
              <a:latin typeface="Times New Roman"/>
              <a:cs typeface="Times New Roman"/>
            </a:endParaRPr>
          </a:p>
          <a:p>
            <a:pPr marL="715010">
              <a:lnSpc>
                <a:spcPct val="100000"/>
              </a:lnSpc>
              <a:spcBef>
                <a:spcPts val="585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9194" y="3337272"/>
            <a:ext cx="17145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0301" y="3585417"/>
            <a:ext cx="17145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4542" y="3108049"/>
            <a:ext cx="55181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27869" y="3404569"/>
            <a:ext cx="55181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8907" y="3544819"/>
            <a:ext cx="1181735" cy="4629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heure-début=20</a:t>
            </a:r>
            <a:endParaRPr sz="950">
              <a:latin typeface="Times New Roman"/>
              <a:cs typeface="Times New Roman"/>
            </a:endParaRPr>
          </a:p>
          <a:p>
            <a:pPr marL="708660">
              <a:lnSpc>
                <a:spcPct val="100000"/>
              </a:lnSpc>
              <a:spcBef>
                <a:spcPts val="585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9565" y="3337272"/>
            <a:ext cx="17145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65965" y="3108049"/>
            <a:ext cx="43053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81312" y="1328288"/>
            <a:ext cx="2259330" cy="17856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951230" algn="ctr">
              <a:lnSpc>
                <a:spcPct val="100000"/>
              </a:lnSpc>
              <a:spcBef>
                <a:spcPts val="280"/>
              </a:spcBef>
            </a:pPr>
            <a:r>
              <a:rPr sz="9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950">
              <a:latin typeface="Times New Roman"/>
              <a:cs typeface="Times New Roman"/>
            </a:endParaRPr>
          </a:p>
          <a:p>
            <a:pPr marL="1725930" algn="ctr">
              <a:lnSpc>
                <a:spcPct val="100000"/>
              </a:lnSpc>
              <a:spcBef>
                <a:spcPts val="185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950">
              <a:latin typeface="Times New Roman"/>
              <a:cs typeface="Times New Roman"/>
            </a:endParaRPr>
          </a:p>
          <a:p>
            <a:pPr marL="900430" algn="ctr">
              <a:lnSpc>
                <a:spcPct val="100000"/>
              </a:lnSpc>
              <a:spcBef>
                <a:spcPts val="1055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  <a:p>
            <a:pPr marL="1726564" algn="ctr">
              <a:lnSpc>
                <a:spcPct val="100000"/>
              </a:lnSpc>
              <a:spcBef>
                <a:spcPts val="44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95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805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  <a:p>
            <a:pPr marR="654685" algn="ctr">
              <a:lnSpc>
                <a:spcPct val="100000"/>
              </a:lnSpc>
              <a:spcBef>
                <a:spcPts val="575"/>
              </a:spcBef>
            </a:pPr>
            <a:r>
              <a:rPr sz="9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  <a:p>
            <a:pPr marR="652145" algn="ctr">
              <a:lnSpc>
                <a:spcPct val="100000"/>
              </a:lnSpc>
              <a:spcBef>
                <a:spcPts val="44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Fusion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17" name="object 1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07969" y="5797869"/>
            <a:ext cx="5588635" cy="31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physique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index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sur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les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attributs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1900" b="1" spc="3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8823" y="6971395"/>
            <a:ext cx="4376288" cy="2688642"/>
          </a:xfrm>
          <a:prstGeom prst="rect">
            <a:avLst/>
          </a:prstGeom>
        </p:spPr>
      </p:pic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374812" y="9282283"/>
          <a:ext cx="4701540" cy="332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1095"/>
                <a:gridCol w="1886585"/>
                <a:gridCol w="1673860"/>
              </a:tblGrid>
              <a:tr h="166370">
                <a:tc>
                  <a:txBody>
                    <a:bodyPr/>
                    <a:lstStyle/>
                    <a:p>
                      <a:pPr marL="31750">
                        <a:lnSpc>
                          <a:spcPts val="1055"/>
                        </a:lnSpc>
                      </a:pP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Séquentiel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ts val="1055"/>
                        </a:lnSpc>
                      </a:pPr>
                      <a:r>
                        <a:rPr sz="95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ID-</a:t>
                      </a: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cinéma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>
                        <a:lnSpc>
                          <a:spcPts val="1055"/>
                        </a:lnSpc>
                      </a:pPr>
                      <a:r>
                        <a:rPr sz="95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ID-</a:t>
                      </a:r>
                      <a:r>
                        <a:rPr sz="950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salle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6370">
                <a:tc>
                  <a:txBody>
                    <a:bodyPr/>
                    <a:lstStyle/>
                    <a:p>
                      <a:pPr marL="461645">
                        <a:lnSpc>
                          <a:spcPts val="1060"/>
                        </a:lnSpc>
                        <a:spcBef>
                          <a:spcPts val="155"/>
                        </a:spcBef>
                      </a:pP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Cinéma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L="379095">
                        <a:lnSpc>
                          <a:spcPts val="1060"/>
                        </a:lnSpc>
                        <a:spcBef>
                          <a:spcPts val="155"/>
                        </a:spcBef>
                      </a:pPr>
                      <a:r>
                        <a:rPr sz="950" b="1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Index</a:t>
                      </a:r>
                      <a:r>
                        <a:rPr sz="950" b="1" i="1" spc="5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Salle(ID-</a:t>
                      </a: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cinéma)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 marL="461645">
                        <a:lnSpc>
                          <a:spcPts val="1060"/>
                        </a:lnSpc>
                        <a:spcBef>
                          <a:spcPts val="155"/>
                        </a:spcBef>
                      </a:pPr>
                      <a:r>
                        <a:rPr sz="950" b="1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Index</a:t>
                      </a:r>
                      <a:r>
                        <a:rPr sz="950" b="1" i="1" spc="5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50" b="1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Séance(ID-</a:t>
                      </a:r>
                      <a:r>
                        <a:rPr sz="950" b="1" i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salle)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T="19685" marB="0"/>
                </a:tc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1095241" y="8607849"/>
            <a:ext cx="1188085" cy="46100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nom='Multiplex'</a:t>
            </a:r>
            <a:endParaRPr sz="950">
              <a:latin typeface="Times New Roman"/>
              <a:cs typeface="Times New Roman"/>
            </a:endParaRPr>
          </a:p>
          <a:p>
            <a:pPr marL="715010">
              <a:lnSpc>
                <a:spcPct val="100000"/>
              </a:lnSpc>
              <a:spcBef>
                <a:spcPts val="57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60098" y="8086324"/>
            <a:ext cx="1330960" cy="3854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heure-début=20</a:t>
            </a:r>
            <a:endParaRPr sz="950">
              <a:latin typeface="Times New Roman"/>
              <a:cs typeface="Times New Roman"/>
            </a:endParaRPr>
          </a:p>
          <a:p>
            <a:pPr marL="857885">
              <a:lnSpc>
                <a:spcPct val="100000"/>
              </a:lnSpc>
              <a:spcBef>
                <a:spcPts val="275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83637" y="7730925"/>
            <a:ext cx="1012190" cy="4254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  <a:p>
            <a:pPr marL="600075">
              <a:lnSpc>
                <a:spcPct val="100000"/>
              </a:lnSpc>
              <a:spcBef>
                <a:spcPts val="43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48467" y="6818242"/>
            <a:ext cx="893444" cy="8407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280"/>
              </a:spcBef>
            </a:pPr>
            <a:r>
              <a:rPr sz="9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95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spcBef>
                <a:spcPts val="185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950">
              <a:latin typeface="Times New Roman"/>
              <a:cs typeface="Times New Roman"/>
            </a:endParaRPr>
          </a:p>
          <a:p>
            <a:pPr marR="455295" algn="ctr">
              <a:lnSpc>
                <a:spcPct val="100000"/>
              </a:lnSpc>
              <a:spcBef>
                <a:spcPts val="1055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  <a:p>
            <a:pPr marL="427990">
              <a:lnSpc>
                <a:spcPct val="100000"/>
              </a:lnSpc>
              <a:spcBef>
                <a:spcPts val="43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94218" y="8638332"/>
            <a:ext cx="647065" cy="41084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endParaRPr sz="95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spcBef>
                <a:spcPts val="375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00554" y="8627819"/>
            <a:ext cx="739775" cy="4210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endParaRPr sz="95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420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Séance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8002" y="435182"/>
            <a:ext cx="276860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Évaluation</a:t>
            </a:r>
            <a:r>
              <a:rPr sz="2200" b="1" spc="-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de</a:t>
            </a: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 requêtes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89" y="1036626"/>
            <a:ext cx="5325110" cy="350964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11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Évaluation: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exécution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Exécution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algorithmes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Gestion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flots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entre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Objectif: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minimiser le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nombre 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lectures/écritures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Deux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points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vue: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Obtenir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rapidement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possible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premiers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Applications</a:t>
            </a:r>
            <a:r>
              <a:rPr sz="12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interactives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globale,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rapport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production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Applications</a:t>
            </a:r>
            <a:r>
              <a:rPr sz="12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"batch"</a:t>
            </a:r>
            <a:endParaRPr sz="125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  <a:spcBef>
                <a:spcPts val="355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choix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techniques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d'évaluation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être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différent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7982" y="5797869"/>
            <a:ext cx="5650230" cy="31635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333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Techniques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d'accès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aux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données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séquentiel: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systématiquement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optimisé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SGBD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Principales</a:t>
            </a:r>
            <a:r>
              <a:rPr sz="16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techniques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Regroupement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espaces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contigus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"Extensions"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 dans</a:t>
            </a:r>
            <a:r>
              <a:rPr sz="12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Oracle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avance: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également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350" i="1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suivantes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Typiquement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=7 ou</a:t>
            </a:r>
            <a:r>
              <a:rPr sz="12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=15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80"/>
              </a:spcBef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Conséquence</a:t>
            </a:r>
            <a:endParaRPr sz="1650">
              <a:latin typeface="Times New Roman"/>
              <a:cs typeface="Times New Roman"/>
            </a:endParaRPr>
          </a:p>
          <a:p>
            <a:pPr marL="476884" marR="212725" lvl="1" indent="-165100">
              <a:lnSpc>
                <a:spcPct val="102200"/>
              </a:lnSpc>
              <a:spcBef>
                <a:spcPts val="34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blocs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contigus,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rapide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lecture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successive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5677535" cy="4055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4064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Utilisation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d'un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tampon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marR="565150" indent="-168275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("buffer",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cache):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zone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mémoire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permet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de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stocker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650">
              <a:latin typeface="Times New Roman"/>
              <a:cs typeface="Times New Roman"/>
            </a:endParaRPr>
          </a:p>
          <a:p>
            <a:pPr marL="180340" marR="103505" indent="-168275">
              <a:lnSpc>
                <a:spcPct val="100000"/>
              </a:lnSpc>
              <a:spcBef>
                <a:spcPts val="101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Problème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complexe: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essayer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garder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susceptibles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d'être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réutilisées</a:t>
            </a:r>
            <a:r>
              <a:rPr sz="16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"prochainement"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Principe: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utilisation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d'un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gestionnaire</a:t>
            </a:r>
            <a:r>
              <a:rPr sz="1650" i="1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6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endParaRPr sz="1650">
              <a:latin typeface="Times New Roman"/>
              <a:cs typeface="Times New Roman"/>
            </a:endParaRPr>
          </a:p>
          <a:p>
            <a:pPr marL="476884" marR="357505" lvl="1" indent="-165100">
              <a:lnSpc>
                <a:spcPct val="102200"/>
              </a:lnSpc>
              <a:spcBef>
                <a:spcPts val="34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programme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exécutant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demande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directement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la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lecture/écriture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d'un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mais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s'adresse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gestionnaire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endParaRPr sz="1350">
              <a:latin typeface="Times New Roman"/>
              <a:cs typeface="Times New Roman"/>
            </a:endParaRPr>
          </a:p>
          <a:p>
            <a:pPr marL="476884" marR="5080" lvl="1" indent="-165100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gestionnaire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vérifie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trouve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(sinon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il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lit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disque)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avant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réaliser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l'opération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Types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pages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Font typeface="Times New Roman"/>
              <a:buChar char="–"/>
              <a:tabLst>
                <a:tab pos="4762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Statiques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c'est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programme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demande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gestionnaire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libérer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Font typeface="Times New Roman"/>
              <a:buChar char="–"/>
              <a:tabLst>
                <a:tab pos="476250" algn="l"/>
              </a:tabLst>
            </a:pP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Volatiles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disposition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gestionnaire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506720" cy="30041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192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Parcours</a:t>
            </a:r>
            <a:r>
              <a:rPr sz="1900" b="1" spc="8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d'index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plupart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SGBD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utilisent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variantes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l'arbre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B</a:t>
            </a:r>
            <a:endParaRPr sz="16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100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Utilisation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lesquelles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conçu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clé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Recherche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intervalle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clés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Optimisation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d'autres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utilisant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Éviter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l'accès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le(s)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champ(s)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recherchés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sont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Compter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respectent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liée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clé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Test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d'existence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condition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liée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clé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47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4" y="457254"/>
            <a:ext cx="5607685" cy="3879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Parcours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d'index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tampon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Exemple: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soit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suivante,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supposant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année</a:t>
            </a:r>
            <a:endParaRPr sz="135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  <a:spcBef>
                <a:spcPts val="300"/>
              </a:spcBef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titre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année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(1956,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1934,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1992,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1997)</a:t>
            </a:r>
            <a:endParaRPr sz="1250">
              <a:latin typeface="Times New Roman"/>
              <a:cs typeface="Times New Roman"/>
            </a:endParaRPr>
          </a:p>
          <a:p>
            <a:pPr marL="180340" marR="5080" indent="-168275">
              <a:lnSpc>
                <a:spcPct val="102200"/>
              </a:lnSpc>
              <a:spcBef>
                <a:spcPts val="815"/>
              </a:spcBef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Évaluation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simple: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trouve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les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l'article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récupérer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titre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865"/>
              </a:spcBef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Évaluation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optimisée: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00"/>
              </a:spcBef>
              <a:buChar char="–"/>
              <a:tabLst>
                <a:tab pos="4762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cherche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dans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l'index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toutes</a:t>
            </a:r>
            <a:r>
              <a:rPr sz="1250" i="1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IN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90"/>
              </a:spcBef>
              <a:buChar char="–"/>
              <a:tabLst>
                <a:tab pos="4762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groupe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numéro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90"/>
              </a:spcBef>
              <a:buChar char="–"/>
              <a:tabLst>
                <a:tab pos="4762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extrait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articles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leur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champ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titre</a:t>
            </a:r>
            <a:endParaRPr sz="125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  <a:spcBef>
                <a:spcPts val="285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Avantage: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lit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2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seule</a:t>
            </a:r>
            <a:r>
              <a:rPr sz="125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endParaRPr sz="1250">
              <a:latin typeface="Times New Roman"/>
              <a:cs typeface="Times New Roman"/>
            </a:endParaRPr>
          </a:p>
          <a:p>
            <a:pPr marL="476884" marR="177800" indent="-165100">
              <a:lnSpc>
                <a:spcPct val="100000"/>
              </a:lnSpc>
              <a:spcBef>
                <a:spcPts val="290"/>
              </a:spcBef>
            </a:pPr>
            <a:r>
              <a:rPr sz="12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Inconvénient: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doit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attendre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récupération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toutes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l'index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avant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calculer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840"/>
              </a:spcBef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Variante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intermédiaire: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accumuler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05"/>
              </a:spcBef>
              <a:buChar char="–"/>
              <a:tabLst>
                <a:tab pos="47625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Regroupement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page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quand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tampon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plein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69" y="5797869"/>
            <a:ext cx="5667375" cy="40551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Évaluation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des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opérateurs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Types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d'opérateurs</a:t>
            </a:r>
            <a:endParaRPr sz="1650">
              <a:latin typeface="Times New Roman"/>
              <a:cs typeface="Times New Roman"/>
            </a:endParaRPr>
          </a:p>
          <a:p>
            <a:pPr marL="476884" marR="127000" lvl="1" indent="-165100">
              <a:lnSpc>
                <a:spcPct val="102200"/>
              </a:lnSpc>
              <a:spcBef>
                <a:spcPts val="34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Pipeline: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peuvent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calculer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demandant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une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valeurs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d'entrée</a:t>
            </a:r>
            <a:endParaRPr sz="1350">
              <a:latin typeface="Times New Roman"/>
              <a:cs typeface="Times New Roman"/>
            </a:endParaRPr>
          </a:p>
          <a:p>
            <a:pPr marL="476884" marR="102235" lvl="1" indent="-165100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Non-pipeline: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besoin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toutes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d'entrée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pouvoir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produire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Avantage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pipeline</a:t>
            </a:r>
            <a:endParaRPr sz="1650">
              <a:latin typeface="Times New Roman"/>
              <a:cs typeface="Times New Roman"/>
            </a:endParaRPr>
          </a:p>
          <a:p>
            <a:pPr marL="476884" marR="346075" lvl="1" indent="-165100">
              <a:lnSpc>
                <a:spcPct val="102200"/>
              </a:lnSpc>
              <a:spcBef>
                <a:spcPts val="335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Peuvent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produire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rapidement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résultats,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adaptés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applications interactives</a:t>
            </a:r>
            <a:endParaRPr sz="1350">
              <a:latin typeface="Times New Roman"/>
              <a:cs typeface="Times New Roman"/>
            </a:endParaRPr>
          </a:p>
          <a:p>
            <a:pPr marL="476884" marR="5080" lvl="1" indent="-165100">
              <a:lnSpc>
                <a:spcPct val="102200"/>
              </a:lnSpc>
              <a:spcBef>
                <a:spcPts val="33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besoin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stocker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intermédiaires,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car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d'un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r>
              <a:rPr sz="1350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peut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être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consommé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suite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opérateur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40"/>
              </a:spcBef>
            </a:pP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gain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performances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l'algèbre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présentée: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Tous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sont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pipeline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sauf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tri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49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74" y="457254"/>
            <a:ext cx="5053965" cy="3938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7856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Implémentation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des</a:t>
            </a:r>
            <a:r>
              <a:rPr sz="1900" b="1" spc="6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opérateurs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Implémentation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sous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forme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d'</a:t>
            </a:r>
            <a:r>
              <a:rPr sz="16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itérateurs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Itérateur: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objet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appel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produit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Objectif:</a:t>
            </a:r>
            <a:r>
              <a:rPr sz="135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produire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résultats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fur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mesure</a:t>
            </a:r>
            <a:endParaRPr sz="1350">
              <a:latin typeface="Times New Roman"/>
              <a:cs typeface="Times New Roman"/>
            </a:endParaRPr>
          </a:p>
          <a:p>
            <a:pPr marL="736600" lvl="2" indent="-128270">
              <a:lnSpc>
                <a:spcPct val="100000"/>
              </a:lnSpc>
              <a:spcBef>
                <a:spcPts val="300"/>
              </a:spcBef>
              <a:buChar char="•"/>
              <a:tabLst>
                <a:tab pos="73660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composé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d'itérateurs</a:t>
            </a:r>
            <a:r>
              <a:rPr sz="12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lui-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itérateur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5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Compatibles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fois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pipeline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non-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pipeline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Principales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itérateur: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initialisation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),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00CC"/>
                </a:solidFill>
                <a:latin typeface="Times New Roman"/>
                <a:cs typeface="Times New Roman"/>
              </a:rPr>
              <a:t>suivant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0"/>
              </a:spcBef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Exemple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1350">
              <a:latin typeface="Times New Roman"/>
              <a:cs typeface="Times New Roman"/>
            </a:endParaRPr>
          </a:p>
          <a:p>
            <a:pPr marL="816610" marR="1894839" indent="-208279">
              <a:lnSpc>
                <a:spcPct val="100000"/>
              </a:lnSpc>
              <a:spcBef>
                <a:spcPts val="300"/>
              </a:spcBef>
            </a:pPr>
            <a:r>
              <a:rPr sz="1250" b="1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2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25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article</a:t>
            </a:r>
            <a:r>
              <a:rPr sz="12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entrée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répéter produire</a:t>
            </a:r>
            <a:r>
              <a:rPr sz="125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4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Itérateur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1350">
              <a:latin typeface="Times New Roman"/>
              <a:cs typeface="Times New Roman"/>
            </a:endParaRPr>
          </a:p>
          <a:p>
            <a:pPr marL="608330">
              <a:lnSpc>
                <a:spcPts val="1495"/>
              </a:lnSpc>
              <a:spcBef>
                <a:spcPts val="305"/>
              </a:spcBef>
            </a:pPr>
            <a:r>
              <a:rPr sz="1250" i="1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 entrée.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suivant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()</a:t>
            </a:r>
            <a:endParaRPr sz="1250">
              <a:latin typeface="Times New Roman"/>
              <a:cs typeface="Times New Roman"/>
            </a:endParaRPr>
          </a:p>
          <a:p>
            <a:pPr marL="608330">
              <a:lnSpc>
                <a:spcPts val="1495"/>
              </a:lnSpc>
            </a:pPr>
            <a:r>
              <a:rPr sz="125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produire</a:t>
            </a:r>
            <a:r>
              <a:rPr sz="125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(</a:t>
            </a:r>
            <a:r>
              <a:rPr sz="12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3890645" cy="1637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5577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Exécution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d'un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demande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résultat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suivant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l'opérateur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racine</a:t>
            </a:r>
            <a:endParaRPr sz="135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–</a:t>
            </a:r>
            <a:r>
              <a:rPr sz="1250" spc="3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Celui-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ci</a:t>
            </a:r>
            <a:r>
              <a:rPr sz="12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demande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le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résultat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suivant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ses</a:t>
            </a:r>
            <a:r>
              <a:rPr sz="12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entrées,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etc.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520"/>
              </a:spcBef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Propagation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commandes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racine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feuilles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535"/>
              </a:spcBef>
              <a:buChar char="•"/>
              <a:tabLst>
                <a:tab pos="1803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Propagation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feuilles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Wingdings"/>
                <a:cs typeface="Wingdings"/>
              </a:rPr>
              <a:t>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racine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471755" y="9367728"/>
            <a:ext cx="535305" cy="223520"/>
          </a:xfrm>
          <a:custGeom>
            <a:avLst/>
            <a:gdLst/>
            <a:ahLst/>
            <a:cxnLst/>
            <a:rect l="l" t="t" r="r" b="b"/>
            <a:pathLst>
              <a:path w="535305" h="223520">
                <a:moveTo>
                  <a:pt x="535199" y="0"/>
                </a:moveTo>
                <a:lnTo>
                  <a:pt x="0" y="0"/>
                </a:lnTo>
                <a:lnTo>
                  <a:pt x="0" y="222913"/>
                </a:lnTo>
                <a:lnTo>
                  <a:pt x="535199" y="222913"/>
                </a:lnTo>
                <a:lnTo>
                  <a:pt x="535199" y="219759"/>
                </a:lnTo>
                <a:lnTo>
                  <a:pt x="6309" y="219759"/>
                </a:lnTo>
                <a:lnTo>
                  <a:pt x="3154" y="216604"/>
                </a:lnTo>
                <a:lnTo>
                  <a:pt x="6309" y="216604"/>
                </a:lnTo>
                <a:lnTo>
                  <a:pt x="6309" y="6309"/>
                </a:lnTo>
                <a:lnTo>
                  <a:pt x="3154" y="6309"/>
                </a:lnTo>
                <a:lnTo>
                  <a:pt x="6309" y="3154"/>
                </a:lnTo>
                <a:lnTo>
                  <a:pt x="535199" y="3154"/>
                </a:lnTo>
                <a:lnTo>
                  <a:pt x="535199" y="0"/>
                </a:lnTo>
                <a:close/>
              </a:path>
              <a:path w="535305" h="223520">
                <a:moveTo>
                  <a:pt x="6309" y="216604"/>
                </a:moveTo>
                <a:lnTo>
                  <a:pt x="3154" y="216604"/>
                </a:lnTo>
                <a:lnTo>
                  <a:pt x="6309" y="219759"/>
                </a:lnTo>
                <a:lnTo>
                  <a:pt x="6309" y="216604"/>
                </a:lnTo>
                <a:close/>
              </a:path>
              <a:path w="535305" h="223520">
                <a:moveTo>
                  <a:pt x="528905" y="216604"/>
                </a:moveTo>
                <a:lnTo>
                  <a:pt x="6309" y="216604"/>
                </a:lnTo>
                <a:lnTo>
                  <a:pt x="6309" y="219759"/>
                </a:lnTo>
                <a:lnTo>
                  <a:pt x="528905" y="219759"/>
                </a:lnTo>
                <a:lnTo>
                  <a:pt x="528905" y="216604"/>
                </a:lnTo>
                <a:close/>
              </a:path>
              <a:path w="535305" h="223520">
                <a:moveTo>
                  <a:pt x="528905" y="3154"/>
                </a:moveTo>
                <a:lnTo>
                  <a:pt x="528905" y="219759"/>
                </a:lnTo>
                <a:lnTo>
                  <a:pt x="532045" y="216604"/>
                </a:lnTo>
                <a:lnTo>
                  <a:pt x="535199" y="216604"/>
                </a:lnTo>
                <a:lnTo>
                  <a:pt x="535199" y="6309"/>
                </a:lnTo>
                <a:lnTo>
                  <a:pt x="532045" y="6309"/>
                </a:lnTo>
                <a:lnTo>
                  <a:pt x="528905" y="3154"/>
                </a:lnTo>
                <a:close/>
              </a:path>
              <a:path w="535305" h="223520">
                <a:moveTo>
                  <a:pt x="535199" y="216604"/>
                </a:moveTo>
                <a:lnTo>
                  <a:pt x="532045" y="216604"/>
                </a:lnTo>
                <a:lnTo>
                  <a:pt x="528905" y="219759"/>
                </a:lnTo>
                <a:lnTo>
                  <a:pt x="535199" y="219759"/>
                </a:lnTo>
                <a:lnTo>
                  <a:pt x="535199" y="216604"/>
                </a:lnTo>
                <a:close/>
              </a:path>
              <a:path w="535305" h="223520">
                <a:moveTo>
                  <a:pt x="6309" y="3154"/>
                </a:moveTo>
                <a:lnTo>
                  <a:pt x="3154" y="6309"/>
                </a:lnTo>
                <a:lnTo>
                  <a:pt x="6309" y="6309"/>
                </a:lnTo>
                <a:lnTo>
                  <a:pt x="6309" y="3154"/>
                </a:lnTo>
                <a:close/>
              </a:path>
              <a:path w="535305" h="223520">
                <a:moveTo>
                  <a:pt x="528905" y="3154"/>
                </a:moveTo>
                <a:lnTo>
                  <a:pt x="6309" y="3154"/>
                </a:lnTo>
                <a:lnTo>
                  <a:pt x="6309" y="6309"/>
                </a:lnTo>
                <a:lnTo>
                  <a:pt x="528905" y="6309"/>
                </a:lnTo>
                <a:lnTo>
                  <a:pt x="528905" y="3154"/>
                </a:lnTo>
                <a:close/>
              </a:path>
              <a:path w="535305" h="223520">
                <a:moveTo>
                  <a:pt x="535199" y="3154"/>
                </a:moveTo>
                <a:lnTo>
                  <a:pt x="528905" y="3154"/>
                </a:lnTo>
                <a:lnTo>
                  <a:pt x="532045" y="6309"/>
                </a:lnTo>
                <a:lnTo>
                  <a:pt x="535199" y="6309"/>
                </a:lnTo>
                <a:lnTo>
                  <a:pt x="535199" y="3154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5247" y="9135693"/>
            <a:ext cx="853440" cy="42290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Séquentiel</a:t>
            </a:r>
            <a:endParaRPr sz="950">
              <a:latin typeface="Times New Roman"/>
              <a:cs typeface="Times New Roman"/>
            </a:endParaRPr>
          </a:p>
          <a:p>
            <a:pPr marL="441325">
              <a:lnSpc>
                <a:spcPct val="100000"/>
              </a:lnSpc>
              <a:spcBef>
                <a:spcPts val="425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40205" y="8890355"/>
            <a:ext cx="601980" cy="480695"/>
          </a:xfrm>
          <a:custGeom>
            <a:avLst/>
            <a:gdLst/>
            <a:ahLst/>
            <a:cxnLst/>
            <a:rect l="l" t="t" r="r" b="b"/>
            <a:pathLst>
              <a:path w="601980" h="480695">
                <a:moveTo>
                  <a:pt x="601446" y="119862"/>
                </a:moveTo>
                <a:lnTo>
                  <a:pt x="600392" y="113563"/>
                </a:lnTo>
                <a:lnTo>
                  <a:pt x="598297" y="106197"/>
                </a:lnTo>
                <a:lnTo>
                  <a:pt x="595134" y="99872"/>
                </a:lnTo>
                <a:lnTo>
                  <a:pt x="595134" y="120916"/>
                </a:lnTo>
                <a:lnTo>
                  <a:pt x="595134" y="132486"/>
                </a:lnTo>
                <a:lnTo>
                  <a:pt x="578307" y="167182"/>
                </a:lnTo>
                <a:lnTo>
                  <a:pt x="545731" y="193471"/>
                </a:lnTo>
                <a:lnTo>
                  <a:pt x="509955" y="211353"/>
                </a:lnTo>
                <a:lnTo>
                  <a:pt x="488950" y="218719"/>
                </a:lnTo>
                <a:lnTo>
                  <a:pt x="478434" y="222923"/>
                </a:lnTo>
                <a:lnTo>
                  <a:pt x="416382" y="237642"/>
                </a:lnTo>
                <a:lnTo>
                  <a:pt x="360654" y="245008"/>
                </a:lnTo>
                <a:lnTo>
                  <a:pt x="300736" y="247103"/>
                </a:lnTo>
                <a:lnTo>
                  <a:pt x="240792" y="245008"/>
                </a:lnTo>
                <a:lnTo>
                  <a:pt x="185064" y="237642"/>
                </a:lnTo>
                <a:lnTo>
                  <a:pt x="134594" y="226072"/>
                </a:lnTo>
                <a:lnTo>
                  <a:pt x="112496" y="218719"/>
                </a:lnTo>
                <a:lnTo>
                  <a:pt x="102006" y="215557"/>
                </a:lnTo>
                <a:lnTo>
                  <a:pt x="63093" y="197688"/>
                </a:lnTo>
                <a:lnTo>
                  <a:pt x="28384" y="172440"/>
                </a:lnTo>
                <a:lnTo>
                  <a:pt x="9461" y="144056"/>
                </a:lnTo>
                <a:lnTo>
                  <a:pt x="7366" y="138798"/>
                </a:lnTo>
                <a:lnTo>
                  <a:pt x="6311" y="132486"/>
                </a:lnTo>
                <a:lnTo>
                  <a:pt x="6311" y="120916"/>
                </a:lnTo>
                <a:lnTo>
                  <a:pt x="7366" y="114604"/>
                </a:lnTo>
                <a:lnTo>
                  <a:pt x="9461" y="109347"/>
                </a:lnTo>
                <a:lnTo>
                  <a:pt x="11569" y="103060"/>
                </a:lnTo>
                <a:lnTo>
                  <a:pt x="41008" y="70446"/>
                </a:lnTo>
                <a:lnTo>
                  <a:pt x="64147" y="55727"/>
                </a:lnTo>
                <a:lnTo>
                  <a:pt x="72555" y="50482"/>
                </a:lnTo>
                <a:lnTo>
                  <a:pt x="91490" y="42062"/>
                </a:lnTo>
                <a:lnTo>
                  <a:pt x="102006" y="37858"/>
                </a:lnTo>
                <a:lnTo>
                  <a:pt x="112496" y="34709"/>
                </a:lnTo>
                <a:lnTo>
                  <a:pt x="123037" y="30505"/>
                </a:lnTo>
                <a:lnTo>
                  <a:pt x="185064" y="15773"/>
                </a:lnTo>
                <a:lnTo>
                  <a:pt x="240792" y="8420"/>
                </a:lnTo>
                <a:lnTo>
                  <a:pt x="300736" y="6311"/>
                </a:lnTo>
                <a:lnTo>
                  <a:pt x="360654" y="8420"/>
                </a:lnTo>
                <a:lnTo>
                  <a:pt x="416382" y="15773"/>
                </a:lnTo>
                <a:lnTo>
                  <a:pt x="466864" y="27343"/>
                </a:lnTo>
                <a:lnTo>
                  <a:pt x="488950" y="34709"/>
                </a:lnTo>
                <a:lnTo>
                  <a:pt x="499465" y="37858"/>
                </a:lnTo>
                <a:lnTo>
                  <a:pt x="538353" y="55727"/>
                </a:lnTo>
                <a:lnTo>
                  <a:pt x="573049" y="80962"/>
                </a:lnTo>
                <a:lnTo>
                  <a:pt x="582523" y="92532"/>
                </a:lnTo>
                <a:lnTo>
                  <a:pt x="586727" y="97790"/>
                </a:lnTo>
                <a:lnTo>
                  <a:pt x="589876" y="103060"/>
                </a:lnTo>
                <a:lnTo>
                  <a:pt x="591985" y="109347"/>
                </a:lnTo>
                <a:lnTo>
                  <a:pt x="594080" y="114604"/>
                </a:lnTo>
                <a:lnTo>
                  <a:pt x="595134" y="120916"/>
                </a:lnTo>
                <a:lnTo>
                  <a:pt x="595134" y="99872"/>
                </a:lnTo>
                <a:lnTo>
                  <a:pt x="564642" y="65201"/>
                </a:lnTo>
                <a:lnTo>
                  <a:pt x="522592" y="41021"/>
                </a:lnTo>
                <a:lnTo>
                  <a:pt x="512076" y="35763"/>
                </a:lnTo>
                <a:lnTo>
                  <a:pt x="502615" y="31546"/>
                </a:lnTo>
                <a:lnTo>
                  <a:pt x="491045" y="28397"/>
                </a:lnTo>
                <a:lnTo>
                  <a:pt x="479475" y="24193"/>
                </a:lnTo>
                <a:lnTo>
                  <a:pt x="417436" y="9474"/>
                </a:lnTo>
                <a:lnTo>
                  <a:pt x="360654" y="2108"/>
                </a:lnTo>
                <a:lnTo>
                  <a:pt x="331228" y="0"/>
                </a:lnTo>
                <a:lnTo>
                  <a:pt x="270230" y="0"/>
                </a:lnTo>
                <a:lnTo>
                  <a:pt x="211353" y="5257"/>
                </a:lnTo>
                <a:lnTo>
                  <a:pt x="157721" y="14732"/>
                </a:lnTo>
                <a:lnTo>
                  <a:pt x="110401" y="28397"/>
                </a:lnTo>
                <a:lnTo>
                  <a:pt x="98844" y="31546"/>
                </a:lnTo>
                <a:lnTo>
                  <a:pt x="88328" y="35763"/>
                </a:lnTo>
                <a:lnTo>
                  <a:pt x="78854" y="41021"/>
                </a:lnTo>
                <a:lnTo>
                  <a:pt x="59931" y="49428"/>
                </a:lnTo>
                <a:lnTo>
                  <a:pt x="51523" y="54686"/>
                </a:lnTo>
                <a:lnTo>
                  <a:pt x="36804" y="65201"/>
                </a:lnTo>
                <a:lnTo>
                  <a:pt x="30492" y="70446"/>
                </a:lnTo>
                <a:lnTo>
                  <a:pt x="24180" y="76771"/>
                </a:lnTo>
                <a:lnTo>
                  <a:pt x="17881" y="82016"/>
                </a:lnTo>
                <a:lnTo>
                  <a:pt x="9461" y="94640"/>
                </a:lnTo>
                <a:lnTo>
                  <a:pt x="3149" y="107251"/>
                </a:lnTo>
                <a:lnTo>
                  <a:pt x="1054" y="113563"/>
                </a:lnTo>
                <a:lnTo>
                  <a:pt x="0" y="119862"/>
                </a:lnTo>
                <a:lnTo>
                  <a:pt x="0" y="133540"/>
                </a:lnTo>
                <a:lnTo>
                  <a:pt x="18923" y="171399"/>
                </a:lnTo>
                <a:lnTo>
                  <a:pt x="24180" y="177698"/>
                </a:lnTo>
                <a:lnTo>
                  <a:pt x="36804" y="188214"/>
                </a:lnTo>
                <a:lnTo>
                  <a:pt x="44170" y="193471"/>
                </a:lnTo>
                <a:lnTo>
                  <a:pt x="60985" y="203987"/>
                </a:lnTo>
                <a:lnTo>
                  <a:pt x="69405" y="208203"/>
                </a:lnTo>
                <a:lnTo>
                  <a:pt x="78854" y="213461"/>
                </a:lnTo>
                <a:lnTo>
                  <a:pt x="88328" y="217665"/>
                </a:lnTo>
                <a:lnTo>
                  <a:pt x="98844" y="221869"/>
                </a:lnTo>
                <a:lnTo>
                  <a:pt x="110401" y="225018"/>
                </a:lnTo>
                <a:lnTo>
                  <a:pt x="121970" y="229235"/>
                </a:lnTo>
                <a:lnTo>
                  <a:pt x="184010" y="243954"/>
                </a:lnTo>
                <a:lnTo>
                  <a:pt x="240792" y="251307"/>
                </a:lnTo>
                <a:lnTo>
                  <a:pt x="270230" y="253415"/>
                </a:lnTo>
                <a:lnTo>
                  <a:pt x="297548" y="253415"/>
                </a:lnTo>
                <a:lnTo>
                  <a:pt x="296519" y="480529"/>
                </a:lnTo>
                <a:lnTo>
                  <a:pt x="302831" y="480529"/>
                </a:lnTo>
                <a:lnTo>
                  <a:pt x="303860" y="253415"/>
                </a:lnTo>
                <a:lnTo>
                  <a:pt x="331228" y="253415"/>
                </a:lnTo>
                <a:lnTo>
                  <a:pt x="360654" y="251307"/>
                </a:lnTo>
                <a:lnTo>
                  <a:pt x="390093" y="248158"/>
                </a:lnTo>
                <a:lnTo>
                  <a:pt x="396938" y="247103"/>
                </a:lnTo>
                <a:lnTo>
                  <a:pt x="417436" y="243954"/>
                </a:lnTo>
                <a:lnTo>
                  <a:pt x="443725" y="238696"/>
                </a:lnTo>
                <a:lnTo>
                  <a:pt x="456349" y="235534"/>
                </a:lnTo>
                <a:lnTo>
                  <a:pt x="479475" y="229235"/>
                </a:lnTo>
                <a:lnTo>
                  <a:pt x="491045" y="225018"/>
                </a:lnTo>
                <a:lnTo>
                  <a:pt x="502615" y="221869"/>
                </a:lnTo>
                <a:lnTo>
                  <a:pt x="513118" y="217665"/>
                </a:lnTo>
                <a:lnTo>
                  <a:pt x="522592" y="212407"/>
                </a:lnTo>
                <a:lnTo>
                  <a:pt x="541502" y="203987"/>
                </a:lnTo>
                <a:lnTo>
                  <a:pt x="549922" y="198729"/>
                </a:lnTo>
                <a:lnTo>
                  <a:pt x="572008" y="182956"/>
                </a:lnTo>
                <a:lnTo>
                  <a:pt x="577265" y="176657"/>
                </a:lnTo>
                <a:lnTo>
                  <a:pt x="583565" y="171399"/>
                </a:lnTo>
                <a:lnTo>
                  <a:pt x="601446" y="133540"/>
                </a:lnTo>
                <a:lnTo>
                  <a:pt x="601446" y="11986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96621" y="8638342"/>
            <a:ext cx="1186815" cy="46100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nom='Multiplex'</a:t>
            </a:r>
            <a:endParaRPr sz="950">
              <a:latin typeface="Times New Roman"/>
              <a:cs typeface="Times New Roman"/>
            </a:endParaRPr>
          </a:p>
          <a:p>
            <a:pPr marL="713740">
              <a:lnSpc>
                <a:spcPct val="100000"/>
              </a:lnSpc>
              <a:spcBef>
                <a:spcPts val="57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38820" y="7915643"/>
            <a:ext cx="1286510" cy="1426210"/>
          </a:xfrm>
          <a:custGeom>
            <a:avLst/>
            <a:gdLst/>
            <a:ahLst/>
            <a:cxnLst/>
            <a:rect l="l" t="t" r="r" b="b"/>
            <a:pathLst>
              <a:path w="1286510" h="1426209">
                <a:moveTo>
                  <a:pt x="1285963" y="1422641"/>
                </a:moveTo>
                <a:lnTo>
                  <a:pt x="818095" y="643902"/>
                </a:lnTo>
                <a:lnTo>
                  <a:pt x="824369" y="641388"/>
                </a:lnTo>
                <a:lnTo>
                  <a:pt x="833843" y="636130"/>
                </a:lnTo>
                <a:lnTo>
                  <a:pt x="866419" y="616153"/>
                </a:lnTo>
                <a:lnTo>
                  <a:pt x="893762" y="587768"/>
                </a:lnTo>
                <a:lnTo>
                  <a:pt x="903224" y="561479"/>
                </a:lnTo>
                <a:lnTo>
                  <a:pt x="903224" y="547814"/>
                </a:lnTo>
                <a:lnTo>
                  <a:pt x="902169" y="541502"/>
                </a:lnTo>
                <a:lnTo>
                  <a:pt x="900074" y="535190"/>
                </a:lnTo>
                <a:lnTo>
                  <a:pt x="896912" y="527837"/>
                </a:lnTo>
                <a:lnTo>
                  <a:pt x="896912" y="548868"/>
                </a:lnTo>
                <a:lnTo>
                  <a:pt x="896912" y="561479"/>
                </a:lnTo>
                <a:lnTo>
                  <a:pt x="874839" y="600392"/>
                </a:lnTo>
                <a:lnTo>
                  <a:pt x="839101" y="625627"/>
                </a:lnTo>
                <a:lnTo>
                  <a:pt x="830681" y="630885"/>
                </a:lnTo>
                <a:lnTo>
                  <a:pt x="790727" y="647700"/>
                </a:lnTo>
                <a:lnTo>
                  <a:pt x="743407" y="660336"/>
                </a:lnTo>
                <a:lnTo>
                  <a:pt x="690829" y="669785"/>
                </a:lnTo>
                <a:lnTo>
                  <a:pt x="633006" y="675043"/>
                </a:lnTo>
                <a:lnTo>
                  <a:pt x="572020" y="675043"/>
                </a:lnTo>
                <a:lnTo>
                  <a:pt x="514184" y="669785"/>
                </a:lnTo>
                <a:lnTo>
                  <a:pt x="460552" y="660336"/>
                </a:lnTo>
                <a:lnTo>
                  <a:pt x="448983" y="657174"/>
                </a:lnTo>
                <a:lnTo>
                  <a:pt x="436384" y="654011"/>
                </a:lnTo>
                <a:lnTo>
                  <a:pt x="424815" y="650849"/>
                </a:lnTo>
                <a:lnTo>
                  <a:pt x="414286" y="647700"/>
                </a:lnTo>
                <a:lnTo>
                  <a:pt x="402729" y="643509"/>
                </a:lnTo>
                <a:lnTo>
                  <a:pt x="393268" y="639279"/>
                </a:lnTo>
                <a:lnTo>
                  <a:pt x="382752" y="635088"/>
                </a:lnTo>
                <a:lnTo>
                  <a:pt x="374332" y="630885"/>
                </a:lnTo>
                <a:lnTo>
                  <a:pt x="364871" y="625627"/>
                </a:lnTo>
                <a:lnTo>
                  <a:pt x="356463" y="621411"/>
                </a:lnTo>
                <a:lnTo>
                  <a:pt x="349097" y="616153"/>
                </a:lnTo>
                <a:lnTo>
                  <a:pt x="342785" y="610908"/>
                </a:lnTo>
                <a:lnTo>
                  <a:pt x="335432" y="605650"/>
                </a:lnTo>
                <a:lnTo>
                  <a:pt x="311238" y="571995"/>
                </a:lnTo>
                <a:lnTo>
                  <a:pt x="309143" y="566737"/>
                </a:lnTo>
                <a:lnTo>
                  <a:pt x="308089" y="560438"/>
                </a:lnTo>
                <a:lnTo>
                  <a:pt x="308089" y="548868"/>
                </a:lnTo>
                <a:lnTo>
                  <a:pt x="309143" y="542556"/>
                </a:lnTo>
                <a:lnTo>
                  <a:pt x="311238" y="537298"/>
                </a:lnTo>
                <a:lnTo>
                  <a:pt x="313347" y="530987"/>
                </a:lnTo>
                <a:lnTo>
                  <a:pt x="349097" y="493128"/>
                </a:lnTo>
                <a:lnTo>
                  <a:pt x="357517" y="488924"/>
                </a:lnTo>
                <a:lnTo>
                  <a:pt x="364871" y="483666"/>
                </a:lnTo>
                <a:lnTo>
                  <a:pt x="374332" y="479463"/>
                </a:lnTo>
                <a:lnTo>
                  <a:pt x="382752" y="474205"/>
                </a:lnTo>
                <a:lnTo>
                  <a:pt x="393268" y="470001"/>
                </a:lnTo>
                <a:lnTo>
                  <a:pt x="402729" y="465797"/>
                </a:lnTo>
                <a:lnTo>
                  <a:pt x="414286" y="462635"/>
                </a:lnTo>
                <a:lnTo>
                  <a:pt x="424815" y="458431"/>
                </a:lnTo>
                <a:lnTo>
                  <a:pt x="486841" y="443712"/>
                </a:lnTo>
                <a:lnTo>
                  <a:pt x="572020" y="435292"/>
                </a:lnTo>
                <a:lnTo>
                  <a:pt x="602513" y="434263"/>
                </a:lnTo>
                <a:lnTo>
                  <a:pt x="633006" y="435292"/>
                </a:lnTo>
                <a:lnTo>
                  <a:pt x="690829" y="439508"/>
                </a:lnTo>
                <a:lnTo>
                  <a:pt x="743407" y="448983"/>
                </a:lnTo>
                <a:lnTo>
                  <a:pt x="767588" y="455282"/>
                </a:lnTo>
                <a:lnTo>
                  <a:pt x="780211" y="458431"/>
                </a:lnTo>
                <a:lnTo>
                  <a:pt x="801243" y="466839"/>
                </a:lnTo>
                <a:lnTo>
                  <a:pt x="811758" y="470001"/>
                </a:lnTo>
                <a:lnTo>
                  <a:pt x="821220" y="474205"/>
                </a:lnTo>
                <a:lnTo>
                  <a:pt x="830681" y="479463"/>
                </a:lnTo>
                <a:lnTo>
                  <a:pt x="839101" y="483666"/>
                </a:lnTo>
                <a:lnTo>
                  <a:pt x="847509" y="488924"/>
                </a:lnTo>
                <a:lnTo>
                  <a:pt x="855916" y="493128"/>
                </a:lnTo>
                <a:lnTo>
                  <a:pt x="874839" y="508901"/>
                </a:lnTo>
                <a:lnTo>
                  <a:pt x="880097" y="514159"/>
                </a:lnTo>
                <a:lnTo>
                  <a:pt x="884301" y="520471"/>
                </a:lnTo>
                <a:lnTo>
                  <a:pt x="888504" y="525729"/>
                </a:lnTo>
                <a:lnTo>
                  <a:pt x="891654" y="530987"/>
                </a:lnTo>
                <a:lnTo>
                  <a:pt x="895870" y="543610"/>
                </a:lnTo>
                <a:lnTo>
                  <a:pt x="896912" y="548868"/>
                </a:lnTo>
                <a:lnTo>
                  <a:pt x="896912" y="527837"/>
                </a:lnTo>
                <a:lnTo>
                  <a:pt x="866419" y="493128"/>
                </a:lnTo>
                <a:lnTo>
                  <a:pt x="842251" y="478409"/>
                </a:lnTo>
                <a:lnTo>
                  <a:pt x="833843" y="473151"/>
                </a:lnTo>
                <a:lnTo>
                  <a:pt x="792822" y="456323"/>
                </a:lnTo>
                <a:lnTo>
                  <a:pt x="745502" y="442671"/>
                </a:lnTo>
                <a:lnTo>
                  <a:pt x="698004" y="434263"/>
                </a:lnTo>
                <a:lnTo>
                  <a:pt x="690829" y="433197"/>
                </a:lnTo>
                <a:lnTo>
                  <a:pt x="662432" y="430034"/>
                </a:lnTo>
                <a:lnTo>
                  <a:pt x="605663" y="428053"/>
                </a:lnTo>
                <a:lnTo>
                  <a:pt x="605663" y="253390"/>
                </a:lnTo>
                <a:lnTo>
                  <a:pt x="633006" y="253390"/>
                </a:lnTo>
                <a:lnTo>
                  <a:pt x="662432" y="251294"/>
                </a:lnTo>
                <a:lnTo>
                  <a:pt x="691883" y="248132"/>
                </a:lnTo>
                <a:lnTo>
                  <a:pt x="698715" y="247078"/>
                </a:lnTo>
                <a:lnTo>
                  <a:pt x="719213" y="243928"/>
                </a:lnTo>
                <a:lnTo>
                  <a:pt x="745502" y="238671"/>
                </a:lnTo>
                <a:lnTo>
                  <a:pt x="758126" y="235521"/>
                </a:lnTo>
                <a:lnTo>
                  <a:pt x="781265" y="229222"/>
                </a:lnTo>
                <a:lnTo>
                  <a:pt x="804392" y="220814"/>
                </a:lnTo>
                <a:lnTo>
                  <a:pt x="813854" y="217652"/>
                </a:lnTo>
                <a:lnTo>
                  <a:pt x="824369" y="212382"/>
                </a:lnTo>
                <a:lnTo>
                  <a:pt x="833843" y="208191"/>
                </a:lnTo>
                <a:lnTo>
                  <a:pt x="842251" y="203974"/>
                </a:lnTo>
                <a:lnTo>
                  <a:pt x="884301" y="171386"/>
                </a:lnTo>
                <a:lnTo>
                  <a:pt x="903224" y="133527"/>
                </a:lnTo>
                <a:lnTo>
                  <a:pt x="903224" y="119862"/>
                </a:lnTo>
                <a:lnTo>
                  <a:pt x="902169" y="112496"/>
                </a:lnTo>
                <a:lnTo>
                  <a:pt x="900074" y="106184"/>
                </a:lnTo>
                <a:lnTo>
                  <a:pt x="896912" y="99872"/>
                </a:lnTo>
                <a:lnTo>
                  <a:pt x="896912" y="120916"/>
                </a:lnTo>
                <a:lnTo>
                  <a:pt x="896912" y="132473"/>
                </a:lnTo>
                <a:lnTo>
                  <a:pt x="895870" y="138785"/>
                </a:lnTo>
                <a:lnTo>
                  <a:pt x="893762" y="144043"/>
                </a:lnTo>
                <a:lnTo>
                  <a:pt x="891654" y="150355"/>
                </a:lnTo>
                <a:lnTo>
                  <a:pt x="862228" y="182956"/>
                </a:lnTo>
                <a:lnTo>
                  <a:pt x="839101" y="197675"/>
                </a:lnTo>
                <a:lnTo>
                  <a:pt x="830681" y="202933"/>
                </a:lnTo>
                <a:lnTo>
                  <a:pt x="811758" y="211340"/>
                </a:lnTo>
                <a:lnTo>
                  <a:pt x="801243" y="215531"/>
                </a:lnTo>
                <a:lnTo>
                  <a:pt x="790727" y="218694"/>
                </a:lnTo>
                <a:lnTo>
                  <a:pt x="779157" y="222910"/>
                </a:lnTo>
                <a:lnTo>
                  <a:pt x="718172" y="237629"/>
                </a:lnTo>
                <a:lnTo>
                  <a:pt x="662432" y="244983"/>
                </a:lnTo>
                <a:lnTo>
                  <a:pt x="602513" y="247078"/>
                </a:lnTo>
                <a:lnTo>
                  <a:pt x="542569" y="244983"/>
                </a:lnTo>
                <a:lnTo>
                  <a:pt x="514184" y="241820"/>
                </a:lnTo>
                <a:lnTo>
                  <a:pt x="486841" y="237629"/>
                </a:lnTo>
                <a:lnTo>
                  <a:pt x="460552" y="232359"/>
                </a:lnTo>
                <a:lnTo>
                  <a:pt x="448983" y="229222"/>
                </a:lnTo>
                <a:lnTo>
                  <a:pt x="436384" y="226072"/>
                </a:lnTo>
                <a:lnTo>
                  <a:pt x="424815" y="222910"/>
                </a:lnTo>
                <a:lnTo>
                  <a:pt x="414286" y="218694"/>
                </a:lnTo>
                <a:lnTo>
                  <a:pt x="402729" y="215531"/>
                </a:lnTo>
                <a:lnTo>
                  <a:pt x="393268" y="211340"/>
                </a:lnTo>
                <a:lnTo>
                  <a:pt x="382752" y="207124"/>
                </a:lnTo>
                <a:lnTo>
                  <a:pt x="374332" y="202933"/>
                </a:lnTo>
                <a:lnTo>
                  <a:pt x="364871" y="197675"/>
                </a:lnTo>
                <a:lnTo>
                  <a:pt x="356463" y="193471"/>
                </a:lnTo>
                <a:lnTo>
                  <a:pt x="349097" y="188214"/>
                </a:lnTo>
                <a:lnTo>
                  <a:pt x="342785" y="182956"/>
                </a:lnTo>
                <a:lnTo>
                  <a:pt x="335432" y="177698"/>
                </a:lnTo>
                <a:lnTo>
                  <a:pt x="324916" y="167182"/>
                </a:lnTo>
                <a:lnTo>
                  <a:pt x="320713" y="160870"/>
                </a:lnTo>
                <a:lnTo>
                  <a:pt x="316496" y="155613"/>
                </a:lnTo>
                <a:lnTo>
                  <a:pt x="313347" y="150355"/>
                </a:lnTo>
                <a:lnTo>
                  <a:pt x="311238" y="144043"/>
                </a:lnTo>
                <a:lnTo>
                  <a:pt x="309143" y="138785"/>
                </a:lnTo>
                <a:lnTo>
                  <a:pt x="308089" y="132473"/>
                </a:lnTo>
                <a:lnTo>
                  <a:pt x="308089" y="120916"/>
                </a:lnTo>
                <a:lnTo>
                  <a:pt x="309143" y="114604"/>
                </a:lnTo>
                <a:lnTo>
                  <a:pt x="330174" y="80949"/>
                </a:lnTo>
                <a:lnTo>
                  <a:pt x="364871" y="55714"/>
                </a:lnTo>
                <a:lnTo>
                  <a:pt x="402729" y="37833"/>
                </a:lnTo>
                <a:lnTo>
                  <a:pt x="414286" y="34696"/>
                </a:lnTo>
                <a:lnTo>
                  <a:pt x="424815" y="30480"/>
                </a:lnTo>
                <a:lnTo>
                  <a:pt x="486841" y="15760"/>
                </a:lnTo>
                <a:lnTo>
                  <a:pt x="542569" y="8407"/>
                </a:lnTo>
                <a:lnTo>
                  <a:pt x="572020" y="6311"/>
                </a:lnTo>
                <a:lnTo>
                  <a:pt x="633006" y="6311"/>
                </a:lnTo>
                <a:lnTo>
                  <a:pt x="690829" y="11569"/>
                </a:lnTo>
                <a:lnTo>
                  <a:pt x="743407" y="21018"/>
                </a:lnTo>
                <a:lnTo>
                  <a:pt x="767588" y="27317"/>
                </a:lnTo>
                <a:lnTo>
                  <a:pt x="780211" y="30480"/>
                </a:lnTo>
                <a:lnTo>
                  <a:pt x="790727" y="34696"/>
                </a:lnTo>
                <a:lnTo>
                  <a:pt x="801243" y="37833"/>
                </a:lnTo>
                <a:lnTo>
                  <a:pt x="811758" y="42049"/>
                </a:lnTo>
                <a:lnTo>
                  <a:pt x="830681" y="50457"/>
                </a:lnTo>
                <a:lnTo>
                  <a:pt x="839101" y="55714"/>
                </a:lnTo>
                <a:lnTo>
                  <a:pt x="847509" y="59918"/>
                </a:lnTo>
                <a:lnTo>
                  <a:pt x="880097" y="86207"/>
                </a:lnTo>
                <a:lnTo>
                  <a:pt x="893762" y="109347"/>
                </a:lnTo>
                <a:lnTo>
                  <a:pt x="895870" y="114604"/>
                </a:lnTo>
                <a:lnTo>
                  <a:pt x="896912" y="120916"/>
                </a:lnTo>
                <a:lnTo>
                  <a:pt x="896912" y="99872"/>
                </a:lnTo>
                <a:lnTo>
                  <a:pt x="866419" y="65176"/>
                </a:lnTo>
                <a:lnTo>
                  <a:pt x="833843" y="45199"/>
                </a:lnTo>
                <a:lnTo>
                  <a:pt x="824369" y="39954"/>
                </a:lnTo>
                <a:lnTo>
                  <a:pt x="803338" y="31546"/>
                </a:lnTo>
                <a:lnTo>
                  <a:pt x="792822" y="28384"/>
                </a:lnTo>
                <a:lnTo>
                  <a:pt x="781265" y="24168"/>
                </a:lnTo>
                <a:lnTo>
                  <a:pt x="758126" y="17856"/>
                </a:lnTo>
                <a:lnTo>
                  <a:pt x="745502" y="14719"/>
                </a:lnTo>
                <a:lnTo>
                  <a:pt x="719213" y="9448"/>
                </a:lnTo>
                <a:lnTo>
                  <a:pt x="697953" y="6311"/>
                </a:lnTo>
                <a:lnTo>
                  <a:pt x="690829" y="5257"/>
                </a:lnTo>
                <a:lnTo>
                  <a:pt x="662432" y="2095"/>
                </a:lnTo>
                <a:lnTo>
                  <a:pt x="633006" y="0"/>
                </a:lnTo>
                <a:lnTo>
                  <a:pt x="572020" y="0"/>
                </a:lnTo>
                <a:lnTo>
                  <a:pt x="513130" y="5257"/>
                </a:lnTo>
                <a:lnTo>
                  <a:pt x="459498" y="14719"/>
                </a:lnTo>
                <a:lnTo>
                  <a:pt x="435330" y="21018"/>
                </a:lnTo>
                <a:lnTo>
                  <a:pt x="422694" y="24168"/>
                </a:lnTo>
                <a:lnTo>
                  <a:pt x="412191" y="28384"/>
                </a:lnTo>
                <a:lnTo>
                  <a:pt x="400621" y="31546"/>
                </a:lnTo>
                <a:lnTo>
                  <a:pt x="390105" y="35737"/>
                </a:lnTo>
                <a:lnTo>
                  <a:pt x="380644" y="39954"/>
                </a:lnTo>
                <a:lnTo>
                  <a:pt x="371182" y="45199"/>
                </a:lnTo>
                <a:lnTo>
                  <a:pt x="361721" y="49403"/>
                </a:lnTo>
                <a:lnTo>
                  <a:pt x="353301" y="54660"/>
                </a:lnTo>
                <a:lnTo>
                  <a:pt x="331228" y="70434"/>
                </a:lnTo>
                <a:lnTo>
                  <a:pt x="319659" y="82003"/>
                </a:lnTo>
                <a:lnTo>
                  <a:pt x="311238" y="94627"/>
                </a:lnTo>
                <a:lnTo>
                  <a:pt x="307035" y="99885"/>
                </a:lnTo>
                <a:lnTo>
                  <a:pt x="304939" y="107238"/>
                </a:lnTo>
                <a:lnTo>
                  <a:pt x="302831" y="113550"/>
                </a:lnTo>
                <a:lnTo>
                  <a:pt x="301777" y="119862"/>
                </a:lnTo>
                <a:lnTo>
                  <a:pt x="311238" y="159816"/>
                </a:lnTo>
                <a:lnTo>
                  <a:pt x="315455" y="165074"/>
                </a:lnTo>
                <a:lnTo>
                  <a:pt x="319659" y="171386"/>
                </a:lnTo>
                <a:lnTo>
                  <a:pt x="331228" y="182956"/>
                </a:lnTo>
                <a:lnTo>
                  <a:pt x="353301" y="198716"/>
                </a:lnTo>
                <a:lnTo>
                  <a:pt x="361721" y="203974"/>
                </a:lnTo>
                <a:lnTo>
                  <a:pt x="380644" y="212382"/>
                </a:lnTo>
                <a:lnTo>
                  <a:pt x="390105" y="217652"/>
                </a:lnTo>
                <a:lnTo>
                  <a:pt x="400621" y="221843"/>
                </a:lnTo>
                <a:lnTo>
                  <a:pt x="412191" y="225005"/>
                </a:lnTo>
                <a:lnTo>
                  <a:pt x="422694" y="229222"/>
                </a:lnTo>
                <a:lnTo>
                  <a:pt x="435330" y="232359"/>
                </a:lnTo>
                <a:lnTo>
                  <a:pt x="446900" y="235521"/>
                </a:lnTo>
                <a:lnTo>
                  <a:pt x="459498" y="238671"/>
                </a:lnTo>
                <a:lnTo>
                  <a:pt x="485787" y="243928"/>
                </a:lnTo>
                <a:lnTo>
                  <a:pt x="513130" y="248132"/>
                </a:lnTo>
                <a:lnTo>
                  <a:pt x="542569" y="251294"/>
                </a:lnTo>
                <a:lnTo>
                  <a:pt x="572020" y="253390"/>
                </a:lnTo>
                <a:lnTo>
                  <a:pt x="599351" y="253390"/>
                </a:lnTo>
                <a:lnTo>
                  <a:pt x="599351" y="428053"/>
                </a:lnTo>
                <a:lnTo>
                  <a:pt x="541515" y="430034"/>
                </a:lnTo>
                <a:lnTo>
                  <a:pt x="485787" y="437413"/>
                </a:lnTo>
                <a:lnTo>
                  <a:pt x="446900" y="445833"/>
                </a:lnTo>
                <a:lnTo>
                  <a:pt x="435330" y="448983"/>
                </a:lnTo>
                <a:lnTo>
                  <a:pt x="422694" y="452120"/>
                </a:lnTo>
                <a:lnTo>
                  <a:pt x="412191" y="456323"/>
                </a:lnTo>
                <a:lnTo>
                  <a:pt x="400621" y="460540"/>
                </a:lnTo>
                <a:lnTo>
                  <a:pt x="390105" y="464743"/>
                </a:lnTo>
                <a:lnTo>
                  <a:pt x="371182" y="473151"/>
                </a:lnTo>
                <a:lnTo>
                  <a:pt x="361721" y="478409"/>
                </a:lnTo>
                <a:lnTo>
                  <a:pt x="353301" y="482612"/>
                </a:lnTo>
                <a:lnTo>
                  <a:pt x="331228" y="498386"/>
                </a:lnTo>
                <a:lnTo>
                  <a:pt x="325970" y="504698"/>
                </a:lnTo>
                <a:lnTo>
                  <a:pt x="319659" y="509955"/>
                </a:lnTo>
                <a:lnTo>
                  <a:pt x="307035" y="528891"/>
                </a:lnTo>
                <a:lnTo>
                  <a:pt x="302831" y="541502"/>
                </a:lnTo>
                <a:lnTo>
                  <a:pt x="301777" y="547814"/>
                </a:lnTo>
                <a:lnTo>
                  <a:pt x="300723" y="555180"/>
                </a:lnTo>
                <a:lnTo>
                  <a:pt x="301777" y="561479"/>
                </a:lnTo>
                <a:lnTo>
                  <a:pt x="302831" y="568845"/>
                </a:lnTo>
                <a:lnTo>
                  <a:pt x="325970" y="605650"/>
                </a:lnTo>
                <a:lnTo>
                  <a:pt x="361721" y="631939"/>
                </a:lnTo>
                <a:lnTo>
                  <a:pt x="371182" y="636130"/>
                </a:lnTo>
                <a:lnTo>
                  <a:pt x="380644" y="641388"/>
                </a:lnTo>
                <a:lnTo>
                  <a:pt x="386067" y="643813"/>
                </a:lnTo>
                <a:lnTo>
                  <a:pt x="0" y="974712"/>
                </a:lnTo>
                <a:lnTo>
                  <a:pt x="4216" y="979970"/>
                </a:lnTo>
                <a:lnTo>
                  <a:pt x="392137" y="646417"/>
                </a:lnTo>
                <a:lnTo>
                  <a:pt x="400621" y="649795"/>
                </a:lnTo>
                <a:lnTo>
                  <a:pt x="412191" y="654011"/>
                </a:lnTo>
                <a:lnTo>
                  <a:pt x="422694" y="657174"/>
                </a:lnTo>
                <a:lnTo>
                  <a:pt x="435330" y="660336"/>
                </a:lnTo>
                <a:lnTo>
                  <a:pt x="446900" y="663473"/>
                </a:lnTo>
                <a:lnTo>
                  <a:pt x="485787" y="671893"/>
                </a:lnTo>
                <a:lnTo>
                  <a:pt x="542569" y="679246"/>
                </a:lnTo>
                <a:lnTo>
                  <a:pt x="602513" y="682396"/>
                </a:lnTo>
                <a:lnTo>
                  <a:pt x="633006" y="681342"/>
                </a:lnTo>
                <a:lnTo>
                  <a:pt x="691883" y="676084"/>
                </a:lnTo>
                <a:lnTo>
                  <a:pt x="745502" y="666623"/>
                </a:lnTo>
                <a:lnTo>
                  <a:pt x="792822" y="654011"/>
                </a:lnTo>
                <a:lnTo>
                  <a:pt x="811034" y="646861"/>
                </a:lnTo>
                <a:lnTo>
                  <a:pt x="1280706" y="1425803"/>
                </a:lnTo>
                <a:lnTo>
                  <a:pt x="1285963" y="1422641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41070" y="7663617"/>
            <a:ext cx="1066165" cy="8890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6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endParaRPr sz="95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57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  <a:p>
            <a:pPr marL="600075">
              <a:lnSpc>
                <a:spcPct val="100000"/>
              </a:lnSpc>
              <a:spcBef>
                <a:spcPts val="43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11338" y="9337236"/>
            <a:ext cx="422909" cy="223520"/>
          </a:xfrm>
          <a:custGeom>
            <a:avLst/>
            <a:gdLst/>
            <a:ahLst/>
            <a:cxnLst/>
            <a:rect l="l" t="t" r="r" b="b"/>
            <a:pathLst>
              <a:path w="422910" h="223520">
                <a:moveTo>
                  <a:pt x="422696" y="0"/>
                </a:moveTo>
                <a:lnTo>
                  <a:pt x="0" y="0"/>
                </a:lnTo>
                <a:lnTo>
                  <a:pt x="0" y="222913"/>
                </a:lnTo>
                <a:lnTo>
                  <a:pt x="422696" y="222913"/>
                </a:lnTo>
                <a:lnTo>
                  <a:pt x="422696" y="219759"/>
                </a:lnTo>
                <a:lnTo>
                  <a:pt x="6324" y="219759"/>
                </a:lnTo>
                <a:lnTo>
                  <a:pt x="3169" y="216604"/>
                </a:lnTo>
                <a:lnTo>
                  <a:pt x="6324" y="216604"/>
                </a:lnTo>
                <a:lnTo>
                  <a:pt x="6324" y="6304"/>
                </a:lnTo>
                <a:lnTo>
                  <a:pt x="3169" y="6304"/>
                </a:lnTo>
                <a:lnTo>
                  <a:pt x="6324" y="3148"/>
                </a:lnTo>
                <a:lnTo>
                  <a:pt x="422696" y="3148"/>
                </a:lnTo>
                <a:lnTo>
                  <a:pt x="422696" y="0"/>
                </a:lnTo>
                <a:close/>
              </a:path>
              <a:path w="422910" h="223520">
                <a:moveTo>
                  <a:pt x="6324" y="216604"/>
                </a:moveTo>
                <a:lnTo>
                  <a:pt x="3169" y="216604"/>
                </a:lnTo>
                <a:lnTo>
                  <a:pt x="6324" y="219759"/>
                </a:lnTo>
                <a:lnTo>
                  <a:pt x="6324" y="216604"/>
                </a:lnTo>
                <a:close/>
              </a:path>
              <a:path w="422910" h="223520">
                <a:moveTo>
                  <a:pt x="416387" y="216604"/>
                </a:moveTo>
                <a:lnTo>
                  <a:pt x="6324" y="216604"/>
                </a:lnTo>
                <a:lnTo>
                  <a:pt x="6324" y="219759"/>
                </a:lnTo>
                <a:lnTo>
                  <a:pt x="416387" y="219759"/>
                </a:lnTo>
                <a:lnTo>
                  <a:pt x="416387" y="216604"/>
                </a:lnTo>
                <a:close/>
              </a:path>
              <a:path w="422910" h="223520">
                <a:moveTo>
                  <a:pt x="416387" y="3148"/>
                </a:moveTo>
                <a:lnTo>
                  <a:pt x="416387" y="219759"/>
                </a:lnTo>
                <a:lnTo>
                  <a:pt x="419541" y="216604"/>
                </a:lnTo>
                <a:lnTo>
                  <a:pt x="422696" y="216604"/>
                </a:lnTo>
                <a:lnTo>
                  <a:pt x="422696" y="6304"/>
                </a:lnTo>
                <a:lnTo>
                  <a:pt x="419541" y="6304"/>
                </a:lnTo>
                <a:lnTo>
                  <a:pt x="416387" y="3148"/>
                </a:lnTo>
                <a:close/>
              </a:path>
              <a:path w="422910" h="223520">
                <a:moveTo>
                  <a:pt x="422696" y="216604"/>
                </a:moveTo>
                <a:lnTo>
                  <a:pt x="419541" y="216604"/>
                </a:lnTo>
                <a:lnTo>
                  <a:pt x="416387" y="219759"/>
                </a:lnTo>
                <a:lnTo>
                  <a:pt x="422696" y="219759"/>
                </a:lnTo>
                <a:lnTo>
                  <a:pt x="422696" y="216604"/>
                </a:lnTo>
                <a:close/>
              </a:path>
              <a:path w="422910" h="223520">
                <a:moveTo>
                  <a:pt x="6324" y="3148"/>
                </a:moveTo>
                <a:lnTo>
                  <a:pt x="3169" y="6304"/>
                </a:lnTo>
                <a:lnTo>
                  <a:pt x="6324" y="6304"/>
                </a:lnTo>
                <a:lnTo>
                  <a:pt x="6324" y="3148"/>
                </a:lnTo>
                <a:close/>
              </a:path>
              <a:path w="422910" h="223520">
                <a:moveTo>
                  <a:pt x="416387" y="3148"/>
                </a:moveTo>
                <a:lnTo>
                  <a:pt x="6324" y="3148"/>
                </a:lnTo>
                <a:lnTo>
                  <a:pt x="6324" y="6304"/>
                </a:lnTo>
                <a:lnTo>
                  <a:pt x="416387" y="6304"/>
                </a:lnTo>
                <a:lnTo>
                  <a:pt x="416387" y="3148"/>
                </a:lnTo>
                <a:close/>
              </a:path>
              <a:path w="422910" h="223520">
                <a:moveTo>
                  <a:pt x="422696" y="3148"/>
                </a:moveTo>
                <a:lnTo>
                  <a:pt x="416387" y="3148"/>
                </a:lnTo>
                <a:lnTo>
                  <a:pt x="419541" y="6304"/>
                </a:lnTo>
                <a:lnTo>
                  <a:pt x="422696" y="6304"/>
                </a:lnTo>
                <a:lnTo>
                  <a:pt x="422696" y="314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386461" y="9118856"/>
            <a:ext cx="757555" cy="40830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Séquentiel</a:t>
            </a:r>
            <a:endParaRPr sz="950">
              <a:latin typeface="Times New Roman"/>
              <a:cs typeface="Times New Roman"/>
            </a:endParaRPr>
          </a:p>
          <a:p>
            <a:pPr marL="489584">
              <a:lnSpc>
                <a:spcPct val="100000"/>
              </a:lnSpc>
              <a:spcBef>
                <a:spcPts val="370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38096" y="9337236"/>
            <a:ext cx="535305" cy="223520"/>
          </a:xfrm>
          <a:custGeom>
            <a:avLst/>
            <a:gdLst/>
            <a:ahLst/>
            <a:cxnLst/>
            <a:rect l="l" t="t" r="r" b="b"/>
            <a:pathLst>
              <a:path w="535304" h="223520">
                <a:moveTo>
                  <a:pt x="535213" y="0"/>
                </a:moveTo>
                <a:lnTo>
                  <a:pt x="0" y="0"/>
                </a:lnTo>
                <a:lnTo>
                  <a:pt x="0" y="222913"/>
                </a:lnTo>
                <a:lnTo>
                  <a:pt x="535213" y="222913"/>
                </a:lnTo>
                <a:lnTo>
                  <a:pt x="535213" y="219759"/>
                </a:lnTo>
                <a:lnTo>
                  <a:pt x="6309" y="219759"/>
                </a:lnTo>
                <a:lnTo>
                  <a:pt x="3154" y="216604"/>
                </a:lnTo>
                <a:lnTo>
                  <a:pt x="6309" y="216604"/>
                </a:lnTo>
                <a:lnTo>
                  <a:pt x="6309" y="6304"/>
                </a:lnTo>
                <a:lnTo>
                  <a:pt x="3154" y="6304"/>
                </a:lnTo>
                <a:lnTo>
                  <a:pt x="6309" y="3148"/>
                </a:lnTo>
                <a:lnTo>
                  <a:pt x="535213" y="3148"/>
                </a:lnTo>
                <a:lnTo>
                  <a:pt x="535213" y="0"/>
                </a:lnTo>
                <a:close/>
              </a:path>
              <a:path w="535304" h="223520">
                <a:moveTo>
                  <a:pt x="6309" y="216604"/>
                </a:moveTo>
                <a:lnTo>
                  <a:pt x="3154" y="216604"/>
                </a:lnTo>
                <a:lnTo>
                  <a:pt x="6309" y="219759"/>
                </a:lnTo>
                <a:lnTo>
                  <a:pt x="6309" y="216604"/>
                </a:lnTo>
                <a:close/>
              </a:path>
              <a:path w="535304" h="223520">
                <a:moveTo>
                  <a:pt x="528904" y="216604"/>
                </a:moveTo>
                <a:lnTo>
                  <a:pt x="6309" y="216604"/>
                </a:lnTo>
                <a:lnTo>
                  <a:pt x="6309" y="219759"/>
                </a:lnTo>
                <a:lnTo>
                  <a:pt x="528904" y="219759"/>
                </a:lnTo>
                <a:lnTo>
                  <a:pt x="528904" y="216604"/>
                </a:lnTo>
                <a:close/>
              </a:path>
              <a:path w="535304" h="223520">
                <a:moveTo>
                  <a:pt x="528904" y="3148"/>
                </a:moveTo>
                <a:lnTo>
                  <a:pt x="528904" y="219759"/>
                </a:lnTo>
                <a:lnTo>
                  <a:pt x="532058" y="216604"/>
                </a:lnTo>
                <a:lnTo>
                  <a:pt x="535213" y="216604"/>
                </a:lnTo>
                <a:lnTo>
                  <a:pt x="535213" y="6304"/>
                </a:lnTo>
                <a:lnTo>
                  <a:pt x="532058" y="6304"/>
                </a:lnTo>
                <a:lnTo>
                  <a:pt x="528904" y="3148"/>
                </a:lnTo>
                <a:close/>
              </a:path>
              <a:path w="535304" h="223520">
                <a:moveTo>
                  <a:pt x="535213" y="216604"/>
                </a:moveTo>
                <a:lnTo>
                  <a:pt x="532058" y="216604"/>
                </a:lnTo>
                <a:lnTo>
                  <a:pt x="528904" y="219759"/>
                </a:lnTo>
                <a:lnTo>
                  <a:pt x="535213" y="219759"/>
                </a:lnTo>
                <a:lnTo>
                  <a:pt x="535213" y="216604"/>
                </a:lnTo>
                <a:close/>
              </a:path>
              <a:path w="535304" h="223520">
                <a:moveTo>
                  <a:pt x="6309" y="3148"/>
                </a:moveTo>
                <a:lnTo>
                  <a:pt x="3154" y="6304"/>
                </a:lnTo>
                <a:lnTo>
                  <a:pt x="6309" y="6304"/>
                </a:lnTo>
                <a:lnTo>
                  <a:pt x="6309" y="3148"/>
                </a:lnTo>
                <a:close/>
              </a:path>
              <a:path w="535304" h="223520">
                <a:moveTo>
                  <a:pt x="528904" y="3148"/>
                </a:moveTo>
                <a:lnTo>
                  <a:pt x="6309" y="3148"/>
                </a:lnTo>
                <a:lnTo>
                  <a:pt x="6309" y="6304"/>
                </a:lnTo>
                <a:lnTo>
                  <a:pt x="528904" y="6304"/>
                </a:lnTo>
                <a:lnTo>
                  <a:pt x="528904" y="3148"/>
                </a:lnTo>
                <a:close/>
              </a:path>
              <a:path w="535304" h="223520">
                <a:moveTo>
                  <a:pt x="535213" y="3148"/>
                </a:moveTo>
                <a:lnTo>
                  <a:pt x="528904" y="3148"/>
                </a:lnTo>
                <a:lnTo>
                  <a:pt x="532058" y="6304"/>
                </a:lnTo>
                <a:lnTo>
                  <a:pt x="535213" y="6304"/>
                </a:lnTo>
                <a:lnTo>
                  <a:pt x="535213" y="3148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76420" y="9081006"/>
            <a:ext cx="939165" cy="44640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Séquentiel</a:t>
            </a:r>
            <a:endParaRPr sz="950">
              <a:latin typeface="Times New Roman"/>
              <a:cs typeface="Times New Roman"/>
            </a:endParaRPr>
          </a:p>
          <a:p>
            <a:pPr marL="526415">
              <a:lnSpc>
                <a:spcPct val="100000"/>
              </a:lnSpc>
              <a:spcBef>
                <a:spcPts val="515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00232" y="8839886"/>
            <a:ext cx="602615" cy="501015"/>
          </a:xfrm>
          <a:custGeom>
            <a:avLst/>
            <a:gdLst/>
            <a:ahLst/>
            <a:cxnLst/>
            <a:rect l="l" t="t" r="r" b="b"/>
            <a:pathLst>
              <a:path w="602614" h="501015">
                <a:moveTo>
                  <a:pt x="602500" y="119862"/>
                </a:moveTo>
                <a:lnTo>
                  <a:pt x="601459" y="113563"/>
                </a:lnTo>
                <a:lnTo>
                  <a:pt x="599351" y="106197"/>
                </a:lnTo>
                <a:lnTo>
                  <a:pt x="596188" y="99872"/>
                </a:lnTo>
                <a:lnTo>
                  <a:pt x="596188" y="120916"/>
                </a:lnTo>
                <a:lnTo>
                  <a:pt x="596188" y="132486"/>
                </a:lnTo>
                <a:lnTo>
                  <a:pt x="579361" y="167182"/>
                </a:lnTo>
                <a:lnTo>
                  <a:pt x="546785" y="193471"/>
                </a:lnTo>
                <a:lnTo>
                  <a:pt x="538365" y="197675"/>
                </a:lnTo>
                <a:lnTo>
                  <a:pt x="529958" y="202933"/>
                </a:lnTo>
                <a:lnTo>
                  <a:pt x="490004" y="219760"/>
                </a:lnTo>
                <a:lnTo>
                  <a:pt x="442683" y="232384"/>
                </a:lnTo>
                <a:lnTo>
                  <a:pt x="390118" y="241846"/>
                </a:lnTo>
                <a:lnTo>
                  <a:pt x="332282" y="247103"/>
                </a:lnTo>
                <a:lnTo>
                  <a:pt x="271284" y="247103"/>
                </a:lnTo>
                <a:lnTo>
                  <a:pt x="213448" y="241846"/>
                </a:lnTo>
                <a:lnTo>
                  <a:pt x="159829" y="232384"/>
                </a:lnTo>
                <a:lnTo>
                  <a:pt x="148259" y="229222"/>
                </a:lnTo>
                <a:lnTo>
                  <a:pt x="135648" y="226072"/>
                </a:lnTo>
                <a:lnTo>
                  <a:pt x="124091" y="222910"/>
                </a:lnTo>
                <a:lnTo>
                  <a:pt x="113576" y="218706"/>
                </a:lnTo>
                <a:lnTo>
                  <a:pt x="102006" y="215557"/>
                </a:lnTo>
                <a:lnTo>
                  <a:pt x="92544" y="211353"/>
                </a:lnTo>
                <a:lnTo>
                  <a:pt x="82029" y="207137"/>
                </a:lnTo>
                <a:lnTo>
                  <a:pt x="73609" y="202933"/>
                </a:lnTo>
                <a:lnTo>
                  <a:pt x="64147" y="197675"/>
                </a:lnTo>
                <a:lnTo>
                  <a:pt x="55740" y="193471"/>
                </a:lnTo>
                <a:lnTo>
                  <a:pt x="48374" y="188214"/>
                </a:lnTo>
                <a:lnTo>
                  <a:pt x="42062" y="182956"/>
                </a:lnTo>
                <a:lnTo>
                  <a:pt x="34709" y="177698"/>
                </a:lnTo>
                <a:lnTo>
                  <a:pt x="24193" y="167182"/>
                </a:lnTo>
                <a:lnTo>
                  <a:pt x="19977" y="161937"/>
                </a:lnTo>
                <a:lnTo>
                  <a:pt x="15773" y="155613"/>
                </a:lnTo>
                <a:lnTo>
                  <a:pt x="12623" y="150368"/>
                </a:lnTo>
                <a:lnTo>
                  <a:pt x="10515" y="144043"/>
                </a:lnTo>
                <a:lnTo>
                  <a:pt x="8420" y="138811"/>
                </a:lnTo>
                <a:lnTo>
                  <a:pt x="7366" y="132486"/>
                </a:lnTo>
                <a:lnTo>
                  <a:pt x="7366" y="120916"/>
                </a:lnTo>
                <a:lnTo>
                  <a:pt x="8420" y="114604"/>
                </a:lnTo>
                <a:lnTo>
                  <a:pt x="10515" y="109359"/>
                </a:lnTo>
                <a:lnTo>
                  <a:pt x="12623" y="103035"/>
                </a:lnTo>
                <a:lnTo>
                  <a:pt x="48374" y="65201"/>
                </a:lnTo>
                <a:lnTo>
                  <a:pt x="82029" y="46266"/>
                </a:lnTo>
                <a:lnTo>
                  <a:pt x="92544" y="42062"/>
                </a:lnTo>
                <a:lnTo>
                  <a:pt x="102006" y="37858"/>
                </a:lnTo>
                <a:lnTo>
                  <a:pt x="113576" y="34696"/>
                </a:lnTo>
                <a:lnTo>
                  <a:pt x="124091" y="30492"/>
                </a:lnTo>
                <a:lnTo>
                  <a:pt x="135648" y="27343"/>
                </a:lnTo>
                <a:lnTo>
                  <a:pt x="186118" y="15773"/>
                </a:lnTo>
                <a:lnTo>
                  <a:pt x="241846" y="8407"/>
                </a:lnTo>
                <a:lnTo>
                  <a:pt x="301790" y="6311"/>
                </a:lnTo>
                <a:lnTo>
                  <a:pt x="361721" y="8407"/>
                </a:lnTo>
                <a:lnTo>
                  <a:pt x="417436" y="15773"/>
                </a:lnTo>
                <a:lnTo>
                  <a:pt x="455295" y="24180"/>
                </a:lnTo>
                <a:lnTo>
                  <a:pt x="466864" y="27343"/>
                </a:lnTo>
                <a:lnTo>
                  <a:pt x="479488" y="30492"/>
                </a:lnTo>
                <a:lnTo>
                  <a:pt x="490004" y="34696"/>
                </a:lnTo>
                <a:lnTo>
                  <a:pt x="500519" y="37858"/>
                </a:lnTo>
                <a:lnTo>
                  <a:pt x="511035" y="42062"/>
                </a:lnTo>
                <a:lnTo>
                  <a:pt x="520496" y="46266"/>
                </a:lnTo>
                <a:lnTo>
                  <a:pt x="529958" y="51523"/>
                </a:lnTo>
                <a:lnTo>
                  <a:pt x="546785" y="59944"/>
                </a:lnTo>
                <a:lnTo>
                  <a:pt x="555193" y="65201"/>
                </a:lnTo>
                <a:lnTo>
                  <a:pt x="574103" y="80975"/>
                </a:lnTo>
                <a:lnTo>
                  <a:pt x="579361" y="86233"/>
                </a:lnTo>
                <a:lnTo>
                  <a:pt x="583590" y="92532"/>
                </a:lnTo>
                <a:lnTo>
                  <a:pt x="587781" y="97790"/>
                </a:lnTo>
                <a:lnTo>
                  <a:pt x="590931" y="103035"/>
                </a:lnTo>
                <a:lnTo>
                  <a:pt x="593051" y="109359"/>
                </a:lnTo>
                <a:lnTo>
                  <a:pt x="595160" y="114604"/>
                </a:lnTo>
                <a:lnTo>
                  <a:pt x="596188" y="120916"/>
                </a:lnTo>
                <a:lnTo>
                  <a:pt x="596188" y="99872"/>
                </a:lnTo>
                <a:lnTo>
                  <a:pt x="565708" y="65201"/>
                </a:lnTo>
                <a:lnTo>
                  <a:pt x="533107" y="45212"/>
                </a:lnTo>
                <a:lnTo>
                  <a:pt x="523646" y="41008"/>
                </a:lnTo>
                <a:lnTo>
                  <a:pt x="513130" y="35750"/>
                </a:lnTo>
                <a:lnTo>
                  <a:pt x="502615" y="32600"/>
                </a:lnTo>
                <a:lnTo>
                  <a:pt x="492099" y="28397"/>
                </a:lnTo>
                <a:lnTo>
                  <a:pt x="480529" y="24180"/>
                </a:lnTo>
                <a:lnTo>
                  <a:pt x="457403" y="17881"/>
                </a:lnTo>
                <a:lnTo>
                  <a:pt x="444779" y="14719"/>
                </a:lnTo>
                <a:lnTo>
                  <a:pt x="418490" y="9461"/>
                </a:lnTo>
                <a:lnTo>
                  <a:pt x="397205" y="6311"/>
                </a:lnTo>
                <a:lnTo>
                  <a:pt x="390118" y="5257"/>
                </a:lnTo>
                <a:lnTo>
                  <a:pt x="361721" y="2108"/>
                </a:lnTo>
                <a:lnTo>
                  <a:pt x="332282" y="0"/>
                </a:lnTo>
                <a:lnTo>
                  <a:pt x="271284" y="0"/>
                </a:lnTo>
                <a:lnTo>
                  <a:pt x="212407" y="5257"/>
                </a:lnTo>
                <a:lnTo>
                  <a:pt x="158788" y="14719"/>
                </a:lnTo>
                <a:lnTo>
                  <a:pt x="134607" y="21031"/>
                </a:lnTo>
                <a:lnTo>
                  <a:pt x="121983" y="24180"/>
                </a:lnTo>
                <a:lnTo>
                  <a:pt x="111467" y="28397"/>
                </a:lnTo>
                <a:lnTo>
                  <a:pt x="99898" y="32600"/>
                </a:lnTo>
                <a:lnTo>
                  <a:pt x="89382" y="35750"/>
                </a:lnTo>
                <a:lnTo>
                  <a:pt x="79921" y="41008"/>
                </a:lnTo>
                <a:lnTo>
                  <a:pt x="60998" y="49428"/>
                </a:lnTo>
                <a:lnTo>
                  <a:pt x="52578" y="54686"/>
                </a:lnTo>
                <a:lnTo>
                  <a:pt x="30492" y="70459"/>
                </a:lnTo>
                <a:lnTo>
                  <a:pt x="25234" y="76758"/>
                </a:lnTo>
                <a:lnTo>
                  <a:pt x="18935" y="82016"/>
                </a:lnTo>
                <a:lnTo>
                  <a:pt x="6311" y="100952"/>
                </a:lnTo>
                <a:lnTo>
                  <a:pt x="2108" y="113563"/>
                </a:lnTo>
                <a:lnTo>
                  <a:pt x="1066" y="119862"/>
                </a:lnTo>
                <a:lnTo>
                  <a:pt x="0" y="127241"/>
                </a:lnTo>
                <a:lnTo>
                  <a:pt x="1066" y="133553"/>
                </a:lnTo>
                <a:lnTo>
                  <a:pt x="2108" y="140893"/>
                </a:lnTo>
                <a:lnTo>
                  <a:pt x="25234" y="177698"/>
                </a:lnTo>
                <a:lnTo>
                  <a:pt x="60998" y="203987"/>
                </a:lnTo>
                <a:lnTo>
                  <a:pt x="70459" y="208191"/>
                </a:lnTo>
                <a:lnTo>
                  <a:pt x="79921" y="213448"/>
                </a:lnTo>
                <a:lnTo>
                  <a:pt x="89382" y="217652"/>
                </a:lnTo>
                <a:lnTo>
                  <a:pt x="99898" y="221869"/>
                </a:lnTo>
                <a:lnTo>
                  <a:pt x="111467" y="225018"/>
                </a:lnTo>
                <a:lnTo>
                  <a:pt x="121983" y="229222"/>
                </a:lnTo>
                <a:lnTo>
                  <a:pt x="134607" y="232384"/>
                </a:lnTo>
                <a:lnTo>
                  <a:pt x="146164" y="235534"/>
                </a:lnTo>
                <a:lnTo>
                  <a:pt x="158788" y="238683"/>
                </a:lnTo>
                <a:lnTo>
                  <a:pt x="185064" y="243941"/>
                </a:lnTo>
                <a:lnTo>
                  <a:pt x="212407" y="248158"/>
                </a:lnTo>
                <a:lnTo>
                  <a:pt x="241846" y="251307"/>
                </a:lnTo>
                <a:lnTo>
                  <a:pt x="271284" y="253415"/>
                </a:lnTo>
                <a:lnTo>
                  <a:pt x="298678" y="253415"/>
                </a:lnTo>
                <a:lnTo>
                  <a:pt x="302831" y="500507"/>
                </a:lnTo>
                <a:lnTo>
                  <a:pt x="309143" y="500507"/>
                </a:lnTo>
                <a:lnTo>
                  <a:pt x="304990" y="253415"/>
                </a:lnTo>
                <a:lnTo>
                  <a:pt x="332282" y="253415"/>
                </a:lnTo>
                <a:lnTo>
                  <a:pt x="391147" y="248158"/>
                </a:lnTo>
                <a:lnTo>
                  <a:pt x="444779" y="238683"/>
                </a:lnTo>
                <a:lnTo>
                  <a:pt x="492099" y="225018"/>
                </a:lnTo>
                <a:lnTo>
                  <a:pt x="503669" y="221869"/>
                </a:lnTo>
                <a:lnTo>
                  <a:pt x="513130" y="217652"/>
                </a:lnTo>
                <a:lnTo>
                  <a:pt x="523646" y="213448"/>
                </a:lnTo>
                <a:lnTo>
                  <a:pt x="533107" y="208191"/>
                </a:lnTo>
                <a:lnTo>
                  <a:pt x="565708" y="188214"/>
                </a:lnTo>
                <a:lnTo>
                  <a:pt x="593051" y="159816"/>
                </a:lnTo>
                <a:lnTo>
                  <a:pt x="602500" y="133553"/>
                </a:lnTo>
                <a:lnTo>
                  <a:pt x="602500" y="119862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677677" y="8587872"/>
            <a:ext cx="1167130" cy="46100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nom='Multiplex'</a:t>
            </a:r>
            <a:endParaRPr sz="950">
              <a:latin typeface="Times New Roman"/>
              <a:cs typeface="Times New Roman"/>
            </a:endParaRPr>
          </a:p>
          <a:p>
            <a:pPr marL="694055">
              <a:lnSpc>
                <a:spcPct val="100000"/>
              </a:lnSpc>
              <a:spcBef>
                <a:spcPts val="570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48072" y="8343574"/>
            <a:ext cx="602615" cy="254635"/>
          </a:xfrm>
          <a:custGeom>
            <a:avLst/>
            <a:gdLst/>
            <a:ahLst/>
            <a:cxnLst/>
            <a:rect l="l" t="t" r="r" b="b"/>
            <a:pathLst>
              <a:path w="602614" h="254634">
                <a:moveTo>
                  <a:pt x="301767" y="0"/>
                </a:moveTo>
                <a:lnTo>
                  <a:pt x="240776" y="2103"/>
                </a:lnTo>
                <a:lnTo>
                  <a:pt x="185059" y="9479"/>
                </a:lnTo>
                <a:lnTo>
                  <a:pt x="133532" y="21046"/>
                </a:lnTo>
                <a:lnTo>
                  <a:pt x="89367" y="36804"/>
                </a:lnTo>
                <a:lnTo>
                  <a:pt x="60975" y="50474"/>
                </a:lnTo>
                <a:lnTo>
                  <a:pt x="52562" y="54681"/>
                </a:lnTo>
                <a:lnTo>
                  <a:pt x="18928" y="82021"/>
                </a:lnTo>
                <a:lnTo>
                  <a:pt x="1051" y="119877"/>
                </a:lnTo>
                <a:lnTo>
                  <a:pt x="0" y="127238"/>
                </a:lnTo>
                <a:lnTo>
                  <a:pt x="1051" y="133548"/>
                </a:lnTo>
                <a:lnTo>
                  <a:pt x="2103" y="140909"/>
                </a:lnTo>
                <a:lnTo>
                  <a:pt x="24185" y="177713"/>
                </a:lnTo>
                <a:lnTo>
                  <a:pt x="60975" y="204002"/>
                </a:lnTo>
                <a:lnTo>
                  <a:pt x="70454" y="208193"/>
                </a:lnTo>
                <a:lnTo>
                  <a:pt x="79903" y="213451"/>
                </a:lnTo>
                <a:lnTo>
                  <a:pt x="133532" y="232394"/>
                </a:lnTo>
                <a:lnTo>
                  <a:pt x="185059" y="243961"/>
                </a:lnTo>
                <a:lnTo>
                  <a:pt x="240776" y="251307"/>
                </a:lnTo>
                <a:lnTo>
                  <a:pt x="301767" y="254462"/>
                </a:lnTo>
                <a:lnTo>
                  <a:pt x="332262" y="253410"/>
                </a:lnTo>
                <a:lnTo>
                  <a:pt x="361706" y="251307"/>
                </a:lnTo>
                <a:lnTo>
                  <a:pt x="390098" y="248152"/>
                </a:lnTo>
                <a:lnTo>
                  <a:pt x="397222" y="247101"/>
                </a:lnTo>
                <a:lnTo>
                  <a:pt x="271272" y="247101"/>
                </a:lnTo>
                <a:lnTo>
                  <a:pt x="241843" y="244998"/>
                </a:lnTo>
                <a:lnTo>
                  <a:pt x="213451" y="241843"/>
                </a:lnTo>
                <a:lnTo>
                  <a:pt x="186110" y="237637"/>
                </a:lnTo>
                <a:lnTo>
                  <a:pt x="159821" y="232394"/>
                </a:lnTo>
                <a:lnTo>
                  <a:pt x="148254" y="229240"/>
                </a:lnTo>
                <a:lnTo>
                  <a:pt x="135636" y="226070"/>
                </a:lnTo>
                <a:lnTo>
                  <a:pt x="112501" y="219760"/>
                </a:lnTo>
                <a:lnTo>
                  <a:pt x="101986" y="215569"/>
                </a:lnTo>
                <a:lnTo>
                  <a:pt x="92522" y="211348"/>
                </a:lnTo>
                <a:lnTo>
                  <a:pt x="82006" y="207157"/>
                </a:lnTo>
                <a:lnTo>
                  <a:pt x="72542" y="202951"/>
                </a:lnTo>
                <a:lnTo>
                  <a:pt x="64129" y="197693"/>
                </a:lnTo>
                <a:lnTo>
                  <a:pt x="55717" y="193471"/>
                </a:lnTo>
                <a:lnTo>
                  <a:pt x="24185" y="167198"/>
                </a:lnTo>
                <a:lnTo>
                  <a:pt x="7360" y="132496"/>
                </a:lnTo>
                <a:lnTo>
                  <a:pt x="6309" y="127238"/>
                </a:lnTo>
                <a:lnTo>
                  <a:pt x="8412" y="114620"/>
                </a:lnTo>
                <a:lnTo>
                  <a:pt x="10515" y="109362"/>
                </a:lnTo>
                <a:lnTo>
                  <a:pt x="12618" y="103052"/>
                </a:lnTo>
                <a:lnTo>
                  <a:pt x="42062" y="70454"/>
                </a:lnTo>
                <a:lnTo>
                  <a:pt x="48356" y="65196"/>
                </a:lnTo>
                <a:lnTo>
                  <a:pt x="55717" y="60990"/>
                </a:lnTo>
                <a:lnTo>
                  <a:pt x="64129" y="55732"/>
                </a:lnTo>
                <a:lnTo>
                  <a:pt x="72542" y="51526"/>
                </a:lnTo>
                <a:lnTo>
                  <a:pt x="82006" y="46268"/>
                </a:lnTo>
                <a:lnTo>
                  <a:pt x="92522" y="42062"/>
                </a:lnTo>
                <a:lnTo>
                  <a:pt x="101986" y="37856"/>
                </a:lnTo>
                <a:lnTo>
                  <a:pt x="113553" y="34701"/>
                </a:lnTo>
                <a:lnTo>
                  <a:pt x="124068" y="30495"/>
                </a:lnTo>
                <a:lnTo>
                  <a:pt x="135636" y="27340"/>
                </a:lnTo>
                <a:lnTo>
                  <a:pt x="148254" y="24185"/>
                </a:lnTo>
                <a:lnTo>
                  <a:pt x="159821" y="21046"/>
                </a:lnTo>
                <a:lnTo>
                  <a:pt x="186110" y="15773"/>
                </a:lnTo>
                <a:lnTo>
                  <a:pt x="213451" y="11567"/>
                </a:lnTo>
                <a:lnTo>
                  <a:pt x="271272" y="7360"/>
                </a:lnTo>
                <a:lnTo>
                  <a:pt x="301767" y="6324"/>
                </a:lnTo>
                <a:lnTo>
                  <a:pt x="397007" y="6324"/>
                </a:lnTo>
                <a:lnTo>
                  <a:pt x="390098" y="5257"/>
                </a:lnTo>
                <a:lnTo>
                  <a:pt x="361706" y="2103"/>
                </a:lnTo>
                <a:lnTo>
                  <a:pt x="301767" y="0"/>
                </a:lnTo>
                <a:close/>
              </a:path>
              <a:path w="602614" h="254634">
                <a:moveTo>
                  <a:pt x="397007" y="6324"/>
                </a:moveTo>
                <a:lnTo>
                  <a:pt x="301767" y="6324"/>
                </a:lnTo>
                <a:lnTo>
                  <a:pt x="332262" y="7360"/>
                </a:lnTo>
                <a:lnTo>
                  <a:pt x="390098" y="11567"/>
                </a:lnTo>
                <a:lnTo>
                  <a:pt x="442676" y="21046"/>
                </a:lnTo>
                <a:lnTo>
                  <a:pt x="489981" y="34701"/>
                </a:lnTo>
                <a:lnTo>
                  <a:pt x="500496" y="38907"/>
                </a:lnTo>
                <a:lnTo>
                  <a:pt x="511012" y="42062"/>
                </a:lnTo>
                <a:lnTo>
                  <a:pt x="520476" y="46268"/>
                </a:lnTo>
                <a:lnTo>
                  <a:pt x="529940" y="51526"/>
                </a:lnTo>
                <a:lnTo>
                  <a:pt x="538353" y="55732"/>
                </a:lnTo>
                <a:lnTo>
                  <a:pt x="546765" y="60990"/>
                </a:lnTo>
                <a:lnTo>
                  <a:pt x="554126" y="65196"/>
                </a:lnTo>
                <a:lnTo>
                  <a:pt x="561487" y="70454"/>
                </a:lnTo>
                <a:lnTo>
                  <a:pt x="574106" y="80970"/>
                </a:lnTo>
                <a:lnTo>
                  <a:pt x="579363" y="86227"/>
                </a:lnTo>
                <a:lnTo>
                  <a:pt x="583570" y="92537"/>
                </a:lnTo>
                <a:lnTo>
                  <a:pt x="587776" y="97795"/>
                </a:lnTo>
                <a:lnTo>
                  <a:pt x="590931" y="103052"/>
                </a:lnTo>
                <a:lnTo>
                  <a:pt x="595137" y="115671"/>
                </a:lnTo>
                <a:lnTo>
                  <a:pt x="596188" y="120929"/>
                </a:lnTo>
                <a:lnTo>
                  <a:pt x="596188" y="133548"/>
                </a:lnTo>
                <a:lnTo>
                  <a:pt x="595137" y="138805"/>
                </a:lnTo>
                <a:lnTo>
                  <a:pt x="593034" y="145115"/>
                </a:lnTo>
                <a:lnTo>
                  <a:pt x="589879" y="150373"/>
                </a:lnTo>
                <a:lnTo>
                  <a:pt x="586724" y="156682"/>
                </a:lnTo>
                <a:lnTo>
                  <a:pt x="583570" y="161940"/>
                </a:lnTo>
                <a:lnTo>
                  <a:pt x="578312" y="167198"/>
                </a:lnTo>
                <a:lnTo>
                  <a:pt x="574106" y="172455"/>
                </a:lnTo>
                <a:lnTo>
                  <a:pt x="561487" y="182971"/>
                </a:lnTo>
                <a:lnTo>
                  <a:pt x="546765" y="193471"/>
                </a:lnTo>
                <a:lnTo>
                  <a:pt x="538353" y="197693"/>
                </a:lnTo>
                <a:lnTo>
                  <a:pt x="529940" y="202951"/>
                </a:lnTo>
                <a:lnTo>
                  <a:pt x="489981" y="219760"/>
                </a:lnTo>
                <a:lnTo>
                  <a:pt x="442676" y="232394"/>
                </a:lnTo>
                <a:lnTo>
                  <a:pt x="390098" y="241843"/>
                </a:lnTo>
                <a:lnTo>
                  <a:pt x="332262" y="247101"/>
                </a:lnTo>
                <a:lnTo>
                  <a:pt x="397222" y="247101"/>
                </a:lnTo>
                <a:lnTo>
                  <a:pt x="418490" y="243961"/>
                </a:lnTo>
                <a:lnTo>
                  <a:pt x="444779" y="238688"/>
                </a:lnTo>
                <a:lnTo>
                  <a:pt x="456346" y="235534"/>
                </a:lnTo>
                <a:lnTo>
                  <a:pt x="468950" y="232394"/>
                </a:lnTo>
                <a:lnTo>
                  <a:pt x="492084" y="226070"/>
                </a:lnTo>
                <a:lnTo>
                  <a:pt x="523631" y="213451"/>
                </a:lnTo>
                <a:lnTo>
                  <a:pt x="533095" y="208193"/>
                </a:lnTo>
                <a:lnTo>
                  <a:pt x="541507" y="204002"/>
                </a:lnTo>
                <a:lnTo>
                  <a:pt x="578312" y="177713"/>
                </a:lnTo>
                <a:lnTo>
                  <a:pt x="601446" y="139857"/>
                </a:lnTo>
                <a:lnTo>
                  <a:pt x="602498" y="133548"/>
                </a:lnTo>
                <a:lnTo>
                  <a:pt x="602498" y="119877"/>
                </a:lnTo>
                <a:lnTo>
                  <a:pt x="583570" y="82021"/>
                </a:lnTo>
                <a:lnTo>
                  <a:pt x="549920" y="54681"/>
                </a:lnTo>
                <a:lnTo>
                  <a:pt x="541507" y="50474"/>
                </a:lnTo>
                <a:lnTo>
                  <a:pt x="533095" y="45217"/>
                </a:lnTo>
                <a:lnTo>
                  <a:pt x="492084" y="28392"/>
                </a:lnTo>
                <a:lnTo>
                  <a:pt x="443712" y="14737"/>
                </a:lnTo>
                <a:lnTo>
                  <a:pt x="417438" y="9479"/>
                </a:lnTo>
                <a:lnTo>
                  <a:pt x="397007" y="6324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937351" y="8379246"/>
            <a:ext cx="42418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99914" y="7896707"/>
            <a:ext cx="1304925" cy="1030605"/>
          </a:xfrm>
          <a:custGeom>
            <a:avLst/>
            <a:gdLst/>
            <a:ahLst/>
            <a:cxnLst/>
            <a:rect l="l" t="t" r="r" b="b"/>
            <a:pathLst>
              <a:path w="1304925" h="1030604">
                <a:moveTo>
                  <a:pt x="341731" y="663473"/>
                </a:moveTo>
                <a:lnTo>
                  <a:pt x="337515" y="659282"/>
                </a:lnTo>
                <a:lnTo>
                  <a:pt x="0" y="943178"/>
                </a:lnTo>
                <a:lnTo>
                  <a:pt x="4203" y="948436"/>
                </a:lnTo>
                <a:lnTo>
                  <a:pt x="341731" y="663473"/>
                </a:lnTo>
                <a:close/>
              </a:path>
              <a:path w="1304925" h="1030604">
                <a:moveTo>
                  <a:pt x="850646" y="119862"/>
                </a:moveTo>
                <a:lnTo>
                  <a:pt x="849604" y="113563"/>
                </a:lnTo>
                <a:lnTo>
                  <a:pt x="847496" y="107251"/>
                </a:lnTo>
                <a:lnTo>
                  <a:pt x="844346" y="99885"/>
                </a:lnTo>
                <a:lnTo>
                  <a:pt x="844346" y="120916"/>
                </a:lnTo>
                <a:lnTo>
                  <a:pt x="844346" y="133540"/>
                </a:lnTo>
                <a:lnTo>
                  <a:pt x="843292" y="138798"/>
                </a:lnTo>
                <a:lnTo>
                  <a:pt x="841184" y="145110"/>
                </a:lnTo>
                <a:lnTo>
                  <a:pt x="838034" y="150368"/>
                </a:lnTo>
                <a:lnTo>
                  <a:pt x="834872" y="156667"/>
                </a:lnTo>
                <a:lnTo>
                  <a:pt x="831723" y="161925"/>
                </a:lnTo>
                <a:lnTo>
                  <a:pt x="826465" y="167182"/>
                </a:lnTo>
                <a:lnTo>
                  <a:pt x="822261" y="172440"/>
                </a:lnTo>
                <a:lnTo>
                  <a:pt x="809637" y="182956"/>
                </a:lnTo>
                <a:lnTo>
                  <a:pt x="794918" y="193471"/>
                </a:lnTo>
                <a:lnTo>
                  <a:pt x="786511" y="197688"/>
                </a:lnTo>
                <a:lnTo>
                  <a:pt x="778090" y="202946"/>
                </a:lnTo>
                <a:lnTo>
                  <a:pt x="738136" y="219760"/>
                </a:lnTo>
                <a:lnTo>
                  <a:pt x="690829" y="232371"/>
                </a:lnTo>
                <a:lnTo>
                  <a:pt x="638251" y="241846"/>
                </a:lnTo>
                <a:lnTo>
                  <a:pt x="580415" y="247103"/>
                </a:lnTo>
                <a:lnTo>
                  <a:pt x="519430" y="247103"/>
                </a:lnTo>
                <a:lnTo>
                  <a:pt x="461606" y="241846"/>
                </a:lnTo>
                <a:lnTo>
                  <a:pt x="407974" y="232371"/>
                </a:lnTo>
                <a:lnTo>
                  <a:pt x="396405" y="229209"/>
                </a:lnTo>
                <a:lnTo>
                  <a:pt x="383794" y="226060"/>
                </a:lnTo>
                <a:lnTo>
                  <a:pt x="360654" y="219760"/>
                </a:lnTo>
                <a:lnTo>
                  <a:pt x="350139" y="215557"/>
                </a:lnTo>
                <a:lnTo>
                  <a:pt x="340677" y="211353"/>
                </a:lnTo>
                <a:lnTo>
                  <a:pt x="330161" y="207149"/>
                </a:lnTo>
                <a:lnTo>
                  <a:pt x="320700" y="202946"/>
                </a:lnTo>
                <a:lnTo>
                  <a:pt x="312280" y="197688"/>
                </a:lnTo>
                <a:lnTo>
                  <a:pt x="303872" y="193471"/>
                </a:lnTo>
                <a:lnTo>
                  <a:pt x="272338" y="167182"/>
                </a:lnTo>
                <a:lnTo>
                  <a:pt x="255511" y="132486"/>
                </a:lnTo>
                <a:lnTo>
                  <a:pt x="254457" y="127228"/>
                </a:lnTo>
                <a:lnTo>
                  <a:pt x="256565" y="114604"/>
                </a:lnTo>
                <a:lnTo>
                  <a:pt x="258673" y="109347"/>
                </a:lnTo>
                <a:lnTo>
                  <a:pt x="260769" y="103047"/>
                </a:lnTo>
                <a:lnTo>
                  <a:pt x="290220" y="70446"/>
                </a:lnTo>
                <a:lnTo>
                  <a:pt x="296506" y="65189"/>
                </a:lnTo>
                <a:lnTo>
                  <a:pt x="303872" y="60985"/>
                </a:lnTo>
                <a:lnTo>
                  <a:pt x="312280" y="55727"/>
                </a:lnTo>
                <a:lnTo>
                  <a:pt x="320700" y="51511"/>
                </a:lnTo>
                <a:lnTo>
                  <a:pt x="330161" y="46253"/>
                </a:lnTo>
                <a:lnTo>
                  <a:pt x="340677" y="42062"/>
                </a:lnTo>
                <a:lnTo>
                  <a:pt x="350139" y="37846"/>
                </a:lnTo>
                <a:lnTo>
                  <a:pt x="361708" y="34696"/>
                </a:lnTo>
                <a:lnTo>
                  <a:pt x="372224" y="30505"/>
                </a:lnTo>
                <a:lnTo>
                  <a:pt x="383794" y="27343"/>
                </a:lnTo>
                <a:lnTo>
                  <a:pt x="396405" y="24193"/>
                </a:lnTo>
                <a:lnTo>
                  <a:pt x="407974" y="21031"/>
                </a:lnTo>
                <a:lnTo>
                  <a:pt x="434263" y="15773"/>
                </a:lnTo>
                <a:lnTo>
                  <a:pt x="461606" y="11557"/>
                </a:lnTo>
                <a:lnTo>
                  <a:pt x="519430" y="7366"/>
                </a:lnTo>
                <a:lnTo>
                  <a:pt x="549922" y="6311"/>
                </a:lnTo>
                <a:lnTo>
                  <a:pt x="580415" y="7366"/>
                </a:lnTo>
                <a:lnTo>
                  <a:pt x="638251" y="11557"/>
                </a:lnTo>
                <a:lnTo>
                  <a:pt x="690829" y="21031"/>
                </a:lnTo>
                <a:lnTo>
                  <a:pt x="738136" y="34696"/>
                </a:lnTo>
                <a:lnTo>
                  <a:pt x="748652" y="38912"/>
                </a:lnTo>
                <a:lnTo>
                  <a:pt x="759167" y="42062"/>
                </a:lnTo>
                <a:lnTo>
                  <a:pt x="768629" y="46253"/>
                </a:lnTo>
                <a:lnTo>
                  <a:pt x="778090" y="51511"/>
                </a:lnTo>
                <a:lnTo>
                  <a:pt x="786511" y="55727"/>
                </a:lnTo>
                <a:lnTo>
                  <a:pt x="794918" y="60985"/>
                </a:lnTo>
                <a:lnTo>
                  <a:pt x="802284" y="65189"/>
                </a:lnTo>
                <a:lnTo>
                  <a:pt x="809637" y="70446"/>
                </a:lnTo>
                <a:lnTo>
                  <a:pt x="822261" y="80962"/>
                </a:lnTo>
                <a:lnTo>
                  <a:pt x="827519" y="86220"/>
                </a:lnTo>
                <a:lnTo>
                  <a:pt x="831723" y="92532"/>
                </a:lnTo>
                <a:lnTo>
                  <a:pt x="835926" y="97790"/>
                </a:lnTo>
                <a:lnTo>
                  <a:pt x="839089" y="103047"/>
                </a:lnTo>
                <a:lnTo>
                  <a:pt x="843292" y="115658"/>
                </a:lnTo>
                <a:lnTo>
                  <a:pt x="844346" y="120916"/>
                </a:lnTo>
                <a:lnTo>
                  <a:pt x="844346" y="99885"/>
                </a:lnTo>
                <a:lnTo>
                  <a:pt x="820153" y="70446"/>
                </a:lnTo>
                <a:lnTo>
                  <a:pt x="789660" y="50482"/>
                </a:lnTo>
                <a:lnTo>
                  <a:pt x="781253" y="45224"/>
                </a:lnTo>
                <a:lnTo>
                  <a:pt x="740232" y="28384"/>
                </a:lnTo>
                <a:lnTo>
                  <a:pt x="691870" y="14706"/>
                </a:lnTo>
                <a:lnTo>
                  <a:pt x="645083" y="6311"/>
                </a:lnTo>
                <a:lnTo>
                  <a:pt x="638251" y="5257"/>
                </a:lnTo>
                <a:lnTo>
                  <a:pt x="609854" y="2108"/>
                </a:lnTo>
                <a:lnTo>
                  <a:pt x="549922" y="0"/>
                </a:lnTo>
                <a:lnTo>
                  <a:pt x="488924" y="2108"/>
                </a:lnTo>
                <a:lnTo>
                  <a:pt x="433209" y="9474"/>
                </a:lnTo>
                <a:lnTo>
                  <a:pt x="381685" y="21031"/>
                </a:lnTo>
                <a:lnTo>
                  <a:pt x="337515" y="36791"/>
                </a:lnTo>
                <a:lnTo>
                  <a:pt x="309130" y="50482"/>
                </a:lnTo>
                <a:lnTo>
                  <a:pt x="300710" y="54673"/>
                </a:lnTo>
                <a:lnTo>
                  <a:pt x="267081" y="82016"/>
                </a:lnTo>
                <a:lnTo>
                  <a:pt x="249199" y="119862"/>
                </a:lnTo>
                <a:lnTo>
                  <a:pt x="248158" y="127228"/>
                </a:lnTo>
                <a:lnTo>
                  <a:pt x="249199" y="133540"/>
                </a:lnTo>
                <a:lnTo>
                  <a:pt x="250253" y="140893"/>
                </a:lnTo>
                <a:lnTo>
                  <a:pt x="272338" y="177698"/>
                </a:lnTo>
                <a:lnTo>
                  <a:pt x="309130" y="203987"/>
                </a:lnTo>
                <a:lnTo>
                  <a:pt x="318604" y="208203"/>
                </a:lnTo>
                <a:lnTo>
                  <a:pt x="328053" y="213461"/>
                </a:lnTo>
                <a:lnTo>
                  <a:pt x="381685" y="232371"/>
                </a:lnTo>
                <a:lnTo>
                  <a:pt x="433209" y="243941"/>
                </a:lnTo>
                <a:lnTo>
                  <a:pt x="488924" y="251294"/>
                </a:lnTo>
                <a:lnTo>
                  <a:pt x="549922" y="254457"/>
                </a:lnTo>
                <a:lnTo>
                  <a:pt x="580415" y="253415"/>
                </a:lnTo>
                <a:lnTo>
                  <a:pt x="609854" y="251294"/>
                </a:lnTo>
                <a:lnTo>
                  <a:pt x="638251" y="248158"/>
                </a:lnTo>
                <a:lnTo>
                  <a:pt x="645325" y="247103"/>
                </a:lnTo>
                <a:lnTo>
                  <a:pt x="666648" y="243941"/>
                </a:lnTo>
                <a:lnTo>
                  <a:pt x="692937" y="238696"/>
                </a:lnTo>
                <a:lnTo>
                  <a:pt x="704494" y="235534"/>
                </a:lnTo>
                <a:lnTo>
                  <a:pt x="717105" y="232371"/>
                </a:lnTo>
                <a:lnTo>
                  <a:pt x="740232" y="226060"/>
                </a:lnTo>
                <a:lnTo>
                  <a:pt x="771779" y="213461"/>
                </a:lnTo>
                <a:lnTo>
                  <a:pt x="781253" y="208203"/>
                </a:lnTo>
                <a:lnTo>
                  <a:pt x="789660" y="203987"/>
                </a:lnTo>
                <a:lnTo>
                  <a:pt x="826465" y="177698"/>
                </a:lnTo>
                <a:lnTo>
                  <a:pt x="849604" y="139852"/>
                </a:lnTo>
                <a:lnTo>
                  <a:pt x="850646" y="133540"/>
                </a:lnTo>
                <a:lnTo>
                  <a:pt x="850646" y="119862"/>
                </a:lnTo>
                <a:close/>
              </a:path>
              <a:path w="1304925" h="1030604">
                <a:moveTo>
                  <a:pt x="1304899" y="1024153"/>
                </a:moveTo>
                <a:lnTo>
                  <a:pt x="761263" y="658215"/>
                </a:lnTo>
                <a:lnTo>
                  <a:pt x="758113" y="664540"/>
                </a:lnTo>
                <a:lnTo>
                  <a:pt x="1301737" y="1030452"/>
                </a:lnTo>
                <a:lnTo>
                  <a:pt x="1304899" y="1024153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882678" y="7932371"/>
            <a:ext cx="53276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solidFill>
                  <a:srgbClr val="0000CC"/>
                </a:solidFill>
                <a:latin typeface="Times New Roman"/>
                <a:cs typeface="Times New Roman"/>
              </a:rPr>
              <a:t>Projection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146685" y="8146963"/>
            <a:ext cx="6350" cy="200025"/>
          </a:xfrm>
          <a:custGeom>
            <a:avLst/>
            <a:gdLst/>
            <a:ahLst/>
            <a:cxnLst/>
            <a:rect l="l" t="t" r="r" b="b"/>
            <a:pathLst>
              <a:path w="6350" h="200025">
                <a:moveTo>
                  <a:pt x="6304" y="0"/>
                </a:moveTo>
                <a:lnTo>
                  <a:pt x="0" y="0"/>
                </a:lnTo>
                <a:lnTo>
                  <a:pt x="0" y="199781"/>
                </a:lnTo>
                <a:lnTo>
                  <a:pt x="6304" y="199781"/>
                </a:lnTo>
                <a:lnTo>
                  <a:pt x="6304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24233" y="7814604"/>
            <a:ext cx="445134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24346" y="8261481"/>
            <a:ext cx="55181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91363" y="8920850"/>
            <a:ext cx="422909" cy="223520"/>
          </a:xfrm>
          <a:custGeom>
            <a:avLst/>
            <a:gdLst/>
            <a:ahLst/>
            <a:cxnLst/>
            <a:rect l="l" t="t" r="r" b="b"/>
            <a:pathLst>
              <a:path w="422910" h="223520">
                <a:moveTo>
                  <a:pt x="422696" y="0"/>
                </a:moveTo>
                <a:lnTo>
                  <a:pt x="0" y="0"/>
                </a:lnTo>
                <a:lnTo>
                  <a:pt x="0" y="222915"/>
                </a:lnTo>
                <a:lnTo>
                  <a:pt x="422696" y="222915"/>
                </a:lnTo>
                <a:lnTo>
                  <a:pt x="422696" y="219760"/>
                </a:lnTo>
                <a:lnTo>
                  <a:pt x="7360" y="219760"/>
                </a:lnTo>
                <a:lnTo>
                  <a:pt x="3139" y="216606"/>
                </a:lnTo>
                <a:lnTo>
                  <a:pt x="7360" y="216606"/>
                </a:lnTo>
                <a:lnTo>
                  <a:pt x="7360" y="6309"/>
                </a:lnTo>
                <a:lnTo>
                  <a:pt x="3139" y="6309"/>
                </a:lnTo>
                <a:lnTo>
                  <a:pt x="7360" y="3154"/>
                </a:lnTo>
                <a:lnTo>
                  <a:pt x="422696" y="3154"/>
                </a:lnTo>
                <a:lnTo>
                  <a:pt x="422696" y="0"/>
                </a:lnTo>
                <a:close/>
              </a:path>
              <a:path w="422910" h="223520">
                <a:moveTo>
                  <a:pt x="7360" y="216606"/>
                </a:moveTo>
                <a:lnTo>
                  <a:pt x="3139" y="216606"/>
                </a:lnTo>
                <a:lnTo>
                  <a:pt x="7360" y="219760"/>
                </a:lnTo>
                <a:lnTo>
                  <a:pt x="7360" y="216606"/>
                </a:lnTo>
                <a:close/>
              </a:path>
              <a:path w="422910" h="223520">
                <a:moveTo>
                  <a:pt x="416387" y="216606"/>
                </a:moveTo>
                <a:lnTo>
                  <a:pt x="7360" y="216606"/>
                </a:lnTo>
                <a:lnTo>
                  <a:pt x="7360" y="219760"/>
                </a:lnTo>
                <a:lnTo>
                  <a:pt x="416387" y="219760"/>
                </a:lnTo>
                <a:lnTo>
                  <a:pt x="416387" y="216606"/>
                </a:lnTo>
                <a:close/>
              </a:path>
              <a:path w="422910" h="223520">
                <a:moveTo>
                  <a:pt x="416387" y="3154"/>
                </a:moveTo>
                <a:lnTo>
                  <a:pt x="416387" y="219760"/>
                </a:lnTo>
                <a:lnTo>
                  <a:pt x="419541" y="216606"/>
                </a:lnTo>
                <a:lnTo>
                  <a:pt x="422696" y="216606"/>
                </a:lnTo>
                <a:lnTo>
                  <a:pt x="422696" y="6309"/>
                </a:lnTo>
                <a:lnTo>
                  <a:pt x="419541" y="6309"/>
                </a:lnTo>
                <a:lnTo>
                  <a:pt x="416387" y="3154"/>
                </a:lnTo>
                <a:close/>
              </a:path>
              <a:path w="422910" h="223520">
                <a:moveTo>
                  <a:pt x="422696" y="216606"/>
                </a:moveTo>
                <a:lnTo>
                  <a:pt x="419541" y="216606"/>
                </a:lnTo>
                <a:lnTo>
                  <a:pt x="416387" y="219760"/>
                </a:lnTo>
                <a:lnTo>
                  <a:pt x="422696" y="219760"/>
                </a:lnTo>
                <a:lnTo>
                  <a:pt x="422696" y="216606"/>
                </a:lnTo>
                <a:close/>
              </a:path>
              <a:path w="422910" h="223520">
                <a:moveTo>
                  <a:pt x="7360" y="3154"/>
                </a:moveTo>
                <a:lnTo>
                  <a:pt x="3139" y="6309"/>
                </a:lnTo>
                <a:lnTo>
                  <a:pt x="7360" y="6309"/>
                </a:lnTo>
                <a:lnTo>
                  <a:pt x="7360" y="3154"/>
                </a:lnTo>
                <a:close/>
              </a:path>
              <a:path w="422910" h="223520">
                <a:moveTo>
                  <a:pt x="416387" y="3154"/>
                </a:moveTo>
                <a:lnTo>
                  <a:pt x="7360" y="3154"/>
                </a:lnTo>
                <a:lnTo>
                  <a:pt x="7360" y="6309"/>
                </a:lnTo>
                <a:lnTo>
                  <a:pt x="416387" y="6309"/>
                </a:lnTo>
                <a:lnTo>
                  <a:pt x="416387" y="3154"/>
                </a:lnTo>
                <a:close/>
              </a:path>
              <a:path w="422910" h="223520">
                <a:moveTo>
                  <a:pt x="422696" y="3154"/>
                </a:moveTo>
                <a:lnTo>
                  <a:pt x="416387" y="3154"/>
                </a:lnTo>
                <a:lnTo>
                  <a:pt x="419541" y="6309"/>
                </a:lnTo>
                <a:lnTo>
                  <a:pt x="422696" y="6309"/>
                </a:lnTo>
                <a:lnTo>
                  <a:pt x="422696" y="3154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744893" y="8938642"/>
            <a:ext cx="28003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67518" y="8738861"/>
            <a:ext cx="41275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213985" y="9336182"/>
            <a:ext cx="1397635" cy="223520"/>
          </a:xfrm>
          <a:custGeom>
            <a:avLst/>
            <a:gdLst/>
            <a:ahLst/>
            <a:cxnLst/>
            <a:rect l="l" t="t" r="r" b="b"/>
            <a:pathLst>
              <a:path w="1397634" h="223520">
                <a:moveTo>
                  <a:pt x="1397416" y="0"/>
                </a:moveTo>
                <a:lnTo>
                  <a:pt x="0" y="0"/>
                </a:lnTo>
                <a:lnTo>
                  <a:pt x="0" y="222915"/>
                </a:lnTo>
                <a:lnTo>
                  <a:pt x="1397416" y="222915"/>
                </a:lnTo>
                <a:lnTo>
                  <a:pt x="1397416" y="219760"/>
                </a:lnTo>
                <a:lnTo>
                  <a:pt x="6309" y="219760"/>
                </a:lnTo>
                <a:lnTo>
                  <a:pt x="3154" y="216604"/>
                </a:lnTo>
                <a:lnTo>
                  <a:pt x="6309" y="216604"/>
                </a:lnTo>
                <a:lnTo>
                  <a:pt x="6309" y="6310"/>
                </a:lnTo>
                <a:lnTo>
                  <a:pt x="3154" y="6310"/>
                </a:lnTo>
                <a:lnTo>
                  <a:pt x="6309" y="3156"/>
                </a:lnTo>
                <a:lnTo>
                  <a:pt x="1397416" y="3156"/>
                </a:lnTo>
                <a:lnTo>
                  <a:pt x="1397416" y="0"/>
                </a:lnTo>
                <a:close/>
              </a:path>
              <a:path w="1397634" h="223520">
                <a:moveTo>
                  <a:pt x="6309" y="216604"/>
                </a:moveTo>
                <a:lnTo>
                  <a:pt x="3154" y="216604"/>
                </a:lnTo>
                <a:lnTo>
                  <a:pt x="6309" y="219760"/>
                </a:lnTo>
                <a:lnTo>
                  <a:pt x="6309" y="216604"/>
                </a:lnTo>
                <a:close/>
              </a:path>
              <a:path w="1397634" h="223520">
                <a:moveTo>
                  <a:pt x="1391107" y="216604"/>
                </a:moveTo>
                <a:lnTo>
                  <a:pt x="6309" y="216604"/>
                </a:lnTo>
                <a:lnTo>
                  <a:pt x="6309" y="219760"/>
                </a:lnTo>
                <a:lnTo>
                  <a:pt x="1391107" y="219760"/>
                </a:lnTo>
                <a:lnTo>
                  <a:pt x="1391107" y="216604"/>
                </a:lnTo>
                <a:close/>
              </a:path>
              <a:path w="1397634" h="223520">
                <a:moveTo>
                  <a:pt x="1391107" y="3156"/>
                </a:moveTo>
                <a:lnTo>
                  <a:pt x="1391107" y="219760"/>
                </a:lnTo>
                <a:lnTo>
                  <a:pt x="1394261" y="216604"/>
                </a:lnTo>
                <a:lnTo>
                  <a:pt x="1397416" y="216604"/>
                </a:lnTo>
                <a:lnTo>
                  <a:pt x="1397416" y="6310"/>
                </a:lnTo>
                <a:lnTo>
                  <a:pt x="1394261" y="6310"/>
                </a:lnTo>
                <a:lnTo>
                  <a:pt x="1391107" y="3156"/>
                </a:lnTo>
                <a:close/>
              </a:path>
              <a:path w="1397634" h="223520">
                <a:moveTo>
                  <a:pt x="1397416" y="216604"/>
                </a:moveTo>
                <a:lnTo>
                  <a:pt x="1394261" y="216604"/>
                </a:lnTo>
                <a:lnTo>
                  <a:pt x="1391107" y="219760"/>
                </a:lnTo>
                <a:lnTo>
                  <a:pt x="1397416" y="219760"/>
                </a:lnTo>
                <a:lnTo>
                  <a:pt x="1397416" y="216604"/>
                </a:lnTo>
                <a:close/>
              </a:path>
              <a:path w="1397634" h="223520">
                <a:moveTo>
                  <a:pt x="6309" y="3156"/>
                </a:moveTo>
                <a:lnTo>
                  <a:pt x="3154" y="6310"/>
                </a:lnTo>
                <a:lnTo>
                  <a:pt x="6309" y="6310"/>
                </a:lnTo>
                <a:lnTo>
                  <a:pt x="6309" y="3156"/>
                </a:lnTo>
                <a:close/>
              </a:path>
              <a:path w="1397634" h="223520">
                <a:moveTo>
                  <a:pt x="1391107" y="3156"/>
                </a:moveTo>
                <a:lnTo>
                  <a:pt x="6309" y="3156"/>
                </a:lnTo>
                <a:lnTo>
                  <a:pt x="6309" y="6310"/>
                </a:lnTo>
                <a:lnTo>
                  <a:pt x="1391107" y="6310"/>
                </a:lnTo>
                <a:lnTo>
                  <a:pt x="1391107" y="3156"/>
                </a:lnTo>
                <a:close/>
              </a:path>
              <a:path w="1397634" h="223520">
                <a:moveTo>
                  <a:pt x="1397416" y="3156"/>
                </a:moveTo>
                <a:lnTo>
                  <a:pt x="1391107" y="3156"/>
                </a:lnTo>
                <a:lnTo>
                  <a:pt x="1394261" y="6310"/>
                </a:lnTo>
                <a:lnTo>
                  <a:pt x="1397416" y="6310"/>
                </a:lnTo>
                <a:lnTo>
                  <a:pt x="1397416" y="3156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168686" y="9105195"/>
            <a:ext cx="1330325" cy="4210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950" i="1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95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95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420"/>
              </a:spcBef>
            </a:pPr>
            <a:r>
              <a:rPr sz="950" b="1" i="1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950" b="1" i="1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950" b="1" i="1" dirty="0">
                <a:solidFill>
                  <a:srgbClr val="0000CC"/>
                </a:solidFill>
                <a:latin typeface="Times New Roman"/>
                <a:cs typeface="Times New Roman"/>
              </a:rPr>
              <a:t>Salle(ID-</a:t>
            </a:r>
            <a:r>
              <a:rPr sz="950" b="1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cinéma)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176" y="5346080"/>
            <a:ext cx="7505700" cy="5341620"/>
            <a:chOff x="25176" y="5346080"/>
            <a:chExt cx="7505700" cy="5341620"/>
          </a:xfrm>
        </p:grpSpPr>
        <p:sp>
          <p:nvSpPr>
            <p:cNvPr id="34" name="object 34"/>
            <p:cNvSpPr/>
            <p:nvPr/>
          </p:nvSpPr>
          <p:spPr>
            <a:xfrm>
              <a:off x="5899556" y="9140611"/>
              <a:ext cx="17145" cy="198755"/>
            </a:xfrm>
            <a:custGeom>
              <a:avLst/>
              <a:gdLst/>
              <a:ahLst/>
              <a:cxnLst/>
              <a:rect l="l" t="t" r="r" b="b"/>
              <a:pathLst>
                <a:path w="17145" h="198754">
                  <a:moveTo>
                    <a:pt x="6294" y="0"/>
                  </a:moveTo>
                  <a:lnTo>
                    <a:pt x="0" y="0"/>
                  </a:lnTo>
                  <a:lnTo>
                    <a:pt x="10515" y="198726"/>
                  </a:lnTo>
                  <a:lnTo>
                    <a:pt x="16824" y="198726"/>
                  </a:lnTo>
                  <a:lnTo>
                    <a:pt x="6294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544" y="5346449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4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6616" y="435182"/>
            <a:ext cx="3110230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Optimisation</a:t>
            </a:r>
            <a:r>
              <a:rPr sz="2200" b="1" spc="-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299"/>
                </a:solidFill>
                <a:latin typeface="Times New Roman"/>
                <a:cs typeface="Times New Roman"/>
              </a:rPr>
              <a:t>dans</a:t>
            </a:r>
            <a:r>
              <a:rPr sz="220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Oracle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89" y="1111173"/>
            <a:ext cx="5121910" cy="310705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80340" indent="-167640">
              <a:lnSpc>
                <a:spcPct val="100000"/>
              </a:lnSpc>
              <a:spcBef>
                <a:spcPts val="509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Approche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classique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Génération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plusieurs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plans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Estimation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coût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chaque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Choix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meilleur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et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exécution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Algèbre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aux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données: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séquentiel,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hash,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cluster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traitement: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filtre,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fusion,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0"/>
              </a:spcBef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Outils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EXPLAIN: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visualisation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ANALYSE: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production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statistiques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TKPROF: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mesure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temps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7" name="object 7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7989" y="5797869"/>
            <a:ext cx="5032375" cy="37611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0960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Chemins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d'accès</a:t>
            </a:r>
            <a:r>
              <a:rPr sz="1900" b="1" spc="3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aux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données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dans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Oracle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Parcours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séquentiel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direct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35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(INDEX|USER|…)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1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(UNIQUE|RANGE|…)</a:t>
            </a:r>
            <a:r>
              <a:rPr sz="1350" spc="1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5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hachage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HASH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Accès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cluster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CLUSTER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4872990" cy="3634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6560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Opérateurs</a:t>
            </a:r>
            <a:r>
              <a:rPr sz="1900" b="1" spc="8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physiques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jointure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Boucles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imbriquées: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Tri-fusion: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SORT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JOIN,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MERGE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JOIN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Hachage: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HASH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JOIN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94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Autres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opérations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Union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d'ensembles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d'articles: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CONCATENATION,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UNION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Intersection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d'ensembles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d'articles: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INTERSECTION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Différence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d'ensembles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d'articles: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MINUS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Filtrage</a:t>
            </a:r>
            <a:r>
              <a:rPr sz="1350" spc="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d'articles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d'une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basé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une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autre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table: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FILTER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Intersection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d'ensembles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ROWID: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AND-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EQUAL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spc="-50" dirty="0">
                <a:solidFill>
                  <a:srgbClr val="0000CC"/>
                </a:solidFill>
                <a:latin typeface="Times New Roman"/>
                <a:cs typeface="Times New Roman"/>
              </a:rPr>
              <a:t>…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5200015" cy="28359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27990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Plan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d'exécution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EXPLAIN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Commande</a:t>
            </a:r>
            <a:endParaRPr sz="1650">
              <a:latin typeface="Times New Roman"/>
              <a:cs typeface="Times New Roman"/>
            </a:endParaRPr>
          </a:p>
          <a:p>
            <a:pPr marL="476884" marR="2334260" lvl="1" indent="-165100">
              <a:lnSpc>
                <a:spcPct val="102200"/>
              </a:lnSpc>
              <a:spcBef>
                <a:spcPts val="340"/>
              </a:spcBef>
              <a:buChar char="–"/>
              <a:tabLst>
                <a:tab pos="476884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EXPLAIN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FOR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SELECT…</a:t>
            </a:r>
            <a:r>
              <a:rPr sz="135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FROM…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WHERE…</a:t>
            </a:r>
            <a:endParaRPr sz="1350">
              <a:latin typeface="Times New Roman"/>
              <a:cs typeface="Times New Roman"/>
            </a:endParaRPr>
          </a:p>
          <a:p>
            <a:pPr marL="180340" marR="5080" indent="-168275">
              <a:lnSpc>
                <a:spcPct val="100000"/>
              </a:lnSpc>
              <a:spcBef>
                <a:spcPts val="99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Description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textuelle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du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structurée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sous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forme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table (PLAN_TABLE)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8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Chemins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d'accès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7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Opérateurs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physiques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Ordre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des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opérateurs: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structure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d'arbre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54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7189" y="457254"/>
            <a:ext cx="5108575" cy="2709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21665" algn="ctr">
              <a:lnSpc>
                <a:spcPct val="100000"/>
              </a:lnSpc>
              <a:spcBef>
                <a:spcPts val="130"/>
              </a:spcBef>
            </a:pP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231140" indent="-167640">
              <a:lnSpc>
                <a:spcPct val="100000"/>
              </a:lnSpc>
              <a:buChar char="•"/>
              <a:tabLst>
                <a:tab pos="2311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Schéma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relationnel</a:t>
            </a:r>
            <a:endParaRPr sz="165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(ID-cinéma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Nom,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Adresse)</a:t>
            </a:r>
            <a:endParaRPr sz="1350">
              <a:latin typeface="Times New Roman"/>
              <a:cs typeface="Times New Roman"/>
            </a:endParaRPr>
          </a:p>
          <a:p>
            <a:pPr marL="362585" marR="1360170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(ID-salle,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Nom,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r>
              <a:rPr sz="1350" spc="-15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(ID-film,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Titre,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Année,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réalisateur</a:t>
            </a:r>
            <a:r>
              <a:rPr sz="1350" spc="-15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  <a:p>
            <a:pPr marL="362585" marR="55880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r>
              <a:rPr sz="13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(ID-séance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Heure-début,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Heure-fin,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ID-salle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film)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ARTISTE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(ID-artiste</a:t>
            </a:r>
            <a:r>
              <a:rPr sz="1350" baseline="24691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Nom,</a:t>
            </a:r>
            <a:r>
              <a:rPr sz="1350" spc="10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Date-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naissance)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35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*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unique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endParaRPr sz="135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+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: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non-unique</a:t>
            </a:r>
            <a:r>
              <a:rPr sz="135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sur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l'attribut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8" y="5797869"/>
            <a:ext cx="4803140" cy="40468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99614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Exemple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(suite)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Requête: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les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films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commencent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à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20h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au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Multiplex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  <a:spcBef>
                <a:spcPts val="21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ts val="149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SALLE,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endParaRPr sz="1350">
              <a:latin typeface="Times New Roman"/>
              <a:cs typeface="Times New Roman"/>
            </a:endParaRPr>
          </a:p>
          <a:p>
            <a:pPr marL="1123950" marR="215900" indent="-647065">
              <a:lnSpc>
                <a:spcPts val="1490"/>
              </a:lnSpc>
              <a:spcBef>
                <a:spcPts val="9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CINEMA.ID-cinéma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SALLE.ID-cinéma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SALLE.ID-salle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SEANCE.ID-salle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CINEMA.nom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'Multiplex'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SEANCE.Heure-début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20</a:t>
            </a:r>
            <a:endParaRPr sz="13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77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produit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EXPLAIN</a:t>
            </a:r>
            <a:endParaRPr sz="1650">
              <a:latin typeface="Times New Roman"/>
              <a:cs typeface="Times New Roman"/>
            </a:endParaRPr>
          </a:p>
          <a:p>
            <a:pPr marL="476250" lvl="1" indent="-164465">
              <a:lnSpc>
                <a:spcPts val="1555"/>
              </a:lnSpc>
              <a:spcBef>
                <a:spcPts val="209"/>
              </a:spcBef>
              <a:buAutoNum type="arabicPlain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350">
              <a:latin typeface="Times New Roman"/>
              <a:cs typeface="Times New Roman"/>
            </a:endParaRPr>
          </a:p>
          <a:p>
            <a:pPr marL="652145" lvl="1" indent="-175260">
              <a:lnSpc>
                <a:spcPts val="1490"/>
              </a:lnSpc>
              <a:buAutoNum type="arabicPlain"/>
              <a:tabLst>
                <a:tab pos="65214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350">
              <a:latin typeface="Times New Roman"/>
              <a:cs typeface="Times New Roman"/>
            </a:endParaRPr>
          </a:p>
          <a:p>
            <a:pPr marL="828040" lvl="1" indent="-175260">
              <a:lnSpc>
                <a:spcPts val="1490"/>
              </a:lnSpc>
              <a:buAutoNum type="arabicPlain"/>
              <a:tabLst>
                <a:tab pos="8280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350">
              <a:latin typeface="Times New Roman"/>
              <a:cs typeface="Times New Roman"/>
            </a:endParaRPr>
          </a:p>
          <a:p>
            <a:pPr marL="1002665" lvl="1" indent="-175260">
              <a:lnSpc>
                <a:spcPts val="1490"/>
              </a:lnSpc>
              <a:buAutoNum type="arabicPlain"/>
              <a:tabLst>
                <a:tab pos="100266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CINEMA</a:t>
            </a:r>
            <a:endParaRPr sz="1350">
              <a:latin typeface="Times New Roman"/>
              <a:cs typeface="Times New Roman"/>
            </a:endParaRPr>
          </a:p>
          <a:p>
            <a:pPr marL="1002665" lvl="1" indent="-175260">
              <a:lnSpc>
                <a:spcPts val="1490"/>
              </a:lnSpc>
              <a:buAutoNum type="arabicPlain"/>
              <a:tabLst>
                <a:tab pos="100266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1177925" lvl="1" indent="-175260">
              <a:lnSpc>
                <a:spcPts val="1490"/>
              </a:lnSpc>
              <a:buAutoNum type="arabicPlain"/>
              <a:tabLst>
                <a:tab pos="1177925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9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IDCINEMA</a:t>
            </a:r>
            <a:endParaRPr sz="1350">
              <a:latin typeface="Times New Roman"/>
              <a:cs typeface="Times New Roman"/>
            </a:endParaRPr>
          </a:p>
          <a:p>
            <a:pPr marL="175260" marR="448945" lvl="1" indent="-175260" algn="r">
              <a:lnSpc>
                <a:spcPts val="1490"/>
              </a:lnSpc>
              <a:buAutoNum type="arabicPlain"/>
              <a:tabLst>
                <a:tab pos="17526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35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endParaRPr sz="1350">
              <a:latin typeface="Times New Roman"/>
              <a:cs typeface="Times New Roman"/>
            </a:endParaRPr>
          </a:p>
          <a:p>
            <a:pPr marR="388620" algn="r">
              <a:lnSpc>
                <a:spcPts val="1555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5</a:t>
            </a:r>
            <a:r>
              <a:rPr sz="1350" spc="48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35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SEANCE-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IDSALLE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56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59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4129404" cy="40557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Sélection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multiple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conjonctive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index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  <a:spcBef>
                <a:spcPts val="21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25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'Salle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1'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0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20"/>
              </a:lnSpc>
              <a:spcBef>
                <a:spcPts val="155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157480" marR="188595" lvl="2" indent="-157480" algn="r">
              <a:lnSpc>
                <a:spcPts val="134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57480" marR="162560" lvl="2" indent="-157480" algn="r">
              <a:lnSpc>
                <a:spcPts val="142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SALLE-IDCINEMA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78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conjonctive</a:t>
            </a:r>
            <a:r>
              <a:rPr sz="165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deux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  <a:spcBef>
                <a:spcPts val="209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25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150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0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20"/>
              </a:lnSpc>
              <a:spcBef>
                <a:spcPts val="150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895350" lvl="2" indent="-157480">
              <a:lnSpc>
                <a:spcPts val="1340"/>
              </a:lnSpc>
              <a:buAutoNum type="arabicPlain"/>
              <a:tabLst>
                <a:tab pos="8953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052830" lvl="2" indent="-157480">
              <a:lnSpc>
                <a:spcPts val="1340"/>
              </a:lnSpc>
              <a:buAutoNum type="arabicPlain"/>
              <a:tabLst>
                <a:tab pos="1052830" algn="l"/>
              </a:tabLst>
            </a:pP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AND-EQUAL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340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SALLE-IDCINEMA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420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SALLE-CAPACITE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9" y="5797869"/>
            <a:ext cx="4129404" cy="3714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47520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Sélection</a:t>
            </a:r>
            <a:r>
              <a:rPr sz="1900" b="1" spc="7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disjonctive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Sélection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disjonctive</a:t>
            </a:r>
            <a:r>
              <a:rPr sz="16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avec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37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Nom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ID-cinéma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25</a:t>
            </a:r>
            <a:r>
              <a:rPr sz="1350" spc="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OR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150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95"/>
              </a:lnSpc>
              <a:spcBef>
                <a:spcPts val="305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895350" lvl="2" indent="-157480">
              <a:lnSpc>
                <a:spcPts val="1490"/>
              </a:lnSpc>
              <a:buAutoNum type="arabicPlain"/>
              <a:tabLst>
                <a:tab pos="895350" algn="l"/>
              </a:tabLst>
            </a:pP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CONCATENATION</a:t>
            </a:r>
            <a:endParaRPr sz="1250">
              <a:latin typeface="Times New Roman"/>
              <a:cs typeface="Times New Roman"/>
            </a:endParaRPr>
          </a:p>
          <a:p>
            <a:pPr marL="157480" marR="31115" lvl="2" indent="-157480" algn="r">
              <a:lnSpc>
                <a:spcPts val="149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57480" marR="22225" lvl="2" indent="-157480" algn="r">
              <a:lnSpc>
                <a:spcPts val="149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SALLE-CAPACITE</a:t>
            </a:r>
            <a:endParaRPr sz="1250">
              <a:latin typeface="Times New Roman"/>
              <a:cs typeface="Times New Roman"/>
            </a:endParaRPr>
          </a:p>
          <a:p>
            <a:pPr marL="157480" marR="31115" lvl="2" indent="-157480" algn="r">
              <a:lnSpc>
                <a:spcPts val="149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57480" marR="5080" lvl="2" indent="-157480" algn="r">
              <a:lnSpc>
                <a:spcPts val="1495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SALLE-IDCINEMA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98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Pour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la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même</a:t>
            </a:r>
            <a:r>
              <a:rPr sz="1650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requête,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un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alternatif</a:t>
            </a:r>
            <a:endParaRPr sz="1650">
              <a:latin typeface="Times New Roman"/>
              <a:cs typeface="Times New Roman"/>
            </a:endParaRPr>
          </a:p>
          <a:p>
            <a:pPr marL="610870" indent="-133985">
              <a:lnSpc>
                <a:spcPct val="100000"/>
              </a:lnSpc>
              <a:spcBef>
                <a:spcPts val="370"/>
              </a:spcBef>
              <a:buAutoNum type="arabicPlain"/>
              <a:tabLst>
                <a:tab pos="61087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350">
              <a:latin typeface="Times New Roman"/>
              <a:cs typeface="Times New Roman"/>
            </a:endParaRPr>
          </a:p>
          <a:p>
            <a:pPr marL="828040" indent="-175260">
              <a:lnSpc>
                <a:spcPct val="100000"/>
              </a:lnSpc>
              <a:spcBef>
                <a:spcPts val="40"/>
              </a:spcBef>
              <a:buAutoNum type="arabicPlain"/>
              <a:tabLst>
                <a:tab pos="82804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60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61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7989" y="457254"/>
            <a:ext cx="4320540" cy="28949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9133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5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20" dirty="0">
                <a:solidFill>
                  <a:srgbClr val="003299"/>
                </a:solidFill>
                <a:latin typeface="Times New Roman"/>
                <a:cs typeface="Times New Roman"/>
              </a:rPr>
              <a:t>index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650">
              <a:latin typeface="Times New Roman"/>
              <a:cs typeface="Times New Roman"/>
            </a:endParaRPr>
          </a:p>
          <a:p>
            <a:pPr marL="476884" marR="1359535">
              <a:lnSpc>
                <a:spcPct val="102200"/>
              </a:lnSpc>
              <a:spcBef>
                <a:spcPts val="34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CINEMA.Nom,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Capacité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ct val="100000"/>
              </a:lnSpc>
              <a:spcBef>
                <a:spcPts val="35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1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CINEMA.ID-cinéma</a:t>
            </a:r>
            <a:r>
              <a:rPr sz="1350" spc="1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cinéma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95"/>
              </a:lnSpc>
              <a:spcBef>
                <a:spcPts val="300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895350" lvl="2" indent="-157480">
              <a:lnSpc>
                <a:spcPts val="1490"/>
              </a:lnSpc>
              <a:buAutoNum type="arabicPlain"/>
              <a:tabLst>
                <a:tab pos="8953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250" spc="-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250">
              <a:latin typeface="Times New Roman"/>
              <a:cs typeface="Times New Roman"/>
            </a:endParaRPr>
          </a:p>
          <a:p>
            <a:pPr marL="1052830" lvl="2" indent="-157480">
              <a:lnSpc>
                <a:spcPts val="149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052830" lvl="2" indent="-157480">
              <a:lnSpc>
                <a:spcPts val="149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CINEMA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495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UNIQUE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CINEMA-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IDCINEMA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909" y="5212"/>
            <a:ext cx="7506334" cy="6355715"/>
            <a:chOff x="24909" y="5212"/>
            <a:chExt cx="7506334" cy="6355715"/>
          </a:xfrm>
        </p:grpSpPr>
        <p:sp>
          <p:nvSpPr>
            <p:cNvPr id="6" name="object 6"/>
            <p:cNvSpPr/>
            <p:nvPr/>
          </p:nvSpPr>
          <p:spPr>
            <a:xfrm>
              <a:off x="25544" y="5847"/>
              <a:ext cx="7505065" cy="5340985"/>
            </a:xfrm>
            <a:custGeom>
              <a:avLst/>
              <a:gdLst/>
              <a:ahLst/>
              <a:cxnLst/>
              <a:rect l="l" t="t" r="r" b="b"/>
              <a:pathLst>
                <a:path w="7505065" h="5340985">
                  <a:moveTo>
                    <a:pt x="0" y="5340598"/>
                  </a:moveTo>
                  <a:lnTo>
                    <a:pt x="7504907" y="5340598"/>
                  </a:lnTo>
                  <a:lnTo>
                    <a:pt x="7504907" y="0"/>
                  </a:lnTo>
                  <a:lnTo>
                    <a:pt x="0" y="0"/>
                  </a:lnTo>
                  <a:lnTo>
                    <a:pt x="0" y="53405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7602" y="6307912"/>
              <a:ext cx="5730875" cy="52705"/>
            </a:xfrm>
            <a:custGeom>
              <a:avLst/>
              <a:gdLst/>
              <a:ahLst/>
              <a:cxnLst/>
              <a:rect l="l" t="t" r="r" b="b"/>
              <a:pathLst>
                <a:path w="5730875" h="52704">
                  <a:moveTo>
                    <a:pt x="5730583" y="44170"/>
                  </a:moveTo>
                  <a:lnTo>
                    <a:pt x="0" y="44170"/>
                  </a:lnTo>
                  <a:lnTo>
                    <a:pt x="0" y="52578"/>
                  </a:lnTo>
                  <a:lnTo>
                    <a:pt x="5730583" y="52578"/>
                  </a:lnTo>
                  <a:lnTo>
                    <a:pt x="5730583" y="44170"/>
                  </a:lnTo>
                  <a:close/>
                </a:path>
                <a:path w="5730875" h="52704">
                  <a:moveTo>
                    <a:pt x="5730583" y="17881"/>
                  </a:moveTo>
                  <a:lnTo>
                    <a:pt x="0" y="17881"/>
                  </a:lnTo>
                  <a:lnTo>
                    <a:pt x="0" y="35750"/>
                  </a:lnTo>
                  <a:lnTo>
                    <a:pt x="5730583" y="35750"/>
                  </a:lnTo>
                  <a:lnTo>
                    <a:pt x="5730583" y="17881"/>
                  </a:lnTo>
                  <a:close/>
                </a:path>
                <a:path w="5730875" h="52704">
                  <a:moveTo>
                    <a:pt x="5730583" y="0"/>
                  </a:moveTo>
                  <a:lnTo>
                    <a:pt x="0" y="0"/>
                  </a:lnTo>
                  <a:lnTo>
                    <a:pt x="0" y="9461"/>
                  </a:lnTo>
                  <a:lnTo>
                    <a:pt x="5730583" y="9461"/>
                  </a:lnTo>
                  <a:lnTo>
                    <a:pt x="5730583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7983" y="5797869"/>
            <a:ext cx="5310505" cy="3933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8135" algn="ctr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sans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index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6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  <a:spcBef>
                <a:spcPts val="21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Titre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ts val="149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FILM,</a:t>
            </a:r>
            <a:r>
              <a:rPr sz="1350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endParaRPr sz="1350">
              <a:latin typeface="Times New Roman"/>
              <a:cs typeface="Times New Roman"/>
            </a:endParaRPr>
          </a:p>
          <a:p>
            <a:pPr marL="476884">
              <a:lnSpc>
                <a:spcPts val="1555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Heure-début</a:t>
            </a:r>
            <a:r>
              <a:rPr sz="1350" spc="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14</a:t>
            </a:r>
            <a:r>
              <a:rPr sz="1350" spc="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FILM.ID-film</a:t>
            </a:r>
            <a:r>
              <a:rPr sz="135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SEANCE.ID-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200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20"/>
              </a:lnSpc>
              <a:spcBef>
                <a:spcPts val="155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157480" marR="3474085" lvl="2" indent="-157480" algn="r">
              <a:lnSpc>
                <a:spcPts val="134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MERGE</a:t>
            </a:r>
            <a:r>
              <a:rPr sz="1250" spc="-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JOIN</a:t>
            </a:r>
            <a:endParaRPr sz="1250">
              <a:latin typeface="Times New Roman"/>
              <a:cs typeface="Times New Roman"/>
            </a:endParaRPr>
          </a:p>
          <a:p>
            <a:pPr marL="157480" marR="3464560" lvl="2" indent="-157480" algn="r">
              <a:lnSpc>
                <a:spcPts val="134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SORT</a:t>
            </a:r>
            <a:r>
              <a:rPr sz="12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JOIN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340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endParaRPr sz="1250">
              <a:latin typeface="Times New Roman"/>
              <a:cs typeface="Times New Roman"/>
            </a:endParaRPr>
          </a:p>
          <a:p>
            <a:pPr marL="1052830" lvl="2" indent="-157480">
              <a:lnSpc>
                <a:spcPts val="134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SORT</a:t>
            </a:r>
            <a:r>
              <a:rPr sz="125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JOIN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420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25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spcBef>
                <a:spcPts val="780"/>
              </a:spcBef>
              <a:buChar char="•"/>
              <a:tabLst>
                <a:tab pos="180340" algn="l"/>
              </a:tabLst>
            </a:pP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6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alternatif</a:t>
            </a:r>
            <a:r>
              <a:rPr sz="16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(si</a:t>
            </a:r>
            <a:r>
              <a:rPr sz="16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par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exemple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r>
              <a:rPr sz="16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tient</a:t>
            </a:r>
            <a:r>
              <a:rPr sz="165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solidFill>
                  <a:srgbClr val="0000CC"/>
                </a:solidFill>
                <a:latin typeface="Times New Roman"/>
                <a:cs typeface="Times New Roman"/>
              </a:rPr>
              <a:t>en</a:t>
            </a:r>
            <a:r>
              <a:rPr sz="16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mémoire)</a:t>
            </a:r>
            <a:endParaRPr sz="1650">
              <a:latin typeface="Times New Roman"/>
              <a:cs typeface="Times New Roman"/>
            </a:endParaRPr>
          </a:p>
          <a:p>
            <a:pPr marL="775970" indent="-167640">
              <a:lnSpc>
                <a:spcPts val="1420"/>
              </a:lnSpc>
              <a:spcBef>
                <a:spcPts val="160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895350" indent="-157480">
              <a:lnSpc>
                <a:spcPts val="1340"/>
              </a:lnSpc>
              <a:buAutoNum type="arabicPlain"/>
              <a:tabLst>
                <a:tab pos="8953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250" spc="-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250">
              <a:latin typeface="Times New Roman"/>
              <a:cs typeface="Times New Roman"/>
            </a:endParaRPr>
          </a:p>
          <a:p>
            <a:pPr marL="1052830" indent="-157480">
              <a:lnSpc>
                <a:spcPts val="134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FILM</a:t>
            </a:r>
            <a:endParaRPr sz="1250">
              <a:latin typeface="Times New Roman"/>
              <a:cs typeface="Times New Roman"/>
            </a:endParaRPr>
          </a:p>
          <a:p>
            <a:pPr marL="1052830" indent="-157480">
              <a:lnSpc>
                <a:spcPts val="142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FULL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SEANCE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44" y="5346449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4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5117" y="10199249"/>
            <a:ext cx="1599565" cy="12759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6490" y="10199249"/>
            <a:ext cx="130810" cy="1422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62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7602" y="967307"/>
            <a:ext cx="5730875" cy="52705"/>
          </a:xfrm>
          <a:custGeom>
            <a:avLst/>
            <a:gdLst/>
            <a:ahLst/>
            <a:cxnLst/>
            <a:rect l="l" t="t" r="r" b="b"/>
            <a:pathLst>
              <a:path w="5730875" h="52705">
                <a:moveTo>
                  <a:pt x="5730583" y="44170"/>
                </a:moveTo>
                <a:lnTo>
                  <a:pt x="0" y="44170"/>
                </a:lnTo>
                <a:lnTo>
                  <a:pt x="0" y="52578"/>
                </a:lnTo>
                <a:lnTo>
                  <a:pt x="5730583" y="52578"/>
                </a:lnTo>
                <a:lnTo>
                  <a:pt x="5730583" y="44170"/>
                </a:lnTo>
                <a:close/>
              </a:path>
              <a:path w="5730875" h="52705">
                <a:moveTo>
                  <a:pt x="5730583" y="17881"/>
                </a:moveTo>
                <a:lnTo>
                  <a:pt x="0" y="17881"/>
                </a:lnTo>
                <a:lnTo>
                  <a:pt x="0" y="35763"/>
                </a:lnTo>
                <a:lnTo>
                  <a:pt x="5730583" y="35763"/>
                </a:lnTo>
                <a:lnTo>
                  <a:pt x="5730583" y="17881"/>
                </a:lnTo>
                <a:close/>
              </a:path>
              <a:path w="5730875" h="52705">
                <a:moveTo>
                  <a:pt x="5730583" y="0"/>
                </a:moveTo>
                <a:lnTo>
                  <a:pt x="0" y="0"/>
                </a:lnTo>
                <a:lnTo>
                  <a:pt x="0" y="9474"/>
                </a:lnTo>
                <a:lnTo>
                  <a:pt x="5730583" y="9474"/>
                </a:lnTo>
                <a:lnTo>
                  <a:pt x="5730583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5117" y="4847206"/>
            <a:ext cx="1599565" cy="1391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800" dirty="0" smtClean="0">
                <a:solidFill>
                  <a:srgbClr val="0000CC"/>
                </a:solidFill>
                <a:latin typeface="Times New Roman"/>
                <a:cs typeface="Times New Roman"/>
              </a:rPr>
              <a:t>M. </a:t>
            </a:r>
            <a:r>
              <a:rPr lang="fr-FR" sz="800" dirty="0" err="1" smtClean="0">
                <a:solidFill>
                  <a:srgbClr val="0000CC"/>
                </a:solidFill>
                <a:latin typeface="Times New Roman"/>
                <a:cs typeface="Times New Roman"/>
              </a:rPr>
              <a:t>Ezziyyani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6490" y="4847206"/>
            <a:ext cx="13081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0000CC"/>
                </a:solidFill>
                <a:latin typeface="Times New Roman"/>
                <a:cs typeface="Times New Roman"/>
              </a:rPr>
              <a:t>63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7989" y="457254"/>
            <a:ext cx="4592955" cy="3295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5545">
              <a:lnSpc>
                <a:spcPct val="100000"/>
              </a:lnSpc>
              <a:spcBef>
                <a:spcPts val="130"/>
              </a:spcBef>
            </a:pP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Jointure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et</a:t>
            </a:r>
            <a:r>
              <a:rPr sz="1900" b="1" spc="6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sélection</a:t>
            </a:r>
            <a:r>
              <a:rPr sz="1900" b="1" spc="45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3299"/>
                </a:solidFill>
                <a:latin typeface="Times New Roman"/>
                <a:cs typeface="Times New Roman"/>
              </a:rPr>
              <a:t>avec</a:t>
            </a:r>
            <a:r>
              <a:rPr sz="1900" b="1" spc="50" dirty="0">
                <a:solidFill>
                  <a:srgbClr val="003299"/>
                </a:solidFill>
                <a:latin typeface="Times New Roman"/>
                <a:cs typeface="Times New Roman"/>
              </a:rPr>
              <a:t> </a:t>
            </a:r>
            <a:r>
              <a:rPr sz="1900" b="1" spc="-10" dirty="0">
                <a:solidFill>
                  <a:srgbClr val="003299"/>
                </a:solidFill>
                <a:latin typeface="Times New Roman"/>
                <a:cs typeface="Times New Roman"/>
              </a:rPr>
              <a:t>index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900">
              <a:latin typeface="Times New Roman"/>
              <a:cs typeface="Times New Roman"/>
            </a:endParaRPr>
          </a:p>
          <a:p>
            <a:pPr marL="180340" indent="-167640">
              <a:lnSpc>
                <a:spcPct val="100000"/>
              </a:lnSpc>
              <a:buChar char="•"/>
              <a:tabLst>
                <a:tab pos="180340" algn="l"/>
              </a:tabLst>
            </a:pPr>
            <a:r>
              <a:rPr sz="1650" spc="-10" dirty="0">
                <a:solidFill>
                  <a:srgbClr val="0000CC"/>
                </a:solidFill>
                <a:latin typeface="Times New Roman"/>
                <a:cs typeface="Times New Roman"/>
              </a:rPr>
              <a:t>Requête</a:t>
            </a:r>
            <a:endParaRPr sz="1650">
              <a:latin typeface="Times New Roman"/>
              <a:cs typeface="Times New Roman"/>
            </a:endParaRPr>
          </a:p>
          <a:p>
            <a:pPr marL="476884" marR="1631950">
              <a:lnSpc>
                <a:spcPct val="102200"/>
              </a:lnSpc>
              <a:spcBef>
                <a:spcPts val="34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CINEMA.Nom,</a:t>
            </a:r>
            <a:r>
              <a:rPr sz="1350" spc="1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Capacité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1350" spc="9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CINEMA,</a:t>
            </a:r>
            <a:r>
              <a:rPr sz="1350" spc="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350">
              <a:latin typeface="Times New Roman"/>
              <a:cs typeface="Times New Roman"/>
            </a:endParaRPr>
          </a:p>
          <a:p>
            <a:pPr marL="1123950" marR="5080" indent="-647065">
              <a:lnSpc>
                <a:spcPct val="102200"/>
              </a:lnSpc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WHERE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CINEMA.ID-cinéma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=</a:t>
            </a:r>
            <a:r>
              <a:rPr sz="1350" spc="114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SALLE.ID-cinéma</a:t>
            </a:r>
            <a:r>
              <a:rPr sz="1350" spc="1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Capacité</a:t>
            </a:r>
            <a:r>
              <a:rPr sz="1350" spc="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&gt;</a:t>
            </a:r>
            <a:r>
              <a:rPr sz="135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150</a:t>
            </a:r>
            <a:endParaRPr sz="1350">
              <a:latin typeface="Times New Roman"/>
              <a:cs typeface="Times New Roman"/>
            </a:endParaRPr>
          </a:p>
          <a:p>
            <a:pPr marL="476250" lvl="1" indent="-164465">
              <a:lnSpc>
                <a:spcPct val="100000"/>
              </a:lnSpc>
              <a:spcBef>
                <a:spcPts val="365"/>
              </a:spcBef>
              <a:buChar char="–"/>
              <a:tabLst>
                <a:tab pos="476250" algn="l"/>
              </a:tabLst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Plan</a:t>
            </a:r>
            <a:r>
              <a:rPr sz="1350" spc="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d'exécution</a:t>
            </a:r>
            <a:endParaRPr sz="1350">
              <a:latin typeface="Times New Roman"/>
              <a:cs typeface="Times New Roman"/>
            </a:endParaRPr>
          </a:p>
          <a:p>
            <a:pPr marL="775970" lvl="2" indent="-167640">
              <a:lnSpc>
                <a:spcPts val="1495"/>
              </a:lnSpc>
              <a:spcBef>
                <a:spcPts val="300"/>
              </a:spcBef>
              <a:buAutoNum type="arabicPlain"/>
              <a:tabLst>
                <a:tab pos="77597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SELECT</a:t>
            </a:r>
            <a:r>
              <a:rPr sz="1250" spc="-8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STATEMENT</a:t>
            </a:r>
            <a:endParaRPr sz="1250">
              <a:latin typeface="Times New Roman"/>
              <a:cs typeface="Times New Roman"/>
            </a:endParaRPr>
          </a:p>
          <a:p>
            <a:pPr marL="895350" lvl="2" indent="-157480">
              <a:lnSpc>
                <a:spcPts val="1490"/>
              </a:lnSpc>
              <a:buAutoNum type="arabicPlain"/>
              <a:tabLst>
                <a:tab pos="89535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NESTED</a:t>
            </a:r>
            <a:r>
              <a:rPr sz="1250" spc="-7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LOOPS</a:t>
            </a:r>
            <a:endParaRPr sz="1250">
              <a:latin typeface="Times New Roman"/>
              <a:cs typeface="Times New Roman"/>
            </a:endParaRPr>
          </a:p>
          <a:p>
            <a:pPr marL="157480" marR="494665" lvl="2" indent="-157480" algn="r">
              <a:lnSpc>
                <a:spcPts val="149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</a:t>
            </a:r>
            <a:endParaRPr sz="1250">
              <a:latin typeface="Times New Roman"/>
              <a:cs typeface="Times New Roman"/>
            </a:endParaRPr>
          </a:p>
          <a:p>
            <a:pPr marL="157480" marR="485775" lvl="2" indent="-157480" algn="r">
              <a:lnSpc>
                <a:spcPts val="1490"/>
              </a:lnSpc>
              <a:buAutoNum type="arabicPlain"/>
              <a:tabLst>
                <a:tab pos="15748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RANGE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SALLE-CAPACITE</a:t>
            </a:r>
            <a:endParaRPr sz="1250">
              <a:latin typeface="Times New Roman"/>
              <a:cs typeface="Times New Roman"/>
            </a:endParaRPr>
          </a:p>
          <a:p>
            <a:pPr marL="1052830" lvl="2" indent="-157480">
              <a:lnSpc>
                <a:spcPts val="1490"/>
              </a:lnSpc>
              <a:buAutoNum type="arabicPlain"/>
              <a:tabLst>
                <a:tab pos="1052830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TABLE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ACCESS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BY</a:t>
            </a:r>
            <a:r>
              <a:rPr sz="125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ROWID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CINEMA</a:t>
            </a:r>
            <a:endParaRPr sz="1250">
              <a:latin typeface="Times New Roman"/>
              <a:cs typeface="Times New Roman"/>
            </a:endParaRPr>
          </a:p>
          <a:p>
            <a:pPr marL="1210945" lvl="2" indent="-157480">
              <a:lnSpc>
                <a:spcPts val="1495"/>
              </a:lnSpc>
              <a:buAutoNum type="arabicPlain"/>
              <a:tabLst>
                <a:tab pos="1210945" algn="l"/>
              </a:tabLst>
            </a:pP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INDEX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UNIQUE</a:t>
            </a:r>
            <a:r>
              <a:rPr sz="12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dirty="0">
                <a:solidFill>
                  <a:srgbClr val="0000CC"/>
                </a:solidFill>
                <a:latin typeface="Times New Roman"/>
                <a:cs typeface="Times New Roman"/>
              </a:rPr>
              <a:t>SCAN</a:t>
            </a:r>
            <a:r>
              <a:rPr sz="12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50" spc="-20" dirty="0">
                <a:solidFill>
                  <a:srgbClr val="0000CC"/>
                </a:solidFill>
                <a:latin typeface="Times New Roman"/>
                <a:cs typeface="Times New Roman"/>
              </a:rPr>
              <a:t>CINEMA-</a:t>
            </a:r>
            <a:r>
              <a:rPr sz="1250" spc="-10" dirty="0">
                <a:solidFill>
                  <a:srgbClr val="0000CC"/>
                </a:solidFill>
                <a:latin typeface="Times New Roman"/>
                <a:cs typeface="Times New Roman"/>
              </a:rPr>
              <a:t>IDCINEMA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544" y="5847"/>
            <a:ext cx="7505065" cy="5340985"/>
          </a:xfrm>
          <a:custGeom>
            <a:avLst/>
            <a:gdLst/>
            <a:ahLst/>
            <a:cxnLst/>
            <a:rect l="l" t="t" r="r" b="b"/>
            <a:pathLst>
              <a:path w="7505065" h="5340985">
                <a:moveTo>
                  <a:pt x="0" y="5340598"/>
                </a:moveTo>
                <a:lnTo>
                  <a:pt x="7504907" y="5340598"/>
                </a:lnTo>
                <a:lnTo>
                  <a:pt x="7504907" y="0"/>
                </a:lnTo>
                <a:lnTo>
                  <a:pt x="0" y="0"/>
                </a:lnTo>
                <a:lnTo>
                  <a:pt x="0" y="534059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1683" y="3238385"/>
            <a:ext cx="8610600" cy="201930"/>
            <a:chOff x="1001683" y="3238385"/>
            <a:chExt cx="8610600" cy="201930"/>
          </a:xfrm>
        </p:grpSpPr>
        <p:sp>
          <p:nvSpPr>
            <p:cNvPr id="3" name="object 3"/>
            <p:cNvSpPr/>
            <p:nvPr/>
          </p:nvSpPr>
          <p:spPr>
            <a:xfrm>
              <a:off x="10016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200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200" y="201612"/>
                  </a:lnTo>
                  <a:lnTo>
                    <a:pt x="2870200" y="0"/>
                  </a:lnTo>
                  <a:close/>
                </a:path>
              </a:pathLst>
            </a:custGeom>
            <a:solidFill>
              <a:srgbClr val="7A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718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198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198" y="201612"/>
                  </a:lnTo>
                  <a:lnTo>
                    <a:pt x="2870198" y="0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420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198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198" y="201612"/>
                  </a:lnTo>
                  <a:lnTo>
                    <a:pt x="2870198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80083" y="6630554"/>
            <a:ext cx="106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87853" y="1762645"/>
            <a:ext cx="5922645" cy="13563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69720" marR="5080" indent="-1557655">
              <a:lnSpc>
                <a:spcPts val="5200"/>
              </a:lnSpc>
              <a:spcBef>
                <a:spcPts val="280"/>
              </a:spcBef>
            </a:pP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Gestion</a:t>
            </a:r>
            <a:r>
              <a:rPr sz="44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44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 centralisée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8171180" cy="427990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55600" marR="745490" indent="-342900">
              <a:lnSpc>
                <a:spcPct val="119400"/>
              </a:lnSpc>
              <a:spcBef>
                <a:spcPts val="3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utilisateur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manipule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écrivant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programmes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d'application</a:t>
            </a:r>
            <a:r>
              <a:rPr sz="2000" spc="-2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qui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appels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SGBD.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L'exécution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d'un </a:t>
            </a:r>
            <a:r>
              <a:rPr sz="2000" dirty="0">
                <a:latin typeface="Trebuchet MS"/>
                <a:cs typeface="Trebuchet MS"/>
              </a:rPr>
              <a:t>programme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naître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niveau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SGBD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l'occurrence</a:t>
            </a:r>
            <a:r>
              <a:rPr sz="2000" spc="-10" dirty="0">
                <a:latin typeface="Trebuchet MS"/>
                <a:cs typeface="Trebuchet MS"/>
              </a:rPr>
              <a:t> d'une </a:t>
            </a: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transaction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5600" marR="111760" indent="-342900">
              <a:lnSpc>
                <a:spcPct val="1217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(T)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groupe</a:t>
            </a:r>
            <a:r>
              <a:rPr sz="2000" spc="-2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d'actions</a:t>
            </a:r>
            <a:r>
              <a:rPr sz="2000" spc="-2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(lectures,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écritures)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sur </a:t>
            </a: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base</a:t>
            </a: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de</a:t>
            </a: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 données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213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notions</a:t>
            </a:r>
            <a:r>
              <a:rPr sz="20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de</a:t>
            </a:r>
            <a:r>
              <a:rPr sz="20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cohérence</a:t>
            </a: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tout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qui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concerne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support </a:t>
            </a:r>
            <a:r>
              <a:rPr sz="2000" dirty="0">
                <a:latin typeface="Trebuchet MS"/>
                <a:cs typeface="Trebuchet MS"/>
              </a:rPr>
              <a:t>transactionnel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indépendantes</a:t>
            </a:r>
            <a:r>
              <a:rPr sz="20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du</a:t>
            </a:r>
            <a:r>
              <a:rPr sz="2000" spc="-2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modèle</a:t>
            </a:r>
            <a:r>
              <a:rPr sz="20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de</a:t>
            </a:r>
            <a:r>
              <a:rPr sz="2000" spc="-2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données</a:t>
            </a:r>
            <a:r>
              <a:rPr sz="2000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utilisé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par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données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Cycle</a:t>
            </a:r>
            <a:r>
              <a:rPr sz="4000" spc="-6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4000" spc="-3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vie</a:t>
            </a:r>
            <a:r>
              <a:rPr sz="4000" spc="-3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415" dirty="0">
                <a:solidFill>
                  <a:srgbClr val="CC3300"/>
                </a:solidFill>
                <a:latin typeface="Trebuchet MS"/>
                <a:cs typeface="Trebuchet MS"/>
              </a:rPr>
              <a:t>d</a:t>
            </a:r>
            <a:r>
              <a:rPr sz="4000" spc="-415" dirty="0">
                <a:solidFill>
                  <a:srgbClr val="D84800"/>
                </a:solidFill>
                <a:latin typeface="MS PGothic"/>
                <a:cs typeface="MS PGothic"/>
              </a:rPr>
              <a:t>ʼ</a:t>
            </a:r>
            <a:r>
              <a:rPr sz="4000" spc="-415" dirty="0">
                <a:solidFill>
                  <a:srgbClr val="CC3300"/>
                </a:solidFill>
                <a:latin typeface="Trebuchet MS"/>
                <a:cs typeface="Trebuchet MS"/>
              </a:rPr>
              <a:t>une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23909"/>
            <a:ext cx="8329930" cy="477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331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800" dirty="0">
                <a:latin typeface="Trebuchet MS"/>
                <a:cs typeface="Trebuchet MS"/>
              </a:rPr>
              <a:t>Une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transaction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peut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1231900" lvl="1" indent="-304800">
              <a:lnSpc>
                <a:spcPts val="2830"/>
              </a:lnSpc>
              <a:buClr>
                <a:srgbClr val="FFCC00"/>
              </a:buClr>
              <a:buSzPct val="54166"/>
              <a:buFont typeface="Wingdings"/>
              <a:buChar char=""/>
              <a:tabLst>
                <a:tab pos="1231900" algn="l"/>
              </a:tabLst>
            </a:pPr>
            <a:r>
              <a:rPr sz="2400" dirty="0">
                <a:latin typeface="Trebuchet MS"/>
                <a:cs typeface="Trebuchet MS"/>
              </a:rPr>
              <a:t>se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dérouler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normalement,</a:t>
            </a:r>
            <a:endParaRPr sz="2400">
              <a:latin typeface="Trebuchet MS"/>
              <a:cs typeface="Trebuchet MS"/>
            </a:endParaRPr>
          </a:p>
          <a:p>
            <a:pPr marL="1247140" lvl="1" indent="-320040">
              <a:lnSpc>
                <a:spcPct val="100000"/>
              </a:lnSpc>
              <a:spcBef>
                <a:spcPts val="20"/>
              </a:spcBef>
              <a:buClr>
                <a:srgbClr val="FFCC00"/>
              </a:buClr>
              <a:buSzPct val="64583"/>
              <a:buFont typeface="Wingdings"/>
              <a:buChar char=""/>
              <a:tabLst>
                <a:tab pos="1247140" algn="l"/>
              </a:tabLst>
            </a:pPr>
            <a:r>
              <a:rPr sz="2400" dirty="0">
                <a:latin typeface="Trebuchet MS"/>
                <a:cs typeface="Trebuchet MS"/>
              </a:rPr>
              <a:t>être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tuée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cours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d'exécution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ou</a:t>
            </a:r>
            <a:endParaRPr sz="2400">
              <a:latin typeface="Trebuchet MS"/>
              <a:cs typeface="Trebuchet MS"/>
            </a:endParaRPr>
          </a:p>
          <a:p>
            <a:pPr marL="1247140" lvl="1" indent="-320040">
              <a:lnSpc>
                <a:spcPct val="100000"/>
              </a:lnSpc>
              <a:spcBef>
                <a:spcPts val="20"/>
              </a:spcBef>
              <a:buClr>
                <a:srgbClr val="FFCC00"/>
              </a:buClr>
              <a:buSzPct val="64583"/>
              <a:buFont typeface="Wingdings"/>
              <a:buChar char=""/>
              <a:tabLst>
                <a:tab pos="1247140" algn="l"/>
              </a:tabLst>
            </a:pPr>
            <a:r>
              <a:rPr sz="2400" dirty="0">
                <a:latin typeface="Trebuchet MS"/>
                <a:cs typeface="Trebuchet MS"/>
              </a:rPr>
              <a:t>s'arrêter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même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avant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fin.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ts val="283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opérations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4" dirty="0">
                <a:latin typeface="Trebuchet MS"/>
                <a:cs typeface="Trebuchet MS"/>
              </a:rPr>
              <a:t>d</a:t>
            </a:r>
            <a:r>
              <a:rPr sz="2400" spc="-254" dirty="0">
                <a:latin typeface="MS PGothic"/>
                <a:cs typeface="MS PGothic"/>
              </a:rPr>
              <a:t>ʼ</a:t>
            </a:r>
            <a:r>
              <a:rPr sz="2400" spc="-254" dirty="0">
                <a:latin typeface="Trebuchet MS"/>
                <a:cs typeface="Trebuchet MS"/>
              </a:rPr>
              <a:t>une</a:t>
            </a:r>
            <a:r>
              <a:rPr sz="24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</a:t>
            </a:r>
            <a:endParaRPr sz="2400">
              <a:latin typeface="Trebuchet MS"/>
              <a:cs typeface="Trebuchet MS"/>
            </a:endParaRPr>
          </a:p>
          <a:p>
            <a:pPr marL="755015" indent="-285115">
              <a:lnSpc>
                <a:spcPts val="2350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spc="-10" dirty="0">
                <a:solidFill>
                  <a:srgbClr val="CC6600"/>
                </a:solidFill>
                <a:latin typeface="Trebuchet MS"/>
                <a:cs typeface="Trebuchet MS"/>
              </a:rPr>
              <a:t>début</a:t>
            </a:r>
            <a:endParaRPr sz="2000">
              <a:latin typeface="Trebuchet MS"/>
              <a:cs typeface="Trebuchet MS"/>
            </a:endParaRPr>
          </a:p>
          <a:p>
            <a:pPr marL="755015" indent="-285115">
              <a:lnSpc>
                <a:spcPct val="100000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fin</a:t>
            </a:r>
            <a:r>
              <a:rPr sz="2000" spc="-1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(validation,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annuler)</a:t>
            </a:r>
            <a:endParaRPr sz="2000">
              <a:latin typeface="Trebuchet MS"/>
              <a:cs typeface="Trebuchet MS"/>
            </a:endParaRPr>
          </a:p>
          <a:p>
            <a:pPr marL="749300" marR="134620" indent="-279400">
              <a:lnSpc>
                <a:spcPts val="1920"/>
              </a:lnSpc>
              <a:spcBef>
                <a:spcPts val="465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lire</a:t>
            </a:r>
            <a:r>
              <a:rPr sz="2000" spc="-1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lecture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valeur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d'un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objet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partir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BD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stockage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valeur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l'espace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travail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transaction</a:t>
            </a:r>
            <a:endParaRPr sz="2000">
              <a:latin typeface="Trebuchet MS"/>
              <a:cs typeface="Trebuchet MS"/>
            </a:endParaRPr>
          </a:p>
          <a:p>
            <a:pPr marL="749300" marR="5080" indent="-279400">
              <a:lnSpc>
                <a:spcPct val="79600"/>
              </a:lnSpc>
              <a:spcBef>
                <a:spcPts val="585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écrire</a:t>
            </a:r>
            <a:r>
              <a:rPr sz="2000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partir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d'une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valeur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stockée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l'espace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travail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la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écrire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cette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valeur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base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10" dirty="0">
                <a:latin typeface="Trebuchet MS"/>
                <a:cs typeface="Trebuchet MS"/>
              </a:rPr>
              <a:t> l'objet</a:t>
            </a:r>
            <a:r>
              <a:rPr sz="2000" spc="5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désigné</a:t>
            </a:r>
            <a:endParaRPr sz="2000">
              <a:latin typeface="Trebuchet MS"/>
              <a:cs typeface="Trebuchet MS"/>
            </a:endParaRPr>
          </a:p>
          <a:p>
            <a:pPr marL="749300" marR="75565" indent="-279400">
              <a:lnSpc>
                <a:spcPts val="1920"/>
              </a:lnSpc>
              <a:spcBef>
                <a:spcPts val="445"/>
              </a:spcBef>
              <a:buFont typeface="Wingdings"/>
              <a:buChar char=""/>
              <a:tabLst>
                <a:tab pos="749300" algn="l"/>
                <a:tab pos="755015" algn="l"/>
                <a:tab pos="420560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abandonner</a:t>
            </a:r>
            <a:r>
              <a:rPr sz="20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(rollback,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abort)</a:t>
            </a:r>
            <a:r>
              <a:rPr sz="2000" dirty="0">
                <a:latin typeface="Trebuchet MS"/>
                <a:cs typeface="Trebuchet MS"/>
              </a:rPr>
              <a:t>	: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défaire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toute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màj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faites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la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depuis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début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Propriétés</a:t>
            </a:r>
            <a:r>
              <a:rPr sz="44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ACID</a:t>
            </a:r>
            <a:r>
              <a:rPr sz="44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spc="-25" dirty="0">
                <a:solidFill>
                  <a:srgbClr val="CC3300"/>
                </a:solidFill>
                <a:latin typeface="Trebuchet MS"/>
                <a:cs typeface="Trebuchet MS"/>
              </a:rPr>
              <a:t>(1)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805370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Atomicité,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Cohérence,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Isolation,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Durabilité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Atomicité</a:t>
            </a:r>
            <a:endParaRPr sz="2000">
              <a:latin typeface="Trebuchet MS"/>
              <a:cs typeface="Trebuchet MS"/>
            </a:endParaRPr>
          </a:p>
          <a:p>
            <a:pPr marL="355600" marR="264795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Soit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termine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correctement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elle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effets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désirés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les </a:t>
            </a:r>
            <a:r>
              <a:rPr sz="2000" dirty="0">
                <a:latin typeface="Trebuchet MS"/>
                <a:cs typeface="Trebuchet MS"/>
              </a:rPr>
              <a:t>données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manipulées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(elle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10" dirty="0">
                <a:latin typeface="Trebuchet MS"/>
                <a:cs typeface="Trebuchet MS"/>
              </a:rPr>
              <a:t> validée)</a:t>
            </a:r>
            <a:endParaRPr sz="2000">
              <a:latin typeface="Trebuchet MS"/>
              <a:cs typeface="Trebuchet MS"/>
            </a:endParaRPr>
          </a:p>
          <a:p>
            <a:pPr marL="355600" marR="17780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Soit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interrompue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elle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335" dirty="0">
                <a:latin typeface="Trebuchet MS"/>
                <a:cs typeface="Trebuchet MS"/>
              </a:rPr>
              <a:t>n</a:t>
            </a:r>
            <a:r>
              <a:rPr sz="2000" spc="-335" dirty="0">
                <a:latin typeface="MS PGothic"/>
                <a:cs typeface="MS PGothic"/>
              </a:rPr>
              <a:t>ʼ</a:t>
            </a:r>
            <a:r>
              <a:rPr sz="2000" spc="-335" dirty="0">
                <a:latin typeface="Trebuchet MS"/>
                <a:cs typeface="Trebuchet MS"/>
              </a:rPr>
              <a:t>a</a:t>
            </a:r>
            <a:r>
              <a:rPr sz="2000" dirty="0">
                <a:latin typeface="Trebuchet MS"/>
                <a:cs typeface="Trebuchet MS"/>
              </a:rPr>
              <a:t> aucun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effet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données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(elle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abandonnée)</a:t>
            </a:r>
            <a:endParaRPr sz="2000">
              <a:latin typeface="Trebuchet MS"/>
              <a:cs typeface="Trebuchet MS"/>
            </a:endParaRPr>
          </a:p>
          <a:p>
            <a:pPr marL="355600" marR="19939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latin typeface="Trebuchet MS"/>
                <a:cs typeface="Trebuchet MS"/>
              </a:rPr>
              <a:t>Propriété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essentielle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assurer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cohérence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"syntaxique"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la </a:t>
            </a:r>
            <a:r>
              <a:rPr sz="2000" dirty="0">
                <a:latin typeface="Trebuchet MS"/>
                <a:cs typeface="Trebuchet MS"/>
              </a:rPr>
              <a:t>base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(suite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panne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défaillance)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355600" marR="133985" indent="-342900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solidFill>
                  <a:srgbClr val="FF3300"/>
                </a:solidFill>
                <a:latin typeface="Trebuchet MS"/>
                <a:cs typeface="Trebuchet MS"/>
              </a:rPr>
              <a:t>Cohérence</a:t>
            </a:r>
            <a:r>
              <a:rPr sz="2000" spc="-2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modifications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faites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mettent </a:t>
            </a:r>
            <a:r>
              <a:rPr sz="2000" dirty="0">
                <a:latin typeface="Trebuchet MS"/>
                <a:cs typeface="Trebuchet MS"/>
              </a:rPr>
              <a:t>pas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péril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l'intégrité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0" dirty="0">
                <a:latin typeface="Trebuchet MS"/>
                <a:cs typeface="Trebuchet MS"/>
              </a:rPr>
              <a:t> base.</a:t>
            </a:r>
            <a:endParaRPr sz="2000">
              <a:latin typeface="Trebuchet MS"/>
              <a:cs typeface="Trebuchet MS"/>
            </a:endParaRPr>
          </a:p>
          <a:p>
            <a:pPr marL="355600" marR="5080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latin typeface="Trebuchet MS"/>
                <a:cs typeface="Trebuchet MS"/>
              </a:rPr>
              <a:t>Nécessite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contrôle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l'intégrité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(CI)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général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phase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de </a:t>
            </a:r>
            <a:r>
              <a:rPr sz="2000" dirty="0">
                <a:latin typeface="Trebuchet MS"/>
                <a:cs typeface="Trebuchet MS"/>
              </a:rPr>
              <a:t>validation.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général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ressort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programmeur.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Propriétés</a:t>
            </a:r>
            <a:r>
              <a:rPr sz="44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dirty="0">
                <a:solidFill>
                  <a:srgbClr val="CC3300"/>
                </a:solidFill>
                <a:latin typeface="Trebuchet MS"/>
                <a:cs typeface="Trebuchet MS"/>
              </a:rPr>
              <a:t>ACID</a:t>
            </a:r>
            <a:r>
              <a:rPr sz="44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400" spc="-25" dirty="0">
                <a:solidFill>
                  <a:srgbClr val="CC3300"/>
                </a:solidFill>
                <a:latin typeface="Trebuchet MS"/>
                <a:cs typeface="Trebuchet MS"/>
              </a:rPr>
              <a:t>(2)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44229"/>
            <a:ext cx="8321675" cy="312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15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Isolation</a:t>
            </a:r>
            <a:endParaRPr sz="2000">
              <a:latin typeface="Trebuchet MS"/>
              <a:cs typeface="Trebuchet MS"/>
            </a:endParaRPr>
          </a:p>
          <a:p>
            <a:pPr marL="355600" marR="639445">
              <a:lnSpc>
                <a:spcPct val="79200"/>
              </a:lnSpc>
              <a:spcBef>
                <a:spcPts val="250"/>
              </a:spcBef>
            </a:pPr>
            <a:r>
              <a:rPr sz="2000" dirty="0">
                <a:latin typeface="Trebuchet MS"/>
                <a:cs typeface="Trebuchet MS"/>
              </a:rPr>
              <a:t>Cette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propriété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permet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d</a:t>
            </a:r>
            <a:r>
              <a:rPr sz="2000" spc="-125" dirty="0">
                <a:latin typeface="MS PGothic"/>
                <a:cs typeface="MS PGothic"/>
              </a:rPr>
              <a:t>ʼ</a:t>
            </a:r>
            <a:r>
              <a:rPr sz="2000" spc="-125" dirty="0">
                <a:latin typeface="Trebuchet MS"/>
                <a:cs typeface="Trebuchet MS"/>
              </a:rPr>
              <a:t>éviter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interférences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entre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les </a:t>
            </a:r>
            <a:r>
              <a:rPr sz="2000" dirty="0">
                <a:latin typeface="Trebuchet MS"/>
                <a:cs typeface="Trebuchet MS"/>
              </a:rPr>
              <a:t>autres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transactions,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produisant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résultats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incorrects.</a:t>
            </a:r>
            <a:endParaRPr sz="2000">
              <a:latin typeface="Trebuchet MS"/>
              <a:cs typeface="Trebuchet MS"/>
            </a:endParaRPr>
          </a:p>
          <a:p>
            <a:pPr marL="355600" marR="226695">
              <a:lnSpc>
                <a:spcPct val="79200"/>
              </a:lnSpc>
            </a:pPr>
            <a:r>
              <a:rPr sz="2000" dirty="0">
                <a:latin typeface="Trebuchet MS"/>
                <a:cs typeface="Trebuchet MS"/>
              </a:rPr>
              <a:t>Tout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passe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s'exécutait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manière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isolée </a:t>
            </a:r>
            <a:r>
              <a:rPr sz="2000" dirty="0">
                <a:latin typeface="Trebuchet MS"/>
                <a:cs typeface="Trebuchet MS"/>
              </a:rPr>
              <a:t>des autres </a:t>
            </a:r>
            <a:r>
              <a:rPr sz="2000" spc="-10" dirty="0">
                <a:latin typeface="Trebuchet MS"/>
                <a:cs typeface="Trebuchet MS"/>
              </a:rPr>
              <a:t>transactions.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95"/>
              </a:spcBef>
              <a:tabLst>
                <a:tab pos="1644650" algn="l"/>
              </a:tabLst>
            </a:pPr>
            <a:r>
              <a:rPr sz="2000" dirty="0">
                <a:latin typeface="Trebuchet MS"/>
                <a:cs typeface="Trebuchet MS"/>
              </a:rPr>
              <a:t>Isolation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: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i="1" dirty="0">
                <a:latin typeface="Trebuchet MS"/>
                <a:cs typeface="Trebuchet MS"/>
              </a:rPr>
              <a:t>protocoles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de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contrôle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de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concurrence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ts val="2150"/>
              </a:lnSpc>
              <a:spcBef>
                <a:spcPts val="14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spc="-10" dirty="0">
                <a:solidFill>
                  <a:srgbClr val="FF3300"/>
                </a:solidFill>
                <a:latin typeface="Trebuchet MS"/>
                <a:cs typeface="Trebuchet MS"/>
              </a:rPr>
              <a:t>Durabilité</a:t>
            </a:r>
            <a:endParaRPr sz="2000">
              <a:latin typeface="Trebuchet MS"/>
              <a:cs typeface="Trebuchet MS"/>
            </a:endParaRPr>
          </a:p>
          <a:p>
            <a:pPr marL="355600" marR="5080">
              <a:lnSpc>
                <a:spcPct val="79200"/>
              </a:lnSpc>
              <a:spcBef>
                <a:spcPts val="250"/>
              </a:spcBef>
            </a:pPr>
            <a:r>
              <a:rPr sz="2000" dirty="0">
                <a:latin typeface="Trebuchet MS"/>
                <a:cs typeface="Trebuchet MS"/>
              </a:rPr>
              <a:t>Le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système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conserve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toute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modification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faite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qui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validé.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Ceci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demande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techniques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résistance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aux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défaillances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400"/>
              </a:spcBef>
            </a:pPr>
            <a:r>
              <a:rPr sz="2000" dirty="0">
                <a:latin typeface="Trebuchet MS"/>
                <a:cs typeface="Trebuchet MS"/>
              </a:rPr>
              <a:t>Durabilité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(et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Atomicité)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protocoles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de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reprise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571068"/>
            <a:ext cx="468820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Le</a:t>
            </a:r>
            <a:r>
              <a:rPr sz="3200" spc="-5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travail</a:t>
            </a:r>
            <a:r>
              <a:rPr sz="32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du</a:t>
            </a:r>
            <a:r>
              <a:rPr sz="32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gestionnaire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des</a:t>
            </a:r>
            <a:r>
              <a:rPr sz="32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575573"/>
            <a:ext cx="8293100" cy="363601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8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Initialiser</a:t>
            </a:r>
            <a:r>
              <a:rPr sz="22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chaque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transaction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contrôler</a:t>
            </a:r>
            <a:r>
              <a:rPr sz="2200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son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exécution.</a:t>
            </a:r>
            <a:endParaRPr sz="2200">
              <a:latin typeface="Trebuchet MS"/>
              <a:cs typeface="Trebuchet MS"/>
            </a:endParaRPr>
          </a:p>
          <a:p>
            <a:pPr marL="469900" marR="701675">
              <a:lnSpc>
                <a:spcPts val="2600"/>
              </a:lnSpc>
              <a:spcBef>
                <a:spcPts val="1410"/>
              </a:spcBef>
            </a:pPr>
            <a:r>
              <a:rPr sz="2200" dirty="0">
                <a:latin typeface="Trebuchet MS"/>
                <a:cs typeface="Trebuchet MS"/>
              </a:rPr>
              <a:t>Si</a:t>
            </a:r>
            <a:r>
              <a:rPr sz="2200" spc="-10" dirty="0">
                <a:latin typeface="Trebuchet MS"/>
                <a:cs typeface="Trebuchet MS"/>
              </a:rPr>
              <a:t> celle-</a:t>
            </a:r>
            <a:r>
              <a:rPr sz="2200" dirty="0">
                <a:latin typeface="Trebuchet MS"/>
                <a:cs typeface="Trebuchet MS"/>
              </a:rPr>
              <a:t>ci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passe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bien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=&gt;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confirmer</a:t>
            </a:r>
            <a:r>
              <a:rPr sz="2200" spc="-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200" spc="-1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CC6600"/>
                </a:solidFill>
                <a:latin typeface="Trebuchet MS"/>
                <a:cs typeface="Trebuchet MS"/>
              </a:rPr>
              <a:t>transaction </a:t>
            </a:r>
            <a:r>
              <a:rPr sz="2200" dirty="0">
                <a:latin typeface="Trebuchet MS"/>
                <a:cs typeface="Trebuchet MS"/>
              </a:rPr>
              <a:t>Sinon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annuler</a:t>
            </a:r>
            <a:r>
              <a:rPr sz="2200" spc="-1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200" spc="-1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transaction</a:t>
            </a:r>
            <a:r>
              <a:rPr sz="22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en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défaisant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ses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opérations.</a:t>
            </a:r>
            <a:endParaRPr sz="2200">
              <a:latin typeface="Trebuchet MS"/>
              <a:cs typeface="Trebuchet MS"/>
            </a:endParaRPr>
          </a:p>
          <a:p>
            <a:pPr marL="355600" marR="1372870" indent="-342900">
              <a:lnSpc>
                <a:spcPts val="2170"/>
              </a:lnSpc>
              <a:spcBef>
                <a:spcPts val="194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Contrôler</a:t>
            </a:r>
            <a:r>
              <a:rPr sz="22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les</a:t>
            </a:r>
            <a:r>
              <a:rPr sz="2200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solidFill>
                  <a:srgbClr val="D77A00"/>
                </a:solidFill>
                <a:latin typeface="Trebuchet MS"/>
                <a:cs typeface="Trebuchet MS"/>
              </a:rPr>
              <a:t>accès</a:t>
            </a:r>
            <a:r>
              <a:rPr sz="2200" i="1" spc="-25" dirty="0">
                <a:solidFill>
                  <a:srgbClr val="D77A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solidFill>
                  <a:srgbClr val="D77A00"/>
                </a:solidFill>
                <a:latin typeface="Trebuchet MS"/>
                <a:cs typeface="Trebuchet MS"/>
              </a:rPr>
              <a:t>concurrents</a:t>
            </a:r>
            <a:r>
              <a:rPr sz="2200" i="1" spc="-30" dirty="0">
                <a:solidFill>
                  <a:srgbClr val="D77A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latin typeface="Trebuchet MS"/>
                <a:cs typeface="Trebuchet MS"/>
              </a:rPr>
              <a:t>en</a:t>
            </a:r>
            <a:r>
              <a:rPr sz="2200" i="1" spc="-25" dirty="0">
                <a:latin typeface="Trebuchet MS"/>
                <a:cs typeface="Trebuchet MS"/>
              </a:rPr>
              <a:t> </a:t>
            </a:r>
            <a:r>
              <a:rPr sz="2200" i="1" dirty="0">
                <a:latin typeface="Trebuchet MS"/>
                <a:cs typeface="Trebuchet MS"/>
              </a:rPr>
              <a:t>synchronisant</a:t>
            </a:r>
            <a:r>
              <a:rPr sz="2200" i="1" spc="-2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les </a:t>
            </a:r>
            <a:r>
              <a:rPr sz="2200" dirty="0">
                <a:latin typeface="Trebuchet MS"/>
                <a:cs typeface="Trebuchet MS"/>
              </a:rPr>
              <a:t>transactions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en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conflit.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Clr>
                <a:srgbClr val="663300"/>
              </a:buClr>
              <a:buFont typeface="Wingdings"/>
              <a:buChar char=""/>
            </a:pPr>
            <a:endParaRPr sz="2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805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Assurer</a:t>
            </a:r>
            <a:r>
              <a:rPr sz="2200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200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solidFill>
                  <a:srgbClr val="D77A00"/>
                </a:solidFill>
                <a:latin typeface="Trebuchet MS"/>
                <a:cs typeface="Trebuchet MS"/>
              </a:rPr>
              <a:t>reprise</a:t>
            </a:r>
            <a:r>
              <a:rPr sz="2200" i="1" spc="-15" dirty="0">
                <a:solidFill>
                  <a:srgbClr val="D77A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solidFill>
                  <a:srgbClr val="D77A00"/>
                </a:solidFill>
                <a:latin typeface="Trebuchet MS"/>
                <a:cs typeface="Trebuchet MS"/>
              </a:rPr>
              <a:t>après</a:t>
            </a:r>
            <a:r>
              <a:rPr sz="2200" i="1" spc="-25" dirty="0">
                <a:solidFill>
                  <a:srgbClr val="D77A00"/>
                </a:solidFill>
                <a:latin typeface="Trebuchet MS"/>
                <a:cs typeface="Trebuchet MS"/>
              </a:rPr>
              <a:t> </a:t>
            </a:r>
            <a:r>
              <a:rPr sz="2200" i="1" dirty="0">
                <a:solidFill>
                  <a:srgbClr val="D77A00"/>
                </a:solidFill>
                <a:latin typeface="Trebuchet MS"/>
                <a:cs typeface="Trebuchet MS"/>
              </a:rPr>
              <a:t>panne</a:t>
            </a:r>
            <a:r>
              <a:rPr sz="2200" i="1" spc="-15" dirty="0">
                <a:solidFill>
                  <a:srgbClr val="D77A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: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3300"/>
                </a:solidFill>
                <a:latin typeface="Trebuchet MS"/>
                <a:cs typeface="Trebuchet MS"/>
              </a:rPr>
              <a:t>refaire</a:t>
            </a:r>
            <a:r>
              <a:rPr sz="22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travail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des </a:t>
            </a:r>
            <a:r>
              <a:rPr sz="2200" dirty="0">
                <a:latin typeface="Trebuchet MS"/>
                <a:cs typeface="Trebuchet MS"/>
              </a:rPr>
              <a:t>transactions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ayant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atteint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leur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point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confirmation</a:t>
            </a:r>
            <a:r>
              <a:rPr sz="2200" spc="-10" dirty="0">
                <a:latin typeface="Trebuchet MS"/>
                <a:cs typeface="Trebuchet MS"/>
              </a:rPr>
              <a:t> (commit/ </a:t>
            </a:r>
            <a:r>
              <a:rPr sz="2200" dirty="0">
                <a:latin typeface="Trebuchet MS"/>
                <a:cs typeface="Trebuchet MS"/>
              </a:rPr>
              <a:t>validation)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avant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la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panne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et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3300"/>
                </a:solidFill>
                <a:latin typeface="Trebuchet MS"/>
                <a:cs typeface="Trebuchet MS"/>
              </a:rPr>
              <a:t>défaire</a:t>
            </a:r>
            <a:r>
              <a:rPr sz="2200" spc="-1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celles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qui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n'avaient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pas </a:t>
            </a:r>
            <a:r>
              <a:rPr sz="2200" dirty="0">
                <a:latin typeface="Trebuchet MS"/>
                <a:cs typeface="Trebuchet MS"/>
              </a:rPr>
              <a:t>atteint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ce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point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au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moment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de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la</a:t>
            </a:r>
            <a:r>
              <a:rPr sz="2200" spc="-10" dirty="0">
                <a:latin typeface="Trebuchet MS"/>
                <a:cs typeface="Trebuchet MS"/>
              </a:rPr>
              <a:t> panne.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40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problématiques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06675" y="6847744"/>
            <a:ext cx="19558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50" dirty="0">
                <a:latin typeface="Trebuchet MS"/>
                <a:cs typeface="Trebuchet MS"/>
              </a:rPr>
              <a:t>7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34069"/>
            <a:ext cx="8283575" cy="338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 indent="-342265">
              <a:lnSpc>
                <a:spcPts val="3015"/>
              </a:lnSpc>
              <a:buClr>
                <a:srgbClr val="663300"/>
              </a:buClr>
              <a:buSzPct val="118750"/>
              <a:buAutoNum type="arabicPeriod"/>
              <a:tabLst>
                <a:tab pos="354965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Gestion</a:t>
            </a:r>
            <a:r>
              <a:rPr sz="2400" spc="-7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des</a:t>
            </a:r>
            <a:r>
              <a:rPr sz="2400" spc="-6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accès</a:t>
            </a:r>
            <a:r>
              <a:rPr sz="2400" spc="-7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C6600"/>
                </a:solidFill>
                <a:latin typeface="Trebuchet MS"/>
                <a:cs typeface="Trebuchet MS"/>
              </a:rPr>
              <a:t>concurrents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ts val="2345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Ti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séquence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d'actions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(LIRE,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ECRIRE)</a:t>
            </a:r>
            <a:endParaRPr sz="2000">
              <a:latin typeface="Trebuchet MS"/>
              <a:cs typeface="Trebuchet MS"/>
            </a:endParaRPr>
          </a:p>
          <a:p>
            <a:pPr marL="749300" marR="723265" lvl="1" indent="-279400">
              <a:lnSpc>
                <a:spcPct val="90000"/>
              </a:lnSpc>
              <a:spcBef>
                <a:spcPts val="240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rebuchet MS"/>
                <a:cs typeface="Trebuchet MS"/>
              </a:rPr>
              <a:t>Exécution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concurrente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TRANSACTIONS: </a:t>
            </a:r>
            <a:r>
              <a:rPr sz="2000" dirty="0">
                <a:latin typeface="Trebuchet MS"/>
                <a:cs typeface="Trebuchet MS"/>
              </a:rPr>
              <a:t>ORDONNANCEMENT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</a:t>
            </a:r>
            <a:r>
              <a:rPr sz="2000" dirty="0">
                <a:solidFill>
                  <a:srgbClr val="A50021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latin typeface="Trebuchet MS"/>
                <a:cs typeface="Trebuchet MS"/>
              </a:rPr>
              <a:t>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temps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actions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(A)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5" dirty="0">
                <a:latin typeface="Trebuchet MS"/>
                <a:cs typeface="Trebuchet MS"/>
              </a:rPr>
              <a:t> ces </a:t>
            </a:r>
            <a:r>
              <a:rPr sz="2000" spc="-10" dirty="0">
                <a:latin typeface="Trebuchet MS"/>
                <a:cs typeface="Trebuchet MS"/>
              </a:rPr>
              <a:t>transactions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CC3300"/>
              </a:buClr>
              <a:buFont typeface="Wingdings"/>
              <a:buChar char=""/>
            </a:pPr>
            <a:endParaRPr sz="2000">
              <a:latin typeface="Trebuchet MS"/>
              <a:cs typeface="Trebuchet MS"/>
            </a:endParaRPr>
          </a:p>
          <a:p>
            <a:pPr marL="1617345">
              <a:lnSpc>
                <a:spcPct val="100000"/>
              </a:lnSpc>
            </a:pPr>
            <a:r>
              <a:rPr sz="2000" dirty="0">
                <a:solidFill>
                  <a:srgbClr val="A50021"/>
                </a:solidFill>
                <a:latin typeface="Trebuchet MS"/>
                <a:cs typeface="Trebuchet MS"/>
              </a:rPr>
              <a:t>S</a:t>
            </a:r>
            <a:r>
              <a:rPr sz="2000" spc="-3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&lt;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........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(T1,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A1,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x)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...........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(T2,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A2,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x)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..........&gt;</a:t>
            </a:r>
            <a:endParaRPr sz="2000">
              <a:latin typeface="Trebuchet MS"/>
              <a:cs typeface="Trebuchet MS"/>
            </a:endParaRPr>
          </a:p>
          <a:p>
            <a:pPr marL="852169">
              <a:lnSpc>
                <a:spcPct val="100000"/>
              </a:lnSpc>
            </a:pPr>
            <a:r>
              <a:rPr sz="2000" spc="-15" dirty="0">
                <a:latin typeface="Trebuchet MS"/>
                <a:cs typeface="Trebuchet MS"/>
              </a:rPr>
              <a:t>---------------------|----------------------|------------------------&gt;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temps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000">
              <a:latin typeface="Trebuchet MS"/>
              <a:cs typeface="Trebuchet MS"/>
            </a:endParaRPr>
          </a:p>
          <a:p>
            <a:pPr marL="355600" marR="153670" indent="-342900">
              <a:lnSpc>
                <a:spcPct val="78200"/>
              </a:lnSpc>
              <a:buClr>
                <a:srgbClr val="663300"/>
              </a:buClr>
              <a:buSzPct val="118750"/>
              <a:buAutoNum type="arabicPeriod" startAt="2"/>
              <a:tabLst>
                <a:tab pos="355600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Reprise</a:t>
            </a:r>
            <a:r>
              <a:rPr sz="2400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après</a:t>
            </a:r>
            <a:r>
              <a:rPr sz="2400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pannes</a:t>
            </a:r>
            <a:r>
              <a:rPr sz="2400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pour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remettre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dans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état </a:t>
            </a:r>
            <a:r>
              <a:rPr sz="2400" dirty="0">
                <a:latin typeface="Trebuchet MS"/>
                <a:cs typeface="Trebuchet MS"/>
              </a:rPr>
              <a:t>cohérent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(fiabilité)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80083" y="6630554"/>
            <a:ext cx="1066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8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Ordonnancements</a:t>
            </a:r>
            <a:endParaRPr sz="59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566545" marR="5080" indent="-1554480">
              <a:lnSpc>
                <a:spcPts val="4000"/>
              </a:lnSpc>
              <a:spcBef>
                <a:spcPts val="280"/>
              </a:spcBef>
            </a:pPr>
            <a:r>
              <a:rPr sz="3400" dirty="0">
                <a:latin typeface="Trebuchet MS"/>
                <a:cs typeface="Trebuchet MS"/>
              </a:rPr>
              <a:t>Gestion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dirty="0">
                <a:latin typeface="Trebuchet MS"/>
                <a:cs typeface="Trebuchet MS"/>
              </a:rPr>
              <a:t>centralisée</a:t>
            </a:r>
            <a:r>
              <a:rPr sz="3400" spc="-114" dirty="0">
                <a:latin typeface="Trebuchet MS"/>
                <a:cs typeface="Trebuchet MS"/>
              </a:rPr>
              <a:t> </a:t>
            </a:r>
            <a:r>
              <a:rPr sz="3400" spc="-275" dirty="0">
                <a:latin typeface="Trebuchet MS"/>
                <a:cs typeface="Trebuchet MS"/>
              </a:rPr>
              <a:t>d</a:t>
            </a:r>
            <a:r>
              <a:rPr sz="3400" spc="-275" dirty="0">
                <a:latin typeface="MS PGothic"/>
                <a:cs typeface="MS PGothic"/>
              </a:rPr>
              <a:t>ʼ</a:t>
            </a:r>
            <a:r>
              <a:rPr sz="3400" spc="-275" dirty="0">
                <a:latin typeface="Trebuchet MS"/>
                <a:cs typeface="Trebuchet MS"/>
              </a:rPr>
              <a:t>accès </a:t>
            </a:r>
            <a:r>
              <a:rPr sz="3400" spc="-10" dirty="0">
                <a:latin typeface="Trebuchet MS"/>
                <a:cs typeface="Trebuchet MS"/>
              </a:rPr>
              <a:t>concurrents</a:t>
            </a:r>
            <a:endParaRPr sz="3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32075" y="6835342"/>
            <a:ext cx="1320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Trebuchet MS"/>
                <a:cs typeface="Trebuchet MS"/>
              </a:rPr>
              <a:t>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32823" y="512329"/>
            <a:ext cx="406654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SGBD</a:t>
            </a:r>
            <a:r>
              <a:rPr sz="3200" spc="-3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centralisé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Architecture</a:t>
            </a:r>
            <a:r>
              <a:rPr sz="3200" spc="-21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abstraite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049683" y="2354147"/>
          <a:ext cx="2382519" cy="3731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/>
                <a:gridCol w="730249"/>
                <a:gridCol w="730250"/>
                <a:gridCol w="422275"/>
              </a:tblGrid>
              <a:tr h="532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66700" marR="85090" indent="-165100">
                        <a:lnSpc>
                          <a:spcPts val="1939"/>
                        </a:lnSpc>
                        <a:spcBef>
                          <a:spcPts val="10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Gestionnaire</a:t>
                      </a:r>
                      <a:r>
                        <a:rPr sz="14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des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transactions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6A800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Ordonnanceur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  <a:spcBef>
                          <a:spcPts val="254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(scheduler)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6A800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51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Gestionnaire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ts val="162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reprise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Gestionnaire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41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461095" y="3986922"/>
            <a:ext cx="1000125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Gestionnaire </a:t>
            </a:r>
            <a:r>
              <a:rPr sz="1400" b="1" dirty="0">
                <a:latin typeface="Times New Roman"/>
                <a:cs typeface="Times New Roman"/>
              </a:rPr>
              <a:t>des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données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08458" y="1977909"/>
            <a:ext cx="492125" cy="381000"/>
          </a:xfrm>
          <a:custGeom>
            <a:avLst/>
            <a:gdLst/>
            <a:ahLst/>
            <a:cxnLst/>
            <a:rect l="l" t="t" r="r" b="b"/>
            <a:pathLst>
              <a:path w="492125" h="381000">
                <a:moveTo>
                  <a:pt x="0" y="0"/>
                </a:moveTo>
                <a:lnTo>
                  <a:pt x="492124" y="3809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91145" y="1977909"/>
            <a:ext cx="546100" cy="381000"/>
          </a:xfrm>
          <a:custGeom>
            <a:avLst/>
            <a:gdLst/>
            <a:ahLst/>
            <a:cxnLst/>
            <a:rect l="l" t="t" r="r" b="b"/>
            <a:pathLst>
              <a:path w="546100" h="381000">
                <a:moveTo>
                  <a:pt x="546099" y="0"/>
                </a:moveTo>
                <a:lnTo>
                  <a:pt x="0" y="3809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03583" y="1633423"/>
            <a:ext cx="1212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Transaction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3883" y="1650885"/>
            <a:ext cx="1224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Transaction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7920" y="1604848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...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83083" y="6087948"/>
            <a:ext cx="1403350" cy="1009650"/>
            <a:chOff x="4583083" y="6087948"/>
            <a:chExt cx="1403350" cy="1009650"/>
          </a:xfrm>
        </p:grpSpPr>
        <p:sp>
          <p:nvSpPr>
            <p:cNvPr id="17" name="object 17"/>
            <p:cNvSpPr/>
            <p:nvPr/>
          </p:nvSpPr>
          <p:spPr>
            <a:xfrm>
              <a:off x="4592608" y="6189895"/>
              <a:ext cx="1384300" cy="819785"/>
            </a:xfrm>
            <a:custGeom>
              <a:avLst/>
              <a:gdLst/>
              <a:ahLst/>
              <a:cxnLst/>
              <a:rect l="l" t="t" r="r" b="b"/>
              <a:pathLst>
                <a:path w="1384300" h="819784">
                  <a:moveTo>
                    <a:pt x="1384300" y="0"/>
                  </a:moveTo>
                  <a:lnTo>
                    <a:pt x="0" y="0"/>
                  </a:lnTo>
                  <a:lnTo>
                    <a:pt x="0" y="819410"/>
                  </a:lnTo>
                  <a:lnTo>
                    <a:pt x="1384300" y="819410"/>
                  </a:lnTo>
                  <a:lnTo>
                    <a:pt x="13843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92608" y="6189894"/>
              <a:ext cx="1384300" cy="819785"/>
            </a:xfrm>
            <a:custGeom>
              <a:avLst/>
              <a:gdLst/>
              <a:ahLst/>
              <a:cxnLst/>
              <a:rect l="l" t="t" r="r" b="b"/>
              <a:pathLst>
                <a:path w="1384300" h="819784">
                  <a:moveTo>
                    <a:pt x="0" y="0"/>
                  </a:moveTo>
                  <a:lnTo>
                    <a:pt x="1384299" y="0"/>
                  </a:lnTo>
                  <a:lnTo>
                    <a:pt x="1384299" y="819410"/>
                  </a:lnTo>
                  <a:lnTo>
                    <a:pt x="0" y="81941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92608" y="6927365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5">
                  <a:moveTo>
                    <a:pt x="692150" y="0"/>
                  </a:moveTo>
                  <a:lnTo>
                    <a:pt x="616732" y="480"/>
                  </a:lnTo>
                  <a:lnTo>
                    <a:pt x="543667" y="1889"/>
                  </a:lnTo>
                  <a:lnTo>
                    <a:pt x="473377" y="4177"/>
                  </a:lnTo>
                  <a:lnTo>
                    <a:pt x="406283" y="7293"/>
                  </a:lnTo>
                  <a:lnTo>
                    <a:pt x="342808" y="11187"/>
                  </a:lnTo>
                  <a:lnTo>
                    <a:pt x="283375" y="15809"/>
                  </a:lnTo>
                  <a:lnTo>
                    <a:pt x="228405" y="21110"/>
                  </a:lnTo>
                  <a:lnTo>
                    <a:pt x="178321" y="27040"/>
                  </a:lnTo>
                  <a:lnTo>
                    <a:pt x="133544" y="33547"/>
                  </a:lnTo>
                  <a:lnTo>
                    <a:pt x="94498" y="40583"/>
                  </a:lnTo>
                  <a:lnTo>
                    <a:pt x="35286" y="56041"/>
                  </a:lnTo>
                  <a:lnTo>
                    <a:pt x="0" y="81941"/>
                  </a:lnTo>
                  <a:lnTo>
                    <a:pt x="4061" y="90869"/>
                  </a:lnTo>
                  <a:lnTo>
                    <a:pt x="61605" y="115783"/>
                  </a:lnTo>
                  <a:lnTo>
                    <a:pt x="133544" y="130334"/>
                  </a:lnTo>
                  <a:lnTo>
                    <a:pt x="178321" y="136841"/>
                  </a:lnTo>
                  <a:lnTo>
                    <a:pt x="228405" y="142771"/>
                  </a:lnTo>
                  <a:lnTo>
                    <a:pt x="283375" y="148072"/>
                  </a:lnTo>
                  <a:lnTo>
                    <a:pt x="342808" y="152694"/>
                  </a:lnTo>
                  <a:lnTo>
                    <a:pt x="406283" y="156588"/>
                  </a:lnTo>
                  <a:lnTo>
                    <a:pt x="473377" y="159704"/>
                  </a:lnTo>
                  <a:lnTo>
                    <a:pt x="543667" y="161991"/>
                  </a:lnTo>
                  <a:lnTo>
                    <a:pt x="616732" y="163401"/>
                  </a:lnTo>
                  <a:lnTo>
                    <a:pt x="692150" y="163881"/>
                  </a:lnTo>
                  <a:lnTo>
                    <a:pt x="767567" y="163401"/>
                  </a:lnTo>
                  <a:lnTo>
                    <a:pt x="840632" y="161991"/>
                  </a:lnTo>
                  <a:lnTo>
                    <a:pt x="910922" y="159704"/>
                  </a:lnTo>
                  <a:lnTo>
                    <a:pt x="978016" y="156588"/>
                  </a:lnTo>
                  <a:lnTo>
                    <a:pt x="1041491" y="152694"/>
                  </a:lnTo>
                  <a:lnTo>
                    <a:pt x="1100924" y="148072"/>
                  </a:lnTo>
                  <a:lnTo>
                    <a:pt x="1155894" y="142771"/>
                  </a:lnTo>
                  <a:lnTo>
                    <a:pt x="1205978" y="136841"/>
                  </a:lnTo>
                  <a:lnTo>
                    <a:pt x="1250755" y="130334"/>
                  </a:lnTo>
                  <a:lnTo>
                    <a:pt x="1289801" y="123298"/>
                  </a:lnTo>
                  <a:lnTo>
                    <a:pt x="1349013" y="107840"/>
                  </a:lnTo>
                  <a:lnTo>
                    <a:pt x="1384300" y="81941"/>
                  </a:lnTo>
                  <a:lnTo>
                    <a:pt x="1380238" y="73012"/>
                  </a:lnTo>
                  <a:lnTo>
                    <a:pt x="1322694" y="48098"/>
                  </a:lnTo>
                  <a:lnTo>
                    <a:pt x="1250755" y="33547"/>
                  </a:lnTo>
                  <a:lnTo>
                    <a:pt x="1205978" y="27040"/>
                  </a:lnTo>
                  <a:lnTo>
                    <a:pt x="1155894" y="21110"/>
                  </a:lnTo>
                  <a:lnTo>
                    <a:pt x="1100924" y="15809"/>
                  </a:lnTo>
                  <a:lnTo>
                    <a:pt x="1041491" y="11187"/>
                  </a:lnTo>
                  <a:lnTo>
                    <a:pt x="978016" y="7293"/>
                  </a:lnTo>
                  <a:lnTo>
                    <a:pt x="910922" y="4177"/>
                  </a:lnTo>
                  <a:lnTo>
                    <a:pt x="840632" y="1889"/>
                  </a:lnTo>
                  <a:lnTo>
                    <a:pt x="767567" y="48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92608" y="6927365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5">
                  <a:moveTo>
                    <a:pt x="0" y="81940"/>
                  </a:moveTo>
                  <a:lnTo>
                    <a:pt x="35286" y="56041"/>
                  </a:lnTo>
                  <a:lnTo>
                    <a:pt x="94498" y="40583"/>
                  </a:lnTo>
                  <a:lnTo>
                    <a:pt x="133544" y="33547"/>
                  </a:lnTo>
                  <a:lnTo>
                    <a:pt x="178321" y="27040"/>
                  </a:lnTo>
                  <a:lnTo>
                    <a:pt x="228405" y="21110"/>
                  </a:lnTo>
                  <a:lnTo>
                    <a:pt x="283375" y="15809"/>
                  </a:lnTo>
                  <a:lnTo>
                    <a:pt x="342808" y="11187"/>
                  </a:lnTo>
                  <a:lnTo>
                    <a:pt x="406283" y="7293"/>
                  </a:lnTo>
                  <a:lnTo>
                    <a:pt x="473377" y="4177"/>
                  </a:lnTo>
                  <a:lnTo>
                    <a:pt x="543667" y="1889"/>
                  </a:lnTo>
                  <a:lnTo>
                    <a:pt x="616732" y="480"/>
                  </a:lnTo>
                  <a:lnTo>
                    <a:pt x="692149" y="0"/>
                  </a:lnTo>
                  <a:lnTo>
                    <a:pt x="767567" y="480"/>
                  </a:lnTo>
                  <a:lnTo>
                    <a:pt x="840632" y="1889"/>
                  </a:lnTo>
                  <a:lnTo>
                    <a:pt x="910922" y="4177"/>
                  </a:lnTo>
                  <a:lnTo>
                    <a:pt x="978016" y="7293"/>
                  </a:lnTo>
                  <a:lnTo>
                    <a:pt x="1041491" y="11187"/>
                  </a:lnTo>
                  <a:lnTo>
                    <a:pt x="1100924" y="15809"/>
                  </a:lnTo>
                  <a:lnTo>
                    <a:pt x="1155894" y="21110"/>
                  </a:lnTo>
                  <a:lnTo>
                    <a:pt x="1205978" y="27040"/>
                  </a:lnTo>
                  <a:lnTo>
                    <a:pt x="1250755" y="33547"/>
                  </a:lnTo>
                  <a:lnTo>
                    <a:pt x="1289801" y="40583"/>
                  </a:lnTo>
                  <a:lnTo>
                    <a:pt x="1349013" y="56041"/>
                  </a:lnTo>
                  <a:lnTo>
                    <a:pt x="1384299" y="81940"/>
                  </a:lnTo>
                  <a:lnTo>
                    <a:pt x="1380238" y="90869"/>
                  </a:lnTo>
                  <a:lnTo>
                    <a:pt x="1322694" y="115783"/>
                  </a:lnTo>
                  <a:lnTo>
                    <a:pt x="1250755" y="130334"/>
                  </a:lnTo>
                  <a:lnTo>
                    <a:pt x="1205978" y="136841"/>
                  </a:lnTo>
                  <a:lnTo>
                    <a:pt x="1155894" y="142771"/>
                  </a:lnTo>
                  <a:lnTo>
                    <a:pt x="1100924" y="148072"/>
                  </a:lnTo>
                  <a:lnTo>
                    <a:pt x="1041491" y="152694"/>
                  </a:lnTo>
                  <a:lnTo>
                    <a:pt x="978016" y="156588"/>
                  </a:lnTo>
                  <a:lnTo>
                    <a:pt x="910922" y="159704"/>
                  </a:lnTo>
                  <a:lnTo>
                    <a:pt x="840632" y="161991"/>
                  </a:lnTo>
                  <a:lnTo>
                    <a:pt x="767567" y="163401"/>
                  </a:lnTo>
                  <a:lnTo>
                    <a:pt x="692149" y="163881"/>
                  </a:lnTo>
                  <a:lnTo>
                    <a:pt x="616732" y="163401"/>
                  </a:lnTo>
                  <a:lnTo>
                    <a:pt x="543667" y="161991"/>
                  </a:lnTo>
                  <a:lnTo>
                    <a:pt x="473377" y="159704"/>
                  </a:lnTo>
                  <a:lnTo>
                    <a:pt x="406283" y="156588"/>
                  </a:lnTo>
                  <a:lnTo>
                    <a:pt x="342808" y="152694"/>
                  </a:lnTo>
                  <a:lnTo>
                    <a:pt x="283375" y="148072"/>
                  </a:lnTo>
                  <a:lnTo>
                    <a:pt x="228405" y="142771"/>
                  </a:lnTo>
                  <a:lnTo>
                    <a:pt x="178321" y="136841"/>
                  </a:lnTo>
                  <a:lnTo>
                    <a:pt x="133544" y="130334"/>
                  </a:lnTo>
                  <a:lnTo>
                    <a:pt x="94498" y="123298"/>
                  </a:lnTo>
                  <a:lnTo>
                    <a:pt x="35286" y="107840"/>
                  </a:lnTo>
                  <a:lnTo>
                    <a:pt x="0" y="8194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2599" y="6094298"/>
              <a:ext cx="1384300" cy="929005"/>
            </a:xfrm>
            <a:custGeom>
              <a:avLst/>
              <a:gdLst/>
              <a:ahLst/>
              <a:cxnLst/>
              <a:rect l="l" t="t" r="r" b="b"/>
              <a:pathLst>
                <a:path w="1384300" h="929004">
                  <a:moveTo>
                    <a:pt x="1384300" y="81940"/>
                  </a:moveTo>
                  <a:lnTo>
                    <a:pt x="1349019" y="56045"/>
                  </a:lnTo>
                  <a:lnTo>
                    <a:pt x="1289799" y="40589"/>
                  </a:lnTo>
                  <a:lnTo>
                    <a:pt x="1250759" y="33553"/>
                  </a:lnTo>
                  <a:lnTo>
                    <a:pt x="1205979" y="27051"/>
                  </a:lnTo>
                  <a:lnTo>
                    <a:pt x="1155903" y="21120"/>
                  </a:lnTo>
                  <a:lnTo>
                    <a:pt x="1100924" y="15811"/>
                  </a:lnTo>
                  <a:lnTo>
                    <a:pt x="1041488" y="11188"/>
                  </a:lnTo>
                  <a:lnTo>
                    <a:pt x="978014" y="7302"/>
                  </a:lnTo>
                  <a:lnTo>
                    <a:pt x="910920" y="4178"/>
                  </a:lnTo>
                  <a:lnTo>
                    <a:pt x="840638" y="1892"/>
                  </a:lnTo>
                  <a:lnTo>
                    <a:pt x="767575" y="482"/>
                  </a:lnTo>
                  <a:lnTo>
                    <a:pt x="692150" y="0"/>
                  </a:lnTo>
                  <a:lnTo>
                    <a:pt x="616737" y="482"/>
                  </a:lnTo>
                  <a:lnTo>
                    <a:pt x="543674" y="1892"/>
                  </a:lnTo>
                  <a:lnTo>
                    <a:pt x="473379" y="4178"/>
                  </a:lnTo>
                  <a:lnTo>
                    <a:pt x="406285" y="7302"/>
                  </a:lnTo>
                  <a:lnTo>
                    <a:pt x="342811" y="11188"/>
                  </a:lnTo>
                  <a:lnTo>
                    <a:pt x="283375" y="15811"/>
                  </a:lnTo>
                  <a:lnTo>
                    <a:pt x="228409" y="21120"/>
                  </a:lnTo>
                  <a:lnTo>
                    <a:pt x="178320" y="27051"/>
                  </a:lnTo>
                  <a:lnTo>
                    <a:pt x="133553" y="33553"/>
                  </a:lnTo>
                  <a:lnTo>
                    <a:pt x="94500" y="40589"/>
                  </a:lnTo>
                  <a:lnTo>
                    <a:pt x="35293" y="56045"/>
                  </a:lnTo>
                  <a:lnTo>
                    <a:pt x="0" y="81940"/>
                  </a:lnTo>
                  <a:lnTo>
                    <a:pt x="4064" y="90881"/>
                  </a:lnTo>
                  <a:lnTo>
                    <a:pt x="14427" y="98425"/>
                  </a:lnTo>
                  <a:lnTo>
                    <a:pt x="14427" y="928674"/>
                  </a:lnTo>
                  <a:lnTo>
                    <a:pt x="1369885" y="928674"/>
                  </a:lnTo>
                  <a:lnTo>
                    <a:pt x="1369885" y="98412"/>
                  </a:lnTo>
                  <a:lnTo>
                    <a:pt x="1380236" y="90881"/>
                  </a:lnTo>
                  <a:lnTo>
                    <a:pt x="1384300" y="8194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92608" y="6094298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4">
                  <a:moveTo>
                    <a:pt x="0" y="81941"/>
                  </a:moveTo>
                  <a:lnTo>
                    <a:pt x="35286" y="56041"/>
                  </a:lnTo>
                  <a:lnTo>
                    <a:pt x="94498" y="40583"/>
                  </a:lnTo>
                  <a:lnTo>
                    <a:pt x="133544" y="33547"/>
                  </a:lnTo>
                  <a:lnTo>
                    <a:pt x="178321" y="27040"/>
                  </a:lnTo>
                  <a:lnTo>
                    <a:pt x="228405" y="21110"/>
                  </a:lnTo>
                  <a:lnTo>
                    <a:pt x="283375" y="15809"/>
                  </a:lnTo>
                  <a:lnTo>
                    <a:pt x="342808" y="11187"/>
                  </a:lnTo>
                  <a:lnTo>
                    <a:pt x="406283" y="7293"/>
                  </a:lnTo>
                  <a:lnTo>
                    <a:pt x="473377" y="4177"/>
                  </a:lnTo>
                  <a:lnTo>
                    <a:pt x="543667" y="1889"/>
                  </a:lnTo>
                  <a:lnTo>
                    <a:pt x="616732" y="480"/>
                  </a:lnTo>
                  <a:lnTo>
                    <a:pt x="692149" y="0"/>
                  </a:lnTo>
                  <a:lnTo>
                    <a:pt x="767567" y="480"/>
                  </a:lnTo>
                  <a:lnTo>
                    <a:pt x="840632" y="1889"/>
                  </a:lnTo>
                  <a:lnTo>
                    <a:pt x="910922" y="4177"/>
                  </a:lnTo>
                  <a:lnTo>
                    <a:pt x="978016" y="7293"/>
                  </a:lnTo>
                  <a:lnTo>
                    <a:pt x="1041491" y="11187"/>
                  </a:lnTo>
                  <a:lnTo>
                    <a:pt x="1100924" y="15809"/>
                  </a:lnTo>
                  <a:lnTo>
                    <a:pt x="1155894" y="21110"/>
                  </a:lnTo>
                  <a:lnTo>
                    <a:pt x="1205978" y="27040"/>
                  </a:lnTo>
                  <a:lnTo>
                    <a:pt x="1250755" y="33547"/>
                  </a:lnTo>
                  <a:lnTo>
                    <a:pt x="1289801" y="40583"/>
                  </a:lnTo>
                  <a:lnTo>
                    <a:pt x="1349013" y="56041"/>
                  </a:lnTo>
                  <a:lnTo>
                    <a:pt x="1384299" y="81941"/>
                  </a:lnTo>
                  <a:lnTo>
                    <a:pt x="1380238" y="90869"/>
                  </a:lnTo>
                  <a:lnTo>
                    <a:pt x="1322694" y="115783"/>
                  </a:lnTo>
                  <a:lnTo>
                    <a:pt x="1250755" y="130334"/>
                  </a:lnTo>
                  <a:lnTo>
                    <a:pt x="1205978" y="136841"/>
                  </a:lnTo>
                  <a:lnTo>
                    <a:pt x="1155894" y="142771"/>
                  </a:lnTo>
                  <a:lnTo>
                    <a:pt x="1100924" y="148072"/>
                  </a:lnTo>
                  <a:lnTo>
                    <a:pt x="1041491" y="152694"/>
                  </a:lnTo>
                  <a:lnTo>
                    <a:pt x="978016" y="156588"/>
                  </a:lnTo>
                  <a:lnTo>
                    <a:pt x="910922" y="159704"/>
                  </a:lnTo>
                  <a:lnTo>
                    <a:pt x="840632" y="161992"/>
                  </a:lnTo>
                  <a:lnTo>
                    <a:pt x="767567" y="163401"/>
                  </a:lnTo>
                  <a:lnTo>
                    <a:pt x="692149" y="163881"/>
                  </a:lnTo>
                  <a:lnTo>
                    <a:pt x="616732" y="163401"/>
                  </a:lnTo>
                  <a:lnTo>
                    <a:pt x="543667" y="161992"/>
                  </a:lnTo>
                  <a:lnTo>
                    <a:pt x="473377" y="159704"/>
                  </a:lnTo>
                  <a:lnTo>
                    <a:pt x="406283" y="156588"/>
                  </a:lnTo>
                  <a:lnTo>
                    <a:pt x="342808" y="152694"/>
                  </a:lnTo>
                  <a:lnTo>
                    <a:pt x="283375" y="148072"/>
                  </a:lnTo>
                  <a:lnTo>
                    <a:pt x="228405" y="142771"/>
                  </a:lnTo>
                  <a:lnTo>
                    <a:pt x="178321" y="136841"/>
                  </a:lnTo>
                  <a:lnTo>
                    <a:pt x="133544" y="130334"/>
                  </a:lnTo>
                  <a:lnTo>
                    <a:pt x="94498" y="123298"/>
                  </a:lnTo>
                  <a:lnTo>
                    <a:pt x="35286" y="107840"/>
                  </a:lnTo>
                  <a:lnTo>
                    <a:pt x="0" y="8194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02133" y="6438467"/>
            <a:ext cx="1365250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70840" marR="342265" indent="8255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latin typeface="Arial"/>
                <a:cs typeface="Arial"/>
              </a:rPr>
              <a:t>Base </a:t>
            </a:r>
            <a:r>
              <a:rPr sz="1200" b="1" spc="-25" dirty="0">
                <a:latin typeface="Arial"/>
                <a:cs typeface="Arial"/>
              </a:rPr>
              <a:t>de </a:t>
            </a:r>
            <a:r>
              <a:rPr sz="1200" b="1" spc="-10" dirty="0">
                <a:latin typeface="Arial"/>
                <a:cs typeface="Arial"/>
              </a:rPr>
              <a:t>Données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424583" y="3263784"/>
          <a:ext cx="3312159" cy="3823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5005"/>
                <a:gridCol w="623569"/>
                <a:gridCol w="600710"/>
                <a:gridCol w="142875"/>
              </a:tblGrid>
              <a:tr h="228600">
                <a:tc>
                  <a:txBody>
                    <a:bodyPr/>
                    <a:lstStyle/>
                    <a:p>
                      <a:pPr marL="34925">
                        <a:lnSpc>
                          <a:spcPts val="1485"/>
                        </a:lnSpc>
                        <a:spcBef>
                          <a:spcPts val="210"/>
                        </a:spcBef>
                        <a:tabLst>
                          <a:tab pos="948690" algn="l"/>
                        </a:tabLst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T1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T2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ts val="1485"/>
                        </a:lnSpc>
                        <a:spcBef>
                          <a:spcPts val="21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9550">
                        <a:lnSpc>
                          <a:spcPts val="1485"/>
                        </a:lnSpc>
                        <a:spcBef>
                          <a:spcPts val="21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85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1620">
                <a:tc>
                  <a:txBody>
                    <a:bodyPr/>
                    <a:lstStyle/>
                    <a:p>
                      <a:pPr marL="9493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lire(A,s)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0350">
                <a:tc>
                  <a:txBody>
                    <a:bodyPr/>
                    <a:lstStyle/>
                    <a:p>
                      <a:pPr marL="9493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000"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écrire(A,s)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000">
                <a:tc>
                  <a:txBody>
                    <a:bodyPr/>
                    <a:lstStyle/>
                    <a:p>
                      <a:pPr marL="9493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lire(B,s)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000">
                <a:tc>
                  <a:txBody>
                    <a:bodyPr/>
                    <a:lstStyle/>
                    <a:p>
                      <a:pPr marL="9493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2890"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écrire(B,s)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082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lire(A,t)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035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écrire(A,t)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336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lire(B,t)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40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7432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écrire(B,t)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95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17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 marR="76835" algn="r">
                        <a:lnSpc>
                          <a:spcPts val="161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889095" y="3273309"/>
          <a:ext cx="3311524" cy="3815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"/>
                <a:gridCol w="1943100"/>
                <a:gridCol w="605155"/>
                <a:gridCol w="620394"/>
              </a:tblGrid>
              <a:tr h="219075">
                <a:tc gridSpan="2">
                  <a:txBody>
                    <a:bodyPr/>
                    <a:lstStyle/>
                    <a:p>
                      <a:pPr marL="150495">
                        <a:lnSpc>
                          <a:spcPts val="1485"/>
                        </a:lnSpc>
                        <a:spcBef>
                          <a:spcPts val="135"/>
                        </a:spcBef>
                        <a:tabLst>
                          <a:tab pos="1064895" algn="l"/>
                        </a:tabLst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T1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T2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1485"/>
                        </a:lnSpc>
                        <a:spcBef>
                          <a:spcPts val="13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1485"/>
                        </a:lnSpc>
                        <a:spcBef>
                          <a:spcPts val="13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70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0350"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lire(A,t)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écrire(A,t)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lire(B,t)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641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écrire(B,t)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125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24955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201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lire(A,s)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603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2019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533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335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écrire(A,s)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533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201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lire(B,s)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5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2019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335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écrire(B,s)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4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171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</a:t>
            </a:r>
            <a:r>
              <a:rPr sz="4000" spc="-1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séquentiel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5671" y="1734069"/>
            <a:ext cx="8672195" cy="20288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08634" indent="-342900">
              <a:lnSpc>
                <a:spcPct val="100000"/>
              </a:lnSpc>
              <a:spcBef>
                <a:spcPts val="5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508634" algn="l"/>
              </a:tabLst>
            </a:pP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définition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s'agit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d'un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ordonnancement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COHERENT</a:t>
            </a:r>
            <a:endParaRPr sz="2000">
              <a:latin typeface="Trebuchet MS"/>
              <a:cs typeface="Trebuchet MS"/>
            </a:endParaRPr>
          </a:p>
          <a:p>
            <a:pPr marL="508634" marR="76835" indent="-342900">
              <a:lnSpc>
                <a:spcPts val="2320"/>
              </a:lnSpc>
              <a:spcBef>
                <a:spcPts val="62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508634" algn="l"/>
              </a:tabLst>
            </a:pPr>
            <a:r>
              <a:rPr sz="2000" dirty="0">
                <a:latin typeface="Trebuchet MS"/>
                <a:cs typeface="Trebuchet MS"/>
              </a:rPr>
              <a:t>Il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peut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avoir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plusieurs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exécutions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séquentielles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donnant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résultats différents.</a:t>
            </a:r>
            <a:endParaRPr sz="2000">
              <a:latin typeface="Trebuchet MS"/>
              <a:cs typeface="Trebuchet MS"/>
            </a:endParaRPr>
          </a:p>
          <a:p>
            <a:pPr marL="508634" indent="-342900">
              <a:lnSpc>
                <a:spcPct val="100000"/>
              </a:lnSpc>
              <a:spcBef>
                <a:spcPts val="42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508634" algn="l"/>
              </a:tabLst>
            </a:pPr>
            <a:r>
              <a:rPr sz="2000" dirty="0">
                <a:solidFill>
                  <a:srgbClr val="A50021"/>
                </a:solidFill>
                <a:latin typeface="Trebuchet MS"/>
                <a:cs typeface="Trebuchet MS"/>
              </a:rPr>
              <a:t>Inconvénients</a:t>
            </a:r>
            <a:r>
              <a:rPr sz="2000" spc="-2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aucun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parallélisme,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faible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débit,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délais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nécessaires</a:t>
            </a:r>
            <a:endParaRPr sz="2000">
              <a:latin typeface="Trebuchet MS"/>
              <a:cs typeface="Trebuchet MS"/>
            </a:endParaRPr>
          </a:p>
          <a:p>
            <a:pPr marL="448945">
              <a:lnSpc>
                <a:spcPct val="100000"/>
              </a:lnSpc>
              <a:spcBef>
                <a:spcPts val="1195"/>
              </a:spcBef>
              <a:tabLst>
                <a:tab pos="4907915" algn="l"/>
              </a:tabLst>
            </a:pPr>
            <a:r>
              <a:rPr sz="1400" b="1" spc="-25" dirty="0">
                <a:solidFill>
                  <a:srgbClr val="CC6600"/>
                </a:solidFill>
                <a:latin typeface="Arial"/>
                <a:cs typeface="Arial"/>
              </a:rPr>
              <a:t>S1</a:t>
            </a:r>
            <a:r>
              <a:rPr sz="1400" b="1" dirty="0">
                <a:solidFill>
                  <a:srgbClr val="CC6600"/>
                </a:solidFill>
                <a:latin typeface="Arial"/>
                <a:cs typeface="Arial"/>
              </a:rPr>
              <a:t>	</a:t>
            </a:r>
            <a:r>
              <a:rPr sz="1400" b="1" spc="-25" dirty="0">
                <a:solidFill>
                  <a:srgbClr val="CC6600"/>
                </a:solidFill>
                <a:latin typeface="Arial"/>
                <a:cs typeface="Arial"/>
              </a:rPr>
              <a:t>S2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i="1" spc="-10" dirty="0">
                <a:latin typeface="Arial"/>
                <a:cs typeface="Arial"/>
              </a:rPr>
              <a:t>Temps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08084" y="3797184"/>
            <a:ext cx="76200" cy="3124200"/>
            <a:chOff x="1408084" y="3797184"/>
            <a:chExt cx="76200" cy="3124200"/>
          </a:xfrm>
        </p:grpSpPr>
        <p:sp>
          <p:nvSpPr>
            <p:cNvPr id="12" name="object 12"/>
            <p:cNvSpPr/>
            <p:nvPr/>
          </p:nvSpPr>
          <p:spPr>
            <a:xfrm>
              <a:off x="1446184" y="3797184"/>
              <a:ext cx="0" cy="3098800"/>
            </a:xfrm>
            <a:custGeom>
              <a:avLst/>
              <a:gdLst/>
              <a:ahLst/>
              <a:cxnLst/>
              <a:rect l="l" t="t" r="r" b="b"/>
              <a:pathLst>
                <a:path h="3098800">
                  <a:moveTo>
                    <a:pt x="0" y="0"/>
                  </a:moveTo>
                  <a:lnTo>
                    <a:pt x="0" y="3098799"/>
                  </a:lnTo>
                </a:path>
              </a:pathLst>
            </a:custGeom>
            <a:ln w="9524">
              <a:solidFill>
                <a:srgbClr val="7A4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8084" y="68451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199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7A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</a:t>
            </a:r>
            <a:r>
              <a:rPr sz="4000" spc="-1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sérialisable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3544581"/>
            <a:ext cx="8272780" cy="317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Ordonnancements</a:t>
            </a:r>
            <a:r>
              <a:rPr sz="2400" spc="-7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non</a:t>
            </a:r>
            <a:r>
              <a:rPr sz="2400" spc="-7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séquentiels</a:t>
            </a:r>
            <a:r>
              <a:rPr sz="2400" spc="-7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cohérents</a:t>
            </a:r>
            <a:r>
              <a:rPr sz="2400" spc="-7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A50021"/>
                </a:solidFill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994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Pas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problème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travaillent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des </a:t>
            </a:r>
            <a:r>
              <a:rPr sz="2400" dirty="0">
                <a:latin typeface="Trebuchet MS"/>
                <a:cs typeface="Trebuchet MS"/>
              </a:rPr>
              <a:t>objets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différents,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4" dirty="0">
                <a:latin typeface="Trebuchet MS"/>
                <a:cs typeface="Trebuchet MS"/>
              </a:rPr>
              <a:t>c</a:t>
            </a:r>
            <a:r>
              <a:rPr sz="2400" spc="-254" dirty="0">
                <a:latin typeface="MS PGothic"/>
                <a:cs typeface="MS PGothic"/>
              </a:rPr>
              <a:t>ʼ</a:t>
            </a:r>
            <a:r>
              <a:rPr sz="2400" spc="-254" dirty="0">
                <a:latin typeface="Trebuchet MS"/>
                <a:cs typeface="Trebuchet MS"/>
              </a:rPr>
              <a:t>est</a:t>
            </a:r>
            <a:r>
              <a:rPr sz="2400" dirty="0">
                <a:latin typeface="Trebuchet MS"/>
                <a:cs typeface="Trebuchet MS"/>
              </a:rPr>
              <a:t> également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possible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pour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des </a:t>
            </a:r>
            <a:r>
              <a:rPr sz="2400" dirty="0">
                <a:latin typeface="Trebuchet MS"/>
                <a:cs typeface="Trebuchet MS"/>
              </a:rPr>
              <a:t>transactions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travaillant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mêmes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entités.</a:t>
            </a:r>
            <a:endParaRPr sz="2400">
              <a:latin typeface="Trebuchet MS"/>
              <a:cs typeface="Trebuchet MS"/>
            </a:endParaRPr>
          </a:p>
          <a:p>
            <a:pPr marL="355600" marR="791210" indent="-342900" algn="just">
              <a:lnSpc>
                <a:spcPct val="101099"/>
              </a:lnSpc>
              <a:spcBef>
                <a:spcPts val="56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problèmes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d'incohérence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liés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aux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ordres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 </a:t>
            </a: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lecture/écriture</a:t>
            </a:r>
            <a:r>
              <a:rPr sz="2400" spc="-4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écriture/écriture</a:t>
            </a:r>
            <a:r>
              <a:rPr sz="2400" spc="-5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même </a:t>
            </a:r>
            <a:r>
              <a:rPr sz="2400" spc="-10" dirty="0">
                <a:latin typeface="Trebuchet MS"/>
                <a:cs typeface="Trebuchet MS"/>
              </a:rPr>
              <a:t>entité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733203" y="1990897"/>
            <a:ext cx="7112000" cy="1338580"/>
            <a:chOff x="1733203" y="1990897"/>
            <a:chExt cx="7112000" cy="133858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3203" y="1990897"/>
              <a:ext cx="7111537" cy="13383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73208" y="1992198"/>
              <a:ext cx="6858000" cy="1200150"/>
            </a:xfrm>
            <a:custGeom>
              <a:avLst/>
              <a:gdLst/>
              <a:ahLst/>
              <a:cxnLst/>
              <a:rect l="l" t="t" r="r" b="b"/>
              <a:pathLst>
                <a:path w="6858000" h="1200150">
                  <a:moveTo>
                    <a:pt x="6857998" y="0"/>
                  </a:moveTo>
                  <a:lnTo>
                    <a:pt x="0" y="0"/>
                  </a:lnTo>
                  <a:lnTo>
                    <a:pt x="0" y="1200149"/>
                  </a:lnTo>
                  <a:lnTo>
                    <a:pt x="6857998" y="1200149"/>
                  </a:lnTo>
                  <a:lnTo>
                    <a:pt x="6857998" y="0"/>
                  </a:lnTo>
                  <a:close/>
                </a:path>
              </a:pathLst>
            </a:custGeom>
            <a:solidFill>
              <a:srgbClr val="FFE6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4643" y="1999210"/>
              <a:ext cx="6296889" cy="47798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4643" y="2356657"/>
              <a:ext cx="5673436" cy="4738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643" y="2722418"/>
              <a:ext cx="3956857" cy="47798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73208" y="1992198"/>
            <a:ext cx="6858000" cy="1200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90805" marR="561340">
              <a:lnSpc>
                <a:spcPct val="99000"/>
              </a:lnSpc>
              <a:spcBef>
                <a:spcPts val="385"/>
              </a:spcBef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Un</a:t>
            </a:r>
            <a:r>
              <a:rPr sz="24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ordonnancement</a:t>
            </a:r>
            <a:r>
              <a:rPr sz="24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est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SERIALISABLE</a:t>
            </a:r>
            <a:r>
              <a:rPr sz="24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s'il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a</a:t>
            </a:r>
            <a:r>
              <a:rPr sz="2400" spc="-5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CC3300"/>
                </a:solidFill>
                <a:latin typeface="Trebuchet MS"/>
                <a:cs typeface="Trebuchet MS"/>
              </a:rPr>
              <a:t>le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même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effet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sur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la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base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qu'une</a:t>
            </a:r>
            <a:r>
              <a:rPr sz="24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C3300"/>
                </a:solidFill>
                <a:latin typeface="Trebuchet MS"/>
                <a:cs typeface="Trebuchet MS"/>
              </a:rPr>
              <a:t>exécution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séquentielle</a:t>
            </a:r>
            <a:r>
              <a:rPr sz="24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24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11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</a:t>
            </a:r>
            <a:r>
              <a:rPr sz="4000" spc="-1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sérialisable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0137" y="1795029"/>
            <a:ext cx="7868920" cy="120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Il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peut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avoir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plusieurs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exécutions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séquentielles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donnant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des </a:t>
            </a:r>
            <a:r>
              <a:rPr sz="2000" dirty="0">
                <a:latin typeface="Trebuchet MS"/>
                <a:cs typeface="Trebuchet MS"/>
              </a:rPr>
              <a:t>résultats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différents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000">
              <a:latin typeface="Trebuchet MS"/>
              <a:cs typeface="Trebuchet MS"/>
            </a:endParaRPr>
          </a:p>
          <a:p>
            <a:pPr marL="62230">
              <a:lnSpc>
                <a:spcPct val="100000"/>
              </a:lnSpc>
              <a:tabLst>
                <a:tab pos="4786630" algn="l"/>
              </a:tabLst>
            </a:pPr>
            <a:r>
              <a:rPr sz="16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16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C6600"/>
                </a:solidFill>
                <a:latin typeface="Arial"/>
                <a:cs typeface="Arial"/>
              </a:rPr>
              <a:t>=</a:t>
            </a:r>
            <a:r>
              <a:rPr sz="16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CC6600"/>
                </a:solidFill>
                <a:latin typeface="Arial"/>
                <a:cs typeface="Arial"/>
              </a:rPr>
              <a:t>Sérialisable</a:t>
            </a:r>
            <a:r>
              <a:rPr sz="16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(cohérent)</a:t>
            </a:r>
            <a:r>
              <a:rPr sz="1600" b="1" dirty="0">
                <a:solidFill>
                  <a:srgbClr val="CC6600"/>
                </a:solidFill>
                <a:latin typeface="Arial"/>
                <a:cs typeface="Arial"/>
              </a:rPr>
              <a:t>	</a:t>
            </a:r>
            <a:r>
              <a:rPr sz="2400" b="1" baseline="3472" dirty="0">
                <a:solidFill>
                  <a:srgbClr val="CC6600"/>
                </a:solidFill>
                <a:latin typeface="Arial"/>
                <a:cs typeface="Arial"/>
              </a:rPr>
              <a:t>S4</a:t>
            </a:r>
            <a:r>
              <a:rPr sz="2400" b="1" spc="-44" baseline="3472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CC6600"/>
                </a:solidFill>
                <a:latin typeface="Arial"/>
                <a:cs typeface="Arial"/>
              </a:rPr>
              <a:t>=</a:t>
            </a:r>
            <a:r>
              <a:rPr sz="2400" b="1" spc="-44" baseline="3472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400" b="1" baseline="3472" dirty="0">
                <a:solidFill>
                  <a:srgbClr val="CC6600"/>
                </a:solidFill>
                <a:latin typeface="Arial"/>
                <a:cs typeface="Arial"/>
              </a:rPr>
              <a:t>Sérialisable</a:t>
            </a:r>
            <a:r>
              <a:rPr sz="2400" b="1" spc="-44" baseline="3472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400" b="1" spc="-15" baseline="3472" dirty="0">
                <a:solidFill>
                  <a:srgbClr val="CC6600"/>
                </a:solidFill>
                <a:latin typeface="Arial"/>
                <a:cs typeface="Arial"/>
              </a:rPr>
              <a:t>(cohérent)</a:t>
            </a:r>
            <a:endParaRPr sz="2400" baseline="3472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312833" y="3047884"/>
          <a:ext cx="3346450" cy="4056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/>
                <a:gridCol w="558800"/>
                <a:gridCol w="558800"/>
                <a:gridCol w="177800"/>
              </a:tblGrid>
              <a:tr h="228600">
                <a:tc>
                  <a:txBody>
                    <a:bodyPr/>
                    <a:lstStyle/>
                    <a:p>
                      <a:pPr marL="69850">
                        <a:lnSpc>
                          <a:spcPts val="1700"/>
                        </a:lnSpc>
                        <a:tabLst>
                          <a:tab pos="983615" algn="l"/>
                        </a:tabLst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T1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T2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9385" algn="ctr">
                        <a:lnSpc>
                          <a:spcPts val="1700"/>
                        </a:lnSpc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2565">
                        <a:lnSpc>
                          <a:spcPts val="1700"/>
                        </a:lnSpc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29310">
                <a:tc>
                  <a:txBody>
                    <a:bodyPr/>
                    <a:lstStyle/>
                    <a:p>
                      <a:pPr marL="69850">
                        <a:lnSpc>
                          <a:spcPts val="178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lire(A,t)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écrire(A,t)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953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125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62965">
                <a:tc>
                  <a:txBody>
                    <a:bodyPr/>
                    <a:lstStyle/>
                    <a:p>
                      <a:pPr marL="984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lire(A,s)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84250" marR="53975">
                        <a:lnSpc>
                          <a:spcPct val="1198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s:=s*2 écrire(A,s)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ts val="1870"/>
                        </a:lnSpc>
                      </a:pPr>
                      <a:r>
                        <a:rPr sz="16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35990">
                <a:tc>
                  <a:txBody>
                    <a:bodyPr/>
                    <a:lstStyle/>
                    <a:p>
                      <a:pPr marL="69850" marR="1193800">
                        <a:lnSpc>
                          <a:spcPts val="23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lire(B,t) t:=t+100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écrire(B,t)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8890" algn="r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125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27405">
                <a:tc>
                  <a:txBody>
                    <a:bodyPr/>
                    <a:lstStyle/>
                    <a:p>
                      <a:pPr marL="984250">
                        <a:lnSpc>
                          <a:spcPts val="1775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lire(B,s)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84250" marR="53975">
                        <a:lnSpc>
                          <a:spcPct val="1198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s:=s*2 écrire(B,s)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8890" algn="r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363883" y="3047884"/>
            <a:ext cx="0" cy="4114800"/>
          </a:xfrm>
          <a:custGeom>
            <a:avLst/>
            <a:gdLst/>
            <a:ahLst/>
            <a:cxnLst/>
            <a:rect l="l" t="t" r="r" b="b"/>
            <a:pathLst>
              <a:path h="4114800">
                <a:moveTo>
                  <a:pt x="0" y="0"/>
                </a:moveTo>
                <a:lnTo>
                  <a:pt x="1" y="411479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065808" y="3047884"/>
          <a:ext cx="3317875" cy="4049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2475"/>
                <a:gridCol w="558800"/>
                <a:gridCol w="587375"/>
                <a:gridCol w="149225"/>
              </a:tblGrid>
              <a:tr h="228600">
                <a:tc>
                  <a:txBody>
                    <a:bodyPr/>
                    <a:lstStyle/>
                    <a:p>
                      <a:pPr marL="41275">
                        <a:lnSpc>
                          <a:spcPts val="1700"/>
                        </a:lnSpc>
                        <a:tabLst>
                          <a:tab pos="955040" algn="l"/>
                        </a:tabLst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T1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T2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9385" algn="ctr">
                        <a:lnSpc>
                          <a:spcPts val="1700"/>
                        </a:lnSpc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02565">
                        <a:lnSpc>
                          <a:spcPts val="1700"/>
                        </a:lnSpc>
                      </a:pPr>
                      <a:r>
                        <a:rPr sz="1600" b="1" spc="-50" dirty="0">
                          <a:latin typeface="Arial"/>
                          <a:cs typeface="Arial"/>
                        </a:rPr>
                        <a:t>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56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29310">
                <a:tc>
                  <a:txBody>
                    <a:bodyPr/>
                    <a:lstStyle/>
                    <a:p>
                      <a:pPr marL="955675">
                        <a:lnSpc>
                          <a:spcPts val="1689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lire(A,s)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55675" marR="53975">
                        <a:lnSpc>
                          <a:spcPct val="1198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s:=s*2 écrire(A,s)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862965"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lire(A,t)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écrire(A,t)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9539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35990">
                <a:tc>
                  <a:txBody>
                    <a:bodyPr/>
                    <a:lstStyle/>
                    <a:p>
                      <a:pPr marL="955675" marR="53975">
                        <a:lnSpc>
                          <a:spcPts val="23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lire(B,s) s:=s*2 écrire(B,s)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827405">
                <a:tc>
                  <a:txBody>
                    <a:bodyPr/>
                    <a:lstStyle/>
                    <a:p>
                      <a:pPr marL="41275">
                        <a:lnSpc>
                          <a:spcPts val="1685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lire(B,t)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écrire(B,t)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D6D5">
                        <a:alpha val="79998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6200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solidFill>
                            <a:srgbClr val="CC6600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D6D5">
                        <a:alpha val="79998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8088282" y="3047884"/>
            <a:ext cx="0" cy="4114800"/>
          </a:xfrm>
          <a:custGeom>
            <a:avLst/>
            <a:gdLst/>
            <a:ahLst/>
            <a:cxnLst/>
            <a:rect l="l" t="t" r="r" b="b"/>
            <a:pathLst>
              <a:path h="4114800">
                <a:moveTo>
                  <a:pt x="0" y="0"/>
                </a:moveTo>
                <a:lnTo>
                  <a:pt x="0" y="4114798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12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13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</a:t>
            </a:r>
            <a:r>
              <a:rPr sz="4000" spc="-1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sérialisable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09933" y="2094179"/>
            <a:ext cx="3982720" cy="99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00"/>
              </a:spcBef>
              <a:tabLst>
                <a:tab pos="926465" algn="l"/>
                <a:tab pos="2277110" algn="l"/>
                <a:tab pos="2755265" algn="l"/>
              </a:tabLst>
            </a:pPr>
            <a:r>
              <a:rPr sz="1800" b="1" dirty="0">
                <a:solidFill>
                  <a:srgbClr val="CC6600"/>
                </a:solidFill>
                <a:latin typeface="Arial"/>
                <a:cs typeface="Arial"/>
              </a:rPr>
              <a:t>S5</a:t>
            </a:r>
            <a:r>
              <a:rPr sz="18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6600"/>
                </a:solidFill>
                <a:latin typeface="Arial"/>
                <a:cs typeface="Arial"/>
              </a:rPr>
              <a:t>=</a:t>
            </a:r>
            <a:r>
              <a:rPr sz="18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6600"/>
                </a:solidFill>
                <a:latin typeface="Arial"/>
                <a:cs typeface="Arial"/>
              </a:rPr>
              <a:t>Non</a:t>
            </a:r>
            <a:r>
              <a:rPr sz="18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6600"/>
                </a:solidFill>
                <a:latin typeface="Arial"/>
                <a:cs typeface="Arial"/>
              </a:rPr>
              <a:t>sérialisable</a:t>
            </a:r>
            <a:r>
              <a:rPr sz="1800" b="1" spc="-2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C6600"/>
                </a:solidFill>
                <a:latin typeface="Arial"/>
                <a:cs typeface="Arial"/>
              </a:rPr>
              <a:t>(non</a:t>
            </a:r>
            <a:r>
              <a:rPr sz="18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CC6600"/>
                </a:solidFill>
                <a:latin typeface="Arial"/>
                <a:cs typeface="Arial"/>
              </a:rPr>
              <a:t>cohérent) </a:t>
            </a:r>
            <a:r>
              <a:rPr sz="1800" b="1" spc="-25" dirty="0">
                <a:latin typeface="Arial"/>
                <a:cs typeface="Arial"/>
              </a:rPr>
              <a:t>T1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T2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A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  <a:p>
            <a:pPr marL="2286000">
              <a:lnSpc>
                <a:spcPct val="100000"/>
              </a:lnSpc>
              <a:spcBef>
                <a:spcPts val="440"/>
              </a:spcBef>
              <a:tabLst>
                <a:tab pos="2755265" algn="l"/>
              </a:tabLst>
            </a:pPr>
            <a:r>
              <a:rPr sz="1800" b="1" spc="-25" dirty="0">
                <a:latin typeface="Arial"/>
                <a:cs typeface="Arial"/>
              </a:rPr>
              <a:t>25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25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473420" y="3157741"/>
          <a:ext cx="3169919" cy="393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6780"/>
                <a:gridCol w="584834"/>
                <a:gridCol w="408305"/>
              </a:tblGrid>
              <a:tr h="943610">
                <a:tc>
                  <a:txBody>
                    <a:bodyPr/>
                    <a:lstStyle/>
                    <a:p>
                      <a:pPr marL="48895">
                        <a:lnSpc>
                          <a:spcPts val="1989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lire(A,t)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4889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écrire(A,t)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495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125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lire(A,s)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écrire(A,s)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96329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lire(B,s)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2349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2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250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s:=s*2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963294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écrire(B,s)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D6D7FF">
                        <a:alpha val="79998"/>
                      </a:srgbClr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marL="48895">
                        <a:lnSpc>
                          <a:spcPts val="1975"/>
                        </a:lnSpc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lire(B,t)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t:=t+100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  <a:tr h="351155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écrire(B,t)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D6D5">
                        <a:alpha val="79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800" b="1" spc="-3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150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solidFill>
                      <a:srgbClr val="FFD6D5">
                        <a:alpha val="79998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522633" y="2482734"/>
            <a:ext cx="3352800" cy="4114800"/>
            <a:chOff x="3522633" y="2482734"/>
            <a:chExt cx="3352800" cy="4114800"/>
          </a:xfrm>
        </p:grpSpPr>
        <p:sp>
          <p:nvSpPr>
            <p:cNvPr id="12" name="object 12"/>
            <p:cNvSpPr/>
            <p:nvPr/>
          </p:nvSpPr>
          <p:spPr>
            <a:xfrm>
              <a:off x="3522633" y="2711334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0" y="0"/>
                  </a:moveTo>
                  <a:lnTo>
                    <a:pt x="33527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49883" y="2482734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1" y="41147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14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9023" y="1058748"/>
            <a:ext cx="76619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Équivalence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entre</a:t>
            </a:r>
            <a:r>
              <a:rPr sz="32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9023" y="1739657"/>
            <a:ext cx="8330565" cy="462026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Équivalence</a:t>
            </a:r>
            <a:r>
              <a:rPr sz="2400" spc="-7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basée</a:t>
            </a:r>
            <a:r>
              <a:rPr sz="2400" spc="-6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sur</a:t>
            </a:r>
            <a:r>
              <a:rPr sz="2400" spc="-6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le</a:t>
            </a:r>
            <a:r>
              <a:rPr sz="2400" spc="-6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résultat</a:t>
            </a:r>
            <a:endParaRPr sz="2400">
              <a:latin typeface="Trebuchet MS"/>
              <a:cs typeface="Trebuchet MS"/>
            </a:endParaRPr>
          </a:p>
          <a:p>
            <a:pPr marL="355600" marR="208279">
              <a:lnSpc>
                <a:spcPts val="2620"/>
              </a:lnSpc>
              <a:spcBef>
                <a:spcPts val="500"/>
              </a:spcBef>
            </a:pPr>
            <a:r>
              <a:rPr sz="2400" dirty="0">
                <a:latin typeface="Trebuchet MS"/>
                <a:cs typeface="Trebuchet MS"/>
              </a:rPr>
              <a:t>Problème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quelque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fois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résultat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accidentellement </a:t>
            </a:r>
            <a:r>
              <a:rPr sz="2400" dirty="0">
                <a:latin typeface="Trebuchet MS"/>
                <a:cs typeface="Trebuchet MS"/>
              </a:rPr>
              <a:t>égal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mais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dépend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l'état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initial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données.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Commutativité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220"/>
              </a:spcBef>
            </a:pPr>
            <a:r>
              <a:rPr sz="2400" dirty="0">
                <a:latin typeface="Trebuchet MS"/>
                <a:cs typeface="Trebuchet MS"/>
              </a:rPr>
              <a:t>Hypothèse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opérations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commutatives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400">
              <a:latin typeface="Trebuchet MS"/>
              <a:cs typeface="Trebuchet MS"/>
            </a:endParaRPr>
          </a:p>
          <a:p>
            <a:pPr marL="355600" marR="293370">
              <a:lnSpc>
                <a:spcPts val="2520"/>
              </a:lnSpc>
            </a:pPr>
            <a:r>
              <a:rPr sz="2400" dirty="0">
                <a:latin typeface="Trebuchet MS"/>
                <a:cs typeface="Trebuchet MS"/>
              </a:rPr>
              <a:t>Deux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ordonnancements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équivalents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ils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exécutent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mêmes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actions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sans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regarder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l'ordre.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400">
              <a:latin typeface="Trebuchet MS"/>
              <a:cs typeface="Trebuchet MS"/>
            </a:endParaRPr>
          </a:p>
          <a:p>
            <a:pPr marL="355600" marR="5080">
              <a:lnSpc>
                <a:spcPts val="2620"/>
              </a:lnSpc>
            </a:pPr>
            <a:r>
              <a:rPr sz="2400" dirty="0">
                <a:latin typeface="Trebuchet MS"/>
                <a:cs typeface="Trebuchet MS"/>
              </a:rPr>
              <a:t>Hypothèse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trop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forte,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opérations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sont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rarement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toutes commutatives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15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9023" y="1058748"/>
            <a:ext cx="76619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Équivalence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entre</a:t>
            </a:r>
            <a:r>
              <a:rPr sz="32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9023" y="1797569"/>
            <a:ext cx="8350884" cy="26924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5600" marR="5080" indent="-342900">
              <a:lnSpc>
                <a:spcPct val="118100"/>
              </a:lnSpc>
              <a:spcBef>
                <a:spcPts val="5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ordonnancements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S1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S2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équivalents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s'ils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incluent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exactement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les </a:t>
            </a:r>
            <a:r>
              <a:rPr sz="1800" dirty="0">
                <a:latin typeface="Trebuchet MS"/>
                <a:cs typeface="Trebuchet MS"/>
              </a:rPr>
              <a:t>mêmes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transactions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l'effet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final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même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indépendamment</a:t>
            </a:r>
            <a:r>
              <a:rPr sz="1800" spc="5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l'état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initial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base.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80"/>
              </a:spcBef>
              <a:buClr>
                <a:srgbClr val="663300"/>
              </a:buClr>
              <a:buFont typeface="Wingdings"/>
              <a:buChar char=""/>
            </a:pP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dirty="0">
                <a:latin typeface="Trebuchet MS"/>
                <a:cs typeface="Trebuchet MS"/>
              </a:rPr>
              <a:t>Soit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Ti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Tj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transactions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participant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à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ordonnancements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S1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25" dirty="0">
                <a:latin typeface="Trebuchet MS"/>
                <a:cs typeface="Trebuchet MS"/>
              </a:rPr>
              <a:t> S2</a:t>
            </a:r>
            <a:endParaRPr sz="1800">
              <a:latin typeface="Trebuchet MS"/>
              <a:cs typeface="Trebuchet MS"/>
            </a:endParaRPr>
          </a:p>
          <a:p>
            <a:pPr marL="749300" marR="73660" lvl="1" indent="-279400">
              <a:lnSpc>
                <a:spcPct val="117500"/>
              </a:lnSpc>
              <a:spcBef>
                <a:spcPts val="160"/>
              </a:spcBef>
              <a:buSzPct val="113888"/>
              <a:buAutoNum type="arabicPeriod"/>
              <a:tabLst>
                <a:tab pos="749300" algn="l"/>
                <a:tab pos="754380" algn="l"/>
              </a:tabLst>
            </a:pPr>
            <a:r>
              <a:rPr sz="18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Pour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tout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LIRE(X)</a:t>
            </a:r>
            <a:r>
              <a:rPr sz="1800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fait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8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S1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valeur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est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celle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modifiée </a:t>
            </a:r>
            <a:r>
              <a:rPr sz="1800" dirty="0">
                <a:latin typeface="Trebuchet MS"/>
                <a:cs typeface="Trebuchet MS"/>
              </a:rPr>
              <a:t>(en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dernier)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ECRIRE(X)</a:t>
            </a:r>
            <a:r>
              <a:rPr sz="1800" spc="-4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Tj</a:t>
            </a:r>
            <a:r>
              <a:rPr sz="1800" spc="-4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S1</a:t>
            </a:r>
            <a:r>
              <a:rPr sz="1800" spc="-4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alors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même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opération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CC6600"/>
                </a:solidFill>
                <a:latin typeface="Trebuchet MS"/>
                <a:cs typeface="Trebuchet MS"/>
              </a:rPr>
              <a:t>LIRE(X)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8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S2</a:t>
            </a:r>
            <a:r>
              <a:rPr sz="1800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doit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valeur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écrite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ECRIRE(X)</a:t>
            </a:r>
            <a:r>
              <a:rPr sz="1800" spc="-3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Tj</a:t>
            </a:r>
            <a:r>
              <a:rPr sz="1800" spc="-3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A50021"/>
                </a:solidFill>
                <a:latin typeface="Trebuchet MS"/>
                <a:cs typeface="Trebuchet MS"/>
              </a:rPr>
              <a:t>S2</a:t>
            </a:r>
            <a:r>
              <a:rPr sz="1800" spc="-25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66223" y="5298197"/>
            <a:ext cx="7818755" cy="10083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92100" marR="5080" indent="-279400">
              <a:lnSpc>
                <a:spcPts val="2570"/>
              </a:lnSpc>
              <a:spcBef>
                <a:spcPts val="250"/>
              </a:spcBef>
            </a:pPr>
            <a:r>
              <a:rPr sz="2050" dirty="0">
                <a:solidFill>
                  <a:srgbClr val="CC3300"/>
                </a:solidFill>
                <a:latin typeface="Trebuchet MS"/>
                <a:cs typeface="Trebuchet MS"/>
              </a:rPr>
              <a:t>2.</a:t>
            </a:r>
            <a:r>
              <a:rPr sz="2050" spc="-21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Pour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toute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entité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X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sur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laquelle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il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dernier</a:t>
            </a:r>
            <a:r>
              <a:rPr sz="18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ECRIRE(X)</a:t>
            </a:r>
            <a:r>
              <a:rPr sz="18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exécutée</a:t>
            </a:r>
            <a:r>
              <a:rPr sz="1800" spc="-25" dirty="0">
                <a:latin typeface="Trebuchet MS"/>
                <a:cs typeface="Trebuchet MS"/>
              </a:rPr>
              <a:t> par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800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S1</a:t>
            </a:r>
            <a:r>
              <a:rPr sz="18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alors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même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opération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ECRIRE(X)</a:t>
            </a:r>
            <a:r>
              <a:rPr sz="1800" spc="-3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Ti</a:t>
            </a:r>
            <a:r>
              <a:rPr sz="1800" spc="-3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doit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être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dernière</a:t>
            </a:r>
            <a:endParaRPr sz="1800">
              <a:latin typeface="Trebuchet MS"/>
              <a:cs typeface="Trebuchet MS"/>
            </a:endParaRPr>
          </a:p>
          <a:p>
            <a:pPr marL="292100">
              <a:lnSpc>
                <a:spcPct val="100000"/>
              </a:lnSpc>
              <a:spcBef>
                <a:spcPts val="285"/>
              </a:spcBef>
            </a:pPr>
            <a:r>
              <a:rPr sz="1800" dirty="0">
                <a:latin typeface="Trebuchet MS"/>
                <a:cs typeface="Trebuchet MS"/>
              </a:rPr>
              <a:t>dans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A50021"/>
                </a:solidFill>
                <a:latin typeface="Trebuchet MS"/>
                <a:cs typeface="Trebuchet MS"/>
              </a:rPr>
              <a:t>S2</a:t>
            </a:r>
            <a:r>
              <a:rPr sz="1800" spc="-25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24047" y="4609984"/>
            <a:ext cx="4876800" cy="669925"/>
          </a:xfrm>
          <a:prstGeom prst="rect">
            <a:avLst/>
          </a:prstGeom>
          <a:solidFill>
            <a:srgbClr val="FFD47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2443480" algn="l"/>
              </a:tabLst>
            </a:pPr>
            <a:r>
              <a:rPr sz="2000" dirty="0">
                <a:latin typeface="Arial MT"/>
                <a:cs typeface="Arial MT"/>
              </a:rPr>
              <a:t>S1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Écrire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Tj</a:t>
            </a:r>
            <a:r>
              <a:rPr sz="2000" spc="-20" dirty="0">
                <a:latin typeface="Arial MT"/>
                <a:cs typeface="Arial MT"/>
              </a:rPr>
              <a:t> (X),</a:t>
            </a:r>
            <a:r>
              <a:rPr sz="2000" dirty="0">
                <a:latin typeface="Arial MT"/>
                <a:cs typeface="Arial MT"/>
              </a:rPr>
              <a:t>	Lire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(X)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...</a:t>
            </a:r>
            <a:endParaRPr sz="2000">
              <a:latin typeface="Arial MT"/>
              <a:cs typeface="Arial MT"/>
            </a:endParaRPr>
          </a:p>
          <a:p>
            <a:pPr>
              <a:lnSpc>
                <a:spcPts val="2395"/>
              </a:lnSpc>
              <a:spcBef>
                <a:spcPts val="480"/>
              </a:spcBef>
              <a:tabLst>
                <a:tab pos="2443480" algn="l"/>
              </a:tabLst>
            </a:pPr>
            <a:r>
              <a:rPr sz="2000" dirty="0">
                <a:latin typeface="Arial MT"/>
                <a:cs typeface="Arial MT"/>
              </a:rPr>
              <a:t>S2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Écrire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Tj</a:t>
            </a:r>
            <a:r>
              <a:rPr sz="2000" spc="-20" dirty="0">
                <a:latin typeface="Arial MT"/>
                <a:cs typeface="Arial MT"/>
              </a:rPr>
              <a:t> (X),</a:t>
            </a:r>
            <a:r>
              <a:rPr sz="2000" dirty="0">
                <a:latin typeface="Arial MT"/>
                <a:cs typeface="Arial MT"/>
              </a:rPr>
              <a:t>	Lire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(X)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...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24047" y="6421322"/>
            <a:ext cx="4876800" cy="669925"/>
          </a:xfrm>
          <a:prstGeom prst="rect">
            <a:avLst/>
          </a:prstGeom>
          <a:solidFill>
            <a:srgbClr val="FFD47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S1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Écrire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(X)</a:t>
            </a:r>
            <a:endParaRPr sz="2000">
              <a:latin typeface="Arial MT"/>
              <a:cs typeface="Arial MT"/>
            </a:endParaRPr>
          </a:p>
          <a:p>
            <a:pPr>
              <a:lnSpc>
                <a:spcPts val="2395"/>
              </a:lnSpc>
              <a:spcBef>
                <a:spcPts val="480"/>
              </a:spcBef>
            </a:pPr>
            <a:r>
              <a:rPr sz="2000" dirty="0">
                <a:latin typeface="Arial MT"/>
                <a:cs typeface="Arial MT"/>
              </a:rPr>
              <a:t>S2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...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Écrire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(X)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1058748"/>
            <a:ext cx="76619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Équivalence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entre</a:t>
            </a:r>
            <a:r>
              <a:rPr sz="32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16797"/>
            <a:ext cx="4693285" cy="1035685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b="1" dirty="0">
                <a:latin typeface="Trebuchet MS"/>
                <a:cs typeface="Trebuchet MS"/>
              </a:rPr>
              <a:t>Lire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de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Ti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sur </a:t>
            </a:r>
            <a:r>
              <a:rPr sz="2400" b="1" spc="-180" dirty="0">
                <a:latin typeface="Trebuchet MS"/>
                <a:cs typeface="Trebuchet MS"/>
              </a:rPr>
              <a:t>l</a:t>
            </a:r>
            <a:r>
              <a:rPr sz="2400" spc="-180" dirty="0">
                <a:latin typeface="MS PGothic"/>
                <a:cs typeface="MS PGothic"/>
              </a:rPr>
              <a:t>ʼ</a:t>
            </a:r>
            <a:r>
              <a:rPr sz="2400" b="1" spc="-180" dirty="0">
                <a:latin typeface="Trebuchet MS"/>
                <a:cs typeface="Trebuchet MS"/>
              </a:rPr>
              <a:t>objet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A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=</a:t>
            </a:r>
            <a:r>
              <a:rPr sz="2400" b="1" spc="-10" dirty="0">
                <a:latin typeface="Trebuchet MS"/>
                <a:cs typeface="Trebuchet MS"/>
              </a:rPr>
              <a:t> Li(A)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b="1" dirty="0">
                <a:latin typeface="Trebuchet MS"/>
                <a:cs typeface="Trebuchet MS"/>
              </a:rPr>
              <a:t>Écrire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Ti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sur</a:t>
            </a:r>
            <a:r>
              <a:rPr sz="2400" b="1" spc="-5" dirty="0">
                <a:latin typeface="Trebuchet MS"/>
                <a:cs typeface="Trebuchet MS"/>
              </a:rPr>
              <a:t> </a:t>
            </a:r>
            <a:r>
              <a:rPr sz="2400" b="1" spc="-180" dirty="0">
                <a:latin typeface="Trebuchet MS"/>
                <a:cs typeface="Trebuchet MS"/>
              </a:rPr>
              <a:t>l</a:t>
            </a:r>
            <a:r>
              <a:rPr sz="2400" spc="-180" dirty="0">
                <a:latin typeface="MS PGothic"/>
                <a:cs typeface="MS PGothic"/>
              </a:rPr>
              <a:t>ʼ</a:t>
            </a:r>
            <a:r>
              <a:rPr sz="2400" b="1" spc="-180" dirty="0">
                <a:latin typeface="Trebuchet MS"/>
                <a:cs typeface="Trebuchet MS"/>
              </a:rPr>
              <a:t>objet</a:t>
            </a:r>
            <a:r>
              <a:rPr sz="2400" b="1" dirty="0">
                <a:latin typeface="Trebuchet MS"/>
                <a:cs typeface="Trebuchet MS"/>
              </a:rPr>
              <a:t> A</a:t>
            </a:r>
            <a:r>
              <a:rPr sz="2400" b="1" spc="-1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=</a:t>
            </a:r>
            <a:r>
              <a:rPr sz="2400" b="1" spc="-10" dirty="0">
                <a:latin typeface="Trebuchet MS"/>
                <a:cs typeface="Trebuchet MS"/>
              </a:rPr>
              <a:t> Ei(A)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9023" y="3384053"/>
            <a:ext cx="67265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CC6600"/>
                </a:solidFill>
                <a:latin typeface="Trebuchet MS"/>
                <a:cs typeface="Trebuchet MS"/>
              </a:rPr>
              <a:t>S1</a:t>
            </a:r>
            <a:r>
              <a:rPr sz="23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=</a:t>
            </a:r>
            <a:r>
              <a:rPr sz="2300" b="1" spc="-50" dirty="0"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A50021"/>
                </a:solidFill>
                <a:latin typeface="Trebuchet MS"/>
                <a:cs typeface="Trebuchet MS"/>
              </a:rPr>
              <a:t>L1(A);E1(A);L1(B);E1(B);</a:t>
            </a:r>
            <a:r>
              <a:rPr sz="2300" b="1" spc="-10" dirty="0">
                <a:solidFill>
                  <a:srgbClr val="000066"/>
                </a:solidFill>
                <a:latin typeface="Trebuchet MS"/>
                <a:cs typeface="Trebuchet MS"/>
              </a:rPr>
              <a:t>L2(A);</a:t>
            </a:r>
            <a:r>
              <a:rPr sz="2300" b="1" spc="-5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000066"/>
                </a:solidFill>
                <a:latin typeface="Trebuchet MS"/>
                <a:cs typeface="Trebuchet MS"/>
              </a:rPr>
              <a:t>E2(A);</a:t>
            </a:r>
            <a:r>
              <a:rPr sz="2300" b="1" spc="-55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000066"/>
                </a:solidFill>
                <a:latin typeface="Trebuchet MS"/>
                <a:cs typeface="Trebuchet MS"/>
              </a:rPr>
              <a:t>L2(B);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12095" y="3346334"/>
            <a:ext cx="762000" cy="533400"/>
          </a:xfrm>
          <a:prstGeom prst="rect">
            <a:avLst/>
          </a:prstGeom>
          <a:ln w="28574">
            <a:solidFill>
              <a:srgbClr val="D84800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r>
              <a:rPr sz="2300" b="1" spc="-10" dirty="0">
                <a:solidFill>
                  <a:srgbClr val="000066"/>
                </a:solidFill>
                <a:latin typeface="Trebuchet MS"/>
                <a:cs typeface="Trebuchet MS"/>
              </a:rPr>
              <a:t>E2(B)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9023" y="4857253"/>
            <a:ext cx="745172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CC6600"/>
                </a:solidFill>
                <a:latin typeface="Trebuchet MS"/>
                <a:cs typeface="Trebuchet MS"/>
              </a:rPr>
              <a:t>S2</a:t>
            </a:r>
            <a:r>
              <a:rPr sz="2300" b="1" dirty="0">
                <a:latin typeface="Trebuchet MS"/>
                <a:cs typeface="Trebuchet MS"/>
              </a:rPr>
              <a:t>=</a:t>
            </a:r>
            <a:r>
              <a:rPr sz="2300" b="1" spc="-130" dirty="0"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A50021"/>
                </a:solidFill>
                <a:latin typeface="Trebuchet MS"/>
                <a:cs typeface="Trebuchet MS"/>
              </a:rPr>
              <a:t>L1(A);E1(A);</a:t>
            </a:r>
            <a:r>
              <a:rPr sz="2300" b="1" spc="-13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000066"/>
                </a:solidFill>
                <a:latin typeface="Trebuchet MS"/>
                <a:cs typeface="Trebuchet MS"/>
              </a:rPr>
              <a:t>L2(A);E2(A);</a:t>
            </a:r>
            <a:r>
              <a:rPr sz="2300" b="1" spc="-130" dirty="0">
                <a:solidFill>
                  <a:srgbClr val="000066"/>
                </a:solidFill>
                <a:latin typeface="Trebuchet MS"/>
                <a:cs typeface="Trebuchet MS"/>
              </a:rPr>
              <a:t> </a:t>
            </a:r>
            <a:r>
              <a:rPr sz="2300" b="1" dirty="0">
                <a:solidFill>
                  <a:srgbClr val="A50021"/>
                </a:solidFill>
                <a:latin typeface="Trebuchet MS"/>
                <a:cs typeface="Trebuchet MS"/>
              </a:rPr>
              <a:t>L1(B);E1(B);</a:t>
            </a:r>
            <a:r>
              <a:rPr sz="2300" b="1" spc="-13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300" b="1" spc="-10" dirty="0">
                <a:solidFill>
                  <a:srgbClr val="000066"/>
                </a:solidFill>
                <a:latin typeface="Trebuchet MS"/>
                <a:cs typeface="Trebuchet MS"/>
              </a:rPr>
              <a:t>L2(B);E2(B)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09845" y="3332047"/>
            <a:ext cx="5142230" cy="866775"/>
            <a:chOff x="2809845" y="3332047"/>
            <a:chExt cx="5142230" cy="866775"/>
          </a:xfrm>
        </p:grpSpPr>
        <p:sp>
          <p:nvSpPr>
            <p:cNvPr id="13" name="object 13"/>
            <p:cNvSpPr/>
            <p:nvPr/>
          </p:nvSpPr>
          <p:spPr>
            <a:xfrm>
              <a:off x="5287729" y="3346334"/>
              <a:ext cx="849630" cy="533400"/>
            </a:xfrm>
            <a:custGeom>
              <a:avLst/>
              <a:gdLst/>
              <a:ahLst/>
              <a:cxnLst/>
              <a:rect l="l" t="t" r="r" b="b"/>
              <a:pathLst>
                <a:path w="849629" h="533400">
                  <a:moveTo>
                    <a:pt x="0" y="266699"/>
                  </a:moveTo>
                  <a:lnTo>
                    <a:pt x="15172" y="195800"/>
                  </a:lnTo>
                  <a:lnTo>
                    <a:pt x="57991" y="132091"/>
                  </a:lnTo>
                  <a:lnTo>
                    <a:pt x="88503" y="103727"/>
                  </a:lnTo>
                  <a:lnTo>
                    <a:pt x="124408" y="78114"/>
                  </a:lnTo>
                  <a:lnTo>
                    <a:pt x="165200" y="55570"/>
                  </a:lnTo>
                  <a:lnTo>
                    <a:pt x="210374" y="36412"/>
                  </a:lnTo>
                  <a:lnTo>
                    <a:pt x="259422" y="20958"/>
                  </a:lnTo>
                  <a:lnTo>
                    <a:pt x="311840" y="9526"/>
                  </a:lnTo>
                  <a:lnTo>
                    <a:pt x="367120" y="2434"/>
                  </a:lnTo>
                  <a:lnTo>
                    <a:pt x="424757" y="0"/>
                  </a:lnTo>
                  <a:lnTo>
                    <a:pt x="482394" y="2434"/>
                  </a:lnTo>
                  <a:lnTo>
                    <a:pt x="537675" y="9526"/>
                  </a:lnTo>
                  <a:lnTo>
                    <a:pt x="590092" y="20958"/>
                  </a:lnTo>
                  <a:lnTo>
                    <a:pt x="639141" y="36412"/>
                  </a:lnTo>
                  <a:lnTo>
                    <a:pt x="684314" y="55570"/>
                  </a:lnTo>
                  <a:lnTo>
                    <a:pt x="725107" y="78114"/>
                  </a:lnTo>
                  <a:lnTo>
                    <a:pt x="761012" y="103727"/>
                  </a:lnTo>
                  <a:lnTo>
                    <a:pt x="791524" y="132091"/>
                  </a:lnTo>
                  <a:lnTo>
                    <a:pt x="816136" y="162888"/>
                  </a:lnTo>
                  <a:lnTo>
                    <a:pt x="845638" y="230510"/>
                  </a:lnTo>
                  <a:lnTo>
                    <a:pt x="849515" y="266699"/>
                  </a:lnTo>
                  <a:lnTo>
                    <a:pt x="845638" y="302889"/>
                  </a:lnTo>
                  <a:lnTo>
                    <a:pt x="816136" y="370511"/>
                  </a:lnTo>
                  <a:lnTo>
                    <a:pt x="791524" y="401308"/>
                  </a:lnTo>
                  <a:lnTo>
                    <a:pt x="761012" y="429672"/>
                  </a:lnTo>
                  <a:lnTo>
                    <a:pt x="725107" y="455285"/>
                  </a:lnTo>
                  <a:lnTo>
                    <a:pt x="684314" y="477829"/>
                  </a:lnTo>
                  <a:lnTo>
                    <a:pt x="639141" y="496987"/>
                  </a:lnTo>
                  <a:lnTo>
                    <a:pt x="590092" y="512441"/>
                  </a:lnTo>
                  <a:lnTo>
                    <a:pt x="537675" y="523873"/>
                  </a:lnTo>
                  <a:lnTo>
                    <a:pt x="482394" y="530965"/>
                  </a:lnTo>
                  <a:lnTo>
                    <a:pt x="424757" y="533399"/>
                  </a:lnTo>
                  <a:lnTo>
                    <a:pt x="367120" y="530965"/>
                  </a:lnTo>
                  <a:lnTo>
                    <a:pt x="311840" y="523873"/>
                  </a:lnTo>
                  <a:lnTo>
                    <a:pt x="259422" y="512441"/>
                  </a:lnTo>
                  <a:lnTo>
                    <a:pt x="210374" y="496987"/>
                  </a:lnTo>
                  <a:lnTo>
                    <a:pt x="165200" y="477829"/>
                  </a:lnTo>
                  <a:lnTo>
                    <a:pt x="124408" y="455285"/>
                  </a:lnTo>
                  <a:lnTo>
                    <a:pt x="88503" y="429672"/>
                  </a:lnTo>
                  <a:lnTo>
                    <a:pt x="57991" y="401308"/>
                  </a:lnTo>
                  <a:lnTo>
                    <a:pt x="33379" y="370511"/>
                  </a:lnTo>
                  <a:lnTo>
                    <a:pt x="387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24133" y="3346334"/>
              <a:ext cx="849630" cy="533400"/>
            </a:xfrm>
            <a:custGeom>
              <a:avLst/>
              <a:gdLst/>
              <a:ahLst/>
              <a:cxnLst/>
              <a:rect l="l" t="t" r="r" b="b"/>
              <a:pathLst>
                <a:path w="849629" h="533400">
                  <a:moveTo>
                    <a:pt x="0" y="266699"/>
                  </a:moveTo>
                  <a:lnTo>
                    <a:pt x="15172" y="195800"/>
                  </a:lnTo>
                  <a:lnTo>
                    <a:pt x="57991" y="132091"/>
                  </a:lnTo>
                  <a:lnTo>
                    <a:pt x="88503" y="103727"/>
                  </a:lnTo>
                  <a:lnTo>
                    <a:pt x="124408" y="78114"/>
                  </a:lnTo>
                  <a:lnTo>
                    <a:pt x="165201" y="55570"/>
                  </a:lnTo>
                  <a:lnTo>
                    <a:pt x="210374" y="36412"/>
                  </a:lnTo>
                  <a:lnTo>
                    <a:pt x="259422" y="20958"/>
                  </a:lnTo>
                  <a:lnTo>
                    <a:pt x="311840" y="9526"/>
                  </a:lnTo>
                  <a:lnTo>
                    <a:pt x="367120" y="2434"/>
                  </a:lnTo>
                  <a:lnTo>
                    <a:pt x="424757" y="0"/>
                  </a:lnTo>
                  <a:lnTo>
                    <a:pt x="482395" y="2434"/>
                  </a:lnTo>
                  <a:lnTo>
                    <a:pt x="537675" y="9526"/>
                  </a:lnTo>
                  <a:lnTo>
                    <a:pt x="590092" y="20958"/>
                  </a:lnTo>
                  <a:lnTo>
                    <a:pt x="639141" y="36412"/>
                  </a:lnTo>
                  <a:lnTo>
                    <a:pt x="684314" y="55570"/>
                  </a:lnTo>
                  <a:lnTo>
                    <a:pt x="725107" y="78114"/>
                  </a:lnTo>
                  <a:lnTo>
                    <a:pt x="761012" y="103727"/>
                  </a:lnTo>
                  <a:lnTo>
                    <a:pt x="791524" y="132091"/>
                  </a:lnTo>
                  <a:lnTo>
                    <a:pt x="816136" y="162888"/>
                  </a:lnTo>
                  <a:lnTo>
                    <a:pt x="845638" y="230510"/>
                  </a:lnTo>
                  <a:lnTo>
                    <a:pt x="849515" y="266699"/>
                  </a:lnTo>
                  <a:lnTo>
                    <a:pt x="845638" y="302889"/>
                  </a:lnTo>
                  <a:lnTo>
                    <a:pt x="816136" y="370511"/>
                  </a:lnTo>
                  <a:lnTo>
                    <a:pt x="791524" y="401308"/>
                  </a:lnTo>
                  <a:lnTo>
                    <a:pt x="761012" y="429672"/>
                  </a:lnTo>
                  <a:lnTo>
                    <a:pt x="725107" y="455285"/>
                  </a:lnTo>
                  <a:lnTo>
                    <a:pt x="684314" y="477829"/>
                  </a:lnTo>
                  <a:lnTo>
                    <a:pt x="639141" y="496987"/>
                  </a:lnTo>
                  <a:lnTo>
                    <a:pt x="590092" y="512441"/>
                  </a:lnTo>
                  <a:lnTo>
                    <a:pt x="537675" y="523873"/>
                  </a:lnTo>
                  <a:lnTo>
                    <a:pt x="482395" y="530965"/>
                  </a:lnTo>
                  <a:lnTo>
                    <a:pt x="424757" y="533399"/>
                  </a:lnTo>
                  <a:lnTo>
                    <a:pt x="367120" y="530965"/>
                  </a:lnTo>
                  <a:lnTo>
                    <a:pt x="311840" y="523873"/>
                  </a:lnTo>
                  <a:lnTo>
                    <a:pt x="259422" y="512441"/>
                  </a:lnTo>
                  <a:lnTo>
                    <a:pt x="210374" y="496987"/>
                  </a:lnTo>
                  <a:lnTo>
                    <a:pt x="165201" y="477829"/>
                  </a:lnTo>
                  <a:lnTo>
                    <a:pt x="124408" y="455285"/>
                  </a:lnTo>
                  <a:lnTo>
                    <a:pt x="88503" y="429672"/>
                  </a:lnTo>
                  <a:lnTo>
                    <a:pt x="57991" y="401308"/>
                  </a:lnTo>
                  <a:lnTo>
                    <a:pt x="33379" y="370511"/>
                  </a:lnTo>
                  <a:lnTo>
                    <a:pt x="387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63939" y="3879734"/>
              <a:ext cx="2606675" cy="304800"/>
            </a:xfrm>
            <a:custGeom>
              <a:avLst/>
              <a:gdLst/>
              <a:ahLst/>
              <a:cxnLst/>
              <a:rect l="l" t="t" r="r" b="b"/>
              <a:pathLst>
                <a:path w="2606675" h="304800">
                  <a:moveTo>
                    <a:pt x="0" y="0"/>
                  </a:moveTo>
                  <a:lnTo>
                    <a:pt x="376237" y="111918"/>
                  </a:lnTo>
                  <a:lnTo>
                    <a:pt x="561974" y="163512"/>
                  </a:lnTo>
                  <a:lnTo>
                    <a:pt x="746124" y="209549"/>
                  </a:lnTo>
                  <a:lnTo>
                    <a:pt x="926306" y="248443"/>
                  </a:lnTo>
                  <a:lnTo>
                    <a:pt x="1104105" y="278606"/>
                  </a:lnTo>
                  <a:lnTo>
                    <a:pt x="1276349" y="297656"/>
                  </a:lnTo>
                  <a:lnTo>
                    <a:pt x="1443830" y="304799"/>
                  </a:lnTo>
                  <a:lnTo>
                    <a:pt x="1527174" y="301624"/>
                  </a:lnTo>
                  <a:lnTo>
                    <a:pt x="1612899" y="293687"/>
                  </a:lnTo>
                  <a:lnTo>
                    <a:pt x="1786731" y="264318"/>
                  </a:lnTo>
                  <a:lnTo>
                    <a:pt x="1960562" y="221456"/>
                  </a:lnTo>
                  <a:lnTo>
                    <a:pt x="2128837" y="171449"/>
                  </a:lnTo>
                  <a:lnTo>
                    <a:pt x="2285999" y="119062"/>
                  </a:lnTo>
                  <a:lnTo>
                    <a:pt x="2358231" y="92868"/>
                  </a:lnTo>
                  <a:lnTo>
                    <a:pt x="2425699" y="69056"/>
                  </a:lnTo>
                  <a:lnTo>
                    <a:pt x="2487612" y="46831"/>
                  </a:lnTo>
                  <a:lnTo>
                    <a:pt x="2543174" y="27781"/>
                  </a:lnTo>
                  <a:lnTo>
                    <a:pt x="2592387" y="11906"/>
                  </a:lnTo>
                  <a:lnTo>
                    <a:pt x="2606207" y="791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03355" y="3862311"/>
              <a:ext cx="94615" cy="82550"/>
            </a:xfrm>
            <a:custGeom>
              <a:avLst/>
              <a:gdLst/>
              <a:ahLst/>
              <a:cxnLst/>
              <a:rect l="l" t="t" r="r" b="b"/>
              <a:pathLst>
                <a:path w="94614" h="82550">
                  <a:moveTo>
                    <a:pt x="0" y="0"/>
                  </a:moveTo>
                  <a:lnTo>
                    <a:pt x="23759" y="82365"/>
                  </a:lnTo>
                  <a:lnTo>
                    <a:pt x="94246" y="17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81483" y="3346334"/>
              <a:ext cx="843280" cy="533400"/>
            </a:xfrm>
            <a:custGeom>
              <a:avLst/>
              <a:gdLst/>
              <a:ahLst/>
              <a:cxnLst/>
              <a:rect l="l" t="t" r="r" b="b"/>
              <a:pathLst>
                <a:path w="843279" h="533400">
                  <a:moveTo>
                    <a:pt x="0" y="266699"/>
                  </a:moveTo>
                  <a:lnTo>
                    <a:pt x="15055" y="195800"/>
                  </a:lnTo>
                  <a:lnTo>
                    <a:pt x="57541" y="132091"/>
                  </a:lnTo>
                  <a:lnTo>
                    <a:pt x="87816" y="103727"/>
                  </a:lnTo>
                  <a:lnTo>
                    <a:pt x="123443" y="78114"/>
                  </a:lnTo>
                  <a:lnTo>
                    <a:pt x="163919" y="55570"/>
                  </a:lnTo>
                  <a:lnTo>
                    <a:pt x="208742" y="36412"/>
                  </a:lnTo>
                  <a:lnTo>
                    <a:pt x="257409" y="20958"/>
                  </a:lnTo>
                  <a:lnTo>
                    <a:pt x="309420" y="9526"/>
                  </a:lnTo>
                  <a:lnTo>
                    <a:pt x="364272" y="2434"/>
                  </a:lnTo>
                  <a:lnTo>
                    <a:pt x="421461" y="0"/>
                  </a:lnTo>
                  <a:lnTo>
                    <a:pt x="478651" y="2434"/>
                  </a:lnTo>
                  <a:lnTo>
                    <a:pt x="533503" y="9526"/>
                  </a:lnTo>
                  <a:lnTo>
                    <a:pt x="585513" y="20958"/>
                  </a:lnTo>
                  <a:lnTo>
                    <a:pt x="634181" y="36412"/>
                  </a:lnTo>
                  <a:lnTo>
                    <a:pt x="679004" y="55570"/>
                  </a:lnTo>
                  <a:lnTo>
                    <a:pt x="719480" y="78114"/>
                  </a:lnTo>
                  <a:lnTo>
                    <a:pt x="755106" y="103727"/>
                  </a:lnTo>
                  <a:lnTo>
                    <a:pt x="785381" y="132091"/>
                  </a:lnTo>
                  <a:lnTo>
                    <a:pt x="809803" y="162888"/>
                  </a:lnTo>
                  <a:lnTo>
                    <a:pt x="839076" y="230510"/>
                  </a:lnTo>
                  <a:lnTo>
                    <a:pt x="842923" y="266699"/>
                  </a:lnTo>
                  <a:lnTo>
                    <a:pt x="839076" y="302889"/>
                  </a:lnTo>
                  <a:lnTo>
                    <a:pt x="809803" y="370511"/>
                  </a:lnTo>
                  <a:lnTo>
                    <a:pt x="785381" y="401308"/>
                  </a:lnTo>
                  <a:lnTo>
                    <a:pt x="755106" y="429672"/>
                  </a:lnTo>
                  <a:lnTo>
                    <a:pt x="719480" y="455285"/>
                  </a:lnTo>
                  <a:lnTo>
                    <a:pt x="679004" y="477829"/>
                  </a:lnTo>
                  <a:lnTo>
                    <a:pt x="634181" y="496987"/>
                  </a:lnTo>
                  <a:lnTo>
                    <a:pt x="585513" y="512441"/>
                  </a:lnTo>
                  <a:lnTo>
                    <a:pt x="533503" y="523873"/>
                  </a:lnTo>
                  <a:lnTo>
                    <a:pt x="478651" y="530965"/>
                  </a:lnTo>
                  <a:lnTo>
                    <a:pt x="421461" y="533399"/>
                  </a:lnTo>
                  <a:lnTo>
                    <a:pt x="364272" y="530965"/>
                  </a:lnTo>
                  <a:lnTo>
                    <a:pt x="309420" y="523873"/>
                  </a:lnTo>
                  <a:lnTo>
                    <a:pt x="257409" y="512441"/>
                  </a:lnTo>
                  <a:lnTo>
                    <a:pt x="208742" y="496987"/>
                  </a:lnTo>
                  <a:lnTo>
                    <a:pt x="163919" y="477829"/>
                  </a:lnTo>
                  <a:lnTo>
                    <a:pt x="123443" y="455285"/>
                  </a:lnTo>
                  <a:lnTo>
                    <a:pt x="87816" y="429672"/>
                  </a:lnTo>
                  <a:lnTo>
                    <a:pt x="57541" y="401308"/>
                  </a:lnTo>
                  <a:lnTo>
                    <a:pt x="33120" y="370511"/>
                  </a:lnTo>
                  <a:lnTo>
                    <a:pt x="384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94546" y="3346334"/>
              <a:ext cx="843280" cy="533400"/>
            </a:xfrm>
            <a:custGeom>
              <a:avLst/>
              <a:gdLst/>
              <a:ahLst/>
              <a:cxnLst/>
              <a:rect l="l" t="t" r="r" b="b"/>
              <a:pathLst>
                <a:path w="843279" h="533400">
                  <a:moveTo>
                    <a:pt x="0" y="266699"/>
                  </a:moveTo>
                  <a:lnTo>
                    <a:pt x="15055" y="195800"/>
                  </a:lnTo>
                  <a:lnTo>
                    <a:pt x="57541" y="132091"/>
                  </a:lnTo>
                  <a:lnTo>
                    <a:pt x="87816" y="103727"/>
                  </a:lnTo>
                  <a:lnTo>
                    <a:pt x="123443" y="78114"/>
                  </a:lnTo>
                  <a:lnTo>
                    <a:pt x="163918" y="55570"/>
                  </a:lnTo>
                  <a:lnTo>
                    <a:pt x="208741" y="36412"/>
                  </a:lnTo>
                  <a:lnTo>
                    <a:pt x="257409" y="20958"/>
                  </a:lnTo>
                  <a:lnTo>
                    <a:pt x="309420" y="9526"/>
                  </a:lnTo>
                  <a:lnTo>
                    <a:pt x="364271" y="2434"/>
                  </a:lnTo>
                  <a:lnTo>
                    <a:pt x="421461" y="0"/>
                  </a:lnTo>
                  <a:lnTo>
                    <a:pt x="478651" y="2434"/>
                  </a:lnTo>
                  <a:lnTo>
                    <a:pt x="533503" y="9526"/>
                  </a:lnTo>
                  <a:lnTo>
                    <a:pt x="585513" y="20958"/>
                  </a:lnTo>
                  <a:lnTo>
                    <a:pt x="634181" y="36412"/>
                  </a:lnTo>
                  <a:lnTo>
                    <a:pt x="679004" y="55570"/>
                  </a:lnTo>
                  <a:lnTo>
                    <a:pt x="719480" y="78114"/>
                  </a:lnTo>
                  <a:lnTo>
                    <a:pt x="755106" y="103727"/>
                  </a:lnTo>
                  <a:lnTo>
                    <a:pt x="785381" y="132091"/>
                  </a:lnTo>
                  <a:lnTo>
                    <a:pt x="809803" y="162888"/>
                  </a:lnTo>
                  <a:lnTo>
                    <a:pt x="839076" y="230510"/>
                  </a:lnTo>
                  <a:lnTo>
                    <a:pt x="842923" y="266699"/>
                  </a:lnTo>
                  <a:lnTo>
                    <a:pt x="839076" y="302889"/>
                  </a:lnTo>
                  <a:lnTo>
                    <a:pt x="809803" y="370511"/>
                  </a:lnTo>
                  <a:lnTo>
                    <a:pt x="785381" y="401308"/>
                  </a:lnTo>
                  <a:lnTo>
                    <a:pt x="755106" y="429672"/>
                  </a:lnTo>
                  <a:lnTo>
                    <a:pt x="719480" y="455285"/>
                  </a:lnTo>
                  <a:lnTo>
                    <a:pt x="679004" y="477829"/>
                  </a:lnTo>
                  <a:lnTo>
                    <a:pt x="634181" y="496987"/>
                  </a:lnTo>
                  <a:lnTo>
                    <a:pt x="585513" y="512441"/>
                  </a:lnTo>
                  <a:lnTo>
                    <a:pt x="533503" y="523873"/>
                  </a:lnTo>
                  <a:lnTo>
                    <a:pt x="478651" y="530965"/>
                  </a:lnTo>
                  <a:lnTo>
                    <a:pt x="421461" y="533399"/>
                  </a:lnTo>
                  <a:lnTo>
                    <a:pt x="364271" y="530965"/>
                  </a:lnTo>
                  <a:lnTo>
                    <a:pt x="309420" y="523873"/>
                  </a:lnTo>
                  <a:lnTo>
                    <a:pt x="257409" y="512441"/>
                  </a:lnTo>
                  <a:lnTo>
                    <a:pt x="208741" y="496987"/>
                  </a:lnTo>
                  <a:lnTo>
                    <a:pt x="163918" y="477829"/>
                  </a:lnTo>
                  <a:lnTo>
                    <a:pt x="123443" y="455285"/>
                  </a:lnTo>
                  <a:lnTo>
                    <a:pt x="87816" y="429672"/>
                  </a:lnTo>
                  <a:lnTo>
                    <a:pt x="57541" y="401308"/>
                  </a:lnTo>
                  <a:lnTo>
                    <a:pt x="33120" y="370511"/>
                  </a:lnTo>
                  <a:lnTo>
                    <a:pt x="384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02945" y="3879734"/>
              <a:ext cx="2502535" cy="304800"/>
            </a:xfrm>
            <a:custGeom>
              <a:avLst/>
              <a:gdLst/>
              <a:ahLst/>
              <a:cxnLst/>
              <a:rect l="l" t="t" r="r" b="b"/>
              <a:pathLst>
                <a:path w="2502534" h="304800">
                  <a:moveTo>
                    <a:pt x="0" y="0"/>
                  </a:moveTo>
                  <a:lnTo>
                    <a:pt x="346868" y="111918"/>
                  </a:lnTo>
                  <a:lnTo>
                    <a:pt x="519112" y="163512"/>
                  </a:lnTo>
                  <a:lnTo>
                    <a:pt x="689768" y="209549"/>
                  </a:lnTo>
                  <a:lnTo>
                    <a:pt x="858837" y="248443"/>
                  </a:lnTo>
                  <a:lnTo>
                    <a:pt x="1025524" y="278606"/>
                  </a:lnTo>
                  <a:lnTo>
                    <a:pt x="1188243" y="297656"/>
                  </a:lnTo>
                  <a:lnTo>
                    <a:pt x="1348581" y="304799"/>
                  </a:lnTo>
                  <a:lnTo>
                    <a:pt x="1504949" y="297656"/>
                  </a:lnTo>
                  <a:lnTo>
                    <a:pt x="1657349" y="278606"/>
                  </a:lnTo>
                  <a:lnTo>
                    <a:pt x="1807368" y="248443"/>
                  </a:lnTo>
                  <a:lnTo>
                    <a:pt x="1954212" y="209549"/>
                  </a:lnTo>
                  <a:lnTo>
                    <a:pt x="2099468" y="163512"/>
                  </a:lnTo>
                  <a:lnTo>
                    <a:pt x="2243931" y="111918"/>
                  </a:lnTo>
                  <a:lnTo>
                    <a:pt x="2502290" y="10446"/>
                  </a:lnTo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36372" y="3871178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4" h="80010">
                  <a:moveTo>
                    <a:pt x="0" y="0"/>
                  </a:moveTo>
                  <a:lnTo>
                    <a:pt x="31338" y="79790"/>
                  </a:lnTo>
                  <a:lnTo>
                    <a:pt x="95460" y="8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8845" y="3346334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0"/>
                  </a:moveTo>
                  <a:lnTo>
                    <a:pt x="761999" y="0"/>
                  </a:lnTo>
                  <a:lnTo>
                    <a:pt x="761999" y="533399"/>
                  </a:lnTo>
                  <a:lnTo>
                    <a:pt x="0" y="533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329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666970" y="4771909"/>
            <a:ext cx="2589530" cy="714375"/>
            <a:chOff x="2666970" y="4771909"/>
            <a:chExt cx="2589530" cy="714375"/>
          </a:xfrm>
        </p:grpSpPr>
        <p:sp>
          <p:nvSpPr>
            <p:cNvPr id="23" name="object 23"/>
            <p:cNvSpPr/>
            <p:nvPr/>
          </p:nvSpPr>
          <p:spPr>
            <a:xfrm>
              <a:off x="2681258" y="4786197"/>
              <a:ext cx="822960" cy="533400"/>
            </a:xfrm>
            <a:custGeom>
              <a:avLst/>
              <a:gdLst/>
              <a:ahLst/>
              <a:cxnLst/>
              <a:rect l="l" t="t" r="r" b="b"/>
              <a:pathLst>
                <a:path w="822960" h="533400">
                  <a:moveTo>
                    <a:pt x="0" y="266699"/>
                  </a:moveTo>
                  <a:lnTo>
                    <a:pt x="14689" y="195800"/>
                  </a:lnTo>
                  <a:lnTo>
                    <a:pt x="56146" y="132091"/>
                  </a:lnTo>
                  <a:lnTo>
                    <a:pt x="85686" y="103727"/>
                  </a:lnTo>
                  <a:lnTo>
                    <a:pt x="120448" y="78114"/>
                  </a:lnTo>
                  <a:lnTo>
                    <a:pt x="159942" y="55570"/>
                  </a:lnTo>
                  <a:lnTo>
                    <a:pt x="203678" y="36412"/>
                  </a:lnTo>
                  <a:lnTo>
                    <a:pt x="251165" y="20958"/>
                  </a:lnTo>
                  <a:lnTo>
                    <a:pt x="301914" y="9526"/>
                  </a:lnTo>
                  <a:lnTo>
                    <a:pt x="355435" y="2434"/>
                  </a:lnTo>
                  <a:lnTo>
                    <a:pt x="411237" y="0"/>
                  </a:lnTo>
                  <a:lnTo>
                    <a:pt x="467040" y="2434"/>
                  </a:lnTo>
                  <a:lnTo>
                    <a:pt x="520561" y="9526"/>
                  </a:lnTo>
                  <a:lnTo>
                    <a:pt x="571310" y="20958"/>
                  </a:lnTo>
                  <a:lnTo>
                    <a:pt x="618797" y="36412"/>
                  </a:lnTo>
                  <a:lnTo>
                    <a:pt x="662533" y="55570"/>
                  </a:lnTo>
                  <a:lnTo>
                    <a:pt x="702026" y="78114"/>
                  </a:lnTo>
                  <a:lnTo>
                    <a:pt x="736789" y="103727"/>
                  </a:lnTo>
                  <a:lnTo>
                    <a:pt x="766329" y="132091"/>
                  </a:lnTo>
                  <a:lnTo>
                    <a:pt x="790158" y="162888"/>
                  </a:lnTo>
                  <a:lnTo>
                    <a:pt x="818721" y="230510"/>
                  </a:lnTo>
                  <a:lnTo>
                    <a:pt x="822475" y="266699"/>
                  </a:lnTo>
                  <a:lnTo>
                    <a:pt x="818721" y="302889"/>
                  </a:lnTo>
                  <a:lnTo>
                    <a:pt x="790158" y="370511"/>
                  </a:lnTo>
                  <a:lnTo>
                    <a:pt x="766329" y="401308"/>
                  </a:lnTo>
                  <a:lnTo>
                    <a:pt x="736789" y="429672"/>
                  </a:lnTo>
                  <a:lnTo>
                    <a:pt x="702026" y="455285"/>
                  </a:lnTo>
                  <a:lnTo>
                    <a:pt x="662533" y="477829"/>
                  </a:lnTo>
                  <a:lnTo>
                    <a:pt x="618797" y="496987"/>
                  </a:lnTo>
                  <a:lnTo>
                    <a:pt x="571310" y="512441"/>
                  </a:lnTo>
                  <a:lnTo>
                    <a:pt x="520561" y="523873"/>
                  </a:lnTo>
                  <a:lnTo>
                    <a:pt x="467040" y="530965"/>
                  </a:lnTo>
                  <a:lnTo>
                    <a:pt x="411237" y="533399"/>
                  </a:lnTo>
                  <a:lnTo>
                    <a:pt x="355435" y="530965"/>
                  </a:lnTo>
                  <a:lnTo>
                    <a:pt x="301914" y="523873"/>
                  </a:lnTo>
                  <a:lnTo>
                    <a:pt x="251165" y="512441"/>
                  </a:lnTo>
                  <a:lnTo>
                    <a:pt x="203678" y="496987"/>
                  </a:lnTo>
                  <a:lnTo>
                    <a:pt x="159942" y="477829"/>
                  </a:lnTo>
                  <a:lnTo>
                    <a:pt x="120448" y="455285"/>
                  </a:lnTo>
                  <a:lnTo>
                    <a:pt x="85686" y="429672"/>
                  </a:lnTo>
                  <a:lnTo>
                    <a:pt x="56146" y="401308"/>
                  </a:lnTo>
                  <a:lnTo>
                    <a:pt x="32317" y="370511"/>
                  </a:lnTo>
                  <a:lnTo>
                    <a:pt x="3754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85981" y="4786197"/>
              <a:ext cx="822960" cy="533400"/>
            </a:xfrm>
            <a:custGeom>
              <a:avLst/>
              <a:gdLst/>
              <a:ahLst/>
              <a:cxnLst/>
              <a:rect l="l" t="t" r="r" b="b"/>
              <a:pathLst>
                <a:path w="822960" h="533400">
                  <a:moveTo>
                    <a:pt x="0" y="266699"/>
                  </a:moveTo>
                  <a:lnTo>
                    <a:pt x="14689" y="195800"/>
                  </a:lnTo>
                  <a:lnTo>
                    <a:pt x="56146" y="132091"/>
                  </a:lnTo>
                  <a:lnTo>
                    <a:pt x="85686" y="103727"/>
                  </a:lnTo>
                  <a:lnTo>
                    <a:pt x="120448" y="78114"/>
                  </a:lnTo>
                  <a:lnTo>
                    <a:pt x="159942" y="55570"/>
                  </a:lnTo>
                  <a:lnTo>
                    <a:pt x="203678" y="36412"/>
                  </a:lnTo>
                  <a:lnTo>
                    <a:pt x="251165" y="20958"/>
                  </a:lnTo>
                  <a:lnTo>
                    <a:pt x="301914" y="9526"/>
                  </a:lnTo>
                  <a:lnTo>
                    <a:pt x="355435" y="2434"/>
                  </a:lnTo>
                  <a:lnTo>
                    <a:pt x="411238" y="0"/>
                  </a:lnTo>
                  <a:lnTo>
                    <a:pt x="467040" y="2434"/>
                  </a:lnTo>
                  <a:lnTo>
                    <a:pt x="520561" y="9526"/>
                  </a:lnTo>
                  <a:lnTo>
                    <a:pt x="571310" y="20958"/>
                  </a:lnTo>
                  <a:lnTo>
                    <a:pt x="618797" y="36412"/>
                  </a:lnTo>
                  <a:lnTo>
                    <a:pt x="662533" y="55570"/>
                  </a:lnTo>
                  <a:lnTo>
                    <a:pt x="702026" y="78114"/>
                  </a:lnTo>
                  <a:lnTo>
                    <a:pt x="736789" y="103727"/>
                  </a:lnTo>
                  <a:lnTo>
                    <a:pt x="766329" y="132091"/>
                  </a:lnTo>
                  <a:lnTo>
                    <a:pt x="790158" y="162888"/>
                  </a:lnTo>
                  <a:lnTo>
                    <a:pt x="818721" y="230510"/>
                  </a:lnTo>
                  <a:lnTo>
                    <a:pt x="822475" y="266699"/>
                  </a:lnTo>
                  <a:lnTo>
                    <a:pt x="818721" y="302889"/>
                  </a:lnTo>
                  <a:lnTo>
                    <a:pt x="790158" y="370511"/>
                  </a:lnTo>
                  <a:lnTo>
                    <a:pt x="766329" y="401308"/>
                  </a:lnTo>
                  <a:lnTo>
                    <a:pt x="736789" y="429672"/>
                  </a:lnTo>
                  <a:lnTo>
                    <a:pt x="702026" y="455285"/>
                  </a:lnTo>
                  <a:lnTo>
                    <a:pt x="662533" y="477829"/>
                  </a:lnTo>
                  <a:lnTo>
                    <a:pt x="618797" y="496987"/>
                  </a:lnTo>
                  <a:lnTo>
                    <a:pt x="571310" y="512441"/>
                  </a:lnTo>
                  <a:lnTo>
                    <a:pt x="520561" y="523873"/>
                  </a:lnTo>
                  <a:lnTo>
                    <a:pt x="467040" y="530965"/>
                  </a:lnTo>
                  <a:lnTo>
                    <a:pt x="411238" y="533399"/>
                  </a:lnTo>
                  <a:lnTo>
                    <a:pt x="355435" y="530965"/>
                  </a:lnTo>
                  <a:lnTo>
                    <a:pt x="301914" y="523873"/>
                  </a:lnTo>
                  <a:lnTo>
                    <a:pt x="251165" y="512441"/>
                  </a:lnTo>
                  <a:lnTo>
                    <a:pt x="203678" y="496987"/>
                  </a:lnTo>
                  <a:lnTo>
                    <a:pt x="159942" y="477829"/>
                  </a:lnTo>
                  <a:lnTo>
                    <a:pt x="120448" y="455285"/>
                  </a:lnTo>
                  <a:lnTo>
                    <a:pt x="85686" y="429672"/>
                  </a:lnTo>
                  <a:lnTo>
                    <a:pt x="56146" y="401308"/>
                  </a:lnTo>
                  <a:lnTo>
                    <a:pt x="32317" y="370511"/>
                  </a:lnTo>
                  <a:lnTo>
                    <a:pt x="3754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92495" y="5319598"/>
              <a:ext cx="880744" cy="152400"/>
            </a:xfrm>
            <a:custGeom>
              <a:avLst/>
              <a:gdLst/>
              <a:ahLst/>
              <a:cxnLst/>
              <a:rect l="l" t="t" r="r" b="b"/>
              <a:pathLst>
                <a:path w="880745" h="152400">
                  <a:moveTo>
                    <a:pt x="0" y="0"/>
                  </a:moveTo>
                  <a:lnTo>
                    <a:pt x="128587" y="56356"/>
                  </a:lnTo>
                  <a:lnTo>
                    <a:pt x="254793" y="104774"/>
                  </a:lnTo>
                  <a:lnTo>
                    <a:pt x="316706" y="124618"/>
                  </a:lnTo>
                  <a:lnTo>
                    <a:pt x="377031" y="139699"/>
                  </a:lnTo>
                  <a:lnTo>
                    <a:pt x="436562" y="149224"/>
                  </a:lnTo>
                  <a:lnTo>
                    <a:pt x="493712" y="152399"/>
                  </a:lnTo>
                  <a:lnTo>
                    <a:pt x="549274" y="149224"/>
                  </a:lnTo>
                  <a:lnTo>
                    <a:pt x="603249" y="139699"/>
                  </a:lnTo>
                  <a:lnTo>
                    <a:pt x="655637" y="124618"/>
                  </a:lnTo>
                  <a:lnTo>
                    <a:pt x="707231" y="104774"/>
                  </a:lnTo>
                  <a:lnTo>
                    <a:pt x="807243" y="56356"/>
                  </a:lnTo>
                  <a:lnTo>
                    <a:pt x="880126" y="1428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01698" y="5319598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5" h="80010">
                  <a:moveTo>
                    <a:pt x="95671" y="0"/>
                  </a:moveTo>
                  <a:lnTo>
                    <a:pt x="0" y="5734"/>
                  </a:lnTo>
                  <a:lnTo>
                    <a:pt x="42856" y="79976"/>
                  </a:lnTo>
                  <a:lnTo>
                    <a:pt x="95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79895" y="4786197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0"/>
                  </a:moveTo>
                  <a:lnTo>
                    <a:pt x="761999" y="0"/>
                  </a:lnTo>
                  <a:lnTo>
                    <a:pt x="761999" y="533399"/>
                  </a:lnTo>
                  <a:lnTo>
                    <a:pt x="0" y="533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329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254720" y="4771909"/>
            <a:ext cx="2530475" cy="714375"/>
            <a:chOff x="6254720" y="4771909"/>
            <a:chExt cx="2530475" cy="714375"/>
          </a:xfrm>
        </p:grpSpPr>
        <p:sp>
          <p:nvSpPr>
            <p:cNvPr id="29" name="object 29"/>
            <p:cNvSpPr/>
            <p:nvPr/>
          </p:nvSpPr>
          <p:spPr>
            <a:xfrm>
              <a:off x="6269008" y="4786197"/>
              <a:ext cx="834390" cy="533400"/>
            </a:xfrm>
            <a:custGeom>
              <a:avLst/>
              <a:gdLst/>
              <a:ahLst/>
              <a:cxnLst/>
              <a:rect l="l" t="t" r="r" b="b"/>
              <a:pathLst>
                <a:path w="834390" h="533400">
                  <a:moveTo>
                    <a:pt x="0" y="266699"/>
                  </a:moveTo>
                  <a:lnTo>
                    <a:pt x="14899" y="195800"/>
                  </a:lnTo>
                  <a:lnTo>
                    <a:pt x="56948" y="132091"/>
                  </a:lnTo>
                  <a:lnTo>
                    <a:pt x="86911" y="103727"/>
                  </a:lnTo>
                  <a:lnTo>
                    <a:pt x="122170" y="78114"/>
                  </a:lnTo>
                  <a:lnTo>
                    <a:pt x="162228" y="55570"/>
                  </a:lnTo>
                  <a:lnTo>
                    <a:pt x="206589" y="36412"/>
                  </a:lnTo>
                  <a:lnTo>
                    <a:pt x="254755" y="20958"/>
                  </a:lnTo>
                  <a:lnTo>
                    <a:pt x="306229" y="9526"/>
                  </a:lnTo>
                  <a:lnTo>
                    <a:pt x="360515" y="2434"/>
                  </a:lnTo>
                  <a:lnTo>
                    <a:pt x="417115" y="0"/>
                  </a:lnTo>
                  <a:lnTo>
                    <a:pt x="473716" y="2434"/>
                  </a:lnTo>
                  <a:lnTo>
                    <a:pt x="528001" y="9526"/>
                  </a:lnTo>
                  <a:lnTo>
                    <a:pt x="579476" y="20958"/>
                  </a:lnTo>
                  <a:lnTo>
                    <a:pt x="627642" y="36412"/>
                  </a:lnTo>
                  <a:lnTo>
                    <a:pt x="672002" y="55570"/>
                  </a:lnTo>
                  <a:lnTo>
                    <a:pt x="712061" y="78114"/>
                  </a:lnTo>
                  <a:lnTo>
                    <a:pt x="747320" y="103727"/>
                  </a:lnTo>
                  <a:lnTo>
                    <a:pt x="777283" y="132091"/>
                  </a:lnTo>
                  <a:lnTo>
                    <a:pt x="801452" y="162888"/>
                  </a:lnTo>
                  <a:lnTo>
                    <a:pt x="830423" y="230510"/>
                  </a:lnTo>
                  <a:lnTo>
                    <a:pt x="834231" y="266699"/>
                  </a:lnTo>
                  <a:lnTo>
                    <a:pt x="830423" y="302889"/>
                  </a:lnTo>
                  <a:lnTo>
                    <a:pt x="801452" y="370511"/>
                  </a:lnTo>
                  <a:lnTo>
                    <a:pt x="777283" y="401308"/>
                  </a:lnTo>
                  <a:lnTo>
                    <a:pt x="747320" y="429672"/>
                  </a:lnTo>
                  <a:lnTo>
                    <a:pt x="712061" y="455285"/>
                  </a:lnTo>
                  <a:lnTo>
                    <a:pt x="672002" y="477829"/>
                  </a:lnTo>
                  <a:lnTo>
                    <a:pt x="627642" y="496987"/>
                  </a:lnTo>
                  <a:lnTo>
                    <a:pt x="579476" y="512441"/>
                  </a:lnTo>
                  <a:lnTo>
                    <a:pt x="528001" y="523873"/>
                  </a:lnTo>
                  <a:lnTo>
                    <a:pt x="473716" y="530965"/>
                  </a:lnTo>
                  <a:lnTo>
                    <a:pt x="417115" y="533399"/>
                  </a:lnTo>
                  <a:lnTo>
                    <a:pt x="360515" y="530965"/>
                  </a:lnTo>
                  <a:lnTo>
                    <a:pt x="306229" y="523873"/>
                  </a:lnTo>
                  <a:lnTo>
                    <a:pt x="254755" y="512441"/>
                  </a:lnTo>
                  <a:lnTo>
                    <a:pt x="206589" y="496987"/>
                  </a:lnTo>
                  <a:lnTo>
                    <a:pt x="162228" y="477829"/>
                  </a:lnTo>
                  <a:lnTo>
                    <a:pt x="122170" y="455285"/>
                  </a:lnTo>
                  <a:lnTo>
                    <a:pt x="86911" y="429672"/>
                  </a:lnTo>
                  <a:lnTo>
                    <a:pt x="56948" y="401308"/>
                  </a:lnTo>
                  <a:lnTo>
                    <a:pt x="32779" y="370511"/>
                  </a:lnTo>
                  <a:lnTo>
                    <a:pt x="380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03239" y="4786197"/>
              <a:ext cx="834390" cy="533400"/>
            </a:xfrm>
            <a:custGeom>
              <a:avLst/>
              <a:gdLst/>
              <a:ahLst/>
              <a:cxnLst/>
              <a:rect l="l" t="t" r="r" b="b"/>
              <a:pathLst>
                <a:path w="834390" h="533400">
                  <a:moveTo>
                    <a:pt x="0" y="266699"/>
                  </a:moveTo>
                  <a:lnTo>
                    <a:pt x="14899" y="195800"/>
                  </a:lnTo>
                  <a:lnTo>
                    <a:pt x="56948" y="132091"/>
                  </a:lnTo>
                  <a:lnTo>
                    <a:pt x="86911" y="103727"/>
                  </a:lnTo>
                  <a:lnTo>
                    <a:pt x="122170" y="78114"/>
                  </a:lnTo>
                  <a:lnTo>
                    <a:pt x="162228" y="55570"/>
                  </a:lnTo>
                  <a:lnTo>
                    <a:pt x="206589" y="36412"/>
                  </a:lnTo>
                  <a:lnTo>
                    <a:pt x="254755" y="20958"/>
                  </a:lnTo>
                  <a:lnTo>
                    <a:pt x="306229" y="9526"/>
                  </a:lnTo>
                  <a:lnTo>
                    <a:pt x="360515" y="2434"/>
                  </a:lnTo>
                  <a:lnTo>
                    <a:pt x="417115" y="0"/>
                  </a:lnTo>
                  <a:lnTo>
                    <a:pt x="473715" y="2434"/>
                  </a:lnTo>
                  <a:lnTo>
                    <a:pt x="528001" y="9526"/>
                  </a:lnTo>
                  <a:lnTo>
                    <a:pt x="579476" y="20958"/>
                  </a:lnTo>
                  <a:lnTo>
                    <a:pt x="627642" y="36412"/>
                  </a:lnTo>
                  <a:lnTo>
                    <a:pt x="672003" y="55570"/>
                  </a:lnTo>
                  <a:lnTo>
                    <a:pt x="712061" y="78114"/>
                  </a:lnTo>
                  <a:lnTo>
                    <a:pt x="747320" y="103727"/>
                  </a:lnTo>
                  <a:lnTo>
                    <a:pt x="777283" y="132091"/>
                  </a:lnTo>
                  <a:lnTo>
                    <a:pt x="801452" y="162888"/>
                  </a:lnTo>
                  <a:lnTo>
                    <a:pt x="830424" y="230510"/>
                  </a:lnTo>
                  <a:lnTo>
                    <a:pt x="834231" y="266699"/>
                  </a:lnTo>
                  <a:lnTo>
                    <a:pt x="830424" y="302889"/>
                  </a:lnTo>
                  <a:lnTo>
                    <a:pt x="801452" y="370511"/>
                  </a:lnTo>
                  <a:lnTo>
                    <a:pt x="777283" y="401308"/>
                  </a:lnTo>
                  <a:lnTo>
                    <a:pt x="747320" y="429672"/>
                  </a:lnTo>
                  <a:lnTo>
                    <a:pt x="712061" y="455285"/>
                  </a:lnTo>
                  <a:lnTo>
                    <a:pt x="672003" y="477829"/>
                  </a:lnTo>
                  <a:lnTo>
                    <a:pt x="627642" y="496987"/>
                  </a:lnTo>
                  <a:lnTo>
                    <a:pt x="579476" y="512441"/>
                  </a:lnTo>
                  <a:lnTo>
                    <a:pt x="528001" y="523873"/>
                  </a:lnTo>
                  <a:lnTo>
                    <a:pt x="473715" y="530965"/>
                  </a:lnTo>
                  <a:lnTo>
                    <a:pt x="417115" y="533399"/>
                  </a:lnTo>
                  <a:lnTo>
                    <a:pt x="360515" y="530965"/>
                  </a:lnTo>
                  <a:lnTo>
                    <a:pt x="306229" y="523873"/>
                  </a:lnTo>
                  <a:lnTo>
                    <a:pt x="254755" y="512441"/>
                  </a:lnTo>
                  <a:lnTo>
                    <a:pt x="206589" y="496987"/>
                  </a:lnTo>
                  <a:lnTo>
                    <a:pt x="162228" y="477829"/>
                  </a:lnTo>
                  <a:lnTo>
                    <a:pt x="122170" y="455285"/>
                  </a:lnTo>
                  <a:lnTo>
                    <a:pt x="86911" y="429672"/>
                  </a:lnTo>
                  <a:lnTo>
                    <a:pt x="56948" y="401308"/>
                  </a:lnTo>
                  <a:lnTo>
                    <a:pt x="32779" y="370511"/>
                  </a:lnTo>
                  <a:lnTo>
                    <a:pt x="3807" y="302889"/>
                  </a:lnTo>
                  <a:lnTo>
                    <a:pt x="0" y="266699"/>
                  </a:lnTo>
                  <a:close/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86122" y="5319598"/>
              <a:ext cx="892810" cy="152400"/>
            </a:xfrm>
            <a:custGeom>
              <a:avLst/>
              <a:gdLst/>
              <a:ahLst/>
              <a:cxnLst/>
              <a:rect l="l" t="t" r="r" b="b"/>
              <a:pathLst>
                <a:path w="892809" h="152400">
                  <a:moveTo>
                    <a:pt x="0" y="0"/>
                  </a:moveTo>
                  <a:lnTo>
                    <a:pt x="130174" y="56356"/>
                  </a:lnTo>
                  <a:lnTo>
                    <a:pt x="257968" y="104774"/>
                  </a:lnTo>
                  <a:lnTo>
                    <a:pt x="320675" y="124618"/>
                  </a:lnTo>
                  <a:lnTo>
                    <a:pt x="382587" y="139699"/>
                  </a:lnTo>
                  <a:lnTo>
                    <a:pt x="442118" y="149224"/>
                  </a:lnTo>
                  <a:lnTo>
                    <a:pt x="500856" y="152399"/>
                  </a:lnTo>
                  <a:lnTo>
                    <a:pt x="557212" y="149224"/>
                  </a:lnTo>
                  <a:lnTo>
                    <a:pt x="611981" y="139699"/>
                  </a:lnTo>
                  <a:lnTo>
                    <a:pt x="665162" y="124618"/>
                  </a:lnTo>
                  <a:lnTo>
                    <a:pt x="716756" y="104774"/>
                  </a:lnTo>
                  <a:lnTo>
                    <a:pt x="818356" y="56356"/>
                  </a:lnTo>
                  <a:lnTo>
                    <a:pt x="892728" y="14112"/>
                  </a:lnTo>
                </a:path>
              </a:pathLst>
            </a:custGeom>
            <a:ln w="28574">
              <a:solidFill>
                <a:srgbClr val="B61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07989" y="5319598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4" h="80010">
                  <a:moveTo>
                    <a:pt x="95708" y="0"/>
                  </a:moveTo>
                  <a:lnTo>
                    <a:pt x="0" y="5068"/>
                  </a:lnTo>
                  <a:lnTo>
                    <a:pt x="42337" y="79608"/>
                  </a:lnTo>
                  <a:lnTo>
                    <a:pt x="95708" y="0"/>
                  </a:lnTo>
                  <a:close/>
                </a:path>
              </a:pathLst>
            </a:custGeom>
            <a:solidFill>
              <a:srgbClr val="B61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08908" y="4786197"/>
              <a:ext cx="762000" cy="533400"/>
            </a:xfrm>
            <a:custGeom>
              <a:avLst/>
              <a:gdLst/>
              <a:ahLst/>
              <a:cxnLst/>
              <a:rect l="l" t="t" r="r" b="b"/>
              <a:pathLst>
                <a:path w="762000" h="533400">
                  <a:moveTo>
                    <a:pt x="0" y="0"/>
                  </a:moveTo>
                  <a:lnTo>
                    <a:pt x="761999" y="0"/>
                  </a:lnTo>
                  <a:lnTo>
                    <a:pt x="761999" y="533399"/>
                  </a:lnTo>
                  <a:lnTo>
                    <a:pt x="0" y="533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848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17583" y="6203834"/>
            <a:ext cx="7924800" cy="609600"/>
          </a:xfrm>
          <a:prstGeom prst="rect">
            <a:avLst/>
          </a:prstGeom>
          <a:solidFill>
            <a:srgbClr val="FFD479"/>
          </a:solidFill>
        </p:spPr>
        <p:txBody>
          <a:bodyPr vert="horz" wrap="square" lIns="0" tIns="0" rIns="0" bIns="0" rtlCol="0">
            <a:spAutoFit/>
          </a:bodyPr>
          <a:lstStyle/>
          <a:p>
            <a:pPr marL="3040380" marR="591820" indent="-243522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peut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conclure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que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4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est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sérialisable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parce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15" dirty="0">
                <a:latin typeface="Arial"/>
                <a:cs typeface="Arial"/>
              </a:rPr>
              <a:t>qu</a:t>
            </a:r>
            <a:r>
              <a:rPr sz="2000" spc="-215" dirty="0">
                <a:latin typeface="MS PGothic"/>
                <a:cs typeface="MS PGothic"/>
              </a:rPr>
              <a:t>ʼ</a:t>
            </a:r>
            <a:r>
              <a:rPr sz="2000" b="1" spc="-215" dirty="0">
                <a:latin typeface="Arial"/>
                <a:cs typeface="Arial"/>
              </a:rPr>
              <a:t>il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est </a:t>
            </a:r>
            <a:r>
              <a:rPr sz="2000" b="1" dirty="0">
                <a:latin typeface="Arial"/>
                <a:cs typeface="Arial"/>
              </a:rPr>
              <a:t>équivalent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à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Arial"/>
                <a:cs typeface="Arial"/>
              </a:rPr>
              <a:t>S1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16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Conflit-sérialisable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17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69629"/>
            <a:ext cx="8275320" cy="42291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974725" indent="-342900">
              <a:lnSpc>
                <a:spcPts val="2100"/>
              </a:lnSpc>
              <a:spcBef>
                <a:spcPts val="42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Condition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suffisante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assurer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10" dirty="0">
                <a:latin typeface="Trebuchet MS"/>
                <a:cs typeface="Trebuchet MS"/>
              </a:rPr>
              <a:t>qu</a:t>
            </a:r>
            <a:r>
              <a:rPr sz="2000" spc="-210" dirty="0">
                <a:latin typeface="MS PGothic"/>
                <a:cs typeface="MS PGothic"/>
              </a:rPr>
              <a:t>ʼ</a:t>
            </a:r>
            <a:r>
              <a:rPr sz="2000" spc="-210" dirty="0">
                <a:latin typeface="Trebuchet MS"/>
                <a:cs typeface="Trebuchet MS"/>
              </a:rPr>
              <a:t>un</a:t>
            </a:r>
            <a:r>
              <a:rPr sz="2000" dirty="0">
                <a:latin typeface="Trebuchet MS"/>
                <a:cs typeface="Trebuchet MS"/>
              </a:rPr>
              <a:t> ordonnancement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est </a:t>
            </a:r>
            <a:r>
              <a:rPr sz="2000" spc="-10" dirty="0">
                <a:latin typeface="Trebuchet MS"/>
                <a:cs typeface="Trebuchet MS"/>
              </a:rPr>
              <a:t>sérialisable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spc="-10" dirty="0">
                <a:solidFill>
                  <a:srgbClr val="A50021"/>
                </a:solidFill>
                <a:latin typeface="Trebuchet MS"/>
                <a:cs typeface="Trebuchet MS"/>
              </a:rPr>
              <a:t>Conditions</a:t>
            </a:r>
            <a:endParaRPr sz="2000">
              <a:latin typeface="Trebuchet MS"/>
              <a:cs typeface="Trebuchet MS"/>
            </a:endParaRPr>
          </a:p>
          <a:p>
            <a:pPr marL="749300" marR="273050" lvl="1" indent="-279400">
              <a:lnSpc>
                <a:spcPct val="91900"/>
              </a:lnSpc>
              <a:spcBef>
                <a:spcPts val="350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35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ordonnancement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sont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50021"/>
                </a:solidFill>
                <a:latin typeface="Trebuchet MS"/>
                <a:cs typeface="Trebuchet MS"/>
              </a:rPr>
              <a:t>conflit-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équivalent</a:t>
            </a:r>
            <a:r>
              <a:rPr sz="1800" spc="-3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si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tous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les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peuvent </a:t>
            </a:r>
            <a:r>
              <a:rPr sz="1800" dirty="0">
                <a:latin typeface="Trebuchet MS"/>
                <a:cs typeface="Trebuchet MS"/>
              </a:rPr>
              <a:t>être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inter-</a:t>
            </a:r>
            <a:r>
              <a:rPr sz="1800" dirty="0">
                <a:latin typeface="Trebuchet MS"/>
                <a:cs typeface="Trebuchet MS"/>
              </a:rPr>
              <a:t>changés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35" dirty="0">
                <a:latin typeface="Trebuchet MS"/>
                <a:cs typeface="Trebuchet MS"/>
              </a:rPr>
              <a:t>l</a:t>
            </a:r>
            <a:r>
              <a:rPr sz="1800" spc="-235" dirty="0">
                <a:latin typeface="MS PGothic"/>
                <a:cs typeface="MS PGothic"/>
              </a:rPr>
              <a:t>ʼ</a:t>
            </a:r>
            <a:r>
              <a:rPr sz="1800" spc="-235" dirty="0">
                <a:latin typeface="Trebuchet MS"/>
                <a:cs typeface="Trebuchet MS"/>
              </a:rPr>
              <a:t>un</a:t>
            </a:r>
            <a:r>
              <a:rPr sz="1800" dirty="0">
                <a:latin typeface="Trebuchet MS"/>
                <a:cs typeface="Trebuchet MS"/>
              </a:rPr>
              <a:t> par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40" dirty="0">
                <a:latin typeface="Trebuchet MS"/>
                <a:cs typeface="Trebuchet MS"/>
              </a:rPr>
              <a:t>l</a:t>
            </a:r>
            <a:r>
              <a:rPr sz="1800" spc="-140" dirty="0">
                <a:latin typeface="MS PGothic"/>
                <a:cs typeface="MS PGothic"/>
              </a:rPr>
              <a:t>ʼ</a:t>
            </a:r>
            <a:r>
              <a:rPr sz="1800" spc="-140" dirty="0">
                <a:latin typeface="Trebuchet MS"/>
                <a:cs typeface="Trebuchet MS"/>
              </a:rPr>
              <a:t>autre</a:t>
            </a:r>
            <a:r>
              <a:rPr sz="1800" dirty="0">
                <a:latin typeface="Trebuchet MS"/>
                <a:cs typeface="Trebuchet MS"/>
              </a:rPr>
              <a:t> par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séquence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des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échanges </a:t>
            </a:r>
            <a:r>
              <a:rPr sz="1800" spc="-85" dirty="0">
                <a:solidFill>
                  <a:srgbClr val="A50021"/>
                </a:solidFill>
                <a:latin typeface="Trebuchet MS"/>
                <a:cs typeface="Trebuchet MS"/>
              </a:rPr>
              <a:t>d</a:t>
            </a:r>
            <a:r>
              <a:rPr sz="1800" spc="-85" dirty="0">
                <a:solidFill>
                  <a:srgbClr val="B6192B"/>
                </a:solidFill>
                <a:latin typeface="MS PGothic"/>
                <a:cs typeface="MS PGothic"/>
              </a:rPr>
              <a:t>ʼ</a:t>
            </a:r>
            <a:r>
              <a:rPr sz="1800" spc="-85" dirty="0">
                <a:solidFill>
                  <a:srgbClr val="A50021"/>
                </a:solidFill>
                <a:latin typeface="Trebuchet MS"/>
                <a:cs typeface="Trebuchet MS"/>
              </a:rPr>
              <a:t>opérations</a:t>
            </a:r>
            <a:r>
              <a:rPr sz="1800" spc="-2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NON</a:t>
            </a:r>
            <a:r>
              <a:rPr sz="1800" spc="-1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50021"/>
                </a:solidFill>
                <a:latin typeface="Trebuchet MS"/>
                <a:cs typeface="Trebuchet MS"/>
              </a:rPr>
              <a:t>conflictuelles</a:t>
            </a:r>
            <a:r>
              <a:rPr sz="1800" spc="-1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50021"/>
                </a:solidFill>
                <a:latin typeface="Trebuchet MS"/>
                <a:cs typeface="Trebuchet MS"/>
              </a:rPr>
              <a:t>adjacentes</a:t>
            </a:r>
            <a:endParaRPr sz="1800">
              <a:latin typeface="Trebuchet MS"/>
              <a:cs typeface="Trebuchet MS"/>
            </a:endParaRPr>
          </a:p>
          <a:p>
            <a:pPr marL="749300" marR="590550" lvl="1" indent="-279400">
              <a:lnSpc>
                <a:spcPts val="1970"/>
              </a:lnSpc>
              <a:spcBef>
                <a:spcPts val="395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35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Trebuchet MS"/>
                <a:cs typeface="Trebuchet MS"/>
              </a:rPr>
              <a:t>Deux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opérations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même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transaction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peuvent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pas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être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inter- changées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770"/>
              </a:spcBef>
              <a:buClr>
                <a:srgbClr val="CC3300"/>
              </a:buClr>
              <a:buFont typeface="Wingdings"/>
              <a:buChar char=""/>
            </a:pP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Conflits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: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T1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T2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s'intéressent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même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objet.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0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ts val="212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  <a:tab pos="6031865" algn="l"/>
              </a:tabLst>
            </a:pP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objet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seules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opérations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lire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écrire</a:t>
            </a:r>
            <a:r>
              <a:rPr sz="2000" dirty="0">
                <a:latin typeface="Trebuchet MS"/>
                <a:cs typeface="Trebuchet MS"/>
              </a:rPr>
              <a:t>	sont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permises.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Cela </a:t>
            </a:r>
            <a:r>
              <a:rPr sz="2000" dirty="0">
                <a:latin typeface="Trebuchet MS"/>
                <a:cs typeface="Trebuchet MS"/>
              </a:rPr>
              <a:t>donne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816320" y="6192083"/>
          <a:ext cx="2602865" cy="701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3275"/>
                <a:gridCol w="865505"/>
                <a:gridCol w="576580"/>
                <a:gridCol w="357505"/>
              </a:tblGrid>
              <a:tr h="2559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solidFill>
                            <a:srgbClr val="CC6600"/>
                          </a:solidFill>
                          <a:latin typeface="Arial MT"/>
                          <a:cs typeface="Arial MT"/>
                        </a:rPr>
                        <a:t>Lire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200" spc="-10" dirty="0">
                          <a:solidFill>
                            <a:srgbClr val="CC6600"/>
                          </a:solidFill>
                          <a:latin typeface="Arial MT"/>
                          <a:cs typeface="Arial MT"/>
                        </a:rPr>
                        <a:t>Écrire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045">
                <a:tc>
                  <a:txBody>
                    <a:bodyPr/>
                    <a:lstStyle/>
                    <a:p>
                      <a:pPr marL="41910">
                        <a:lnSpc>
                          <a:spcPts val="705"/>
                        </a:lnSpc>
                      </a:pPr>
                      <a:r>
                        <a:rPr sz="1200" spc="-20" dirty="0">
                          <a:solidFill>
                            <a:srgbClr val="CC6600"/>
                          </a:solidFill>
                          <a:latin typeface="Arial MT"/>
                          <a:cs typeface="Arial MT"/>
                        </a:rPr>
                        <a:t>Lire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41910">
                        <a:lnSpc>
                          <a:spcPts val="1035"/>
                        </a:lnSpc>
                      </a:pPr>
                      <a:r>
                        <a:rPr sz="1200" spc="-10" dirty="0">
                          <a:solidFill>
                            <a:srgbClr val="CC6600"/>
                          </a:solidFill>
                          <a:latin typeface="Arial MT"/>
                          <a:cs typeface="Arial MT"/>
                        </a:rPr>
                        <a:t>Écrire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125">
                        <a:lnSpc>
                          <a:spcPts val="1105"/>
                        </a:lnSpc>
                        <a:spcBef>
                          <a:spcPts val="635"/>
                        </a:spcBef>
                      </a:pPr>
                      <a:r>
                        <a:rPr sz="1200" spc="-50" dirty="0">
                          <a:solidFill>
                            <a:srgbClr val="FF3300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705"/>
                        </a:lnSpc>
                      </a:pPr>
                      <a:r>
                        <a:rPr sz="1200" spc="-50" dirty="0">
                          <a:solidFill>
                            <a:srgbClr val="FF3300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87020">
                        <a:lnSpc>
                          <a:spcPts val="1035"/>
                        </a:lnSpc>
                      </a:pPr>
                      <a:r>
                        <a:rPr sz="1200" spc="-50" dirty="0">
                          <a:solidFill>
                            <a:srgbClr val="FF3300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250"/>
                        </a:lnSpc>
                      </a:pPr>
                      <a:r>
                        <a:rPr sz="1200" spc="-10" dirty="0">
                          <a:solidFill>
                            <a:srgbClr val="FF3300"/>
                          </a:solidFill>
                          <a:latin typeface="Arial MT"/>
                          <a:cs typeface="Arial MT"/>
                        </a:rPr>
                        <a:t>X=conflit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Conflit-sérialisable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2958" y="5835534"/>
            <a:ext cx="8839200" cy="669925"/>
          </a:xfrm>
          <a:prstGeom prst="rect">
            <a:avLst/>
          </a:prstGeom>
          <a:solidFill>
            <a:srgbClr val="FFD479"/>
          </a:solidFill>
        </p:spPr>
        <p:txBody>
          <a:bodyPr vert="horz" wrap="square" lIns="0" tIns="0" rIns="0" bIns="0" rtlCol="0">
            <a:spAutoFit/>
          </a:bodyPr>
          <a:lstStyle/>
          <a:p>
            <a:pPr marL="957580">
              <a:lnSpc>
                <a:spcPct val="100000"/>
              </a:lnSpc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On</a:t>
            </a:r>
            <a:r>
              <a:rPr sz="2000" b="1" spc="-6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peut</a:t>
            </a:r>
            <a:r>
              <a:rPr sz="20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conclure</a:t>
            </a:r>
            <a:r>
              <a:rPr sz="20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220" dirty="0">
                <a:solidFill>
                  <a:srgbClr val="CC6600"/>
                </a:solidFill>
                <a:latin typeface="Arial"/>
                <a:cs typeface="Arial"/>
              </a:rPr>
              <a:t>qu</a:t>
            </a:r>
            <a:r>
              <a:rPr sz="2000" spc="-220" dirty="0">
                <a:solidFill>
                  <a:srgbClr val="D77A00"/>
                </a:solidFill>
                <a:latin typeface="MS PGothic"/>
                <a:cs typeface="MS PGothic"/>
              </a:rPr>
              <a:t>ʼ</a:t>
            </a:r>
            <a:r>
              <a:rPr sz="2000" b="1" spc="-220" dirty="0">
                <a:solidFill>
                  <a:srgbClr val="CC6600"/>
                </a:solidFill>
                <a:latin typeface="Arial"/>
                <a:cs typeface="Arial"/>
              </a:rPr>
              <a:t>un</a:t>
            </a:r>
            <a:r>
              <a:rPr sz="2000" b="1" spc="-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ordonnancement</a:t>
            </a:r>
            <a:r>
              <a:rPr sz="20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est</a:t>
            </a:r>
            <a:r>
              <a:rPr sz="20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sérialisable</a:t>
            </a:r>
            <a:endParaRPr sz="2000">
              <a:latin typeface="Arial"/>
              <a:cs typeface="Arial"/>
            </a:endParaRPr>
          </a:p>
          <a:p>
            <a:pPr marL="887094">
              <a:lnSpc>
                <a:spcPts val="2395"/>
              </a:lnSpc>
              <a:spcBef>
                <a:spcPts val="480"/>
              </a:spcBef>
            </a:pPr>
            <a:r>
              <a:rPr sz="2000" b="1" spc="-254" dirty="0">
                <a:solidFill>
                  <a:srgbClr val="CC6600"/>
                </a:solidFill>
                <a:latin typeface="Arial"/>
                <a:cs typeface="Arial"/>
              </a:rPr>
              <a:t>s</a:t>
            </a:r>
            <a:r>
              <a:rPr sz="2000" spc="-254" dirty="0">
                <a:solidFill>
                  <a:srgbClr val="D77A00"/>
                </a:solidFill>
                <a:latin typeface="MS PGothic"/>
                <a:cs typeface="MS PGothic"/>
              </a:rPr>
              <a:t>ʼ</a:t>
            </a:r>
            <a:r>
              <a:rPr sz="2000" b="1" spc="-254" dirty="0">
                <a:solidFill>
                  <a:srgbClr val="CC6600"/>
                </a:solidFill>
                <a:latin typeface="Arial"/>
                <a:cs typeface="Arial"/>
              </a:rPr>
              <a:t>il</a:t>
            </a:r>
            <a:r>
              <a:rPr sz="2000" b="1" spc="-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est</a:t>
            </a:r>
            <a:r>
              <a:rPr sz="2000" b="1" spc="-5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conflit-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équivalent</a:t>
            </a:r>
            <a:r>
              <a:rPr sz="20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à</a:t>
            </a:r>
            <a:r>
              <a:rPr sz="20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un</a:t>
            </a:r>
            <a:r>
              <a:rPr sz="2000" b="1" spc="-25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ordonnancement</a:t>
            </a:r>
            <a:r>
              <a:rPr sz="2000" b="1" spc="-3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séquentiel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54595" y="2468447"/>
            <a:ext cx="790575" cy="396875"/>
            <a:chOff x="5254595" y="2468447"/>
            <a:chExt cx="790575" cy="396875"/>
          </a:xfrm>
        </p:grpSpPr>
        <p:sp>
          <p:nvSpPr>
            <p:cNvPr id="10" name="object 10"/>
            <p:cNvSpPr/>
            <p:nvPr/>
          </p:nvSpPr>
          <p:spPr>
            <a:xfrm>
              <a:off x="5294441" y="24827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736441" y="0"/>
                  </a:moveTo>
                  <a:lnTo>
                    <a:pt x="0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8883" y="27870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57505" y="0"/>
                  </a:moveTo>
                  <a:lnTo>
                    <a:pt x="0" y="76673"/>
                  </a:lnTo>
                  <a:lnTo>
                    <a:pt x="95843" y="76673"/>
                  </a:lnTo>
                  <a:lnTo>
                    <a:pt x="5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68883" y="24827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0" y="0"/>
                  </a:moveTo>
                  <a:lnTo>
                    <a:pt x="736441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35038" y="27870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38337" y="0"/>
                  </a:moveTo>
                  <a:lnTo>
                    <a:pt x="0" y="76673"/>
                  </a:lnTo>
                  <a:lnTo>
                    <a:pt x="95844" y="76673"/>
                  </a:lnTo>
                  <a:lnTo>
                    <a:pt x="38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49683" y="3154247"/>
            <a:ext cx="1524000" cy="447675"/>
            <a:chOff x="4049683" y="3154247"/>
            <a:chExt cx="1524000" cy="447675"/>
          </a:xfrm>
        </p:grpSpPr>
        <p:sp>
          <p:nvSpPr>
            <p:cNvPr id="15" name="object 15"/>
            <p:cNvSpPr/>
            <p:nvPr/>
          </p:nvSpPr>
          <p:spPr>
            <a:xfrm>
              <a:off x="4456241" y="32193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736441" y="0"/>
                  </a:moveTo>
                  <a:lnTo>
                    <a:pt x="0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30683" y="35236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57505" y="0"/>
                  </a:moveTo>
                  <a:lnTo>
                    <a:pt x="0" y="76673"/>
                  </a:lnTo>
                  <a:lnTo>
                    <a:pt x="95843" y="76673"/>
                  </a:lnTo>
                  <a:lnTo>
                    <a:pt x="5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30682" y="32193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0" y="0"/>
                  </a:moveTo>
                  <a:lnTo>
                    <a:pt x="736441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6838" y="35236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38337" y="0"/>
                  </a:moveTo>
                  <a:lnTo>
                    <a:pt x="0" y="76673"/>
                  </a:lnTo>
                  <a:lnTo>
                    <a:pt x="95844" y="76673"/>
                  </a:lnTo>
                  <a:lnTo>
                    <a:pt x="38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49683" y="3168534"/>
              <a:ext cx="1524000" cy="0"/>
            </a:xfrm>
            <a:custGeom>
              <a:avLst/>
              <a:gdLst/>
              <a:ahLst/>
              <a:cxnLst/>
              <a:rect l="l" t="t" r="r" b="b"/>
              <a:pathLst>
                <a:path w="1524000">
                  <a:moveTo>
                    <a:pt x="0" y="0"/>
                  </a:moveTo>
                  <a:lnTo>
                    <a:pt x="1523999" y="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168995" y="3916247"/>
            <a:ext cx="790575" cy="396875"/>
            <a:chOff x="6168995" y="3916247"/>
            <a:chExt cx="790575" cy="396875"/>
          </a:xfrm>
        </p:grpSpPr>
        <p:sp>
          <p:nvSpPr>
            <p:cNvPr id="21" name="object 21"/>
            <p:cNvSpPr/>
            <p:nvPr/>
          </p:nvSpPr>
          <p:spPr>
            <a:xfrm>
              <a:off x="6208842" y="39305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736441" y="0"/>
                  </a:moveTo>
                  <a:lnTo>
                    <a:pt x="0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3283" y="42348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57505" y="0"/>
                  </a:moveTo>
                  <a:lnTo>
                    <a:pt x="0" y="76673"/>
                  </a:lnTo>
                  <a:lnTo>
                    <a:pt x="95843" y="76673"/>
                  </a:lnTo>
                  <a:lnTo>
                    <a:pt x="5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83283" y="39305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0" y="0"/>
                  </a:moveTo>
                  <a:lnTo>
                    <a:pt x="736441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49438" y="4234860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4" h="76835">
                  <a:moveTo>
                    <a:pt x="38337" y="0"/>
                  </a:moveTo>
                  <a:lnTo>
                    <a:pt x="0" y="76673"/>
                  </a:lnTo>
                  <a:lnTo>
                    <a:pt x="95843" y="76673"/>
                  </a:lnTo>
                  <a:lnTo>
                    <a:pt x="38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254595" y="4665547"/>
            <a:ext cx="790575" cy="396875"/>
            <a:chOff x="5254595" y="4665547"/>
            <a:chExt cx="790575" cy="396875"/>
          </a:xfrm>
        </p:grpSpPr>
        <p:sp>
          <p:nvSpPr>
            <p:cNvPr id="26" name="object 26"/>
            <p:cNvSpPr/>
            <p:nvPr/>
          </p:nvSpPr>
          <p:spPr>
            <a:xfrm>
              <a:off x="5294441" y="46798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736441" y="0"/>
                  </a:moveTo>
                  <a:lnTo>
                    <a:pt x="0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68883" y="4984159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57505" y="0"/>
                  </a:moveTo>
                  <a:lnTo>
                    <a:pt x="0" y="76674"/>
                  </a:lnTo>
                  <a:lnTo>
                    <a:pt x="95843" y="76674"/>
                  </a:lnTo>
                  <a:lnTo>
                    <a:pt x="57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68883" y="4679834"/>
              <a:ext cx="736600" cy="368300"/>
            </a:xfrm>
            <a:custGeom>
              <a:avLst/>
              <a:gdLst/>
              <a:ahLst/>
              <a:cxnLst/>
              <a:rect l="l" t="t" r="r" b="b"/>
              <a:pathLst>
                <a:path w="736600" h="368300">
                  <a:moveTo>
                    <a:pt x="0" y="0"/>
                  </a:moveTo>
                  <a:lnTo>
                    <a:pt x="736441" y="36822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35038" y="4984159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38337" y="0"/>
                  </a:moveTo>
                  <a:lnTo>
                    <a:pt x="0" y="76674"/>
                  </a:lnTo>
                  <a:lnTo>
                    <a:pt x="95844" y="76674"/>
                  </a:lnTo>
                  <a:lnTo>
                    <a:pt x="383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674783" y="2136659"/>
            <a:ext cx="7113270" cy="323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5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E1(A);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L2(A);</a:t>
            </a:r>
            <a:r>
              <a:rPr sz="2000" b="1" spc="-5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E2(A);</a:t>
            </a:r>
            <a:r>
              <a:rPr sz="2000" b="1" u="sng" spc="-45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L1(B);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L2(B);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E2(B)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2000">
              <a:latin typeface="Arial"/>
              <a:cs typeface="Arial"/>
            </a:endParaRPr>
          </a:p>
          <a:p>
            <a:pPr marL="101600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01600" algn="l"/>
              </a:tabLst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5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E1(A);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L2(A);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E2(A);</a:t>
            </a:r>
            <a:r>
              <a:rPr sz="2000" b="1" spc="-45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L2(B);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E2(B)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CC6600"/>
              </a:buClr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165100" lvl="1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65100" algn="l"/>
              </a:tabLst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5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L1(B);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L2(A);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2000" b="1" u="sng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2(A);</a:t>
            </a:r>
            <a:r>
              <a:rPr sz="2000" b="1" u="sng" spc="-45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L2(B);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E2(B)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640"/>
              </a:spcBef>
              <a:buClr>
                <a:srgbClr val="CC6600"/>
              </a:buClr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165100" lvl="1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65100" algn="l"/>
              </a:tabLst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5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L1(B);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L2(A);</a:t>
            </a:r>
            <a:r>
              <a:rPr sz="2000" b="1" u="sng" spc="-45" dirty="0">
                <a:solidFill>
                  <a:srgbClr val="000066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000" b="1" u="sng" dirty="0">
                <a:solidFill>
                  <a:srgbClr val="A5002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E2(A);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L2(B);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E2(B)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300"/>
              </a:spcBef>
              <a:buClr>
                <a:srgbClr val="CC6600"/>
              </a:buClr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165100" lvl="1" indent="-97155">
              <a:lnSpc>
                <a:spcPct val="100000"/>
              </a:lnSpc>
              <a:buSzPct val="95000"/>
              <a:buFont typeface="Arial MT"/>
              <a:buChar char="•"/>
              <a:tabLst>
                <a:tab pos="165100" algn="l"/>
              </a:tabLst>
            </a:pPr>
            <a:r>
              <a:rPr sz="2000" b="1" dirty="0">
                <a:solidFill>
                  <a:srgbClr val="CC6600"/>
                </a:solidFill>
                <a:latin typeface="Arial"/>
                <a:cs typeface="Arial"/>
              </a:rPr>
              <a:t>S3</a:t>
            </a:r>
            <a:r>
              <a:rPr sz="2000" b="1" spc="-50" dirty="0">
                <a:solidFill>
                  <a:srgbClr val="CC66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E1(A);</a:t>
            </a:r>
            <a:r>
              <a:rPr sz="2000" b="1" spc="-5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L1(B);</a:t>
            </a:r>
            <a:r>
              <a:rPr sz="2000" b="1" spc="-5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A50021"/>
                </a:solidFill>
                <a:latin typeface="Arial"/>
                <a:cs typeface="Arial"/>
              </a:rPr>
              <a:t>E1(B);</a:t>
            </a:r>
            <a:r>
              <a:rPr sz="2000" b="1" spc="-45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L2(A);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E2(A);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66"/>
                </a:solidFill>
                <a:latin typeface="Arial"/>
                <a:cs typeface="Arial"/>
              </a:rPr>
              <a:t>L2(B);</a:t>
            </a:r>
            <a:r>
              <a:rPr sz="2000" b="1" spc="-50" dirty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66"/>
                </a:solidFill>
                <a:latin typeface="Arial"/>
                <a:cs typeface="Arial"/>
              </a:rPr>
              <a:t>E2(B)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18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Exercice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32037"/>
            <a:ext cx="6967220" cy="13277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Cet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ordonnancement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est-</a:t>
            </a:r>
            <a:r>
              <a:rPr sz="2400" dirty="0">
                <a:latin typeface="Trebuchet MS"/>
                <a:cs typeface="Trebuchet MS"/>
              </a:rPr>
              <a:t>il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sérialisable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Dans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cet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exercice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r=L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w=E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1723" y="3131384"/>
            <a:ext cx="8329930" cy="396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35"/>
              </a:lnSpc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r2(y)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r1(x)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w2(z)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w1(x)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r3(y)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r3(x)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2400" dirty="0">
                <a:latin typeface="Trebuchet MS"/>
                <a:cs typeface="Trebuchet MS"/>
              </a:rPr>
              <a:t>S4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r2(y)</a:t>
            </a:r>
            <a:r>
              <a:rPr sz="2400" spc="-5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w2(z)</a:t>
            </a:r>
            <a:r>
              <a:rPr sz="2400" spc="-55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00CC"/>
                </a:solidFill>
                <a:latin typeface="Trebuchet MS"/>
                <a:cs typeface="Trebuchet MS"/>
              </a:rPr>
              <a:t>r1(x)</a:t>
            </a:r>
            <a:r>
              <a:rPr sz="2400" spc="-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00CC"/>
                </a:solidFill>
                <a:latin typeface="Trebuchet MS"/>
                <a:cs typeface="Trebuchet MS"/>
              </a:rPr>
              <a:t>w1(y)</a:t>
            </a:r>
            <a:r>
              <a:rPr sz="2400" spc="-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00CC"/>
                </a:solidFill>
                <a:latin typeface="Trebuchet MS"/>
                <a:cs typeface="Trebuchet MS"/>
              </a:rPr>
              <a:t>w1(x)</a:t>
            </a:r>
            <a:r>
              <a:rPr sz="2400" spc="-50" dirty="0">
                <a:solidFill>
                  <a:srgbClr val="0000C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r3(y)</a:t>
            </a:r>
            <a:r>
              <a:rPr sz="2400" spc="-45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A50021"/>
                </a:solidFill>
                <a:latin typeface="Trebuchet MS"/>
                <a:cs typeface="Trebuchet MS"/>
              </a:rPr>
              <a:t>r3(x)</a:t>
            </a:r>
            <a:r>
              <a:rPr sz="2400" spc="-50" dirty="0">
                <a:solidFill>
                  <a:srgbClr val="A50021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A50021"/>
                </a:solidFill>
                <a:latin typeface="Trebuchet MS"/>
                <a:cs typeface="Trebuchet MS"/>
              </a:rPr>
              <a:t>w3(z)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400">
              <a:latin typeface="Trebuchet MS"/>
              <a:cs typeface="Trebuchet MS"/>
            </a:endParaRPr>
          </a:p>
          <a:p>
            <a:pPr algn="r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19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23908" y="3130434"/>
            <a:ext cx="8893175" cy="3961129"/>
          </a:xfrm>
          <a:custGeom>
            <a:avLst/>
            <a:gdLst/>
            <a:ahLst/>
            <a:cxnLst/>
            <a:rect l="l" t="t" r="r" b="b"/>
            <a:pathLst>
              <a:path w="8893175" h="3961129">
                <a:moveTo>
                  <a:pt x="8893173" y="0"/>
                </a:moveTo>
                <a:lnTo>
                  <a:pt x="0" y="0"/>
                </a:lnTo>
                <a:lnTo>
                  <a:pt x="0" y="3960812"/>
                </a:lnTo>
                <a:lnTo>
                  <a:pt x="8893173" y="3960812"/>
                </a:lnTo>
                <a:lnTo>
                  <a:pt x="889317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20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Graphes</a:t>
            </a:r>
            <a:r>
              <a:rPr sz="4000" spc="-8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4000" spc="-8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dépendance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223" y="1806143"/>
            <a:ext cx="8671560" cy="437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indent="-411480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67500"/>
              <a:buFont typeface="Wingdings"/>
              <a:buChar char=""/>
              <a:tabLst>
                <a:tab pos="424180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Test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pour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vérifier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si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un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ordonnancement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est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conflit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-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sérialisable</a:t>
            </a:r>
            <a:endParaRPr sz="2000">
              <a:latin typeface="Trebuchet MS"/>
              <a:cs typeface="Trebuchet MS"/>
            </a:endParaRPr>
          </a:p>
          <a:p>
            <a:pPr marL="354965" marR="5080" indent="-342900">
              <a:lnSpc>
                <a:spcPct val="98800"/>
              </a:lnSpc>
              <a:spcBef>
                <a:spcPts val="185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chaque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ordonnancement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S,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définit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relation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précédence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entre </a:t>
            </a:r>
            <a:r>
              <a:rPr sz="1800" b="1" dirty="0">
                <a:latin typeface="Trebuchet MS"/>
                <a:cs typeface="Trebuchet MS"/>
              </a:rPr>
              <a:t>les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indique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précédence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dans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temps,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d'actions </a:t>
            </a:r>
            <a:r>
              <a:rPr sz="1800" b="1" dirty="0">
                <a:latin typeface="Trebuchet MS"/>
                <a:cs typeface="Trebuchet MS"/>
              </a:rPr>
              <a:t>conflictuelles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même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objet</a:t>
            </a:r>
            <a:endParaRPr sz="1800">
              <a:latin typeface="Trebuchet MS"/>
              <a:cs typeface="Trebuchet MS"/>
            </a:endParaRPr>
          </a:p>
          <a:p>
            <a:pPr marL="424180" indent="-411480">
              <a:lnSpc>
                <a:spcPct val="100000"/>
              </a:lnSpc>
              <a:spcBef>
                <a:spcPts val="47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424180" algn="l"/>
              </a:tabLst>
            </a:pP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Si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le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graphe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est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acyclique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CC6600"/>
                </a:solidFill>
                <a:latin typeface="Trebuchet MS"/>
                <a:cs typeface="Trebuchet MS"/>
              </a:rPr>
              <a:t>l</a:t>
            </a:r>
            <a:r>
              <a:rPr sz="1800" spc="-70" dirty="0">
                <a:solidFill>
                  <a:srgbClr val="D77A00"/>
                </a:solidFill>
                <a:latin typeface="MS PGothic"/>
                <a:cs typeface="MS PGothic"/>
              </a:rPr>
              <a:t>ʼ</a:t>
            </a:r>
            <a:r>
              <a:rPr sz="1800" b="1" spc="-70" dirty="0">
                <a:solidFill>
                  <a:srgbClr val="CC6600"/>
                </a:solidFill>
                <a:latin typeface="Trebuchet MS"/>
                <a:cs typeface="Trebuchet MS"/>
              </a:rPr>
              <a:t>ordonnancement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est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conflit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-</a:t>
            </a:r>
            <a:r>
              <a:rPr sz="18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C6600"/>
                </a:solidFill>
                <a:latin typeface="Trebuchet MS"/>
                <a:cs typeface="Trebuchet MS"/>
              </a:rPr>
              <a:t>sérialisable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94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construire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graphe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824230" lvl="1" indent="-354965">
              <a:lnSpc>
                <a:spcPct val="100000"/>
              </a:lnSpc>
              <a:spcBef>
                <a:spcPts val="439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824230" algn="l"/>
              </a:tabLst>
            </a:pPr>
            <a:r>
              <a:rPr sz="1800" b="1" dirty="0">
                <a:latin typeface="Trebuchet MS"/>
                <a:cs typeface="Trebuchet MS"/>
              </a:rPr>
              <a:t>les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sommets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sont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transactions</a:t>
            </a:r>
            <a:endParaRPr sz="1800">
              <a:latin typeface="Trebuchet MS"/>
              <a:cs typeface="Trebuchet MS"/>
            </a:endParaRPr>
          </a:p>
          <a:p>
            <a:pPr marL="824230" lvl="1" indent="-354965">
              <a:lnSpc>
                <a:spcPct val="100000"/>
              </a:lnSpc>
              <a:spcBef>
                <a:spcPts val="439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824230" algn="l"/>
                <a:tab pos="8307070" algn="l"/>
              </a:tabLst>
            </a:pP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arête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l'ordonnancement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objet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25" dirty="0">
                <a:latin typeface="Trebuchet MS"/>
                <a:cs typeface="Trebuchet MS"/>
              </a:rPr>
              <a:t> est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1154430" lvl="2" indent="-227965">
              <a:lnSpc>
                <a:spcPct val="100000"/>
              </a:lnSpc>
              <a:spcBef>
                <a:spcPts val="390"/>
              </a:spcBef>
              <a:buClr>
                <a:srgbClr val="FFCC00"/>
              </a:buClr>
              <a:buSzPct val="62500"/>
              <a:buFont typeface="Wingdings"/>
              <a:buChar char=""/>
              <a:tabLst>
                <a:tab pos="1154430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Écrit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puis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Écrit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Tj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ou</a:t>
            </a:r>
            <a:endParaRPr sz="1600">
              <a:latin typeface="Trebuchet MS"/>
              <a:cs typeface="Trebuchet MS"/>
            </a:endParaRPr>
          </a:p>
          <a:p>
            <a:pPr marL="1154430" lvl="2" indent="-227965">
              <a:lnSpc>
                <a:spcPct val="100000"/>
              </a:lnSpc>
              <a:spcBef>
                <a:spcPts val="380"/>
              </a:spcBef>
              <a:buClr>
                <a:srgbClr val="FFCC00"/>
              </a:buClr>
              <a:buSzPct val="62500"/>
              <a:buFont typeface="Wingdings"/>
              <a:buChar char=""/>
              <a:tabLst>
                <a:tab pos="1154430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Écrit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puis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lu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Tj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ou</a:t>
            </a:r>
            <a:endParaRPr sz="1600">
              <a:latin typeface="Trebuchet MS"/>
              <a:cs typeface="Trebuchet MS"/>
            </a:endParaRPr>
          </a:p>
          <a:p>
            <a:pPr marL="1154430" lvl="2" indent="-227965">
              <a:lnSpc>
                <a:spcPct val="100000"/>
              </a:lnSpc>
              <a:spcBef>
                <a:spcPts val="380"/>
              </a:spcBef>
              <a:buClr>
                <a:srgbClr val="FFCC00"/>
              </a:buClr>
              <a:buSzPct val="62500"/>
              <a:buFont typeface="Wingdings"/>
              <a:buChar char=""/>
              <a:tabLst>
                <a:tab pos="1154430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Lu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puis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Écrit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6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Tj</a:t>
            </a:r>
            <a:endParaRPr sz="1600">
              <a:latin typeface="Trebuchet MS"/>
              <a:cs typeface="Trebuchet MS"/>
            </a:endParaRPr>
          </a:p>
          <a:p>
            <a:pPr marL="748665" marR="131445" lvl="1" indent="-279400">
              <a:lnSpc>
                <a:spcPct val="100000"/>
              </a:lnSpc>
              <a:spcBef>
                <a:spcPts val="430"/>
              </a:spcBef>
              <a:buFont typeface="Wingdings"/>
              <a:buChar char=""/>
              <a:tabLst>
                <a:tab pos="748665" algn="l"/>
                <a:tab pos="824230" algn="l"/>
              </a:tabLst>
            </a:pPr>
            <a:r>
              <a:rPr sz="135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latin typeface="Trebuchet MS"/>
                <a:cs typeface="Trebuchet MS"/>
              </a:rPr>
              <a:t>et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aucune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écriture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(faite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autre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transaction)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intervient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entre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les </a:t>
            </a:r>
            <a:r>
              <a:rPr sz="1800" b="1" dirty="0">
                <a:latin typeface="Trebuchet MS"/>
                <a:cs typeface="Trebuchet MS"/>
              </a:rPr>
              <a:t>deux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opérations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11520" y="6211772"/>
            <a:ext cx="2143125" cy="542925"/>
            <a:chOff x="3511520" y="6211772"/>
            <a:chExt cx="2143125" cy="542925"/>
          </a:xfrm>
        </p:grpSpPr>
        <p:sp>
          <p:nvSpPr>
            <p:cNvPr id="11" name="object 11"/>
            <p:cNvSpPr/>
            <p:nvPr/>
          </p:nvSpPr>
          <p:spPr>
            <a:xfrm>
              <a:off x="3516283" y="6216534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266699"/>
                  </a:moveTo>
                  <a:lnTo>
                    <a:pt x="3989" y="223439"/>
                  </a:lnTo>
                  <a:lnTo>
                    <a:pt x="15538" y="182402"/>
                  </a:lnTo>
                  <a:lnTo>
                    <a:pt x="34021" y="144135"/>
                  </a:lnTo>
                  <a:lnTo>
                    <a:pt x="58808" y="109190"/>
                  </a:lnTo>
                  <a:lnTo>
                    <a:pt x="89273" y="78114"/>
                  </a:lnTo>
                  <a:lnTo>
                    <a:pt x="124789" y="51457"/>
                  </a:lnTo>
                  <a:lnTo>
                    <a:pt x="164726" y="29768"/>
                  </a:lnTo>
                  <a:lnTo>
                    <a:pt x="208459" y="13596"/>
                  </a:lnTo>
                  <a:lnTo>
                    <a:pt x="255359" y="3490"/>
                  </a:lnTo>
                  <a:lnTo>
                    <a:pt x="304799" y="0"/>
                  </a:lnTo>
                  <a:lnTo>
                    <a:pt x="354240" y="3490"/>
                  </a:lnTo>
                  <a:lnTo>
                    <a:pt x="401140" y="13596"/>
                  </a:lnTo>
                  <a:lnTo>
                    <a:pt x="444873" y="29768"/>
                  </a:lnTo>
                  <a:lnTo>
                    <a:pt x="484810" y="51457"/>
                  </a:lnTo>
                  <a:lnTo>
                    <a:pt x="520326" y="78114"/>
                  </a:lnTo>
                  <a:lnTo>
                    <a:pt x="550791" y="109190"/>
                  </a:lnTo>
                  <a:lnTo>
                    <a:pt x="575578" y="144135"/>
                  </a:lnTo>
                  <a:lnTo>
                    <a:pt x="594061" y="182402"/>
                  </a:lnTo>
                  <a:lnTo>
                    <a:pt x="605610" y="223439"/>
                  </a:lnTo>
                  <a:lnTo>
                    <a:pt x="609599" y="266699"/>
                  </a:lnTo>
                  <a:lnTo>
                    <a:pt x="605610" y="309960"/>
                  </a:lnTo>
                  <a:lnTo>
                    <a:pt x="594061" y="350997"/>
                  </a:lnTo>
                  <a:lnTo>
                    <a:pt x="575578" y="389263"/>
                  </a:lnTo>
                  <a:lnTo>
                    <a:pt x="550791" y="424209"/>
                  </a:lnTo>
                  <a:lnTo>
                    <a:pt x="520326" y="455285"/>
                  </a:lnTo>
                  <a:lnTo>
                    <a:pt x="484810" y="481942"/>
                  </a:lnTo>
                  <a:lnTo>
                    <a:pt x="444873" y="503631"/>
                  </a:lnTo>
                  <a:lnTo>
                    <a:pt x="401140" y="519803"/>
                  </a:lnTo>
                  <a:lnTo>
                    <a:pt x="354240" y="529909"/>
                  </a:lnTo>
                  <a:lnTo>
                    <a:pt x="304799" y="533399"/>
                  </a:lnTo>
                  <a:lnTo>
                    <a:pt x="255359" y="529909"/>
                  </a:lnTo>
                  <a:lnTo>
                    <a:pt x="208459" y="519803"/>
                  </a:lnTo>
                  <a:lnTo>
                    <a:pt x="164726" y="503631"/>
                  </a:lnTo>
                  <a:lnTo>
                    <a:pt x="124789" y="481942"/>
                  </a:lnTo>
                  <a:lnTo>
                    <a:pt x="89273" y="455285"/>
                  </a:lnTo>
                  <a:lnTo>
                    <a:pt x="58808" y="424209"/>
                  </a:lnTo>
                  <a:lnTo>
                    <a:pt x="34021" y="389263"/>
                  </a:lnTo>
                  <a:lnTo>
                    <a:pt x="15538" y="350997"/>
                  </a:lnTo>
                  <a:lnTo>
                    <a:pt x="3989" y="309960"/>
                  </a:lnTo>
                  <a:lnTo>
                    <a:pt x="0" y="2666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40283" y="6216534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0" y="266699"/>
                  </a:moveTo>
                  <a:lnTo>
                    <a:pt x="3989" y="223439"/>
                  </a:lnTo>
                  <a:lnTo>
                    <a:pt x="15538" y="182402"/>
                  </a:lnTo>
                  <a:lnTo>
                    <a:pt x="34021" y="144135"/>
                  </a:lnTo>
                  <a:lnTo>
                    <a:pt x="58808" y="109190"/>
                  </a:lnTo>
                  <a:lnTo>
                    <a:pt x="89273" y="78114"/>
                  </a:lnTo>
                  <a:lnTo>
                    <a:pt x="124789" y="51457"/>
                  </a:lnTo>
                  <a:lnTo>
                    <a:pt x="164726" y="29768"/>
                  </a:lnTo>
                  <a:lnTo>
                    <a:pt x="208459" y="13596"/>
                  </a:lnTo>
                  <a:lnTo>
                    <a:pt x="255359" y="3490"/>
                  </a:lnTo>
                  <a:lnTo>
                    <a:pt x="304800" y="0"/>
                  </a:lnTo>
                  <a:lnTo>
                    <a:pt x="354240" y="3490"/>
                  </a:lnTo>
                  <a:lnTo>
                    <a:pt x="401140" y="13596"/>
                  </a:lnTo>
                  <a:lnTo>
                    <a:pt x="444873" y="29768"/>
                  </a:lnTo>
                  <a:lnTo>
                    <a:pt x="484810" y="51457"/>
                  </a:lnTo>
                  <a:lnTo>
                    <a:pt x="520326" y="78114"/>
                  </a:lnTo>
                  <a:lnTo>
                    <a:pt x="550791" y="109190"/>
                  </a:lnTo>
                  <a:lnTo>
                    <a:pt x="575578" y="144135"/>
                  </a:lnTo>
                  <a:lnTo>
                    <a:pt x="594060" y="182402"/>
                  </a:lnTo>
                  <a:lnTo>
                    <a:pt x="605610" y="223439"/>
                  </a:lnTo>
                  <a:lnTo>
                    <a:pt x="609599" y="266699"/>
                  </a:lnTo>
                  <a:lnTo>
                    <a:pt x="605610" y="309960"/>
                  </a:lnTo>
                  <a:lnTo>
                    <a:pt x="594060" y="350997"/>
                  </a:lnTo>
                  <a:lnTo>
                    <a:pt x="575578" y="389263"/>
                  </a:lnTo>
                  <a:lnTo>
                    <a:pt x="550791" y="424209"/>
                  </a:lnTo>
                  <a:lnTo>
                    <a:pt x="520326" y="455285"/>
                  </a:lnTo>
                  <a:lnTo>
                    <a:pt x="484810" y="481942"/>
                  </a:lnTo>
                  <a:lnTo>
                    <a:pt x="444873" y="503631"/>
                  </a:lnTo>
                  <a:lnTo>
                    <a:pt x="401140" y="519803"/>
                  </a:lnTo>
                  <a:lnTo>
                    <a:pt x="354240" y="529909"/>
                  </a:lnTo>
                  <a:lnTo>
                    <a:pt x="304800" y="533399"/>
                  </a:lnTo>
                  <a:lnTo>
                    <a:pt x="255359" y="529909"/>
                  </a:lnTo>
                  <a:lnTo>
                    <a:pt x="208459" y="519803"/>
                  </a:lnTo>
                  <a:lnTo>
                    <a:pt x="164726" y="503631"/>
                  </a:lnTo>
                  <a:lnTo>
                    <a:pt x="124789" y="481942"/>
                  </a:lnTo>
                  <a:lnTo>
                    <a:pt x="89273" y="455285"/>
                  </a:lnTo>
                  <a:lnTo>
                    <a:pt x="58808" y="424209"/>
                  </a:lnTo>
                  <a:lnTo>
                    <a:pt x="34021" y="389263"/>
                  </a:lnTo>
                  <a:lnTo>
                    <a:pt x="15538" y="350997"/>
                  </a:lnTo>
                  <a:lnTo>
                    <a:pt x="3989" y="309960"/>
                  </a:lnTo>
                  <a:lnTo>
                    <a:pt x="0" y="2666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25883" y="6445134"/>
              <a:ext cx="885825" cy="0"/>
            </a:xfrm>
            <a:custGeom>
              <a:avLst/>
              <a:gdLst/>
              <a:ahLst/>
              <a:cxnLst/>
              <a:rect l="l" t="t" r="r" b="b"/>
              <a:pathLst>
                <a:path w="885825">
                  <a:moveTo>
                    <a:pt x="0" y="0"/>
                  </a:moveTo>
                  <a:lnTo>
                    <a:pt x="885824" y="0"/>
                  </a:lnTo>
                </a:path>
              </a:pathLst>
            </a:custGeom>
            <a:ln w="28574">
              <a:solidFill>
                <a:srgbClr val="D77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54558" y="640227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1920" y="6126047"/>
            <a:ext cx="2143123" cy="6381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69056" y="6187642"/>
            <a:ext cx="5267960" cy="81915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  <a:tabLst>
                <a:tab pos="1536065" algn="l"/>
                <a:tab pos="3212465" algn="l"/>
                <a:tab pos="4736465" algn="l"/>
              </a:tabLst>
            </a:pPr>
            <a:r>
              <a:rPr sz="1800" b="1" spc="-25" dirty="0">
                <a:latin typeface="Arial"/>
                <a:cs typeface="Arial"/>
              </a:rPr>
              <a:t>T1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T2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T1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T2</a:t>
            </a:r>
            <a:endParaRPr sz="18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019"/>
              </a:spcBef>
              <a:tabLst>
                <a:tab pos="3018790" algn="l"/>
              </a:tabLst>
            </a:pPr>
            <a:r>
              <a:rPr sz="1600" b="1" spc="-10" dirty="0">
                <a:latin typeface="Arial"/>
                <a:cs typeface="Arial"/>
              </a:rPr>
              <a:t>Conflit-sérialisable</a:t>
            </a:r>
            <a:r>
              <a:rPr sz="1600" b="1" dirty="0">
                <a:latin typeface="Arial"/>
                <a:cs typeface="Arial"/>
              </a:rPr>
              <a:t>	Non </a:t>
            </a:r>
            <a:r>
              <a:rPr sz="1600" b="1" spc="-10" dirty="0">
                <a:latin typeface="Arial"/>
                <a:cs typeface="Arial"/>
              </a:rPr>
              <a:t>conflit-sérialisable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497" rIns="0" bIns="0" rtlCol="0">
            <a:spAutoFit/>
          </a:bodyPr>
          <a:lstStyle/>
          <a:p>
            <a:pPr marL="83566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Conflits</a:t>
            </a:r>
            <a:r>
              <a:rPr sz="4000" spc="-6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entre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1871" y="1756930"/>
            <a:ext cx="7193280" cy="46583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247015" algn="just">
              <a:lnSpc>
                <a:spcPct val="88500"/>
              </a:lnSpc>
              <a:spcBef>
                <a:spcPts val="430"/>
              </a:spcBef>
            </a:pPr>
            <a:r>
              <a:rPr sz="2400" dirty="0">
                <a:latin typeface="Arial MT"/>
                <a:cs typeface="Arial MT"/>
              </a:rPr>
              <a:t>Chaque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transaction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cours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exécution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et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instant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donné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qui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diffère </a:t>
            </a:r>
            <a:r>
              <a:rPr sz="2400" dirty="0">
                <a:latin typeface="Arial MT"/>
                <a:cs typeface="Arial MT"/>
              </a:rPr>
              <a:t>ou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réalité.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600"/>
              </a:lnSpc>
              <a:spcBef>
                <a:spcPts val="2640"/>
              </a:spcBef>
            </a:pPr>
            <a:r>
              <a:rPr sz="2400" dirty="0">
                <a:latin typeface="Arial MT"/>
                <a:cs typeface="Arial MT"/>
              </a:rPr>
              <a:t>Reprenant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conflits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identifie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quelques </a:t>
            </a:r>
            <a:r>
              <a:rPr sz="2400" dirty="0">
                <a:latin typeface="Arial MT"/>
                <a:cs typeface="Arial MT"/>
              </a:rPr>
              <a:t>problèmes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lire(A)</a:t>
            </a:r>
            <a:r>
              <a:rPr sz="2400" spc="-5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-</a:t>
            </a:r>
            <a:r>
              <a:rPr sz="2400" spc="-50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lire(A)</a:t>
            </a:r>
            <a:r>
              <a:rPr sz="24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partage</a:t>
            </a:r>
            <a:r>
              <a:rPr sz="2400" spc="-50" dirty="0">
                <a:latin typeface="Arial MT"/>
                <a:cs typeface="Arial MT"/>
              </a:rPr>
              <a:t> ;</a:t>
            </a:r>
            <a:endParaRPr sz="2400">
              <a:latin typeface="Arial MT"/>
              <a:cs typeface="Arial MT"/>
            </a:endParaRPr>
          </a:p>
          <a:p>
            <a:pPr marL="12700" marR="1447165">
              <a:lnSpc>
                <a:spcPts val="5200"/>
              </a:lnSpc>
              <a:spcBef>
                <a:spcPts val="560"/>
              </a:spcBef>
            </a:pP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écrire(A)</a:t>
            </a:r>
            <a:r>
              <a:rPr sz="2400" spc="-5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-</a:t>
            </a:r>
            <a:r>
              <a:rPr sz="2400" spc="-50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écrire(A)</a:t>
            </a:r>
            <a:r>
              <a:rPr sz="24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perte</a:t>
            </a:r>
            <a:r>
              <a:rPr sz="2400" spc="-4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mise</a:t>
            </a:r>
            <a:r>
              <a:rPr sz="2400" spc="-4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à</a:t>
            </a:r>
            <a:r>
              <a:rPr sz="2400" spc="-4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jour</a:t>
            </a:r>
            <a:r>
              <a:rPr sz="2400" spc="-50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;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écrire(A)</a:t>
            </a:r>
            <a:r>
              <a:rPr sz="2400" spc="-6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-</a:t>
            </a:r>
            <a:r>
              <a:rPr sz="2400" spc="-6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lire(A)</a:t>
            </a:r>
            <a:r>
              <a:rPr sz="2400" spc="-60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lectures</a:t>
            </a:r>
            <a:r>
              <a:rPr sz="2400" spc="-6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impropres</a:t>
            </a:r>
            <a:r>
              <a:rPr sz="2400" spc="-60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;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lire</a:t>
            </a:r>
            <a:r>
              <a:rPr sz="24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(A)</a:t>
            </a:r>
            <a:r>
              <a:rPr sz="24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-</a:t>
            </a:r>
            <a:r>
              <a:rPr sz="2400" spc="-45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C6600"/>
                </a:solidFill>
                <a:latin typeface="Arial MT"/>
                <a:cs typeface="Arial MT"/>
              </a:rPr>
              <a:t>écrire(A)</a:t>
            </a:r>
            <a:r>
              <a:rPr sz="2400" spc="-40" dirty="0">
                <a:solidFill>
                  <a:srgbClr val="CC660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lectures</a:t>
            </a:r>
            <a:r>
              <a:rPr sz="2400" spc="-45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3300"/>
                </a:solidFill>
                <a:latin typeface="Arial MT"/>
                <a:cs typeface="Arial MT"/>
              </a:rPr>
              <a:t>non</a:t>
            </a:r>
            <a:r>
              <a:rPr sz="2400" spc="-40" dirty="0">
                <a:solidFill>
                  <a:srgbClr val="FF33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 MT"/>
                <a:cs typeface="Arial MT"/>
              </a:rPr>
              <a:t>reproductibles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000000"/>
                </a:solidFill>
                <a:latin typeface="Arial"/>
                <a:cs typeface="Arial"/>
              </a:rPr>
              <a:t>Écriture-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écriture</a:t>
            </a:r>
            <a:r>
              <a:rPr sz="28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28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perte</a:t>
            </a:r>
            <a:r>
              <a:rPr sz="28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de</a:t>
            </a:r>
            <a:r>
              <a:rPr sz="28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mise</a:t>
            </a:r>
            <a:r>
              <a:rPr sz="28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à</a:t>
            </a:r>
            <a:r>
              <a:rPr sz="2800" b="1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3300"/>
                </a:solidFill>
                <a:latin typeface="Arial"/>
                <a:cs typeface="Arial"/>
              </a:rPr>
              <a:t>jour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6983" y="2358909"/>
            <a:ext cx="2425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Ti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1383" y="2358909"/>
            <a:ext cx="251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Tj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70757" y="2358909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0183" y="2724669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36983" y="3016769"/>
            <a:ext cx="1885950" cy="11303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lire(A,t)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lire(A,s)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t:=t+10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0183" y="4502669"/>
            <a:ext cx="307975" cy="7366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25" dirty="0">
                <a:solidFill>
                  <a:srgbClr val="FF3300"/>
                </a:solidFill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-25" dirty="0">
                <a:latin typeface="Arial"/>
                <a:cs typeface="Arial"/>
              </a:rPr>
              <a:t>60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36983" y="4121669"/>
            <a:ext cx="2196465" cy="1854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s:=s+50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écrire(A,t)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00"/>
              </a:spcBef>
            </a:pPr>
            <a:r>
              <a:rPr sz="2000" b="1" spc="-10" dirty="0">
                <a:latin typeface="Arial"/>
                <a:cs typeface="Arial"/>
              </a:rPr>
              <a:t>écrire(A,s)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  <a:p>
            <a:pPr marL="1068070">
              <a:lnSpc>
                <a:spcPct val="100000"/>
              </a:lnSpc>
              <a:spcBef>
                <a:spcPts val="500"/>
              </a:spcBef>
            </a:pPr>
            <a:r>
              <a:rPr sz="2000" b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97283" y="2193810"/>
            <a:ext cx="3352800" cy="4114800"/>
            <a:chOff x="3897283" y="2193810"/>
            <a:chExt cx="3352800" cy="4114800"/>
          </a:xfrm>
        </p:grpSpPr>
        <p:sp>
          <p:nvSpPr>
            <p:cNvPr id="16" name="object 16"/>
            <p:cNvSpPr/>
            <p:nvPr/>
          </p:nvSpPr>
          <p:spPr>
            <a:xfrm>
              <a:off x="3897283" y="2727209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0" y="0"/>
                  </a:moveTo>
                  <a:lnTo>
                    <a:pt x="33527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11883" y="219381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1" y="41147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70183" y="2363673"/>
            <a:ext cx="6280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-25" dirty="0">
                <a:latin typeface="Arial"/>
                <a:cs typeface="Arial"/>
              </a:rPr>
              <a:t>Temps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249583" y="2727209"/>
            <a:ext cx="76200" cy="2971800"/>
            <a:chOff x="3249583" y="2727209"/>
            <a:chExt cx="76200" cy="2971800"/>
          </a:xfrm>
        </p:grpSpPr>
        <p:sp>
          <p:nvSpPr>
            <p:cNvPr id="20" name="object 20"/>
            <p:cNvSpPr/>
            <p:nvPr/>
          </p:nvSpPr>
          <p:spPr>
            <a:xfrm>
              <a:off x="3287683" y="2727209"/>
              <a:ext cx="0" cy="2946400"/>
            </a:xfrm>
            <a:custGeom>
              <a:avLst/>
              <a:gdLst/>
              <a:ahLst/>
              <a:cxnLst/>
              <a:rect l="l" t="t" r="r" b="b"/>
              <a:pathLst>
                <a:path h="2946400">
                  <a:moveTo>
                    <a:pt x="0" y="0"/>
                  </a:moveTo>
                  <a:lnTo>
                    <a:pt x="0" y="2946399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49583" y="56228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22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7187" rIns="0" bIns="0" rtlCol="0">
            <a:spAutoFit/>
          </a:bodyPr>
          <a:lstStyle/>
          <a:p>
            <a:pPr marL="83566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Écriture</a:t>
            </a:r>
            <a:r>
              <a:rPr sz="28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sz="2800" b="1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lecture</a:t>
            </a:r>
            <a:r>
              <a:rPr sz="28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28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3300"/>
                </a:solidFill>
                <a:latin typeface="Arial"/>
                <a:cs typeface="Arial"/>
              </a:rPr>
              <a:t>lectures</a:t>
            </a:r>
            <a:r>
              <a:rPr sz="2800" b="1" spc="-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3300"/>
                </a:solidFill>
                <a:latin typeface="Arial"/>
                <a:cs typeface="Arial"/>
              </a:rPr>
              <a:t>impropres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6532" y="2358909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5958" y="2724669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5958" y="3816869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3300"/>
                </a:solidFill>
                <a:latin typeface="Arial"/>
                <a:cs typeface="Arial"/>
              </a:rPr>
              <a:t>30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2758" y="2358909"/>
            <a:ext cx="1956435" cy="288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000" b="1" spc="-25" dirty="0">
                <a:latin typeface="Arial"/>
                <a:cs typeface="Arial"/>
              </a:rPr>
              <a:t>Ti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25" dirty="0">
                <a:latin typeface="Arial"/>
                <a:cs typeface="Arial"/>
              </a:rPr>
              <a:t>Tj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000">
              <a:latin typeface="Arial"/>
              <a:cs typeface="Arial"/>
            </a:endParaRPr>
          </a:p>
          <a:p>
            <a:pPr marL="12700" marR="1046480">
              <a:lnSpc>
                <a:spcPct val="120800"/>
              </a:lnSpc>
            </a:pPr>
            <a:r>
              <a:rPr sz="2000" b="1" spc="-10" dirty="0">
                <a:latin typeface="Arial"/>
                <a:cs typeface="Arial"/>
              </a:rPr>
              <a:t>lire(A,t) t:=t+20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écrire(A,t)</a:t>
            </a:r>
            <a:endParaRPr sz="2000">
              <a:latin typeface="Arial"/>
              <a:cs typeface="Arial"/>
            </a:endParaRPr>
          </a:p>
          <a:p>
            <a:pPr marL="12700" marR="5080" indent="984885">
              <a:lnSpc>
                <a:spcPct val="120800"/>
              </a:lnSpc>
            </a:pPr>
            <a:r>
              <a:rPr sz="2000" b="1" spc="-10" dirty="0">
                <a:latin typeface="Arial"/>
                <a:cs typeface="Arial"/>
              </a:rPr>
              <a:t>lire(A,s) annulation</a:t>
            </a:r>
            <a:endParaRPr sz="2000">
              <a:latin typeface="Arial"/>
              <a:cs typeface="Arial"/>
            </a:endParaRPr>
          </a:p>
          <a:p>
            <a:pPr marL="1138555">
              <a:lnSpc>
                <a:spcPct val="100000"/>
              </a:lnSpc>
              <a:spcBef>
                <a:spcPts val="400"/>
              </a:spcBef>
            </a:pPr>
            <a:r>
              <a:rPr sz="2000" b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13058" y="2193810"/>
            <a:ext cx="3352800" cy="4114800"/>
            <a:chOff x="3113058" y="2193810"/>
            <a:chExt cx="3352800" cy="4114800"/>
          </a:xfrm>
        </p:grpSpPr>
        <p:sp>
          <p:nvSpPr>
            <p:cNvPr id="13" name="object 13"/>
            <p:cNvSpPr/>
            <p:nvPr/>
          </p:nvSpPr>
          <p:spPr>
            <a:xfrm>
              <a:off x="3113058" y="2727209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0" y="0"/>
                  </a:moveTo>
                  <a:lnTo>
                    <a:pt x="33527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27658" y="2193810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1" y="41147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23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5292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Lecture</a:t>
            </a:r>
            <a:r>
              <a:rPr sz="24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-</a:t>
            </a:r>
            <a:r>
              <a:rPr sz="24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écriture</a:t>
            </a:r>
            <a:r>
              <a:rPr sz="24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r>
              <a:rPr sz="24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lectures</a:t>
            </a:r>
            <a:r>
              <a:rPr sz="2400" b="1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3300"/>
                </a:solidFill>
                <a:latin typeface="Arial"/>
                <a:cs typeface="Arial"/>
              </a:rPr>
              <a:t>non</a:t>
            </a:r>
            <a:r>
              <a:rPr sz="2400" b="1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3300"/>
                </a:solidFill>
                <a:latin typeface="Arial"/>
                <a:cs typeface="Arial"/>
              </a:rPr>
              <a:t>reproductibles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63833" y="2287473"/>
            <a:ext cx="2425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Ti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78233" y="2287473"/>
            <a:ext cx="251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Tj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97607" y="2287473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7033" y="2653233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63833" y="2945333"/>
            <a:ext cx="1956435" cy="7620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lire(A,t)</a:t>
            </a:r>
            <a:endParaRPr sz="2000">
              <a:latin typeface="Arial"/>
              <a:cs typeface="Arial"/>
            </a:endParaRPr>
          </a:p>
          <a:p>
            <a:pPr marL="997585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lire(A,s)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07033" y="4113733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3300"/>
                </a:solidFill>
                <a:latin typeface="Arial"/>
                <a:cs typeface="Arial"/>
              </a:rPr>
              <a:t>30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63833" y="3681933"/>
            <a:ext cx="1956435" cy="18542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latin typeface="Arial"/>
                <a:cs typeface="Arial"/>
              </a:rPr>
              <a:t>t:=t+20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écrire(A,t)</a:t>
            </a:r>
            <a:endParaRPr sz="2000">
              <a:latin typeface="Arial"/>
              <a:cs typeface="Arial"/>
            </a:endParaRPr>
          </a:p>
          <a:p>
            <a:pPr marL="997585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lire(A,s)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000" b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  <a:p>
            <a:pPr marL="1138555">
              <a:lnSpc>
                <a:spcPct val="100000"/>
              </a:lnSpc>
              <a:spcBef>
                <a:spcPts val="500"/>
              </a:spcBef>
            </a:pPr>
            <a:r>
              <a:rPr sz="2000" b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24133" y="2122373"/>
            <a:ext cx="3352800" cy="4114800"/>
            <a:chOff x="2824133" y="2122373"/>
            <a:chExt cx="3352800" cy="4114800"/>
          </a:xfrm>
        </p:grpSpPr>
        <p:sp>
          <p:nvSpPr>
            <p:cNvPr id="16" name="object 16"/>
            <p:cNvSpPr/>
            <p:nvPr/>
          </p:nvSpPr>
          <p:spPr>
            <a:xfrm>
              <a:off x="2824133" y="2655773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0" y="0"/>
                  </a:moveTo>
                  <a:lnTo>
                    <a:pt x="33527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8733" y="2122373"/>
              <a:ext cx="0" cy="4114800"/>
            </a:xfrm>
            <a:custGeom>
              <a:avLst/>
              <a:gdLst/>
              <a:ahLst/>
              <a:cxnLst/>
              <a:rect l="l" t="t" r="r" b="b"/>
              <a:pathLst>
                <a:path h="4114800">
                  <a:moveTo>
                    <a:pt x="0" y="0"/>
                  </a:moveTo>
                  <a:lnTo>
                    <a:pt x="1" y="41147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24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4721" y="852373"/>
            <a:ext cx="50450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2715" algn="l"/>
              </a:tabLst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Niveaux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25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cohérence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471" y="1883613"/>
            <a:ext cx="8456930" cy="41630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5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Niveau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1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: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Pas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perte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màj</a:t>
            </a:r>
            <a:endParaRPr sz="2000">
              <a:latin typeface="Trebuchet MS"/>
              <a:cs typeface="Trebuchet MS"/>
            </a:endParaRPr>
          </a:p>
          <a:p>
            <a:pPr marL="317500" marR="684530" indent="-304800">
              <a:lnSpc>
                <a:spcPct val="98300"/>
              </a:lnSpc>
              <a:spcBef>
                <a:spcPts val="520"/>
              </a:spcBef>
              <a:buFont typeface="Wingdings"/>
              <a:buChar char=""/>
              <a:tabLst>
                <a:tab pos="317500" algn="l"/>
                <a:tab pos="583565" algn="l"/>
              </a:tabLst>
            </a:pPr>
            <a:r>
              <a:rPr sz="1500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i="1" dirty="0">
                <a:latin typeface="Trebuchet MS"/>
                <a:cs typeface="Trebuchet MS"/>
              </a:rPr>
              <a:t>Toute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doit</a:t>
            </a:r>
            <a:r>
              <a:rPr sz="2000" b="1" i="1" spc="-1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pas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écrire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sur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un</a:t>
            </a:r>
            <a:r>
              <a:rPr sz="2000" b="1" i="1" spc="-1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objet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dont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la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valeur</a:t>
            </a:r>
            <a:r>
              <a:rPr sz="2000" b="1" i="1" spc="-1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a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spc="-25" dirty="0">
                <a:latin typeface="Trebuchet MS"/>
                <a:cs typeface="Trebuchet MS"/>
              </a:rPr>
              <a:t>été </a:t>
            </a:r>
            <a:r>
              <a:rPr sz="2000" b="1" i="1" dirty="0">
                <a:latin typeface="Trebuchet MS"/>
                <a:cs typeface="Trebuchet MS"/>
              </a:rPr>
              <a:t>modifiée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par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une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autre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T'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qui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n'a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pas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atteint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son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point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spc="-25" dirty="0">
                <a:latin typeface="Trebuchet MS"/>
                <a:cs typeface="Trebuchet MS"/>
              </a:rPr>
              <a:t>de </a:t>
            </a:r>
            <a:r>
              <a:rPr sz="2000" b="1" i="1" spc="-10" dirty="0">
                <a:latin typeface="Trebuchet MS"/>
                <a:cs typeface="Trebuchet MS"/>
              </a:rPr>
              <a:t>confirmation.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Niveau</a:t>
            </a:r>
            <a:r>
              <a:rPr sz="2000" b="1" u="sng" spc="-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2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: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pertes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màj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lectures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sales</a:t>
            </a:r>
            <a:endParaRPr sz="2000">
              <a:latin typeface="Trebuchet MS"/>
              <a:cs typeface="Trebuchet MS"/>
            </a:endParaRPr>
          </a:p>
          <a:p>
            <a:pPr marL="317500" marR="75565" indent="-304800">
              <a:lnSpc>
                <a:spcPct val="100800"/>
              </a:lnSpc>
              <a:spcBef>
                <a:spcPts val="484"/>
              </a:spcBef>
              <a:buFont typeface="Wingdings"/>
              <a:buChar char=""/>
              <a:tabLst>
                <a:tab pos="317500" algn="l"/>
                <a:tab pos="583565" algn="l"/>
              </a:tabLst>
            </a:pPr>
            <a:r>
              <a:rPr sz="1500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i="1" dirty="0">
                <a:latin typeface="Trebuchet MS"/>
                <a:cs typeface="Trebuchet MS"/>
              </a:rPr>
              <a:t>Toute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transaction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doit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pas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lire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des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valeurs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non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spc="-10" dirty="0">
                <a:latin typeface="Trebuchet MS"/>
                <a:cs typeface="Trebuchet MS"/>
              </a:rPr>
              <a:t>confirmées, </a:t>
            </a:r>
            <a:r>
              <a:rPr sz="2000" b="1" i="1" dirty="0">
                <a:latin typeface="Trebuchet MS"/>
                <a:cs typeface="Trebuchet MS"/>
              </a:rPr>
              <a:t>manipulées</a:t>
            </a:r>
            <a:r>
              <a:rPr sz="2000" b="1" i="1" spc="-4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par</a:t>
            </a:r>
            <a:r>
              <a:rPr sz="2000" b="1" i="1" spc="-3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d'autres</a:t>
            </a:r>
            <a:r>
              <a:rPr sz="2000" b="1" i="1" spc="-35" dirty="0">
                <a:latin typeface="Trebuchet MS"/>
                <a:cs typeface="Trebuchet MS"/>
              </a:rPr>
              <a:t> </a:t>
            </a:r>
            <a:r>
              <a:rPr sz="2000" b="1" i="1" spc="-10" dirty="0">
                <a:latin typeface="Trebuchet MS"/>
                <a:cs typeface="Trebuchet MS"/>
              </a:rPr>
              <a:t>transactions.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Niveau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3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: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perte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màj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lectures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sales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et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non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reproductibles</a:t>
            </a:r>
            <a:endParaRPr sz="2000">
              <a:latin typeface="Trebuchet MS"/>
              <a:cs typeface="Trebuchet MS"/>
            </a:endParaRPr>
          </a:p>
          <a:p>
            <a:pPr marL="317500" marR="5080" indent="-304800">
              <a:lnSpc>
                <a:spcPct val="100800"/>
              </a:lnSpc>
              <a:spcBef>
                <a:spcPts val="380"/>
              </a:spcBef>
              <a:buFont typeface="Wingdings"/>
              <a:buChar char=""/>
              <a:tabLst>
                <a:tab pos="317500" algn="l"/>
                <a:tab pos="583565" algn="l"/>
              </a:tabLst>
            </a:pPr>
            <a:r>
              <a:rPr sz="1500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i="1" dirty="0">
                <a:latin typeface="Trebuchet MS"/>
                <a:cs typeface="Trebuchet MS"/>
              </a:rPr>
              <a:t>Aucune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transaction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doit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modifier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une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valeur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lue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par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une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spc="-10" dirty="0">
                <a:latin typeface="Trebuchet MS"/>
                <a:cs typeface="Trebuchet MS"/>
              </a:rPr>
              <a:t>autre </a:t>
            </a:r>
            <a:r>
              <a:rPr sz="2000" b="1" i="1" dirty="0">
                <a:latin typeface="Trebuchet MS"/>
                <a:cs typeface="Trebuchet MS"/>
              </a:rPr>
              <a:t>transaction</a:t>
            </a:r>
            <a:r>
              <a:rPr sz="2000" b="1" i="1" spc="-20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avant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que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cette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dernière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ne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dirty="0">
                <a:latin typeface="Trebuchet MS"/>
                <a:cs typeface="Trebuchet MS"/>
              </a:rPr>
              <a:t>soit</a:t>
            </a:r>
            <a:r>
              <a:rPr sz="2000" b="1" i="1" spc="-15" dirty="0">
                <a:latin typeface="Trebuchet MS"/>
                <a:cs typeface="Trebuchet MS"/>
              </a:rPr>
              <a:t> </a:t>
            </a:r>
            <a:r>
              <a:rPr sz="2000" b="1" i="1" spc="-10" dirty="0">
                <a:latin typeface="Trebuchet MS"/>
                <a:cs typeface="Trebuchet MS"/>
              </a:rPr>
              <a:t>terminée</a:t>
            </a:r>
            <a:r>
              <a:rPr sz="2000" b="1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47111" y="534554"/>
            <a:ext cx="638365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Comment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gérer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la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sérialisabilité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25" dirty="0">
                <a:solidFill>
                  <a:srgbClr val="CC3300"/>
                </a:solidFill>
                <a:latin typeface="Trebuchet MS"/>
                <a:cs typeface="Trebuchet MS"/>
              </a:rPr>
              <a:t>et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les</a:t>
            </a:r>
            <a:r>
              <a:rPr sz="3200" spc="-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niveaux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cohérence</a:t>
            </a:r>
            <a:r>
              <a:rPr sz="3200" spc="-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CC3300"/>
                </a:solidFill>
                <a:latin typeface="Trebuchet MS"/>
                <a:cs typeface="Trebuchet MS"/>
              </a:rPr>
              <a:t>?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26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7111" y="1866468"/>
            <a:ext cx="8086090" cy="492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2900">
              <a:lnSpc>
                <a:spcPct val="99000"/>
              </a:lnSpc>
              <a:spcBef>
                <a:spcPts val="12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Techniques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pour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contrôler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actions</a:t>
            </a:r>
            <a:r>
              <a:rPr sz="2400" spc="-8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concurrentes</a:t>
            </a:r>
            <a:r>
              <a:rPr sz="2400" spc="-10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pour </a:t>
            </a:r>
            <a:r>
              <a:rPr sz="2400" dirty="0">
                <a:latin typeface="Trebuchet MS"/>
                <a:cs typeface="Trebuchet MS"/>
              </a:rPr>
              <a:t>assurer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qu'un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ordonnancement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équivalent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à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un </a:t>
            </a:r>
            <a:r>
              <a:rPr sz="2400" dirty="0">
                <a:latin typeface="Trebuchet MS"/>
                <a:cs typeface="Trebuchet MS"/>
              </a:rPr>
              <a:t>ordonnancement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séquentiel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0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Différentes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approches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5600" marR="1009015" indent="-342900">
              <a:lnSpc>
                <a:spcPts val="282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Pessimistes</a:t>
            </a:r>
            <a:r>
              <a:rPr sz="2400" spc="-8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(ex.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exclusion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mutuelle,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estampilles, </a:t>
            </a:r>
            <a:r>
              <a:rPr sz="2400" dirty="0">
                <a:latin typeface="Trebuchet MS"/>
                <a:cs typeface="Trebuchet MS"/>
              </a:rPr>
              <a:t>verrouillage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à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deux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phases)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Optimistes</a:t>
            </a:r>
            <a:r>
              <a:rPr sz="2400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(ex.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méthode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certification)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90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5600" marR="687705" indent="-342900">
              <a:lnSpc>
                <a:spcPct val="101499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Tout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d'abord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impose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l'utilisation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verrous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pour </a:t>
            </a:r>
            <a:r>
              <a:rPr sz="2400" dirty="0">
                <a:latin typeface="Trebuchet MS"/>
                <a:cs typeface="Trebuchet MS"/>
              </a:rPr>
              <a:t>assurer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CC6600"/>
                </a:solidFill>
                <a:latin typeface="Trebuchet MS"/>
                <a:cs typeface="Trebuchet MS"/>
              </a:rPr>
              <a:t>l'exclusion</a:t>
            </a:r>
            <a:r>
              <a:rPr sz="2400" i="1" spc="-9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i="1" spc="-10" dirty="0">
                <a:solidFill>
                  <a:srgbClr val="CC6600"/>
                </a:solidFill>
                <a:latin typeface="Trebuchet MS"/>
                <a:cs typeface="Trebuchet MS"/>
              </a:rPr>
              <a:t>mutuelle</a:t>
            </a:r>
            <a:r>
              <a:rPr sz="2400" spc="-10" dirty="0">
                <a:latin typeface="Trebuchet MS"/>
                <a:cs typeface="Trebuchet MS"/>
              </a:rPr>
              <a:t>...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32823" y="512329"/>
            <a:ext cx="406654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SGBD</a:t>
            </a:r>
            <a:r>
              <a:rPr sz="3200" spc="-3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centralisé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Architecture</a:t>
            </a:r>
            <a:r>
              <a:rPr sz="3200" spc="-21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abstraite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049683" y="2354147"/>
          <a:ext cx="2382519" cy="3731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745"/>
                <a:gridCol w="730249"/>
                <a:gridCol w="730250"/>
                <a:gridCol w="422275"/>
              </a:tblGrid>
              <a:tr h="532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marL="266700" marR="85090" indent="-165100">
                        <a:lnSpc>
                          <a:spcPts val="1939"/>
                        </a:lnSpc>
                        <a:spcBef>
                          <a:spcPts val="10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Gestionnaire</a:t>
                      </a:r>
                      <a:r>
                        <a:rPr sz="14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des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transactions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6A800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Ordonnanceur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  <a:spcBef>
                          <a:spcPts val="254"/>
                        </a:spcBef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(scheduler)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6A800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517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Gestionnaire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ts val="162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reprise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Gestionnaire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61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14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cache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0416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461095" y="3986922"/>
            <a:ext cx="1000125" cy="5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1400" b="1" spc="-10" dirty="0">
                <a:latin typeface="Times New Roman"/>
                <a:cs typeface="Times New Roman"/>
              </a:rPr>
              <a:t>Gestionnaire </a:t>
            </a:r>
            <a:r>
              <a:rPr sz="1400" b="1" dirty="0">
                <a:latin typeface="Times New Roman"/>
                <a:cs typeface="Times New Roman"/>
              </a:rPr>
              <a:t>des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données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08458" y="1977909"/>
            <a:ext cx="492125" cy="381000"/>
          </a:xfrm>
          <a:custGeom>
            <a:avLst/>
            <a:gdLst/>
            <a:ahLst/>
            <a:cxnLst/>
            <a:rect l="l" t="t" r="r" b="b"/>
            <a:pathLst>
              <a:path w="492125" h="381000">
                <a:moveTo>
                  <a:pt x="0" y="0"/>
                </a:moveTo>
                <a:lnTo>
                  <a:pt x="492124" y="3809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1145" y="1977909"/>
            <a:ext cx="546100" cy="381000"/>
          </a:xfrm>
          <a:custGeom>
            <a:avLst/>
            <a:gdLst/>
            <a:ahLst/>
            <a:cxnLst/>
            <a:rect l="l" t="t" r="r" b="b"/>
            <a:pathLst>
              <a:path w="546100" h="381000">
                <a:moveTo>
                  <a:pt x="546099" y="0"/>
                </a:moveTo>
                <a:lnTo>
                  <a:pt x="0" y="380999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503583" y="1633423"/>
            <a:ext cx="12128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Transaction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03883" y="1650885"/>
            <a:ext cx="1224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Times New Roman"/>
                <a:cs typeface="Times New Roman"/>
              </a:rPr>
              <a:t>Transaction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Times New Roman"/>
                <a:cs typeface="Times New Roman"/>
              </a:rPr>
              <a:t>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7920" y="1604848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...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83083" y="6087948"/>
            <a:ext cx="1403350" cy="1009650"/>
            <a:chOff x="4583083" y="6087948"/>
            <a:chExt cx="1403350" cy="1009650"/>
          </a:xfrm>
        </p:grpSpPr>
        <p:sp>
          <p:nvSpPr>
            <p:cNvPr id="16" name="object 16"/>
            <p:cNvSpPr/>
            <p:nvPr/>
          </p:nvSpPr>
          <p:spPr>
            <a:xfrm>
              <a:off x="4592608" y="6189895"/>
              <a:ext cx="1384300" cy="819785"/>
            </a:xfrm>
            <a:custGeom>
              <a:avLst/>
              <a:gdLst/>
              <a:ahLst/>
              <a:cxnLst/>
              <a:rect l="l" t="t" r="r" b="b"/>
              <a:pathLst>
                <a:path w="1384300" h="819784">
                  <a:moveTo>
                    <a:pt x="1384300" y="0"/>
                  </a:moveTo>
                  <a:lnTo>
                    <a:pt x="0" y="0"/>
                  </a:lnTo>
                  <a:lnTo>
                    <a:pt x="0" y="819410"/>
                  </a:lnTo>
                  <a:lnTo>
                    <a:pt x="1384300" y="819410"/>
                  </a:lnTo>
                  <a:lnTo>
                    <a:pt x="13843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92608" y="6189894"/>
              <a:ext cx="1384300" cy="819785"/>
            </a:xfrm>
            <a:custGeom>
              <a:avLst/>
              <a:gdLst/>
              <a:ahLst/>
              <a:cxnLst/>
              <a:rect l="l" t="t" r="r" b="b"/>
              <a:pathLst>
                <a:path w="1384300" h="819784">
                  <a:moveTo>
                    <a:pt x="0" y="0"/>
                  </a:moveTo>
                  <a:lnTo>
                    <a:pt x="1384299" y="0"/>
                  </a:lnTo>
                  <a:lnTo>
                    <a:pt x="1384299" y="819410"/>
                  </a:lnTo>
                  <a:lnTo>
                    <a:pt x="0" y="81941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92608" y="6927365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5">
                  <a:moveTo>
                    <a:pt x="692150" y="0"/>
                  </a:moveTo>
                  <a:lnTo>
                    <a:pt x="616732" y="480"/>
                  </a:lnTo>
                  <a:lnTo>
                    <a:pt x="543667" y="1889"/>
                  </a:lnTo>
                  <a:lnTo>
                    <a:pt x="473377" y="4177"/>
                  </a:lnTo>
                  <a:lnTo>
                    <a:pt x="406283" y="7293"/>
                  </a:lnTo>
                  <a:lnTo>
                    <a:pt x="342808" y="11187"/>
                  </a:lnTo>
                  <a:lnTo>
                    <a:pt x="283375" y="15809"/>
                  </a:lnTo>
                  <a:lnTo>
                    <a:pt x="228405" y="21110"/>
                  </a:lnTo>
                  <a:lnTo>
                    <a:pt x="178321" y="27040"/>
                  </a:lnTo>
                  <a:lnTo>
                    <a:pt x="133544" y="33547"/>
                  </a:lnTo>
                  <a:lnTo>
                    <a:pt x="94498" y="40583"/>
                  </a:lnTo>
                  <a:lnTo>
                    <a:pt x="35286" y="56041"/>
                  </a:lnTo>
                  <a:lnTo>
                    <a:pt x="0" y="81941"/>
                  </a:lnTo>
                  <a:lnTo>
                    <a:pt x="4061" y="90869"/>
                  </a:lnTo>
                  <a:lnTo>
                    <a:pt x="61605" y="115783"/>
                  </a:lnTo>
                  <a:lnTo>
                    <a:pt x="133544" y="130334"/>
                  </a:lnTo>
                  <a:lnTo>
                    <a:pt x="178321" y="136841"/>
                  </a:lnTo>
                  <a:lnTo>
                    <a:pt x="228405" y="142771"/>
                  </a:lnTo>
                  <a:lnTo>
                    <a:pt x="283375" y="148072"/>
                  </a:lnTo>
                  <a:lnTo>
                    <a:pt x="342808" y="152694"/>
                  </a:lnTo>
                  <a:lnTo>
                    <a:pt x="406283" y="156588"/>
                  </a:lnTo>
                  <a:lnTo>
                    <a:pt x="473377" y="159704"/>
                  </a:lnTo>
                  <a:lnTo>
                    <a:pt x="543667" y="161991"/>
                  </a:lnTo>
                  <a:lnTo>
                    <a:pt x="616732" y="163401"/>
                  </a:lnTo>
                  <a:lnTo>
                    <a:pt x="692150" y="163881"/>
                  </a:lnTo>
                  <a:lnTo>
                    <a:pt x="767567" y="163401"/>
                  </a:lnTo>
                  <a:lnTo>
                    <a:pt x="840632" y="161991"/>
                  </a:lnTo>
                  <a:lnTo>
                    <a:pt x="910922" y="159704"/>
                  </a:lnTo>
                  <a:lnTo>
                    <a:pt x="978016" y="156588"/>
                  </a:lnTo>
                  <a:lnTo>
                    <a:pt x="1041491" y="152694"/>
                  </a:lnTo>
                  <a:lnTo>
                    <a:pt x="1100924" y="148072"/>
                  </a:lnTo>
                  <a:lnTo>
                    <a:pt x="1155894" y="142771"/>
                  </a:lnTo>
                  <a:lnTo>
                    <a:pt x="1205978" y="136841"/>
                  </a:lnTo>
                  <a:lnTo>
                    <a:pt x="1250755" y="130334"/>
                  </a:lnTo>
                  <a:lnTo>
                    <a:pt x="1289801" y="123298"/>
                  </a:lnTo>
                  <a:lnTo>
                    <a:pt x="1349013" y="107840"/>
                  </a:lnTo>
                  <a:lnTo>
                    <a:pt x="1384300" y="81941"/>
                  </a:lnTo>
                  <a:lnTo>
                    <a:pt x="1380238" y="73012"/>
                  </a:lnTo>
                  <a:lnTo>
                    <a:pt x="1322694" y="48098"/>
                  </a:lnTo>
                  <a:lnTo>
                    <a:pt x="1250755" y="33547"/>
                  </a:lnTo>
                  <a:lnTo>
                    <a:pt x="1205978" y="27040"/>
                  </a:lnTo>
                  <a:lnTo>
                    <a:pt x="1155894" y="21110"/>
                  </a:lnTo>
                  <a:lnTo>
                    <a:pt x="1100924" y="15809"/>
                  </a:lnTo>
                  <a:lnTo>
                    <a:pt x="1041491" y="11187"/>
                  </a:lnTo>
                  <a:lnTo>
                    <a:pt x="978016" y="7293"/>
                  </a:lnTo>
                  <a:lnTo>
                    <a:pt x="910922" y="4177"/>
                  </a:lnTo>
                  <a:lnTo>
                    <a:pt x="840632" y="1889"/>
                  </a:lnTo>
                  <a:lnTo>
                    <a:pt x="767567" y="480"/>
                  </a:lnTo>
                  <a:lnTo>
                    <a:pt x="69215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92608" y="6927365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5">
                  <a:moveTo>
                    <a:pt x="0" y="81940"/>
                  </a:moveTo>
                  <a:lnTo>
                    <a:pt x="35286" y="56041"/>
                  </a:lnTo>
                  <a:lnTo>
                    <a:pt x="94498" y="40583"/>
                  </a:lnTo>
                  <a:lnTo>
                    <a:pt x="133544" y="33547"/>
                  </a:lnTo>
                  <a:lnTo>
                    <a:pt x="178321" y="27040"/>
                  </a:lnTo>
                  <a:lnTo>
                    <a:pt x="228405" y="21110"/>
                  </a:lnTo>
                  <a:lnTo>
                    <a:pt x="283375" y="15809"/>
                  </a:lnTo>
                  <a:lnTo>
                    <a:pt x="342808" y="11187"/>
                  </a:lnTo>
                  <a:lnTo>
                    <a:pt x="406283" y="7293"/>
                  </a:lnTo>
                  <a:lnTo>
                    <a:pt x="473377" y="4177"/>
                  </a:lnTo>
                  <a:lnTo>
                    <a:pt x="543667" y="1889"/>
                  </a:lnTo>
                  <a:lnTo>
                    <a:pt x="616732" y="480"/>
                  </a:lnTo>
                  <a:lnTo>
                    <a:pt x="692149" y="0"/>
                  </a:lnTo>
                  <a:lnTo>
                    <a:pt x="767567" y="480"/>
                  </a:lnTo>
                  <a:lnTo>
                    <a:pt x="840632" y="1889"/>
                  </a:lnTo>
                  <a:lnTo>
                    <a:pt x="910922" y="4177"/>
                  </a:lnTo>
                  <a:lnTo>
                    <a:pt x="978016" y="7293"/>
                  </a:lnTo>
                  <a:lnTo>
                    <a:pt x="1041491" y="11187"/>
                  </a:lnTo>
                  <a:lnTo>
                    <a:pt x="1100924" y="15809"/>
                  </a:lnTo>
                  <a:lnTo>
                    <a:pt x="1155894" y="21110"/>
                  </a:lnTo>
                  <a:lnTo>
                    <a:pt x="1205978" y="27040"/>
                  </a:lnTo>
                  <a:lnTo>
                    <a:pt x="1250755" y="33547"/>
                  </a:lnTo>
                  <a:lnTo>
                    <a:pt x="1289801" y="40583"/>
                  </a:lnTo>
                  <a:lnTo>
                    <a:pt x="1349013" y="56041"/>
                  </a:lnTo>
                  <a:lnTo>
                    <a:pt x="1384299" y="81940"/>
                  </a:lnTo>
                  <a:lnTo>
                    <a:pt x="1380238" y="90869"/>
                  </a:lnTo>
                  <a:lnTo>
                    <a:pt x="1322694" y="115783"/>
                  </a:lnTo>
                  <a:lnTo>
                    <a:pt x="1250755" y="130334"/>
                  </a:lnTo>
                  <a:lnTo>
                    <a:pt x="1205978" y="136841"/>
                  </a:lnTo>
                  <a:lnTo>
                    <a:pt x="1155894" y="142771"/>
                  </a:lnTo>
                  <a:lnTo>
                    <a:pt x="1100924" y="148072"/>
                  </a:lnTo>
                  <a:lnTo>
                    <a:pt x="1041491" y="152694"/>
                  </a:lnTo>
                  <a:lnTo>
                    <a:pt x="978016" y="156588"/>
                  </a:lnTo>
                  <a:lnTo>
                    <a:pt x="910922" y="159704"/>
                  </a:lnTo>
                  <a:lnTo>
                    <a:pt x="840632" y="161991"/>
                  </a:lnTo>
                  <a:lnTo>
                    <a:pt x="767567" y="163401"/>
                  </a:lnTo>
                  <a:lnTo>
                    <a:pt x="692149" y="163881"/>
                  </a:lnTo>
                  <a:lnTo>
                    <a:pt x="616732" y="163401"/>
                  </a:lnTo>
                  <a:lnTo>
                    <a:pt x="543667" y="161991"/>
                  </a:lnTo>
                  <a:lnTo>
                    <a:pt x="473377" y="159704"/>
                  </a:lnTo>
                  <a:lnTo>
                    <a:pt x="406283" y="156588"/>
                  </a:lnTo>
                  <a:lnTo>
                    <a:pt x="342808" y="152694"/>
                  </a:lnTo>
                  <a:lnTo>
                    <a:pt x="283375" y="148072"/>
                  </a:lnTo>
                  <a:lnTo>
                    <a:pt x="228405" y="142771"/>
                  </a:lnTo>
                  <a:lnTo>
                    <a:pt x="178321" y="136841"/>
                  </a:lnTo>
                  <a:lnTo>
                    <a:pt x="133544" y="130334"/>
                  </a:lnTo>
                  <a:lnTo>
                    <a:pt x="94498" y="123298"/>
                  </a:lnTo>
                  <a:lnTo>
                    <a:pt x="35286" y="107840"/>
                  </a:lnTo>
                  <a:lnTo>
                    <a:pt x="0" y="8194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92599" y="6094298"/>
              <a:ext cx="1384300" cy="929005"/>
            </a:xfrm>
            <a:custGeom>
              <a:avLst/>
              <a:gdLst/>
              <a:ahLst/>
              <a:cxnLst/>
              <a:rect l="l" t="t" r="r" b="b"/>
              <a:pathLst>
                <a:path w="1384300" h="929004">
                  <a:moveTo>
                    <a:pt x="1384300" y="81940"/>
                  </a:moveTo>
                  <a:lnTo>
                    <a:pt x="1349019" y="56045"/>
                  </a:lnTo>
                  <a:lnTo>
                    <a:pt x="1289799" y="40589"/>
                  </a:lnTo>
                  <a:lnTo>
                    <a:pt x="1250759" y="33553"/>
                  </a:lnTo>
                  <a:lnTo>
                    <a:pt x="1205979" y="27051"/>
                  </a:lnTo>
                  <a:lnTo>
                    <a:pt x="1155903" y="21120"/>
                  </a:lnTo>
                  <a:lnTo>
                    <a:pt x="1100924" y="15811"/>
                  </a:lnTo>
                  <a:lnTo>
                    <a:pt x="1041488" y="11188"/>
                  </a:lnTo>
                  <a:lnTo>
                    <a:pt x="978014" y="7302"/>
                  </a:lnTo>
                  <a:lnTo>
                    <a:pt x="910920" y="4178"/>
                  </a:lnTo>
                  <a:lnTo>
                    <a:pt x="840638" y="1892"/>
                  </a:lnTo>
                  <a:lnTo>
                    <a:pt x="767575" y="482"/>
                  </a:lnTo>
                  <a:lnTo>
                    <a:pt x="692150" y="0"/>
                  </a:lnTo>
                  <a:lnTo>
                    <a:pt x="616737" y="482"/>
                  </a:lnTo>
                  <a:lnTo>
                    <a:pt x="543674" y="1892"/>
                  </a:lnTo>
                  <a:lnTo>
                    <a:pt x="473379" y="4178"/>
                  </a:lnTo>
                  <a:lnTo>
                    <a:pt x="406285" y="7302"/>
                  </a:lnTo>
                  <a:lnTo>
                    <a:pt x="342811" y="11188"/>
                  </a:lnTo>
                  <a:lnTo>
                    <a:pt x="283375" y="15811"/>
                  </a:lnTo>
                  <a:lnTo>
                    <a:pt x="228409" y="21120"/>
                  </a:lnTo>
                  <a:lnTo>
                    <a:pt x="178320" y="27051"/>
                  </a:lnTo>
                  <a:lnTo>
                    <a:pt x="133553" y="33553"/>
                  </a:lnTo>
                  <a:lnTo>
                    <a:pt x="94500" y="40589"/>
                  </a:lnTo>
                  <a:lnTo>
                    <a:pt x="35293" y="56045"/>
                  </a:lnTo>
                  <a:lnTo>
                    <a:pt x="0" y="81940"/>
                  </a:lnTo>
                  <a:lnTo>
                    <a:pt x="4064" y="90881"/>
                  </a:lnTo>
                  <a:lnTo>
                    <a:pt x="14427" y="98425"/>
                  </a:lnTo>
                  <a:lnTo>
                    <a:pt x="14427" y="928674"/>
                  </a:lnTo>
                  <a:lnTo>
                    <a:pt x="1369885" y="928674"/>
                  </a:lnTo>
                  <a:lnTo>
                    <a:pt x="1369885" y="98412"/>
                  </a:lnTo>
                  <a:lnTo>
                    <a:pt x="1380236" y="90881"/>
                  </a:lnTo>
                  <a:lnTo>
                    <a:pt x="1384300" y="8194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92608" y="6094298"/>
              <a:ext cx="1384300" cy="164465"/>
            </a:xfrm>
            <a:custGeom>
              <a:avLst/>
              <a:gdLst/>
              <a:ahLst/>
              <a:cxnLst/>
              <a:rect l="l" t="t" r="r" b="b"/>
              <a:pathLst>
                <a:path w="1384300" h="164464">
                  <a:moveTo>
                    <a:pt x="0" y="81941"/>
                  </a:moveTo>
                  <a:lnTo>
                    <a:pt x="35286" y="56041"/>
                  </a:lnTo>
                  <a:lnTo>
                    <a:pt x="94498" y="40583"/>
                  </a:lnTo>
                  <a:lnTo>
                    <a:pt x="133544" y="33547"/>
                  </a:lnTo>
                  <a:lnTo>
                    <a:pt x="178321" y="27040"/>
                  </a:lnTo>
                  <a:lnTo>
                    <a:pt x="228405" y="21110"/>
                  </a:lnTo>
                  <a:lnTo>
                    <a:pt x="283375" y="15809"/>
                  </a:lnTo>
                  <a:lnTo>
                    <a:pt x="342808" y="11187"/>
                  </a:lnTo>
                  <a:lnTo>
                    <a:pt x="406283" y="7293"/>
                  </a:lnTo>
                  <a:lnTo>
                    <a:pt x="473377" y="4177"/>
                  </a:lnTo>
                  <a:lnTo>
                    <a:pt x="543667" y="1889"/>
                  </a:lnTo>
                  <a:lnTo>
                    <a:pt x="616732" y="480"/>
                  </a:lnTo>
                  <a:lnTo>
                    <a:pt x="692149" y="0"/>
                  </a:lnTo>
                  <a:lnTo>
                    <a:pt x="767567" y="480"/>
                  </a:lnTo>
                  <a:lnTo>
                    <a:pt x="840632" y="1889"/>
                  </a:lnTo>
                  <a:lnTo>
                    <a:pt x="910922" y="4177"/>
                  </a:lnTo>
                  <a:lnTo>
                    <a:pt x="978016" y="7293"/>
                  </a:lnTo>
                  <a:lnTo>
                    <a:pt x="1041491" y="11187"/>
                  </a:lnTo>
                  <a:lnTo>
                    <a:pt x="1100924" y="15809"/>
                  </a:lnTo>
                  <a:lnTo>
                    <a:pt x="1155894" y="21110"/>
                  </a:lnTo>
                  <a:lnTo>
                    <a:pt x="1205978" y="27040"/>
                  </a:lnTo>
                  <a:lnTo>
                    <a:pt x="1250755" y="33547"/>
                  </a:lnTo>
                  <a:lnTo>
                    <a:pt x="1289801" y="40583"/>
                  </a:lnTo>
                  <a:lnTo>
                    <a:pt x="1349013" y="56041"/>
                  </a:lnTo>
                  <a:lnTo>
                    <a:pt x="1384299" y="81941"/>
                  </a:lnTo>
                  <a:lnTo>
                    <a:pt x="1380238" y="90869"/>
                  </a:lnTo>
                  <a:lnTo>
                    <a:pt x="1322694" y="115783"/>
                  </a:lnTo>
                  <a:lnTo>
                    <a:pt x="1250755" y="130334"/>
                  </a:lnTo>
                  <a:lnTo>
                    <a:pt x="1205978" y="136841"/>
                  </a:lnTo>
                  <a:lnTo>
                    <a:pt x="1155894" y="142771"/>
                  </a:lnTo>
                  <a:lnTo>
                    <a:pt x="1100924" y="148072"/>
                  </a:lnTo>
                  <a:lnTo>
                    <a:pt x="1041491" y="152694"/>
                  </a:lnTo>
                  <a:lnTo>
                    <a:pt x="978016" y="156588"/>
                  </a:lnTo>
                  <a:lnTo>
                    <a:pt x="910922" y="159704"/>
                  </a:lnTo>
                  <a:lnTo>
                    <a:pt x="840632" y="161992"/>
                  </a:lnTo>
                  <a:lnTo>
                    <a:pt x="767567" y="163401"/>
                  </a:lnTo>
                  <a:lnTo>
                    <a:pt x="692149" y="163881"/>
                  </a:lnTo>
                  <a:lnTo>
                    <a:pt x="616732" y="163401"/>
                  </a:lnTo>
                  <a:lnTo>
                    <a:pt x="543667" y="161992"/>
                  </a:lnTo>
                  <a:lnTo>
                    <a:pt x="473377" y="159704"/>
                  </a:lnTo>
                  <a:lnTo>
                    <a:pt x="406283" y="156588"/>
                  </a:lnTo>
                  <a:lnTo>
                    <a:pt x="342808" y="152694"/>
                  </a:lnTo>
                  <a:lnTo>
                    <a:pt x="283375" y="148072"/>
                  </a:lnTo>
                  <a:lnTo>
                    <a:pt x="228405" y="142771"/>
                  </a:lnTo>
                  <a:lnTo>
                    <a:pt x="178321" y="136841"/>
                  </a:lnTo>
                  <a:lnTo>
                    <a:pt x="133544" y="130334"/>
                  </a:lnTo>
                  <a:lnTo>
                    <a:pt x="94498" y="123298"/>
                  </a:lnTo>
                  <a:lnTo>
                    <a:pt x="35286" y="107840"/>
                  </a:lnTo>
                  <a:lnTo>
                    <a:pt x="0" y="8194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02133" y="6438467"/>
            <a:ext cx="1365250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70840" marR="342265" indent="8255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latin typeface="Arial"/>
                <a:cs typeface="Arial"/>
              </a:rPr>
              <a:t>Base </a:t>
            </a:r>
            <a:r>
              <a:rPr sz="1200" b="1" spc="-25" dirty="0">
                <a:latin typeface="Arial"/>
                <a:cs typeface="Arial"/>
              </a:rPr>
              <a:t>de </a:t>
            </a:r>
            <a:r>
              <a:rPr sz="1200" b="1" spc="-10" dirty="0">
                <a:latin typeface="Arial"/>
                <a:cs typeface="Arial"/>
              </a:rPr>
              <a:t>Données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27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339928"/>
            <a:ext cx="48323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343785" algn="l"/>
              </a:tabLst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Protocole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d'exclusion mutuelle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28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7111" y="1795029"/>
            <a:ext cx="8084184" cy="14833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17500" marR="5080" indent="-304800">
              <a:lnSpc>
                <a:spcPts val="2100"/>
              </a:lnSpc>
              <a:spcBef>
                <a:spcPts val="219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7500" algn="l"/>
              </a:tabLst>
            </a:pPr>
            <a:r>
              <a:rPr sz="1800" b="1" dirty="0">
                <a:latin typeface="Trebuchet MS"/>
                <a:cs typeface="Trebuchet MS"/>
              </a:rPr>
              <a:t>Exclusion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mutuelle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3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procéder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à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allocation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exclusive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objets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que </a:t>
            </a:r>
            <a:r>
              <a:rPr sz="1800" b="1" dirty="0">
                <a:latin typeface="Trebuchet MS"/>
                <a:cs typeface="Trebuchet MS"/>
              </a:rPr>
              <a:t>chaque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manipule.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663300"/>
              </a:buClr>
              <a:buFont typeface="Wingdings"/>
              <a:buChar char=""/>
            </a:pPr>
            <a:endParaRPr sz="1800">
              <a:latin typeface="Trebuchet MS"/>
              <a:cs typeface="Trebuchet MS"/>
            </a:endParaRPr>
          </a:p>
          <a:p>
            <a:pPr marL="301625" marR="814705" indent="-288925">
              <a:lnSpc>
                <a:spcPts val="2310"/>
              </a:lnSpc>
              <a:buFont typeface="Wingdings"/>
              <a:buChar char=""/>
              <a:tabLst>
                <a:tab pos="301625" algn="l"/>
                <a:tab pos="316865" algn="l"/>
                <a:tab pos="1492250" algn="l"/>
                <a:tab pos="3648710" algn="l"/>
              </a:tabLst>
            </a:pPr>
            <a:r>
              <a:rPr sz="1350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1800" b="1" dirty="0">
                <a:latin typeface="Trebuchet MS"/>
                <a:cs typeface="Trebuchet MS"/>
              </a:rPr>
              <a:t>Principe</a:t>
            </a:r>
            <a:r>
              <a:rPr sz="1800" b="1" spc="-7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r>
              <a:rPr sz="1800" b="1" dirty="0">
                <a:latin typeface="Trebuchet MS"/>
                <a:cs typeface="Trebuchet MS"/>
              </a:rPr>
              <a:t>	Avant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d'effectuer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opération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(lire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ou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écrire), </a:t>
            </a:r>
            <a:r>
              <a:rPr sz="1800" b="1" dirty="0">
                <a:latin typeface="Trebuchet MS"/>
                <a:cs typeface="Trebuchet MS"/>
              </a:rPr>
              <a:t>Acquérir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contrôle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exclusif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r>
              <a:rPr sz="1800" b="1" dirty="0">
                <a:latin typeface="Trebuchet MS"/>
                <a:cs typeface="Trebuchet MS"/>
              </a:rPr>
              <a:t>	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verrouiller(x)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6036" y="3278389"/>
            <a:ext cx="2709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Abandonner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contrôle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4711" y="3252989"/>
            <a:ext cx="11588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libérer(x)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7111" y="3881893"/>
            <a:ext cx="8373109" cy="2712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4005" marR="5080" indent="-281305">
              <a:lnSpc>
                <a:spcPct val="98800"/>
              </a:lnSpc>
              <a:spcBef>
                <a:spcPts val="125"/>
              </a:spcBef>
              <a:buClr>
                <a:srgbClr val="663300"/>
              </a:buClr>
              <a:buSzPct val="75000"/>
              <a:buAutoNum type="arabicPeriod"/>
              <a:tabLst>
                <a:tab pos="317500" algn="l"/>
              </a:tabLst>
            </a:pP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Règle</a:t>
            </a:r>
            <a:r>
              <a:rPr sz="18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1</a:t>
            </a:r>
            <a:r>
              <a:rPr sz="18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Aucune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peut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effectuer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mise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à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jour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ou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une 	</a:t>
            </a:r>
            <a:r>
              <a:rPr sz="1800" b="1" dirty="0">
                <a:latin typeface="Trebuchet MS"/>
                <a:cs typeface="Trebuchet MS"/>
              </a:rPr>
              <a:t>lecture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d'un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objet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elle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n'en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acquis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préalable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contrôle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exclusif 	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verrouiller</a:t>
            </a:r>
            <a:endParaRPr sz="1800">
              <a:latin typeface="Trebuchet MS"/>
              <a:cs typeface="Trebuchet MS"/>
            </a:endParaRPr>
          </a:p>
          <a:p>
            <a:pPr marL="294005" marR="269240" indent="-281305">
              <a:lnSpc>
                <a:spcPct val="98800"/>
              </a:lnSpc>
              <a:spcBef>
                <a:spcPts val="495"/>
              </a:spcBef>
              <a:buClr>
                <a:srgbClr val="663300"/>
              </a:buClr>
              <a:buSzPct val="75000"/>
              <a:buAutoNum type="arabicPeriod"/>
              <a:tabLst>
                <a:tab pos="317500" algn="l"/>
              </a:tabLst>
            </a:pP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Règle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2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T2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peut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acquérir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contrôle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exclusif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d'un 	</a:t>
            </a:r>
            <a:r>
              <a:rPr sz="1800" b="1" dirty="0">
                <a:latin typeface="Trebuchet MS"/>
                <a:cs typeface="Trebuchet MS"/>
              </a:rPr>
              <a:t>objet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parce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utilisé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autre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T1,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T2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doit 	</a:t>
            </a:r>
            <a:r>
              <a:rPr sz="1800" b="1" dirty="0">
                <a:latin typeface="Trebuchet MS"/>
                <a:cs typeface="Trebuchet MS"/>
              </a:rPr>
              <a:t>attendre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jusqu'à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X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soit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libéré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25" dirty="0">
                <a:latin typeface="Trebuchet MS"/>
                <a:cs typeface="Trebuchet MS"/>
              </a:rPr>
              <a:t> T1.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800">
              <a:latin typeface="Trebuchet MS"/>
              <a:cs typeface="Trebuchet MS"/>
            </a:endParaRPr>
          </a:p>
          <a:p>
            <a:pPr marL="393700" marR="2491740">
              <a:lnSpc>
                <a:spcPct val="120400"/>
              </a:lnSpc>
            </a:pP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Permet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résoudre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le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problème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des</a:t>
            </a:r>
            <a:r>
              <a:rPr sz="18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pertes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18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màj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(Niveau</a:t>
            </a:r>
            <a:r>
              <a:rPr sz="18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18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cohérence</a:t>
            </a:r>
            <a:r>
              <a:rPr sz="18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1)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29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83566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Exemple</a:t>
            </a:r>
            <a:r>
              <a:rPr sz="2800" b="1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d'exclusion</a:t>
            </a:r>
            <a:r>
              <a:rPr sz="2800" b="1" spc="-1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00"/>
                </a:solidFill>
                <a:latin typeface="Arial"/>
                <a:cs typeface="Arial"/>
              </a:rPr>
              <a:t>mutuelle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6383" y="2271598"/>
            <a:ext cx="32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5183" y="2271598"/>
            <a:ext cx="3219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T2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94557" y="2271598"/>
            <a:ext cx="2089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03983" y="2637358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10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6383" y="2929458"/>
            <a:ext cx="3449320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33880">
              <a:lnSpc>
                <a:spcPct val="1208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verrouiller(A) </a:t>
            </a:r>
            <a:r>
              <a:rPr sz="2000" b="1" spc="-10" dirty="0">
                <a:latin typeface="Arial"/>
                <a:cs typeface="Arial"/>
              </a:rPr>
              <a:t>lire(A,t)</a:t>
            </a:r>
            <a:endParaRPr sz="2000">
              <a:latin typeface="Arial"/>
              <a:cs typeface="Arial"/>
            </a:endParaRPr>
          </a:p>
          <a:p>
            <a:pPr marL="1841500" marR="5080">
              <a:lnSpc>
                <a:spcPct val="120800"/>
              </a:lnSpc>
            </a:pP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verrouiller(A) attente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3983" y="4821758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20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6383" y="4415358"/>
            <a:ext cx="1225550" cy="11049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10" dirty="0">
                <a:latin typeface="Arial"/>
                <a:cs typeface="Arial"/>
              </a:rPr>
              <a:t>t:=t+10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2900"/>
              </a:lnSpc>
            </a:pPr>
            <a:r>
              <a:rPr sz="2000" b="1" spc="-10" dirty="0">
                <a:latin typeface="Arial"/>
                <a:cs typeface="Arial"/>
              </a:rPr>
              <a:t>écrire(A,t)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libérer(A)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03983" y="6294956"/>
            <a:ext cx="307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Arial"/>
                <a:cs typeface="Arial"/>
              </a:rPr>
              <a:t>70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5183" y="5494858"/>
            <a:ext cx="1282065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4960">
              <a:lnSpc>
                <a:spcPct val="1208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lire(A,s) s:=s+50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écrire(A,s) </a:t>
            </a:r>
            <a:r>
              <a:rPr sz="2000" b="1" spc="-10" dirty="0">
                <a:solidFill>
                  <a:srgbClr val="CC6600"/>
                </a:solidFill>
                <a:latin typeface="Arial"/>
                <a:cs typeface="Arial"/>
              </a:rPr>
              <a:t>libérer(A)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906683" y="2290648"/>
            <a:ext cx="4343400" cy="4800600"/>
            <a:chOff x="2906683" y="2290648"/>
            <a:chExt cx="4343400" cy="4800600"/>
          </a:xfrm>
        </p:grpSpPr>
        <p:sp>
          <p:nvSpPr>
            <p:cNvPr id="19" name="object 19"/>
            <p:cNvSpPr/>
            <p:nvPr/>
          </p:nvSpPr>
          <p:spPr>
            <a:xfrm>
              <a:off x="2906683" y="2671648"/>
              <a:ext cx="4343400" cy="0"/>
            </a:xfrm>
            <a:custGeom>
              <a:avLst/>
              <a:gdLst/>
              <a:ahLst/>
              <a:cxnLst/>
              <a:rect l="l" t="t" r="r" b="b"/>
              <a:pathLst>
                <a:path w="4343400">
                  <a:moveTo>
                    <a:pt x="0" y="0"/>
                  </a:moveTo>
                  <a:lnTo>
                    <a:pt x="4343398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64283" y="2290648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h="4800600">
                  <a:moveTo>
                    <a:pt x="0" y="0"/>
                  </a:moveTo>
                  <a:lnTo>
                    <a:pt x="0" y="48005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38214" y="6860444"/>
            <a:ext cx="21336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20"/>
              </a:lnSpc>
            </a:pPr>
            <a:r>
              <a:rPr sz="1600" spc="-25" dirty="0">
                <a:latin typeface="Trebuchet MS"/>
                <a:cs typeface="Trebuchet MS"/>
              </a:rPr>
              <a:t>30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20137" y="509154"/>
            <a:ext cx="576834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Protocole</a:t>
            </a:r>
            <a:r>
              <a:rPr sz="3200" spc="-12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d'exclusion</a:t>
            </a:r>
            <a:r>
              <a:rPr sz="3200" spc="-12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mutuelle: Inconvénients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223" y="1962669"/>
            <a:ext cx="4239260" cy="65532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Non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suffisant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éviter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755015" lvl="1" indent="-285750">
              <a:lnSpc>
                <a:spcPct val="100000"/>
              </a:lnSpc>
              <a:spcBef>
                <a:spcPts val="2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Lectures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sales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et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non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reproductibles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223" y="3021214"/>
            <a:ext cx="4044950" cy="6248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4965" marR="5080" indent="-342900">
              <a:lnSpc>
                <a:spcPts val="2320"/>
              </a:lnSpc>
              <a:spcBef>
                <a:spcPts val="24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Pas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garantie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des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niveaux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de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cohérence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2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et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3)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4223" y="5192914"/>
            <a:ext cx="195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663300"/>
                </a:solidFill>
                <a:latin typeface="Wingdings"/>
                <a:cs typeface="Wingdings"/>
              </a:rPr>
              <a:t></a:t>
            </a:r>
            <a:endParaRPr sz="1500">
              <a:latin typeface="Wingdings"/>
              <a:cs typeface="Wingding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03895" y="1828684"/>
            <a:ext cx="3733800" cy="5237480"/>
          </a:xfrm>
          <a:custGeom>
            <a:avLst/>
            <a:gdLst/>
            <a:ahLst/>
            <a:cxnLst/>
            <a:rect l="l" t="t" r="r" b="b"/>
            <a:pathLst>
              <a:path w="3733800" h="5237480">
                <a:moveTo>
                  <a:pt x="3733800" y="0"/>
                </a:moveTo>
                <a:lnTo>
                  <a:pt x="0" y="0"/>
                </a:lnTo>
                <a:lnTo>
                  <a:pt x="0" y="5237162"/>
                </a:lnTo>
                <a:lnTo>
                  <a:pt x="3733800" y="5237162"/>
                </a:lnTo>
                <a:lnTo>
                  <a:pt x="3733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26854" y="1769758"/>
            <a:ext cx="711200" cy="6057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434340" algn="l"/>
              </a:tabLst>
            </a:pPr>
            <a:r>
              <a:rPr sz="1600" b="1" spc="-5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50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365"/>
              </a:spcBef>
              <a:tabLst>
                <a:tab pos="471805" algn="l"/>
              </a:tabLst>
            </a:pPr>
            <a:r>
              <a:rPr sz="1600" b="1" spc="-25" dirty="0">
                <a:latin typeface="Arial"/>
                <a:cs typeface="Arial"/>
              </a:rPr>
              <a:t>25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4395" y="3274452"/>
            <a:ext cx="3644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Arial"/>
                <a:cs typeface="Arial"/>
              </a:rPr>
              <a:t>125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85987" y="5611252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Arial"/>
                <a:cs typeface="Arial"/>
              </a:rPr>
              <a:t>50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1195" y="1815985"/>
            <a:ext cx="3107690" cy="5233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9040" algn="l"/>
              </a:tabLst>
            </a:pPr>
            <a:r>
              <a:rPr sz="1600" b="1" spc="-25" dirty="0">
                <a:latin typeface="Arial"/>
                <a:cs typeface="Arial"/>
              </a:rPr>
              <a:t>T1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T2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00">
              <a:latin typeface="Arial"/>
              <a:cs typeface="Arial"/>
            </a:endParaRPr>
          </a:p>
          <a:p>
            <a:pPr marL="12700" marR="181102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verrouiller(A) </a:t>
            </a:r>
            <a:r>
              <a:rPr sz="1600" b="1" spc="-10" dirty="0">
                <a:latin typeface="Arial"/>
                <a:cs typeface="Arial"/>
              </a:rPr>
              <a:t>L(A,t) t:=t+100 E(A,t),</a:t>
            </a: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Lib(A)</a:t>
            </a:r>
            <a:endParaRPr sz="1600">
              <a:latin typeface="Arial"/>
              <a:cs typeface="Arial"/>
            </a:endParaRPr>
          </a:p>
          <a:p>
            <a:pPr marL="1209040" marR="61468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verrouiller(A) </a:t>
            </a:r>
            <a:r>
              <a:rPr sz="1600" b="1" spc="-10" dirty="0">
                <a:latin typeface="Arial"/>
                <a:cs typeface="Arial"/>
              </a:rPr>
              <a:t>L(A,s)</a:t>
            </a:r>
            <a:endParaRPr sz="1600">
              <a:latin typeface="Arial"/>
              <a:cs typeface="Arial"/>
            </a:endParaRPr>
          </a:p>
          <a:p>
            <a:pPr marL="1209040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latin typeface="Arial"/>
                <a:cs typeface="Arial"/>
              </a:rPr>
              <a:t>s:=s*2</a:t>
            </a:r>
            <a:endParaRPr sz="1600">
              <a:latin typeface="Arial"/>
              <a:cs typeface="Arial"/>
            </a:endParaRPr>
          </a:p>
          <a:p>
            <a:pPr marL="1209040">
              <a:lnSpc>
                <a:spcPct val="100000"/>
              </a:lnSpc>
              <a:spcBef>
                <a:spcPts val="380"/>
              </a:spcBef>
              <a:tabLst>
                <a:tab pos="2755265" algn="l"/>
              </a:tabLst>
            </a:pPr>
            <a:r>
              <a:rPr sz="1600" b="1" dirty="0">
                <a:latin typeface="Arial"/>
                <a:cs typeface="Arial"/>
              </a:rPr>
              <a:t>E(A,s),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Lib(A)</a:t>
            </a:r>
            <a:r>
              <a:rPr sz="1600" b="1" dirty="0">
                <a:solidFill>
                  <a:srgbClr val="CC6600"/>
                </a:solidFill>
                <a:latin typeface="Arial"/>
                <a:cs typeface="Arial"/>
              </a:rPr>
              <a:t>	</a:t>
            </a:r>
            <a:r>
              <a:rPr sz="1600" b="1" spc="-25" dirty="0">
                <a:solidFill>
                  <a:srgbClr val="FF3300"/>
                </a:solidFill>
                <a:latin typeface="Arial"/>
                <a:cs typeface="Arial"/>
              </a:rPr>
              <a:t>250</a:t>
            </a:r>
            <a:endParaRPr sz="1600">
              <a:latin typeface="Arial"/>
              <a:cs typeface="Arial"/>
            </a:endParaRPr>
          </a:p>
          <a:p>
            <a:pPr marL="1209040" marR="61468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verrouiller(B) </a:t>
            </a:r>
            <a:r>
              <a:rPr sz="1600" b="1" spc="-10" dirty="0">
                <a:latin typeface="Arial"/>
                <a:cs typeface="Arial"/>
              </a:rPr>
              <a:t>L(B,s)</a:t>
            </a:r>
            <a:endParaRPr sz="1600">
              <a:latin typeface="Arial"/>
              <a:cs typeface="Arial"/>
            </a:endParaRPr>
          </a:p>
          <a:p>
            <a:pPr marL="1209040" marR="603885">
              <a:lnSpc>
                <a:spcPct val="119800"/>
              </a:lnSpc>
            </a:pPr>
            <a:r>
              <a:rPr sz="1600" b="1" spc="-10" dirty="0">
                <a:latin typeface="Arial"/>
                <a:cs typeface="Arial"/>
              </a:rPr>
              <a:t>s:=s*2</a:t>
            </a:r>
            <a:r>
              <a:rPr sz="1600" b="1" spc="50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E(B,s),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Lib(B)</a:t>
            </a:r>
            <a:endParaRPr sz="1600">
              <a:latin typeface="Arial"/>
              <a:cs typeface="Arial"/>
            </a:endParaRPr>
          </a:p>
          <a:p>
            <a:pPr marL="12700" marR="181102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verrouiller(B) </a:t>
            </a:r>
            <a:r>
              <a:rPr sz="1600" b="1" spc="-10" dirty="0">
                <a:latin typeface="Arial"/>
                <a:cs typeface="Arial"/>
              </a:rPr>
              <a:t>L(B,t) t:=t+100 E(B,t),</a:t>
            </a: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Lib(B)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86039" y="6779652"/>
            <a:ext cx="3644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3300"/>
                </a:solidFill>
                <a:latin typeface="Arial"/>
                <a:cs typeface="Arial"/>
              </a:rPr>
              <a:t>150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851495" y="1828685"/>
            <a:ext cx="3581400" cy="5334000"/>
            <a:chOff x="5851495" y="1828685"/>
            <a:chExt cx="3581400" cy="5334000"/>
          </a:xfrm>
        </p:grpSpPr>
        <p:sp>
          <p:nvSpPr>
            <p:cNvPr id="19" name="object 19"/>
            <p:cNvSpPr/>
            <p:nvPr/>
          </p:nvSpPr>
          <p:spPr>
            <a:xfrm>
              <a:off x="5851495" y="2133484"/>
              <a:ext cx="3581400" cy="0"/>
            </a:xfrm>
            <a:custGeom>
              <a:avLst/>
              <a:gdLst/>
              <a:ahLst/>
              <a:cxnLst/>
              <a:rect l="l" t="t" r="r" b="b"/>
              <a:pathLst>
                <a:path w="3581400">
                  <a:moveTo>
                    <a:pt x="0" y="0"/>
                  </a:moveTo>
                  <a:lnTo>
                    <a:pt x="35813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94695" y="1828685"/>
              <a:ext cx="0" cy="5334000"/>
            </a:xfrm>
            <a:custGeom>
              <a:avLst/>
              <a:gdLst/>
              <a:ahLst/>
              <a:cxnLst/>
              <a:rect l="l" t="t" r="r" b="b"/>
              <a:pathLst>
                <a:path h="5334000">
                  <a:moveTo>
                    <a:pt x="0" y="0"/>
                  </a:moveTo>
                  <a:lnTo>
                    <a:pt x="0" y="53339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7995" y="5059247"/>
            <a:ext cx="2162174" cy="79057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04223" y="4049914"/>
            <a:ext cx="4666615" cy="1516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080" indent="-342900" algn="just">
              <a:lnSpc>
                <a:spcPct val="100400"/>
              </a:lnSpc>
              <a:spcBef>
                <a:spcPts val="9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Pas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garantie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d</a:t>
            </a:r>
            <a:r>
              <a:rPr sz="2000" spc="-60" dirty="0">
                <a:latin typeface="MS PGothic"/>
                <a:cs typeface="MS PGothic"/>
              </a:rPr>
              <a:t>ʼ</a:t>
            </a:r>
            <a:r>
              <a:rPr sz="2000" b="1" spc="-60" dirty="0">
                <a:latin typeface="Trebuchet MS"/>
                <a:cs typeface="Trebuchet MS"/>
              </a:rPr>
              <a:t>ordonnancements </a:t>
            </a:r>
            <a:r>
              <a:rPr sz="2000" b="1" dirty="0">
                <a:latin typeface="Trebuchet MS"/>
                <a:cs typeface="Trebuchet MS"/>
              </a:rPr>
              <a:t>non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séquentiels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cohérents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(conflit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- </a:t>
            </a:r>
            <a:r>
              <a:rPr sz="2000" b="1" dirty="0">
                <a:latin typeface="Trebuchet MS"/>
                <a:cs typeface="Trebuchet MS"/>
              </a:rPr>
              <a:t>serialisable),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exemple</a:t>
            </a:r>
            <a:r>
              <a:rPr sz="2000" b="1" spc="-50" dirty="0">
                <a:latin typeface="Trebuchet MS"/>
                <a:cs typeface="Trebuchet MS"/>
              </a:rPr>
              <a:t> 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rebuchet MS"/>
              <a:cs typeface="Trebuchet MS"/>
            </a:endParaRPr>
          </a:p>
          <a:p>
            <a:pPr marL="1153160">
              <a:lnSpc>
                <a:spcPct val="100000"/>
              </a:lnSpc>
              <a:tabLst>
                <a:tab pos="2677160" algn="l"/>
              </a:tabLst>
            </a:pPr>
            <a:r>
              <a:rPr sz="1800" b="1" spc="-25" dirty="0">
                <a:latin typeface="Arial"/>
                <a:cs typeface="Arial"/>
              </a:rPr>
              <a:t>T1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85833" y="6051434"/>
            <a:ext cx="36271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Non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conflit-</a:t>
            </a:r>
            <a:r>
              <a:rPr sz="1400" b="1" dirty="0">
                <a:latin typeface="Arial"/>
                <a:cs typeface="Arial"/>
              </a:rPr>
              <a:t>sérialisable</a:t>
            </a:r>
            <a:r>
              <a:rPr sz="1400" b="1" spc="39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=</a:t>
            </a:r>
            <a:r>
              <a:rPr sz="1400" b="1" spc="39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non </a:t>
            </a:r>
            <a:r>
              <a:rPr sz="1400" b="1" spc="-10" dirty="0">
                <a:latin typeface="Arial"/>
                <a:cs typeface="Arial"/>
              </a:rPr>
              <a:t>sérialisable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936828"/>
            <a:ext cx="54425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6250" algn="l"/>
              </a:tabLst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Interblocage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(deadlock)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5305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verrouillage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entraîne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problème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suivant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9023" y="4041913"/>
            <a:ext cx="4018915" cy="68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04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6870" algn="l"/>
              </a:tabLst>
            </a:pPr>
            <a:r>
              <a:rPr sz="1800" b="1" dirty="0">
                <a:latin typeface="Trebuchet MS"/>
                <a:cs typeface="Trebuchet MS"/>
              </a:rPr>
              <a:t>Situation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mise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en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évidence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un 	</a:t>
            </a:r>
            <a:r>
              <a:rPr sz="1800" b="1" dirty="0">
                <a:latin typeface="Trebuchet MS"/>
                <a:cs typeface="Trebuchet MS"/>
              </a:rPr>
              <a:t>graphe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Attend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Quoi</a:t>
            </a:r>
            <a:r>
              <a:rPr sz="1800" b="1" spc="-20" dirty="0">
                <a:latin typeface="Trebuchet MS"/>
                <a:cs typeface="Trebuchet MS"/>
              </a:rPr>
              <a:t> (QAQ)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9023" y="5352553"/>
            <a:ext cx="36175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111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6870" algn="l"/>
              </a:tabLst>
            </a:pPr>
            <a:r>
              <a:rPr sz="1800" b="1" dirty="0">
                <a:latin typeface="Trebuchet MS"/>
                <a:cs typeface="Trebuchet MS"/>
              </a:rPr>
              <a:t>Deux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grandes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techniques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pour 	</a:t>
            </a:r>
            <a:r>
              <a:rPr sz="1800" b="1" dirty="0">
                <a:latin typeface="Trebuchet MS"/>
                <a:cs typeface="Trebuchet MS"/>
              </a:rPr>
              <a:t>résoudre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ce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problème: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6223" y="5966217"/>
            <a:ext cx="5198110" cy="777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2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297815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PREVENTION</a:t>
            </a:r>
            <a:r>
              <a:rPr sz="16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éviter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l'apparition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l'interblocage</a:t>
            </a:r>
            <a:endParaRPr sz="1600">
              <a:latin typeface="Trebuchet MS"/>
              <a:cs typeface="Trebuchet MS"/>
            </a:endParaRPr>
          </a:p>
          <a:p>
            <a:pPr marL="292100" marR="5080" indent="-279400">
              <a:lnSpc>
                <a:spcPts val="1720"/>
              </a:lnSpc>
              <a:spcBef>
                <a:spcPts val="400"/>
              </a:spcBef>
              <a:buFont typeface="Wingdings"/>
              <a:buChar char=""/>
              <a:tabLst>
                <a:tab pos="292100" algn="l"/>
                <a:tab pos="297815" algn="l"/>
              </a:tabLst>
            </a:pPr>
            <a:r>
              <a:rPr sz="12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DETECTION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laisser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les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interblocages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produirent </a:t>
            </a:r>
            <a:r>
              <a:rPr sz="1600" b="1" dirty="0">
                <a:latin typeface="Trebuchet MS"/>
                <a:cs typeface="Trebuchet MS"/>
              </a:rPr>
              <a:t>et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les</a:t>
            </a:r>
            <a:r>
              <a:rPr sz="1600" b="1" spc="-2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détecter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06241" y="2109673"/>
            <a:ext cx="5943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4340" algn="l"/>
              </a:tabLst>
            </a:pPr>
            <a:r>
              <a:rPr sz="1600" b="1" spc="-50" dirty="0">
                <a:latin typeface="Arial"/>
                <a:cs typeface="Arial"/>
              </a:rPr>
              <a:t>A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50" dirty="0">
                <a:latin typeface="Arial"/>
                <a:cs typeface="Arial"/>
              </a:rPr>
              <a:t>B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13783" y="2399741"/>
            <a:ext cx="7042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</a:tabLst>
            </a:pPr>
            <a:r>
              <a:rPr sz="1600" b="1" spc="-25" dirty="0">
                <a:latin typeface="Arial"/>
                <a:cs typeface="Arial"/>
              </a:rPr>
              <a:t>25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3783" y="3568141"/>
            <a:ext cx="3644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Arial"/>
                <a:cs typeface="Arial"/>
              </a:rPr>
              <a:t>125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65374" y="4736539"/>
            <a:ext cx="2514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latin typeface="Arial"/>
                <a:cs typeface="Arial"/>
              </a:rPr>
              <a:t>50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70583" y="2109673"/>
            <a:ext cx="2498090" cy="377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9040" algn="l"/>
              </a:tabLst>
            </a:pPr>
            <a:r>
              <a:rPr sz="1600" b="1" spc="-25" dirty="0">
                <a:latin typeface="Arial"/>
                <a:cs typeface="Arial"/>
              </a:rPr>
              <a:t>T1</a:t>
            </a:r>
            <a:r>
              <a:rPr sz="1600" b="1" dirty="0">
                <a:latin typeface="Arial"/>
                <a:cs typeface="Arial"/>
              </a:rPr>
              <a:t>	</a:t>
            </a:r>
            <a:r>
              <a:rPr sz="1600" b="1" spc="-25" dirty="0">
                <a:latin typeface="Arial"/>
                <a:cs typeface="Arial"/>
              </a:rPr>
              <a:t>T2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600">
              <a:latin typeface="Arial"/>
              <a:cs typeface="Arial"/>
            </a:endParaRPr>
          </a:p>
          <a:p>
            <a:pPr marL="12700" marR="120142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verrouiller(A) </a:t>
            </a:r>
            <a:r>
              <a:rPr sz="1600" b="1" spc="-10" dirty="0">
                <a:latin typeface="Arial"/>
                <a:cs typeface="Arial"/>
              </a:rPr>
              <a:t>L(A,t) t:=t+100 E(A,t)</a:t>
            </a:r>
            <a:endParaRPr sz="1600">
              <a:latin typeface="Arial"/>
              <a:cs typeface="Arial"/>
            </a:endParaRPr>
          </a:p>
          <a:p>
            <a:pPr marL="1209040" marR="508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verrouiller(B) </a:t>
            </a:r>
            <a:r>
              <a:rPr sz="1600" b="1" spc="-10" dirty="0">
                <a:latin typeface="Arial"/>
                <a:cs typeface="Arial"/>
              </a:rPr>
              <a:t>L(B,s)</a:t>
            </a:r>
            <a:endParaRPr sz="1600">
              <a:latin typeface="Arial"/>
              <a:cs typeface="Arial"/>
            </a:endParaRPr>
          </a:p>
          <a:p>
            <a:pPr marL="1209040" marR="636905">
              <a:lnSpc>
                <a:spcPct val="119800"/>
              </a:lnSpc>
            </a:pPr>
            <a:r>
              <a:rPr sz="1600" b="1" spc="-10" dirty="0">
                <a:latin typeface="Arial"/>
                <a:cs typeface="Arial"/>
              </a:rPr>
              <a:t>s:=s*2 E(B,s),</a:t>
            </a:r>
            <a:endParaRPr sz="1600">
              <a:latin typeface="Arial"/>
              <a:cs typeface="Arial"/>
            </a:endParaRPr>
          </a:p>
          <a:p>
            <a:pPr marL="12700" marR="1201420">
              <a:lnSpc>
                <a:spcPct val="119800"/>
              </a:lnSpc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verrouiller(B) attente</a:t>
            </a:r>
            <a:endParaRPr sz="1600">
              <a:latin typeface="Arial"/>
              <a:cs typeface="Arial"/>
            </a:endParaRPr>
          </a:p>
          <a:p>
            <a:pPr marL="1209040">
              <a:lnSpc>
                <a:spcPct val="100000"/>
              </a:lnSpc>
              <a:spcBef>
                <a:spcPts val="380"/>
              </a:spcBef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verrouiller(A)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67227" y="5904941"/>
            <a:ext cx="6915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CC6600"/>
                </a:solidFill>
                <a:latin typeface="Arial"/>
                <a:cs typeface="Arial"/>
              </a:rPr>
              <a:t>attente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83283" y="2177934"/>
            <a:ext cx="3429000" cy="4038600"/>
            <a:chOff x="6183283" y="2177934"/>
            <a:chExt cx="3429000" cy="4038600"/>
          </a:xfrm>
        </p:grpSpPr>
        <p:sp>
          <p:nvSpPr>
            <p:cNvPr id="19" name="object 19"/>
            <p:cNvSpPr/>
            <p:nvPr/>
          </p:nvSpPr>
          <p:spPr>
            <a:xfrm>
              <a:off x="6183283" y="2406534"/>
              <a:ext cx="3429000" cy="0"/>
            </a:xfrm>
            <a:custGeom>
              <a:avLst/>
              <a:gdLst/>
              <a:ahLst/>
              <a:cxnLst/>
              <a:rect l="l" t="t" r="r" b="b"/>
              <a:pathLst>
                <a:path w="3429000">
                  <a:moveTo>
                    <a:pt x="0" y="0"/>
                  </a:moveTo>
                  <a:lnTo>
                    <a:pt x="3428998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74081" y="2177934"/>
              <a:ext cx="0" cy="4038600"/>
            </a:xfrm>
            <a:custGeom>
              <a:avLst/>
              <a:gdLst/>
              <a:ahLst/>
              <a:cxnLst/>
              <a:rect l="l" t="t" r="r" b="b"/>
              <a:pathLst>
                <a:path h="4038600">
                  <a:moveTo>
                    <a:pt x="0" y="0"/>
                  </a:moveTo>
                  <a:lnTo>
                    <a:pt x="0" y="4038598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1795" y="2468447"/>
            <a:ext cx="2162174" cy="79057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068858" y="2165234"/>
            <a:ext cx="1923414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Attente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verrou</a:t>
            </a:r>
            <a:r>
              <a:rPr sz="1400" b="1" spc="-25" dirty="0">
                <a:latin typeface="Arial"/>
                <a:cs typeface="Arial"/>
              </a:rPr>
              <a:t> (A)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536065" algn="l"/>
              </a:tabLst>
            </a:pPr>
            <a:r>
              <a:rPr sz="1800" b="1" spc="-25" dirty="0">
                <a:latin typeface="Arial"/>
                <a:cs typeface="Arial"/>
              </a:rPr>
              <a:t>T1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T2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Attente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verrou</a:t>
            </a:r>
            <a:r>
              <a:rPr sz="1400" b="1" spc="-25" dirty="0">
                <a:latin typeface="Arial"/>
                <a:cs typeface="Arial"/>
              </a:rPr>
              <a:t> (B)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31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0137" y="881264"/>
            <a:ext cx="58261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6250" algn="l"/>
              </a:tabLst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Interblocage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:</a:t>
            </a:r>
            <a:r>
              <a:rPr sz="4000" spc="-1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prévention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3012" y="1860118"/>
            <a:ext cx="8168640" cy="473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Définir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un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ordre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des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transactions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17500" marR="5080" indent="-304800">
              <a:lnSpc>
                <a:spcPct val="100000"/>
              </a:lnSpc>
              <a:spcBef>
                <a:spcPts val="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7500" algn="l"/>
              </a:tabLst>
            </a:pPr>
            <a:r>
              <a:rPr sz="1800" b="1" dirty="0">
                <a:latin typeface="Trebuchet MS"/>
                <a:cs typeface="Trebuchet MS"/>
              </a:rPr>
              <a:t>Quand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demande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objet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détenu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Ti,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leur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fait </a:t>
            </a:r>
            <a:r>
              <a:rPr sz="1800" b="1" dirty="0">
                <a:latin typeface="Trebuchet MS"/>
                <a:cs typeface="Trebuchet MS"/>
              </a:rPr>
              <a:t>passer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test</a:t>
            </a:r>
            <a:r>
              <a:rPr sz="1800" b="1" spc="-20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317500" marR="310515" indent="-304800">
              <a:lnSpc>
                <a:spcPct val="100000"/>
              </a:lnSpc>
              <a:spcBef>
                <a:spcPts val="4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7500" algn="l"/>
              </a:tabLst>
            </a:pP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test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réussit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fait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attendre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sinon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tue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190" dirty="0">
                <a:latin typeface="Trebuchet MS"/>
                <a:cs typeface="Trebuchet MS"/>
              </a:rPr>
              <a:t>l</a:t>
            </a:r>
            <a:r>
              <a:rPr sz="1800" spc="-190" dirty="0">
                <a:latin typeface="MS PGothic"/>
                <a:cs typeface="MS PGothic"/>
              </a:rPr>
              <a:t>ʼ</a:t>
            </a:r>
            <a:r>
              <a:rPr sz="1800" b="1" spc="-190" dirty="0">
                <a:latin typeface="Trebuchet MS"/>
                <a:cs typeface="Trebuchet MS"/>
              </a:rPr>
              <a:t>une</a:t>
            </a:r>
            <a:r>
              <a:rPr sz="1800" b="1" dirty="0">
                <a:latin typeface="Trebuchet MS"/>
                <a:cs typeface="Trebuchet MS"/>
              </a:rPr>
              <a:t> des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transaction </a:t>
            </a: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être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relancée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suite</a:t>
            </a:r>
            <a:endParaRPr sz="18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spcBef>
                <a:spcPts val="12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1800" b="1" dirty="0">
                <a:latin typeface="Trebuchet MS"/>
                <a:cs typeface="Trebuchet MS"/>
              </a:rPr>
              <a:t>Deux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possibilités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469265" lvl="1" indent="-266065">
              <a:lnSpc>
                <a:spcPct val="100000"/>
              </a:lnSpc>
              <a:spcBef>
                <a:spcPts val="439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b="1" dirty="0">
                <a:latin typeface="Trebuchet MS"/>
                <a:cs typeface="Trebuchet MS"/>
              </a:rPr>
              <a:t>sans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préemption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(tuer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Tj)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ou</a:t>
            </a:r>
            <a:endParaRPr sz="1800">
              <a:latin typeface="Trebuchet MS"/>
              <a:cs typeface="Trebuchet MS"/>
            </a:endParaRPr>
          </a:p>
          <a:p>
            <a:pPr marL="469265" lvl="1" indent="-266065">
              <a:lnSpc>
                <a:spcPct val="100000"/>
              </a:lnSpc>
              <a:spcBef>
                <a:spcPts val="439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b="1" dirty="0">
                <a:latin typeface="Trebuchet MS"/>
                <a:cs typeface="Trebuchet MS"/>
              </a:rPr>
              <a:t>avec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préemption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(tuer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Ti)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CC3300"/>
              </a:buClr>
              <a:buFont typeface="Wingdings"/>
              <a:buChar char=""/>
            </a:pPr>
            <a:endParaRPr sz="18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spcBef>
                <a:spcPts val="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1800" b="1" dirty="0">
                <a:latin typeface="Trebuchet MS"/>
                <a:cs typeface="Trebuchet MS"/>
              </a:rPr>
              <a:t>Test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basé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priorités</a:t>
            </a:r>
            <a:endParaRPr sz="1800">
              <a:latin typeface="Trebuchet MS"/>
              <a:cs typeface="Trebuchet MS"/>
            </a:endParaRPr>
          </a:p>
          <a:p>
            <a:pPr marL="659765" indent="-266065">
              <a:lnSpc>
                <a:spcPct val="100000"/>
              </a:lnSpc>
              <a:spcBef>
                <a:spcPts val="5"/>
              </a:spcBef>
              <a:buClr>
                <a:srgbClr val="FFCC00"/>
              </a:buClr>
              <a:buSzPct val="62500"/>
              <a:buFont typeface="Wingdings"/>
              <a:buChar char=""/>
              <a:tabLst>
                <a:tab pos="659765" algn="l"/>
              </a:tabLst>
            </a:pPr>
            <a:r>
              <a:rPr sz="1600" b="1" dirty="0">
                <a:latin typeface="Trebuchet MS"/>
                <a:cs typeface="Trebuchet MS"/>
              </a:rPr>
              <a:t>Tj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peut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attendre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Ti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si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Priorité(Tj)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&lt;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Priorité(Ti)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1800" b="1" dirty="0">
                <a:solidFill>
                  <a:srgbClr val="FF3300"/>
                </a:solidFill>
                <a:latin typeface="Trebuchet MS"/>
                <a:cs typeface="Trebuchet MS"/>
              </a:rPr>
              <a:t>Risque</a:t>
            </a:r>
            <a:r>
              <a:rPr sz="1800" b="1" spc="-3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malchanceuse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attend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tout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temps</a:t>
            </a:r>
            <a:endParaRPr sz="1800">
              <a:latin typeface="Trebuchet MS"/>
              <a:cs typeface="Trebuchet MS"/>
            </a:endParaRPr>
          </a:p>
          <a:p>
            <a:pPr marL="316865" indent="-304165">
              <a:lnSpc>
                <a:spcPct val="100000"/>
              </a:lnSpc>
              <a:spcBef>
                <a:spcPts val="1939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16865" algn="l"/>
              </a:tabLst>
            </a:pP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éviter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cette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situation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variante</a:t>
            </a:r>
            <a:r>
              <a:rPr sz="1800" b="1" spc="-6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utilisation</a:t>
            </a:r>
            <a:r>
              <a:rPr sz="1800" b="1" spc="-5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d'estampilles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33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09023" y="936828"/>
            <a:ext cx="55556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6250" algn="l"/>
              </a:tabLst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Interblocage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:</a:t>
            </a:r>
            <a:r>
              <a:rPr sz="4000" spc="-1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détection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9023" y="5764033"/>
            <a:ext cx="7715884" cy="130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4180" indent="-411480">
              <a:lnSpc>
                <a:spcPct val="100000"/>
              </a:lnSpc>
              <a:spcBef>
                <a:spcPts val="100"/>
              </a:spcBef>
              <a:buSzPct val="75000"/>
              <a:buFont typeface="Wingdings"/>
              <a:buChar char=""/>
              <a:tabLst>
                <a:tab pos="424180" algn="l"/>
              </a:tabLst>
            </a:pPr>
            <a:r>
              <a:rPr sz="1800" b="1" dirty="0">
                <a:latin typeface="Trebuchet MS"/>
                <a:cs typeface="Trebuchet MS"/>
              </a:rPr>
              <a:t>Relancer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annulée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plus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tard</a:t>
            </a:r>
            <a:endParaRPr sz="1800">
              <a:latin typeface="Trebuchet MS"/>
              <a:cs typeface="Trebuchet MS"/>
            </a:endParaRPr>
          </a:p>
          <a:p>
            <a:pPr marL="424180" indent="-411480">
              <a:lnSpc>
                <a:spcPct val="100000"/>
              </a:lnSpc>
              <a:spcBef>
                <a:spcPts val="1540"/>
              </a:spcBef>
              <a:buSzPct val="75000"/>
              <a:buFont typeface="Wingdings"/>
              <a:buChar char=""/>
              <a:tabLst>
                <a:tab pos="424180" algn="l"/>
              </a:tabLst>
            </a:pPr>
            <a:r>
              <a:rPr sz="1800" b="1" dirty="0">
                <a:latin typeface="Trebuchet MS"/>
                <a:cs typeface="Trebuchet MS"/>
              </a:rPr>
              <a:t>En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pratique,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interblocages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sont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fréquents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(1/1000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trans.)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Détection</a:t>
            </a:r>
            <a:r>
              <a:rPr sz="16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plus</a:t>
            </a:r>
            <a:r>
              <a:rPr sz="16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CC6600"/>
                </a:solidFill>
                <a:latin typeface="Trebuchet MS"/>
                <a:cs typeface="Trebuchet MS"/>
              </a:rPr>
              <a:t>économique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180"/>
              </a:spcBef>
              <a:buClr>
                <a:srgbClr val="0000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Mais</a:t>
            </a:r>
            <a:r>
              <a:rPr sz="1600" b="1" spc="-5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prévention,</a:t>
            </a:r>
            <a:r>
              <a:rPr sz="16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régulateur</a:t>
            </a:r>
            <a:r>
              <a:rPr sz="16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16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CC6600"/>
                </a:solidFill>
                <a:latin typeface="Trebuchet MS"/>
                <a:cs typeface="Trebuchet MS"/>
              </a:rPr>
              <a:t>charge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82995" y="2765310"/>
            <a:ext cx="2238375" cy="1171575"/>
            <a:chOff x="3882995" y="2765310"/>
            <a:chExt cx="2238375" cy="1171575"/>
          </a:xfrm>
        </p:grpSpPr>
        <p:sp>
          <p:nvSpPr>
            <p:cNvPr id="11" name="object 11"/>
            <p:cNvSpPr/>
            <p:nvPr/>
          </p:nvSpPr>
          <p:spPr>
            <a:xfrm>
              <a:off x="4735483" y="27795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600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49883" y="31605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600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283" y="31605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600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35483" y="3465398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599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599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199" y="228599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599" y="457199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599"/>
                  </a:lnTo>
                  <a:close/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09023" y="1750325"/>
            <a:ext cx="8205470" cy="384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920365" indent="-342900">
              <a:lnSpc>
                <a:spcPct val="108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Construire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le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graphe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Qui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Attend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Quoi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(ou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CC6600"/>
                </a:solidFill>
                <a:latin typeface="Trebuchet MS"/>
                <a:cs typeface="Trebuchet MS"/>
              </a:rPr>
              <a:t>Qui) </a:t>
            </a:r>
            <a:r>
              <a:rPr sz="1800" b="1" dirty="0">
                <a:latin typeface="Trebuchet MS"/>
                <a:cs typeface="Trebuchet MS"/>
              </a:rPr>
              <a:t>Nœuds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=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(et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Objets)</a:t>
            </a:r>
            <a:endParaRPr sz="1800">
              <a:latin typeface="Trebuchet MS"/>
              <a:cs typeface="Trebuchet MS"/>
            </a:endParaRPr>
          </a:p>
          <a:p>
            <a:pPr marL="355600" marR="5080">
              <a:lnSpc>
                <a:spcPts val="1870"/>
              </a:lnSpc>
              <a:spcBef>
                <a:spcPts val="540"/>
              </a:spcBef>
            </a:pPr>
            <a:r>
              <a:rPr sz="1800" b="1" dirty="0">
                <a:latin typeface="Trebuchet MS"/>
                <a:cs typeface="Trebuchet MS"/>
              </a:rPr>
              <a:t>Arêtes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=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l'objet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verrouillé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l'objet,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vers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l'objet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25" dirty="0">
                <a:latin typeface="Trebuchet MS"/>
                <a:cs typeface="Trebuchet MS"/>
              </a:rPr>
              <a:t> Ti </a:t>
            </a:r>
            <a:r>
              <a:rPr sz="1800" b="1" spc="-10" dirty="0">
                <a:latin typeface="Trebuchet MS"/>
                <a:cs typeface="Trebuchet MS"/>
              </a:rPr>
              <a:t>attend</a:t>
            </a:r>
            <a:endParaRPr sz="1800">
              <a:latin typeface="Trebuchet MS"/>
              <a:cs typeface="Trebuchet MS"/>
            </a:endParaRPr>
          </a:p>
          <a:p>
            <a:pPr marR="878840" algn="ctr">
              <a:lnSpc>
                <a:spcPct val="100000"/>
              </a:lnSpc>
              <a:spcBef>
                <a:spcPts val="20"/>
              </a:spcBef>
            </a:pPr>
            <a:r>
              <a:rPr sz="1400" b="1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  <a:p>
            <a:pPr marR="799465" algn="ctr">
              <a:lnSpc>
                <a:spcPct val="100000"/>
              </a:lnSpc>
              <a:spcBef>
                <a:spcPts val="1320"/>
              </a:spcBef>
              <a:tabLst>
                <a:tab pos="1751964" algn="l"/>
              </a:tabLst>
            </a:pPr>
            <a:r>
              <a:rPr sz="1400" b="1" spc="-25" dirty="0">
                <a:latin typeface="Arial"/>
                <a:cs typeface="Arial"/>
              </a:rPr>
              <a:t>T2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25" dirty="0">
                <a:latin typeface="Arial"/>
                <a:cs typeface="Arial"/>
              </a:rPr>
              <a:t>T1</a:t>
            </a:r>
            <a:endParaRPr sz="1400">
              <a:latin typeface="Arial"/>
              <a:cs typeface="Arial"/>
            </a:endParaRPr>
          </a:p>
          <a:p>
            <a:pPr marR="878840" algn="ctr">
              <a:lnSpc>
                <a:spcPct val="100000"/>
              </a:lnSpc>
              <a:spcBef>
                <a:spcPts val="720"/>
              </a:spcBef>
            </a:pPr>
            <a:r>
              <a:rPr sz="1400" b="1" spc="-50" dirty="0"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  <a:p>
            <a:pPr marL="424180" indent="-411480">
              <a:lnSpc>
                <a:spcPct val="100000"/>
              </a:lnSpc>
              <a:spcBef>
                <a:spcPts val="1560"/>
              </a:spcBef>
              <a:buSzPct val="75000"/>
              <a:buFont typeface="Wingdings"/>
              <a:buChar char=""/>
              <a:tabLst>
                <a:tab pos="424180" algn="l"/>
              </a:tabLst>
            </a:pPr>
            <a:r>
              <a:rPr sz="1800" b="1" dirty="0">
                <a:latin typeface="Trebuchet MS"/>
                <a:cs typeface="Trebuchet MS"/>
              </a:rPr>
              <a:t>Détection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cycles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dans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graphe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quand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examiner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graphe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210"/>
              </a:spcBef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transaction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en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attente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180"/>
              </a:spcBef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périodiquement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(détection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trop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tard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si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période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trop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grande)</a:t>
            </a:r>
            <a:endParaRPr sz="1600">
              <a:latin typeface="Trebuchet MS"/>
              <a:cs typeface="Trebuchet MS"/>
            </a:endParaRPr>
          </a:p>
          <a:p>
            <a:pPr marL="424180" indent="-411480">
              <a:lnSpc>
                <a:spcPct val="100000"/>
              </a:lnSpc>
              <a:spcBef>
                <a:spcPts val="1810"/>
              </a:spcBef>
              <a:buSzPct val="75000"/>
              <a:buFont typeface="Wingdings"/>
              <a:buChar char=""/>
              <a:tabLst>
                <a:tab pos="424180" algn="l"/>
              </a:tabLst>
            </a:pPr>
            <a:r>
              <a:rPr sz="1800" b="1" dirty="0">
                <a:latin typeface="Trebuchet MS"/>
                <a:cs typeface="Trebuchet MS"/>
              </a:rPr>
              <a:t>Choix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d'une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à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annuler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pour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casser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cycle: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210"/>
              </a:spcBef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la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transaction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détenant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le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moins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ressources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(la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plus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jeune)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63995" y="3070110"/>
            <a:ext cx="1400175" cy="561975"/>
            <a:chOff x="4263995" y="3070110"/>
            <a:chExt cx="1400175" cy="561975"/>
          </a:xfrm>
        </p:grpSpPr>
        <p:sp>
          <p:nvSpPr>
            <p:cNvPr id="17" name="object 17"/>
            <p:cNvSpPr/>
            <p:nvPr/>
          </p:nvSpPr>
          <p:spPr>
            <a:xfrm>
              <a:off x="4278283" y="3093434"/>
              <a:ext cx="430530" cy="143510"/>
            </a:xfrm>
            <a:custGeom>
              <a:avLst/>
              <a:gdLst/>
              <a:ahLst/>
              <a:cxnLst/>
              <a:rect l="l" t="t" r="r" b="b"/>
              <a:pathLst>
                <a:path w="430529" h="143510">
                  <a:moveTo>
                    <a:pt x="0" y="143363"/>
                  </a:moveTo>
                  <a:lnTo>
                    <a:pt x="430091" y="0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40602" y="3070843"/>
              <a:ext cx="95250" cy="81915"/>
            </a:xfrm>
            <a:custGeom>
              <a:avLst/>
              <a:gdLst/>
              <a:ahLst/>
              <a:cxnLst/>
              <a:rect l="l" t="t" r="r" b="b"/>
              <a:pathLst>
                <a:path w="95250" h="81914">
                  <a:moveTo>
                    <a:pt x="0" y="0"/>
                  </a:moveTo>
                  <a:lnTo>
                    <a:pt x="27108" y="81325"/>
                  </a:lnTo>
                  <a:lnTo>
                    <a:pt x="94880" y="135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92683" y="3084398"/>
              <a:ext cx="431800" cy="215900"/>
            </a:xfrm>
            <a:custGeom>
              <a:avLst/>
              <a:gdLst/>
              <a:ahLst/>
              <a:cxnLst/>
              <a:rect l="l" t="t" r="r" b="b"/>
              <a:pathLst>
                <a:path w="431800" h="215900">
                  <a:moveTo>
                    <a:pt x="0" y="0"/>
                  </a:moveTo>
                  <a:lnTo>
                    <a:pt x="431641" y="215820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54040" y="3236323"/>
              <a:ext cx="95885" cy="76835"/>
            </a:xfrm>
            <a:custGeom>
              <a:avLst/>
              <a:gdLst/>
              <a:ahLst/>
              <a:cxnLst/>
              <a:rect l="l" t="t" r="r" b="b"/>
              <a:pathLst>
                <a:path w="95885" h="76835">
                  <a:moveTo>
                    <a:pt x="38337" y="0"/>
                  </a:moveTo>
                  <a:lnTo>
                    <a:pt x="0" y="76674"/>
                  </a:lnTo>
                  <a:lnTo>
                    <a:pt x="95843" y="76674"/>
                  </a:lnTo>
                  <a:lnTo>
                    <a:pt x="38337" y="0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19792" y="3465398"/>
              <a:ext cx="430530" cy="143510"/>
            </a:xfrm>
            <a:custGeom>
              <a:avLst/>
              <a:gdLst/>
              <a:ahLst/>
              <a:cxnLst/>
              <a:rect l="l" t="t" r="r" b="b"/>
              <a:pathLst>
                <a:path w="430529" h="143510">
                  <a:moveTo>
                    <a:pt x="430091" y="0"/>
                  </a:moveTo>
                  <a:lnTo>
                    <a:pt x="0" y="143363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92683" y="3550025"/>
              <a:ext cx="95250" cy="81915"/>
            </a:xfrm>
            <a:custGeom>
              <a:avLst/>
              <a:gdLst/>
              <a:ahLst/>
              <a:cxnLst/>
              <a:rect l="l" t="t" r="r" b="b"/>
              <a:pathLst>
                <a:path w="95250" h="81914">
                  <a:moveTo>
                    <a:pt x="67771" y="0"/>
                  </a:moveTo>
                  <a:lnTo>
                    <a:pt x="0" y="67772"/>
                  </a:lnTo>
                  <a:lnTo>
                    <a:pt x="94880" y="81325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81014" y="3476011"/>
              <a:ext cx="354965" cy="142240"/>
            </a:xfrm>
            <a:custGeom>
              <a:avLst/>
              <a:gdLst/>
              <a:ahLst/>
              <a:cxnLst/>
              <a:rect l="l" t="t" r="r" b="b"/>
              <a:pathLst>
                <a:path w="354964" h="142239">
                  <a:moveTo>
                    <a:pt x="354468" y="141787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54483" y="3457439"/>
              <a:ext cx="95885" cy="80010"/>
            </a:xfrm>
            <a:custGeom>
              <a:avLst/>
              <a:gdLst/>
              <a:ahLst/>
              <a:cxnLst/>
              <a:rect l="l" t="t" r="r" b="b"/>
              <a:pathLst>
                <a:path w="95885" h="80010">
                  <a:moveTo>
                    <a:pt x="95511" y="0"/>
                  </a:moveTo>
                  <a:lnTo>
                    <a:pt x="0" y="7959"/>
                  </a:lnTo>
                  <a:lnTo>
                    <a:pt x="63675" y="79593"/>
                  </a:lnTo>
                  <a:lnTo>
                    <a:pt x="95511" y="0"/>
                  </a:lnTo>
                  <a:close/>
                </a:path>
              </a:pathLst>
            </a:custGeom>
            <a:solidFill>
              <a:srgbClr val="FF4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0137" y="528204"/>
            <a:ext cx="452628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Contrôle</a:t>
            </a:r>
            <a:r>
              <a:rPr sz="3200" spc="-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concurrence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avec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estampilles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842654"/>
            <a:ext cx="8255000" cy="49295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257175" indent="-342900">
              <a:lnSpc>
                <a:spcPts val="2100"/>
              </a:lnSpc>
              <a:spcBef>
                <a:spcPts val="42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A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création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d'une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transaction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on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lui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affecte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un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numéro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d'ordre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unique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: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son</a:t>
            </a:r>
            <a:r>
              <a:rPr sz="20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estampille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(ex: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horloge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du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système)</a:t>
            </a:r>
            <a:endParaRPr sz="2000">
              <a:latin typeface="Trebuchet MS"/>
              <a:cs typeface="Trebuchet MS"/>
            </a:endParaRPr>
          </a:p>
          <a:p>
            <a:pPr marL="355600" marR="233045" indent="-342900">
              <a:lnSpc>
                <a:spcPts val="2120"/>
              </a:lnSpc>
              <a:spcBef>
                <a:spcPts val="1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On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utilise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estampilles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pour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définir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priorités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: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transactions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plus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vieilles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ont</a:t>
            </a:r>
            <a:r>
              <a:rPr sz="2000" b="1" spc="-1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la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priorité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sur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plus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jeunes</a:t>
            </a:r>
            <a:endParaRPr sz="2000">
              <a:latin typeface="Trebuchet MS"/>
              <a:cs typeface="Trebuchet MS"/>
            </a:endParaRPr>
          </a:p>
          <a:p>
            <a:pPr marL="355600" marR="313690" indent="-342900">
              <a:lnSpc>
                <a:spcPct val="90000"/>
              </a:lnSpc>
              <a:spcBef>
                <a:spcPts val="19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Dans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prévention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75" dirty="0">
                <a:solidFill>
                  <a:srgbClr val="CC6600"/>
                </a:solidFill>
                <a:latin typeface="Trebuchet MS"/>
                <a:cs typeface="Trebuchet MS"/>
              </a:rPr>
              <a:t>d</a:t>
            </a:r>
            <a:r>
              <a:rPr sz="2000" spc="-75" dirty="0">
                <a:solidFill>
                  <a:srgbClr val="D77A00"/>
                </a:solidFill>
                <a:latin typeface="MS PGothic"/>
                <a:cs typeface="MS PGothic"/>
              </a:rPr>
              <a:t>ʼ</a:t>
            </a:r>
            <a:r>
              <a:rPr sz="2000" b="1" spc="-75" dirty="0">
                <a:solidFill>
                  <a:srgbClr val="CC6600"/>
                </a:solidFill>
                <a:latin typeface="Trebuchet MS"/>
                <a:cs typeface="Trebuchet MS"/>
              </a:rPr>
              <a:t>interblocage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avec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estampilles</a:t>
            </a:r>
            <a:r>
              <a:rPr sz="20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une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transaction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Tj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a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le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droit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5" dirty="0">
                <a:solidFill>
                  <a:srgbClr val="CC6600"/>
                </a:solidFill>
                <a:latin typeface="Trebuchet MS"/>
                <a:cs typeface="Trebuchet MS"/>
              </a:rPr>
              <a:t>d</a:t>
            </a:r>
            <a:r>
              <a:rPr sz="2000" spc="-105" dirty="0">
                <a:solidFill>
                  <a:srgbClr val="D77A00"/>
                </a:solidFill>
                <a:latin typeface="MS PGothic"/>
                <a:cs typeface="MS PGothic"/>
              </a:rPr>
              <a:t>ʼ</a:t>
            </a:r>
            <a:r>
              <a:rPr sz="2000" b="1" spc="-105" dirty="0">
                <a:solidFill>
                  <a:srgbClr val="CC6600"/>
                </a:solidFill>
                <a:latin typeface="Trebuchet MS"/>
                <a:cs typeface="Trebuchet MS"/>
              </a:rPr>
              <a:t>attendre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une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transaction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si</a:t>
            </a:r>
            <a:r>
              <a:rPr sz="2000" b="1" spc="-2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Tj</a:t>
            </a:r>
            <a:r>
              <a:rPr sz="2000" b="1" spc="-2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&gt;</a:t>
            </a:r>
            <a:r>
              <a:rPr sz="2000" b="1" spc="-2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FF3300"/>
                </a:solidFill>
                <a:latin typeface="Trebuchet MS"/>
                <a:cs typeface="Trebuchet MS"/>
              </a:rPr>
              <a:t>Ti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(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Tj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est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plus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jeune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que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FF3300"/>
                </a:solidFill>
                <a:latin typeface="Trebuchet MS"/>
                <a:cs typeface="Trebuchet MS"/>
              </a:rPr>
              <a:t>Ti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Ensuite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on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peut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appliquer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une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politique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avec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ou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sans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préemption.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Sans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 préemption</a:t>
            </a:r>
            <a:endParaRPr sz="2000">
              <a:latin typeface="Trebuchet MS"/>
              <a:cs typeface="Trebuchet MS"/>
            </a:endParaRPr>
          </a:p>
          <a:p>
            <a:pPr marL="355600" marR="5080">
              <a:lnSpc>
                <a:spcPct val="89800"/>
              </a:lnSpc>
              <a:spcBef>
                <a:spcPts val="440"/>
              </a:spcBef>
            </a:pP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essaie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d'attendre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Ti.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Si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Tj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est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plus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jeune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que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Ti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on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l'autorise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CC6600"/>
                </a:solidFill>
                <a:latin typeface="Trebuchet MS"/>
                <a:cs typeface="Trebuchet MS"/>
              </a:rPr>
              <a:t>à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attendre</a:t>
            </a:r>
            <a:r>
              <a:rPr sz="1800" b="1" dirty="0">
                <a:latin typeface="Trebuchet MS"/>
                <a:cs typeface="Trebuchet MS"/>
              </a:rPr>
              <a:t>.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Sinon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tuée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mais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lui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change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son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estampille.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Elle </a:t>
            </a:r>
            <a:r>
              <a:rPr sz="1800" b="1" dirty="0">
                <a:latin typeface="Trebuchet MS"/>
                <a:cs typeface="Trebuchet MS"/>
              </a:rPr>
              <a:t>est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relancée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un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peu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plus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tard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avec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même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estampille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ce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met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dans </a:t>
            </a:r>
            <a:r>
              <a:rPr sz="1800" b="1" dirty="0">
                <a:latin typeface="Trebuchet MS"/>
                <a:cs typeface="Trebuchet MS"/>
              </a:rPr>
              <a:t>une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situation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meilleure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par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rapport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aux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priorités</a:t>
            </a:r>
            <a:r>
              <a:rPr sz="2000" b="1" spc="-10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2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Avec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C6600"/>
                </a:solidFill>
                <a:latin typeface="Trebuchet MS"/>
                <a:cs typeface="Trebuchet MS"/>
              </a:rPr>
              <a:t>préemption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170"/>
              </a:spcBef>
            </a:pPr>
            <a:r>
              <a:rPr sz="1800" b="1" dirty="0">
                <a:latin typeface="Trebuchet MS"/>
                <a:cs typeface="Trebuchet MS"/>
              </a:rPr>
              <a:t>Si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Tj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plus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vieille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que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elle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attend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sinon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Ti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est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annulée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0137" y="893964"/>
            <a:ext cx="6123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9255" algn="l"/>
              </a:tabLst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Verrouillage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à</a:t>
            </a:r>
            <a:r>
              <a:rPr sz="4000" spc="-2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4000" spc="-2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phases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5223" y="1714068"/>
            <a:ext cx="8205470" cy="405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1275" indent="-342900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Exclusion</a:t>
            </a:r>
            <a:r>
              <a:rPr sz="2000" b="1" spc="-6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mutuelle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est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trop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restrictive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et</a:t>
            </a:r>
            <a:r>
              <a:rPr sz="2000" b="1" spc="-3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spc="-210" dirty="0">
                <a:solidFill>
                  <a:srgbClr val="FF3300"/>
                </a:solidFill>
                <a:latin typeface="Trebuchet MS"/>
                <a:cs typeface="Trebuchet MS"/>
              </a:rPr>
              <a:t>n</a:t>
            </a:r>
            <a:r>
              <a:rPr sz="2000" spc="-210" dirty="0">
                <a:solidFill>
                  <a:srgbClr val="FF4C00"/>
                </a:solidFill>
                <a:latin typeface="MS PGothic"/>
                <a:cs typeface="MS PGothic"/>
              </a:rPr>
              <a:t>ʼ</a:t>
            </a:r>
            <a:r>
              <a:rPr sz="2000" b="1" spc="-210" dirty="0">
                <a:solidFill>
                  <a:srgbClr val="FF3300"/>
                </a:solidFill>
                <a:latin typeface="Trebuchet MS"/>
                <a:cs typeface="Trebuchet MS"/>
              </a:rPr>
              <a:t>est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 pas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suffisant</a:t>
            </a:r>
            <a:r>
              <a:rPr sz="2000" b="1" spc="-30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FF3300"/>
                </a:solidFill>
                <a:latin typeface="Trebuchet MS"/>
                <a:cs typeface="Trebuchet MS"/>
              </a:rPr>
              <a:t>pour </a:t>
            </a:r>
            <a:r>
              <a:rPr sz="2000" b="1" dirty="0">
                <a:solidFill>
                  <a:srgbClr val="FF3300"/>
                </a:solidFill>
                <a:latin typeface="Trebuchet MS"/>
                <a:cs typeface="Trebuchet MS"/>
              </a:rPr>
              <a:t>garantir</a:t>
            </a:r>
            <a:r>
              <a:rPr sz="2000" b="1" spc="-25" dirty="0">
                <a:solidFill>
                  <a:srgbClr val="FF3300"/>
                </a:solidFill>
                <a:latin typeface="Trebuchet MS"/>
                <a:cs typeface="Trebuchet MS"/>
              </a:rPr>
              <a:t> </a:t>
            </a:r>
            <a:r>
              <a:rPr sz="2000" b="1" spc="-50" dirty="0">
                <a:solidFill>
                  <a:srgbClr val="FF3300"/>
                </a:solidFill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355600" marR="1323975" indent="-342900">
              <a:lnSpc>
                <a:spcPts val="2800"/>
              </a:lnSpc>
              <a:spcBef>
                <a:spcPts val="240"/>
              </a:spcBef>
              <a:buClr>
                <a:srgbClr val="FF3300"/>
              </a:buClr>
              <a:buSzPct val="110000"/>
              <a:buFont typeface="Times New Roman"/>
              <a:buAutoNum type="arabicPlain"/>
              <a:tabLst>
                <a:tab pos="355600" algn="l"/>
              </a:tabLst>
            </a:pPr>
            <a:r>
              <a:rPr sz="2000" b="1" dirty="0">
                <a:latin typeface="Trebuchet MS"/>
                <a:cs typeface="Trebuchet MS"/>
              </a:rPr>
              <a:t>Ni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perte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màj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ni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lectures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sales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et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non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reproductibles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(Cohérence</a:t>
            </a:r>
            <a:r>
              <a:rPr sz="2000" b="1" spc="-6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niveau</a:t>
            </a:r>
            <a:r>
              <a:rPr sz="2000" b="1" spc="-5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CC6600"/>
                </a:solidFill>
                <a:latin typeface="Trebuchet MS"/>
                <a:cs typeface="Trebuchet MS"/>
              </a:rPr>
              <a:t>3)</a:t>
            </a:r>
            <a:endParaRPr sz="2000">
              <a:latin typeface="Trebuchet MS"/>
              <a:cs typeface="Trebuchet MS"/>
            </a:endParaRPr>
          </a:p>
          <a:p>
            <a:pPr marL="431800" indent="-419100">
              <a:lnSpc>
                <a:spcPct val="100000"/>
              </a:lnSpc>
              <a:spcBef>
                <a:spcPts val="140"/>
              </a:spcBef>
              <a:buClr>
                <a:srgbClr val="FF3300"/>
              </a:buClr>
              <a:buSzPct val="110000"/>
              <a:buFont typeface="Times New Roman"/>
              <a:buAutoNum type="arabicPlain"/>
              <a:tabLst>
                <a:tab pos="431800" algn="l"/>
              </a:tabLst>
            </a:pPr>
            <a:r>
              <a:rPr sz="2000" b="1" dirty="0">
                <a:latin typeface="Trebuchet MS"/>
                <a:cs typeface="Trebuchet MS"/>
              </a:rPr>
              <a:t>Ordonnancement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non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séquentiel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cohérent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(conflit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-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sérialisable),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3300"/>
              </a:buClr>
              <a:buFont typeface="Times New Roman"/>
              <a:buAutoNum type="arabicPlain"/>
            </a:pPr>
            <a:endParaRPr sz="2000">
              <a:latin typeface="Trebuchet MS"/>
              <a:cs typeface="Trebuchet MS"/>
            </a:endParaRPr>
          </a:p>
          <a:p>
            <a:pPr marL="355600" marR="214629" lvl="1" indent="-342900">
              <a:lnSpc>
                <a:spcPct val="1004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b="1" dirty="0">
                <a:solidFill>
                  <a:srgbClr val="CC6600"/>
                </a:solidFill>
                <a:latin typeface="Trebuchet MS"/>
                <a:cs typeface="Trebuchet MS"/>
              </a:rPr>
              <a:t>Idée</a:t>
            </a:r>
            <a:r>
              <a:rPr sz="20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: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pour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chaque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transaction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tous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verrouillages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doivent </a:t>
            </a:r>
            <a:r>
              <a:rPr sz="2000" b="1" dirty="0">
                <a:latin typeface="Trebuchet MS"/>
                <a:cs typeface="Trebuchet MS"/>
              </a:rPr>
              <a:t>précéder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toutes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les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libérations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;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phase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d'acquisition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des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verrous </a:t>
            </a:r>
            <a:r>
              <a:rPr sz="2000" b="1" dirty="0">
                <a:latin typeface="Trebuchet MS"/>
                <a:cs typeface="Trebuchet MS"/>
              </a:rPr>
              <a:t>puis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phase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libération.</a:t>
            </a:r>
            <a:endParaRPr sz="2000">
              <a:latin typeface="Trebuchet MS"/>
              <a:cs typeface="Trebuchet MS"/>
            </a:endParaRPr>
          </a:p>
          <a:p>
            <a:pPr marL="354965" lvl="1" indent="-342265">
              <a:lnSpc>
                <a:spcPct val="100000"/>
              </a:lnSpc>
              <a:spcBef>
                <a:spcPts val="16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b="1" dirty="0">
                <a:latin typeface="Trebuchet MS"/>
                <a:cs typeface="Trebuchet MS"/>
              </a:rPr>
              <a:t>Pour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optimiser</a:t>
            </a:r>
            <a:r>
              <a:rPr sz="2000" b="1" spc="-45" dirty="0">
                <a:latin typeface="Trebuchet MS"/>
                <a:cs typeface="Trebuchet MS"/>
              </a:rPr>
              <a:t> </a:t>
            </a:r>
            <a:r>
              <a:rPr sz="2000" b="1" spc="-155" dirty="0">
                <a:latin typeface="Trebuchet MS"/>
                <a:cs typeface="Trebuchet MS"/>
              </a:rPr>
              <a:t>l</a:t>
            </a:r>
            <a:r>
              <a:rPr sz="2000" spc="-155" dirty="0">
                <a:latin typeface="MS PGothic"/>
                <a:cs typeface="MS PGothic"/>
              </a:rPr>
              <a:t>ʼ</a:t>
            </a:r>
            <a:r>
              <a:rPr sz="2000" b="1" spc="-155" dirty="0">
                <a:latin typeface="Trebuchet MS"/>
                <a:cs typeface="Trebuchet MS"/>
              </a:rPr>
              <a:t>accès</a:t>
            </a:r>
            <a:r>
              <a:rPr sz="2000" b="1" dirty="0">
                <a:latin typeface="Trebuchet MS"/>
                <a:cs typeface="Trebuchet MS"/>
              </a:rPr>
              <a:t> concurrent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deux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types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verrous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50" dirty="0">
                <a:latin typeface="Trebuchet MS"/>
                <a:cs typeface="Trebuchet MS"/>
              </a:rPr>
              <a:t>:</a:t>
            </a:r>
            <a:endParaRPr sz="2000">
              <a:latin typeface="Trebuchet MS"/>
              <a:cs typeface="Trebuchet MS"/>
            </a:endParaRPr>
          </a:p>
          <a:p>
            <a:pPr marL="816610" lvl="2" indent="-346710">
              <a:lnSpc>
                <a:spcPct val="100000"/>
              </a:lnSpc>
              <a:spcBef>
                <a:spcPts val="40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816610" algn="l"/>
              </a:tabLst>
            </a:pPr>
            <a:r>
              <a:rPr sz="1600" b="1" dirty="0">
                <a:latin typeface="Trebuchet MS"/>
                <a:cs typeface="Trebuchet MS"/>
              </a:rPr>
              <a:t>PARTAGEABLES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en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LECTURE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35" dirty="0"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V-</a:t>
            </a:r>
            <a:r>
              <a:rPr sz="16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partagé</a:t>
            </a:r>
            <a:r>
              <a:rPr sz="16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(A)</a:t>
            </a:r>
            <a:endParaRPr sz="1600">
              <a:latin typeface="Trebuchet MS"/>
              <a:cs typeface="Trebuchet MS"/>
            </a:endParaRPr>
          </a:p>
          <a:p>
            <a:pPr marL="816610" lvl="2" indent="-346710">
              <a:lnSpc>
                <a:spcPct val="100000"/>
              </a:lnSpc>
              <a:spcBef>
                <a:spcPts val="3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816610" algn="l"/>
              </a:tabLst>
            </a:pPr>
            <a:r>
              <a:rPr sz="1600" b="1" dirty="0">
                <a:latin typeface="Trebuchet MS"/>
                <a:cs typeface="Trebuchet MS"/>
              </a:rPr>
              <a:t>EXCLUSIF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en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ECRITURE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V-</a:t>
            </a:r>
            <a:r>
              <a:rPr sz="1600" b="1" spc="-5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CC6600"/>
                </a:solidFill>
                <a:latin typeface="Trebuchet MS"/>
                <a:cs typeface="Trebuchet MS"/>
              </a:rPr>
              <a:t>exclusif</a:t>
            </a:r>
            <a:r>
              <a:rPr sz="1600" b="1" spc="-5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CC6600"/>
                </a:solidFill>
                <a:latin typeface="Trebuchet MS"/>
                <a:cs typeface="Trebuchet MS"/>
              </a:rPr>
              <a:t>(A)</a:t>
            </a:r>
            <a:endParaRPr sz="16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35272" y="5859347"/>
          <a:ext cx="453136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835"/>
                <a:gridCol w="1520190"/>
                <a:gridCol w="153733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65" dirty="0">
                          <a:latin typeface="Trebuchet MS"/>
                          <a:cs typeface="Trebuchet MS"/>
                        </a:rPr>
                        <a:t>V-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partagé(A)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spc="-70" dirty="0">
                          <a:latin typeface="Trebuchet MS"/>
                          <a:cs typeface="Trebuchet MS"/>
                        </a:rPr>
                        <a:t>V-</a:t>
                      </a:r>
                      <a:r>
                        <a:rPr sz="1800" b="1" spc="-10" dirty="0">
                          <a:latin typeface="Trebuchet MS"/>
                          <a:cs typeface="Trebuchet MS"/>
                        </a:rPr>
                        <a:t>exclusif(A)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85" dirty="0">
                          <a:latin typeface="Trebuchet MS"/>
                          <a:cs typeface="Trebuchet MS"/>
                        </a:rPr>
                        <a:t>V-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partagé(A)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CONFLIT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FD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85" dirty="0">
                          <a:latin typeface="Trebuchet MS"/>
                          <a:cs typeface="Trebuchet MS"/>
                        </a:rPr>
                        <a:t>V-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exclusif(A)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D3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CONFLIT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8E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Trebuchet MS"/>
                          <a:cs typeface="Trebuchet MS"/>
                        </a:rPr>
                        <a:t>CONFLIT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8EC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041622" y="5865697"/>
            <a:ext cx="1473835" cy="371475"/>
          </a:xfrm>
          <a:custGeom>
            <a:avLst/>
            <a:gdLst/>
            <a:ahLst/>
            <a:cxnLst/>
            <a:rect l="l" t="t" r="r" b="b"/>
            <a:pathLst>
              <a:path w="1473835" h="371475">
                <a:moveTo>
                  <a:pt x="0" y="0"/>
                </a:moveTo>
                <a:lnTo>
                  <a:pt x="1473744" y="370945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35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4723" y="5936500"/>
            <a:ext cx="850773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1935" algn="ctr">
              <a:lnSpc>
                <a:spcPts val="1645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Temps</a:t>
            </a:r>
            <a:endParaRPr sz="1400">
              <a:latin typeface="Arial"/>
              <a:cs typeface="Arial"/>
            </a:endParaRPr>
          </a:p>
          <a:p>
            <a:pPr marL="393065" marR="494030" indent="-342900">
              <a:lnSpc>
                <a:spcPts val="2560"/>
              </a:lnSpc>
              <a:spcBef>
                <a:spcPts val="31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93065" algn="l"/>
                <a:tab pos="2084070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Théorème</a:t>
            </a:r>
            <a:r>
              <a:rPr sz="2400" spc="-8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2000" dirty="0">
                <a:latin typeface="Trebuchet MS"/>
                <a:cs typeface="Trebuchet MS"/>
              </a:rPr>
              <a:t>Si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ordonnancement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toutes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transactions </a:t>
            </a:r>
            <a:r>
              <a:rPr sz="2000" dirty="0">
                <a:latin typeface="Trebuchet MS"/>
                <a:cs typeface="Trebuchet MS"/>
              </a:rPr>
              <a:t>sont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deux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phases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bien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formées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alors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tout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ordonnancement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est</a:t>
            </a:r>
            <a:endParaRPr sz="2000">
              <a:latin typeface="Trebuchet MS"/>
              <a:cs typeface="Trebuchet MS"/>
            </a:endParaRPr>
          </a:p>
          <a:p>
            <a:pPr marL="393065">
              <a:lnSpc>
                <a:spcPts val="2285"/>
              </a:lnSpc>
            </a:pPr>
            <a:r>
              <a:rPr sz="2000" dirty="0">
                <a:latin typeface="Trebuchet MS"/>
                <a:cs typeface="Trebuchet MS"/>
              </a:rPr>
              <a:t>équivalent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ordonnancement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séquentiel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(qui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donc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cohérent)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400" spc="-37" baseline="10416" dirty="0">
                <a:latin typeface="Trebuchet MS"/>
                <a:cs typeface="Trebuchet MS"/>
              </a:rPr>
              <a:t>36</a:t>
            </a:r>
            <a:endParaRPr sz="2400" baseline="10416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47111" y="1073670"/>
            <a:ext cx="73234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Protocole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verrouillage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à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phases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rebuchet MS"/>
                <a:cs typeface="Trebuchet MS"/>
              </a:rPr>
              <a:t>(2PL)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9233" y="5496762"/>
            <a:ext cx="756920" cy="411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50800" marR="5080" indent="-38100">
              <a:lnSpc>
                <a:spcPts val="1360"/>
              </a:lnSpc>
              <a:spcBef>
                <a:spcPts val="409"/>
              </a:spcBef>
            </a:pPr>
            <a:r>
              <a:rPr sz="1400" b="1" spc="-10" dirty="0">
                <a:latin typeface="Arial"/>
                <a:cs typeface="Arial"/>
              </a:rPr>
              <a:t>Acquérir verrous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86558" y="5496762"/>
            <a:ext cx="678180" cy="411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25400">
              <a:lnSpc>
                <a:spcPts val="1360"/>
              </a:lnSpc>
              <a:spcBef>
                <a:spcPts val="409"/>
              </a:spcBef>
            </a:pPr>
            <a:r>
              <a:rPr sz="1400" b="1" spc="-10" dirty="0">
                <a:latin typeface="Arial"/>
                <a:cs typeface="Arial"/>
              </a:rPr>
              <a:t>Libérer verrous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3470" y="5316423"/>
            <a:ext cx="85725" cy="609600"/>
            <a:chOff x="3873470" y="5316423"/>
            <a:chExt cx="85725" cy="609600"/>
          </a:xfrm>
        </p:grpSpPr>
        <p:sp>
          <p:nvSpPr>
            <p:cNvPr id="12" name="object 12"/>
            <p:cNvSpPr/>
            <p:nvPr/>
          </p:nvSpPr>
          <p:spPr>
            <a:xfrm>
              <a:off x="3916333" y="5344998"/>
              <a:ext cx="0" cy="581025"/>
            </a:xfrm>
            <a:custGeom>
              <a:avLst/>
              <a:gdLst/>
              <a:ahLst/>
              <a:cxnLst/>
              <a:rect l="l" t="t" r="r" b="b"/>
              <a:pathLst>
                <a:path h="581025">
                  <a:moveTo>
                    <a:pt x="0" y="5810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73470" y="5316423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769069" y="5316423"/>
            <a:ext cx="85725" cy="609600"/>
            <a:chOff x="6769069" y="5316423"/>
            <a:chExt cx="85725" cy="609600"/>
          </a:xfrm>
        </p:grpSpPr>
        <p:sp>
          <p:nvSpPr>
            <p:cNvPr id="15" name="object 15"/>
            <p:cNvSpPr/>
            <p:nvPr/>
          </p:nvSpPr>
          <p:spPr>
            <a:xfrm>
              <a:off x="6811932" y="5316423"/>
              <a:ext cx="0" cy="581025"/>
            </a:xfrm>
            <a:custGeom>
              <a:avLst/>
              <a:gdLst/>
              <a:ahLst/>
              <a:cxnLst/>
              <a:rect l="l" t="t" r="r" b="b"/>
              <a:pathLst>
                <a:path h="581025">
                  <a:moveTo>
                    <a:pt x="0" y="5810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69069" y="584029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32823" y="1538362"/>
            <a:ext cx="7753984" cy="38163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95"/>
              </a:spcBef>
              <a:buClr>
                <a:srgbClr val="663300"/>
              </a:buClr>
              <a:buSzPct val="62500"/>
              <a:buFont typeface="Wingdings"/>
              <a:buChar char=""/>
              <a:tabLst>
                <a:tab pos="431800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Principe</a:t>
            </a:r>
            <a:r>
              <a:rPr sz="2400" spc="-9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CC6600"/>
                </a:solidFill>
                <a:latin typeface="Trebuchet MS"/>
                <a:cs typeface="Trebuchet MS"/>
              </a:rPr>
              <a:t>bien</a:t>
            </a:r>
            <a:r>
              <a:rPr sz="2400" i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i="1" dirty="0">
                <a:solidFill>
                  <a:srgbClr val="CC6600"/>
                </a:solidFill>
                <a:latin typeface="Trebuchet MS"/>
                <a:cs typeface="Trebuchet MS"/>
              </a:rPr>
              <a:t>formée</a:t>
            </a:r>
            <a:r>
              <a:rPr sz="2400" i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1168400" lvl="1" indent="-241300">
              <a:lnSpc>
                <a:spcPct val="100000"/>
              </a:lnSpc>
              <a:spcBef>
                <a:spcPts val="525"/>
              </a:spcBef>
              <a:buClr>
                <a:srgbClr val="CC6600"/>
              </a:buClr>
              <a:buAutoNum type="romanLcPeriod"/>
              <a:tabLst>
                <a:tab pos="1168400" algn="l"/>
              </a:tabLst>
            </a:pPr>
            <a:r>
              <a:rPr sz="2000" dirty="0">
                <a:latin typeface="Trebuchet MS"/>
                <a:cs typeface="Trebuchet MS"/>
              </a:rPr>
              <a:t>Avant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LIRE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elle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au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moins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10" dirty="0">
                <a:latin typeface="Trebuchet MS"/>
                <a:cs typeface="Trebuchet MS"/>
              </a:rPr>
              <a:t> V-</a:t>
            </a:r>
            <a:r>
              <a:rPr sz="2000" dirty="0">
                <a:latin typeface="Trebuchet MS"/>
                <a:cs typeface="Trebuchet MS"/>
              </a:rPr>
              <a:t>partagé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(x)</a:t>
            </a:r>
            <a:endParaRPr sz="2000">
              <a:latin typeface="Trebuchet MS"/>
              <a:cs typeface="Trebuchet MS"/>
            </a:endParaRPr>
          </a:p>
          <a:p>
            <a:pPr marL="1241425" lvl="1" indent="-314325">
              <a:lnSpc>
                <a:spcPct val="100000"/>
              </a:lnSpc>
              <a:spcBef>
                <a:spcPts val="500"/>
              </a:spcBef>
              <a:buClr>
                <a:srgbClr val="CC6600"/>
              </a:buClr>
              <a:buAutoNum type="romanLcPeriod"/>
              <a:tabLst>
                <a:tab pos="1241425" algn="l"/>
              </a:tabLst>
            </a:pPr>
            <a:r>
              <a:rPr sz="2000" dirty="0">
                <a:latin typeface="Trebuchet MS"/>
                <a:cs typeface="Trebuchet MS"/>
              </a:rPr>
              <a:t>Avant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d'ECRIRE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x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elle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V-</a:t>
            </a:r>
            <a:r>
              <a:rPr sz="2000" dirty="0">
                <a:latin typeface="Trebuchet MS"/>
                <a:cs typeface="Trebuchet MS"/>
              </a:rPr>
              <a:t>exclusif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(x)</a:t>
            </a:r>
            <a:endParaRPr sz="2000">
              <a:latin typeface="Trebuchet MS"/>
              <a:cs typeface="Trebuchet MS"/>
            </a:endParaRPr>
          </a:p>
          <a:p>
            <a:pPr marL="1313815" lvl="1" indent="-386715">
              <a:lnSpc>
                <a:spcPct val="100000"/>
              </a:lnSpc>
              <a:spcBef>
                <a:spcPts val="400"/>
              </a:spcBef>
              <a:buClr>
                <a:srgbClr val="CC6600"/>
              </a:buClr>
              <a:buAutoNum type="romanLcPeriod"/>
              <a:tabLst>
                <a:tab pos="1313815" algn="l"/>
              </a:tabLst>
            </a:pPr>
            <a:r>
              <a:rPr sz="2000" dirty="0">
                <a:latin typeface="Trebuchet MS"/>
                <a:cs typeface="Trebuchet MS"/>
              </a:rPr>
              <a:t>Aucun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objet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reste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verrouillé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après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TRANSATION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965"/>
              </a:spcBef>
            </a:pP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à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deux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phases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(2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Phase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Locking)</a:t>
            </a:r>
            <a:r>
              <a:rPr sz="2400" spc="-50" dirty="0">
                <a:latin typeface="Trebuchet MS"/>
                <a:cs typeface="Trebuchet MS"/>
              </a:rPr>
              <a:t> :</a:t>
            </a:r>
            <a:endParaRPr sz="2400">
              <a:latin typeface="Trebuchet MS"/>
              <a:cs typeface="Trebuchet MS"/>
            </a:endParaRPr>
          </a:p>
          <a:p>
            <a:pPr marL="1155065" marR="608965" lvl="2" indent="-228600">
              <a:lnSpc>
                <a:spcPct val="101499"/>
              </a:lnSpc>
              <a:spcBef>
                <a:spcPts val="50"/>
              </a:spcBef>
              <a:buClr>
                <a:srgbClr val="FFCC00"/>
              </a:buClr>
              <a:buSzPct val="63888"/>
              <a:buFont typeface="Wingdings"/>
              <a:buChar char=""/>
              <a:tabLst>
                <a:tab pos="1155065" algn="l"/>
              </a:tabLst>
            </a:pP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Règle</a:t>
            </a:r>
            <a:r>
              <a:rPr sz="18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I</a:t>
            </a:r>
            <a:r>
              <a:rPr sz="1800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transactions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différentes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peuvent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posséder </a:t>
            </a:r>
            <a:r>
              <a:rPr sz="1800" dirty="0">
                <a:latin typeface="Trebuchet MS"/>
                <a:cs typeface="Trebuchet MS"/>
              </a:rPr>
              <a:t>simultanément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verrous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conflit</a:t>
            </a:r>
            <a:endParaRPr sz="1800">
              <a:latin typeface="Trebuchet MS"/>
              <a:cs typeface="Trebuchet MS"/>
            </a:endParaRPr>
          </a:p>
          <a:p>
            <a:pPr marL="1155065" marR="31750" lvl="2" indent="-228600">
              <a:lnSpc>
                <a:spcPct val="101499"/>
              </a:lnSpc>
              <a:spcBef>
                <a:spcPts val="15"/>
              </a:spcBef>
              <a:buClr>
                <a:srgbClr val="FFCC00"/>
              </a:buClr>
              <a:buSzPct val="63888"/>
              <a:buFont typeface="Wingdings"/>
              <a:buChar char=""/>
              <a:tabLst>
                <a:tab pos="1155065" algn="l"/>
              </a:tabLst>
            </a:pP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Règle</a:t>
            </a:r>
            <a:r>
              <a:rPr sz="18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CC6600"/>
                </a:solidFill>
                <a:latin typeface="Trebuchet MS"/>
                <a:cs typeface="Trebuchet MS"/>
              </a:rPr>
              <a:t>II</a:t>
            </a:r>
            <a:r>
              <a:rPr sz="18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Toute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transaction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qui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libère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un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verrou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peut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plus</a:t>
            </a:r>
            <a:r>
              <a:rPr sz="1800" spc="-25" dirty="0">
                <a:latin typeface="Trebuchet MS"/>
                <a:cs typeface="Trebuchet MS"/>
              </a:rPr>
              <a:t> en </a:t>
            </a:r>
            <a:r>
              <a:rPr sz="1800" dirty="0">
                <a:latin typeface="Trebuchet MS"/>
                <a:cs typeface="Trebuchet MS"/>
              </a:rPr>
              <a:t>acquérir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d'autres</a:t>
            </a:r>
            <a:endParaRPr sz="1800">
              <a:latin typeface="Trebuchet MS"/>
              <a:cs typeface="Trebuchet MS"/>
            </a:endParaRPr>
          </a:p>
          <a:p>
            <a:pPr marL="510540" algn="ctr">
              <a:lnSpc>
                <a:spcPct val="100000"/>
              </a:lnSpc>
              <a:spcBef>
                <a:spcPts val="115"/>
              </a:spcBef>
            </a:pPr>
            <a:r>
              <a:rPr sz="1400" b="1" spc="-10" dirty="0">
                <a:latin typeface="Arial"/>
                <a:cs typeface="Arial"/>
              </a:rPr>
              <a:t>Exécution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821333" y="6040322"/>
            <a:ext cx="381000" cy="76200"/>
            <a:chOff x="5821333" y="6040322"/>
            <a:chExt cx="381000" cy="76200"/>
          </a:xfrm>
        </p:grpSpPr>
        <p:sp>
          <p:nvSpPr>
            <p:cNvPr id="19" name="object 19"/>
            <p:cNvSpPr/>
            <p:nvPr/>
          </p:nvSpPr>
          <p:spPr>
            <a:xfrm>
              <a:off x="5821333" y="6078422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5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26133" y="60403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046499" y="5337071"/>
            <a:ext cx="2669540" cy="566420"/>
            <a:chOff x="4046499" y="5337071"/>
            <a:chExt cx="2669540" cy="56642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9199" y="5349770"/>
              <a:ext cx="2644140" cy="54102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59199" y="5349771"/>
              <a:ext cx="2644140" cy="541020"/>
            </a:xfrm>
            <a:custGeom>
              <a:avLst/>
              <a:gdLst/>
              <a:ahLst/>
              <a:cxnLst/>
              <a:rect l="l" t="t" r="r" b="b"/>
              <a:pathLst>
                <a:path w="2644140" h="541020">
                  <a:moveTo>
                    <a:pt x="0" y="541019"/>
                  </a:moveTo>
                  <a:lnTo>
                    <a:pt x="609599" y="0"/>
                  </a:lnTo>
                  <a:lnTo>
                    <a:pt x="2118359" y="7620"/>
                  </a:lnTo>
                  <a:lnTo>
                    <a:pt x="2644139" y="525779"/>
                  </a:lnTo>
                  <a:lnTo>
                    <a:pt x="0" y="541019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Exemple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28675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37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3987165" cy="447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2865" indent="-342900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Quelle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 </a:t>
            </a:r>
            <a:r>
              <a:rPr sz="2000" spc="-95" dirty="0">
                <a:latin typeface="Trebuchet MS"/>
                <a:cs typeface="Trebuchet MS"/>
              </a:rPr>
              <a:t>l</a:t>
            </a:r>
            <a:r>
              <a:rPr sz="2000" spc="-95" dirty="0">
                <a:latin typeface="MS PGothic"/>
                <a:cs typeface="MS PGothic"/>
              </a:rPr>
              <a:t>ʼ</a:t>
            </a:r>
            <a:r>
              <a:rPr sz="2000" spc="-95" dirty="0">
                <a:latin typeface="Trebuchet MS"/>
                <a:cs typeface="Trebuchet MS"/>
              </a:rPr>
              <a:t>exécution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obtenue </a:t>
            </a: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verrouillage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deux</a:t>
            </a:r>
            <a:r>
              <a:rPr sz="2000" spc="-10" dirty="0">
                <a:latin typeface="Trebuchet MS"/>
                <a:cs typeface="Trebuchet MS"/>
              </a:rPr>
              <a:t> phases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partir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 </a:t>
            </a:r>
            <a:r>
              <a:rPr sz="2000" spc="-10" dirty="0">
                <a:latin typeface="Trebuchet MS"/>
                <a:cs typeface="Trebuchet MS"/>
              </a:rPr>
              <a:t>l</a:t>
            </a:r>
            <a:r>
              <a:rPr sz="2000" spc="-10" dirty="0">
                <a:latin typeface="MS PGothic"/>
                <a:cs typeface="MS PGothic"/>
              </a:rPr>
              <a:t>ʼ</a:t>
            </a:r>
            <a:r>
              <a:rPr sz="2000" spc="-10" dirty="0">
                <a:latin typeface="Trebuchet MS"/>
                <a:cs typeface="Trebuchet MS"/>
              </a:rPr>
              <a:t>ordonnancement </a:t>
            </a:r>
            <a:r>
              <a:rPr sz="2000" dirty="0">
                <a:latin typeface="Trebuchet MS"/>
                <a:cs typeface="Trebuchet MS"/>
              </a:rPr>
              <a:t>S5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  <a:p>
            <a:pPr marL="355600" marR="5080" indent="-342900">
              <a:lnSpc>
                <a:spcPct val="99300"/>
              </a:lnSpc>
              <a:spcBef>
                <a:spcPts val="4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considère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lorsque</a:t>
            </a:r>
            <a:r>
              <a:rPr sz="2000" spc="-25" dirty="0">
                <a:latin typeface="Trebuchet MS"/>
                <a:cs typeface="Trebuchet MS"/>
              </a:rPr>
              <a:t> les </a:t>
            </a:r>
            <a:r>
              <a:rPr sz="2000" dirty="0">
                <a:latin typeface="Trebuchet MS"/>
                <a:cs typeface="Trebuchet MS"/>
              </a:rPr>
              <a:t>verrous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sont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libérés</a:t>
            </a:r>
            <a:r>
              <a:rPr sz="2000" spc="-25" dirty="0">
                <a:latin typeface="Trebuchet MS"/>
                <a:cs typeface="Trebuchet MS"/>
              </a:rPr>
              <a:t> (au </a:t>
            </a:r>
            <a:r>
              <a:rPr sz="2000" dirty="0">
                <a:latin typeface="Trebuchet MS"/>
                <a:cs typeface="Trebuchet MS"/>
              </a:rPr>
              <a:t>moment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du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commit/ </a:t>
            </a:r>
            <a:r>
              <a:rPr sz="2000" dirty="0">
                <a:latin typeface="Trebuchet MS"/>
                <a:cs typeface="Trebuchet MS"/>
              </a:rPr>
              <a:t>terminaison)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exécute</a:t>
            </a:r>
            <a:r>
              <a:rPr sz="2000" spc="-25" dirty="0">
                <a:latin typeface="Trebuchet MS"/>
                <a:cs typeface="Trebuchet MS"/>
              </a:rPr>
              <a:t> en </a:t>
            </a:r>
            <a:r>
              <a:rPr sz="2000" dirty="0">
                <a:latin typeface="Trebuchet MS"/>
                <a:cs typeface="Trebuchet MS"/>
              </a:rPr>
              <a:t>priorité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opérations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bloquées </a:t>
            </a:r>
            <a:r>
              <a:rPr sz="2000" dirty="0">
                <a:latin typeface="Trebuchet MS"/>
                <a:cs typeface="Trebuchet MS"/>
              </a:rPr>
              <a:t>dans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50" dirty="0">
                <a:latin typeface="Trebuchet MS"/>
                <a:cs typeface="Trebuchet MS"/>
              </a:rPr>
              <a:t>l</a:t>
            </a:r>
            <a:r>
              <a:rPr sz="2000" spc="-150" dirty="0">
                <a:latin typeface="MS PGothic"/>
                <a:cs typeface="MS PGothic"/>
              </a:rPr>
              <a:t>ʼ</a:t>
            </a:r>
            <a:r>
              <a:rPr sz="2000" spc="-150" dirty="0">
                <a:latin typeface="Trebuchet MS"/>
                <a:cs typeface="Trebuchet MS"/>
              </a:rPr>
              <a:t>ordre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leur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blocage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  <a:buClr>
                <a:srgbClr val="663300"/>
              </a:buClr>
              <a:buFont typeface="Wingdings"/>
              <a:buChar char=""/>
            </a:pP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S5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=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L1(A);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E1(A);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L2(A);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E2(A);</a:t>
            </a:r>
            <a:endParaRPr sz="2000">
              <a:latin typeface="Trebuchet MS"/>
              <a:cs typeface="Trebuchet MS"/>
            </a:endParaRPr>
          </a:p>
          <a:p>
            <a:pPr marL="355600" marR="637540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latin typeface="Trebuchet MS"/>
                <a:cs typeface="Trebuchet MS"/>
              </a:rPr>
              <a:t>L1(B);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E1(B);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L2(B);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E2(B); C1;C2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848322" y="1768359"/>
          <a:ext cx="3672838" cy="475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625"/>
                <a:gridCol w="1657350"/>
                <a:gridCol w="502919"/>
                <a:gridCol w="575944"/>
              </a:tblGrid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Attend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A50021"/>
                      </a:solidFill>
                      <a:prstDash val="solid"/>
                    </a:lnB>
                    <a:solidFill>
                      <a:srgbClr val="FFD6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Tient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verrou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A50021"/>
                      </a:solidFill>
                      <a:prstDash val="solid"/>
                    </a:lnB>
                    <a:solidFill>
                      <a:srgbClr val="FFD6D5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VL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A50021"/>
                      </a:solidFill>
                      <a:prstDash val="solid"/>
                    </a:lnB>
                    <a:solidFill>
                      <a:srgbClr val="FFD6D5"/>
                    </a:solidFill>
                  </a:tcPr>
                </a:tc>
                <a:tc>
                  <a:txBody>
                    <a:bodyPr/>
                    <a:lstStyle/>
                    <a:p>
                      <a:pPr marR="21971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A50021"/>
                      </a:solidFill>
                      <a:prstDash val="solid"/>
                    </a:lnB>
                    <a:solidFill>
                      <a:srgbClr val="FFD6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5002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5002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720"/>
                        </a:lnSpc>
                      </a:pPr>
                      <a:r>
                        <a:rPr sz="4200" b="1" spc="-2887" baseline="-6944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A5002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A50021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2720"/>
                        </a:lnSpc>
                      </a:pPr>
                      <a:r>
                        <a:rPr sz="1800" spc="-113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4200" b="1" spc="-75" baseline="-5952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4200" baseline="-5952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720"/>
                        </a:lnSpc>
                      </a:pPr>
                      <a:r>
                        <a:rPr sz="4200" b="1" spc="-2872" baseline="-2976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>
                        <a:lnSpc>
                          <a:spcPts val="2720"/>
                        </a:lnSpc>
                      </a:pPr>
                      <a:r>
                        <a:rPr sz="4200" b="1" spc="-2115" baseline="-1984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20"/>
                        </a:lnSpc>
                      </a:pPr>
                      <a:r>
                        <a:rPr sz="1800" spc="-103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4200" b="1" spc="-44" baseline="-12896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4200" baseline="-12896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0" algn="r">
                        <a:lnSpc>
                          <a:spcPts val="2720"/>
                        </a:lnSpc>
                      </a:pPr>
                      <a:r>
                        <a:rPr sz="1800" spc="-101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4200" b="1" spc="-37" baseline="-11904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4200" baseline="-11904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20"/>
                        </a:lnSpc>
                      </a:pPr>
                      <a:r>
                        <a:rPr sz="1800" spc="-969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4200" b="1" spc="-37" baseline="-10912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4200" baseline="-10912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T2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2720"/>
                        </a:lnSpc>
                      </a:pPr>
                      <a:r>
                        <a:rPr sz="4200" b="1" spc="-2242" baseline="-9920" dirty="0">
                          <a:solidFill>
                            <a:srgbClr val="A50021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solidFill>
                            <a:srgbClr val="A50021"/>
                          </a:solidFill>
                          <a:latin typeface="Trebuchet MS"/>
                          <a:cs typeface="Trebuchet MS"/>
                        </a:rPr>
                        <a:t>C1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25" dirty="0">
                          <a:solidFill>
                            <a:srgbClr val="A50021"/>
                          </a:solidFill>
                          <a:latin typeface="Trebuchet MS"/>
                          <a:cs typeface="Trebuchet MS"/>
                        </a:rPr>
                        <a:t>C2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936828"/>
            <a:ext cx="81705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Ordonnancements</a:t>
            </a:r>
            <a:r>
              <a:rPr sz="4000" spc="-13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non</a:t>
            </a:r>
            <a:r>
              <a:rPr sz="4000" spc="-12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recouvrables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7100570" cy="18110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206375" indent="-342900">
              <a:lnSpc>
                <a:spcPts val="3300"/>
              </a:lnSpc>
              <a:spcBef>
                <a:spcPts val="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2PL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assure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des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ordonnancements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conflit- sérialisables</a:t>
            </a:r>
            <a:endParaRPr sz="2800">
              <a:latin typeface="Trebuchet MS"/>
              <a:cs typeface="Trebuchet MS"/>
            </a:endParaRPr>
          </a:p>
          <a:p>
            <a:pPr marL="355600" marR="5080" indent="-342900">
              <a:lnSpc>
                <a:spcPts val="3329"/>
              </a:lnSpc>
              <a:spcBef>
                <a:spcPts val="74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Mais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n’évite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ordonnancements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non </a:t>
            </a:r>
            <a:r>
              <a:rPr sz="2800" spc="-10" dirty="0">
                <a:latin typeface="Trebuchet MS"/>
                <a:cs typeface="Trebuchet MS"/>
              </a:rPr>
              <a:t>recouvrables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6223" y="3592841"/>
            <a:ext cx="7443470" cy="8890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6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297815" algn="l"/>
              </a:tabLst>
            </a:pPr>
            <a:r>
              <a:rPr sz="2400" spc="-10" dirty="0">
                <a:latin typeface="Trebuchet MS"/>
                <a:cs typeface="Trebuchet MS"/>
              </a:rPr>
              <a:t>Considerez</a:t>
            </a:r>
            <a:endParaRPr sz="240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Trebuchet MS"/>
                <a:cs typeface="Trebuchet MS"/>
              </a:rPr>
              <a:t>S6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L1(A);</a:t>
            </a:r>
            <a:r>
              <a:rPr sz="2400" spc="-5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E1(A);</a:t>
            </a:r>
            <a:r>
              <a:rPr sz="2400" spc="-5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L2(A);</a:t>
            </a:r>
            <a:r>
              <a:rPr sz="2400" spc="-55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E2(A);</a:t>
            </a:r>
            <a:r>
              <a:rPr sz="2400" spc="-6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L2(B);</a:t>
            </a:r>
            <a:r>
              <a:rPr sz="2400" spc="-55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08000"/>
                </a:solidFill>
                <a:latin typeface="Trebuchet MS"/>
                <a:cs typeface="Trebuchet MS"/>
              </a:rPr>
              <a:t>E2(B);</a:t>
            </a:r>
            <a:r>
              <a:rPr sz="2400" spc="-60" dirty="0">
                <a:solidFill>
                  <a:srgbClr val="00800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08F00"/>
                </a:solidFill>
                <a:latin typeface="Trebuchet MS"/>
                <a:cs typeface="Trebuchet MS"/>
              </a:rPr>
              <a:t>C2;</a:t>
            </a:r>
            <a:r>
              <a:rPr sz="2400" b="1" spc="-55" dirty="0">
                <a:solidFill>
                  <a:srgbClr val="008F0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CC3300"/>
                </a:solidFill>
                <a:latin typeface="Trebuchet MS"/>
                <a:cs typeface="Trebuchet MS"/>
              </a:rPr>
              <a:t>A1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3423" y="4459489"/>
            <a:ext cx="209042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2000" dirty="0">
                <a:latin typeface="Trebuchet MS"/>
                <a:cs typeface="Trebuchet MS"/>
              </a:rPr>
              <a:t>C2=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commit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T2 </a:t>
            </a:r>
            <a:r>
              <a:rPr sz="2000" dirty="0">
                <a:latin typeface="Trebuchet MS"/>
                <a:cs typeface="Trebuchet MS"/>
              </a:rPr>
              <a:t>A1=abort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T1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6223" y="5259081"/>
            <a:ext cx="74745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297815" algn="l"/>
              </a:tabLst>
            </a:pPr>
            <a:r>
              <a:rPr sz="2400" dirty="0">
                <a:latin typeface="Trebuchet MS"/>
                <a:cs typeface="Trebuchet MS"/>
              </a:rPr>
              <a:t>C2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validé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peut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plus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faire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marche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arrière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!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6885" y="4863666"/>
            <a:ext cx="194246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Libération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verrous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97808" y="4470284"/>
            <a:ext cx="85725" cy="431800"/>
            <a:chOff x="8097808" y="4470284"/>
            <a:chExt cx="85725" cy="431800"/>
          </a:xfrm>
        </p:grpSpPr>
        <p:sp>
          <p:nvSpPr>
            <p:cNvPr id="14" name="object 14"/>
            <p:cNvSpPr/>
            <p:nvPr/>
          </p:nvSpPr>
          <p:spPr>
            <a:xfrm>
              <a:off x="8140670" y="4498859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4032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97808" y="447028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923635" y="3528579"/>
            <a:ext cx="194246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Libération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verrous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73533" y="3774959"/>
            <a:ext cx="85725" cy="431800"/>
            <a:chOff x="4373533" y="3774959"/>
            <a:chExt cx="85725" cy="431800"/>
          </a:xfrm>
        </p:grpSpPr>
        <p:sp>
          <p:nvSpPr>
            <p:cNvPr id="18" name="object 18"/>
            <p:cNvSpPr/>
            <p:nvPr/>
          </p:nvSpPr>
          <p:spPr>
            <a:xfrm>
              <a:off x="4416395" y="3774959"/>
              <a:ext cx="0" cy="403225"/>
            </a:xfrm>
            <a:custGeom>
              <a:avLst/>
              <a:gdLst/>
              <a:ahLst/>
              <a:cxnLst/>
              <a:rect l="l" t="t" r="r" b="b"/>
              <a:pathLst>
                <a:path h="403225">
                  <a:moveTo>
                    <a:pt x="0" y="403224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73533" y="4121034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328675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38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25500" marR="5080">
              <a:lnSpc>
                <a:spcPts val="3300"/>
              </a:lnSpc>
              <a:spcBef>
                <a:spcPts val="260"/>
              </a:spcBef>
            </a:pP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Protocole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verrouillage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à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deux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CC3300"/>
                </a:solidFill>
                <a:latin typeface="Trebuchet MS"/>
                <a:cs typeface="Trebuchet MS"/>
              </a:rPr>
              <a:t>phases</a:t>
            </a:r>
            <a:r>
              <a:rPr sz="28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C3300"/>
                </a:solidFill>
                <a:latin typeface="Trebuchet MS"/>
                <a:cs typeface="Trebuchet MS"/>
              </a:rPr>
              <a:t>strict (S-</a:t>
            </a:r>
            <a:r>
              <a:rPr sz="2800" spc="-20" dirty="0">
                <a:solidFill>
                  <a:srgbClr val="CC3300"/>
                </a:solidFill>
                <a:latin typeface="Trebuchet MS"/>
                <a:cs typeface="Trebuchet MS"/>
              </a:rPr>
              <a:t>2PL)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8036559" cy="33909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159385" indent="-342900">
              <a:lnSpc>
                <a:spcPts val="2800"/>
              </a:lnSpc>
              <a:spcBef>
                <a:spcPts val="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spc="-20" dirty="0">
                <a:latin typeface="Trebuchet MS"/>
                <a:cs typeface="Trebuchet MS"/>
              </a:rPr>
              <a:t>S-</a:t>
            </a:r>
            <a:r>
              <a:rPr sz="2400" dirty="0">
                <a:latin typeface="Trebuchet MS"/>
                <a:cs typeface="Trebuchet MS"/>
              </a:rPr>
              <a:t>2PL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plus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45" dirty="0">
                <a:latin typeface="Trebuchet MS"/>
                <a:cs typeface="Trebuchet MS"/>
              </a:rPr>
              <a:t>d</a:t>
            </a:r>
            <a:r>
              <a:rPr sz="2400" spc="-145" dirty="0">
                <a:latin typeface="MS PGothic"/>
                <a:cs typeface="MS PGothic"/>
              </a:rPr>
              <a:t>ʼ</a:t>
            </a:r>
            <a:r>
              <a:rPr sz="2400" spc="-145" dirty="0">
                <a:latin typeface="Trebuchet MS"/>
                <a:cs typeface="Trebuchet MS"/>
              </a:rPr>
              <a:t>assurer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ordonnancements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conflit- </a:t>
            </a:r>
            <a:r>
              <a:rPr sz="2400" dirty="0">
                <a:latin typeface="Trebuchet MS"/>
                <a:cs typeface="Trebuchet MS"/>
              </a:rPr>
              <a:t>sérialisables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assure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des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ordonnancements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recouvrables</a:t>
            </a:r>
            <a:endParaRPr sz="2400">
              <a:latin typeface="Trebuchet MS"/>
              <a:cs typeface="Trebuchet MS"/>
            </a:endParaRPr>
          </a:p>
          <a:p>
            <a:pPr marL="355600" marR="238760" indent="-342900">
              <a:lnSpc>
                <a:spcPct val="99800"/>
              </a:lnSpc>
              <a:spcBef>
                <a:spcPts val="52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Dans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ordonnancement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recouvrable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transactions </a:t>
            </a:r>
            <a:r>
              <a:rPr sz="2400" dirty="0">
                <a:latin typeface="Trebuchet MS"/>
                <a:cs typeface="Trebuchet MS"/>
              </a:rPr>
              <a:t>valident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uniquement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après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toutes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transactions </a:t>
            </a:r>
            <a:r>
              <a:rPr sz="2400" dirty="0">
                <a:latin typeface="Trebuchet MS"/>
                <a:cs typeface="Trebuchet MS"/>
              </a:rPr>
              <a:t>dont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lu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modifications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(conflit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écriture- </a:t>
            </a:r>
            <a:r>
              <a:rPr sz="2400" dirty="0">
                <a:latin typeface="Trebuchet MS"/>
                <a:cs typeface="Trebuchet MS"/>
              </a:rPr>
              <a:t>lecture)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validé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règle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II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2PL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remplacée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par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749300" marR="5080" lvl="1" indent="-279400">
              <a:lnSpc>
                <a:spcPts val="2320"/>
              </a:lnSpc>
              <a:spcBef>
                <a:spcPts val="670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rebuchet MS"/>
                <a:cs typeface="Trebuchet MS"/>
              </a:rPr>
              <a:t>Tous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verrous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libérés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fin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(commit/ abort)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39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9233" y="5661862"/>
            <a:ext cx="756920" cy="411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50800" marR="5080" indent="-38100">
              <a:lnSpc>
                <a:spcPts val="1360"/>
              </a:lnSpc>
              <a:spcBef>
                <a:spcPts val="409"/>
              </a:spcBef>
            </a:pPr>
            <a:r>
              <a:rPr sz="1400" b="1" spc="-10" dirty="0">
                <a:latin typeface="Arial"/>
                <a:cs typeface="Arial"/>
              </a:rPr>
              <a:t>Acquérir verrous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86558" y="5661862"/>
            <a:ext cx="678180" cy="411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25400">
              <a:lnSpc>
                <a:spcPts val="1360"/>
              </a:lnSpc>
              <a:spcBef>
                <a:spcPts val="409"/>
              </a:spcBef>
            </a:pPr>
            <a:r>
              <a:rPr sz="1400" b="1" spc="-10" dirty="0">
                <a:latin typeface="Arial"/>
                <a:cs typeface="Arial"/>
              </a:rPr>
              <a:t>Libérer verrous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73470" y="5481522"/>
            <a:ext cx="85725" cy="609600"/>
            <a:chOff x="3873470" y="5481522"/>
            <a:chExt cx="85725" cy="609600"/>
          </a:xfrm>
        </p:grpSpPr>
        <p:sp>
          <p:nvSpPr>
            <p:cNvPr id="13" name="object 13"/>
            <p:cNvSpPr/>
            <p:nvPr/>
          </p:nvSpPr>
          <p:spPr>
            <a:xfrm>
              <a:off x="3916333" y="5510096"/>
              <a:ext cx="0" cy="581025"/>
            </a:xfrm>
            <a:custGeom>
              <a:avLst/>
              <a:gdLst/>
              <a:ahLst/>
              <a:cxnLst/>
              <a:rect l="l" t="t" r="r" b="b"/>
              <a:pathLst>
                <a:path h="581025">
                  <a:moveTo>
                    <a:pt x="0" y="581025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73470" y="548152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769069" y="5481522"/>
            <a:ext cx="85725" cy="609600"/>
            <a:chOff x="6769069" y="5481522"/>
            <a:chExt cx="85725" cy="609600"/>
          </a:xfrm>
        </p:grpSpPr>
        <p:sp>
          <p:nvSpPr>
            <p:cNvPr id="16" name="object 16"/>
            <p:cNvSpPr/>
            <p:nvPr/>
          </p:nvSpPr>
          <p:spPr>
            <a:xfrm>
              <a:off x="6811932" y="5481522"/>
              <a:ext cx="0" cy="581025"/>
            </a:xfrm>
            <a:custGeom>
              <a:avLst/>
              <a:gdLst/>
              <a:ahLst/>
              <a:cxnLst/>
              <a:rect l="l" t="t" r="r" b="b"/>
              <a:pathLst>
                <a:path h="581025">
                  <a:moveTo>
                    <a:pt x="0" y="581025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69069" y="6005397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4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27570" y="5280862"/>
            <a:ext cx="875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Exécution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30758" y="6101600"/>
            <a:ext cx="5854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Temps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21333" y="6205422"/>
            <a:ext cx="381000" cy="76200"/>
            <a:chOff x="5821333" y="6205422"/>
            <a:chExt cx="381000" cy="76200"/>
          </a:xfrm>
        </p:grpSpPr>
        <p:sp>
          <p:nvSpPr>
            <p:cNvPr id="21" name="object 21"/>
            <p:cNvSpPr/>
            <p:nvPr/>
          </p:nvSpPr>
          <p:spPr>
            <a:xfrm>
              <a:off x="5821333" y="6243521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599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26133" y="620542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199"/>
                  </a:lnTo>
                  <a:lnTo>
                    <a:pt x="76200" y="38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260813" y="5502172"/>
            <a:ext cx="2108200" cy="625475"/>
            <a:chOff x="4260813" y="5502172"/>
            <a:chExt cx="2108200" cy="62547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3513" y="5514872"/>
              <a:ext cx="2082222" cy="60006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73513" y="5514872"/>
              <a:ext cx="2082800" cy="600075"/>
            </a:xfrm>
            <a:custGeom>
              <a:avLst/>
              <a:gdLst/>
              <a:ahLst/>
              <a:cxnLst/>
              <a:rect l="l" t="t" r="r" b="b"/>
              <a:pathLst>
                <a:path w="2082800" h="600075">
                  <a:moveTo>
                    <a:pt x="0" y="565450"/>
                  </a:moveTo>
                  <a:lnTo>
                    <a:pt x="498559" y="0"/>
                  </a:lnTo>
                  <a:lnTo>
                    <a:pt x="2082222" y="0"/>
                  </a:lnTo>
                  <a:lnTo>
                    <a:pt x="2082222" y="600069"/>
                  </a:lnTo>
                  <a:lnTo>
                    <a:pt x="0" y="56545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310283" y="6194310"/>
            <a:ext cx="85725" cy="519430"/>
            <a:chOff x="6310283" y="6194310"/>
            <a:chExt cx="85725" cy="519430"/>
          </a:xfrm>
        </p:grpSpPr>
        <p:sp>
          <p:nvSpPr>
            <p:cNvPr id="27" name="object 27"/>
            <p:cNvSpPr/>
            <p:nvPr/>
          </p:nvSpPr>
          <p:spPr>
            <a:xfrm>
              <a:off x="6353145" y="6222885"/>
              <a:ext cx="0" cy="490855"/>
            </a:xfrm>
            <a:custGeom>
              <a:avLst/>
              <a:gdLst/>
              <a:ahLst/>
              <a:cxnLst/>
              <a:rect l="l" t="t" r="r" b="b"/>
              <a:pathLst>
                <a:path h="490854">
                  <a:moveTo>
                    <a:pt x="0" y="490537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10283" y="619431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8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11160" y="6819467"/>
            <a:ext cx="11817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8000"/>
                </a:solidFill>
                <a:latin typeface="Arial"/>
                <a:cs typeface="Arial"/>
              </a:rPr>
              <a:t>Commit/abort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47111" y="583768"/>
            <a:ext cx="536257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Graphe</a:t>
            </a:r>
            <a:r>
              <a:rPr sz="3200" spc="-12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3200" spc="-12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dépendances</a:t>
            </a:r>
            <a:r>
              <a:rPr sz="3200" spc="-12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CC3300"/>
                </a:solidFill>
                <a:latin typeface="Trebuchet MS"/>
                <a:cs typeface="Trebuchet MS"/>
              </a:rPr>
              <a:t>avec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verrous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exclusifs</a:t>
            </a:r>
            <a:r>
              <a:rPr sz="32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et</a:t>
            </a:r>
            <a:r>
              <a:rPr sz="3200" spc="-7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partagés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0137" y="1732037"/>
            <a:ext cx="8327390" cy="483616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Construction</a:t>
            </a:r>
            <a:r>
              <a:rPr sz="2400" spc="-6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du</a:t>
            </a:r>
            <a:r>
              <a:rPr sz="2400" spc="-6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graphe</a:t>
            </a:r>
            <a:r>
              <a:rPr sz="2400" spc="-6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C3300"/>
                </a:solidFill>
                <a:latin typeface="Trebuchet MS"/>
                <a:cs typeface="Trebuchet MS"/>
              </a:rPr>
              <a:t>:</a:t>
            </a:r>
            <a:endParaRPr sz="2400">
              <a:latin typeface="Trebuchet MS"/>
              <a:cs typeface="Trebuchet MS"/>
            </a:endParaRPr>
          </a:p>
          <a:p>
            <a:pPr marL="355600" marR="165735" indent="-342900">
              <a:lnSpc>
                <a:spcPct val="101099"/>
              </a:lnSpc>
              <a:spcBef>
                <a:spcPts val="46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arête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Tj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fait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VL(x)</a:t>
            </a:r>
            <a:r>
              <a:rPr sz="24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VE(x)</a:t>
            </a:r>
            <a:r>
              <a:rPr sz="24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si </a:t>
            </a:r>
            <a:r>
              <a:rPr sz="2400" dirty="0">
                <a:latin typeface="Trebuchet MS"/>
                <a:cs typeface="Trebuchet MS"/>
              </a:rPr>
              <a:t>Tj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suivante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à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verrouiller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x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écriture </a:t>
            </a:r>
            <a:r>
              <a:rPr sz="2400" spc="-10" dirty="0">
                <a:solidFill>
                  <a:srgbClr val="CC6600"/>
                </a:solidFill>
                <a:latin typeface="Trebuchet MS"/>
                <a:cs typeface="Trebuchet MS"/>
              </a:rPr>
              <a:t>VE(x)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15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998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relâche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verrou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exclusif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x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alors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il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y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arête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Ti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toutes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qui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posent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verrou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lecture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VL(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x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)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x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jusqu'à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qu'une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pose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verrou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écriture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sur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x.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Clr>
                <a:srgbClr val="663300"/>
              </a:buClr>
              <a:buFont typeface="Wingdings"/>
              <a:buChar char=""/>
            </a:pPr>
            <a:endParaRPr sz="2400">
              <a:latin typeface="Trebuchet MS"/>
              <a:cs typeface="Trebuchet MS"/>
            </a:endParaRPr>
          </a:p>
          <a:p>
            <a:pPr marL="426084" marR="48260" lvl="1" indent="-328930" algn="just">
              <a:lnSpc>
                <a:spcPts val="2820"/>
              </a:lnSpc>
              <a:buSzPct val="75000"/>
              <a:buFont typeface="Wingdings"/>
              <a:buChar char=""/>
              <a:tabLst>
                <a:tab pos="426084" algn="l"/>
                <a:tab pos="439420" algn="l"/>
              </a:tabLst>
            </a:pPr>
            <a:r>
              <a:rPr sz="2400" dirty="0">
                <a:solidFill>
                  <a:srgbClr val="66330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S'il</a:t>
            </a:r>
            <a:r>
              <a:rPr sz="2400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n'a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pas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400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cycle</a:t>
            </a:r>
            <a:r>
              <a:rPr sz="2400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peut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produire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ordonnancement </a:t>
            </a:r>
            <a:r>
              <a:rPr sz="2400" dirty="0">
                <a:latin typeface="Trebuchet MS"/>
                <a:cs typeface="Trebuchet MS"/>
              </a:rPr>
              <a:t>séquentiel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équivalent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(l'ordonnancement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sérialisable)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0137" y="532968"/>
            <a:ext cx="5964555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Protocole</a:t>
            </a:r>
            <a:r>
              <a:rPr sz="3200" spc="-8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3200" spc="-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verrouillage</a:t>
            </a:r>
            <a:r>
              <a:rPr sz="3200" spc="-8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à</a:t>
            </a:r>
            <a:r>
              <a:rPr sz="3200" spc="-8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CC3300"/>
                </a:solidFill>
                <a:latin typeface="Trebuchet MS"/>
                <a:cs typeface="Trebuchet MS"/>
              </a:rPr>
              <a:t>deux </a:t>
            </a:r>
            <a:r>
              <a:rPr sz="3200" dirty="0">
                <a:solidFill>
                  <a:srgbClr val="CC3300"/>
                </a:solidFill>
                <a:latin typeface="Trebuchet MS"/>
                <a:cs typeface="Trebuchet MS"/>
              </a:rPr>
              <a:t>phases</a:t>
            </a:r>
            <a:r>
              <a:rPr sz="3200" spc="-10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CC3300"/>
                </a:solidFill>
                <a:latin typeface="Trebuchet MS"/>
                <a:cs typeface="Trebuchet MS"/>
              </a:rPr>
              <a:t>strict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1573" y="1647139"/>
            <a:ext cx="5128260" cy="24301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800" dirty="0">
                <a:latin typeface="Trebuchet MS"/>
                <a:cs typeface="Trebuchet MS"/>
              </a:rPr>
              <a:t>Garantit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:</a:t>
            </a:r>
            <a:endParaRPr sz="2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Niveau</a:t>
            </a:r>
            <a:r>
              <a:rPr sz="2400" spc="-8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2400" spc="-8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CC6600"/>
                </a:solidFill>
                <a:latin typeface="Trebuchet MS"/>
                <a:cs typeface="Trebuchet MS"/>
              </a:rPr>
              <a:t>cohérence</a:t>
            </a:r>
            <a:r>
              <a:rPr sz="2400" spc="-8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CC6600"/>
                </a:solidFill>
                <a:latin typeface="Trebuchet MS"/>
                <a:cs typeface="Trebuchet MS"/>
              </a:rPr>
              <a:t>3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6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spc="-10" dirty="0">
                <a:solidFill>
                  <a:srgbClr val="CC6600"/>
                </a:solidFill>
                <a:latin typeface="Trebuchet MS"/>
                <a:cs typeface="Trebuchet MS"/>
              </a:rPr>
              <a:t>Sérialisabilité</a:t>
            </a:r>
            <a:endParaRPr sz="2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1930"/>
              </a:spcBef>
              <a:buClr>
                <a:srgbClr val="CC3300"/>
              </a:buClr>
              <a:buFont typeface="Wingdings"/>
              <a:buChar char=""/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800" dirty="0">
                <a:latin typeface="Trebuchet MS"/>
                <a:cs typeface="Trebuchet MS"/>
              </a:rPr>
              <a:t>Mais,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problème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fantômes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?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976" rIns="0" bIns="0" rtlCol="0">
            <a:spAutoFit/>
          </a:bodyPr>
          <a:lstStyle/>
          <a:p>
            <a:pPr marL="8369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Le</a:t>
            </a:r>
            <a:r>
              <a:rPr sz="4000" spc="-10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problème</a:t>
            </a:r>
            <a:r>
              <a:rPr sz="40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des</a:t>
            </a:r>
            <a:r>
              <a:rPr sz="40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fantômes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47111" y="1858529"/>
            <a:ext cx="809498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5080" indent="-342900">
              <a:lnSpc>
                <a:spcPts val="2100"/>
              </a:lnSpc>
              <a:spcBef>
                <a:spcPts val="219"/>
              </a:spcBef>
            </a:pPr>
            <a:r>
              <a:rPr sz="1800" b="1" dirty="0">
                <a:latin typeface="Trebuchet MS"/>
                <a:cs typeface="Trebuchet MS"/>
              </a:rPr>
              <a:t>Objets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fantômes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objets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apparaissant/disparaissant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d'un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ensemble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d'objets sélectionnés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111" y="2783597"/>
            <a:ext cx="25431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rebuchet MS"/>
                <a:cs typeface="Trebuchet MS"/>
              </a:rPr>
              <a:t>Relation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EMP(NE,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DPT,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SAL)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4711" y="2783597"/>
            <a:ext cx="31146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rebuchet MS"/>
                <a:cs typeface="Trebuchet MS"/>
              </a:rPr>
              <a:t>Relation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GENERALE(DPT,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MAXSAL)</a:t>
            </a:r>
            <a:endParaRPr sz="160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61943" y="3167925"/>
          <a:ext cx="2158364" cy="1275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9455"/>
                <a:gridCol w="719455"/>
                <a:gridCol w="719454"/>
              </a:tblGrid>
              <a:tr h="208915">
                <a:tc>
                  <a:txBody>
                    <a:bodyPr/>
                    <a:lstStyle/>
                    <a:p>
                      <a:pPr marL="49530">
                        <a:lnSpc>
                          <a:spcPts val="155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5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DPT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5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SAL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e4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293025" y="4427079"/>
            <a:ext cx="199453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  <a:tabLst>
                <a:tab pos="843915" algn="l"/>
                <a:tab pos="1563370" algn="l"/>
              </a:tabLst>
            </a:pPr>
            <a:r>
              <a:rPr sz="1400" i="1" spc="-25" dirty="0">
                <a:latin typeface="Times New Roman"/>
                <a:cs typeface="Times New Roman"/>
              </a:rPr>
              <a:t>e6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d1</a:t>
            </a:r>
            <a:r>
              <a:rPr sz="1400" i="1" dirty="0">
                <a:latin typeface="Times New Roman"/>
                <a:cs typeface="Times New Roman"/>
              </a:rPr>
              <a:t>	</a:t>
            </a:r>
            <a:r>
              <a:rPr sz="1400" i="1" spc="-25" dirty="0">
                <a:latin typeface="Times New Roman"/>
                <a:cs typeface="Times New Roman"/>
              </a:rPr>
              <a:t>60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rebuchet MS"/>
                <a:cs typeface="Trebuchet MS"/>
              </a:rPr>
              <a:t>Transactions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T1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et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T2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38098" y="5002402"/>
            <a:ext cx="16230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b="1" spc="-25" dirty="0">
                <a:latin typeface="Times New Roman"/>
                <a:cs typeface="Times New Roman"/>
              </a:rPr>
              <a:t>T2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28537" y="5020265"/>
            <a:ext cx="1643380" cy="211454"/>
            <a:chOff x="6828537" y="5020265"/>
            <a:chExt cx="1643380" cy="211454"/>
          </a:xfrm>
        </p:grpSpPr>
        <p:sp>
          <p:nvSpPr>
            <p:cNvPr id="15" name="object 15"/>
            <p:cNvSpPr/>
            <p:nvPr/>
          </p:nvSpPr>
          <p:spPr>
            <a:xfrm>
              <a:off x="6829422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95" y="0"/>
                  </a:moveTo>
                  <a:lnTo>
                    <a:pt x="0" y="0"/>
                  </a:lnTo>
                  <a:lnTo>
                    <a:pt x="0" y="9067"/>
                  </a:lnTo>
                  <a:lnTo>
                    <a:pt x="9395" y="9067"/>
                  </a:lnTo>
                  <a:lnTo>
                    <a:pt x="93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29421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471" y="0"/>
                  </a:lnTo>
                </a:path>
                <a:path w="9525" h="9525">
                  <a:moveTo>
                    <a:pt x="0" y="0"/>
                  </a:moveTo>
                  <a:lnTo>
                    <a:pt x="0" y="90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29422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95" y="0"/>
                  </a:moveTo>
                  <a:lnTo>
                    <a:pt x="0" y="0"/>
                  </a:lnTo>
                  <a:lnTo>
                    <a:pt x="0" y="9067"/>
                  </a:lnTo>
                  <a:lnTo>
                    <a:pt x="9395" y="9067"/>
                  </a:lnTo>
                  <a:lnTo>
                    <a:pt x="93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29421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471" y="0"/>
                  </a:lnTo>
                </a:path>
                <a:path w="9525" h="9525">
                  <a:moveTo>
                    <a:pt x="0" y="0"/>
                  </a:moveTo>
                  <a:lnTo>
                    <a:pt x="0" y="90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38892" y="5021147"/>
              <a:ext cx="1623695" cy="9525"/>
            </a:xfrm>
            <a:custGeom>
              <a:avLst/>
              <a:gdLst/>
              <a:ahLst/>
              <a:cxnLst/>
              <a:rect l="l" t="t" r="r" b="b"/>
              <a:pathLst>
                <a:path w="1623695" h="9525">
                  <a:moveTo>
                    <a:pt x="1623331" y="0"/>
                  </a:moveTo>
                  <a:lnTo>
                    <a:pt x="0" y="0"/>
                  </a:lnTo>
                  <a:lnTo>
                    <a:pt x="0" y="9067"/>
                  </a:lnTo>
                  <a:lnTo>
                    <a:pt x="1623331" y="9067"/>
                  </a:lnTo>
                  <a:lnTo>
                    <a:pt x="16233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38893" y="5021147"/>
              <a:ext cx="1623695" cy="0"/>
            </a:xfrm>
            <a:custGeom>
              <a:avLst/>
              <a:gdLst/>
              <a:ahLst/>
              <a:cxnLst/>
              <a:rect l="l" t="t" r="r" b="b"/>
              <a:pathLst>
                <a:path w="1623695">
                  <a:moveTo>
                    <a:pt x="0" y="0"/>
                  </a:moveTo>
                  <a:lnTo>
                    <a:pt x="162333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62225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092" y="0"/>
                  </a:moveTo>
                  <a:lnTo>
                    <a:pt x="0" y="0"/>
                  </a:lnTo>
                  <a:lnTo>
                    <a:pt x="0" y="9067"/>
                  </a:lnTo>
                  <a:lnTo>
                    <a:pt x="9092" y="9067"/>
                  </a:lnTo>
                  <a:lnTo>
                    <a:pt x="9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462225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092" y="0"/>
                  </a:lnTo>
                </a:path>
                <a:path w="9525" h="9525">
                  <a:moveTo>
                    <a:pt x="0" y="0"/>
                  </a:moveTo>
                  <a:lnTo>
                    <a:pt x="0" y="90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462225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092" y="0"/>
                  </a:moveTo>
                  <a:lnTo>
                    <a:pt x="0" y="0"/>
                  </a:lnTo>
                  <a:lnTo>
                    <a:pt x="0" y="9067"/>
                  </a:lnTo>
                  <a:lnTo>
                    <a:pt x="9092" y="9067"/>
                  </a:lnTo>
                  <a:lnTo>
                    <a:pt x="9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462225" y="502114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9092" y="0"/>
                  </a:lnTo>
                </a:path>
                <a:path w="9525" h="9525">
                  <a:moveTo>
                    <a:pt x="0" y="0"/>
                  </a:moveTo>
                  <a:lnTo>
                    <a:pt x="0" y="9067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829422" y="5030213"/>
              <a:ext cx="9525" cy="201295"/>
            </a:xfrm>
            <a:custGeom>
              <a:avLst/>
              <a:gdLst/>
              <a:ahLst/>
              <a:cxnLst/>
              <a:rect l="l" t="t" r="r" b="b"/>
              <a:pathLst>
                <a:path w="9525" h="201295">
                  <a:moveTo>
                    <a:pt x="9395" y="0"/>
                  </a:moveTo>
                  <a:lnTo>
                    <a:pt x="0" y="0"/>
                  </a:lnTo>
                  <a:lnTo>
                    <a:pt x="0" y="200988"/>
                  </a:lnTo>
                  <a:lnTo>
                    <a:pt x="9395" y="200988"/>
                  </a:lnTo>
                  <a:lnTo>
                    <a:pt x="93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29421" y="503021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9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62225" y="5030213"/>
              <a:ext cx="9525" cy="201295"/>
            </a:xfrm>
            <a:custGeom>
              <a:avLst/>
              <a:gdLst/>
              <a:ahLst/>
              <a:cxnLst/>
              <a:rect l="l" t="t" r="r" b="b"/>
              <a:pathLst>
                <a:path w="9525" h="201295">
                  <a:moveTo>
                    <a:pt x="9092" y="0"/>
                  </a:moveTo>
                  <a:lnTo>
                    <a:pt x="0" y="0"/>
                  </a:lnTo>
                  <a:lnTo>
                    <a:pt x="0" y="200988"/>
                  </a:lnTo>
                  <a:lnTo>
                    <a:pt x="9092" y="200988"/>
                  </a:lnTo>
                  <a:lnTo>
                    <a:pt x="9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62225" y="503021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9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604787" y="5208176"/>
            <a:ext cx="24130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Times New Roman"/>
                <a:cs typeface="Times New Roman"/>
              </a:rPr>
              <a:t>A1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93924" y="5208176"/>
            <a:ext cx="23241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Times New Roman"/>
                <a:cs typeface="Times New Roman"/>
              </a:rPr>
              <a:t>B1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32958" y="5233784"/>
            <a:ext cx="1633220" cy="608330"/>
          </a:xfrm>
          <a:prstGeom prst="rect">
            <a:avLst/>
          </a:prstGeom>
          <a:ln w="694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50800" marR="82550">
              <a:lnSpc>
                <a:spcPts val="1570"/>
              </a:lnSpc>
              <a:spcBef>
                <a:spcPts val="35"/>
              </a:spcBef>
            </a:pPr>
            <a:r>
              <a:rPr sz="1400" dirty="0">
                <a:latin typeface="Times New Roman"/>
                <a:cs typeface="Times New Roman"/>
              </a:rPr>
              <a:t>INSERT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EMP </a:t>
            </a:r>
            <a:r>
              <a:rPr sz="1400" spc="-10" dirty="0">
                <a:latin typeface="Times New Roman"/>
                <a:cs typeface="Times New Roman"/>
              </a:rPr>
              <a:t>VALUES(e6,d1,60)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47111" y="5816027"/>
            <a:ext cx="6636384" cy="103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671955" algn="ctr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Times New Roman"/>
                <a:cs typeface="Times New Roman"/>
              </a:rPr>
              <a:t>A2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Comment</a:t>
            </a:r>
            <a:r>
              <a:rPr sz="20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éviter</a:t>
            </a:r>
            <a:r>
              <a:rPr sz="20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l'insertion</a:t>
            </a:r>
            <a:r>
              <a:rPr sz="20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d'employés</a:t>
            </a:r>
            <a:r>
              <a:rPr sz="20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après</a:t>
            </a:r>
            <a:r>
              <a:rPr sz="2000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20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CC6600"/>
                </a:solidFill>
                <a:latin typeface="Trebuchet MS"/>
                <a:cs typeface="Trebuchet MS"/>
              </a:rPr>
              <a:t>sélection</a:t>
            </a:r>
            <a:r>
              <a:rPr sz="2000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2000" spc="-50" dirty="0">
                <a:solidFill>
                  <a:srgbClr val="CC6600"/>
                </a:solidFill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963648" y="5020265"/>
          <a:ext cx="2418080" cy="1424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080"/>
              </a:tblGrid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555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marL="50165" marR="108585">
                        <a:lnSpc>
                          <a:spcPts val="1570"/>
                        </a:lnSpc>
                        <a:spcBef>
                          <a:spcPts val="20"/>
                        </a:spcBef>
                        <a:tabLst>
                          <a:tab pos="81534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MAX(SAL)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tt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EMP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ts val="1525"/>
                        </a:lnSpc>
                        <a:tabLst>
                          <a:tab pos="852169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DPT=d1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7695">
                <a:tc>
                  <a:txBody>
                    <a:bodyPr/>
                    <a:lstStyle/>
                    <a:p>
                      <a:pPr marL="50165" marR="688340">
                        <a:lnSpc>
                          <a:spcPts val="1570"/>
                        </a:lnSpc>
                        <a:spcBef>
                          <a:spcPts val="2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MAXSAL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tt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ts val="152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DPT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5021914" y="3167925"/>
          <a:ext cx="160337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/>
                <a:gridCol w="879475"/>
              </a:tblGrid>
              <a:tr h="208915">
                <a:tc>
                  <a:txBody>
                    <a:bodyPr/>
                    <a:lstStyle/>
                    <a:p>
                      <a:pPr marL="53975">
                        <a:lnSpc>
                          <a:spcPts val="1550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DPT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50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MAXSAL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53975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53975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425514" y="6835342"/>
            <a:ext cx="2387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rebuchet MS"/>
                <a:cs typeface="Trebuchet MS"/>
              </a:rPr>
              <a:t>43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976" rIns="0" bIns="0" rtlCol="0">
            <a:spAutoFit/>
          </a:bodyPr>
          <a:lstStyle/>
          <a:p>
            <a:pPr marL="8369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Fantômes</a:t>
            </a:r>
            <a:r>
              <a:rPr sz="4000" spc="-15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(cont.)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6623" y="5314518"/>
            <a:ext cx="8305165" cy="1391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130"/>
              </a:lnSpc>
              <a:spcBef>
                <a:spcPts val="1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Exécution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3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non</a:t>
            </a:r>
            <a:r>
              <a:rPr sz="1800" b="1" spc="-5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sérialisable,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cohérente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ts val="213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T1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peut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verrouiller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n-</a:t>
            </a:r>
            <a:r>
              <a:rPr sz="1800" b="1" dirty="0">
                <a:latin typeface="Trebuchet MS"/>
                <a:cs typeface="Trebuchet MS"/>
              </a:rPr>
              <a:t>uplets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n'existant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pas</a:t>
            </a:r>
            <a:endParaRPr sz="1800">
              <a:latin typeface="Trebuchet MS"/>
              <a:cs typeface="Trebuchet MS"/>
            </a:endParaRPr>
          </a:p>
          <a:p>
            <a:pPr marL="354965" marR="5080" indent="-342900">
              <a:lnSpc>
                <a:spcPts val="2100"/>
              </a:lnSpc>
              <a:spcBef>
                <a:spcPts val="1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Verrou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n-</a:t>
            </a:r>
            <a:r>
              <a:rPr sz="1800" b="1" dirty="0">
                <a:latin typeface="Trebuchet MS"/>
                <a:cs typeface="Trebuchet MS"/>
              </a:rPr>
              <a:t>uplets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ne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suffit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Verrou</a:t>
            </a:r>
            <a:r>
              <a:rPr sz="18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sur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toute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la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relation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pour</a:t>
            </a:r>
            <a:r>
              <a:rPr sz="1800" b="1" spc="-2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C6600"/>
                </a:solidFill>
                <a:latin typeface="Trebuchet MS"/>
                <a:cs typeface="Trebuchet MS"/>
              </a:rPr>
              <a:t>éviter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insertions</a:t>
            </a:r>
            <a:r>
              <a:rPr sz="18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et</a:t>
            </a:r>
            <a:r>
              <a:rPr sz="18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suppressions</a:t>
            </a:r>
            <a:r>
              <a:rPr sz="18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de</a:t>
            </a:r>
            <a:r>
              <a:rPr sz="18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CC6600"/>
                </a:solidFill>
                <a:latin typeface="Trebuchet MS"/>
                <a:cs typeface="Trebuchet MS"/>
              </a:rPr>
              <a:t>n-uplets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ts val="214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Plus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généralement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verrouillage</a:t>
            </a:r>
            <a:r>
              <a:rPr sz="18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par</a:t>
            </a:r>
            <a:r>
              <a:rPr sz="18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CC6600"/>
                </a:solidFill>
                <a:latin typeface="Trebuchet MS"/>
                <a:cs typeface="Trebuchet MS"/>
              </a:rPr>
              <a:t>prédicat</a:t>
            </a:r>
            <a:r>
              <a:rPr sz="1800" b="1" spc="-3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-</a:t>
            </a:r>
            <a:r>
              <a:rPr sz="1800" b="1" dirty="0">
                <a:latin typeface="Trebuchet MS"/>
                <a:cs typeface="Trebuchet MS"/>
              </a:rPr>
              <a:t>-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la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demande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verrou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9523" y="6673417"/>
            <a:ext cx="4472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spécifie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l'ensemble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d'entités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à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verrouiller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76974" y="1830963"/>
          <a:ext cx="2280284" cy="1420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825"/>
                <a:gridCol w="763269"/>
                <a:gridCol w="758190"/>
              </a:tblGrid>
              <a:tr h="233045">
                <a:tc>
                  <a:txBody>
                    <a:bodyPr/>
                    <a:lstStyle/>
                    <a:p>
                      <a:pPr marL="57150">
                        <a:lnSpc>
                          <a:spcPts val="1735"/>
                        </a:lnSpc>
                      </a:pPr>
                      <a:r>
                        <a:rPr sz="1550" b="1" spc="-25" dirty="0">
                          <a:latin typeface="Times New Roman"/>
                          <a:cs typeface="Times New Roman"/>
                        </a:rPr>
                        <a:t>NE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35"/>
                        </a:lnSpc>
                      </a:pPr>
                      <a:r>
                        <a:rPr sz="1550" b="1" spc="-25" dirty="0">
                          <a:latin typeface="Times New Roman"/>
                          <a:cs typeface="Times New Roman"/>
                        </a:rPr>
                        <a:t>DPT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35"/>
                        </a:lnSpc>
                      </a:pPr>
                      <a:r>
                        <a:rPr sz="1550" b="1" spc="-25" dirty="0">
                          <a:latin typeface="Times New Roman"/>
                          <a:cs typeface="Times New Roman"/>
                        </a:rPr>
                        <a:t>SAL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e1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e2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d1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7150">
                        <a:lnSpc>
                          <a:spcPts val="1760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e3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60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60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e4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30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e5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d2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764"/>
                        </a:lnSpc>
                      </a:pPr>
                      <a:r>
                        <a:rPr sz="1550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527600" y="3233337"/>
            <a:ext cx="20447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25" dirty="0">
                <a:latin typeface="Times New Roman"/>
                <a:cs typeface="Times New Roman"/>
              </a:rPr>
              <a:t>e6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86117" y="3233337"/>
            <a:ext cx="2139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25" dirty="0">
                <a:latin typeface="Times New Roman"/>
                <a:cs typeface="Times New Roman"/>
              </a:rPr>
              <a:t>d1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4633" y="3233337"/>
            <a:ext cx="21399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-25" dirty="0">
                <a:latin typeface="Times New Roman"/>
                <a:cs typeface="Times New Roman"/>
              </a:rPr>
              <a:t>60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545087" y="1831044"/>
          <a:ext cx="2341245" cy="1453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1245"/>
              </a:tblGrid>
              <a:tr h="208915">
                <a:tc>
                  <a:txBody>
                    <a:bodyPr/>
                    <a:lstStyle/>
                    <a:p>
                      <a:pPr algn="ctr">
                        <a:lnSpc>
                          <a:spcPts val="1545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49530" marR="50800">
                        <a:lnSpc>
                          <a:spcPts val="1580"/>
                        </a:lnSpc>
                        <a:spcBef>
                          <a:spcPts val="40"/>
                        </a:spcBef>
                        <a:tabLst>
                          <a:tab pos="82169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400" spc="9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MAX(SAL)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tt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EMP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ts val="1535"/>
                        </a:lnSpc>
                        <a:tabLst>
                          <a:tab pos="852805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DPT=d1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49530" marR="622300">
                        <a:lnSpc>
                          <a:spcPts val="1580"/>
                        </a:lnSpc>
                        <a:spcBef>
                          <a:spcPts val="4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DPT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d1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7343856" y="1811889"/>
            <a:ext cx="17881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T2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35033" y="1831235"/>
            <a:ext cx="1810385" cy="211454"/>
            <a:chOff x="7335033" y="1831235"/>
            <a:chExt cx="1810385" cy="211454"/>
          </a:xfrm>
        </p:grpSpPr>
        <p:sp>
          <p:nvSpPr>
            <p:cNvPr id="18" name="object 18"/>
            <p:cNvSpPr/>
            <p:nvPr/>
          </p:nvSpPr>
          <p:spPr>
            <a:xfrm>
              <a:off x="7337239" y="1833383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821" y="0"/>
                  </a:moveTo>
                  <a:lnTo>
                    <a:pt x="0" y="0"/>
                  </a:lnTo>
                  <a:lnTo>
                    <a:pt x="0" y="8845"/>
                  </a:lnTo>
                  <a:lnTo>
                    <a:pt x="8821" y="8845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37239" y="1833447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757" y="0"/>
                  </a:lnTo>
                </a:path>
                <a:path w="8890" h="8889">
                  <a:moveTo>
                    <a:pt x="0" y="0"/>
                  </a:moveTo>
                  <a:lnTo>
                    <a:pt x="0" y="8781"/>
                  </a:lnTo>
                </a:path>
              </a:pathLst>
            </a:custGeom>
            <a:ln w="4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37239" y="1833383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821" y="0"/>
                  </a:moveTo>
                  <a:lnTo>
                    <a:pt x="0" y="0"/>
                  </a:lnTo>
                  <a:lnTo>
                    <a:pt x="0" y="8845"/>
                  </a:lnTo>
                  <a:lnTo>
                    <a:pt x="8821" y="8845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37239" y="1833447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757" y="0"/>
                  </a:lnTo>
                </a:path>
                <a:path w="8890" h="8889">
                  <a:moveTo>
                    <a:pt x="0" y="0"/>
                  </a:moveTo>
                  <a:lnTo>
                    <a:pt x="0" y="8781"/>
                  </a:lnTo>
                </a:path>
              </a:pathLst>
            </a:custGeom>
            <a:ln w="4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5996" y="1833383"/>
              <a:ext cx="1790700" cy="8890"/>
            </a:xfrm>
            <a:custGeom>
              <a:avLst/>
              <a:gdLst/>
              <a:ahLst/>
              <a:cxnLst/>
              <a:rect l="l" t="t" r="r" b="b"/>
              <a:pathLst>
                <a:path w="1790700" h="8889">
                  <a:moveTo>
                    <a:pt x="1790160" y="0"/>
                  </a:moveTo>
                  <a:lnTo>
                    <a:pt x="0" y="0"/>
                  </a:lnTo>
                  <a:lnTo>
                    <a:pt x="0" y="8845"/>
                  </a:lnTo>
                  <a:lnTo>
                    <a:pt x="1790160" y="8845"/>
                  </a:lnTo>
                  <a:lnTo>
                    <a:pt x="1790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45996" y="1833447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>
                  <a:moveTo>
                    <a:pt x="0" y="0"/>
                  </a:moveTo>
                  <a:lnTo>
                    <a:pt x="1790159" y="0"/>
                  </a:lnTo>
                </a:path>
              </a:pathLst>
            </a:custGeom>
            <a:ln w="44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36156" y="1833383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821" y="0"/>
                  </a:moveTo>
                  <a:lnTo>
                    <a:pt x="0" y="0"/>
                  </a:lnTo>
                  <a:lnTo>
                    <a:pt x="0" y="8845"/>
                  </a:lnTo>
                  <a:lnTo>
                    <a:pt x="8821" y="8845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36156" y="1833447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84" y="0"/>
                  </a:lnTo>
                </a:path>
                <a:path w="8890" h="8889">
                  <a:moveTo>
                    <a:pt x="0" y="0"/>
                  </a:moveTo>
                  <a:lnTo>
                    <a:pt x="0" y="8781"/>
                  </a:lnTo>
                </a:path>
              </a:pathLst>
            </a:custGeom>
            <a:ln w="4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136156" y="1833383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8821" y="0"/>
                  </a:moveTo>
                  <a:lnTo>
                    <a:pt x="0" y="0"/>
                  </a:lnTo>
                  <a:lnTo>
                    <a:pt x="0" y="8845"/>
                  </a:lnTo>
                  <a:lnTo>
                    <a:pt x="8821" y="8845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136156" y="1833447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90" h="8889">
                  <a:moveTo>
                    <a:pt x="0" y="0"/>
                  </a:moveTo>
                  <a:lnTo>
                    <a:pt x="8884" y="0"/>
                  </a:lnTo>
                </a:path>
                <a:path w="8890" h="8889">
                  <a:moveTo>
                    <a:pt x="0" y="0"/>
                  </a:moveTo>
                  <a:lnTo>
                    <a:pt x="0" y="8781"/>
                  </a:lnTo>
                </a:path>
              </a:pathLst>
            </a:custGeom>
            <a:ln w="4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337239" y="1842241"/>
              <a:ext cx="8890" cy="200660"/>
            </a:xfrm>
            <a:custGeom>
              <a:avLst/>
              <a:gdLst/>
              <a:ahLst/>
              <a:cxnLst/>
              <a:rect l="l" t="t" r="r" b="b"/>
              <a:pathLst>
                <a:path w="8890" h="200660">
                  <a:moveTo>
                    <a:pt x="8821" y="0"/>
                  </a:moveTo>
                  <a:lnTo>
                    <a:pt x="0" y="0"/>
                  </a:lnTo>
                  <a:lnTo>
                    <a:pt x="0" y="200299"/>
                  </a:lnTo>
                  <a:lnTo>
                    <a:pt x="8821" y="20029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37239" y="1842228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312"/>
                  </a:lnTo>
                </a:path>
              </a:pathLst>
            </a:custGeom>
            <a:ln w="44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6156" y="1842241"/>
              <a:ext cx="8890" cy="200660"/>
            </a:xfrm>
            <a:custGeom>
              <a:avLst/>
              <a:gdLst/>
              <a:ahLst/>
              <a:cxnLst/>
              <a:rect l="l" t="t" r="r" b="b"/>
              <a:pathLst>
                <a:path w="8890" h="200660">
                  <a:moveTo>
                    <a:pt x="8821" y="0"/>
                  </a:moveTo>
                  <a:lnTo>
                    <a:pt x="0" y="0"/>
                  </a:lnTo>
                  <a:lnTo>
                    <a:pt x="0" y="200299"/>
                  </a:lnTo>
                  <a:lnTo>
                    <a:pt x="8821" y="200299"/>
                  </a:lnTo>
                  <a:lnTo>
                    <a:pt x="8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36156" y="1842228"/>
              <a:ext cx="0" cy="200660"/>
            </a:xfrm>
            <a:custGeom>
              <a:avLst/>
              <a:gdLst/>
              <a:ahLst/>
              <a:cxnLst/>
              <a:rect l="l" t="t" r="r" b="b"/>
              <a:pathLst>
                <a:path h="200660">
                  <a:moveTo>
                    <a:pt x="0" y="0"/>
                  </a:moveTo>
                  <a:lnTo>
                    <a:pt x="0" y="200312"/>
                  </a:lnTo>
                </a:path>
              </a:pathLst>
            </a:custGeom>
            <a:ln w="44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214800" y="2020983"/>
            <a:ext cx="2438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A1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00013" y="2020983"/>
            <a:ext cx="2273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B1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38341" y="2043662"/>
            <a:ext cx="1798955" cy="622935"/>
          </a:xfrm>
          <a:prstGeom prst="rect">
            <a:avLst/>
          </a:prstGeom>
          <a:ln w="6617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52069" marR="255904">
              <a:lnSpc>
                <a:spcPts val="1580"/>
              </a:lnSpc>
              <a:spcBef>
                <a:spcPts val="55"/>
              </a:spcBef>
            </a:pPr>
            <a:r>
              <a:rPr sz="1400" spc="-10" dirty="0">
                <a:latin typeface="Times New Roman"/>
                <a:cs typeface="Times New Roman"/>
              </a:rPr>
              <a:t>INSERT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EMP </a:t>
            </a:r>
            <a:r>
              <a:rPr sz="1400" spc="-10" dirty="0">
                <a:latin typeface="Times New Roman"/>
                <a:cs typeface="Times New Roman"/>
              </a:rPr>
              <a:t>VALUES(e6,d1,60)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14800" y="2643708"/>
            <a:ext cx="2438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imes New Roman"/>
                <a:cs typeface="Times New Roman"/>
              </a:rPr>
              <a:t>A2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875486" y="3661361"/>
          <a:ext cx="3235960" cy="1312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7595"/>
                <a:gridCol w="1078865"/>
                <a:gridCol w="1079500"/>
              </a:tblGrid>
              <a:tr h="227965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Exécution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Exécution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Exécution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algn="ctr">
                        <a:lnSpc>
                          <a:spcPts val="138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d1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d1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60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d1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d2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d2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d2 :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48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3705351" y="3842772"/>
            <a:ext cx="115570" cy="660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10"/>
              </a:spcBef>
            </a:pPr>
            <a:r>
              <a:rPr sz="1400" spc="-5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55"/>
              </a:lnSpc>
            </a:pPr>
            <a:r>
              <a:rPr sz="1400" spc="-5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64"/>
              </a:lnSpc>
            </a:pPr>
            <a:r>
              <a:rPr sz="1400" spc="-5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927" rIns="0" bIns="0" rtlCol="0">
            <a:spAutoFit/>
          </a:bodyPr>
          <a:lstStyle/>
          <a:p>
            <a:pPr marL="9779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Autres</a:t>
            </a:r>
            <a:r>
              <a:rPr sz="4000" spc="-13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techniques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44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2823" y="1677554"/>
            <a:ext cx="6286500" cy="229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63300"/>
              </a:buClr>
              <a:buSzPct val="74074"/>
              <a:buFont typeface="Wingdings"/>
              <a:buChar char=""/>
              <a:tabLst>
                <a:tab pos="354965" algn="l"/>
              </a:tabLst>
            </a:pPr>
            <a:r>
              <a:rPr sz="2700" dirty="0">
                <a:latin typeface="Trebuchet MS"/>
                <a:cs typeface="Trebuchet MS"/>
              </a:rPr>
              <a:t>Protocoles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optimistes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dirty="0">
                <a:latin typeface="Trebuchet MS"/>
                <a:cs typeface="Trebuchet MS"/>
              </a:rPr>
              <a:t>par</a:t>
            </a:r>
            <a:r>
              <a:rPr sz="2700" spc="-7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certification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  <a:buClr>
                <a:srgbClr val="663300"/>
              </a:buClr>
              <a:buFont typeface="Wingdings"/>
              <a:buChar char=""/>
            </a:pPr>
            <a:endParaRPr sz="27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663300"/>
              </a:buClr>
              <a:buSzPct val="74074"/>
              <a:buFont typeface="Wingdings"/>
              <a:buChar char=""/>
              <a:tabLst>
                <a:tab pos="354965" algn="l"/>
              </a:tabLst>
            </a:pPr>
            <a:r>
              <a:rPr sz="2700" dirty="0">
                <a:latin typeface="Trebuchet MS"/>
                <a:cs typeface="Trebuchet MS"/>
              </a:rPr>
              <a:t>Verrouillage</a:t>
            </a:r>
            <a:r>
              <a:rPr sz="2700" spc="-11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hiérarchique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buClr>
                <a:srgbClr val="663300"/>
              </a:buClr>
              <a:buFont typeface="Wingdings"/>
              <a:buChar char=""/>
            </a:pPr>
            <a:endParaRPr sz="2700">
              <a:latin typeface="Trebuchet MS"/>
              <a:cs typeface="Trebuchet MS"/>
            </a:endParaRPr>
          </a:p>
          <a:p>
            <a:pPr marL="458470" indent="-445770">
              <a:lnSpc>
                <a:spcPct val="100000"/>
              </a:lnSpc>
              <a:buClr>
                <a:srgbClr val="663300"/>
              </a:buClr>
              <a:buSzPct val="74074"/>
              <a:buFont typeface="Wingdings"/>
              <a:buChar char=""/>
              <a:tabLst>
                <a:tab pos="458470" algn="l"/>
              </a:tabLst>
            </a:pPr>
            <a:r>
              <a:rPr sz="2700" dirty="0">
                <a:latin typeface="Trebuchet MS"/>
                <a:cs typeface="Trebuchet MS"/>
              </a:rPr>
              <a:t>Transactions</a:t>
            </a:r>
            <a:r>
              <a:rPr sz="2700" spc="-100" dirty="0">
                <a:latin typeface="Trebuchet MS"/>
                <a:cs typeface="Trebuchet MS"/>
              </a:rPr>
              <a:t> </a:t>
            </a:r>
            <a:r>
              <a:rPr sz="2700" spc="-10" dirty="0">
                <a:latin typeface="Trebuchet MS"/>
                <a:cs typeface="Trebuchet MS"/>
              </a:rPr>
              <a:t>distribuées</a:t>
            </a:r>
            <a:endParaRPr sz="2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20137" y="890790"/>
            <a:ext cx="45180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0285" algn="l"/>
              </a:tabLst>
            </a:pPr>
            <a:r>
              <a:rPr sz="4000" spc="-25" dirty="0">
                <a:solidFill>
                  <a:srgbClr val="CC3300"/>
                </a:solidFill>
                <a:latin typeface="Trebuchet MS"/>
                <a:cs typeface="Trebuchet MS"/>
              </a:rPr>
              <a:t>SQL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et</a:t>
            </a:r>
            <a:r>
              <a:rPr sz="40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45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0137" y="1673809"/>
            <a:ext cx="6800215" cy="50755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Début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implicite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(une</a:t>
            </a:r>
            <a:r>
              <a:rPr sz="1800" b="1" spc="-4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instruction</a:t>
            </a:r>
            <a:r>
              <a:rPr sz="1800" b="1" spc="-4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SQL)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Fin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1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transaction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implicite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(après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chaque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instruction,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exemple</a:t>
            </a:r>
            <a:r>
              <a:rPr sz="1600" b="1" spc="-5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"</a:t>
            </a:r>
            <a:r>
              <a:rPr sz="1600" b="1" dirty="0">
                <a:solidFill>
                  <a:srgbClr val="FF0000"/>
                </a:solidFill>
                <a:latin typeface="Trebuchet MS"/>
                <a:cs typeface="Trebuchet MS"/>
              </a:rPr>
              <a:t>autocommit</a:t>
            </a:r>
            <a:r>
              <a:rPr sz="1600" b="1" spc="-5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Trebuchet MS"/>
                <a:cs typeface="Trebuchet MS"/>
              </a:rPr>
              <a:t>off</a:t>
            </a:r>
            <a:r>
              <a:rPr sz="1600" b="1" spc="-10" dirty="0">
                <a:latin typeface="Trebuchet MS"/>
                <a:cs typeface="Trebuchet MS"/>
              </a:rPr>
              <a:t>")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explicite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COMMIT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pour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valider,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ROLLBACK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pour</a:t>
            </a:r>
            <a:r>
              <a:rPr sz="1600" b="1" spc="-5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annuler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Type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et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degré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d'isolation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d'une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transaction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Actions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explicites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verrouillage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et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libération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(Lock,</a:t>
            </a:r>
            <a:r>
              <a:rPr sz="1600" b="1" spc="-4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Unlock)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Granule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verrouillage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?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tuple,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relation,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index,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page,</a:t>
            </a:r>
            <a:r>
              <a:rPr sz="1600" b="1" spc="-4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segment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Verrouillage</a:t>
            </a:r>
            <a:r>
              <a:rPr sz="1600" b="1" spc="-9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hiérarchique</a:t>
            </a:r>
            <a:r>
              <a:rPr sz="1600" b="1" spc="-90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(intentions)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SQL2</a:t>
            </a:r>
            <a:r>
              <a:rPr sz="1800" b="1" spc="-3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: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SET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TRANSACTION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&lt;mode&gt;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&lt;isolation&gt;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spc="-25" dirty="0">
                <a:latin typeface="Trebuchet MS"/>
                <a:cs typeface="Trebuchet MS"/>
              </a:rPr>
              <a:t>...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4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MODE</a:t>
            </a:r>
            <a:r>
              <a:rPr sz="1800" b="1" spc="-20" dirty="0">
                <a:latin typeface="Trebuchet MS"/>
                <a:cs typeface="Trebuchet MS"/>
              </a:rPr>
              <a:t> </a:t>
            </a:r>
            <a:r>
              <a:rPr sz="1800" b="1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READ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ONLY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: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lecture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seulement,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pas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mise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à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jour</a:t>
            </a:r>
            <a:r>
              <a:rPr sz="1600" b="1" spc="-25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de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dirty="0">
                <a:latin typeface="Trebuchet MS"/>
                <a:cs typeface="Trebuchet MS"/>
              </a:rPr>
              <a:t>la</a:t>
            </a:r>
            <a:r>
              <a:rPr sz="1600" b="1" spc="-30" dirty="0">
                <a:latin typeface="Trebuchet MS"/>
                <a:cs typeface="Trebuchet MS"/>
              </a:rPr>
              <a:t> </a:t>
            </a:r>
            <a:r>
              <a:rPr sz="1600" b="1" spc="-25" dirty="0">
                <a:latin typeface="Trebuchet MS"/>
                <a:cs typeface="Trebuchet MS"/>
              </a:rPr>
              <a:t>BD</a:t>
            </a:r>
            <a:endParaRPr sz="16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600" b="1" dirty="0">
                <a:latin typeface="Trebuchet MS"/>
                <a:cs typeface="Trebuchet MS"/>
              </a:rPr>
              <a:t>READ</a:t>
            </a:r>
            <a:r>
              <a:rPr sz="1600" b="1" spc="-10" dirty="0">
                <a:latin typeface="Trebuchet MS"/>
                <a:cs typeface="Trebuchet MS"/>
              </a:rPr>
              <a:t> WRITE</a:t>
            </a: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5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1800" b="1" dirty="0">
                <a:latin typeface="Trebuchet MS"/>
                <a:cs typeface="Trebuchet MS"/>
              </a:rPr>
              <a:t>ISOLATION</a:t>
            </a:r>
            <a:r>
              <a:rPr sz="1800" b="1" spc="-6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LEVEL</a:t>
            </a:r>
            <a:endParaRPr sz="1800">
              <a:latin typeface="Trebuchet MS"/>
              <a:cs typeface="Trebuchet MS"/>
            </a:endParaRPr>
          </a:p>
          <a:p>
            <a:pPr marL="355600" marR="4739005" indent="-342900">
              <a:lnSpc>
                <a:spcPct val="129600"/>
              </a:lnSpc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1800" b="1" dirty="0">
                <a:latin typeface="Trebuchet MS"/>
                <a:cs typeface="Trebuchet MS"/>
              </a:rPr>
              <a:t>NB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pas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10" dirty="0">
                <a:latin typeface="Trebuchet MS"/>
                <a:cs typeface="Trebuchet MS"/>
              </a:rPr>
              <a:t>perte </a:t>
            </a:r>
            <a:r>
              <a:rPr sz="1800" b="1" dirty="0">
                <a:latin typeface="Trebuchet MS"/>
                <a:cs typeface="Trebuchet MS"/>
              </a:rPr>
              <a:t>de</a:t>
            </a:r>
            <a:r>
              <a:rPr sz="1800" b="1" spc="-30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mise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dirty="0">
                <a:latin typeface="Trebuchet MS"/>
                <a:cs typeface="Trebuchet MS"/>
              </a:rPr>
              <a:t>à</a:t>
            </a:r>
            <a:r>
              <a:rPr sz="1800" b="1" spc="-25" dirty="0">
                <a:latin typeface="Trebuchet MS"/>
                <a:cs typeface="Trebuchet MS"/>
              </a:rPr>
              <a:t> </a:t>
            </a:r>
            <a:r>
              <a:rPr sz="1800" b="1" spc="-20" dirty="0">
                <a:latin typeface="Trebuchet MS"/>
                <a:cs typeface="Trebuchet MS"/>
              </a:rPr>
              <a:t>jour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687842" y="5469331"/>
          <a:ext cx="5763259" cy="1688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815"/>
                <a:gridCol w="1440815"/>
                <a:gridCol w="1440815"/>
                <a:gridCol w="1440814"/>
              </a:tblGrid>
              <a:tr h="371475">
                <a:tc>
                  <a:txBody>
                    <a:bodyPr/>
                    <a:lstStyle/>
                    <a:p>
                      <a:pPr marL="50800">
                        <a:lnSpc>
                          <a:spcPts val="142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Niveau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9255" marR="382270" indent="54610">
                        <a:lnSpc>
                          <a:spcPts val="1390"/>
                        </a:lnSpc>
                        <a:spcBef>
                          <a:spcPts val="5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Lecture impropre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 marR="226060" indent="50165">
                        <a:lnSpc>
                          <a:spcPts val="1390"/>
                        </a:lnSpc>
                        <a:spcBef>
                          <a:spcPts val="5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Lecture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non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reproductible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Fantômes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7030">
                <a:tc>
                  <a:txBody>
                    <a:bodyPr/>
                    <a:lstStyle/>
                    <a:p>
                      <a:pPr marL="50800" marR="240029">
                        <a:lnSpc>
                          <a:spcPts val="1390"/>
                        </a:lnSpc>
                        <a:spcBef>
                          <a:spcPts val="10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READ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UNCOMMITTED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0800" marR="459105">
                        <a:lnSpc>
                          <a:spcPts val="1390"/>
                        </a:lnSpc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READ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COMMITTED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marL="50800" marR="357505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REPEATABLE 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READ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50800">
                        <a:lnSpc>
                          <a:spcPts val="137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SERIALIZABLE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936828"/>
            <a:ext cx="49256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6985" algn="l"/>
              </a:tabLst>
            </a:pPr>
            <a:r>
              <a:rPr sz="4000" spc="-20" dirty="0">
                <a:solidFill>
                  <a:srgbClr val="CC3300"/>
                </a:solidFill>
                <a:latin typeface="Trebuchet MS"/>
                <a:cs typeface="Trebuchet MS"/>
              </a:rPr>
              <a:t>SQL2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: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Isolation</a:t>
            </a:r>
            <a:r>
              <a:rPr sz="4000" spc="-6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Level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443" y="3545377"/>
            <a:ext cx="6055821" cy="31588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7443" y="3965170"/>
            <a:ext cx="7556268" cy="3283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7443" y="4584468"/>
            <a:ext cx="7452359" cy="3325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7443" y="5602778"/>
            <a:ext cx="7439891" cy="3283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91573" y="3557154"/>
            <a:ext cx="7994650" cy="314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1780"/>
              </a:lnSpc>
              <a:spcBef>
                <a:spcPts val="100"/>
              </a:spcBef>
              <a:buClr>
                <a:srgbClr val="663300"/>
              </a:buClr>
              <a:buSzPct val="73333"/>
              <a:buFont typeface="Wingdings"/>
              <a:buChar char=""/>
              <a:tabLst>
                <a:tab pos="354965" algn="l"/>
              </a:tabLst>
            </a:pP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Sérialisable</a:t>
            </a:r>
            <a:r>
              <a:rPr sz="15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:</a:t>
            </a:r>
            <a:r>
              <a:rPr sz="1500" b="1" spc="-2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2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verrouille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début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et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libère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à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la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fin,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2PL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strict.</a:t>
            </a:r>
            <a:endParaRPr sz="1500">
              <a:latin typeface="Trebuchet MS"/>
              <a:cs typeface="Trebuchet MS"/>
            </a:endParaRPr>
          </a:p>
          <a:p>
            <a:pPr marL="755015" lvl="1" indent="-285115">
              <a:lnSpc>
                <a:spcPts val="1660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400" b="1" dirty="0">
                <a:latin typeface="Trebuchet MS"/>
                <a:cs typeface="Trebuchet MS"/>
              </a:rPr>
              <a:t>Verrous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sur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ensembles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d'objets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pour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éviter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les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fantômes.</a:t>
            </a:r>
            <a:endParaRPr sz="1400">
              <a:latin typeface="Trebuchet MS"/>
              <a:cs typeface="Trebuchet MS"/>
            </a:endParaRPr>
          </a:p>
          <a:p>
            <a:pPr marL="355600" marR="222885" indent="-342900">
              <a:lnSpc>
                <a:spcPts val="1440"/>
              </a:lnSpc>
              <a:spcBef>
                <a:spcPts val="370"/>
              </a:spcBef>
              <a:buClr>
                <a:srgbClr val="663300"/>
              </a:buClr>
              <a:buSzPct val="73333"/>
              <a:buFont typeface="Wingdings"/>
              <a:buChar char=""/>
              <a:tabLst>
                <a:tab pos="355600" algn="l"/>
              </a:tabLst>
            </a:pP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Repeatable</a:t>
            </a:r>
            <a:r>
              <a:rPr sz="1500" b="1" spc="-5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read</a:t>
            </a:r>
            <a:r>
              <a:rPr sz="1500" b="1" spc="-45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: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lit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seulement</a:t>
            </a:r>
            <a:r>
              <a:rPr sz="1500" b="1" spc="-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les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modifications</a:t>
            </a:r>
            <a:r>
              <a:rPr sz="1500" b="1" spc="-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de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transactions</a:t>
            </a:r>
            <a:r>
              <a:rPr sz="1500" b="1" spc="-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ayant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validé </a:t>
            </a:r>
            <a:r>
              <a:rPr sz="1500" b="1" dirty="0">
                <a:latin typeface="Trebuchet MS"/>
                <a:cs typeface="Trebuchet MS"/>
              </a:rPr>
              <a:t>(commit).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Aucun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objet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lu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ou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n'est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une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autre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transaction.</a:t>
            </a:r>
            <a:endParaRPr sz="1500">
              <a:latin typeface="Trebuchet MS"/>
              <a:cs typeface="Trebuchet MS"/>
            </a:endParaRPr>
          </a:p>
          <a:p>
            <a:pPr marL="755015" lvl="1" indent="-285115">
              <a:lnSpc>
                <a:spcPts val="1650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400" b="1" dirty="0">
                <a:latin typeface="Trebuchet MS"/>
                <a:cs typeface="Trebuchet MS"/>
              </a:rPr>
              <a:t>Verrou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sur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objet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individuel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et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non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sur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collection,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ce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qui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peut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entraîner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des</a:t>
            </a:r>
            <a:r>
              <a:rPr sz="1400" b="1" spc="-5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fantômes.</a:t>
            </a:r>
            <a:endParaRPr sz="1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78900"/>
              </a:lnSpc>
              <a:spcBef>
                <a:spcPts val="405"/>
              </a:spcBef>
              <a:buClr>
                <a:srgbClr val="663300"/>
              </a:buClr>
              <a:buSzPct val="73333"/>
              <a:buFont typeface="Wingdings"/>
              <a:buChar char=""/>
              <a:tabLst>
                <a:tab pos="355600" algn="l"/>
              </a:tabLst>
            </a:pP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Read</a:t>
            </a:r>
            <a:r>
              <a:rPr sz="15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Committed</a:t>
            </a:r>
            <a:r>
              <a:rPr sz="15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: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lit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seulement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les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mises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à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jour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de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transactions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ayant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validé </a:t>
            </a:r>
            <a:r>
              <a:rPr sz="1500" b="1" dirty="0">
                <a:latin typeface="Trebuchet MS"/>
                <a:cs typeface="Trebuchet MS"/>
              </a:rPr>
              <a:t>(commit).</a:t>
            </a:r>
            <a:r>
              <a:rPr sz="1500" b="1" spc="-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Aucun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objet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n'est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une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autre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transaction.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Mais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spc="-25" dirty="0">
                <a:latin typeface="Trebuchet MS"/>
                <a:cs typeface="Trebuchet MS"/>
              </a:rPr>
              <a:t>un </a:t>
            </a:r>
            <a:r>
              <a:rPr sz="1500" b="1" dirty="0">
                <a:latin typeface="Trebuchet MS"/>
                <a:cs typeface="Trebuchet MS"/>
              </a:rPr>
              <a:t>objet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lu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2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peut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avoir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été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une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autre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transaction.</a:t>
            </a:r>
            <a:endParaRPr sz="15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400" b="1" dirty="0">
                <a:latin typeface="Trebuchet MS"/>
                <a:cs typeface="Trebuchet MS"/>
              </a:rPr>
              <a:t>Verrous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exclusifs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pour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écrire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et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ne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pas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les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libérer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avant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la</a:t>
            </a:r>
            <a:r>
              <a:rPr sz="1400" b="1" spc="-20" dirty="0">
                <a:latin typeface="Trebuchet MS"/>
                <a:cs typeface="Trebuchet MS"/>
              </a:rPr>
              <a:t> fin,</a:t>
            </a:r>
            <a:endParaRPr sz="1400">
              <a:latin typeface="Trebuchet MS"/>
              <a:cs typeface="Trebuchet MS"/>
            </a:endParaRPr>
          </a:p>
          <a:p>
            <a:pPr marL="755015" lvl="1" indent="-285115">
              <a:lnSpc>
                <a:spcPts val="1639"/>
              </a:lnSpc>
              <a:spcBef>
                <a:spcPts val="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400" b="1" dirty="0">
                <a:latin typeface="Trebuchet MS"/>
                <a:cs typeface="Trebuchet MS"/>
              </a:rPr>
              <a:t>Verrous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de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lecture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libérés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de</a:t>
            </a:r>
            <a:r>
              <a:rPr sz="1400" b="1" spc="-20" dirty="0">
                <a:latin typeface="Trebuchet MS"/>
                <a:cs typeface="Trebuchet MS"/>
              </a:rPr>
              <a:t> </a:t>
            </a:r>
            <a:r>
              <a:rPr sz="1400" b="1" spc="-10" dirty="0">
                <a:latin typeface="Trebuchet MS"/>
                <a:cs typeface="Trebuchet MS"/>
              </a:rPr>
              <a:t>suite.</a:t>
            </a:r>
            <a:endParaRPr sz="1400">
              <a:latin typeface="Trebuchet MS"/>
              <a:cs typeface="Trebuchet MS"/>
            </a:endParaRPr>
          </a:p>
          <a:p>
            <a:pPr marL="354965" indent="-342265">
              <a:lnSpc>
                <a:spcPts val="1760"/>
              </a:lnSpc>
              <a:buClr>
                <a:srgbClr val="663300"/>
              </a:buClr>
              <a:buSzPct val="73333"/>
              <a:buFont typeface="Wingdings"/>
              <a:buChar char=""/>
              <a:tabLst>
                <a:tab pos="354965" algn="l"/>
              </a:tabLst>
            </a:pP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Read</a:t>
            </a:r>
            <a:r>
              <a:rPr sz="1500" b="1" spc="-4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CC6600"/>
                </a:solidFill>
                <a:latin typeface="Trebuchet MS"/>
                <a:cs typeface="Trebuchet MS"/>
              </a:rPr>
              <a:t>Uncommitted</a:t>
            </a:r>
            <a:r>
              <a:rPr sz="1500" b="1" spc="-30" dirty="0">
                <a:solidFill>
                  <a:srgbClr val="CC6600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: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peut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lire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des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objets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modifiés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par</a:t>
            </a:r>
            <a:r>
              <a:rPr sz="1500" b="1" spc="-3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une</a:t>
            </a:r>
            <a:r>
              <a:rPr sz="1500" b="1" spc="-4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autre</a:t>
            </a:r>
            <a:r>
              <a:rPr sz="1500" b="1" spc="-35" dirty="0">
                <a:latin typeface="Trebuchet MS"/>
                <a:cs typeface="Trebuchet MS"/>
              </a:rPr>
              <a:t> </a:t>
            </a:r>
            <a:r>
              <a:rPr sz="1500" b="1" spc="-10" dirty="0">
                <a:latin typeface="Trebuchet MS"/>
                <a:cs typeface="Trebuchet MS"/>
              </a:rPr>
              <a:t>transaction.</a:t>
            </a:r>
            <a:endParaRPr sz="1500">
              <a:latin typeface="Trebuchet MS"/>
              <a:cs typeface="Trebuchet MS"/>
            </a:endParaRPr>
          </a:p>
          <a:p>
            <a:pPr marL="755015" lvl="1" indent="-285115">
              <a:lnSpc>
                <a:spcPts val="1680"/>
              </a:lnSpc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400" b="1" dirty="0">
                <a:latin typeface="Trebuchet MS"/>
                <a:cs typeface="Trebuchet MS"/>
              </a:rPr>
              <a:t>Pas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de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verrous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en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lecture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et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mode</a:t>
            </a:r>
            <a:r>
              <a:rPr sz="1400" b="1" spc="-1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"Read</a:t>
            </a:r>
            <a:r>
              <a:rPr sz="1400" b="1" spc="-10" dirty="0">
                <a:latin typeface="Trebuchet MS"/>
                <a:cs typeface="Trebuchet MS"/>
              </a:rPr>
              <a:t> Only".</a:t>
            </a:r>
            <a:endParaRPr sz="1400">
              <a:latin typeface="Trebuchet MS"/>
              <a:cs typeface="Trebuchet MS"/>
            </a:endParaRPr>
          </a:p>
          <a:p>
            <a:pPr marL="354965" indent="-342265">
              <a:lnSpc>
                <a:spcPts val="1795"/>
              </a:lnSpc>
              <a:spcBef>
                <a:spcPts val="25"/>
              </a:spcBef>
              <a:buClr>
                <a:srgbClr val="663300"/>
              </a:buClr>
              <a:buSzPct val="73333"/>
              <a:buFont typeface="Wingdings"/>
              <a:buChar char=""/>
              <a:tabLst>
                <a:tab pos="354965" algn="l"/>
              </a:tabLst>
            </a:pPr>
            <a:r>
              <a:rPr sz="1500" b="1" dirty="0">
                <a:latin typeface="Trebuchet MS"/>
                <a:cs typeface="Trebuchet MS"/>
              </a:rPr>
              <a:t>Exemples</a:t>
            </a:r>
            <a:r>
              <a:rPr sz="1500" b="1" spc="-45" dirty="0">
                <a:latin typeface="Trebuchet MS"/>
                <a:cs typeface="Trebuchet MS"/>
              </a:rPr>
              <a:t> </a:t>
            </a:r>
            <a:r>
              <a:rPr sz="1500" b="1" spc="-50" dirty="0">
                <a:latin typeface="Trebuchet MS"/>
                <a:cs typeface="Trebuchet MS"/>
              </a:rPr>
              <a:t>:</a:t>
            </a:r>
            <a:endParaRPr sz="1500">
              <a:latin typeface="Trebuchet MS"/>
              <a:cs typeface="Trebuchet MS"/>
            </a:endParaRPr>
          </a:p>
          <a:p>
            <a:pPr marL="1155065" indent="-227965">
              <a:lnSpc>
                <a:spcPts val="1435"/>
              </a:lnSpc>
              <a:buClr>
                <a:srgbClr val="FFCC00"/>
              </a:buClr>
              <a:buSzPct val="62500"/>
              <a:buFont typeface="Wingdings"/>
              <a:buChar char=""/>
              <a:tabLst>
                <a:tab pos="1155065" algn="l"/>
              </a:tabLst>
            </a:pP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SET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rebuchet MS"/>
                <a:cs typeface="Trebuchet MS"/>
              </a:rPr>
              <a:t>TRANSACTION</a:t>
            </a:r>
            <a:r>
              <a:rPr sz="12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READ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ONLY</a:t>
            </a:r>
            <a:r>
              <a:rPr sz="12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ISOLATION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LEVEL</a:t>
            </a:r>
            <a:r>
              <a:rPr sz="12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rebuchet MS"/>
                <a:cs typeface="Trebuchet MS"/>
              </a:rPr>
              <a:t>SERIALIZABLE</a:t>
            </a:r>
            <a:endParaRPr sz="1200">
              <a:latin typeface="Trebuchet MS"/>
              <a:cs typeface="Trebuchet MS"/>
            </a:endParaRPr>
          </a:p>
          <a:p>
            <a:pPr marL="1155065" indent="-227965">
              <a:lnSpc>
                <a:spcPct val="100000"/>
              </a:lnSpc>
              <a:spcBef>
                <a:spcPts val="60"/>
              </a:spcBef>
              <a:buClr>
                <a:srgbClr val="FFCC00"/>
              </a:buClr>
              <a:buSzPct val="62500"/>
              <a:buFont typeface="Wingdings"/>
              <a:buChar char=""/>
              <a:tabLst>
                <a:tab pos="1155065" algn="l"/>
              </a:tabLst>
            </a:pP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SET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rebuchet MS"/>
                <a:cs typeface="Trebuchet MS"/>
              </a:rPr>
              <a:t>TRANSACTION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READ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WRITE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ISOLATION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LEVEL</a:t>
            </a:r>
            <a:r>
              <a:rPr sz="12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rebuchet MS"/>
                <a:cs typeface="Trebuchet MS"/>
              </a:rPr>
              <a:t>READ</a:t>
            </a:r>
            <a:r>
              <a:rPr sz="1200" b="1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rebuchet MS"/>
                <a:cs typeface="Trebuchet MS"/>
              </a:rPr>
              <a:t>COMMITTED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46</a:t>
            </a:r>
            <a:endParaRPr sz="1600">
              <a:latin typeface="Trebuchet MS"/>
              <a:cs typeface="Trebuchet MS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387681" y="1793315"/>
          <a:ext cx="5763259" cy="16910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0815"/>
                <a:gridCol w="1440815"/>
                <a:gridCol w="1440815"/>
                <a:gridCol w="1440814"/>
              </a:tblGrid>
              <a:tr h="37465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Niveau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9255" marR="382270" indent="54610">
                        <a:lnSpc>
                          <a:spcPts val="1390"/>
                        </a:lnSpc>
                        <a:spcBef>
                          <a:spcPts val="7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Lecture impropre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775" marR="226060" indent="50165">
                        <a:lnSpc>
                          <a:spcPts val="1390"/>
                        </a:lnSpc>
                        <a:spcBef>
                          <a:spcPts val="70"/>
                        </a:spcBef>
                      </a:pPr>
                      <a:r>
                        <a:rPr sz="1200" b="1" dirty="0">
                          <a:latin typeface="Arial"/>
                          <a:cs typeface="Arial"/>
                        </a:rPr>
                        <a:t>Lecture </a:t>
                      </a:r>
                      <a:r>
                        <a:rPr sz="1200" b="1" spc="-25" dirty="0">
                          <a:latin typeface="Arial"/>
                          <a:cs typeface="Arial"/>
                        </a:rPr>
                        <a:t>non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reproductible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Fantômes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6395">
                <a:tc>
                  <a:txBody>
                    <a:bodyPr/>
                    <a:lstStyle/>
                    <a:p>
                      <a:pPr marL="50800" marR="240029">
                        <a:lnSpc>
                          <a:spcPts val="1390"/>
                        </a:lnSpc>
                        <a:spcBef>
                          <a:spcPts val="5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READ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UNCOMMITTED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25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50800" marR="459105">
                        <a:lnSpc>
                          <a:spcPts val="1390"/>
                        </a:lnSpc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READ 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COMMITTED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marL="50800" marR="357505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REPEATABLE </a:t>
                      </a:r>
                      <a:r>
                        <a:rPr sz="1200" b="1" spc="-20" dirty="0">
                          <a:latin typeface="Arial"/>
                          <a:cs typeface="Arial"/>
                        </a:rPr>
                        <a:t>READ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Possible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50800">
                        <a:lnSpc>
                          <a:spcPts val="1375"/>
                        </a:lnSpc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SERIALIZABLE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80"/>
                        </a:lnSpc>
                      </a:pPr>
                      <a:r>
                        <a:rPr sz="14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NON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1683" y="3238385"/>
            <a:ext cx="8610600" cy="201930"/>
            <a:chOff x="1001683" y="3238385"/>
            <a:chExt cx="8610600" cy="201930"/>
          </a:xfrm>
        </p:grpSpPr>
        <p:sp>
          <p:nvSpPr>
            <p:cNvPr id="3" name="object 3"/>
            <p:cNvSpPr/>
            <p:nvPr/>
          </p:nvSpPr>
          <p:spPr>
            <a:xfrm>
              <a:off x="10016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200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200" y="201612"/>
                  </a:lnTo>
                  <a:lnTo>
                    <a:pt x="2870200" y="0"/>
                  </a:lnTo>
                  <a:close/>
                </a:path>
              </a:pathLst>
            </a:custGeom>
            <a:solidFill>
              <a:srgbClr val="7A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718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198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198" y="201612"/>
                  </a:lnTo>
                  <a:lnTo>
                    <a:pt x="2870198" y="0"/>
                  </a:lnTo>
                  <a:close/>
                </a:path>
              </a:pathLst>
            </a:custGeom>
            <a:solidFill>
              <a:srgbClr val="FF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42083" y="3238385"/>
              <a:ext cx="2870200" cy="201930"/>
            </a:xfrm>
            <a:custGeom>
              <a:avLst/>
              <a:gdLst/>
              <a:ahLst/>
              <a:cxnLst/>
              <a:rect l="l" t="t" r="r" b="b"/>
              <a:pathLst>
                <a:path w="2870200" h="201929">
                  <a:moveTo>
                    <a:pt x="2870198" y="0"/>
                  </a:moveTo>
                  <a:lnTo>
                    <a:pt x="0" y="0"/>
                  </a:lnTo>
                  <a:lnTo>
                    <a:pt x="0" y="201612"/>
                  </a:lnTo>
                  <a:lnTo>
                    <a:pt x="2870198" y="201612"/>
                  </a:lnTo>
                  <a:lnTo>
                    <a:pt x="2870198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18883" y="1518804"/>
            <a:ext cx="7263130" cy="16052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038985" marR="5080" indent="-2026920">
              <a:lnSpc>
                <a:spcPts val="6200"/>
              </a:lnSpc>
              <a:spcBef>
                <a:spcPts val="240"/>
              </a:spcBef>
            </a:pPr>
            <a:r>
              <a:rPr sz="5200" dirty="0">
                <a:solidFill>
                  <a:srgbClr val="CC3300"/>
                </a:solidFill>
                <a:latin typeface="Trebuchet MS"/>
                <a:cs typeface="Trebuchet MS"/>
              </a:rPr>
              <a:t>Gestion</a:t>
            </a:r>
            <a:r>
              <a:rPr sz="5200" spc="-4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5200" dirty="0">
                <a:solidFill>
                  <a:srgbClr val="CC3300"/>
                </a:solidFill>
                <a:latin typeface="Trebuchet MS"/>
                <a:cs typeface="Trebuchet MS"/>
              </a:rPr>
              <a:t>des</a:t>
            </a:r>
            <a:r>
              <a:rPr sz="5200" spc="-4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5200" spc="-10" dirty="0">
                <a:solidFill>
                  <a:srgbClr val="CC3300"/>
                </a:solidFill>
                <a:latin typeface="Trebuchet MS"/>
                <a:cs typeface="Trebuchet MS"/>
              </a:rPr>
              <a:t>transactions </a:t>
            </a:r>
            <a:r>
              <a:rPr sz="5200" dirty="0">
                <a:solidFill>
                  <a:srgbClr val="CC3300"/>
                </a:solidFill>
                <a:latin typeface="Trebuchet MS"/>
                <a:cs typeface="Trebuchet MS"/>
              </a:rPr>
              <a:t>sous</a:t>
            </a:r>
            <a:r>
              <a:rPr sz="5200" spc="-10" dirty="0">
                <a:solidFill>
                  <a:srgbClr val="CC3300"/>
                </a:solidFill>
                <a:latin typeface="Trebuchet MS"/>
                <a:cs typeface="Trebuchet MS"/>
              </a:rPr>
              <a:t> Oracle</a:t>
            </a:r>
            <a:endParaRPr sz="5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99343" y="6630554"/>
            <a:ext cx="1873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Verdana"/>
                <a:cs typeface="Verdana"/>
              </a:rPr>
              <a:t>47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Transaction</a:t>
            </a:r>
            <a:r>
              <a:rPr sz="4000" spc="-95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en</a:t>
            </a:r>
            <a:r>
              <a:rPr sz="40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Oracle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48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7806690" cy="51409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157480" indent="-342900">
              <a:lnSpc>
                <a:spcPts val="2800"/>
              </a:lnSpc>
              <a:spcBef>
                <a:spcPts val="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Démarrage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instruction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SQL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exécutable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démarre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automatiquement</a:t>
            </a:r>
            <a:r>
              <a:rPr sz="2400" spc="-8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Fin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termine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soit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2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explicitement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avec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COMMIT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ROLLBACK</a:t>
            </a:r>
            <a:endParaRPr sz="20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40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implicitement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avec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une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instruction</a:t>
            </a:r>
            <a:r>
              <a:rPr sz="2000" spc="-25" dirty="0">
                <a:latin typeface="Trebuchet MS"/>
                <a:cs typeface="Trebuchet MS"/>
              </a:rPr>
              <a:t> DDL</a:t>
            </a:r>
            <a:endParaRPr sz="20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0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Implicitement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lors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d’une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déconnection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l’utilisateur</a:t>
            </a:r>
            <a:endParaRPr sz="2000">
              <a:latin typeface="Trebuchet MS"/>
              <a:cs typeface="Trebuchet MS"/>
            </a:endParaRPr>
          </a:p>
          <a:p>
            <a:pPr marL="355600" marR="477520" indent="-342900">
              <a:lnSpc>
                <a:spcPct val="101499"/>
              </a:lnSpc>
              <a:spcBef>
                <a:spcPts val="55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Avant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COMMIT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d’une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transaction,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toutes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ses </a:t>
            </a:r>
            <a:r>
              <a:rPr sz="2400" dirty="0">
                <a:latin typeface="Trebuchet MS"/>
                <a:cs typeface="Trebuchet MS"/>
              </a:rPr>
              <a:t>instructions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peuvent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être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annulées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avec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ROLLBACK</a:t>
            </a:r>
            <a:endParaRPr sz="2400">
              <a:latin typeface="Trebuchet MS"/>
              <a:cs typeface="Trebuchet MS"/>
            </a:endParaRPr>
          </a:p>
          <a:p>
            <a:pPr marL="355600" marR="454025" indent="-342900">
              <a:lnSpc>
                <a:spcPct val="101499"/>
              </a:lnSpc>
              <a:spcBef>
                <a:spcPts val="45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Uniquement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après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COMMIT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d’une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les </a:t>
            </a:r>
            <a:r>
              <a:rPr sz="2400" dirty="0">
                <a:latin typeface="Trebuchet MS"/>
                <a:cs typeface="Trebuchet MS"/>
              </a:rPr>
              <a:t>changements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sont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visibles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aux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autres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utilisateurs.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</a:pP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pratique,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au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départ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d’une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fait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COMMIT </a:t>
            </a:r>
            <a:r>
              <a:rPr sz="2400" dirty="0">
                <a:latin typeface="Trebuchet MS"/>
                <a:cs typeface="Trebuchet MS"/>
              </a:rPr>
              <a:t>pour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s’assurer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qu’aucune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active.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Niveaux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d’isolation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49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4931"/>
            <a:ext cx="7877809" cy="48006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2800"/>
              </a:lnSpc>
              <a:spcBef>
                <a:spcPts val="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Oracle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permet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définir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«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»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(lecture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seule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ou </a:t>
            </a:r>
            <a:r>
              <a:rPr sz="2400" dirty="0">
                <a:latin typeface="Trebuchet MS"/>
                <a:cs typeface="Trebuchet MS"/>
              </a:rPr>
              <a:t>lecture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écriture)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d’une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4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SET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{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READ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ONLY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|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READ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WRITE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};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Si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READ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WRITE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: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niveaux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d’isolation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42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READ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COMMITTED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(SQL2)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&lt;-</a:t>
            </a:r>
            <a:r>
              <a:rPr sz="2000" dirty="0">
                <a:latin typeface="Trebuchet MS"/>
                <a:cs typeface="Trebuchet MS"/>
              </a:rPr>
              <a:t>niveau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défaut</a:t>
            </a:r>
            <a:endParaRPr sz="20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0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SERIALIZABLE</a:t>
            </a:r>
            <a:r>
              <a:rPr sz="2000" spc="-10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(SQL2)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Il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est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possible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spécifier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niveau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d’isolation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2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au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niveau 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 </a:t>
            </a:r>
            <a:r>
              <a:rPr sz="2000" spc="-10" dirty="0">
                <a:latin typeface="Trebuchet MS"/>
                <a:cs typeface="Trebuchet MS"/>
              </a:rPr>
              <a:t>transaction</a:t>
            </a:r>
            <a:endParaRPr sz="2000">
              <a:latin typeface="Trebuchet MS"/>
              <a:cs typeface="Trebuchet MS"/>
            </a:endParaRPr>
          </a:p>
          <a:p>
            <a:pPr marL="749300" marR="663575" indent="-279400">
              <a:lnSpc>
                <a:spcPct val="100800"/>
              </a:lnSpc>
              <a:spcBef>
                <a:spcPts val="380"/>
              </a:spcBef>
            </a:pPr>
            <a:r>
              <a:rPr sz="2000" dirty="0">
                <a:latin typeface="Trebuchet MS"/>
                <a:cs typeface="Trebuchet MS"/>
              </a:rPr>
              <a:t>SET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ISOLATION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LEVEL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{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SERIALIZABLE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|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READ </a:t>
            </a:r>
            <a:r>
              <a:rPr sz="2000" dirty="0">
                <a:latin typeface="Trebuchet MS"/>
                <a:cs typeface="Trebuchet MS"/>
              </a:rPr>
              <a:t>COMMITTED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};</a:t>
            </a:r>
            <a:endParaRPr sz="20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au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niveau 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 </a:t>
            </a:r>
            <a:r>
              <a:rPr sz="2000" spc="-10" dirty="0">
                <a:latin typeface="Trebuchet MS"/>
                <a:cs typeface="Trebuchet MS"/>
              </a:rPr>
              <a:t>session</a:t>
            </a:r>
            <a:endParaRPr sz="2000">
              <a:latin typeface="Trebuchet MS"/>
              <a:cs typeface="Trebuchet MS"/>
            </a:endParaRPr>
          </a:p>
          <a:p>
            <a:pPr marL="749300" marR="496570" indent="-279400">
              <a:lnSpc>
                <a:spcPct val="100800"/>
              </a:lnSpc>
              <a:spcBef>
                <a:spcPts val="480"/>
              </a:spcBef>
            </a:pPr>
            <a:r>
              <a:rPr sz="2000" dirty="0">
                <a:latin typeface="Trebuchet MS"/>
                <a:cs typeface="Trebuchet MS"/>
              </a:rPr>
              <a:t>ALTER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SESSION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SET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ISOLATION_LEVEL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{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SERIALIZABLE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|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READ </a:t>
            </a:r>
            <a:r>
              <a:rPr sz="2000" dirty="0">
                <a:latin typeface="Trebuchet MS"/>
                <a:cs typeface="Trebuchet MS"/>
              </a:rPr>
              <a:t>COMMITTED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};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Choix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d’un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niveau</a:t>
            </a:r>
            <a:r>
              <a:rPr sz="4000" spc="-7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d’isolation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50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34069"/>
            <a:ext cx="8270875" cy="32588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READ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COMMITTED</a:t>
            </a:r>
            <a:endParaRPr sz="2400">
              <a:latin typeface="Trebuchet MS"/>
              <a:cs typeface="Trebuchet MS"/>
            </a:endParaRPr>
          </a:p>
          <a:p>
            <a:pPr marL="749300" marR="5080" lvl="1" indent="-279400">
              <a:lnSpc>
                <a:spcPct val="100800"/>
              </a:lnSpc>
              <a:spcBef>
                <a:spcPts val="380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environnements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où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peu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transactions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risquent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d’entrer </a:t>
            </a:r>
            <a:r>
              <a:rPr sz="2000" dirty="0">
                <a:latin typeface="Trebuchet MS"/>
                <a:cs typeface="Trebuchet MS"/>
              </a:rPr>
              <a:t>en </a:t>
            </a:r>
            <a:r>
              <a:rPr sz="2000" spc="-10" dirty="0">
                <a:latin typeface="Trebuchet MS"/>
                <a:cs typeface="Trebuchet MS"/>
              </a:rPr>
              <a:t>conflit.</a:t>
            </a:r>
            <a:endParaRPr sz="2000">
              <a:latin typeface="Trebuchet MS"/>
              <a:cs typeface="Trebuchet MS"/>
            </a:endParaRPr>
          </a:p>
          <a:p>
            <a:pPr marL="749300" marR="450850" lvl="1" indent="-279400">
              <a:lnSpc>
                <a:spcPct val="100800"/>
              </a:lnSpc>
              <a:spcBef>
                <a:spcPts val="459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lectures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répétables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fantômes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sont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possible,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mais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le </a:t>
            </a:r>
            <a:r>
              <a:rPr sz="2000" dirty="0">
                <a:latin typeface="Trebuchet MS"/>
                <a:cs typeface="Trebuchet MS"/>
              </a:rPr>
              <a:t>temps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d’exécution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meilleur.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400" dirty="0">
                <a:latin typeface="Trebuchet MS"/>
                <a:cs typeface="Trebuchet MS"/>
              </a:rPr>
              <a:t>SERIALIZABLE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(plus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long),</a:t>
            </a:r>
            <a:endParaRPr sz="2400">
              <a:latin typeface="Trebuchet MS"/>
              <a:cs typeface="Trebuchet MS"/>
            </a:endParaRPr>
          </a:p>
          <a:p>
            <a:pPr marL="749300" marR="251460" lvl="1" indent="-279400">
              <a:lnSpc>
                <a:spcPct val="100800"/>
              </a:lnSpc>
              <a:spcBef>
                <a:spcPts val="405"/>
              </a:spcBef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1500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Trebuchet MS"/>
                <a:cs typeface="Trebuchet MS"/>
              </a:rPr>
              <a:t>pour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environnements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avec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grosses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BD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transactions </a:t>
            </a:r>
            <a:r>
              <a:rPr sz="2000" dirty="0">
                <a:latin typeface="Trebuchet MS"/>
                <a:cs typeface="Trebuchet MS"/>
              </a:rPr>
              <a:t>courtes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qui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mettent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à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jour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peu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</a:t>
            </a:r>
            <a:r>
              <a:rPr sz="2000" spc="-10" dirty="0">
                <a:latin typeface="Trebuchet MS"/>
                <a:cs typeface="Trebuchet MS"/>
              </a:rPr>
              <a:t> lignes.</a:t>
            </a:r>
            <a:endParaRPr sz="20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000" dirty="0">
                <a:latin typeface="Trebuchet MS"/>
                <a:cs typeface="Trebuchet MS"/>
              </a:rPr>
              <a:t>où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transactions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longues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concernent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surtout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des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lectures.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09023" y="936828"/>
            <a:ext cx="48323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63775" algn="l"/>
              </a:tabLst>
            </a:pP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Points</a:t>
            </a:r>
            <a:r>
              <a:rPr sz="4000" spc="-90" dirty="0">
                <a:solidFill>
                  <a:srgbClr val="CC3300"/>
                </a:solidFill>
                <a:latin typeface="Trebuchet MS"/>
                <a:cs typeface="Trebuchet MS"/>
              </a:rPr>
              <a:t> </a:t>
            </a:r>
            <a:r>
              <a:rPr sz="4000" spc="-25" dirty="0">
                <a:solidFill>
                  <a:srgbClr val="CC3300"/>
                </a:solidFill>
                <a:latin typeface="Trebuchet MS"/>
                <a:cs typeface="Trebuchet MS"/>
              </a:rPr>
              <a:t>de</a:t>
            </a:r>
            <a:r>
              <a:rPr sz="40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sauvegarde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51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18575"/>
            <a:ext cx="8195945" cy="50622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800" spc="-10" dirty="0">
                <a:latin typeface="Trebuchet MS"/>
                <a:cs typeface="Trebuchet MS"/>
              </a:rPr>
              <a:t>SAVEPOINT</a:t>
            </a:r>
            <a:endParaRPr sz="2800">
              <a:latin typeface="Trebuchet MS"/>
              <a:cs typeface="Trebuchet MS"/>
            </a:endParaRPr>
          </a:p>
          <a:p>
            <a:pPr marL="749300" marR="121920" lvl="1" indent="-279400">
              <a:lnSpc>
                <a:spcPct val="99400"/>
              </a:lnSpc>
              <a:spcBef>
                <a:spcPts val="535"/>
              </a:spcBef>
              <a:buSzPct val="75000"/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latin typeface="Trebuchet MS"/>
                <a:cs typeface="Trebuchet MS"/>
              </a:rPr>
              <a:t>définition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«points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sauvegarde»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au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sein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d’une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qui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permettent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d’organiser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transaction </a:t>
            </a:r>
            <a:r>
              <a:rPr sz="2400" dirty="0">
                <a:latin typeface="Trebuchet MS"/>
                <a:cs typeface="Trebuchet MS"/>
              </a:rPr>
              <a:t>en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plus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petites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unités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notamment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pour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ROLLBACK.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4965" algn="l"/>
              </a:tabLst>
            </a:pPr>
            <a:r>
              <a:rPr sz="2800" dirty="0">
                <a:latin typeface="Trebuchet MS"/>
                <a:cs typeface="Trebuchet MS"/>
              </a:rPr>
              <a:t>ROLLBACK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TO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SAVEPOINT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&lt;sp&gt;</a:t>
            </a:r>
            <a:endParaRPr sz="2800">
              <a:latin typeface="Trebuchet MS"/>
              <a:cs typeface="Trebuchet MS"/>
            </a:endParaRPr>
          </a:p>
          <a:p>
            <a:pPr marL="749300" marR="436245" lvl="1" indent="-279400">
              <a:lnSpc>
                <a:spcPts val="2820"/>
              </a:lnSpc>
              <a:spcBef>
                <a:spcPts val="790"/>
              </a:spcBef>
              <a:buSzPct val="75000"/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latin typeface="Trebuchet MS"/>
                <a:cs typeface="Trebuchet MS"/>
              </a:rPr>
              <a:t>ne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concerne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que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opérations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effectuées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après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le </a:t>
            </a:r>
            <a:r>
              <a:rPr sz="2400" dirty="0">
                <a:latin typeface="Trebuchet MS"/>
                <a:cs typeface="Trebuchet MS"/>
              </a:rPr>
              <a:t>point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&lt;sp&gt;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;</a:t>
            </a:r>
            <a:endParaRPr sz="2400">
              <a:latin typeface="Trebuchet MS"/>
              <a:cs typeface="Trebuchet MS"/>
            </a:endParaRPr>
          </a:p>
          <a:p>
            <a:pPr marL="749300" marR="5080" lvl="1" indent="-279400">
              <a:lnSpc>
                <a:spcPct val="101499"/>
              </a:lnSpc>
              <a:spcBef>
                <a:spcPts val="470"/>
              </a:spcBef>
              <a:buSzPct val="75000"/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latin typeface="Trebuchet MS"/>
                <a:cs typeface="Trebuchet MS"/>
              </a:rPr>
              <a:t>préserve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&lt;sp&gt;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mais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perd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tous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points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sauvegarde </a:t>
            </a:r>
            <a:r>
              <a:rPr sz="2400" dirty="0">
                <a:latin typeface="Trebuchet MS"/>
                <a:cs typeface="Trebuchet MS"/>
              </a:rPr>
              <a:t>définis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après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&lt;sp&gt;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;</a:t>
            </a:r>
            <a:endParaRPr sz="2400">
              <a:latin typeface="Trebuchet MS"/>
              <a:cs typeface="Trebuchet MS"/>
            </a:endParaRPr>
          </a:p>
          <a:p>
            <a:pPr marL="749300" marR="167005" lvl="1" indent="-279400">
              <a:lnSpc>
                <a:spcPct val="101499"/>
              </a:lnSpc>
              <a:spcBef>
                <a:spcPts val="455"/>
              </a:spcBef>
              <a:buSzPct val="75000"/>
              <a:buFont typeface="Wingdings"/>
              <a:buChar char=""/>
              <a:tabLst>
                <a:tab pos="749300" algn="l"/>
                <a:tab pos="755015" algn="l"/>
              </a:tabLst>
            </a:pPr>
            <a:r>
              <a:rPr sz="2400" dirty="0">
                <a:solidFill>
                  <a:srgbClr val="CC3300"/>
                </a:solidFill>
                <a:latin typeface="Trebuchet MS"/>
                <a:cs typeface="Trebuchet MS"/>
              </a:rPr>
              <a:t>	</a:t>
            </a:r>
            <a:r>
              <a:rPr sz="2400" dirty="0">
                <a:latin typeface="Trebuchet MS"/>
                <a:cs typeface="Trebuchet MS"/>
              </a:rPr>
              <a:t>relâche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tous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verrous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(table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ou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ligne)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posés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depuis </a:t>
            </a:r>
            <a:r>
              <a:rPr sz="2400" dirty="0">
                <a:latin typeface="Trebuchet MS"/>
                <a:cs typeface="Trebuchet MS"/>
              </a:rPr>
              <a:t>le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point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&lt;sp&gt;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;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9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La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transaction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continue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Suite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52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7953375" cy="30683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300"/>
              </a:lnSpc>
              <a:spcBef>
                <a:spcPts val="26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En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plus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des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commandes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précédentes,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gérer</a:t>
            </a:r>
            <a:r>
              <a:rPr sz="2800" spc="-4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soi- </a:t>
            </a:r>
            <a:r>
              <a:rPr sz="2800" dirty="0">
                <a:latin typeface="Trebuchet MS"/>
                <a:cs typeface="Trebuchet MS"/>
              </a:rPr>
              <a:t>même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les</a:t>
            </a:r>
            <a:r>
              <a:rPr sz="2800" spc="-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verrous</a:t>
            </a:r>
            <a:endParaRPr sz="28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15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LOCK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TABLE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ROW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EXCLUSIVE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ROW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SHARE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6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SHARE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MODE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5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EXCLUSIVE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MODE...</a:t>
            </a:r>
            <a:endParaRPr sz="2400">
              <a:latin typeface="Trebuchet MS"/>
              <a:cs typeface="Trebuchet MS"/>
            </a:endParaRPr>
          </a:p>
          <a:p>
            <a:pPr marL="755015" lvl="1" indent="-285115">
              <a:lnSpc>
                <a:spcPct val="100000"/>
              </a:lnSpc>
              <a:spcBef>
                <a:spcPts val="620"/>
              </a:spcBef>
              <a:buClr>
                <a:srgbClr val="CC3300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2400" dirty="0">
                <a:latin typeface="Trebuchet MS"/>
                <a:cs typeface="Trebuchet MS"/>
              </a:rPr>
              <a:t>(Voir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cours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M1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M2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informatique)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3083" y="349134"/>
            <a:ext cx="228600" cy="2286000"/>
          </a:xfrm>
          <a:custGeom>
            <a:avLst/>
            <a:gdLst/>
            <a:ahLst/>
            <a:cxnLst/>
            <a:rect l="l" t="t" r="r" b="b"/>
            <a:pathLst>
              <a:path w="228600" h="2286000">
                <a:moveTo>
                  <a:pt x="228599" y="0"/>
                </a:moveTo>
                <a:lnTo>
                  <a:pt x="0" y="0"/>
                </a:lnTo>
                <a:lnTo>
                  <a:pt x="0" y="2286000"/>
                </a:lnTo>
                <a:lnTo>
                  <a:pt x="228599" y="2286000"/>
                </a:lnTo>
                <a:lnTo>
                  <a:pt x="228599" y="0"/>
                </a:lnTo>
                <a:close/>
              </a:path>
            </a:pathLst>
          </a:custGeom>
          <a:solidFill>
            <a:srgbClr val="7A4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30283" y="1635010"/>
            <a:ext cx="8077200" cy="0"/>
          </a:xfrm>
          <a:custGeom>
            <a:avLst/>
            <a:gdLst/>
            <a:ahLst/>
            <a:cxnLst/>
            <a:rect l="l" t="t" r="r" b="b"/>
            <a:pathLst>
              <a:path w="8077200">
                <a:moveTo>
                  <a:pt x="0" y="0"/>
                </a:moveTo>
                <a:lnTo>
                  <a:pt x="8077197" y="1"/>
                </a:lnTo>
              </a:path>
            </a:pathLst>
          </a:custGeom>
          <a:ln w="19049">
            <a:solidFill>
              <a:srgbClr val="D84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73083" y="2635134"/>
            <a:ext cx="228600" cy="4572000"/>
            <a:chOff x="773083" y="2635134"/>
            <a:chExt cx="228600" cy="4572000"/>
          </a:xfrm>
        </p:grpSpPr>
        <p:sp>
          <p:nvSpPr>
            <p:cNvPr id="5" name="object 5"/>
            <p:cNvSpPr/>
            <p:nvPr/>
          </p:nvSpPr>
          <p:spPr>
            <a:xfrm>
              <a:off x="773083" y="2635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228599" y="2286000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7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3083" y="4921134"/>
              <a:ext cx="228600" cy="2286000"/>
            </a:xfrm>
            <a:custGeom>
              <a:avLst/>
              <a:gdLst/>
              <a:ahLst/>
              <a:cxnLst/>
              <a:rect l="l" t="t" r="r" b="b"/>
              <a:pathLst>
                <a:path w="228600" h="2286000">
                  <a:moveTo>
                    <a:pt x="228599" y="0"/>
                  </a:moveTo>
                  <a:lnTo>
                    <a:pt x="0" y="0"/>
                  </a:lnTo>
                  <a:lnTo>
                    <a:pt x="0" y="2285999"/>
                  </a:lnTo>
                  <a:lnTo>
                    <a:pt x="228599" y="2285999"/>
                  </a:lnTo>
                  <a:lnTo>
                    <a:pt x="228599" y="0"/>
                  </a:lnTo>
                  <a:close/>
                </a:path>
              </a:pathLst>
            </a:custGeom>
            <a:solidFill>
              <a:srgbClr val="D84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CC3300"/>
                </a:solidFill>
                <a:latin typeface="Trebuchet MS"/>
                <a:cs typeface="Trebuchet MS"/>
              </a:rPr>
              <a:t>Bibliographie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00114" y="6847744"/>
            <a:ext cx="302260" cy="26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r>
              <a:rPr sz="1600" spc="-25" dirty="0">
                <a:latin typeface="Trebuchet MS"/>
                <a:cs typeface="Trebuchet MS"/>
              </a:rPr>
              <a:t>53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9023" y="1795029"/>
            <a:ext cx="8322309" cy="3896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55600" marR="5080" indent="-342900">
              <a:lnSpc>
                <a:spcPct val="99000"/>
              </a:lnSpc>
              <a:spcBef>
                <a:spcPts val="12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Database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systems.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complete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book,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Second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edition. </a:t>
            </a:r>
            <a:r>
              <a:rPr sz="2400" dirty="0">
                <a:latin typeface="Trebuchet MS"/>
                <a:cs typeface="Trebuchet MS"/>
              </a:rPr>
              <a:t>Hector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Garcia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Molina,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Jeffrey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D.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Ullman,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Jennifer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Widom. </a:t>
            </a:r>
            <a:r>
              <a:rPr sz="2400" dirty="0">
                <a:latin typeface="Trebuchet MS"/>
                <a:cs typeface="Trebuchet MS"/>
              </a:rPr>
              <a:t>Pearson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International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Edition,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2009.</a:t>
            </a:r>
            <a:endParaRPr sz="2400">
              <a:latin typeface="Trebuchet MS"/>
              <a:cs typeface="Trebuchet MS"/>
            </a:endParaRPr>
          </a:p>
          <a:p>
            <a:pPr marL="355600" marR="647700" indent="-342900">
              <a:lnSpc>
                <a:spcPts val="2820"/>
              </a:lnSpc>
              <a:spcBef>
                <a:spcPts val="740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Database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management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systems.Third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edition.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Raghu </a:t>
            </a:r>
            <a:r>
              <a:rPr sz="2400" dirty="0">
                <a:latin typeface="Trebuchet MS"/>
                <a:cs typeface="Trebuchet MS"/>
              </a:rPr>
              <a:t>Ramakrishnan,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Johannes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Gehrke.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Mc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Graw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Hill,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2003.</a:t>
            </a:r>
            <a:endParaRPr sz="2400">
              <a:latin typeface="Trebuchet MS"/>
              <a:cs typeface="Trebuchet MS"/>
            </a:endParaRPr>
          </a:p>
          <a:p>
            <a:pPr marL="355600" marR="501650" indent="-342900">
              <a:lnSpc>
                <a:spcPct val="101499"/>
              </a:lnSpc>
              <a:spcBef>
                <a:spcPts val="47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introduction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database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systems.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C.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Date.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Addison </a:t>
            </a:r>
            <a:r>
              <a:rPr sz="2400" dirty="0">
                <a:latin typeface="Trebuchet MS"/>
                <a:cs typeface="Trebuchet MS"/>
              </a:rPr>
              <a:t>Wesley,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1986.</a:t>
            </a:r>
            <a:endParaRPr sz="2400">
              <a:latin typeface="Trebuchet MS"/>
              <a:cs typeface="Trebuchet MS"/>
            </a:endParaRPr>
          </a:p>
          <a:p>
            <a:pPr marL="355600" marR="852169" indent="-342900">
              <a:lnSpc>
                <a:spcPct val="99400"/>
              </a:lnSpc>
              <a:spcBef>
                <a:spcPts val="615"/>
              </a:spcBef>
              <a:buClr>
                <a:srgbClr val="663300"/>
              </a:buClr>
              <a:buSzPct val="75000"/>
              <a:buFont typeface="Wingdings"/>
              <a:buChar char=""/>
              <a:tabLst>
                <a:tab pos="355600" algn="l"/>
              </a:tabLst>
            </a:pPr>
            <a:r>
              <a:rPr sz="2400" spc="-10" dirty="0">
                <a:latin typeface="Trebuchet MS"/>
                <a:cs typeface="Trebuchet MS"/>
              </a:rPr>
              <a:t>Documentation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Oracle </a:t>
            </a:r>
            <a:r>
              <a:rPr sz="2400" u="heavy" spc="-10" dirty="0">
                <a:solidFill>
                  <a:srgbClr val="CC9900"/>
                </a:solidFill>
                <a:uFill>
                  <a:solidFill>
                    <a:srgbClr val="D6A800"/>
                  </a:solidFill>
                </a:uFill>
                <a:latin typeface="Trebuchet MS"/>
                <a:cs typeface="Trebuchet MS"/>
                <a:hlinkClick r:id="rId2"/>
              </a:rPr>
              <a:t>http://docs.oracle.com/cd/B28359_01/server.111/</a:t>
            </a:r>
            <a:r>
              <a:rPr sz="2400" spc="-10" dirty="0">
                <a:solidFill>
                  <a:srgbClr val="CC9900"/>
                </a:solidFill>
                <a:latin typeface="Trebuchet MS"/>
                <a:cs typeface="Trebuchet MS"/>
              </a:rPr>
              <a:t> </a:t>
            </a:r>
            <a:r>
              <a:rPr sz="2400" u="heavy" spc="-10" dirty="0">
                <a:solidFill>
                  <a:srgbClr val="CC9900"/>
                </a:solidFill>
                <a:uFill>
                  <a:solidFill>
                    <a:srgbClr val="D6A800"/>
                  </a:solidFill>
                </a:uFill>
                <a:latin typeface="Trebuchet MS"/>
                <a:cs typeface="Trebuchet MS"/>
              </a:rPr>
              <a:t>b28318/transact.htm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2900" y="3213100"/>
            <a:ext cx="4235450" cy="4187825"/>
          </a:xfrm>
          <a:custGeom>
            <a:avLst/>
            <a:gdLst/>
            <a:ahLst/>
            <a:cxnLst/>
            <a:rect l="l" t="t" r="r" b="b"/>
            <a:pathLst>
              <a:path w="4235450" h="4187825">
                <a:moveTo>
                  <a:pt x="4235448" y="0"/>
                </a:moveTo>
                <a:lnTo>
                  <a:pt x="0" y="0"/>
                </a:lnTo>
                <a:lnTo>
                  <a:pt x="0" y="4187823"/>
                </a:lnTo>
                <a:lnTo>
                  <a:pt x="4235448" y="4187823"/>
                </a:lnTo>
                <a:lnTo>
                  <a:pt x="4235448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394700" y="165100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6650" y="2314575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A9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16650" y="165100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B2A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94700" y="2314575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431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146300" y="3517900"/>
            <a:ext cx="2980690" cy="3362960"/>
            <a:chOff x="1641763" y="1059872"/>
            <a:chExt cx="2980690" cy="33629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348" y="1286981"/>
              <a:ext cx="2885332" cy="5016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1763" y="1059872"/>
              <a:ext cx="2980112" cy="897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2804" y="2108010"/>
              <a:ext cx="2548261" cy="49344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1763" y="1870364"/>
              <a:ext cx="2639291" cy="8977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2804" y="2941052"/>
              <a:ext cx="2725738" cy="4859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1763" y="2697479"/>
              <a:ext cx="2818014" cy="8977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95547" y="3759009"/>
              <a:ext cx="1922133" cy="4913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1763" y="3524596"/>
              <a:ext cx="2028305" cy="897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Introduction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pc="70" dirty="0"/>
              <a:t>Sécurité</a:t>
            </a: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Confidentialité</a:t>
            </a:r>
            <a:endParaRPr sz="1800">
              <a:latin typeface="Cambria"/>
              <a:cs typeface="Cambria"/>
            </a:endParaRPr>
          </a:p>
          <a:p>
            <a:pPr marL="698500" marR="259079" lvl="2" indent="-228600">
              <a:lnSpc>
                <a:spcPct val="99500"/>
              </a:lnSpc>
              <a:spcBef>
                <a:spcPts val="55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60" dirty="0">
                <a:latin typeface="Cambria"/>
                <a:cs typeface="Cambria"/>
              </a:rPr>
              <a:t>L’information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ne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dévoilée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aux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utilisateurs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non- </a:t>
            </a:r>
            <a:r>
              <a:rPr sz="1800" spc="55" dirty="0">
                <a:latin typeface="Cambria"/>
                <a:cs typeface="Cambria"/>
              </a:rPr>
              <a:t>autorisés.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Uniquement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utilisateurs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autorisés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doivent </a:t>
            </a:r>
            <a:r>
              <a:rPr sz="1800" dirty="0">
                <a:latin typeface="Cambria"/>
                <a:cs typeface="Cambria"/>
              </a:rPr>
              <a:t>modifier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données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Intégrité</a:t>
            </a:r>
            <a:endParaRPr sz="1800">
              <a:latin typeface="Cambria"/>
              <a:cs typeface="Cambria"/>
            </a:endParaRPr>
          </a:p>
          <a:p>
            <a:pPr marL="698500" marR="93980" lvl="2" indent="-228600">
              <a:lnSpc>
                <a:spcPts val="2100"/>
              </a:lnSpc>
              <a:spcBef>
                <a:spcPts val="7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modifications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doivent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respecter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contraintes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d’intégrité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ainsi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propriétés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transactionnelles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45" dirty="0">
                <a:solidFill>
                  <a:srgbClr val="FF0000"/>
                </a:solidFill>
                <a:latin typeface="Cambria"/>
                <a:cs typeface="Cambria"/>
              </a:rPr>
              <a:t>Disponibilité</a:t>
            </a:r>
            <a:endParaRPr sz="1800">
              <a:latin typeface="Cambria"/>
              <a:cs typeface="Cambria"/>
            </a:endParaRPr>
          </a:p>
          <a:p>
            <a:pPr marL="698500" marR="5080" lvl="2" indent="-228600">
              <a:lnSpc>
                <a:spcPct val="101899"/>
              </a:lnSpc>
              <a:spcBef>
                <a:spcPts val="5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doivent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toujours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disponibles</a:t>
            </a:r>
            <a:r>
              <a:rPr sz="1800" spc="3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32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les </a:t>
            </a:r>
            <a:r>
              <a:rPr sz="1800" spc="65" dirty="0">
                <a:latin typeface="Cambria"/>
                <a:cs typeface="Cambria"/>
              </a:rPr>
              <a:t>utilisateurs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autorisés.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doivent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tolérantes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aux </a:t>
            </a:r>
            <a:r>
              <a:rPr sz="1800" spc="65" dirty="0">
                <a:latin typeface="Cambria"/>
                <a:cs typeface="Cambria"/>
              </a:rPr>
              <a:t>pannes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l’accès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performant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8821" y="866343"/>
            <a:ext cx="6199505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03860" marR="304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72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10" dirty="0">
                <a:latin typeface="Cambria"/>
                <a:cs typeface="Cambria"/>
              </a:rPr>
              <a:t>Techniques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spc="55" dirty="0">
                <a:latin typeface="Cambria"/>
                <a:cs typeface="Cambria"/>
              </a:rPr>
              <a:t>pour</a:t>
            </a:r>
            <a:r>
              <a:rPr sz="3600" spc="235" dirty="0">
                <a:latin typeface="Cambria"/>
                <a:cs typeface="Cambria"/>
              </a:rPr>
              <a:t> </a:t>
            </a:r>
            <a:r>
              <a:rPr sz="3600" spc="120" dirty="0">
                <a:latin typeface="Cambria"/>
                <a:cs typeface="Cambria"/>
              </a:rPr>
              <a:t>assurer</a:t>
            </a:r>
            <a:r>
              <a:rPr sz="3600" spc="235" dirty="0">
                <a:latin typeface="Cambria"/>
                <a:cs typeface="Cambria"/>
              </a:rPr>
              <a:t> </a:t>
            </a:r>
            <a:r>
              <a:rPr sz="3600" spc="165" dirty="0">
                <a:latin typeface="Cambria"/>
                <a:cs typeface="Cambria"/>
              </a:rPr>
              <a:t>la </a:t>
            </a:r>
            <a:r>
              <a:rPr sz="3600" spc="100" dirty="0">
                <a:latin typeface="Cambria"/>
                <a:cs typeface="Cambria"/>
              </a:rPr>
              <a:t>confidentialité</a:t>
            </a:r>
            <a:r>
              <a:rPr sz="3600" spc="235" dirty="0">
                <a:latin typeface="Cambria"/>
                <a:cs typeface="Cambria"/>
              </a:rPr>
              <a:t> </a:t>
            </a:r>
            <a:r>
              <a:rPr sz="3600" spc="70" dirty="0">
                <a:latin typeface="Cambria"/>
                <a:cs typeface="Cambria"/>
              </a:rPr>
              <a:t>des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spc="55" dirty="0">
                <a:latin typeface="Cambria"/>
                <a:cs typeface="Cambria"/>
              </a:rPr>
              <a:t>données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3007879"/>
            <a:ext cx="5231765" cy="200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0" dirty="0">
                <a:latin typeface="Cambria"/>
                <a:cs typeface="Cambria"/>
              </a:rPr>
              <a:t>Control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d’accès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(RBAC,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215" dirty="0">
                <a:latin typeface="Cambria"/>
                <a:cs typeface="Cambria"/>
              </a:rPr>
              <a:t>DAC,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40" dirty="0">
                <a:latin typeface="Cambria"/>
                <a:cs typeface="Cambria"/>
              </a:rPr>
              <a:t>MAC)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5" dirty="0">
                <a:latin typeface="Cambria"/>
                <a:cs typeface="Cambria"/>
              </a:rPr>
              <a:t>Vues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Cryptographie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95" dirty="0">
                <a:latin typeface="Cambria"/>
                <a:cs typeface="Cambria"/>
              </a:rPr>
              <a:t>Bases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données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statistiques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résumées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Intégrité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7070725" cy="313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40" dirty="0">
                <a:latin typeface="Cambria"/>
                <a:cs typeface="Cambria"/>
              </a:rPr>
              <a:t>Une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base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données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est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cohérente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si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elle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respecte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les</a:t>
            </a:r>
            <a:endParaRPr sz="20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</a:pPr>
            <a:r>
              <a:rPr sz="2000" b="1" spc="100" dirty="0">
                <a:solidFill>
                  <a:srgbClr val="FF0000"/>
                </a:solidFill>
                <a:latin typeface="Cambria"/>
                <a:cs typeface="Cambria"/>
              </a:rPr>
              <a:t>propriétés</a:t>
            </a:r>
            <a:r>
              <a:rPr sz="2000" b="1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b="1" spc="100" dirty="0">
                <a:solidFill>
                  <a:srgbClr val="FF0000"/>
                </a:solidFill>
                <a:latin typeface="Cambria"/>
                <a:cs typeface="Cambria"/>
              </a:rPr>
              <a:t>transactionnelles</a:t>
            </a:r>
            <a:endParaRPr sz="2000">
              <a:latin typeface="Cambria"/>
              <a:cs typeface="Cambria"/>
            </a:endParaRPr>
          </a:p>
          <a:p>
            <a:pPr marL="469900" marR="93980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Atomicité</a:t>
            </a:r>
            <a:r>
              <a:rPr sz="1800" spc="60" dirty="0">
                <a:latin typeface="Cambria"/>
                <a:cs typeface="Cambria"/>
              </a:rPr>
              <a:t>.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Toutes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modifications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faites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transaction </a:t>
            </a:r>
            <a:r>
              <a:rPr sz="1800" dirty="0">
                <a:latin typeface="Cambria"/>
                <a:cs typeface="Cambria"/>
              </a:rPr>
              <a:t>sont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validées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aucune</a:t>
            </a:r>
            <a:endParaRPr sz="1800">
              <a:latin typeface="Cambria"/>
              <a:cs typeface="Cambria"/>
            </a:endParaRPr>
          </a:p>
          <a:p>
            <a:pPr marL="469900" marR="22860" lvl="1" indent="-228600">
              <a:lnSpc>
                <a:spcPts val="2100"/>
              </a:lnSpc>
              <a:spcBef>
                <a:spcPts val="7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Cohérence</a:t>
            </a:r>
            <a:r>
              <a:rPr sz="1800" spc="60" dirty="0">
                <a:latin typeface="Cambria"/>
                <a:cs typeface="Cambria"/>
              </a:rPr>
              <a:t>.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contraintes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d’intégrité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doivent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vérifiées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et </a:t>
            </a:r>
            <a:r>
              <a:rPr sz="1800" spc="-10" dirty="0">
                <a:latin typeface="Cambria"/>
                <a:cs typeface="Cambria"/>
              </a:rPr>
              <a:t>respectées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ct val="101899"/>
              </a:lnSpc>
              <a:spcBef>
                <a:spcPts val="535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Isolation</a:t>
            </a:r>
            <a:r>
              <a:rPr sz="1800" spc="60" dirty="0">
                <a:latin typeface="Cambria"/>
                <a:cs typeface="Cambria"/>
              </a:rPr>
              <a:t>.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Chaque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transaction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s’exécute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«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comme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»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si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elle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la </a:t>
            </a:r>
            <a:r>
              <a:rPr sz="1800" spc="50" dirty="0">
                <a:latin typeface="Cambria"/>
                <a:cs typeface="Cambria"/>
              </a:rPr>
              <a:t>seule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exécutée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système</a:t>
            </a:r>
            <a:endParaRPr sz="1800">
              <a:latin typeface="Cambria"/>
              <a:cs typeface="Cambria"/>
            </a:endParaRPr>
          </a:p>
          <a:p>
            <a:pPr marL="469900" marR="26034" lvl="1" indent="-228600">
              <a:lnSpc>
                <a:spcPct val="101899"/>
              </a:lnSpc>
              <a:spcBef>
                <a:spcPts val="5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75" dirty="0">
                <a:solidFill>
                  <a:srgbClr val="FF0000"/>
                </a:solidFill>
                <a:latin typeface="Cambria"/>
                <a:cs typeface="Cambria"/>
              </a:rPr>
              <a:t>Durabilité</a:t>
            </a:r>
            <a:r>
              <a:rPr sz="1800" spc="75" dirty="0">
                <a:latin typeface="Cambria"/>
                <a:cs typeface="Cambria"/>
              </a:rPr>
              <a:t>.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Une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fois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qu’une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transaction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validée,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toutes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ses </a:t>
            </a:r>
            <a:r>
              <a:rPr sz="1800" spc="45" dirty="0">
                <a:latin typeface="Cambria"/>
                <a:cs typeface="Cambria"/>
              </a:rPr>
              <a:t>modifications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doivent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persister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malgré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éventuelles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pannes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Intégrité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366" rIns="0" bIns="0" rtlCol="0">
            <a:spAutoFit/>
          </a:bodyPr>
          <a:lstStyle/>
          <a:p>
            <a:pPr marL="241300" marR="878205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pc="105" dirty="0"/>
              <a:t>Les</a:t>
            </a:r>
            <a:r>
              <a:rPr spc="180" dirty="0"/>
              <a:t> </a:t>
            </a:r>
            <a:r>
              <a:rPr dirty="0"/>
              <a:t>propriétés</a:t>
            </a:r>
            <a:r>
              <a:rPr spc="185" dirty="0"/>
              <a:t> </a:t>
            </a:r>
            <a:r>
              <a:rPr spc="65" dirty="0"/>
              <a:t>transactionnelles</a:t>
            </a:r>
            <a:r>
              <a:rPr spc="185" dirty="0"/>
              <a:t> </a:t>
            </a:r>
            <a:r>
              <a:rPr spc="50" dirty="0"/>
              <a:t>sont</a:t>
            </a:r>
            <a:r>
              <a:rPr spc="185" dirty="0"/>
              <a:t> </a:t>
            </a:r>
            <a:r>
              <a:rPr spc="65" dirty="0"/>
              <a:t>assurées</a:t>
            </a:r>
            <a:r>
              <a:rPr spc="180" dirty="0"/>
              <a:t> </a:t>
            </a:r>
            <a:r>
              <a:rPr spc="75" dirty="0"/>
              <a:t>par</a:t>
            </a:r>
            <a:r>
              <a:rPr spc="185" dirty="0"/>
              <a:t> </a:t>
            </a:r>
            <a:r>
              <a:rPr spc="25" dirty="0"/>
              <a:t>le </a:t>
            </a:r>
            <a:r>
              <a:rPr spc="60" dirty="0"/>
              <a:t>gestionnaire</a:t>
            </a:r>
            <a:r>
              <a:rPr spc="175" dirty="0"/>
              <a:t> </a:t>
            </a:r>
            <a:r>
              <a:rPr dirty="0"/>
              <a:t>des</a:t>
            </a:r>
            <a:r>
              <a:rPr spc="180" dirty="0"/>
              <a:t> </a:t>
            </a:r>
            <a:r>
              <a:rPr spc="60" dirty="0"/>
              <a:t>transactions</a:t>
            </a:r>
          </a:p>
          <a:p>
            <a:pPr marL="469900" marR="5080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Atomicité</a:t>
            </a:r>
            <a:r>
              <a:rPr sz="1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et</a:t>
            </a:r>
            <a:r>
              <a:rPr sz="1800" spc="1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durabilité.</a:t>
            </a:r>
            <a:r>
              <a:rPr sz="1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Protocole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validation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(e.g.,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validation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à </a:t>
            </a:r>
            <a:r>
              <a:rPr sz="1800" spc="55" dirty="0">
                <a:latin typeface="Cambria"/>
                <a:cs typeface="Cambria"/>
              </a:rPr>
              <a:t>deux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phases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2PC)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Cohérence.</a:t>
            </a:r>
            <a:r>
              <a:rPr sz="18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Contraintes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d’intégrité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sémantiques</a:t>
            </a:r>
            <a:endParaRPr sz="1800">
              <a:latin typeface="Cambria"/>
              <a:cs typeface="Cambria"/>
            </a:endParaRPr>
          </a:p>
          <a:p>
            <a:pPr marL="469900" marR="45085" lvl="1" indent="-228600">
              <a:lnSpc>
                <a:spcPct val="101899"/>
              </a:lnSpc>
              <a:spcBef>
                <a:spcPts val="495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Isolation</a:t>
            </a:r>
            <a:r>
              <a:rPr sz="1800" spc="60" dirty="0">
                <a:latin typeface="Cambria"/>
                <a:cs typeface="Cambria"/>
              </a:rPr>
              <a:t>.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Protocoles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concurrence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(e.g.,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verrouillage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deux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phases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2PL)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Intégrité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pc="85" dirty="0"/>
              <a:t>Contraintes</a:t>
            </a:r>
            <a:r>
              <a:rPr spc="165" dirty="0"/>
              <a:t> </a:t>
            </a:r>
            <a:r>
              <a:rPr spc="45" dirty="0"/>
              <a:t>d’intégrité</a:t>
            </a: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5" dirty="0">
                <a:latin typeface="Cambria"/>
                <a:cs typeface="Cambria"/>
              </a:rPr>
              <a:t>Règles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représentent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propriétés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d’une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application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75" dirty="0">
                <a:latin typeface="Cambria"/>
                <a:cs typeface="Cambria"/>
              </a:rPr>
              <a:t>Contraintes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structurelles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ex.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clés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primaires</a:t>
            </a:r>
            <a:endParaRPr sz="1800">
              <a:latin typeface="Cambria"/>
              <a:cs typeface="Cambria"/>
            </a:endParaRPr>
          </a:p>
          <a:p>
            <a:pPr marL="698500" marR="258445" lvl="2" indent="-228600">
              <a:lnSpc>
                <a:spcPts val="2100"/>
              </a:lnSpc>
              <a:spcBef>
                <a:spcPts val="7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75" dirty="0">
                <a:latin typeface="Cambria"/>
                <a:cs typeface="Cambria"/>
              </a:rPr>
              <a:t>Contraintes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comportementales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ex.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rang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valeurs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 </a:t>
            </a:r>
            <a:r>
              <a:rPr sz="1800" spc="65" dirty="0">
                <a:latin typeface="Cambria"/>
                <a:cs typeface="Cambria"/>
              </a:rPr>
              <a:t>attribut,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pc="140" dirty="0"/>
              <a:t>Une</a:t>
            </a:r>
            <a:r>
              <a:rPr spc="195" dirty="0"/>
              <a:t> </a:t>
            </a:r>
            <a:r>
              <a:rPr spc="55" dirty="0"/>
              <a:t>base</a:t>
            </a:r>
            <a:r>
              <a:rPr spc="195" dirty="0"/>
              <a:t> </a:t>
            </a:r>
            <a:r>
              <a:rPr dirty="0"/>
              <a:t>de</a:t>
            </a:r>
            <a:r>
              <a:rPr spc="200" dirty="0"/>
              <a:t> </a:t>
            </a:r>
            <a:r>
              <a:rPr dirty="0"/>
              <a:t>données</a:t>
            </a:r>
            <a:r>
              <a:rPr spc="195" dirty="0"/>
              <a:t> </a:t>
            </a:r>
            <a:r>
              <a:rPr dirty="0"/>
              <a:t>doit</a:t>
            </a:r>
            <a:r>
              <a:rPr spc="200" dirty="0"/>
              <a:t> </a:t>
            </a:r>
            <a:r>
              <a:rPr spc="70" dirty="0"/>
              <a:t>assurer</a:t>
            </a:r>
            <a:r>
              <a:rPr spc="195" dirty="0"/>
              <a:t> </a:t>
            </a:r>
            <a:r>
              <a:rPr dirty="0"/>
              <a:t>ces</a:t>
            </a:r>
            <a:r>
              <a:rPr spc="200" dirty="0"/>
              <a:t> </a:t>
            </a:r>
            <a:r>
              <a:rPr spc="50" dirty="0"/>
              <a:t>contraintes</a:t>
            </a: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pc="130" dirty="0"/>
              <a:t>Le</a:t>
            </a:r>
            <a:r>
              <a:rPr spc="165" dirty="0"/>
              <a:t> </a:t>
            </a:r>
            <a:r>
              <a:rPr spc="60" dirty="0"/>
              <a:t>gestionnaire</a:t>
            </a:r>
            <a:r>
              <a:rPr spc="165" dirty="0"/>
              <a:t> </a:t>
            </a:r>
            <a:r>
              <a:rPr dirty="0"/>
              <a:t>de</a:t>
            </a:r>
            <a:r>
              <a:rPr spc="165" dirty="0"/>
              <a:t> </a:t>
            </a:r>
            <a:r>
              <a:rPr spc="110" dirty="0"/>
              <a:t>la</a:t>
            </a:r>
            <a:r>
              <a:rPr spc="165" dirty="0"/>
              <a:t> </a:t>
            </a:r>
            <a:r>
              <a:rPr spc="55" dirty="0"/>
              <a:t>base</a:t>
            </a:r>
            <a:r>
              <a:rPr spc="165" dirty="0"/>
              <a:t> </a:t>
            </a:r>
            <a:r>
              <a:rPr dirty="0"/>
              <a:t>de</a:t>
            </a:r>
            <a:r>
              <a:rPr spc="170" dirty="0"/>
              <a:t> </a:t>
            </a:r>
            <a:r>
              <a:rPr dirty="0"/>
              <a:t>données</a:t>
            </a:r>
            <a:r>
              <a:rPr spc="165" dirty="0"/>
              <a:t> </a:t>
            </a:r>
            <a:r>
              <a:rPr spc="70" dirty="0"/>
              <a:t>assure</a:t>
            </a:r>
            <a:r>
              <a:rPr spc="165" dirty="0"/>
              <a:t> </a:t>
            </a:r>
            <a:r>
              <a:rPr spc="50" dirty="0"/>
              <a:t>les</a:t>
            </a:r>
            <a:r>
              <a:rPr spc="165" dirty="0"/>
              <a:t> </a:t>
            </a:r>
            <a:r>
              <a:rPr spc="50" dirty="0"/>
              <a:t>contraintes</a:t>
            </a:r>
          </a:p>
          <a:p>
            <a:pPr marL="469900" marR="227965" lvl="1" indent="-228600">
              <a:lnSpc>
                <a:spcPct val="99500"/>
              </a:lnSpc>
              <a:spcBef>
                <a:spcPts val="61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5" dirty="0">
                <a:latin typeface="Cambria"/>
                <a:cs typeface="Cambria"/>
              </a:rPr>
              <a:t>Activité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complexe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coûteuse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lorsque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base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répartie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mais </a:t>
            </a:r>
            <a:r>
              <a:rPr sz="1800" spc="75" dirty="0">
                <a:latin typeface="Cambria"/>
                <a:cs typeface="Cambria"/>
              </a:rPr>
              <a:t>aussi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lorsque,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lors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mises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jour,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vérifier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contraintes </a:t>
            </a:r>
            <a:r>
              <a:rPr sz="1800" spc="55" dirty="0">
                <a:latin typeface="Cambria"/>
                <a:cs typeface="Cambria"/>
              </a:rPr>
              <a:t>demande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l’accès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grand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nombre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données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72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55" dirty="0">
                <a:latin typeface="Cambria"/>
                <a:cs typeface="Cambria"/>
              </a:rPr>
              <a:t>Gestion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70" dirty="0">
                <a:latin typeface="Cambria"/>
                <a:cs typeface="Cambria"/>
              </a:rPr>
              <a:t>des</a:t>
            </a:r>
            <a:r>
              <a:rPr sz="3600" spc="229" dirty="0">
                <a:latin typeface="Cambria"/>
                <a:cs typeface="Cambria"/>
              </a:rPr>
              <a:t> </a:t>
            </a:r>
            <a:r>
              <a:rPr sz="3600" spc="105" dirty="0">
                <a:latin typeface="Cambria"/>
                <a:cs typeface="Cambria"/>
              </a:rPr>
              <a:t>contraintes</a:t>
            </a:r>
            <a:r>
              <a:rPr sz="3600" spc="229" dirty="0">
                <a:latin typeface="Cambria"/>
                <a:cs typeface="Cambria"/>
              </a:rPr>
              <a:t> </a:t>
            </a:r>
            <a:r>
              <a:rPr sz="3600" spc="85" dirty="0">
                <a:latin typeface="Cambria"/>
                <a:cs typeface="Cambria"/>
              </a:rPr>
              <a:t>d</a:t>
            </a:r>
            <a:r>
              <a:rPr sz="3600" spc="85" dirty="0">
                <a:solidFill>
                  <a:srgbClr val="7A4779"/>
                </a:solidFill>
                <a:latin typeface="Cambria"/>
                <a:cs typeface="Cambria"/>
              </a:rPr>
              <a:t>’</a:t>
            </a:r>
            <a:r>
              <a:rPr sz="3600" spc="85" dirty="0">
                <a:latin typeface="Cambria"/>
                <a:cs typeface="Cambria"/>
              </a:rPr>
              <a:t>intégrité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897687"/>
            <a:ext cx="7031355" cy="20866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20" dirty="0">
                <a:latin typeface="Cambria"/>
                <a:cs typeface="Cambria"/>
              </a:rPr>
              <a:t>Dans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l’idéal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gestion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contraintes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devrait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80" dirty="0">
                <a:latin typeface="Cambria"/>
                <a:cs typeface="Cambria"/>
              </a:rPr>
              <a:t>Limiter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nombre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contraintes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assurer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0" dirty="0">
                <a:latin typeface="Cambria"/>
                <a:cs typeface="Cambria"/>
              </a:rPr>
              <a:t>Réduire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nombre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accédées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lors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d’une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mise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jour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ts val="2100"/>
              </a:lnSpc>
              <a:spcBef>
                <a:spcPts val="76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50" dirty="0">
                <a:latin typeface="Cambria"/>
                <a:cs typeface="Cambria"/>
              </a:rPr>
              <a:t>Avoir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stratégies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détecter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inconsistances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entre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les </a:t>
            </a:r>
            <a:r>
              <a:rPr sz="1800" spc="50" dirty="0">
                <a:latin typeface="Cambria"/>
                <a:cs typeface="Cambria"/>
              </a:rPr>
              <a:t>contraintes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afin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d’éviter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défaire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mises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jour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0" dirty="0">
                <a:latin typeface="Cambria"/>
                <a:cs typeface="Cambria"/>
              </a:rPr>
              <a:t>Réaliser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moins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control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temps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réel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00" dirty="0">
                <a:latin typeface="Cambria"/>
                <a:cs typeface="Cambria"/>
              </a:rPr>
              <a:t>Disponibilité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891655" cy="3360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870585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65" dirty="0">
                <a:latin typeface="Cambria"/>
                <a:cs typeface="Cambria"/>
              </a:rPr>
              <a:t>Disponibilité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données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malgré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pannes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les </a:t>
            </a:r>
            <a:r>
              <a:rPr sz="2000" spc="45" dirty="0">
                <a:latin typeface="Cambria"/>
                <a:cs typeface="Cambria"/>
              </a:rPr>
              <a:t>nombreuses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demandes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d’accès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latin typeface="Cambria"/>
                <a:cs typeface="Cambria"/>
              </a:rPr>
              <a:t>Accès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efficace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rapide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passe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l’échelle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85" dirty="0">
                <a:latin typeface="Cambria"/>
                <a:cs typeface="Cambria"/>
              </a:rPr>
              <a:t>Eviter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goulots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d’étranglement</a:t>
            </a:r>
            <a:endParaRPr sz="1800">
              <a:latin typeface="Cambria"/>
              <a:cs typeface="Cambria"/>
            </a:endParaRPr>
          </a:p>
          <a:p>
            <a:pPr marL="698500" marR="770890" lvl="2" indent="-228600">
              <a:lnSpc>
                <a:spcPts val="2100"/>
              </a:lnSpc>
              <a:spcBef>
                <a:spcPts val="7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75" dirty="0">
                <a:latin typeface="Cambria"/>
                <a:cs typeface="Cambria"/>
              </a:rPr>
              <a:t>Faciliter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l’accès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«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proches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»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 </a:t>
            </a:r>
            <a:r>
              <a:rPr sz="1800" spc="50" dirty="0">
                <a:latin typeface="Cambria"/>
                <a:cs typeface="Cambria"/>
              </a:rPr>
              <a:t>l’utilisateur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5" dirty="0">
                <a:latin typeface="Cambria"/>
                <a:cs typeface="Cambria"/>
              </a:rPr>
              <a:t>Type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pannes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85" dirty="0">
                <a:latin typeface="Cambria"/>
                <a:cs typeface="Cambria"/>
              </a:rPr>
              <a:t>Système.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mémoire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centrale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perdue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75" dirty="0">
                <a:latin typeface="Cambria"/>
                <a:cs typeface="Cambria"/>
              </a:rPr>
              <a:t>Disque.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mémoire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secondaire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endommagée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65" dirty="0">
                <a:latin typeface="Cambria"/>
                <a:cs typeface="Cambria"/>
              </a:rPr>
              <a:t>Transactionnelle.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Erreur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dans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l’exécution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transactions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25" dirty="0">
                <a:latin typeface="Cambria"/>
                <a:cs typeface="Cambria"/>
              </a:rPr>
              <a:t>Solutions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55" dirty="0">
                <a:latin typeface="Cambria"/>
                <a:cs typeface="Cambria"/>
              </a:rPr>
              <a:t>pour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190" dirty="0">
                <a:latin typeface="Cambria"/>
                <a:cs typeface="Cambria"/>
              </a:rPr>
              <a:t>la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75" dirty="0">
                <a:latin typeface="Cambria"/>
                <a:cs typeface="Cambria"/>
              </a:rPr>
              <a:t>disponibilité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437492" y="655205"/>
            <a:ext cx="121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solidFill>
                  <a:srgbClr val="CCCC00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11769"/>
            <a:ext cx="7125334" cy="46520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55" dirty="0">
                <a:latin typeface="Cambria"/>
                <a:cs typeface="Cambria"/>
              </a:rPr>
              <a:t>Accès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35" dirty="0">
                <a:latin typeface="Cambria"/>
                <a:cs typeface="Cambria"/>
              </a:rPr>
              <a:t>efficace</a:t>
            </a:r>
            <a:endParaRPr sz="22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9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70" dirty="0">
                <a:latin typeface="Cambria"/>
                <a:cs typeface="Cambria"/>
              </a:rPr>
              <a:t>Duplication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</a:t>
            </a:r>
            <a:r>
              <a:rPr sz="1900" spc="13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données</a:t>
            </a:r>
            <a:endParaRPr sz="19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80" dirty="0">
                <a:latin typeface="Cambria"/>
                <a:cs typeface="Cambria"/>
              </a:rPr>
              <a:t>Systèmes</a:t>
            </a:r>
            <a:r>
              <a:rPr sz="1900" spc="229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pair-</a:t>
            </a:r>
            <a:r>
              <a:rPr sz="1900" dirty="0">
                <a:latin typeface="Cambria"/>
                <a:cs typeface="Cambria"/>
              </a:rPr>
              <a:t>à-</a:t>
            </a:r>
            <a:r>
              <a:rPr sz="1900" spc="45" dirty="0">
                <a:latin typeface="Cambria"/>
                <a:cs typeface="Cambria"/>
              </a:rPr>
              <a:t>pair</a:t>
            </a:r>
            <a:endParaRPr sz="1900">
              <a:latin typeface="Cambria"/>
              <a:cs typeface="Cambria"/>
            </a:endParaRPr>
          </a:p>
          <a:p>
            <a:pPr marL="240665" indent="-227965" algn="just">
              <a:lnSpc>
                <a:spcPct val="100000"/>
              </a:lnSpc>
              <a:spcBef>
                <a:spcPts val="168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70" dirty="0">
                <a:latin typeface="Cambria"/>
                <a:cs typeface="Cambria"/>
              </a:rPr>
              <a:t>Données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45" dirty="0">
                <a:latin typeface="Cambria"/>
                <a:cs typeface="Cambria"/>
              </a:rPr>
              <a:t>disponibles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malgré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55" dirty="0">
                <a:latin typeface="Cambria"/>
                <a:cs typeface="Cambria"/>
              </a:rPr>
              <a:t>les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65" dirty="0">
                <a:latin typeface="Cambria"/>
                <a:cs typeface="Cambria"/>
              </a:rPr>
              <a:t>pannes</a:t>
            </a:r>
            <a:endParaRPr sz="2200">
              <a:latin typeface="Cambria"/>
              <a:cs typeface="Cambria"/>
            </a:endParaRPr>
          </a:p>
          <a:p>
            <a:pPr marL="469265" lvl="1" indent="-227965" algn="just">
              <a:lnSpc>
                <a:spcPct val="100000"/>
              </a:lnSpc>
              <a:spcBef>
                <a:spcPts val="39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75" dirty="0">
                <a:latin typeface="Cambria"/>
                <a:cs typeface="Cambria"/>
              </a:rPr>
              <a:t>Disque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: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sauvegardes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périodiques,</a:t>
            </a:r>
            <a:r>
              <a:rPr sz="1900" spc="24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point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</a:t>
            </a:r>
            <a:r>
              <a:rPr sz="1900" spc="240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reprise</a:t>
            </a:r>
            <a:endParaRPr sz="1900">
              <a:latin typeface="Cambria"/>
              <a:cs typeface="Cambria"/>
            </a:endParaRPr>
          </a:p>
          <a:p>
            <a:pPr marL="698500" marR="236854" lvl="2" indent="-228600" algn="just">
              <a:lnSpc>
                <a:spcPts val="1800"/>
              </a:lnSpc>
              <a:spcBef>
                <a:spcPts val="70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698500" algn="l"/>
              </a:tabLst>
            </a:pPr>
            <a:r>
              <a:rPr sz="1700" spc="80" dirty="0">
                <a:latin typeface="Cambria"/>
                <a:cs typeface="Cambria"/>
              </a:rPr>
              <a:t>Sauvegarde.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Copie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cohérente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d’une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base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données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effectuée </a:t>
            </a:r>
            <a:r>
              <a:rPr sz="1700" spc="10" dirty="0">
                <a:latin typeface="Cambria"/>
                <a:cs typeface="Cambria"/>
              </a:rPr>
              <a:t>périodiquement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alors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que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10" dirty="0">
                <a:latin typeface="Cambria"/>
                <a:cs typeface="Cambria"/>
              </a:rPr>
              <a:t>cette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base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est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dans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un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état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cohérent</a:t>
            </a:r>
            <a:endParaRPr sz="1700">
              <a:latin typeface="Cambria"/>
              <a:cs typeface="Cambria"/>
            </a:endParaRPr>
          </a:p>
          <a:p>
            <a:pPr marL="698500" marR="60960" lvl="2" indent="-228600" algn="just">
              <a:lnSpc>
                <a:spcPct val="90700"/>
              </a:lnSpc>
              <a:spcBef>
                <a:spcPts val="53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698500" algn="l"/>
              </a:tabLst>
            </a:pPr>
            <a:r>
              <a:rPr sz="1700" spc="65" dirty="0">
                <a:latin typeface="Cambria"/>
                <a:cs typeface="Cambria"/>
              </a:rPr>
              <a:t>Point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reprise.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130" dirty="0">
                <a:latin typeface="Cambria"/>
                <a:cs typeface="Cambria"/>
              </a:rPr>
              <a:t>Etat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d’avancement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du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système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sauvegardé</a:t>
            </a:r>
            <a:r>
              <a:rPr sz="1700" spc="16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sur </a:t>
            </a:r>
            <a:r>
              <a:rPr sz="1700" dirty="0">
                <a:latin typeface="Cambria"/>
                <a:cs typeface="Cambria"/>
              </a:rPr>
              <a:t>mémoires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secondaires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à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partir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duquel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il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est</a:t>
            </a:r>
            <a:r>
              <a:rPr sz="1700" spc="2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possible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1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repartir </a:t>
            </a:r>
            <a:r>
              <a:rPr sz="1700" spc="50" dirty="0">
                <a:latin typeface="Cambria"/>
                <a:cs typeface="Cambria"/>
              </a:rPr>
              <a:t>après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un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arrêt</a:t>
            </a:r>
            <a:endParaRPr sz="1700">
              <a:latin typeface="Cambria"/>
              <a:cs typeface="Cambria"/>
            </a:endParaRPr>
          </a:p>
          <a:p>
            <a:pPr marL="469900" marR="95250" lvl="1" indent="-228600" algn="just">
              <a:lnSpc>
                <a:spcPts val="2100"/>
              </a:lnSpc>
              <a:spcBef>
                <a:spcPts val="56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spc="65" dirty="0">
                <a:latin typeface="Cambria"/>
                <a:cs typeface="Cambria"/>
              </a:rPr>
              <a:t>Transactionnelle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et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système: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journaux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des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images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avant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20" dirty="0">
                <a:latin typeface="Cambria"/>
                <a:cs typeface="Cambria"/>
              </a:rPr>
              <a:t>et </a:t>
            </a:r>
            <a:r>
              <a:rPr sz="1900" spc="55" dirty="0">
                <a:latin typeface="Cambria"/>
                <a:cs typeface="Cambria"/>
              </a:rPr>
              <a:t>après</a:t>
            </a:r>
            <a:r>
              <a:rPr sz="1900" spc="17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utilisés</a:t>
            </a:r>
            <a:r>
              <a:rPr sz="1900" spc="17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dans</a:t>
            </a:r>
            <a:r>
              <a:rPr sz="1900" spc="17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les</a:t>
            </a:r>
            <a:r>
              <a:rPr sz="1900" spc="17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procédures</a:t>
            </a:r>
            <a:r>
              <a:rPr sz="1900" spc="17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</a:t>
            </a:r>
            <a:r>
              <a:rPr sz="1900" spc="17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reprise</a:t>
            </a:r>
            <a:endParaRPr sz="1900">
              <a:latin typeface="Cambria"/>
              <a:cs typeface="Cambria"/>
            </a:endParaRPr>
          </a:p>
          <a:p>
            <a:pPr marL="698500" marR="5080" lvl="2" indent="-228600" algn="just">
              <a:lnSpc>
                <a:spcPct val="90700"/>
              </a:lnSpc>
              <a:spcBef>
                <a:spcPts val="49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698500" algn="l"/>
              </a:tabLst>
            </a:pPr>
            <a:r>
              <a:rPr sz="1700" spc="145" dirty="0">
                <a:latin typeface="Cambria"/>
                <a:cs typeface="Cambria"/>
              </a:rPr>
              <a:t>Ex.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Procédure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reprise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à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chaud.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155" dirty="0">
                <a:latin typeface="Cambria"/>
                <a:cs typeface="Cambria"/>
              </a:rPr>
              <a:t>A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partir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d’un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point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20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reprise,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transactions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non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validées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sont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défaites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et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validées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sont</a:t>
            </a:r>
            <a:r>
              <a:rPr sz="1700" spc="18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ré </a:t>
            </a:r>
            <a:r>
              <a:rPr sz="1700" spc="35" dirty="0">
                <a:latin typeface="Cambria"/>
                <a:cs typeface="Cambria"/>
              </a:rPr>
              <a:t>exécutées.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5658" y="577735"/>
            <a:ext cx="4235450" cy="4187825"/>
          </a:xfrm>
          <a:custGeom>
            <a:avLst/>
            <a:gdLst/>
            <a:ahLst/>
            <a:cxnLst/>
            <a:rect l="l" t="t" r="r" b="b"/>
            <a:pathLst>
              <a:path w="4235450" h="4187825">
                <a:moveTo>
                  <a:pt x="4235448" y="0"/>
                </a:moveTo>
                <a:lnTo>
                  <a:pt x="0" y="0"/>
                </a:lnTo>
                <a:lnTo>
                  <a:pt x="0" y="4187823"/>
                </a:lnTo>
                <a:lnTo>
                  <a:pt x="4235448" y="4187823"/>
                </a:lnTo>
                <a:lnTo>
                  <a:pt x="4235448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75520" y="577734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97470" y="2727209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A9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5658" y="577735"/>
            <a:ext cx="4235450" cy="418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875">
              <a:lnSpc>
                <a:spcPts val="6055"/>
              </a:lnSpc>
            </a:pPr>
            <a:r>
              <a:rPr sz="5400" spc="-50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97470" y="577734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B2A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5520" y="2727209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431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467196" y="1230283"/>
            <a:ext cx="3183890" cy="1708785"/>
            <a:chOff x="1467196" y="1230283"/>
            <a:chExt cx="3183890" cy="17087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4532" y="1431471"/>
              <a:ext cx="3051098" cy="5304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196" y="1230283"/>
              <a:ext cx="3183774" cy="897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3272" y="2243585"/>
              <a:ext cx="2494998" cy="53116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7196" y="2040774"/>
              <a:ext cx="2597726" cy="8977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03300" y="5803900"/>
            <a:ext cx="8839200" cy="193424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50"/>
              </a:spcBef>
            </a:pPr>
            <a:r>
              <a:rPr sz="3600" spc="165" dirty="0">
                <a:solidFill>
                  <a:srgbClr val="898989"/>
                </a:solidFill>
                <a:latin typeface="Cambria"/>
                <a:cs typeface="Cambria"/>
              </a:rPr>
              <a:t>DAC</a:t>
            </a:r>
            <a:r>
              <a:rPr sz="3600" spc="270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898989"/>
                </a:solidFill>
                <a:latin typeface="Cambria"/>
                <a:cs typeface="Cambria"/>
              </a:rPr>
              <a:t>(Discretionary</a:t>
            </a:r>
            <a:r>
              <a:rPr sz="3600" spc="270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10" dirty="0">
                <a:solidFill>
                  <a:srgbClr val="898989"/>
                </a:solidFill>
                <a:latin typeface="Cambria"/>
                <a:cs typeface="Cambria"/>
              </a:rPr>
              <a:t>Access</a:t>
            </a:r>
            <a:r>
              <a:rPr sz="3600" spc="270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898989"/>
                </a:solidFill>
                <a:latin typeface="Cambria"/>
                <a:cs typeface="Cambria"/>
              </a:rPr>
              <a:t>Control) </a:t>
            </a:r>
            <a:r>
              <a:rPr sz="3600" spc="170" dirty="0">
                <a:solidFill>
                  <a:srgbClr val="898989"/>
                </a:solidFill>
                <a:latin typeface="Cambria"/>
                <a:cs typeface="Cambria"/>
              </a:rPr>
              <a:t>MAC</a:t>
            </a:r>
            <a:r>
              <a:rPr sz="3600" spc="165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45" dirty="0">
                <a:solidFill>
                  <a:srgbClr val="898989"/>
                </a:solidFill>
                <a:latin typeface="Cambria"/>
                <a:cs typeface="Cambria"/>
              </a:rPr>
              <a:t>(Mandatory</a:t>
            </a:r>
            <a:r>
              <a:rPr sz="3600" spc="170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898989"/>
                </a:solidFill>
                <a:latin typeface="Cambria"/>
                <a:cs typeface="Cambria"/>
              </a:rPr>
              <a:t>Access</a:t>
            </a:r>
            <a:r>
              <a:rPr sz="3600" spc="170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898989"/>
                </a:solidFill>
                <a:latin typeface="Cambria"/>
                <a:cs typeface="Cambria"/>
              </a:rPr>
              <a:t>Control) </a:t>
            </a:r>
            <a:r>
              <a:rPr sz="3600" spc="160" dirty="0">
                <a:solidFill>
                  <a:srgbClr val="898989"/>
                </a:solidFill>
                <a:latin typeface="Cambria"/>
                <a:cs typeface="Cambria"/>
              </a:rPr>
              <a:t>RBAC</a:t>
            </a:r>
            <a:r>
              <a:rPr sz="3600" spc="285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898989"/>
                </a:solidFill>
                <a:latin typeface="Cambria"/>
                <a:cs typeface="Cambria"/>
              </a:rPr>
              <a:t>(Role-Based</a:t>
            </a:r>
            <a:r>
              <a:rPr sz="3600" spc="285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898989"/>
                </a:solidFill>
                <a:latin typeface="Cambria"/>
                <a:cs typeface="Cambria"/>
              </a:rPr>
              <a:t>Access</a:t>
            </a:r>
            <a:r>
              <a:rPr sz="3600" spc="285" dirty="0">
                <a:solidFill>
                  <a:srgbClr val="898989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898989"/>
                </a:solidFill>
                <a:latin typeface="Cambria"/>
                <a:cs typeface="Cambria"/>
              </a:rPr>
              <a:t>Control)</a:t>
            </a:r>
            <a:endParaRPr sz="3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Control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50" dirty="0">
                <a:latin typeface="Cambria"/>
                <a:cs typeface="Cambria"/>
              </a:rPr>
              <a:t>d’accès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140" dirty="0">
                <a:latin typeface="Cambria"/>
                <a:cs typeface="Cambria"/>
              </a:rPr>
              <a:t>dans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105" dirty="0">
                <a:latin typeface="Cambria"/>
                <a:cs typeface="Cambria"/>
              </a:rPr>
              <a:t>les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440" dirty="0">
                <a:latin typeface="Cambria"/>
                <a:cs typeface="Cambria"/>
              </a:rPr>
              <a:t>SGBD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897687"/>
            <a:ext cx="7103745" cy="36360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Discretionary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Access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Control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(DAC)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5" dirty="0">
                <a:latin typeface="Cambria"/>
                <a:cs typeface="Cambria"/>
              </a:rPr>
              <a:t>Basé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d’accès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Gestion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sujets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(processus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utilisateurs)</a:t>
            </a:r>
            <a:endParaRPr sz="1800">
              <a:latin typeface="Cambria"/>
              <a:cs typeface="Cambria"/>
            </a:endParaRPr>
          </a:p>
          <a:p>
            <a:pPr marL="227965" marR="2912745" indent="-227965" algn="r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27965" algn="l"/>
              </a:tabLst>
            </a:pPr>
            <a:r>
              <a:rPr sz="2000" spc="90" dirty="0">
                <a:latin typeface="Cambria"/>
                <a:cs typeface="Cambria"/>
              </a:rPr>
              <a:t>Mandatory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Access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Control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(MAC)</a:t>
            </a:r>
            <a:endParaRPr sz="2000">
              <a:latin typeface="Cambria"/>
              <a:cs typeface="Cambria"/>
            </a:endParaRPr>
          </a:p>
          <a:p>
            <a:pPr marL="227965" marR="2933700" lvl="1" indent="-227965" algn="r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227965" algn="l"/>
              </a:tabLst>
            </a:pPr>
            <a:r>
              <a:rPr sz="1800" spc="95" dirty="0">
                <a:latin typeface="Cambria"/>
                <a:cs typeface="Cambria"/>
              </a:rPr>
              <a:t>Basé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politiques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du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système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Gestion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politiques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système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(pas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utilisateurs)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Cambria"/>
                <a:cs typeface="Cambria"/>
              </a:rPr>
              <a:t>Role-based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Access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Control</a:t>
            </a:r>
            <a:r>
              <a:rPr sz="2000" spc="2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(RBAC)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5" dirty="0">
                <a:latin typeface="Cambria"/>
                <a:cs typeface="Cambria"/>
              </a:rPr>
              <a:t>Basé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rôles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Gestion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leur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unité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centrale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5" dirty="0"/>
              <a:t>DAC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7658100" cy="379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3479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0" dirty="0">
                <a:latin typeface="Cambria"/>
                <a:cs typeface="Cambria"/>
              </a:rPr>
              <a:t>Consiste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attribuer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aux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sujets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privilèges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opérations </a:t>
            </a:r>
            <a:r>
              <a:rPr sz="2000" spc="75" dirty="0">
                <a:latin typeface="Cambria"/>
                <a:cs typeface="Cambria"/>
              </a:rPr>
              <a:t>sur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objets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vérifier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lors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l’accès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210" dirty="0">
                <a:latin typeface="Cambria"/>
                <a:cs typeface="Cambria"/>
              </a:rPr>
              <a:t>Un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privilège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permet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sujet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l’accès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une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donnée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(e.g.,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table, </a:t>
            </a:r>
            <a:r>
              <a:rPr sz="2000" spc="85" dirty="0">
                <a:latin typeface="Cambria"/>
                <a:cs typeface="Cambria"/>
              </a:rPr>
              <a:t>vue,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objet,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procédure)</a:t>
            </a:r>
            <a:endParaRPr sz="2000">
              <a:latin typeface="Cambria"/>
              <a:cs typeface="Cambria"/>
            </a:endParaRPr>
          </a:p>
          <a:p>
            <a:pPr marL="469900" marR="250190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229" dirty="0">
                <a:latin typeface="Cambria"/>
                <a:cs typeface="Cambria"/>
              </a:rPr>
              <a:t>SELECT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lire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toutes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ainsi </a:t>
            </a:r>
            <a:r>
              <a:rPr sz="1800" dirty="0">
                <a:latin typeface="Cambria"/>
                <a:cs typeface="Cambria"/>
              </a:rPr>
              <a:t>que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insérées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tard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85" dirty="0">
                <a:latin typeface="Cambria"/>
                <a:cs typeface="Cambria"/>
              </a:rPr>
              <a:t>ALTER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TABLE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55" dirty="0">
                <a:latin typeface="Cambria"/>
                <a:cs typeface="Cambria"/>
              </a:rPr>
              <a:t>INSERT/UPDATE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insérer/modifier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lignes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220" dirty="0">
                <a:latin typeface="Cambria"/>
                <a:cs typeface="Cambria"/>
              </a:rPr>
              <a:t>DELETE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supprimer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lignes</a:t>
            </a:r>
            <a:endParaRPr sz="1800">
              <a:latin typeface="Cambria"/>
              <a:cs typeface="Cambria"/>
            </a:endParaRPr>
          </a:p>
          <a:p>
            <a:pPr marL="469900" marR="1042035" lvl="1" indent="-228600">
              <a:lnSpc>
                <a:spcPct val="101899"/>
              </a:lnSpc>
              <a:spcBef>
                <a:spcPts val="595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235" dirty="0">
                <a:latin typeface="Cambria"/>
                <a:cs typeface="Cambria"/>
              </a:rPr>
              <a:t>REFERENCES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définir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clés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étrangères </a:t>
            </a:r>
            <a:r>
              <a:rPr sz="1800" dirty="0">
                <a:latin typeface="Cambria"/>
                <a:cs typeface="Cambria"/>
              </a:rPr>
              <a:t>(référencier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</a:t>
            </a:r>
            <a:r>
              <a:rPr sz="1800" spc="55" dirty="0">
                <a:latin typeface="SimSun-ExtB"/>
                <a:cs typeface="SimSun-ExtB"/>
              </a:rPr>
              <a:t>ʼ</a:t>
            </a:r>
            <a:r>
              <a:rPr sz="1800" spc="55" dirty="0">
                <a:latin typeface="Cambria"/>
                <a:cs typeface="Cambria"/>
              </a:rPr>
              <a:t>autres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vues)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245" dirty="0">
                <a:latin typeface="Cambria"/>
                <a:cs typeface="Cambria"/>
              </a:rPr>
              <a:t>EXECUTE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exécuter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fonction/procédure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5" dirty="0"/>
              <a:t>DAC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897687"/>
            <a:ext cx="7019290" cy="32550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5" dirty="0">
                <a:latin typeface="Cambria"/>
                <a:cs typeface="Cambria"/>
              </a:rPr>
              <a:t>Gestion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privilèges</a:t>
            </a:r>
            <a:endParaRPr sz="2000">
              <a:latin typeface="Cambria"/>
              <a:cs typeface="Cambria"/>
            </a:endParaRPr>
          </a:p>
          <a:p>
            <a:pPr marL="469900" marR="46990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peuvent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partagés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révoqués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(commandes </a:t>
            </a:r>
            <a:r>
              <a:rPr sz="1800" spc="195" dirty="0">
                <a:latin typeface="Cambria"/>
                <a:cs typeface="Cambria"/>
              </a:rPr>
              <a:t>GRANT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170" dirty="0">
                <a:latin typeface="Cambria"/>
                <a:cs typeface="Cambria"/>
              </a:rPr>
              <a:t>REVOKE)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ts val="2100"/>
              </a:lnSpc>
              <a:spcBef>
                <a:spcPts val="7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été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GRANT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OPTION,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nouveau </a:t>
            </a:r>
            <a:r>
              <a:rPr sz="1800" spc="55" dirty="0">
                <a:latin typeface="Cambria"/>
                <a:cs typeface="Cambria"/>
              </a:rPr>
              <a:t>sujet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également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partager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privilège</a:t>
            </a:r>
            <a:endParaRPr sz="1800">
              <a:latin typeface="Cambria"/>
              <a:cs typeface="Cambria"/>
            </a:endParaRPr>
          </a:p>
          <a:p>
            <a:pPr marL="469900" marR="736600" lvl="1" indent="-228600">
              <a:lnSpc>
                <a:spcPct val="101899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25" dirty="0">
                <a:latin typeface="Cambria"/>
                <a:cs typeface="Cambria"/>
              </a:rPr>
              <a:t>Le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sujet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crée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automatiquement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tous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les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celle-</a:t>
            </a:r>
            <a:r>
              <a:rPr sz="1800" spc="-25" dirty="0">
                <a:latin typeface="Cambria"/>
                <a:cs typeface="Cambria"/>
              </a:rPr>
              <a:t>ci</a:t>
            </a:r>
            <a:endParaRPr sz="1800">
              <a:latin typeface="Cambria"/>
              <a:cs typeface="Cambria"/>
            </a:endParaRPr>
          </a:p>
          <a:p>
            <a:pPr marL="469900" marR="330835" lvl="1" indent="-228600">
              <a:lnSpc>
                <a:spcPct val="101899"/>
              </a:lnSpc>
              <a:spcBef>
                <a:spcPts val="5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commande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225" dirty="0">
                <a:latin typeface="Cambria"/>
                <a:cs typeface="Cambria"/>
              </a:rPr>
              <a:t>REVOKE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utilisée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annuler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l’option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GRANT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OPTION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225" dirty="0">
                <a:latin typeface="Cambria"/>
                <a:cs typeface="Cambria"/>
              </a:rPr>
              <a:t>REVOKE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utilisé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215" dirty="0">
                <a:latin typeface="Cambria"/>
                <a:cs typeface="Cambria"/>
              </a:rPr>
              <a:t>CASCADE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Exemples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5862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60" dirty="0">
                <a:latin typeface="Cambria"/>
                <a:cs typeface="Cambria"/>
              </a:rPr>
              <a:t>Considérez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tables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suivantes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utilisateurs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Joe, </a:t>
            </a:r>
            <a:r>
              <a:rPr sz="2000" spc="95" dirty="0">
                <a:latin typeface="Cambria"/>
                <a:cs typeface="Cambria"/>
              </a:rPr>
              <a:t>Michel,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Lea, </a:t>
            </a:r>
            <a:r>
              <a:rPr sz="2000" spc="105" dirty="0">
                <a:latin typeface="Cambria"/>
                <a:cs typeface="Cambria"/>
              </a:rPr>
              <a:t>Yuppy,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Bill,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Eric,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Guppy,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Art,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Bob,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etc.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05099" y="363130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5689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Sailors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5099" y="430968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sid: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10" dirty="0">
                <a:latin typeface="Cambria"/>
                <a:cs typeface="Cambria"/>
              </a:rPr>
              <a:t>sname: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rating: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85" dirty="0">
                <a:latin typeface="Cambria"/>
                <a:cs typeface="Cambria"/>
              </a:rPr>
              <a:t>age: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real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6101" y="363130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Boats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6101" y="430968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spc="70" dirty="0">
                <a:latin typeface="Cambria"/>
                <a:cs typeface="Cambria"/>
              </a:rPr>
              <a:t>bid: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65" dirty="0">
                <a:latin typeface="Cambria"/>
                <a:cs typeface="Cambria"/>
              </a:rPr>
              <a:t>bname: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spc="10" dirty="0">
                <a:latin typeface="Cambria"/>
                <a:cs typeface="Cambria"/>
              </a:rPr>
              <a:t>color: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7105" y="363130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Reservs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7105" y="430968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sid: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70" dirty="0">
                <a:latin typeface="Cambria"/>
                <a:cs typeface="Cambria"/>
              </a:rPr>
              <a:t>bid: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spc="55" dirty="0">
                <a:latin typeface="Cambria"/>
                <a:cs typeface="Cambria"/>
              </a:rPr>
              <a:t>day:</a:t>
            </a:r>
            <a:r>
              <a:rPr sz="1400" spc="-7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date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Exemples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59494"/>
            <a:ext cx="6722745" cy="47307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marR="76200" indent="-228600">
              <a:lnSpc>
                <a:spcPts val="1900"/>
              </a:lnSpc>
              <a:spcBef>
                <a:spcPts val="3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70" dirty="0">
                <a:latin typeface="Cambria"/>
                <a:cs typeface="Cambria"/>
              </a:rPr>
              <a:t>L’utilisateur</a:t>
            </a:r>
            <a:r>
              <a:rPr sz="1800" spc="135" dirty="0">
                <a:latin typeface="Cambria"/>
                <a:cs typeface="Cambria"/>
              </a:rPr>
              <a:t> Joe </a:t>
            </a:r>
            <a:r>
              <a:rPr sz="1800" dirty="0">
                <a:latin typeface="Cambria"/>
                <a:cs typeface="Cambria"/>
              </a:rPr>
              <a:t>crée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(Boats,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Reservs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Sailors)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et </a:t>
            </a:r>
            <a:r>
              <a:rPr sz="1800" spc="45" dirty="0">
                <a:latin typeface="Cambria"/>
                <a:cs typeface="Cambria"/>
              </a:rPr>
              <a:t>exécute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commandes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59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45" dirty="0">
                <a:latin typeface="Cambria"/>
                <a:cs typeface="Cambria"/>
              </a:rPr>
              <a:t>INSERT,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75" dirty="0">
                <a:latin typeface="Cambria"/>
                <a:cs typeface="Cambria"/>
              </a:rPr>
              <a:t>DELETE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Reservs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Yuppy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20" dirty="0">
                <a:latin typeface="Cambria"/>
                <a:cs typeface="Cambria"/>
              </a:rPr>
              <a:t>WITH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OPTION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SELECT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Reservs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Michel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SELECT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Sailors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Michel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120" dirty="0">
                <a:latin typeface="Cambria"/>
                <a:cs typeface="Cambria"/>
              </a:rPr>
              <a:t>WITH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OPTION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spc="150" dirty="0">
                <a:latin typeface="Cambria"/>
                <a:cs typeface="Cambria"/>
              </a:rPr>
              <a:t>INSERT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20" dirty="0">
                <a:latin typeface="Cambria"/>
                <a:cs typeface="Cambria"/>
              </a:rPr>
              <a:t>(sid,sname,age)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Sailors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Michel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8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REFERENCES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(bid)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Boats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Bill</a:t>
            </a:r>
            <a:endParaRPr sz="1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B870B8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605"/>
              </a:spcBef>
              <a:buClr>
                <a:srgbClr val="B870B8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70" dirty="0">
                <a:latin typeface="Cambria"/>
                <a:cs typeface="Cambria"/>
              </a:rPr>
              <a:t>Michel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exécute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:</a:t>
            </a:r>
            <a:endParaRPr sz="1700">
              <a:latin typeface="Cambria"/>
              <a:cs typeface="Cambria"/>
            </a:endParaRPr>
          </a:p>
          <a:p>
            <a:pPr marL="469900" marR="2336165" lvl="1" indent="-228600">
              <a:lnSpc>
                <a:spcPts val="2200"/>
              </a:lnSpc>
              <a:spcBef>
                <a:spcPts val="3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400" spc="165" dirty="0">
                <a:latin typeface="Cambria"/>
                <a:cs typeface="Cambria"/>
              </a:rPr>
              <a:t>CREATE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VIEW</a:t>
            </a:r>
            <a:r>
              <a:rPr sz="1400" spc="110" dirty="0">
                <a:latin typeface="Cambria"/>
                <a:cs typeface="Cambria"/>
              </a:rPr>
              <a:t>  </a:t>
            </a:r>
            <a:r>
              <a:rPr sz="1400" spc="60" dirty="0">
                <a:latin typeface="Cambria"/>
                <a:cs typeface="Cambria"/>
              </a:rPr>
              <a:t>YoungSailors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(sid,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age,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rating) </a:t>
            </a:r>
            <a:r>
              <a:rPr sz="1400" spc="150" dirty="0">
                <a:latin typeface="Cambria"/>
                <a:cs typeface="Cambria"/>
              </a:rPr>
              <a:t>AS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SELECT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sid,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65" dirty="0">
                <a:latin typeface="Cambria"/>
                <a:cs typeface="Cambria"/>
              </a:rPr>
              <a:t>age,</a:t>
            </a:r>
            <a:r>
              <a:rPr sz="1400" spc="8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rating</a:t>
            </a:r>
            <a:endParaRPr sz="1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260"/>
              </a:spcBef>
            </a:pPr>
            <a:r>
              <a:rPr sz="1400" spc="160" dirty="0">
                <a:latin typeface="Cambria"/>
                <a:cs typeface="Cambria"/>
              </a:rPr>
              <a:t>FROM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45" dirty="0">
                <a:latin typeface="Cambria"/>
                <a:cs typeface="Cambria"/>
              </a:rPr>
              <a:t>Sailors</a:t>
            </a:r>
            <a:endParaRPr sz="14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420"/>
              </a:spcBef>
            </a:pPr>
            <a:r>
              <a:rPr sz="1400" spc="160" dirty="0">
                <a:latin typeface="Cambria"/>
                <a:cs typeface="Cambria"/>
              </a:rPr>
              <a:t>WHERE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age&lt;18</a:t>
            </a:r>
            <a:endParaRPr sz="14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400" spc="155" dirty="0">
                <a:latin typeface="Cambria"/>
                <a:cs typeface="Cambria"/>
              </a:rPr>
              <a:t>GRANT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SELECT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180" dirty="0">
                <a:latin typeface="Cambria"/>
                <a:cs typeface="Cambria"/>
              </a:rPr>
              <a:t>ON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YoungSailors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135" dirty="0">
                <a:latin typeface="Cambria"/>
                <a:cs typeface="Cambria"/>
              </a:rPr>
              <a:t>TO</a:t>
            </a:r>
            <a:r>
              <a:rPr sz="1400" spc="95" dirty="0">
                <a:latin typeface="Cambria"/>
                <a:cs typeface="Cambria"/>
              </a:rPr>
              <a:t> </a:t>
            </a:r>
            <a:r>
              <a:rPr sz="1400" spc="75" dirty="0">
                <a:latin typeface="Cambria"/>
                <a:cs typeface="Cambria"/>
              </a:rPr>
              <a:t>Eric,</a:t>
            </a:r>
            <a:r>
              <a:rPr sz="1400" spc="90" dirty="0">
                <a:latin typeface="Cambria"/>
                <a:cs typeface="Cambria"/>
              </a:rPr>
              <a:t> </a:t>
            </a:r>
            <a:r>
              <a:rPr sz="1400" spc="70" dirty="0">
                <a:latin typeface="Cambria"/>
                <a:cs typeface="Cambria"/>
              </a:rPr>
              <a:t>Guppy</a:t>
            </a:r>
            <a:endParaRPr sz="1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B870B8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605"/>
              </a:spcBef>
              <a:buClr>
                <a:srgbClr val="B870B8"/>
              </a:buClr>
              <a:buFont typeface="Wingdings"/>
              <a:buChar char=""/>
            </a:pPr>
            <a:endParaRPr sz="14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85" dirty="0">
                <a:latin typeface="Cambria"/>
                <a:cs typeface="Cambria"/>
              </a:rPr>
              <a:t>Peut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Michel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faire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la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même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chose</a:t>
            </a:r>
            <a:r>
              <a:rPr sz="1700" spc="1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avec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Reservs</a:t>
            </a:r>
            <a:r>
              <a:rPr sz="1700" spc="140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?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Exemples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59494"/>
            <a:ext cx="7235190" cy="45542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1300" marR="123825" indent="-228600">
              <a:lnSpc>
                <a:spcPts val="1900"/>
              </a:lnSpc>
              <a:spcBef>
                <a:spcPts val="3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Joe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ajoute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«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address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»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Sailors,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Michel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insérer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valeurs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nouvelle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241300" marR="5080" indent="-228600">
              <a:lnSpc>
                <a:spcPts val="2000"/>
              </a:lnSpc>
              <a:spcBef>
                <a:spcPts val="19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Joe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ajoute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«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employe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»</a:t>
            </a:r>
            <a:r>
              <a:rPr sz="1800" spc="120" dirty="0">
                <a:latin typeface="Cambria"/>
                <a:cs typeface="Cambria"/>
              </a:rPr>
              <a:t> à </a:t>
            </a:r>
            <a:r>
              <a:rPr sz="1800" spc="65" dirty="0">
                <a:latin typeface="Cambria"/>
                <a:cs typeface="Cambria"/>
              </a:rPr>
              <a:t>Reservs,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Yuppy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insérer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valeurs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nouvelle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90" dirty="0">
                <a:latin typeface="Cambria"/>
                <a:cs typeface="Cambria"/>
              </a:rPr>
              <a:t>Peut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Bill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créer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Reservs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manière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suivante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?</a:t>
            </a:r>
            <a:endParaRPr sz="1800">
              <a:latin typeface="Cambria"/>
              <a:cs typeface="Cambria"/>
            </a:endParaRPr>
          </a:p>
          <a:p>
            <a:pPr marL="469265" marR="2341880" lvl="1" indent="-227965">
              <a:lnSpc>
                <a:spcPct val="115700"/>
              </a:lnSpc>
              <a:spcBef>
                <a:spcPts val="1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1841500" algn="l"/>
              </a:tabLst>
            </a:pPr>
            <a:r>
              <a:rPr sz="1800" spc="210" dirty="0">
                <a:latin typeface="Cambria"/>
                <a:cs typeface="Cambria"/>
              </a:rPr>
              <a:t>CREATE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TABLE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Reservs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(sid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INTEGER, 	</a:t>
            </a:r>
            <a:r>
              <a:rPr sz="1800" dirty="0">
                <a:latin typeface="Cambria"/>
                <a:cs typeface="Cambria"/>
              </a:rPr>
              <a:t>bid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INTEGER,</a:t>
            </a:r>
            <a:endParaRPr sz="1800">
              <a:latin typeface="Cambria"/>
              <a:cs typeface="Cambria"/>
            </a:endParaRPr>
          </a:p>
          <a:p>
            <a:pPr marL="1841500">
              <a:lnSpc>
                <a:spcPct val="100000"/>
              </a:lnSpc>
              <a:spcBef>
                <a:spcPts val="440"/>
              </a:spcBef>
            </a:pPr>
            <a:r>
              <a:rPr sz="1800" spc="65" dirty="0">
                <a:latin typeface="Cambria"/>
                <a:cs typeface="Cambria"/>
              </a:rPr>
              <a:t>day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155" dirty="0">
                <a:latin typeface="Cambria"/>
                <a:cs typeface="Cambria"/>
              </a:rPr>
              <a:t>DATE,</a:t>
            </a:r>
            <a:endParaRPr sz="1800">
              <a:latin typeface="Cambria"/>
              <a:cs typeface="Cambria"/>
            </a:endParaRPr>
          </a:p>
          <a:p>
            <a:pPr marL="1841500">
              <a:lnSpc>
                <a:spcPct val="100000"/>
              </a:lnSpc>
              <a:spcBef>
                <a:spcPts val="340"/>
              </a:spcBef>
            </a:pPr>
            <a:r>
              <a:rPr sz="1800" spc="180" dirty="0">
                <a:latin typeface="Cambria"/>
                <a:cs typeface="Cambria"/>
              </a:rPr>
              <a:t>PRIMARY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250" dirty="0">
                <a:latin typeface="Cambria"/>
                <a:cs typeface="Cambria"/>
              </a:rPr>
              <a:t>KEY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(bid,day),</a:t>
            </a:r>
            <a:endParaRPr sz="1800">
              <a:latin typeface="Cambria"/>
              <a:cs typeface="Cambria"/>
            </a:endParaRPr>
          </a:p>
          <a:p>
            <a:pPr marL="1841500" marR="610235">
              <a:lnSpc>
                <a:spcPts val="2600"/>
              </a:lnSpc>
              <a:spcBef>
                <a:spcPts val="60"/>
              </a:spcBef>
            </a:pPr>
            <a:r>
              <a:rPr sz="1800" spc="220" dirty="0">
                <a:latin typeface="Cambria"/>
                <a:cs typeface="Cambria"/>
              </a:rPr>
              <a:t>FOREIGN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50" dirty="0">
                <a:latin typeface="Cambria"/>
                <a:cs typeface="Cambria"/>
              </a:rPr>
              <a:t>KEY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(sid)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35" dirty="0">
                <a:latin typeface="Cambria"/>
                <a:cs typeface="Cambria"/>
              </a:rPr>
              <a:t>REFERENCES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Sailors, </a:t>
            </a:r>
            <a:r>
              <a:rPr sz="1800" spc="220" dirty="0">
                <a:latin typeface="Cambria"/>
                <a:cs typeface="Cambria"/>
              </a:rPr>
              <a:t>FOREIGN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250" dirty="0">
                <a:latin typeface="Cambria"/>
                <a:cs typeface="Cambria"/>
              </a:rPr>
              <a:t>KEY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(bid)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35" dirty="0">
                <a:latin typeface="Cambria"/>
                <a:cs typeface="Cambria"/>
              </a:rPr>
              <a:t>REFERENCES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Boats)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60" dirty="0">
                <a:latin typeface="Cambria"/>
                <a:cs typeface="Cambria"/>
              </a:rPr>
              <a:t>Qu’est-</a:t>
            </a:r>
            <a:r>
              <a:rPr sz="1800" dirty="0">
                <a:latin typeface="Cambria"/>
                <a:cs typeface="Cambria"/>
              </a:rPr>
              <a:t>ce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passe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si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Joe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exécute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225" dirty="0">
                <a:latin typeface="Cambria"/>
                <a:cs typeface="Cambria"/>
              </a:rPr>
              <a:t>REVOKE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35" dirty="0">
                <a:latin typeface="Cambria"/>
                <a:cs typeface="Cambria"/>
              </a:rPr>
              <a:t>REFERENCES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225" dirty="0">
                <a:latin typeface="Cambria"/>
                <a:cs typeface="Cambria"/>
              </a:rPr>
              <a:t>ON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Boats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15" dirty="0">
                <a:latin typeface="Cambria"/>
                <a:cs typeface="Cambria"/>
              </a:rPr>
              <a:t>FROM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Bill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Exemples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39174"/>
            <a:ext cx="7016115" cy="328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55" dirty="0">
                <a:latin typeface="Cambria"/>
                <a:cs typeface="Cambria"/>
              </a:rPr>
              <a:t>Considérer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commandes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suivantes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:</a:t>
            </a:r>
            <a:endParaRPr sz="17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125" dirty="0">
                <a:latin typeface="Cambria"/>
                <a:cs typeface="Cambria"/>
              </a:rPr>
              <a:t>Joe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(qui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spc="114" dirty="0">
                <a:latin typeface="Cambria"/>
                <a:cs typeface="Cambria"/>
              </a:rPr>
              <a:t>a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crée</a:t>
            </a:r>
            <a:r>
              <a:rPr sz="1700" spc="18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Sailors)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exécute</a:t>
            </a:r>
            <a:r>
              <a:rPr sz="1700" spc="175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: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60"/>
              </a:spcBef>
              <a:buClr>
                <a:srgbClr val="B870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185" dirty="0">
                <a:latin typeface="Cambria"/>
                <a:cs typeface="Cambria"/>
              </a:rPr>
              <a:t>GRANT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215" dirty="0">
                <a:latin typeface="Cambria"/>
                <a:cs typeface="Cambria"/>
              </a:rPr>
              <a:t>SELECT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ON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Sailors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55" dirty="0">
                <a:latin typeface="Cambria"/>
                <a:cs typeface="Cambria"/>
              </a:rPr>
              <a:t>TO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Art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45" dirty="0">
                <a:latin typeface="Cambria"/>
                <a:cs typeface="Cambria"/>
              </a:rPr>
              <a:t>WITH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GRANT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60" dirty="0">
                <a:latin typeface="Cambria"/>
                <a:cs typeface="Cambria"/>
              </a:rPr>
              <a:t>OPTION</a:t>
            </a:r>
            <a:endParaRPr sz="17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95" dirty="0">
                <a:latin typeface="Cambria"/>
                <a:cs typeface="Cambria"/>
              </a:rPr>
              <a:t>Art</a:t>
            </a:r>
            <a:r>
              <a:rPr sz="1700" spc="2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exécute</a:t>
            </a:r>
            <a:r>
              <a:rPr sz="1700" spc="250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: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60"/>
              </a:spcBef>
              <a:buClr>
                <a:srgbClr val="B870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185" dirty="0">
                <a:latin typeface="Cambria"/>
                <a:cs typeface="Cambria"/>
              </a:rPr>
              <a:t>GRANT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215" dirty="0">
                <a:latin typeface="Cambria"/>
                <a:cs typeface="Cambria"/>
              </a:rPr>
              <a:t>SELECT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ON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Sailors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155" dirty="0">
                <a:latin typeface="Cambria"/>
                <a:cs typeface="Cambria"/>
              </a:rPr>
              <a:t>TO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Bob</a:t>
            </a:r>
            <a:r>
              <a:rPr sz="1700" spc="120" dirty="0">
                <a:latin typeface="Cambria"/>
                <a:cs typeface="Cambria"/>
              </a:rPr>
              <a:t> </a:t>
            </a:r>
            <a:r>
              <a:rPr sz="1700" spc="145" dirty="0">
                <a:latin typeface="Cambria"/>
                <a:cs typeface="Cambria"/>
              </a:rPr>
              <a:t>WITH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GRANT</a:t>
            </a:r>
            <a:r>
              <a:rPr sz="1700" spc="125" dirty="0">
                <a:latin typeface="Cambria"/>
                <a:cs typeface="Cambria"/>
              </a:rPr>
              <a:t> </a:t>
            </a:r>
            <a:r>
              <a:rPr sz="1700" spc="160" dirty="0">
                <a:latin typeface="Cambria"/>
                <a:cs typeface="Cambria"/>
              </a:rPr>
              <a:t>OPTION</a:t>
            </a:r>
            <a:endParaRPr sz="17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6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60" dirty="0">
                <a:latin typeface="Cambria"/>
                <a:cs typeface="Cambria"/>
              </a:rPr>
              <a:t>Qu’est-</a:t>
            </a:r>
            <a:r>
              <a:rPr sz="1700" dirty="0">
                <a:latin typeface="Cambria"/>
                <a:cs typeface="Cambria"/>
              </a:rPr>
              <a:t>ce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qui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passe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si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125" dirty="0">
                <a:latin typeface="Cambria"/>
                <a:cs typeface="Cambria"/>
              </a:rPr>
              <a:t>Joe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exécute</a:t>
            </a:r>
            <a:r>
              <a:rPr sz="1700" spc="160" dirty="0">
                <a:latin typeface="Cambria"/>
                <a:cs typeface="Cambria"/>
              </a:rPr>
              <a:t> </a:t>
            </a:r>
            <a:r>
              <a:rPr sz="1700" spc="-50" dirty="0">
                <a:latin typeface="Cambria"/>
                <a:cs typeface="Cambria"/>
              </a:rPr>
              <a:t>: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60"/>
              </a:spcBef>
              <a:buClr>
                <a:srgbClr val="B870B8"/>
              </a:buClr>
              <a:buSzPct val="73529"/>
              <a:buFont typeface="Wingdings"/>
              <a:buChar char=""/>
              <a:tabLst>
                <a:tab pos="469265" algn="l"/>
              </a:tabLst>
            </a:pPr>
            <a:r>
              <a:rPr sz="1700" spc="210" dirty="0">
                <a:latin typeface="Cambria"/>
                <a:cs typeface="Cambria"/>
              </a:rPr>
              <a:t>REVOKE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215" dirty="0">
                <a:latin typeface="Cambria"/>
                <a:cs typeface="Cambria"/>
              </a:rPr>
              <a:t>SELECT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ON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Sailors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95" dirty="0">
                <a:latin typeface="Cambria"/>
                <a:cs typeface="Cambria"/>
              </a:rPr>
              <a:t>FROM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Art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00" dirty="0">
                <a:latin typeface="Cambria"/>
                <a:cs typeface="Cambria"/>
              </a:rPr>
              <a:t>CASCADE</a:t>
            </a:r>
            <a:endParaRPr sz="17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260"/>
              </a:spcBef>
            </a:pPr>
            <a:r>
              <a:rPr sz="1700" spc="-25" dirty="0">
                <a:latin typeface="Cambria"/>
                <a:cs typeface="Cambria"/>
              </a:rPr>
              <a:t>ou</a:t>
            </a:r>
            <a:endParaRPr sz="1700">
              <a:latin typeface="Cambria"/>
              <a:cs typeface="Cambria"/>
            </a:endParaRPr>
          </a:p>
          <a:p>
            <a:pPr marL="469900" marR="5080" lvl="1" indent="-228600">
              <a:lnSpc>
                <a:spcPct val="78400"/>
              </a:lnSpc>
              <a:spcBef>
                <a:spcPts val="600"/>
              </a:spcBef>
              <a:buClr>
                <a:srgbClr val="B870B8"/>
              </a:buClr>
              <a:buSzPct val="73529"/>
              <a:buFont typeface="Wingdings"/>
              <a:buChar char=""/>
              <a:tabLst>
                <a:tab pos="469900" algn="l"/>
              </a:tabLst>
            </a:pPr>
            <a:r>
              <a:rPr sz="1700" spc="210" dirty="0">
                <a:latin typeface="Cambria"/>
                <a:cs typeface="Cambria"/>
              </a:rPr>
              <a:t>REVOKE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85" dirty="0">
                <a:latin typeface="Cambria"/>
                <a:cs typeface="Cambria"/>
              </a:rPr>
              <a:t>GRANT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70" dirty="0">
                <a:latin typeface="Cambria"/>
                <a:cs typeface="Cambria"/>
              </a:rPr>
              <a:t>OPTION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95" dirty="0">
                <a:latin typeface="Cambria"/>
                <a:cs typeface="Cambria"/>
              </a:rPr>
              <a:t>FOR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15" dirty="0">
                <a:latin typeface="Cambria"/>
                <a:cs typeface="Cambria"/>
              </a:rPr>
              <a:t>SELECT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ON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Sailors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195" dirty="0">
                <a:latin typeface="Cambria"/>
                <a:cs typeface="Cambria"/>
              </a:rPr>
              <a:t>FROM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Art </a:t>
            </a:r>
            <a:r>
              <a:rPr sz="1700" spc="204" dirty="0">
                <a:latin typeface="Cambria"/>
                <a:cs typeface="Cambria"/>
              </a:rPr>
              <a:t>CASCADE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9023" y="5863474"/>
            <a:ext cx="7219315" cy="703580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241300" marR="5080" indent="-228600">
              <a:lnSpc>
                <a:spcPct val="80900"/>
              </a:lnSpc>
              <a:spcBef>
                <a:spcPts val="489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50" dirty="0">
                <a:latin typeface="Cambria"/>
                <a:cs typeface="Cambria"/>
              </a:rPr>
              <a:t>Avec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l’option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175" dirty="0">
                <a:latin typeface="Cambria"/>
                <a:cs typeface="Cambria"/>
              </a:rPr>
              <a:t>RESTRICT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la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commande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spc="210" dirty="0">
                <a:latin typeface="Cambria"/>
                <a:cs typeface="Cambria"/>
              </a:rPr>
              <a:t>REVOKE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est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rejetée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si</a:t>
            </a:r>
            <a:r>
              <a:rPr sz="1700" spc="15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en</a:t>
            </a:r>
            <a:r>
              <a:rPr sz="1700" spc="155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plus </a:t>
            </a:r>
            <a:r>
              <a:rPr sz="1700" dirty="0">
                <a:latin typeface="Cambria"/>
                <a:cs typeface="Cambria"/>
              </a:rPr>
              <a:t>de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l’utilisateur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spécifié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d</a:t>
            </a:r>
            <a:r>
              <a:rPr sz="1700" spc="55" dirty="0">
                <a:latin typeface="SimSun-ExtB"/>
                <a:cs typeface="SimSun-ExtB"/>
              </a:rPr>
              <a:t>ʼ</a:t>
            </a:r>
            <a:r>
              <a:rPr sz="1700" spc="55" dirty="0">
                <a:latin typeface="Cambria"/>
                <a:cs typeface="Cambria"/>
              </a:rPr>
              <a:t>autres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utilisateurs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vont</a:t>
            </a:r>
            <a:r>
              <a:rPr sz="1700" spc="19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voir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ses</a:t>
            </a:r>
            <a:r>
              <a:rPr sz="1700" spc="19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privilèges </a:t>
            </a:r>
            <a:r>
              <a:rPr sz="1700" spc="40" dirty="0">
                <a:latin typeface="Cambria"/>
                <a:cs typeface="Cambria"/>
              </a:rPr>
              <a:t>affectés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90" dirty="0">
                <a:latin typeface="Cambria"/>
                <a:cs typeface="Cambria"/>
              </a:rPr>
              <a:t>Graphes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85" dirty="0">
                <a:latin typeface="Cambria"/>
                <a:cs typeface="Cambria"/>
              </a:rPr>
              <a:t>d</a:t>
            </a:r>
            <a:r>
              <a:rPr sz="3600" spc="85" dirty="0">
                <a:solidFill>
                  <a:srgbClr val="7A4779"/>
                </a:solidFill>
                <a:latin typeface="Cambria"/>
                <a:cs typeface="Cambria"/>
              </a:rPr>
              <a:t>’</a:t>
            </a:r>
            <a:r>
              <a:rPr sz="3600" spc="85" dirty="0">
                <a:latin typeface="Cambria"/>
                <a:cs typeface="Cambria"/>
              </a:rPr>
              <a:t>autorisation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18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811645" cy="168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latin typeface="Cambria"/>
                <a:cs typeface="Cambria"/>
              </a:rPr>
              <a:t>Les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effets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commandes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215" dirty="0">
                <a:latin typeface="Cambria"/>
                <a:cs typeface="Cambria"/>
              </a:rPr>
              <a:t>GRANT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250" dirty="0">
                <a:latin typeface="Cambria"/>
                <a:cs typeface="Cambria"/>
              </a:rPr>
              <a:t>REVOKE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peuvent </a:t>
            </a:r>
            <a:r>
              <a:rPr sz="2000" dirty="0">
                <a:latin typeface="Cambria"/>
                <a:cs typeface="Cambria"/>
              </a:rPr>
              <a:t>être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décrits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dans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graphe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d’autorisations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90" dirty="0">
                <a:latin typeface="Cambria"/>
                <a:cs typeface="Cambria"/>
              </a:rPr>
              <a:t>Un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graphe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concerne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seule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donnée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nœuds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utilisateurs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arcs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indiquent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comment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accordés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65" dirty="0">
                <a:latin typeface="Cambria"/>
                <a:cs typeface="Cambria"/>
              </a:rPr>
              <a:t>Exemple</a:t>
            </a:r>
            <a:r>
              <a:rPr sz="3600" spc="24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de</a:t>
            </a:r>
            <a:r>
              <a:rPr sz="3600" spc="245" dirty="0">
                <a:latin typeface="Cambria"/>
                <a:cs typeface="Cambria"/>
              </a:rPr>
              <a:t> </a:t>
            </a:r>
            <a:r>
              <a:rPr sz="3600" spc="125" dirty="0">
                <a:latin typeface="Cambria"/>
                <a:cs typeface="Cambria"/>
              </a:rPr>
              <a:t>graphe</a:t>
            </a:r>
            <a:r>
              <a:rPr sz="3600" spc="250" dirty="0">
                <a:latin typeface="Cambria"/>
                <a:cs typeface="Cambria"/>
              </a:rPr>
              <a:t> </a:t>
            </a:r>
            <a:r>
              <a:rPr sz="3600" spc="85" dirty="0">
                <a:latin typeface="Cambria"/>
                <a:cs typeface="Cambria"/>
              </a:rPr>
              <a:t>d</a:t>
            </a:r>
            <a:r>
              <a:rPr sz="3600" spc="85" dirty="0">
                <a:solidFill>
                  <a:srgbClr val="7A4779"/>
                </a:solidFill>
                <a:latin typeface="Cambria"/>
                <a:cs typeface="Cambria"/>
              </a:rPr>
              <a:t>’</a:t>
            </a:r>
            <a:r>
              <a:rPr sz="3600" spc="85" dirty="0">
                <a:latin typeface="Cambria"/>
                <a:cs typeface="Cambria"/>
              </a:rPr>
              <a:t>autorisation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36091" y="655205"/>
            <a:ext cx="2235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77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1400" spc="-55" dirty="0">
                <a:solidFill>
                  <a:srgbClr val="FFFEBA"/>
                </a:solidFill>
                <a:latin typeface="Cambria"/>
                <a:cs typeface="Cambria"/>
              </a:rPr>
              <a:t>1</a:t>
            </a:r>
            <a:r>
              <a:rPr sz="1400" spc="-79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1400" spc="-30" dirty="0">
                <a:solidFill>
                  <a:srgbClr val="FFFEBA"/>
                </a:solidFill>
                <a:latin typeface="Cambria"/>
                <a:cs typeface="Cambria"/>
              </a:rPr>
              <a:t>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9948" y="2262285"/>
            <a:ext cx="4580890" cy="601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Joe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exécute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Arial"/>
                <a:cs typeface="Arial"/>
              </a:rPr>
              <a:t>1.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TO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9948" y="2973485"/>
            <a:ext cx="4662805" cy="601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Art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exécute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Arial"/>
                <a:cs typeface="Arial"/>
              </a:rPr>
              <a:t>2.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Bob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9948" y="3697385"/>
            <a:ext cx="4580890" cy="601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Bob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exécute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Arial"/>
                <a:cs typeface="Arial"/>
              </a:rPr>
              <a:t>3.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TO</a:t>
            </a:r>
            <a:r>
              <a:rPr sz="1200" b="1" spc="-6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Art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948" y="4421285"/>
            <a:ext cx="4603750" cy="601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Joe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exécute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Arial"/>
                <a:cs typeface="Arial"/>
              </a:rPr>
              <a:t>4.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Cal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9948" y="5111320"/>
            <a:ext cx="4662805" cy="6350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Cal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exécute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359"/>
              </a:spcBef>
            </a:pPr>
            <a:r>
              <a:rPr sz="1200" b="1" dirty="0">
                <a:latin typeface="Arial"/>
                <a:cs typeface="Arial"/>
              </a:rPr>
              <a:t>5.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Bob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WITH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GRANT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9948" y="5856381"/>
            <a:ext cx="4076065" cy="601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b="1" dirty="0">
                <a:latin typeface="Arial"/>
                <a:cs typeface="Arial"/>
              </a:rPr>
              <a:t>Joe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exécute</a:t>
            </a:r>
            <a:endParaRPr sz="20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  <a:spcBef>
                <a:spcPts val="260"/>
              </a:spcBef>
            </a:pPr>
            <a:r>
              <a:rPr sz="1200" b="1" dirty="0">
                <a:latin typeface="Arial"/>
                <a:cs typeface="Arial"/>
              </a:rPr>
              <a:t>6.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REVOKE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SELECT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Sailors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FROM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Art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CASCADE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61033" y="2408123"/>
            <a:ext cx="811530" cy="811530"/>
            <a:chOff x="5961033" y="2408123"/>
            <a:chExt cx="811530" cy="811530"/>
          </a:xfrm>
        </p:grpSpPr>
        <p:sp>
          <p:nvSpPr>
            <p:cNvPr id="13" name="object 13"/>
            <p:cNvSpPr/>
            <p:nvPr/>
          </p:nvSpPr>
          <p:spPr>
            <a:xfrm>
              <a:off x="5973733" y="242082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30">
                  <a:moveTo>
                    <a:pt x="392906" y="0"/>
                  </a:moveTo>
                  <a:lnTo>
                    <a:pt x="343620" y="3061"/>
                  </a:lnTo>
                  <a:lnTo>
                    <a:pt x="296162" y="11999"/>
                  </a:lnTo>
                  <a:lnTo>
                    <a:pt x="250899" y="26447"/>
                  </a:lnTo>
                  <a:lnTo>
                    <a:pt x="208199" y="46035"/>
                  </a:lnTo>
                  <a:lnTo>
                    <a:pt x="168430" y="70395"/>
                  </a:lnTo>
                  <a:lnTo>
                    <a:pt x="131961" y="99160"/>
                  </a:lnTo>
                  <a:lnTo>
                    <a:pt x="99160" y="131961"/>
                  </a:lnTo>
                  <a:lnTo>
                    <a:pt x="70395" y="168430"/>
                  </a:lnTo>
                  <a:lnTo>
                    <a:pt x="46035" y="208199"/>
                  </a:lnTo>
                  <a:lnTo>
                    <a:pt x="26447" y="250899"/>
                  </a:lnTo>
                  <a:lnTo>
                    <a:pt x="11999" y="296162"/>
                  </a:lnTo>
                  <a:lnTo>
                    <a:pt x="3061" y="343620"/>
                  </a:lnTo>
                  <a:lnTo>
                    <a:pt x="0" y="392906"/>
                  </a:lnTo>
                  <a:lnTo>
                    <a:pt x="3061" y="442191"/>
                  </a:lnTo>
                  <a:lnTo>
                    <a:pt x="11999" y="489649"/>
                  </a:lnTo>
                  <a:lnTo>
                    <a:pt x="26447" y="534913"/>
                  </a:lnTo>
                  <a:lnTo>
                    <a:pt x="46035" y="577613"/>
                  </a:lnTo>
                  <a:lnTo>
                    <a:pt x="70395" y="617381"/>
                  </a:lnTo>
                  <a:lnTo>
                    <a:pt x="99160" y="653850"/>
                  </a:lnTo>
                  <a:lnTo>
                    <a:pt x="131961" y="686651"/>
                  </a:lnTo>
                  <a:lnTo>
                    <a:pt x="168430" y="715415"/>
                  </a:lnTo>
                  <a:lnTo>
                    <a:pt x="208199" y="739776"/>
                  </a:lnTo>
                  <a:lnTo>
                    <a:pt x="250899" y="759364"/>
                  </a:lnTo>
                  <a:lnTo>
                    <a:pt x="296162" y="773811"/>
                  </a:lnTo>
                  <a:lnTo>
                    <a:pt x="343620" y="782749"/>
                  </a:lnTo>
                  <a:lnTo>
                    <a:pt x="392906" y="785811"/>
                  </a:lnTo>
                  <a:lnTo>
                    <a:pt x="442191" y="782749"/>
                  </a:lnTo>
                  <a:lnTo>
                    <a:pt x="489650" y="773811"/>
                  </a:lnTo>
                  <a:lnTo>
                    <a:pt x="534913" y="759364"/>
                  </a:lnTo>
                  <a:lnTo>
                    <a:pt x="577613" y="739776"/>
                  </a:lnTo>
                  <a:lnTo>
                    <a:pt x="617382" y="715415"/>
                  </a:lnTo>
                  <a:lnTo>
                    <a:pt x="653851" y="686651"/>
                  </a:lnTo>
                  <a:lnTo>
                    <a:pt x="686652" y="653850"/>
                  </a:lnTo>
                  <a:lnTo>
                    <a:pt x="715417" y="617381"/>
                  </a:lnTo>
                  <a:lnTo>
                    <a:pt x="739778" y="577613"/>
                  </a:lnTo>
                  <a:lnTo>
                    <a:pt x="759366" y="534913"/>
                  </a:lnTo>
                  <a:lnTo>
                    <a:pt x="773813" y="489649"/>
                  </a:lnTo>
                  <a:lnTo>
                    <a:pt x="782752" y="442191"/>
                  </a:lnTo>
                  <a:lnTo>
                    <a:pt x="785813" y="392906"/>
                  </a:lnTo>
                  <a:lnTo>
                    <a:pt x="782752" y="343620"/>
                  </a:lnTo>
                  <a:lnTo>
                    <a:pt x="773813" y="296162"/>
                  </a:lnTo>
                  <a:lnTo>
                    <a:pt x="759366" y="250899"/>
                  </a:lnTo>
                  <a:lnTo>
                    <a:pt x="739778" y="208199"/>
                  </a:lnTo>
                  <a:lnTo>
                    <a:pt x="715417" y="168430"/>
                  </a:lnTo>
                  <a:lnTo>
                    <a:pt x="686652" y="131961"/>
                  </a:lnTo>
                  <a:lnTo>
                    <a:pt x="653851" y="99160"/>
                  </a:lnTo>
                  <a:lnTo>
                    <a:pt x="617382" y="70395"/>
                  </a:lnTo>
                  <a:lnTo>
                    <a:pt x="577613" y="46035"/>
                  </a:lnTo>
                  <a:lnTo>
                    <a:pt x="534913" y="26447"/>
                  </a:lnTo>
                  <a:lnTo>
                    <a:pt x="489650" y="11999"/>
                  </a:lnTo>
                  <a:lnTo>
                    <a:pt x="442191" y="3061"/>
                  </a:lnTo>
                  <a:lnTo>
                    <a:pt x="392906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73733" y="242082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30">
                  <a:moveTo>
                    <a:pt x="0" y="392905"/>
                  </a:moveTo>
                  <a:lnTo>
                    <a:pt x="3061" y="343620"/>
                  </a:lnTo>
                  <a:lnTo>
                    <a:pt x="11999" y="296162"/>
                  </a:lnTo>
                  <a:lnTo>
                    <a:pt x="26447" y="250898"/>
                  </a:lnTo>
                  <a:lnTo>
                    <a:pt x="46035" y="208198"/>
                  </a:lnTo>
                  <a:lnTo>
                    <a:pt x="70395" y="168430"/>
                  </a:lnTo>
                  <a:lnTo>
                    <a:pt x="99160" y="131961"/>
                  </a:lnTo>
                  <a:lnTo>
                    <a:pt x="131961" y="99160"/>
                  </a:lnTo>
                  <a:lnTo>
                    <a:pt x="168430" y="70395"/>
                  </a:lnTo>
                  <a:lnTo>
                    <a:pt x="208199" y="46035"/>
                  </a:lnTo>
                  <a:lnTo>
                    <a:pt x="250899" y="26447"/>
                  </a:lnTo>
                  <a:lnTo>
                    <a:pt x="296163" y="11999"/>
                  </a:lnTo>
                  <a:lnTo>
                    <a:pt x="343621" y="3061"/>
                  </a:lnTo>
                  <a:lnTo>
                    <a:pt x="392907" y="0"/>
                  </a:lnTo>
                  <a:lnTo>
                    <a:pt x="442192" y="3061"/>
                  </a:lnTo>
                  <a:lnTo>
                    <a:pt x="489650" y="11999"/>
                  </a:lnTo>
                  <a:lnTo>
                    <a:pt x="534914" y="26447"/>
                  </a:lnTo>
                  <a:lnTo>
                    <a:pt x="577614" y="46035"/>
                  </a:lnTo>
                  <a:lnTo>
                    <a:pt x="617382" y="70395"/>
                  </a:lnTo>
                  <a:lnTo>
                    <a:pt x="653851" y="99160"/>
                  </a:lnTo>
                  <a:lnTo>
                    <a:pt x="686652" y="131961"/>
                  </a:lnTo>
                  <a:lnTo>
                    <a:pt x="715417" y="168430"/>
                  </a:lnTo>
                  <a:lnTo>
                    <a:pt x="739778" y="208198"/>
                  </a:lnTo>
                  <a:lnTo>
                    <a:pt x="759366" y="250898"/>
                  </a:lnTo>
                  <a:lnTo>
                    <a:pt x="773814" y="296162"/>
                  </a:lnTo>
                  <a:lnTo>
                    <a:pt x="782752" y="343620"/>
                  </a:lnTo>
                  <a:lnTo>
                    <a:pt x="785813" y="392905"/>
                  </a:lnTo>
                  <a:lnTo>
                    <a:pt x="782752" y="442191"/>
                  </a:lnTo>
                  <a:lnTo>
                    <a:pt x="773814" y="489649"/>
                  </a:lnTo>
                  <a:lnTo>
                    <a:pt x="759366" y="534912"/>
                  </a:lnTo>
                  <a:lnTo>
                    <a:pt x="739778" y="577612"/>
                  </a:lnTo>
                  <a:lnTo>
                    <a:pt x="715417" y="617381"/>
                  </a:lnTo>
                  <a:lnTo>
                    <a:pt x="686652" y="653850"/>
                  </a:lnTo>
                  <a:lnTo>
                    <a:pt x="653851" y="686651"/>
                  </a:lnTo>
                  <a:lnTo>
                    <a:pt x="617382" y="715416"/>
                  </a:lnTo>
                  <a:lnTo>
                    <a:pt x="577614" y="739776"/>
                  </a:lnTo>
                  <a:lnTo>
                    <a:pt x="534914" y="759364"/>
                  </a:lnTo>
                  <a:lnTo>
                    <a:pt x="489650" y="773812"/>
                  </a:lnTo>
                  <a:lnTo>
                    <a:pt x="442192" y="782750"/>
                  </a:lnTo>
                  <a:lnTo>
                    <a:pt x="392907" y="785811"/>
                  </a:lnTo>
                  <a:lnTo>
                    <a:pt x="343621" y="782750"/>
                  </a:lnTo>
                  <a:lnTo>
                    <a:pt x="296163" y="773812"/>
                  </a:lnTo>
                  <a:lnTo>
                    <a:pt x="250899" y="759364"/>
                  </a:lnTo>
                  <a:lnTo>
                    <a:pt x="208199" y="739776"/>
                  </a:lnTo>
                  <a:lnTo>
                    <a:pt x="168430" y="715416"/>
                  </a:lnTo>
                  <a:lnTo>
                    <a:pt x="131961" y="686651"/>
                  </a:lnTo>
                  <a:lnTo>
                    <a:pt x="99160" y="653850"/>
                  </a:lnTo>
                  <a:lnTo>
                    <a:pt x="70395" y="617381"/>
                  </a:lnTo>
                  <a:lnTo>
                    <a:pt x="46035" y="577612"/>
                  </a:lnTo>
                  <a:lnTo>
                    <a:pt x="26447" y="534912"/>
                  </a:lnTo>
                  <a:lnTo>
                    <a:pt x="11999" y="489649"/>
                  </a:lnTo>
                  <a:lnTo>
                    <a:pt x="3061" y="442191"/>
                  </a:lnTo>
                  <a:lnTo>
                    <a:pt x="0" y="392905"/>
                  </a:lnTo>
                  <a:close/>
                </a:path>
              </a:pathLst>
            </a:custGeom>
            <a:ln w="25399">
              <a:solidFill>
                <a:srgbClr val="5C32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68148" y="2557189"/>
            <a:ext cx="402590" cy="5105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4610" marR="5080" indent="-42545">
              <a:lnSpc>
                <a:spcPts val="1900"/>
              </a:lnSpc>
              <a:spcBef>
                <a:spcPts val="180"/>
              </a:spcBef>
            </a:pPr>
            <a:r>
              <a:rPr sz="1600" spc="-20" dirty="0">
                <a:solidFill>
                  <a:srgbClr val="FFFFFF"/>
                </a:solidFill>
                <a:latin typeface="Cambria"/>
                <a:cs typeface="Cambria"/>
              </a:rPr>
              <a:t>Syst </a:t>
            </a:r>
            <a:r>
              <a:rPr sz="1600" spc="50" dirty="0">
                <a:solidFill>
                  <a:srgbClr val="FFFFFF"/>
                </a:solidFill>
                <a:latin typeface="Cambria"/>
                <a:cs typeface="Cambria"/>
              </a:rPr>
              <a:t>em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61033" y="3979748"/>
            <a:ext cx="811530" cy="811530"/>
            <a:chOff x="5961033" y="3979748"/>
            <a:chExt cx="811530" cy="811530"/>
          </a:xfrm>
        </p:grpSpPr>
        <p:sp>
          <p:nvSpPr>
            <p:cNvPr id="17" name="object 17"/>
            <p:cNvSpPr/>
            <p:nvPr/>
          </p:nvSpPr>
          <p:spPr>
            <a:xfrm>
              <a:off x="5973733" y="3992448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392906" y="0"/>
                  </a:moveTo>
                  <a:lnTo>
                    <a:pt x="343620" y="3061"/>
                  </a:lnTo>
                  <a:lnTo>
                    <a:pt x="296162" y="11999"/>
                  </a:lnTo>
                  <a:lnTo>
                    <a:pt x="250899" y="26446"/>
                  </a:lnTo>
                  <a:lnTo>
                    <a:pt x="208199" y="46034"/>
                  </a:lnTo>
                  <a:lnTo>
                    <a:pt x="168430" y="70395"/>
                  </a:lnTo>
                  <a:lnTo>
                    <a:pt x="131961" y="99160"/>
                  </a:lnTo>
                  <a:lnTo>
                    <a:pt x="99160" y="131960"/>
                  </a:lnTo>
                  <a:lnTo>
                    <a:pt x="70395" y="168429"/>
                  </a:lnTo>
                  <a:lnTo>
                    <a:pt x="46035" y="208198"/>
                  </a:lnTo>
                  <a:lnTo>
                    <a:pt x="26447" y="250898"/>
                  </a:lnTo>
                  <a:lnTo>
                    <a:pt x="11999" y="296161"/>
                  </a:lnTo>
                  <a:lnTo>
                    <a:pt x="3061" y="343619"/>
                  </a:lnTo>
                  <a:lnTo>
                    <a:pt x="0" y="392904"/>
                  </a:lnTo>
                  <a:lnTo>
                    <a:pt x="3061" y="442190"/>
                  </a:lnTo>
                  <a:lnTo>
                    <a:pt x="11999" y="489648"/>
                  </a:lnTo>
                  <a:lnTo>
                    <a:pt x="26447" y="534912"/>
                  </a:lnTo>
                  <a:lnTo>
                    <a:pt x="46035" y="577612"/>
                  </a:lnTo>
                  <a:lnTo>
                    <a:pt x="70395" y="617380"/>
                  </a:lnTo>
                  <a:lnTo>
                    <a:pt x="99160" y="653849"/>
                  </a:lnTo>
                  <a:lnTo>
                    <a:pt x="131961" y="686650"/>
                  </a:lnTo>
                  <a:lnTo>
                    <a:pt x="168430" y="715415"/>
                  </a:lnTo>
                  <a:lnTo>
                    <a:pt x="208199" y="739776"/>
                  </a:lnTo>
                  <a:lnTo>
                    <a:pt x="250899" y="759364"/>
                  </a:lnTo>
                  <a:lnTo>
                    <a:pt x="296162" y="773811"/>
                  </a:lnTo>
                  <a:lnTo>
                    <a:pt x="343620" y="782749"/>
                  </a:lnTo>
                  <a:lnTo>
                    <a:pt x="392906" y="785811"/>
                  </a:lnTo>
                  <a:lnTo>
                    <a:pt x="442191" y="782749"/>
                  </a:lnTo>
                  <a:lnTo>
                    <a:pt x="489650" y="773811"/>
                  </a:lnTo>
                  <a:lnTo>
                    <a:pt x="534913" y="759364"/>
                  </a:lnTo>
                  <a:lnTo>
                    <a:pt x="577613" y="739776"/>
                  </a:lnTo>
                  <a:lnTo>
                    <a:pt x="617382" y="715415"/>
                  </a:lnTo>
                  <a:lnTo>
                    <a:pt x="653851" y="686650"/>
                  </a:lnTo>
                  <a:lnTo>
                    <a:pt x="686652" y="653849"/>
                  </a:lnTo>
                  <a:lnTo>
                    <a:pt x="715417" y="617380"/>
                  </a:lnTo>
                  <a:lnTo>
                    <a:pt x="739778" y="577612"/>
                  </a:lnTo>
                  <a:lnTo>
                    <a:pt x="759366" y="534912"/>
                  </a:lnTo>
                  <a:lnTo>
                    <a:pt x="773813" y="489648"/>
                  </a:lnTo>
                  <a:lnTo>
                    <a:pt x="782752" y="442190"/>
                  </a:lnTo>
                  <a:lnTo>
                    <a:pt x="785813" y="392904"/>
                  </a:lnTo>
                  <a:lnTo>
                    <a:pt x="782752" y="343619"/>
                  </a:lnTo>
                  <a:lnTo>
                    <a:pt x="773813" y="296161"/>
                  </a:lnTo>
                  <a:lnTo>
                    <a:pt x="759366" y="250898"/>
                  </a:lnTo>
                  <a:lnTo>
                    <a:pt x="739778" y="208198"/>
                  </a:lnTo>
                  <a:lnTo>
                    <a:pt x="715417" y="168429"/>
                  </a:lnTo>
                  <a:lnTo>
                    <a:pt x="686652" y="131960"/>
                  </a:lnTo>
                  <a:lnTo>
                    <a:pt x="653851" y="99160"/>
                  </a:lnTo>
                  <a:lnTo>
                    <a:pt x="617382" y="70395"/>
                  </a:lnTo>
                  <a:lnTo>
                    <a:pt x="577613" y="46034"/>
                  </a:lnTo>
                  <a:lnTo>
                    <a:pt x="534913" y="26446"/>
                  </a:lnTo>
                  <a:lnTo>
                    <a:pt x="489650" y="11999"/>
                  </a:lnTo>
                  <a:lnTo>
                    <a:pt x="442191" y="3061"/>
                  </a:lnTo>
                  <a:lnTo>
                    <a:pt x="392906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3733" y="3992448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0" y="392905"/>
                  </a:moveTo>
                  <a:lnTo>
                    <a:pt x="3061" y="343620"/>
                  </a:lnTo>
                  <a:lnTo>
                    <a:pt x="11999" y="296162"/>
                  </a:lnTo>
                  <a:lnTo>
                    <a:pt x="26447" y="250898"/>
                  </a:lnTo>
                  <a:lnTo>
                    <a:pt x="46035" y="208198"/>
                  </a:lnTo>
                  <a:lnTo>
                    <a:pt x="70395" y="168430"/>
                  </a:lnTo>
                  <a:lnTo>
                    <a:pt x="99160" y="131961"/>
                  </a:lnTo>
                  <a:lnTo>
                    <a:pt x="131961" y="99160"/>
                  </a:lnTo>
                  <a:lnTo>
                    <a:pt x="168430" y="70395"/>
                  </a:lnTo>
                  <a:lnTo>
                    <a:pt x="208199" y="46035"/>
                  </a:lnTo>
                  <a:lnTo>
                    <a:pt x="250899" y="26447"/>
                  </a:lnTo>
                  <a:lnTo>
                    <a:pt x="296163" y="11999"/>
                  </a:lnTo>
                  <a:lnTo>
                    <a:pt x="343621" y="3061"/>
                  </a:lnTo>
                  <a:lnTo>
                    <a:pt x="392907" y="0"/>
                  </a:lnTo>
                  <a:lnTo>
                    <a:pt x="442192" y="3061"/>
                  </a:lnTo>
                  <a:lnTo>
                    <a:pt x="489650" y="11999"/>
                  </a:lnTo>
                  <a:lnTo>
                    <a:pt x="534914" y="26447"/>
                  </a:lnTo>
                  <a:lnTo>
                    <a:pt x="577614" y="46035"/>
                  </a:lnTo>
                  <a:lnTo>
                    <a:pt x="617382" y="70395"/>
                  </a:lnTo>
                  <a:lnTo>
                    <a:pt x="653851" y="99160"/>
                  </a:lnTo>
                  <a:lnTo>
                    <a:pt x="686652" y="131961"/>
                  </a:lnTo>
                  <a:lnTo>
                    <a:pt x="715417" y="168430"/>
                  </a:lnTo>
                  <a:lnTo>
                    <a:pt x="739778" y="208198"/>
                  </a:lnTo>
                  <a:lnTo>
                    <a:pt x="759366" y="250898"/>
                  </a:lnTo>
                  <a:lnTo>
                    <a:pt x="773814" y="296162"/>
                  </a:lnTo>
                  <a:lnTo>
                    <a:pt x="782752" y="343620"/>
                  </a:lnTo>
                  <a:lnTo>
                    <a:pt x="785813" y="392905"/>
                  </a:lnTo>
                  <a:lnTo>
                    <a:pt x="782752" y="442191"/>
                  </a:lnTo>
                  <a:lnTo>
                    <a:pt x="773814" y="489649"/>
                  </a:lnTo>
                  <a:lnTo>
                    <a:pt x="759366" y="534912"/>
                  </a:lnTo>
                  <a:lnTo>
                    <a:pt x="739778" y="577612"/>
                  </a:lnTo>
                  <a:lnTo>
                    <a:pt x="715417" y="617381"/>
                  </a:lnTo>
                  <a:lnTo>
                    <a:pt x="686652" y="653850"/>
                  </a:lnTo>
                  <a:lnTo>
                    <a:pt x="653851" y="686651"/>
                  </a:lnTo>
                  <a:lnTo>
                    <a:pt x="617382" y="715416"/>
                  </a:lnTo>
                  <a:lnTo>
                    <a:pt x="577614" y="739776"/>
                  </a:lnTo>
                  <a:lnTo>
                    <a:pt x="534914" y="759364"/>
                  </a:lnTo>
                  <a:lnTo>
                    <a:pt x="489650" y="773812"/>
                  </a:lnTo>
                  <a:lnTo>
                    <a:pt x="442192" y="782750"/>
                  </a:lnTo>
                  <a:lnTo>
                    <a:pt x="392907" y="785811"/>
                  </a:lnTo>
                  <a:lnTo>
                    <a:pt x="343621" y="782750"/>
                  </a:lnTo>
                  <a:lnTo>
                    <a:pt x="296163" y="773812"/>
                  </a:lnTo>
                  <a:lnTo>
                    <a:pt x="250899" y="759364"/>
                  </a:lnTo>
                  <a:lnTo>
                    <a:pt x="208199" y="739776"/>
                  </a:lnTo>
                  <a:lnTo>
                    <a:pt x="168430" y="715416"/>
                  </a:lnTo>
                  <a:lnTo>
                    <a:pt x="131961" y="686651"/>
                  </a:lnTo>
                  <a:lnTo>
                    <a:pt x="99160" y="653850"/>
                  </a:lnTo>
                  <a:lnTo>
                    <a:pt x="70395" y="617381"/>
                  </a:lnTo>
                  <a:lnTo>
                    <a:pt x="46035" y="577612"/>
                  </a:lnTo>
                  <a:lnTo>
                    <a:pt x="26447" y="534912"/>
                  </a:lnTo>
                  <a:lnTo>
                    <a:pt x="11999" y="489649"/>
                  </a:lnTo>
                  <a:lnTo>
                    <a:pt x="3061" y="442191"/>
                  </a:lnTo>
                  <a:lnTo>
                    <a:pt x="0" y="392905"/>
                  </a:lnTo>
                  <a:close/>
                </a:path>
              </a:pathLst>
            </a:custGeom>
            <a:ln w="25399">
              <a:solidFill>
                <a:srgbClr val="5C32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212251" y="4250734"/>
            <a:ext cx="3143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Joe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818408" y="3979748"/>
            <a:ext cx="811530" cy="811530"/>
            <a:chOff x="7818408" y="3979748"/>
            <a:chExt cx="811530" cy="811530"/>
          </a:xfrm>
        </p:grpSpPr>
        <p:sp>
          <p:nvSpPr>
            <p:cNvPr id="21" name="object 21"/>
            <p:cNvSpPr/>
            <p:nvPr/>
          </p:nvSpPr>
          <p:spPr>
            <a:xfrm>
              <a:off x="7831108" y="3992448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392906" y="0"/>
                  </a:moveTo>
                  <a:lnTo>
                    <a:pt x="343620" y="3061"/>
                  </a:lnTo>
                  <a:lnTo>
                    <a:pt x="296162" y="11999"/>
                  </a:lnTo>
                  <a:lnTo>
                    <a:pt x="250899" y="26446"/>
                  </a:lnTo>
                  <a:lnTo>
                    <a:pt x="208199" y="46034"/>
                  </a:lnTo>
                  <a:lnTo>
                    <a:pt x="168430" y="70395"/>
                  </a:lnTo>
                  <a:lnTo>
                    <a:pt x="131961" y="99160"/>
                  </a:lnTo>
                  <a:lnTo>
                    <a:pt x="99160" y="131960"/>
                  </a:lnTo>
                  <a:lnTo>
                    <a:pt x="70395" y="168429"/>
                  </a:lnTo>
                  <a:lnTo>
                    <a:pt x="46035" y="208198"/>
                  </a:lnTo>
                  <a:lnTo>
                    <a:pt x="26447" y="250898"/>
                  </a:lnTo>
                  <a:lnTo>
                    <a:pt x="11999" y="296161"/>
                  </a:lnTo>
                  <a:lnTo>
                    <a:pt x="3061" y="343619"/>
                  </a:lnTo>
                  <a:lnTo>
                    <a:pt x="0" y="392904"/>
                  </a:lnTo>
                  <a:lnTo>
                    <a:pt x="3061" y="442190"/>
                  </a:lnTo>
                  <a:lnTo>
                    <a:pt x="11999" y="489648"/>
                  </a:lnTo>
                  <a:lnTo>
                    <a:pt x="26447" y="534912"/>
                  </a:lnTo>
                  <a:lnTo>
                    <a:pt x="46035" y="577612"/>
                  </a:lnTo>
                  <a:lnTo>
                    <a:pt x="70395" y="617380"/>
                  </a:lnTo>
                  <a:lnTo>
                    <a:pt x="99160" y="653849"/>
                  </a:lnTo>
                  <a:lnTo>
                    <a:pt x="131961" y="686650"/>
                  </a:lnTo>
                  <a:lnTo>
                    <a:pt x="168430" y="715415"/>
                  </a:lnTo>
                  <a:lnTo>
                    <a:pt x="208199" y="739776"/>
                  </a:lnTo>
                  <a:lnTo>
                    <a:pt x="250899" y="759364"/>
                  </a:lnTo>
                  <a:lnTo>
                    <a:pt x="296162" y="773811"/>
                  </a:lnTo>
                  <a:lnTo>
                    <a:pt x="343620" y="782749"/>
                  </a:lnTo>
                  <a:lnTo>
                    <a:pt x="392906" y="785811"/>
                  </a:lnTo>
                  <a:lnTo>
                    <a:pt x="442191" y="782749"/>
                  </a:lnTo>
                  <a:lnTo>
                    <a:pt x="489650" y="773811"/>
                  </a:lnTo>
                  <a:lnTo>
                    <a:pt x="534913" y="759364"/>
                  </a:lnTo>
                  <a:lnTo>
                    <a:pt x="577613" y="739776"/>
                  </a:lnTo>
                  <a:lnTo>
                    <a:pt x="617382" y="715415"/>
                  </a:lnTo>
                  <a:lnTo>
                    <a:pt x="653851" y="686650"/>
                  </a:lnTo>
                  <a:lnTo>
                    <a:pt x="686652" y="653849"/>
                  </a:lnTo>
                  <a:lnTo>
                    <a:pt x="715417" y="617380"/>
                  </a:lnTo>
                  <a:lnTo>
                    <a:pt x="739778" y="577612"/>
                  </a:lnTo>
                  <a:lnTo>
                    <a:pt x="759366" y="534912"/>
                  </a:lnTo>
                  <a:lnTo>
                    <a:pt x="773813" y="489648"/>
                  </a:lnTo>
                  <a:lnTo>
                    <a:pt x="782752" y="442190"/>
                  </a:lnTo>
                  <a:lnTo>
                    <a:pt x="785813" y="392904"/>
                  </a:lnTo>
                  <a:lnTo>
                    <a:pt x="782752" y="343619"/>
                  </a:lnTo>
                  <a:lnTo>
                    <a:pt x="773813" y="296161"/>
                  </a:lnTo>
                  <a:lnTo>
                    <a:pt x="759366" y="250898"/>
                  </a:lnTo>
                  <a:lnTo>
                    <a:pt x="739778" y="208198"/>
                  </a:lnTo>
                  <a:lnTo>
                    <a:pt x="715417" y="168429"/>
                  </a:lnTo>
                  <a:lnTo>
                    <a:pt x="686652" y="131960"/>
                  </a:lnTo>
                  <a:lnTo>
                    <a:pt x="653851" y="99160"/>
                  </a:lnTo>
                  <a:lnTo>
                    <a:pt x="617382" y="70395"/>
                  </a:lnTo>
                  <a:lnTo>
                    <a:pt x="577613" y="46034"/>
                  </a:lnTo>
                  <a:lnTo>
                    <a:pt x="534913" y="26446"/>
                  </a:lnTo>
                  <a:lnTo>
                    <a:pt x="489650" y="11999"/>
                  </a:lnTo>
                  <a:lnTo>
                    <a:pt x="442191" y="3061"/>
                  </a:lnTo>
                  <a:lnTo>
                    <a:pt x="392906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31108" y="3992448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0" y="392905"/>
                  </a:moveTo>
                  <a:lnTo>
                    <a:pt x="3061" y="343620"/>
                  </a:lnTo>
                  <a:lnTo>
                    <a:pt x="11999" y="296162"/>
                  </a:lnTo>
                  <a:lnTo>
                    <a:pt x="26447" y="250898"/>
                  </a:lnTo>
                  <a:lnTo>
                    <a:pt x="46035" y="208198"/>
                  </a:lnTo>
                  <a:lnTo>
                    <a:pt x="70395" y="168430"/>
                  </a:lnTo>
                  <a:lnTo>
                    <a:pt x="99160" y="131961"/>
                  </a:lnTo>
                  <a:lnTo>
                    <a:pt x="131961" y="99160"/>
                  </a:lnTo>
                  <a:lnTo>
                    <a:pt x="168430" y="70395"/>
                  </a:lnTo>
                  <a:lnTo>
                    <a:pt x="208199" y="46035"/>
                  </a:lnTo>
                  <a:lnTo>
                    <a:pt x="250899" y="26447"/>
                  </a:lnTo>
                  <a:lnTo>
                    <a:pt x="296162" y="11999"/>
                  </a:lnTo>
                  <a:lnTo>
                    <a:pt x="343621" y="3061"/>
                  </a:lnTo>
                  <a:lnTo>
                    <a:pt x="392906" y="0"/>
                  </a:lnTo>
                  <a:lnTo>
                    <a:pt x="442192" y="3061"/>
                  </a:lnTo>
                  <a:lnTo>
                    <a:pt x="489650" y="11999"/>
                  </a:lnTo>
                  <a:lnTo>
                    <a:pt x="534914" y="26447"/>
                  </a:lnTo>
                  <a:lnTo>
                    <a:pt x="577614" y="46035"/>
                  </a:lnTo>
                  <a:lnTo>
                    <a:pt x="617382" y="70395"/>
                  </a:lnTo>
                  <a:lnTo>
                    <a:pt x="653851" y="99160"/>
                  </a:lnTo>
                  <a:lnTo>
                    <a:pt x="686653" y="131961"/>
                  </a:lnTo>
                  <a:lnTo>
                    <a:pt x="715417" y="168430"/>
                  </a:lnTo>
                  <a:lnTo>
                    <a:pt x="739778" y="208198"/>
                  </a:lnTo>
                  <a:lnTo>
                    <a:pt x="759366" y="250898"/>
                  </a:lnTo>
                  <a:lnTo>
                    <a:pt x="773814" y="296162"/>
                  </a:lnTo>
                  <a:lnTo>
                    <a:pt x="782752" y="343620"/>
                  </a:lnTo>
                  <a:lnTo>
                    <a:pt x="785813" y="392905"/>
                  </a:lnTo>
                  <a:lnTo>
                    <a:pt x="782752" y="442191"/>
                  </a:lnTo>
                  <a:lnTo>
                    <a:pt x="773814" y="489649"/>
                  </a:lnTo>
                  <a:lnTo>
                    <a:pt x="759366" y="534912"/>
                  </a:lnTo>
                  <a:lnTo>
                    <a:pt x="739778" y="577612"/>
                  </a:lnTo>
                  <a:lnTo>
                    <a:pt x="715417" y="617381"/>
                  </a:lnTo>
                  <a:lnTo>
                    <a:pt x="686653" y="653850"/>
                  </a:lnTo>
                  <a:lnTo>
                    <a:pt x="653851" y="686651"/>
                  </a:lnTo>
                  <a:lnTo>
                    <a:pt x="617382" y="715416"/>
                  </a:lnTo>
                  <a:lnTo>
                    <a:pt x="577614" y="739776"/>
                  </a:lnTo>
                  <a:lnTo>
                    <a:pt x="534914" y="759364"/>
                  </a:lnTo>
                  <a:lnTo>
                    <a:pt x="489650" y="773812"/>
                  </a:lnTo>
                  <a:lnTo>
                    <a:pt x="442192" y="782750"/>
                  </a:lnTo>
                  <a:lnTo>
                    <a:pt x="392906" y="785811"/>
                  </a:lnTo>
                  <a:lnTo>
                    <a:pt x="343621" y="782750"/>
                  </a:lnTo>
                  <a:lnTo>
                    <a:pt x="296162" y="773812"/>
                  </a:lnTo>
                  <a:lnTo>
                    <a:pt x="250899" y="759364"/>
                  </a:lnTo>
                  <a:lnTo>
                    <a:pt x="208199" y="739776"/>
                  </a:lnTo>
                  <a:lnTo>
                    <a:pt x="168430" y="715416"/>
                  </a:lnTo>
                  <a:lnTo>
                    <a:pt x="131961" y="686651"/>
                  </a:lnTo>
                  <a:lnTo>
                    <a:pt x="99160" y="653850"/>
                  </a:lnTo>
                  <a:lnTo>
                    <a:pt x="70395" y="617381"/>
                  </a:lnTo>
                  <a:lnTo>
                    <a:pt x="46035" y="577612"/>
                  </a:lnTo>
                  <a:lnTo>
                    <a:pt x="26447" y="534912"/>
                  </a:lnTo>
                  <a:lnTo>
                    <a:pt x="11999" y="489649"/>
                  </a:lnTo>
                  <a:lnTo>
                    <a:pt x="3061" y="442191"/>
                  </a:lnTo>
                  <a:lnTo>
                    <a:pt x="0" y="392905"/>
                  </a:lnTo>
                  <a:close/>
                </a:path>
              </a:pathLst>
            </a:custGeom>
            <a:ln w="25399">
              <a:solidFill>
                <a:srgbClr val="5C32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068334" y="4250734"/>
            <a:ext cx="3168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mbria"/>
                <a:cs typeface="Cambria"/>
              </a:rPr>
              <a:t>Art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61033" y="5551373"/>
            <a:ext cx="811530" cy="811530"/>
            <a:chOff x="5961033" y="5551373"/>
            <a:chExt cx="811530" cy="811530"/>
          </a:xfrm>
        </p:grpSpPr>
        <p:sp>
          <p:nvSpPr>
            <p:cNvPr id="25" name="object 25"/>
            <p:cNvSpPr/>
            <p:nvPr/>
          </p:nvSpPr>
          <p:spPr>
            <a:xfrm>
              <a:off x="5973733" y="556407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392906" y="0"/>
                  </a:moveTo>
                  <a:lnTo>
                    <a:pt x="343620" y="3061"/>
                  </a:lnTo>
                  <a:lnTo>
                    <a:pt x="296162" y="11999"/>
                  </a:lnTo>
                  <a:lnTo>
                    <a:pt x="250899" y="26446"/>
                  </a:lnTo>
                  <a:lnTo>
                    <a:pt x="208199" y="46034"/>
                  </a:lnTo>
                  <a:lnTo>
                    <a:pt x="168430" y="70395"/>
                  </a:lnTo>
                  <a:lnTo>
                    <a:pt x="131961" y="99160"/>
                  </a:lnTo>
                  <a:lnTo>
                    <a:pt x="99160" y="131960"/>
                  </a:lnTo>
                  <a:lnTo>
                    <a:pt x="70395" y="168429"/>
                  </a:lnTo>
                  <a:lnTo>
                    <a:pt x="46035" y="208198"/>
                  </a:lnTo>
                  <a:lnTo>
                    <a:pt x="26447" y="250898"/>
                  </a:lnTo>
                  <a:lnTo>
                    <a:pt x="11999" y="296161"/>
                  </a:lnTo>
                  <a:lnTo>
                    <a:pt x="3061" y="343619"/>
                  </a:lnTo>
                  <a:lnTo>
                    <a:pt x="0" y="392904"/>
                  </a:lnTo>
                  <a:lnTo>
                    <a:pt x="3061" y="442190"/>
                  </a:lnTo>
                  <a:lnTo>
                    <a:pt x="11999" y="489648"/>
                  </a:lnTo>
                  <a:lnTo>
                    <a:pt x="26447" y="534912"/>
                  </a:lnTo>
                  <a:lnTo>
                    <a:pt x="46035" y="577612"/>
                  </a:lnTo>
                  <a:lnTo>
                    <a:pt x="70395" y="617380"/>
                  </a:lnTo>
                  <a:lnTo>
                    <a:pt x="99160" y="653849"/>
                  </a:lnTo>
                  <a:lnTo>
                    <a:pt x="131961" y="686650"/>
                  </a:lnTo>
                  <a:lnTo>
                    <a:pt x="168430" y="715415"/>
                  </a:lnTo>
                  <a:lnTo>
                    <a:pt x="208199" y="739776"/>
                  </a:lnTo>
                  <a:lnTo>
                    <a:pt x="250899" y="759364"/>
                  </a:lnTo>
                  <a:lnTo>
                    <a:pt x="296162" y="773811"/>
                  </a:lnTo>
                  <a:lnTo>
                    <a:pt x="343620" y="782749"/>
                  </a:lnTo>
                  <a:lnTo>
                    <a:pt x="392906" y="785811"/>
                  </a:lnTo>
                  <a:lnTo>
                    <a:pt x="442191" y="782749"/>
                  </a:lnTo>
                  <a:lnTo>
                    <a:pt x="489650" y="773811"/>
                  </a:lnTo>
                  <a:lnTo>
                    <a:pt x="534913" y="759364"/>
                  </a:lnTo>
                  <a:lnTo>
                    <a:pt x="577613" y="739776"/>
                  </a:lnTo>
                  <a:lnTo>
                    <a:pt x="617382" y="715415"/>
                  </a:lnTo>
                  <a:lnTo>
                    <a:pt x="653851" y="686650"/>
                  </a:lnTo>
                  <a:lnTo>
                    <a:pt x="686652" y="653849"/>
                  </a:lnTo>
                  <a:lnTo>
                    <a:pt x="715417" y="617380"/>
                  </a:lnTo>
                  <a:lnTo>
                    <a:pt x="739778" y="577612"/>
                  </a:lnTo>
                  <a:lnTo>
                    <a:pt x="759366" y="534912"/>
                  </a:lnTo>
                  <a:lnTo>
                    <a:pt x="773813" y="489648"/>
                  </a:lnTo>
                  <a:lnTo>
                    <a:pt x="782752" y="442190"/>
                  </a:lnTo>
                  <a:lnTo>
                    <a:pt x="785813" y="392904"/>
                  </a:lnTo>
                  <a:lnTo>
                    <a:pt x="782752" y="343619"/>
                  </a:lnTo>
                  <a:lnTo>
                    <a:pt x="773813" y="296161"/>
                  </a:lnTo>
                  <a:lnTo>
                    <a:pt x="759366" y="250898"/>
                  </a:lnTo>
                  <a:lnTo>
                    <a:pt x="739778" y="208198"/>
                  </a:lnTo>
                  <a:lnTo>
                    <a:pt x="715417" y="168429"/>
                  </a:lnTo>
                  <a:lnTo>
                    <a:pt x="686652" y="131960"/>
                  </a:lnTo>
                  <a:lnTo>
                    <a:pt x="653851" y="99160"/>
                  </a:lnTo>
                  <a:lnTo>
                    <a:pt x="617382" y="70395"/>
                  </a:lnTo>
                  <a:lnTo>
                    <a:pt x="577613" y="46034"/>
                  </a:lnTo>
                  <a:lnTo>
                    <a:pt x="534913" y="26446"/>
                  </a:lnTo>
                  <a:lnTo>
                    <a:pt x="489650" y="11999"/>
                  </a:lnTo>
                  <a:lnTo>
                    <a:pt x="442191" y="3061"/>
                  </a:lnTo>
                  <a:lnTo>
                    <a:pt x="392906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73733" y="556407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0" y="392905"/>
                  </a:moveTo>
                  <a:lnTo>
                    <a:pt x="3061" y="343620"/>
                  </a:lnTo>
                  <a:lnTo>
                    <a:pt x="11999" y="296162"/>
                  </a:lnTo>
                  <a:lnTo>
                    <a:pt x="26447" y="250898"/>
                  </a:lnTo>
                  <a:lnTo>
                    <a:pt x="46035" y="208198"/>
                  </a:lnTo>
                  <a:lnTo>
                    <a:pt x="70395" y="168430"/>
                  </a:lnTo>
                  <a:lnTo>
                    <a:pt x="99160" y="131961"/>
                  </a:lnTo>
                  <a:lnTo>
                    <a:pt x="131961" y="99160"/>
                  </a:lnTo>
                  <a:lnTo>
                    <a:pt x="168430" y="70395"/>
                  </a:lnTo>
                  <a:lnTo>
                    <a:pt x="208199" y="46035"/>
                  </a:lnTo>
                  <a:lnTo>
                    <a:pt x="250899" y="26447"/>
                  </a:lnTo>
                  <a:lnTo>
                    <a:pt x="296163" y="11999"/>
                  </a:lnTo>
                  <a:lnTo>
                    <a:pt x="343621" y="3061"/>
                  </a:lnTo>
                  <a:lnTo>
                    <a:pt x="392907" y="0"/>
                  </a:lnTo>
                  <a:lnTo>
                    <a:pt x="442192" y="3061"/>
                  </a:lnTo>
                  <a:lnTo>
                    <a:pt x="489650" y="11999"/>
                  </a:lnTo>
                  <a:lnTo>
                    <a:pt x="534914" y="26447"/>
                  </a:lnTo>
                  <a:lnTo>
                    <a:pt x="577614" y="46035"/>
                  </a:lnTo>
                  <a:lnTo>
                    <a:pt x="617382" y="70395"/>
                  </a:lnTo>
                  <a:lnTo>
                    <a:pt x="653851" y="99160"/>
                  </a:lnTo>
                  <a:lnTo>
                    <a:pt x="686652" y="131961"/>
                  </a:lnTo>
                  <a:lnTo>
                    <a:pt x="715417" y="168430"/>
                  </a:lnTo>
                  <a:lnTo>
                    <a:pt x="739778" y="208198"/>
                  </a:lnTo>
                  <a:lnTo>
                    <a:pt x="759366" y="250898"/>
                  </a:lnTo>
                  <a:lnTo>
                    <a:pt x="773814" y="296162"/>
                  </a:lnTo>
                  <a:lnTo>
                    <a:pt x="782752" y="343620"/>
                  </a:lnTo>
                  <a:lnTo>
                    <a:pt x="785813" y="392905"/>
                  </a:lnTo>
                  <a:lnTo>
                    <a:pt x="782752" y="442191"/>
                  </a:lnTo>
                  <a:lnTo>
                    <a:pt x="773814" y="489649"/>
                  </a:lnTo>
                  <a:lnTo>
                    <a:pt x="759366" y="534912"/>
                  </a:lnTo>
                  <a:lnTo>
                    <a:pt x="739778" y="577612"/>
                  </a:lnTo>
                  <a:lnTo>
                    <a:pt x="715417" y="617381"/>
                  </a:lnTo>
                  <a:lnTo>
                    <a:pt x="686652" y="653850"/>
                  </a:lnTo>
                  <a:lnTo>
                    <a:pt x="653851" y="686651"/>
                  </a:lnTo>
                  <a:lnTo>
                    <a:pt x="617382" y="715416"/>
                  </a:lnTo>
                  <a:lnTo>
                    <a:pt x="577614" y="739776"/>
                  </a:lnTo>
                  <a:lnTo>
                    <a:pt x="534914" y="759364"/>
                  </a:lnTo>
                  <a:lnTo>
                    <a:pt x="489650" y="773812"/>
                  </a:lnTo>
                  <a:lnTo>
                    <a:pt x="442192" y="782750"/>
                  </a:lnTo>
                  <a:lnTo>
                    <a:pt x="392907" y="785811"/>
                  </a:lnTo>
                  <a:lnTo>
                    <a:pt x="343621" y="782750"/>
                  </a:lnTo>
                  <a:lnTo>
                    <a:pt x="296163" y="773812"/>
                  </a:lnTo>
                  <a:lnTo>
                    <a:pt x="250899" y="759364"/>
                  </a:lnTo>
                  <a:lnTo>
                    <a:pt x="208199" y="739776"/>
                  </a:lnTo>
                  <a:lnTo>
                    <a:pt x="168430" y="715416"/>
                  </a:lnTo>
                  <a:lnTo>
                    <a:pt x="131961" y="686651"/>
                  </a:lnTo>
                  <a:lnTo>
                    <a:pt x="99160" y="653850"/>
                  </a:lnTo>
                  <a:lnTo>
                    <a:pt x="70395" y="617381"/>
                  </a:lnTo>
                  <a:lnTo>
                    <a:pt x="46035" y="577612"/>
                  </a:lnTo>
                  <a:lnTo>
                    <a:pt x="26447" y="534912"/>
                  </a:lnTo>
                  <a:lnTo>
                    <a:pt x="11999" y="489649"/>
                  </a:lnTo>
                  <a:lnTo>
                    <a:pt x="3061" y="442191"/>
                  </a:lnTo>
                  <a:lnTo>
                    <a:pt x="0" y="392905"/>
                  </a:lnTo>
                  <a:close/>
                </a:path>
              </a:pathLst>
            </a:custGeom>
            <a:ln w="25399">
              <a:solidFill>
                <a:srgbClr val="5C32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195681" y="5822358"/>
            <a:ext cx="3473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05" dirty="0">
                <a:solidFill>
                  <a:srgbClr val="FFFFFF"/>
                </a:solidFill>
                <a:latin typeface="Cambria"/>
                <a:cs typeface="Cambria"/>
              </a:rPr>
              <a:t>Cal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818408" y="5551373"/>
            <a:ext cx="811530" cy="811530"/>
            <a:chOff x="7818408" y="5551373"/>
            <a:chExt cx="811530" cy="811530"/>
          </a:xfrm>
        </p:grpSpPr>
        <p:sp>
          <p:nvSpPr>
            <p:cNvPr id="29" name="object 29"/>
            <p:cNvSpPr/>
            <p:nvPr/>
          </p:nvSpPr>
          <p:spPr>
            <a:xfrm>
              <a:off x="7831108" y="556407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392906" y="0"/>
                  </a:moveTo>
                  <a:lnTo>
                    <a:pt x="343620" y="3061"/>
                  </a:lnTo>
                  <a:lnTo>
                    <a:pt x="296162" y="11999"/>
                  </a:lnTo>
                  <a:lnTo>
                    <a:pt x="250899" y="26446"/>
                  </a:lnTo>
                  <a:lnTo>
                    <a:pt x="208199" y="46034"/>
                  </a:lnTo>
                  <a:lnTo>
                    <a:pt x="168430" y="70395"/>
                  </a:lnTo>
                  <a:lnTo>
                    <a:pt x="131961" y="99160"/>
                  </a:lnTo>
                  <a:lnTo>
                    <a:pt x="99160" y="131960"/>
                  </a:lnTo>
                  <a:lnTo>
                    <a:pt x="70395" y="168429"/>
                  </a:lnTo>
                  <a:lnTo>
                    <a:pt x="46035" y="208198"/>
                  </a:lnTo>
                  <a:lnTo>
                    <a:pt x="26447" y="250898"/>
                  </a:lnTo>
                  <a:lnTo>
                    <a:pt x="11999" y="296161"/>
                  </a:lnTo>
                  <a:lnTo>
                    <a:pt x="3061" y="343619"/>
                  </a:lnTo>
                  <a:lnTo>
                    <a:pt x="0" y="392904"/>
                  </a:lnTo>
                  <a:lnTo>
                    <a:pt x="3061" y="442190"/>
                  </a:lnTo>
                  <a:lnTo>
                    <a:pt x="11999" y="489648"/>
                  </a:lnTo>
                  <a:lnTo>
                    <a:pt x="26447" y="534912"/>
                  </a:lnTo>
                  <a:lnTo>
                    <a:pt x="46035" y="577612"/>
                  </a:lnTo>
                  <a:lnTo>
                    <a:pt x="70395" y="617380"/>
                  </a:lnTo>
                  <a:lnTo>
                    <a:pt x="99160" y="653849"/>
                  </a:lnTo>
                  <a:lnTo>
                    <a:pt x="131961" y="686650"/>
                  </a:lnTo>
                  <a:lnTo>
                    <a:pt x="168430" y="715415"/>
                  </a:lnTo>
                  <a:lnTo>
                    <a:pt x="208199" y="739776"/>
                  </a:lnTo>
                  <a:lnTo>
                    <a:pt x="250899" y="759364"/>
                  </a:lnTo>
                  <a:lnTo>
                    <a:pt x="296162" y="773811"/>
                  </a:lnTo>
                  <a:lnTo>
                    <a:pt x="343620" y="782749"/>
                  </a:lnTo>
                  <a:lnTo>
                    <a:pt x="392906" y="785811"/>
                  </a:lnTo>
                  <a:lnTo>
                    <a:pt x="442191" y="782749"/>
                  </a:lnTo>
                  <a:lnTo>
                    <a:pt x="489650" y="773811"/>
                  </a:lnTo>
                  <a:lnTo>
                    <a:pt x="534913" y="759364"/>
                  </a:lnTo>
                  <a:lnTo>
                    <a:pt x="577613" y="739776"/>
                  </a:lnTo>
                  <a:lnTo>
                    <a:pt x="617382" y="715415"/>
                  </a:lnTo>
                  <a:lnTo>
                    <a:pt x="653851" y="686650"/>
                  </a:lnTo>
                  <a:lnTo>
                    <a:pt x="686652" y="653849"/>
                  </a:lnTo>
                  <a:lnTo>
                    <a:pt x="715417" y="617380"/>
                  </a:lnTo>
                  <a:lnTo>
                    <a:pt x="739778" y="577612"/>
                  </a:lnTo>
                  <a:lnTo>
                    <a:pt x="759366" y="534912"/>
                  </a:lnTo>
                  <a:lnTo>
                    <a:pt x="773813" y="489648"/>
                  </a:lnTo>
                  <a:lnTo>
                    <a:pt x="782752" y="442190"/>
                  </a:lnTo>
                  <a:lnTo>
                    <a:pt x="785813" y="392904"/>
                  </a:lnTo>
                  <a:lnTo>
                    <a:pt x="782752" y="343619"/>
                  </a:lnTo>
                  <a:lnTo>
                    <a:pt x="773813" y="296161"/>
                  </a:lnTo>
                  <a:lnTo>
                    <a:pt x="759366" y="250898"/>
                  </a:lnTo>
                  <a:lnTo>
                    <a:pt x="739778" y="208198"/>
                  </a:lnTo>
                  <a:lnTo>
                    <a:pt x="715417" y="168429"/>
                  </a:lnTo>
                  <a:lnTo>
                    <a:pt x="686652" y="131960"/>
                  </a:lnTo>
                  <a:lnTo>
                    <a:pt x="653851" y="99160"/>
                  </a:lnTo>
                  <a:lnTo>
                    <a:pt x="617382" y="70395"/>
                  </a:lnTo>
                  <a:lnTo>
                    <a:pt x="577613" y="46034"/>
                  </a:lnTo>
                  <a:lnTo>
                    <a:pt x="534913" y="26446"/>
                  </a:lnTo>
                  <a:lnTo>
                    <a:pt x="489650" y="11999"/>
                  </a:lnTo>
                  <a:lnTo>
                    <a:pt x="442191" y="3061"/>
                  </a:lnTo>
                  <a:lnTo>
                    <a:pt x="392906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831108" y="5564073"/>
              <a:ext cx="786130" cy="786130"/>
            </a:xfrm>
            <a:custGeom>
              <a:avLst/>
              <a:gdLst/>
              <a:ahLst/>
              <a:cxnLst/>
              <a:rect l="l" t="t" r="r" b="b"/>
              <a:pathLst>
                <a:path w="786129" h="786129">
                  <a:moveTo>
                    <a:pt x="0" y="392905"/>
                  </a:moveTo>
                  <a:lnTo>
                    <a:pt x="3061" y="343620"/>
                  </a:lnTo>
                  <a:lnTo>
                    <a:pt x="11999" y="296162"/>
                  </a:lnTo>
                  <a:lnTo>
                    <a:pt x="26447" y="250898"/>
                  </a:lnTo>
                  <a:lnTo>
                    <a:pt x="46035" y="208198"/>
                  </a:lnTo>
                  <a:lnTo>
                    <a:pt x="70395" y="168430"/>
                  </a:lnTo>
                  <a:lnTo>
                    <a:pt x="99160" y="131961"/>
                  </a:lnTo>
                  <a:lnTo>
                    <a:pt x="131961" y="99160"/>
                  </a:lnTo>
                  <a:lnTo>
                    <a:pt x="168430" y="70395"/>
                  </a:lnTo>
                  <a:lnTo>
                    <a:pt x="208199" y="46035"/>
                  </a:lnTo>
                  <a:lnTo>
                    <a:pt x="250899" y="26447"/>
                  </a:lnTo>
                  <a:lnTo>
                    <a:pt x="296162" y="11999"/>
                  </a:lnTo>
                  <a:lnTo>
                    <a:pt x="343621" y="3061"/>
                  </a:lnTo>
                  <a:lnTo>
                    <a:pt x="392906" y="0"/>
                  </a:lnTo>
                  <a:lnTo>
                    <a:pt x="442192" y="3061"/>
                  </a:lnTo>
                  <a:lnTo>
                    <a:pt x="489650" y="11999"/>
                  </a:lnTo>
                  <a:lnTo>
                    <a:pt x="534914" y="26447"/>
                  </a:lnTo>
                  <a:lnTo>
                    <a:pt x="577614" y="46035"/>
                  </a:lnTo>
                  <a:lnTo>
                    <a:pt x="617382" y="70395"/>
                  </a:lnTo>
                  <a:lnTo>
                    <a:pt x="653851" y="99160"/>
                  </a:lnTo>
                  <a:lnTo>
                    <a:pt x="686653" y="131961"/>
                  </a:lnTo>
                  <a:lnTo>
                    <a:pt x="715417" y="168430"/>
                  </a:lnTo>
                  <a:lnTo>
                    <a:pt x="739778" y="208198"/>
                  </a:lnTo>
                  <a:lnTo>
                    <a:pt x="759366" y="250898"/>
                  </a:lnTo>
                  <a:lnTo>
                    <a:pt x="773814" y="296162"/>
                  </a:lnTo>
                  <a:lnTo>
                    <a:pt x="782752" y="343620"/>
                  </a:lnTo>
                  <a:lnTo>
                    <a:pt x="785813" y="392905"/>
                  </a:lnTo>
                  <a:lnTo>
                    <a:pt x="782752" y="442191"/>
                  </a:lnTo>
                  <a:lnTo>
                    <a:pt x="773814" y="489649"/>
                  </a:lnTo>
                  <a:lnTo>
                    <a:pt x="759366" y="534912"/>
                  </a:lnTo>
                  <a:lnTo>
                    <a:pt x="739778" y="577612"/>
                  </a:lnTo>
                  <a:lnTo>
                    <a:pt x="715417" y="617381"/>
                  </a:lnTo>
                  <a:lnTo>
                    <a:pt x="686653" y="653850"/>
                  </a:lnTo>
                  <a:lnTo>
                    <a:pt x="653851" y="686651"/>
                  </a:lnTo>
                  <a:lnTo>
                    <a:pt x="617382" y="715416"/>
                  </a:lnTo>
                  <a:lnTo>
                    <a:pt x="577614" y="739776"/>
                  </a:lnTo>
                  <a:lnTo>
                    <a:pt x="534914" y="759364"/>
                  </a:lnTo>
                  <a:lnTo>
                    <a:pt x="489650" y="773812"/>
                  </a:lnTo>
                  <a:lnTo>
                    <a:pt x="442192" y="782750"/>
                  </a:lnTo>
                  <a:lnTo>
                    <a:pt x="392906" y="785811"/>
                  </a:lnTo>
                  <a:lnTo>
                    <a:pt x="343621" y="782750"/>
                  </a:lnTo>
                  <a:lnTo>
                    <a:pt x="296162" y="773812"/>
                  </a:lnTo>
                  <a:lnTo>
                    <a:pt x="250899" y="759364"/>
                  </a:lnTo>
                  <a:lnTo>
                    <a:pt x="208199" y="739776"/>
                  </a:lnTo>
                  <a:lnTo>
                    <a:pt x="168430" y="715416"/>
                  </a:lnTo>
                  <a:lnTo>
                    <a:pt x="131961" y="686651"/>
                  </a:lnTo>
                  <a:lnTo>
                    <a:pt x="99160" y="653850"/>
                  </a:lnTo>
                  <a:lnTo>
                    <a:pt x="70395" y="617381"/>
                  </a:lnTo>
                  <a:lnTo>
                    <a:pt x="46035" y="577612"/>
                  </a:lnTo>
                  <a:lnTo>
                    <a:pt x="26447" y="534912"/>
                  </a:lnTo>
                  <a:lnTo>
                    <a:pt x="11999" y="489649"/>
                  </a:lnTo>
                  <a:lnTo>
                    <a:pt x="3061" y="442191"/>
                  </a:lnTo>
                  <a:lnTo>
                    <a:pt x="0" y="392905"/>
                  </a:lnTo>
                  <a:close/>
                </a:path>
              </a:pathLst>
            </a:custGeom>
            <a:ln w="25399">
              <a:solidFill>
                <a:srgbClr val="5C32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030730" y="5822358"/>
            <a:ext cx="3917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0" dirty="0">
                <a:solidFill>
                  <a:srgbClr val="FFFFFF"/>
                </a:solidFill>
                <a:latin typeface="Cambria"/>
                <a:cs typeface="Cambria"/>
              </a:rPr>
              <a:t>Bob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22323" y="3162992"/>
            <a:ext cx="2623185" cy="3063240"/>
            <a:chOff x="6122323" y="3162992"/>
            <a:chExt cx="2623185" cy="306324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2323" y="3162992"/>
              <a:ext cx="486294" cy="109727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365922" y="3206634"/>
              <a:ext cx="1905" cy="749300"/>
            </a:xfrm>
            <a:custGeom>
              <a:avLst/>
              <a:gdLst/>
              <a:ahLst/>
              <a:cxnLst/>
              <a:rect l="l" t="t" r="r" b="b"/>
              <a:pathLst>
                <a:path w="1904" h="749300">
                  <a:moveTo>
                    <a:pt x="1510" y="0"/>
                  </a:moveTo>
                  <a:lnTo>
                    <a:pt x="0" y="749299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308926" y="3879618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0" y="0"/>
                  </a:moveTo>
                  <a:lnTo>
                    <a:pt x="56918" y="114415"/>
                  </a:lnTo>
                  <a:lnTo>
                    <a:pt x="114298" y="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2323" y="4734097"/>
              <a:ext cx="486294" cy="109727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365923" y="4779846"/>
              <a:ext cx="1905" cy="748030"/>
            </a:xfrm>
            <a:custGeom>
              <a:avLst/>
              <a:gdLst/>
              <a:ahLst/>
              <a:cxnLst/>
              <a:rect l="l" t="t" r="r" b="b"/>
              <a:pathLst>
                <a:path w="1904" h="748029">
                  <a:moveTo>
                    <a:pt x="1509" y="0"/>
                  </a:moveTo>
                  <a:lnTo>
                    <a:pt x="0" y="747711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308926" y="5451243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0" y="0"/>
                  </a:moveTo>
                  <a:lnTo>
                    <a:pt x="56918" y="114415"/>
                  </a:lnTo>
                  <a:lnTo>
                    <a:pt x="114300" y="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5119" y="4168831"/>
              <a:ext cx="1384068" cy="48629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746845" y="4384559"/>
              <a:ext cx="1033780" cy="1905"/>
            </a:xfrm>
            <a:custGeom>
              <a:avLst/>
              <a:gdLst/>
              <a:ahLst/>
              <a:cxnLst/>
              <a:rect l="l" t="t" r="r" b="b"/>
              <a:pathLst>
                <a:path w="1033779" h="1904">
                  <a:moveTo>
                    <a:pt x="0" y="0"/>
                  </a:moveTo>
                  <a:lnTo>
                    <a:pt x="1033462" y="1531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04023" y="4328827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4" h="114300">
                  <a:moveTo>
                    <a:pt x="168" y="0"/>
                  </a:moveTo>
                  <a:lnTo>
                    <a:pt x="0" y="114300"/>
                  </a:lnTo>
                  <a:lnTo>
                    <a:pt x="114385" y="5731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7588" y="5744093"/>
              <a:ext cx="1384068" cy="48213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759545" y="5957772"/>
              <a:ext cx="1033780" cy="1905"/>
            </a:xfrm>
            <a:custGeom>
              <a:avLst/>
              <a:gdLst/>
              <a:ahLst/>
              <a:cxnLst/>
              <a:rect l="l" t="t" r="r" b="b"/>
              <a:pathLst>
                <a:path w="1033779" h="1904">
                  <a:moveTo>
                    <a:pt x="0" y="0"/>
                  </a:moveTo>
                  <a:lnTo>
                    <a:pt x="1033462" y="1531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716723" y="5902040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4" h="114300">
                  <a:moveTo>
                    <a:pt x="168" y="0"/>
                  </a:moveTo>
                  <a:lnTo>
                    <a:pt x="0" y="114300"/>
                  </a:lnTo>
                  <a:lnTo>
                    <a:pt x="114385" y="5731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05897" y="4447308"/>
              <a:ext cx="482138" cy="133003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945408" y="4702059"/>
              <a:ext cx="1905" cy="977900"/>
            </a:xfrm>
            <a:custGeom>
              <a:avLst/>
              <a:gdLst/>
              <a:ahLst/>
              <a:cxnLst/>
              <a:rect l="l" t="t" r="r" b="b"/>
              <a:pathLst>
                <a:path w="1904" h="977900">
                  <a:moveTo>
                    <a:pt x="0" y="977899"/>
                  </a:moveTo>
                  <a:lnTo>
                    <a:pt x="1528" y="0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89666" y="4663959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57329" y="0"/>
                  </a:moveTo>
                  <a:lnTo>
                    <a:pt x="0" y="114211"/>
                  </a:lnTo>
                  <a:lnTo>
                    <a:pt x="114300" y="114390"/>
                  </a:lnTo>
                  <a:lnTo>
                    <a:pt x="57329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8694" y="4617718"/>
              <a:ext cx="486294" cy="13300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501091" y="4663959"/>
              <a:ext cx="1905" cy="977900"/>
            </a:xfrm>
            <a:custGeom>
              <a:avLst/>
              <a:gdLst/>
              <a:ahLst/>
              <a:cxnLst/>
              <a:rect l="l" t="t" r="r" b="b"/>
              <a:pathLst>
                <a:path w="1904" h="977900">
                  <a:moveTo>
                    <a:pt x="1528" y="0"/>
                  </a:moveTo>
                  <a:lnTo>
                    <a:pt x="0" y="977899"/>
                  </a:lnTo>
                </a:path>
              </a:pathLst>
            </a:custGeom>
            <a:ln w="38099">
              <a:solidFill>
                <a:srgbClr val="7A47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444060" y="5565570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0" y="0"/>
                  </a:moveTo>
                  <a:lnTo>
                    <a:pt x="56970" y="114388"/>
                  </a:lnTo>
                  <a:lnTo>
                    <a:pt x="114300" y="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4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052596" y="2525279"/>
            <a:ext cx="235013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d’autorisation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Sailors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24035" y="402546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95660" y="49541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695535" y="502559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52535" y="495415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4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195471" y="559709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24035" y="444139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"/>
                <a:cs typeface="Cambria"/>
              </a:rPr>
              <a:t>6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Privilèges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135" dirty="0">
                <a:latin typeface="Cambria"/>
                <a:cs typeface="Cambria"/>
              </a:rPr>
              <a:t>sur</a:t>
            </a:r>
            <a:r>
              <a:rPr sz="3600" spc="210" dirty="0">
                <a:latin typeface="Cambria"/>
                <a:cs typeface="Cambria"/>
              </a:rPr>
              <a:t> </a:t>
            </a:r>
            <a:r>
              <a:rPr sz="3600" spc="105" dirty="0">
                <a:latin typeface="Cambria"/>
                <a:cs typeface="Cambria"/>
              </a:rPr>
              <a:t>les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95" dirty="0">
                <a:latin typeface="Cambria"/>
                <a:cs typeface="Cambria"/>
              </a:rPr>
              <a:t>vues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897687"/>
            <a:ext cx="7294880" cy="25565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5" dirty="0">
                <a:latin typeface="Cambria"/>
                <a:cs typeface="Cambria"/>
              </a:rPr>
              <a:t>Gestion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privilèges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sur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vues</a:t>
            </a:r>
            <a:endParaRPr sz="2000">
              <a:latin typeface="Cambria"/>
              <a:cs typeface="Cambria"/>
            </a:endParaRPr>
          </a:p>
          <a:p>
            <a:pPr marL="469900" marR="5080" lvl="1" indent="-228600" algn="just">
              <a:lnSpc>
                <a:spcPct val="99500"/>
              </a:lnSpc>
              <a:spcBef>
                <a:spcPts val="61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75" dirty="0">
                <a:latin typeface="Cambria"/>
                <a:cs typeface="Cambria"/>
              </a:rPr>
              <a:t>L’utilisateur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crée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vue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préalablement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avoir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au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moins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229" dirty="0">
                <a:latin typeface="Cambria"/>
                <a:cs typeface="Cambria"/>
              </a:rPr>
              <a:t>SELECT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8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concernées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(tables/vues </a:t>
            </a:r>
            <a:r>
              <a:rPr sz="1800" spc="55" dirty="0">
                <a:latin typeface="Cambria"/>
                <a:cs typeface="Cambria"/>
              </a:rPr>
              <a:t>utilisées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création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vue)</a:t>
            </a:r>
            <a:endParaRPr sz="1800">
              <a:latin typeface="Cambria"/>
              <a:cs typeface="Cambria"/>
            </a:endParaRPr>
          </a:p>
          <a:p>
            <a:pPr marL="469900" marR="42545" lvl="1" indent="-228600">
              <a:lnSpc>
                <a:spcPct val="101899"/>
              </a:lnSpc>
              <a:spcBef>
                <a:spcPts val="5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vue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mise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jour,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l’utilisateur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également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avoir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85" dirty="0">
                <a:latin typeface="Cambria"/>
                <a:cs typeface="Cambria"/>
              </a:rPr>
              <a:t>INSERT,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04" dirty="0">
                <a:latin typeface="Cambria"/>
                <a:cs typeface="Cambria"/>
              </a:rPr>
              <a:t>UPDATE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et/ou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220" dirty="0">
                <a:latin typeface="Cambria"/>
                <a:cs typeface="Cambria"/>
              </a:rPr>
              <a:t>DELETE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les</a:t>
            </a:r>
            <a:r>
              <a:rPr sz="1800" spc="5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base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40" dirty="0">
                <a:latin typeface="Cambria"/>
                <a:cs typeface="Cambria"/>
              </a:rPr>
              <a:t>Du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même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GRANT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OPTION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0" dirty="0">
                <a:latin typeface="Cambria"/>
                <a:cs typeface="Cambria"/>
              </a:rPr>
              <a:t>Privilèges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135" dirty="0">
                <a:latin typeface="Cambria"/>
                <a:cs typeface="Cambria"/>
              </a:rPr>
              <a:t>sur</a:t>
            </a:r>
            <a:r>
              <a:rPr sz="3600" spc="210" dirty="0">
                <a:latin typeface="Cambria"/>
                <a:cs typeface="Cambria"/>
              </a:rPr>
              <a:t> </a:t>
            </a:r>
            <a:r>
              <a:rPr sz="3600" spc="105" dirty="0">
                <a:latin typeface="Cambria"/>
                <a:cs typeface="Cambria"/>
              </a:rPr>
              <a:t>les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95" dirty="0">
                <a:latin typeface="Cambria"/>
                <a:cs typeface="Cambria"/>
              </a:rPr>
              <a:t>vues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7299325" cy="305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72390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5" dirty="0">
                <a:latin typeface="Cambria"/>
                <a:cs typeface="Cambria"/>
              </a:rPr>
              <a:t>Les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privilèges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du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créateur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d’une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vue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dépendent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ses </a:t>
            </a:r>
            <a:r>
              <a:rPr sz="2000" spc="50" dirty="0">
                <a:latin typeface="Cambria"/>
                <a:cs typeface="Cambria"/>
              </a:rPr>
              <a:t>privilèges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sur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tables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base</a:t>
            </a:r>
            <a:endParaRPr sz="2000">
              <a:latin typeface="Cambria"/>
              <a:cs typeface="Cambria"/>
            </a:endParaRPr>
          </a:p>
          <a:p>
            <a:pPr marL="469900" marR="462915" lvl="1" indent="-228600">
              <a:lnSpc>
                <a:spcPct val="99500"/>
              </a:lnSpc>
              <a:spcBef>
                <a:spcPts val="61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créateur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perd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obtenu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l’option</a:t>
            </a:r>
            <a:r>
              <a:rPr sz="1800" spc="175" dirty="0">
                <a:latin typeface="Cambria"/>
                <a:cs typeface="Cambria"/>
              </a:rPr>
              <a:t> GRANT </a:t>
            </a:r>
            <a:r>
              <a:rPr sz="1800" spc="185" dirty="0">
                <a:latin typeface="Cambria"/>
                <a:cs typeface="Cambria"/>
              </a:rPr>
              <a:t>OPTION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utilisateurs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auxquels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il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le </a:t>
            </a:r>
            <a:r>
              <a:rPr sz="1800" dirty="0">
                <a:latin typeface="Cambria"/>
                <a:cs typeface="Cambria"/>
              </a:rPr>
              <a:t>perdent</a:t>
            </a:r>
            <a:r>
              <a:rPr sz="1800" spc="409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également</a:t>
            </a:r>
            <a:endParaRPr sz="1800">
              <a:latin typeface="Cambria"/>
              <a:cs typeface="Cambria"/>
            </a:endParaRPr>
          </a:p>
          <a:p>
            <a:pPr marL="469900" marR="40005" lvl="1" indent="-228600">
              <a:lnSpc>
                <a:spcPct val="101899"/>
              </a:lnSpc>
              <a:spcBef>
                <a:spcPts val="5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30" dirty="0">
                <a:latin typeface="Cambria"/>
                <a:cs typeface="Cambria"/>
              </a:rPr>
              <a:t>Une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vue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supprimée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si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créateur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perd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 </a:t>
            </a:r>
            <a:r>
              <a:rPr sz="1800" dirty="0">
                <a:latin typeface="Cambria"/>
                <a:cs typeface="Cambria"/>
              </a:rPr>
              <a:t>sélection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d’une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base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vue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ct val="99500"/>
              </a:lnSpc>
              <a:spcBef>
                <a:spcPts val="65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50" dirty="0">
                <a:latin typeface="Cambria"/>
                <a:cs typeface="Cambria"/>
              </a:rPr>
              <a:t>Si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créateur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obtient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base </a:t>
            </a:r>
            <a:r>
              <a:rPr sz="1800" dirty="0">
                <a:latin typeface="Cambria"/>
                <a:cs typeface="Cambria"/>
              </a:rPr>
              <a:t>d’une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vue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alors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il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obtient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automatiquement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mêmes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privilèges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vue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8821" y="866343"/>
            <a:ext cx="6276340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03860" marR="304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90" dirty="0">
                <a:latin typeface="Cambria"/>
                <a:cs typeface="Cambria"/>
              </a:rPr>
              <a:t>Vues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114" dirty="0">
                <a:latin typeface="Cambria"/>
                <a:cs typeface="Cambria"/>
              </a:rPr>
              <a:t>et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100" dirty="0">
                <a:latin typeface="Cambria"/>
                <a:cs typeface="Cambria"/>
              </a:rPr>
              <a:t>confidentialité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-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85" dirty="0">
                <a:latin typeface="Cambria"/>
                <a:cs typeface="Cambria"/>
              </a:rPr>
              <a:t>cas </a:t>
            </a:r>
            <a:r>
              <a:rPr sz="3600" spc="60" dirty="0">
                <a:latin typeface="Cambria"/>
                <a:cs typeface="Cambria"/>
              </a:rPr>
              <a:t>d</a:t>
            </a:r>
            <a:r>
              <a:rPr sz="3600" spc="60" dirty="0">
                <a:solidFill>
                  <a:srgbClr val="7A4779"/>
                </a:solidFill>
                <a:latin typeface="Cambria"/>
                <a:cs typeface="Cambria"/>
              </a:rPr>
              <a:t>’</a:t>
            </a:r>
            <a:r>
              <a:rPr sz="3600" spc="60" dirty="0">
                <a:latin typeface="Cambria"/>
                <a:cs typeface="Cambria"/>
              </a:rPr>
              <a:t>étude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4222634"/>
            <a:ext cx="7261225" cy="281432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marR="5080" indent="-228600">
              <a:lnSpc>
                <a:spcPct val="78700"/>
              </a:lnSpc>
              <a:spcBef>
                <a:spcPts val="5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75" dirty="0">
                <a:latin typeface="Cambria"/>
                <a:cs typeface="Cambria"/>
              </a:rPr>
              <a:t>L’utilisateur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35" dirty="0">
                <a:latin typeface="Cambria"/>
                <a:cs typeface="Cambria"/>
              </a:rPr>
              <a:t>Joe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crée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(Boats,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Reservs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Sailors).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Qu’est- </a:t>
            </a:r>
            <a:r>
              <a:rPr sz="1800" dirty="0">
                <a:latin typeface="Cambria"/>
                <a:cs typeface="Cambria"/>
              </a:rPr>
              <a:t>ce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qu’il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faire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permettre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145" dirty="0">
                <a:latin typeface="Cambria"/>
                <a:cs typeface="Cambria"/>
              </a:rPr>
              <a:t>La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lecture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l’écriture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des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marins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jeunes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à</a:t>
            </a:r>
            <a:r>
              <a:rPr sz="1600" spc="229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Michel</a:t>
            </a:r>
            <a:endParaRPr sz="16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145" dirty="0">
                <a:latin typeface="Cambria"/>
                <a:cs typeface="Cambria"/>
              </a:rPr>
              <a:t>La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lecture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l’écriture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marins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âgés</a:t>
            </a:r>
            <a:r>
              <a:rPr sz="1600" spc="19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à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Bill</a:t>
            </a:r>
            <a:endParaRPr sz="16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145" dirty="0">
                <a:latin typeface="Cambria"/>
                <a:cs typeface="Cambria"/>
              </a:rPr>
              <a:t>La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lecture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son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information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à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chaque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marin</a:t>
            </a:r>
            <a:endParaRPr sz="16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1800" spc="135" dirty="0">
                <a:latin typeface="Cambria"/>
                <a:cs typeface="Cambria"/>
              </a:rPr>
              <a:t>Joe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exécuter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70" dirty="0">
                <a:latin typeface="Cambria"/>
                <a:cs typeface="Cambria"/>
              </a:rPr>
              <a:t>Création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des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vues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YoungSailors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16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OldSailors</a:t>
            </a:r>
            <a:endParaRPr sz="16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600" spc="60" dirty="0">
                <a:latin typeface="Cambria"/>
                <a:cs typeface="Cambria"/>
              </a:rPr>
              <a:t>Donner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droits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lecture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d’écriture</a:t>
            </a:r>
            <a:r>
              <a:rPr sz="1600" spc="20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à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Michel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1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Bill</a:t>
            </a:r>
            <a:endParaRPr sz="1600">
              <a:latin typeface="Cambria"/>
              <a:cs typeface="Cambria"/>
            </a:endParaRPr>
          </a:p>
          <a:p>
            <a:pPr marL="469900" marR="461009" lvl="1" indent="-228600">
              <a:lnSpc>
                <a:spcPts val="1600"/>
              </a:lnSpc>
              <a:spcBef>
                <a:spcPts val="5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600" spc="70" dirty="0">
                <a:latin typeface="Cambria"/>
                <a:cs typeface="Cambria"/>
              </a:rPr>
              <a:t>Création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des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vues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chaque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marin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et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donner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les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droits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</a:t>
            </a:r>
            <a:r>
              <a:rPr sz="1600" spc="2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lecture</a:t>
            </a:r>
            <a:r>
              <a:rPr sz="1600" spc="22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à </a:t>
            </a:r>
            <a:r>
              <a:rPr sz="1600" spc="55" dirty="0">
                <a:latin typeface="Cambria"/>
                <a:cs typeface="Cambria"/>
              </a:rPr>
              <a:t>chacun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(ex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dans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un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déclencheur)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7975" y="207395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56895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Sailors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7975" y="275233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sid: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10" dirty="0">
                <a:latin typeface="Cambria"/>
                <a:cs typeface="Cambria"/>
              </a:rPr>
              <a:t>sname: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rating:</a:t>
            </a:r>
            <a:r>
              <a:rPr sz="1400" spc="130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85" dirty="0">
                <a:latin typeface="Cambria"/>
                <a:cs typeface="Cambria"/>
              </a:rPr>
              <a:t>age: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real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8977" y="207395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715" algn="ctr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Boats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8977" y="275233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spc="70" dirty="0">
                <a:latin typeface="Cambria"/>
                <a:cs typeface="Cambria"/>
              </a:rPr>
              <a:t>bid: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65" dirty="0">
                <a:latin typeface="Cambria"/>
                <a:cs typeface="Cambria"/>
              </a:rPr>
              <a:t>bname: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spc="10" dirty="0">
                <a:latin typeface="Cambria"/>
                <a:cs typeface="Cambria"/>
              </a:rPr>
              <a:t>color:</a:t>
            </a:r>
            <a:r>
              <a:rPr sz="1400" spc="14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string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69980" y="2073954"/>
            <a:ext cx="1657985" cy="678815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400">
              <a:latin typeface="Times New Roman"/>
              <a:cs typeface="Times New Roman"/>
            </a:endParaRPr>
          </a:p>
          <a:p>
            <a:pPr marL="508000">
              <a:lnSpc>
                <a:spcPct val="100000"/>
              </a:lnSpc>
            </a:pP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Reservs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69980" y="2752337"/>
            <a:ext cx="1657985" cy="1229995"/>
          </a:xfrm>
          <a:prstGeom prst="rect">
            <a:avLst/>
          </a:prstGeom>
          <a:solidFill>
            <a:srgbClr val="DBD7DB">
              <a:alpha val="90199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01295" indent="-114300">
              <a:lnSpc>
                <a:spcPct val="100000"/>
              </a:lnSpc>
              <a:spcBef>
                <a:spcPts val="345"/>
              </a:spcBef>
              <a:buChar char="•"/>
              <a:tabLst>
                <a:tab pos="201295" algn="l"/>
              </a:tabLst>
            </a:pPr>
            <a:r>
              <a:rPr sz="1400" dirty="0">
                <a:latin typeface="Cambria"/>
                <a:cs typeface="Cambria"/>
              </a:rPr>
              <a:t>sid:</a:t>
            </a:r>
            <a:r>
              <a:rPr sz="1400" spc="114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20"/>
              </a:spcBef>
              <a:buChar char="•"/>
              <a:tabLst>
                <a:tab pos="201295" algn="l"/>
              </a:tabLst>
            </a:pPr>
            <a:r>
              <a:rPr sz="1400" spc="70" dirty="0">
                <a:latin typeface="Cambria"/>
                <a:cs typeface="Cambria"/>
              </a:rPr>
              <a:t>bid:</a:t>
            </a:r>
            <a:r>
              <a:rPr sz="1400" spc="-75" dirty="0">
                <a:latin typeface="Cambria"/>
                <a:cs typeface="Cambria"/>
              </a:rPr>
              <a:t> </a:t>
            </a:r>
            <a:r>
              <a:rPr sz="1400" spc="35" dirty="0">
                <a:latin typeface="Cambria"/>
                <a:cs typeface="Cambria"/>
              </a:rPr>
              <a:t>integer</a:t>
            </a:r>
            <a:endParaRPr sz="1400">
              <a:latin typeface="Cambria"/>
              <a:cs typeface="Cambria"/>
            </a:endParaRPr>
          </a:p>
          <a:p>
            <a:pPr marL="201295" indent="-114300">
              <a:lnSpc>
                <a:spcPct val="100000"/>
              </a:lnSpc>
              <a:spcBef>
                <a:spcPts val="120"/>
              </a:spcBef>
              <a:buChar char="•"/>
              <a:tabLst>
                <a:tab pos="201295" algn="l"/>
              </a:tabLst>
            </a:pPr>
            <a:r>
              <a:rPr sz="1400" spc="55" dirty="0">
                <a:latin typeface="Cambria"/>
                <a:cs typeface="Cambria"/>
              </a:rPr>
              <a:t>day:</a:t>
            </a:r>
            <a:r>
              <a:rPr sz="1400" spc="-70" dirty="0">
                <a:latin typeface="Cambria"/>
                <a:cs typeface="Cambria"/>
              </a:rPr>
              <a:t> </a:t>
            </a:r>
            <a:r>
              <a:rPr sz="1400" spc="-20" dirty="0">
                <a:latin typeface="Cambria"/>
                <a:cs typeface="Cambria"/>
              </a:rPr>
              <a:t>date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5" dirty="0"/>
              <a:t>MAC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7300595" cy="365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39395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30" dirty="0">
                <a:latin typeface="Cambria"/>
                <a:cs typeface="Cambria"/>
              </a:rPr>
              <a:t>Le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control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basé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sur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240" dirty="0">
                <a:latin typeface="Cambria"/>
                <a:cs typeface="Cambria"/>
              </a:rPr>
              <a:t>DAC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une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limitation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principal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qui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est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possibilité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d’avoir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chevaux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Troie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L’utilisateur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accès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aux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175" dirty="0">
                <a:latin typeface="Cambria"/>
                <a:cs typeface="Cambria"/>
              </a:rPr>
              <a:t> 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85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L’utilisateur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B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accès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uniquement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85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469900" marR="91440" lvl="1" indent="-228600">
              <a:lnSpc>
                <a:spcPct val="99500"/>
              </a:lnSpc>
              <a:spcBef>
                <a:spcPts val="65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50" dirty="0">
                <a:latin typeface="Cambria"/>
                <a:cs typeface="Cambria"/>
              </a:rPr>
              <a:t>Si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B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trafique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application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utilisée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il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écrit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les</a:t>
            </a:r>
            <a:r>
              <a:rPr sz="1800" spc="5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R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235" dirty="0">
                <a:latin typeface="Cambria"/>
                <a:cs typeface="Cambria"/>
              </a:rPr>
              <a:t>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alors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195" dirty="0">
                <a:latin typeface="Cambria"/>
                <a:cs typeface="Cambria"/>
              </a:rPr>
              <a:t>B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lire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non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autorisées </a:t>
            </a:r>
            <a:r>
              <a:rPr sz="1800" spc="75" dirty="0">
                <a:latin typeface="Cambria"/>
                <a:cs typeface="Cambria"/>
              </a:rPr>
              <a:t>sans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violer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règles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DAC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250" dirty="0">
                <a:latin typeface="Cambria"/>
                <a:cs typeface="Cambria"/>
              </a:rPr>
              <a:t>MAC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été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proposé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pour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palier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type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problèmes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250" dirty="0">
                <a:latin typeface="Cambria"/>
                <a:cs typeface="Cambria"/>
              </a:rPr>
              <a:t>MAC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consiste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associer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niveau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d’autorisation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aux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sujets et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aux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données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5" dirty="0"/>
              <a:t>MAC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11799"/>
            <a:ext cx="7205980" cy="43357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30" dirty="0">
                <a:latin typeface="Cambria"/>
                <a:cs typeface="Cambria"/>
              </a:rPr>
              <a:t>Le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modèle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250" dirty="0">
                <a:latin typeface="Cambria"/>
                <a:cs typeface="Cambria"/>
              </a:rPr>
              <a:t>MAC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Bell-</a:t>
            </a:r>
            <a:r>
              <a:rPr sz="2000" spc="110" dirty="0">
                <a:latin typeface="Cambria"/>
                <a:cs typeface="Cambria"/>
              </a:rPr>
              <a:t>LaPadula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0" dirty="0">
                <a:latin typeface="Cambria"/>
                <a:cs typeface="Cambria"/>
              </a:rPr>
              <a:t>Objets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4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75" dirty="0">
                <a:latin typeface="Cambria"/>
                <a:cs typeface="Cambria"/>
              </a:rPr>
              <a:t>Tables,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vues,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lignes,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colonnes,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etc.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Sujets</a:t>
            </a:r>
            <a:endParaRPr sz="1800">
              <a:latin typeface="Cambria"/>
              <a:cs typeface="Cambria"/>
            </a:endParaRPr>
          </a:p>
          <a:p>
            <a:pPr marL="697865" lvl="2" indent="-227965">
              <a:lnSpc>
                <a:spcPct val="100000"/>
              </a:lnSpc>
              <a:spcBef>
                <a:spcPts val="3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85" dirty="0">
                <a:latin typeface="Cambria"/>
                <a:cs typeface="Cambria"/>
              </a:rPr>
              <a:t>Utilisateurs,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programmes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5" dirty="0">
                <a:latin typeface="Cambria"/>
                <a:cs typeface="Cambria"/>
              </a:rPr>
              <a:t>Classes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sécurité</a:t>
            </a:r>
            <a:endParaRPr sz="1800">
              <a:latin typeface="Cambria"/>
              <a:cs typeface="Cambria"/>
            </a:endParaRPr>
          </a:p>
          <a:p>
            <a:pPr marL="698500" marR="440690" lvl="2" indent="-228600">
              <a:lnSpc>
                <a:spcPts val="2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75" dirty="0">
                <a:latin typeface="Cambria"/>
                <a:cs typeface="Cambria"/>
              </a:rPr>
              <a:t>Organisées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dans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ordre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partiel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sécurisée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la </a:t>
            </a:r>
            <a:r>
              <a:rPr sz="1800" dirty="0">
                <a:latin typeface="Cambria"/>
                <a:cs typeface="Cambria"/>
              </a:rPr>
              <a:t>moins</a:t>
            </a:r>
            <a:r>
              <a:rPr sz="1800" spc="2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sécurisée</a:t>
            </a:r>
            <a:r>
              <a:rPr sz="1800" spc="29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(i.e.,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lattice</a:t>
            </a:r>
            <a:r>
              <a:rPr sz="1800" i="1" spc="2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29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treillis)</a:t>
            </a:r>
            <a:endParaRPr sz="1800">
              <a:latin typeface="Cambria"/>
              <a:cs typeface="Cambria"/>
            </a:endParaRPr>
          </a:p>
          <a:p>
            <a:pPr marL="698500" marR="5080" lvl="2" indent="-228600">
              <a:lnSpc>
                <a:spcPct val="90300"/>
              </a:lnSpc>
              <a:spcBef>
                <a:spcPts val="50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spc="155" dirty="0">
                <a:latin typeface="Cambria"/>
                <a:cs typeface="Cambria"/>
              </a:rPr>
              <a:t>Ex.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4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clases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: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top</a:t>
            </a:r>
            <a:r>
              <a:rPr sz="1800" i="1" spc="15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secret</a:t>
            </a:r>
            <a:r>
              <a:rPr sz="1800" i="1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(TS),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i="1" dirty="0">
                <a:latin typeface="Cambria"/>
                <a:cs typeface="Cambria"/>
              </a:rPr>
              <a:t>secret</a:t>
            </a:r>
            <a:r>
              <a:rPr sz="1800" i="1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(S),</a:t>
            </a:r>
            <a:r>
              <a:rPr sz="1800" spc="155" dirty="0">
                <a:latin typeface="Cambria"/>
                <a:cs typeface="Cambria"/>
              </a:rPr>
              <a:t>  </a:t>
            </a:r>
            <a:r>
              <a:rPr sz="1800" i="1" spc="70" dirty="0">
                <a:latin typeface="Cambria"/>
                <a:cs typeface="Cambria"/>
              </a:rPr>
              <a:t>confidential</a:t>
            </a:r>
            <a:r>
              <a:rPr sz="1800" i="1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(C)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et </a:t>
            </a:r>
            <a:r>
              <a:rPr sz="1800" i="1" spc="90" dirty="0">
                <a:latin typeface="Cambria"/>
                <a:cs typeface="Cambria"/>
              </a:rPr>
              <a:t>unclassified</a:t>
            </a:r>
            <a:r>
              <a:rPr sz="1800" i="1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(U)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où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75" dirty="0">
                <a:latin typeface="Cambria"/>
                <a:cs typeface="Cambria"/>
              </a:rPr>
              <a:t>TS&gt;S&gt;C&gt;U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où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185" dirty="0">
                <a:latin typeface="Cambria"/>
                <a:cs typeface="Cambria"/>
              </a:rPr>
              <a:t>TS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sensible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250" dirty="0">
                <a:latin typeface="Cambria"/>
                <a:cs typeface="Cambria"/>
              </a:rPr>
              <a:t>U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moins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0" dirty="0">
                <a:latin typeface="Cambria"/>
                <a:cs typeface="Cambria"/>
              </a:rPr>
              <a:t>Autorisations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</a:t>
            </a:r>
            <a:r>
              <a:rPr sz="1800" i="1" spc="-10" dirty="0">
                <a:latin typeface="Cambria"/>
                <a:cs typeface="Cambria"/>
              </a:rPr>
              <a:t>clearance</a:t>
            </a:r>
            <a:r>
              <a:rPr sz="1800" spc="-10" dirty="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Chaque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objet</a:t>
            </a:r>
            <a:r>
              <a:rPr sz="18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appartient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classe</a:t>
            </a:r>
            <a:r>
              <a:rPr sz="1800" spc="1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de</a:t>
            </a:r>
            <a:r>
              <a:rPr sz="1800" spc="1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sécurité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Chaque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sujet</a:t>
            </a:r>
            <a:r>
              <a:rPr sz="18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autorisation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clase</a:t>
            </a:r>
            <a:r>
              <a:rPr sz="18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"/>
                <a:cs typeface="Cambria"/>
              </a:rPr>
              <a:t>de</a:t>
            </a:r>
            <a:r>
              <a:rPr sz="18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0000"/>
                </a:solidFill>
                <a:latin typeface="Cambria"/>
                <a:cs typeface="Cambria"/>
              </a:rPr>
              <a:t>sécurité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5" dirty="0"/>
              <a:t>MAC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9182" y="631709"/>
            <a:ext cx="685800" cy="1600200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36195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285"/>
              </a:spcBef>
            </a:pPr>
            <a:r>
              <a:rPr sz="1400" spc="-77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1400" spc="-55" dirty="0">
                <a:solidFill>
                  <a:srgbClr val="FFFEBA"/>
                </a:solidFill>
                <a:latin typeface="Cambria"/>
                <a:cs typeface="Cambria"/>
              </a:rPr>
              <a:t>2</a:t>
            </a:r>
            <a:r>
              <a:rPr sz="1400" spc="-79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1400" spc="-30" dirty="0">
                <a:solidFill>
                  <a:srgbClr val="FFFEBA"/>
                </a:solidFill>
                <a:latin typeface="Cambria"/>
                <a:cs typeface="Cambria"/>
              </a:rPr>
              <a:t>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4623" y="2675774"/>
            <a:ext cx="6781800" cy="37211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AutoNum type="arabicPeriod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Propriété</a:t>
            </a:r>
            <a:r>
              <a:rPr sz="1800" spc="17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de</a:t>
            </a:r>
            <a:r>
              <a:rPr sz="1800" spc="17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595959"/>
                </a:solidFill>
                <a:latin typeface="Cambria"/>
                <a:cs typeface="Cambria"/>
              </a:rPr>
              <a:t>sécurité</a:t>
            </a:r>
            <a:r>
              <a:rPr sz="1800" spc="17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simple</a:t>
            </a:r>
            <a:r>
              <a:rPr sz="1800" spc="18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ou</a:t>
            </a:r>
            <a:r>
              <a:rPr sz="1800" spc="17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b="1" i="1" spc="105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sz="1800" b="1" i="1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i="1" spc="120" dirty="0">
                <a:solidFill>
                  <a:srgbClr val="FF0000"/>
                </a:solidFill>
                <a:latin typeface="Cambria"/>
                <a:cs typeface="Cambria"/>
              </a:rPr>
              <a:t>read</a:t>
            </a:r>
            <a:r>
              <a:rPr sz="1800" b="1" i="1" spc="2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i="1" spc="130" dirty="0">
                <a:solidFill>
                  <a:srgbClr val="FF0000"/>
                </a:solidFill>
                <a:latin typeface="Cambria"/>
                <a:cs typeface="Cambria"/>
              </a:rPr>
              <a:t>up</a:t>
            </a:r>
            <a:endParaRPr sz="1800">
              <a:latin typeface="Cambria"/>
              <a:cs typeface="Cambria"/>
            </a:endParaRPr>
          </a:p>
          <a:p>
            <a:pPr marL="749300" marR="1431925" lvl="1" indent="-457200">
              <a:lnSpc>
                <a:spcPts val="28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749300" algn="l"/>
              </a:tabLst>
            </a:pPr>
            <a:r>
              <a:rPr sz="1800" spc="190" dirty="0">
                <a:solidFill>
                  <a:srgbClr val="595959"/>
                </a:solidFill>
                <a:latin typeface="Cambria"/>
                <a:cs typeface="Cambria"/>
              </a:rPr>
              <a:t>Un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sujet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595959"/>
                </a:solidFill>
                <a:latin typeface="Cambria"/>
                <a:cs typeface="Cambria"/>
              </a:rPr>
              <a:t>S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peut</a:t>
            </a:r>
            <a:r>
              <a:rPr sz="1800" spc="15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lire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l’objet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595959"/>
                </a:solidFill>
                <a:latin typeface="Cambria"/>
                <a:cs typeface="Cambria"/>
              </a:rPr>
              <a:t>O</a:t>
            </a:r>
            <a:r>
              <a:rPr sz="1800" spc="15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95959"/>
                </a:solidFill>
                <a:latin typeface="Cambria"/>
                <a:cs typeface="Cambria"/>
              </a:rPr>
              <a:t>uniquement</a:t>
            </a:r>
            <a:r>
              <a:rPr sz="1800" spc="15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595959"/>
                </a:solidFill>
                <a:latin typeface="Cambria"/>
                <a:cs typeface="Cambria"/>
              </a:rPr>
              <a:t>si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classe(S)&gt;=</a:t>
            </a:r>
            <a:r>
              <a:rPr sz="1800" spc="10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ambria"/>
                <a:cs typeface="Cambria"/>
              </a:rPr>
              <a:t>classe(O)</a:t>
            </a:r>
            <a:endParaRPr sz="1800">
              <a:latin typeface="Cambria"/>
              <a:cs typeface="Cambria"/>
            </a:endParaRPr>
          </a:p>
          <a:p>
            <a:pPr marL="749300" marR="495300">
              <a:lnSpc>
                <a:spcPct val="101899"/>
              </a:lnSpc>
              <a:spcBef>
                <a:spcPts val="295"/>
              </a:spcBef>
            </a:pPr>
            <a:r>
              <a:rPr sz="1800" spc="155" dirty="0">
                <a:solidFill>
                  <a:srgbClr val="595959"/>
                </a:solidFill>
                <a:latin typeface="Cambria"/>
                <a:cs typeface="Cambria"/>
              </a:rPr>
              <a:t>Ex.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95959"/>
                </a:solidFill>
                <a:latin typeface="Cambria"/>
                <a:cs typeface="Cambria"/>
              </a:rPr>
              <a:t>un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sujet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avec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autorisation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595959"/>
                </a:solidFill>
                <a:latin typeface="Cambria"/>
                <a:cs typeface="Cambria"/>
              </a:rPr>
              <a:t>S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ne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peut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595959"/>
                </a:solidFill>
                <a:latin typeface="Cambria"/>
                <a:cs typeface="Cambria"/>
              </a:rPr>
              <a:t>pas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lire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595959"/>
                </a:solidFill>
                <a:latin typeface="Cambria"/>
                <a:cs typeface="Cambria"/>
              </a:rPr>
              <a:t>une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donnée</a:t>
            </a:r>
            <a:r>
              <a:rPr sz="1800" spc="17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avec</a:t>
            </a:r>
            <a:r>
              <a:rPr sz="1800" spc="17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autorisation</a:t>
            </a:r>
            <a:r>
              <a:rPr sz="1800" spc="17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160" dirty="0">
                <a:solidFill>
                  <a:srgbClr val="595959"/>
                </a:solidFill>
                <a:latin typeface="Cambria"/>
                <a:cs typeface="Cambria"/>
              </a:rPr>
              <a:t>TS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>
              <a:latin typeface="Cambria"/>
              <a:cs typeface="Cambria"/>
            </a:endParaRPr>
          </a:p>
          <a:p>
            <a:pPr marL="469265" indent="-456565">
              <a:lnSpc>
                <a:spcPct val="100000"/>
              </a:lnSpc>
              <a:buClr>
                <a:srgbClr val="B870B8"/>
              </a:buClr>
              <a:buSzPct val="75000"/>
              <a:buAutoNum type="arabicPeriod" startAt="2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Propriété</a:t>
            </a:r>
            <a:r>
              <a:rPr sz="1800" spc="18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95959"/>
                </a:solidFill>
                <a:latin typeface="Cambria"/>
                <a:cs typeface="Cambria"/>
              </a:rPr>
              <a:t>*-</a:t>
            </a:r>
            <a:r>
              <a:rPr sz="1800" spc="19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ou</a:t>
            </a:r>
            <a:r>
              <a:rPr sz="1800" spc="19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b="1" i="1" spc="105" dirty="0">
                <a:solidFill>
                  <a:srgbClr val="FF0000"/>
                </a:solidFill>
                <a:latin typeface="Cambria"/>
                <a:cs typeface="Cambria"/>
              </a:rPr>
              <a:t>no</a:t>
            </a:r>
            <a:r>
              <a:rPr sz="1800" b="1" i="1" spc="2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i="1" spc="90" dirty="0">
                <a:solidFill>
                  <a:srgbClr val="FF0000"/>
                </a:solidFill>
                <a:latin typeface="Cambria"/>
                <a:cs typeface="Cambria"/>
              </a:rPr>
              <a:t>write</a:t>
            </a:r>
            <a:r>
              <a:rPr sz="1800" b="1" i="1" spc="2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i="1" spc="100" dirty="0">
                <a:solidFill>
                  <a:srgbClr val="FF0000"/>
                </a:solidFill>
                <a:latin typeface="Cambria"/>
                <a:cs typeface="Cambria"/>
              </a:rPr>
              <a:t>down</a:t>
            </a:r>
            <a:endParaRPr sz="1800">
              <a:latin typeface="Cambria"/>
              <a:cs typeface="Cambria"/>
            </a:endParaRPr>
          </a:p>
          <a:p>
            <a:pPr marL="749300" marR="1892935" lvl="1" indent="-457200">
              <a:lnSpc>
                <a:spcPct val="125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749300" algn="l"/>
              </a:tabLst>
            </a:pPr>
            <a:r>
              <a:rPr sz="1800" spc="190" dirty="0">
                <a:solidFill>
                  <a:srgbClr val="595959"/>
                </a:solidFill>
                <a:latin typeface="Cambria"/>
                <a:cs typeface="Cambria"/>
              </a:rPr>
              <a:t>Un</a:t>
            </a:r>
            <a:r>
              <a:rPr sz="1800" spc="13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sujet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595959"/>
                </a:solidFill>
                <a:latin typeface="Cambria"/>
                <a:cs typeface="Cambria"/>
              </a:rPr>
              <a:t>S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peut</a:t>
            </a:r>
            <a:r>
              <a:rPr sz="1800" spc="13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écrire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95959"/>
                </a:solidFill>
                <a:latin typeface="Cambria"/>
                <a:cs typeface="Cambria"/>
              </a:rPr>
              <a:t>sur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95959"/>
                </a:solidFill>
                <a:latin typeface="Cambria"/>
                <a:cs typeface="Cambria"/>
              </a:rPr>
              <a:t>un</a:t>
            </a:r>
            <a:r>
              <a:rPr sz="1800" spc="13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objet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595959"/>
                </a:solidFill>
                <a:latin typeface="Cambria"/>
                <a:cs typeface="Cambria"/>
              </a:rPr>
              <a:t>O</a:t>
            </a:r>
            <a:r>
              <a:rPr sz="1800" spc="14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595959"/>
                </a:solidFill>
                <a:latin typeface="Cambria"/>
                <a:cs typeface="Cambria"/>
              </a:rPr>
              <a:t>si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classe(S)&lt;=</a:t>
            </a:r>
            <a:r>
              <a:rPr sz="1800" spc="10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ambria"/>
                <a:cs typeface="Cambria"/>
              </a:rPr>
              <a:t>classe(O)</a:t>
            </a:r>
            <a:endParaRPr sz="1800">
              <a:latin typeface="Cambria"/>
              <a:cs typeface="Cambria"/>
            </a:endParaRPr>
          </a:p>
          <a:p>
            <a:pPr marL="749300" marR="5080">
              <a:lnSpc>
                <a:spcPct val="101899"/>
              </a:lnSpc>
              <a:spcBef>
                <a:spcPts val="600"/>
              </a:spcBef>
            </a:pPr>
            <a:r>
              <a:rPr sz="1800" spc="155" dirty="0">
                <a:solidFill>
                  <a:srgbClr val="595959"/>
                </a:solidFill>
                <a:latin typeface="Cambria"/>
                <a:cs typeface="Cambria"/>
              </a:rPr>
              <a:t>Ex.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595959"/>
                </a:solidFill>
                <a:latin typeface="Cambria"/>
                <a:cs typeface="Cambria"/>
              </a:rPr>
              <a:t>un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sujet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avec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autorisation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595959"/>
                </a:solidFill>
                <a:latin typeface="Cambria"/>
                <a:cs typeface="Cambria"/>
              </a:rPr>
              <a:t>S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peut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écrire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595959"/>
                </a:solidFill>
                <a:latin typeface="Cambria"/>
                <a:cs typeface="Cambria"/>
              </a:rPr>
              <a:t>sur</a:t>
            </a:r>
            <a:r>
              <a:rPr sz="1800" spc="13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les</a:t>
            </a:r>
            <a:r>
              <a:rPr sz="1800" spc="125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ambria"/>
                <a:cs typeface="Cambria"/>
              </a:rPr>
              <a:t>objets </a:t>
            </a:r>
            <a:r>
              <a:rPr sz="1800" spc="50" dirty="0">
                <a:solidFill>
                  <a:srgbClr val="595959"/>
                </a:solidFill>
                <a:latin typeface="Cambria"/>
                <a:cs typeface="Cambria"/>
              </a:rPr>
              <a:t>avec</a:t>
            </a:r>
            <a:r>
              <a:rPr sz="1800" spc="114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solidFill>
                  <a:srgbClr val="595959"/>
                </a:solidFill>
                <a:latin typeface="Cambria"/>
                <a:cs typeface="Cambria"/>
              </a:rPr>
              <a:t>autorisation</a:t>
            </a:r>
            <a:r>
              <a:rPr sz="1800" spc="1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595959"/>
                </a:solidFill>
                <a:latin typeface="Cambria"/>
                <a:cs typeface="Cambria"/>
              </a:rPr>
              <a:t>S</a:t>
            </a:r>
            <a:r>
              <a:rPr sz="1800" spc="1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595959"/>
                </a:solidFill>
                <a:latin typeface="Cambria"/>
                <a:cs typeface="Cambria"/>
              </a:rPr>
              <a:t>ou</a:t>
            </a:r>
            <a:r>
              <a:rPr sz="1800" spc="120" dirty="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sz="1800" spc="160" dirty="0">
                <a:solidFill>
                  <a:srgbClr val="595959"/>
                </a:solidFill>
                <a:latin typeface="Cambria"/>
                <a:cs typeface="Cambria"/>
              </a:rPr>
              <a:t>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0283" y="1919172"/>
            <a:ext cx="7472680" cy="659130"/>
          </a:xfrm>
          <a:prstGeom prst="rect">
            <a:avLst/>
          </a:prstGeom>
          <a:solidFill>
            <a:srgbClr val="797BA9"/>
          </a:solidFill>
        </p:spPr>
        <p:txBody>
          <a:bodyPr vert="horz" wrap="square" lIns="0" tIns="14605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150"/>
              </a:spcBef>
            </a:pPr>
            <a:r>
              <a:rPr sz="2400" spc="125" dirty="0">
                <a:solidFill>
                  <a:srgbClr val="FFFFFF"/>
                </a:solidFill>
                <a:latin typeface="Cambria"/>
                <a:cs typeface="Cambria"/>
              </a:rPr>
              <a:t>Les</a:t>
            </a:r>
            <a:r>
              <a:rPr sz="24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deux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Cambria"/>
                <a:cs typeface="Cambria"/>
              </a:rPr>
              <a:t>règles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Cambria"/>
                <a:cs typeface="Cambria"/>
              </a:rPr>
              <a:t>Bell-</a:t>
            </a:r>
            <a:r>
              <a:rPr sz="2400" spc="130" dirty="0">
                <a:solidFill>
                  <a:srgbClr val="FFFFFF"/>
                </a:solidFill>
                <a:latin typeface="Cambria"/>
                <a:cs typeface="Cambria"/>
              </a:rPr>
              <a:t>LaPadula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Classification</a:t>
            </a:r>
            <a:r>
              <a:rPr sz="3600" spc="-45" dirty="0"/>
              <a:t> </a:t>
            </a:r>
            <a:r>
              <a:rPr sz="3600" spc="-10" dirty="0"/>
              <a:t>multi-niveaux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09964"/>
            <a:ext cx="65087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125" dirty="0">
                <a:latin typeface="Cambria"/>
                <a:cs typeface="Cambria"/>
              </a:rPr>
              <a:t>Le </a:t>
            </a:r>
            <a:r>
              <a:rPr sz="1900" spc="229" dirty="0">
                <a:latin typeface="Cambria"/>
                <a:cs typeface="Cambria"/>
              </a:rPr>
              <a:t>MAC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dans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le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modèle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relationnel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et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les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tables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«</a:t>
            </a:r>
            <a:r>
              <a:rPr sz="1900" spc="15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multi-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9023" y="1932824"/>
            <a:ext cx="6193155" cy="33375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420"/>
              </a:spcBef>
            </a:pPr>
            <a:r>
              <a:rPr sz="1900" spc="75" dirty="0">
                <a:latin typeface="Cambria"/>
                <a:cs typeface="Cambria"/>
              </a:rPr>
              <a:t>niveaux</a:t>
            </a:r>
            <a:r>
              <a:rPr sz="1900" spc="155" dirty="0">
                <a:latin typeface="Cambria"/>
                <a:cs typeface="Cambria"/>
              </a:rPr>
              <a:t> </a:t>
            </a:r>
            <a:r>
              <a:rPr sz="1900" spc="-50" dirty="0">
                <a:latin typeface="Cambria"/>
                <a:cs typeface="Cambria"/>
              </a:rPr>
              <a:t>»</a:t>
            </a:r>
            <a:endParaRPr sz="1900">
              <a:latin typeface="Cambria"/>
              <a:cs typeface="Cambria"/>
            </a:endParaRPr>
          </a:p>
          <a:p>
            <a:pPr marL="240665" indent="-227965">
              <a:lnSpc>
                <a:spcPts val="2240"/>
              </a:lnSpc>
              <a:spcBef>
                <a:spcPts val="132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100" dirty="0">
                <a:latin typeface="Cambria"/>
                <a:cs typeface="Cambria"/>
              </a:rPr>
              <a:t>Granularité</a:t>
            </a:r>
            <a:r>
              <a:rPr sz="1900" spc="1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</a:t>
            </a:r>
            <a:r>
              <a:rPr sz="1900" spc="185" dirty="0">
                <a:latin typeface="Cambria"/>
                <a:cs typeface="Cambria"/>
              </a:rPr>
              <a:t> </a:t>
            </a:r>
            <a:r>
              <a:rPr sz="1900" spc="100" dirty="0">
                <a:latin typeface="Cambria"/>
                <a:cs typeface="Cambria"/>
              </a:rPr>
              <a:t>la</a:t>
            </a:r>
            <a:r>
              <a:rPr sz="1900" spc="18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classification</a:t>
            </a:r>
            <a:r>
              <a:rPr sz="1900" spc="190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(classes</a:t>
            </a:r>
            <a:r>
              <a:rPr sz="1900" spc="185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de</a:t>
            </a:r>
            <a:r>
              <a:rPr sz="1900" spc="18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sécurité)</a:t>
            </a:r>
            <a:endParaRPr sz="1900">
              <a:latin typeface="Cambria"/>
              <a:cs typeface="Cambria"/>
            </a:endParaRPr>
          </a:p>
          <a:p>
            <a:pPr marL="469265" lvl="1" indent="-227965">
              <a:lnSpc>
                <a:spcPts val="2200"/>
              </a:lnSpc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60" dirty="0">
                <a:latin typeface="Cambria"/>
                <a:cs typeface="Cambria"/>
              </a:rPr>
              <a:t>Tables</a:t>
            </a:r>
            <a:endParaRPr sz="1900">
              <a:latin typeface="Cambria"/>
              <a:cs typeface="Cambria"/>
            </a:endParaRPr>
          </a:p>
          <a:p>
            <a:pPr marL="469265" lvl="1" indent="-227965">
              <a:lnSpc>
                <a:spcPts val="2200"/>
              </a:lnSpc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80" dirty="0">
                <a:latin typeface="Cambria"/>
                <a:cs typeface="Cambria"/>
              </a:rPr>
              <a:t>Lignes</a:t>
            </a:r>
            <a:endParaRPr sz="1900">
              <a:latin typeface="Cambria"/>
              <a:cs typeface="Cambria"/>
            </a:endParaRPr>
          </a:p>
          <a:p>
            <a:pPr marL="469265" lvl="1" indent="-227965">
              <a:lnSpc>
                <a:spcPts val="2200"/>
              </a:lnSpc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50" dirty="0">
                <a:latin typeface="Cambria"/>
                <a:cs typeface="Cambria"/>
              </a:rPr>
              <a:t>Colonnes</a:t>
            </a:r>
            <a:endParaRPr sz="1900">
              <a:latin typeface="Cambria"/>
              <a:cs typeface="Cambria"/>
            </a:endParaRPr>
          </a:p>
          <a:p>
            <a:pPr marL="469265" lvl="1" indent="-227965">
              <a:lnSpc>
                <a:spcPts val="2240"/>
              </a:lnSpc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95" dirty="0">
                <a:latin typeface="Cambria"/>
                <a:cs typeface="Cambria"/>
              </a:rPr>
              <a:t>Valeur</a:t>
            </a:r>
            <a:r>
              <a:rPr sz="1900" spc="229" dirty="0">
                <a:latin typeface="Cambria"/>
                <a:cs typeface="Cambria"/>
              </a:rPr>
              <a:t> </a:t>
            </a:r>
            <a:r>
              <a:rPr sz="1900" dirty="0">
                <a:latin typeface="Cambria"/>
                <a:cs typeface="Cambria"/>
              </a:rPr>
              <a:t>d</a:t>
            </a:r>
            <a:r>
              <a:rPr sz="1900" dirty="0">
                <a:latin typeface="SimSun-ExtB"/>
                <a:cs typeface="SimSun-ExtB"/>
              </a:rPr>
              <a:t>ʼ</a:t>
            </a:r>
            <a:r>
              <a:rPr sz="1900" dirty="0">
                <a:latin typeface="Cambria"/>
                <a:cs typeface="Cambria"/>
              </a:rPr>
              <a:t>une</a:t>
            </a:r>
            <a:r>
              <a:rPr sz="1900" spc="23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colonne</a:t>
            </a:r>
            <a:endParaRPr sz="1900">
              <a:latin typeface="Cambria"/>
              <a:cs typeface="Cambria"/>
            </a:endParaRPr>
          </a:p>
          <a:p>
            <a:pPr marL="241300" marR="5080" indent="-228600">
              <a:lnSpc>
                <a:spcPts val="2100"/>
              </a:lnSpc>
              <a:spcBef>
                <a:spcPts val="192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1300" algn="l"/>
              </a:tabLst>
            </a:pPr>
            <a:r>
              <a:rPr sz="1900" spc="90" dirty="0">
                <a:latin typeface="Cambria"/>
                <a:cs typeface="Cambria"/>
              </a:rPr>
              <a:t>Utilisateurs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avec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différentes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autorisations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-10" dirty="0">
                <a:latin typeface="Cambria"/>
                <a:cs typeface="Cambria"/>
              </a:rPr>
              <a:t>perçoivent </a:t>
            </a:r>
            <a:r>
              <a:rPr sz="1900" spc="55" dirty="0">
                <a:latin typeface="Cambria"/>
                <a:cs typeface="Cambria"/>
              </a:rPr>
              <a:t>différemment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une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même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table</a:t>
            </a:r>
            <a:endParaRPr sz="19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80"/>
              </a:spcBef>
              <a:buClr>
                <a:srgbClr val="663366"/>
              </a:buClr>
              <a:buSzPct val="73684"/>
              <a:buFont typeface="Wingdings"/>
              <a:buChar char=""/>
              <a:tabLst>
                <a:tab pos="240665" algn="l"/>
              </a:tabLst>
            </a:pPr>
            <a:r>
              <a:rPr sz="1900" spc="55" dirty="0">
                <a:latin typeface="Cambria"/>
                <a:cs typeface="Cambria"/>
              </a:rPr>
              <a:t>Voici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une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table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50" dirty="0">
                <a:latin typeface="Cambria"/>
                <a:cs typeface="Cambria"/>
              </a:rPr>
              <a:t>avec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une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classification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par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ligne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-50" dirty="0">
                <a:latin typeface="Cambria"/>
                <a:cs typeface="Cambria"/>
              </a:rPr>
              <a:t>:</a:t>
            </a:r>
            <a:endParaRPr sz="19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66858" y="5414847"/>
          <a:ext cx="3297555" cy="125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/>
                <a:gridCol w="852805"/>
                <a:gridCol w="775335"/>
                <a:gridCol w="1026160"/>
              </a:tblGrid>
              <a:tr h="517525">
                <a:tc>
                  <a:txBody>
                    <a:bodyPr/>
                    <a:lstStyle/>
                    <a:p>
                      <a:pPr marL="90805" marR="125095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b="1" spc="5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bid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(PK)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bname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color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4775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classe</a:t>
                      </a:r>
                      <a:r>
                        <a:rPr sz="1400" b="1" spc="10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 </a:t>
                      </a: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sécurité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latin typeface="Cambria"/>
                          <a:cs typeface="Cambria"/>
                        </a:rPr>
                        <a:t>101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75" dirty="0">
                          <a:latin typeface="Cambria"/>
                          <a:cs typeface="Cambria"/>
                        </a:rPr>
                        <a:t>Salsa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25" dirty="0">
                          <a:latin typeface="Cambria"/>
                          <a:cs typeface="Cambria"/>
                        </a:rPr>
                        <a:t>Red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25" dirty="0">
                          <a:latin typeface="Cambria"/>
                          <a:cs typeface="Cambria"/>
                        </a:rPr>
                        <a:t>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latin typeface="Cambria"/>
                          <a:cs typeface="Cambria"/>
                        </a:rPr>
                        <a:t>102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40" dirty="0">
                          <a:latin typeface="Cambria"/>
                          <a:cs typeface="Cambria"/>
                        </a:rPr>
                        <a:t>Pinto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10" dirty="0">
                          <a:latin typeface="Cambria"/>
                          <a:cs typeface="Cambria"/>
                        </a:rPr>
                        <a:t>Brown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70" dirty="0">
                          <a:latin typeface="Cambria"/>
                          <a:cs typeface="Cambria"/>
                        </a:rPr>
                        <a:t>C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138073" y="5811404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Boats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Classification</a:t>
            </a:r>
            <a:r>
              <a:rPr sz="3600" spc="-45" dirty="0"/>
              <a:t> </a:t>
            </a:r>
            <a:r>
              <a:rPr sz="3600" spc="-10" dirty="0"/>
              <a:t>multi-niveaux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897687"/>
            <a:ext cx="6431280" cy="11087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5" dirty="0">
                <a:latin typeface="Cambria"/>
                <a:cs typeface="Cambria"/>
              </a:rPr>
              <a:t>Table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une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classification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colonne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Chaque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colonne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niveau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sécurité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niveaux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sécurité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incrémentent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taille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base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7623" y="5512954"/>
            <a:ext cx="6561455" cy="5791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1300" marR="5080" indent="-228600">
              <a:lnSpc>
                <a:spcPct val="101899"/>
              </a:lnSpc>
              <a:spcBef>
                <a:spcPts val="55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1800" spc="190" dirty="0">
                <a:latin typeface="Cambria"/>
                <a:cs typeface="Cambria"/>
              </a:rPr>
              <a:t>Un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utilisateur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perçoit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uniquement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attributs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qui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lui</a:t>
            </a:r>
            <a:r>
              <a:rPr sz="1800" spc="14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sont </a:t>
            </a:r>
            <a:r>
              <a:rPr sz="1800" spc="55" dirty="0">
                <a:latin typeface="Cambria"/>
                <a:cs typeface="Cambria"/>
              </a:rPr>
              <a:t>autorisés,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autres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valeurs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nulles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seront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insérées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4658" y="3639076"/>
            <a:ext cx="879475" cy="40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5"/>
              </a:lnSpc>
              <a:tabLst>
                <a:tab pos="553085" algn="l"/>
              </a:tabLst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sid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SL1</a:t>
            </a:r>
            <a:endParaRPr sz="1400">
              <a:latin typeface="Arial"/>
              <a:cs typeface="Arial"/>
            </a:endParaRPr>
          </a:p>
          <a:p>
            <a:pPr>
              <a:lnSpc>
                <a:spcPts val="1639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(PK)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7658" y="3639076"/>
            <a:ext cx="118618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859155" algn="l"/>
              </a:tabLst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sname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SL2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17370" y="3639076"/>
            <a:ext cx="156146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1234440" algn="l"/>
              </a:tabLst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rating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SL3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7132" y="3639076"/>
            <a:ext cx="87947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553085" algn="l"/>
              </a:tabLst>
            </a:pP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age</a:t>
            </a: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SL4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4658" y="4157217"/>
            <a:ext cx="72517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596265" algn="l"/>
              </a:tabLst>
            </a:pPr>
            <a:r>
              <a:rPr sz="1400" b="1" spc="-25" dirty="0">
                <a:latin typeface="Arial"/>
                <a:cs typeface="Arial"/>
              </a:rPr>
              <a:t>AA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7658" y="4157217"/>
            <a:ext cx="1010919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882015" algn="l"/>
              </a:tabLst>
            </a:pPr>
            <a:r>
              <a:rPr sz="1400" spc="-25" dirty="0">
                <a:latin typeface="Arial MT"/>
                <a:cs typeface="Arial MT"/>
              </a:rPr>
              <a:t>Tim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17370" y="4157217"/>
            <a:ext cx="150241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1372870" algn="l"/>
              </a:tabLst>
            </a:pPr>
            <a:r>
              <a:rPr sz="1400" dirty="0">
                <a:latin typeface="Arial MT"/>
                <a:cs typeface="Arial MT"/>
              </a:rPr>
              <a:t>Prof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essional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7132" y="4157217"/>
            <a:ext cx="7715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642620" algn="l"/>
              </a:tabLst>
            </a:pPr>
            <a:r>
              <a:rPr sz="1400" spc="-25" dirty="0">
                <a:latin typeface="Arial MT"/>
                <a:cs typeface="Arial MT"/>
              </a:rPr>
              <a:t>45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4658" y="4528692"/>
            <a:ext cx="731520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602615" algn="l"/>
              </a:tabLst>
            </a:pPr>
            <a:r>
              <a:rPr sz="1400" b="1" spc="-25" dirty="0">
                <a:latin typeface="Arial"/>
                <a:cs typeface="Arial"/>
              </a:rPr>
              <a:t>BB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07658" y="4528692"/>
            <a:ext cx="1007744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878840" algn="l"/>
              </a:tabLst>
            </a:pPr>
            <a:r>
              <a:rPr sz="1400" spc="-20" dirty="0">
                <a:latin typeface="Arial MT"/>
                <a:cs typeface="Arial MT"/>
              </a:rPr>
              <a:t>Bill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17370" y="4528692"/>
            <a:ext cx="147256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1353185" algn="l"/>
              </a:tabLst>
            </a:pPr>
            <a:r>
              <a:rPr sz="1400" spc="-10" dirty="0">
                <a:latin typeface="Arial MT"/>
                <a:cs typeface="Arial MT"/>
              </a:rPr>
              <a:t>Beginner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27132" y="4528692"/>
            <a:ext cx="76136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45"/>
              </a:lnSpc>
              <a:tabLst>
                <a:tab pos="641985" algn="l"/>
              </a:tabLst>
            </a:pPr>
            <a:r>
              <a:rPr sz="1400" spc="-25" dirty="0">
                <a:latin typeface="Arial MT"/>
                <a:cs typeface="Arial MT"/>
              </a:rPr>
              <a:t>28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S</a:t>
            </a:r>
            <a:endParaRPr sz="1400">
              <a:latin typeface="Arial MT"/>
              <a:cs typeface="Arial MT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766858" y="3570172"/>
          <a:ext cx="5713729" cy="16313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545"/>
                <a:gridCol w="591820"/>
                <a:gridCol w="802640"/>
                <a:gridCol w="706119"/>
                <a:gridCol w="1222375"/>
                <a:gridCol w="686435"/>
                <a:gridCol w="591820"/>
                <a:gridCol w="561975"/>
              </a:tblGrid>
              <a:tr h="518159">
                <a:tc>
                  <a:txBody>
                    <a:bodyPr/>
                    <a:lstStyle/>
                    <a:p>
                      <a:pPr marL="91440" marR="85725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sid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(PK)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SL1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SL2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rating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SL3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SL4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Tim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Prof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essional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45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Bill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NULL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NULL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EED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CC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Michel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Amateur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D7DB"/>
                    </a:solidFill>
                  </a:tcPr>
                </a:tc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7693946" y="3966729"/>
            <a:ext cx="1698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Sailors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982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0" dirty="0"/>
              <a:t>Poly-</a:t>
            </a:r>
            <a:r>
              <a:rPr sz="3600" spc="-10" dirty="0"/>
              <a:t>instanciation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28</a:t>
            </a:r>
            <a:endParaRPr sz="1400">
              <a:latin typeface="Cambria"/>
              <a:cs typeface="Cambri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23983" y="2557347"/>
          <a:ext cx="3255009" cy="125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/>
                <a:gridCol w="852805"/>
                <a:gridCol w="734060"/>
                <a:gridCol w="1024889"/>
              </a:tblGrid>
              <a:tr h="517525">
                <a:tc>
                  <a:txBody>
                    <a:bodyPr/>
                    <a:lstStyle/>
                    <a:p>
                      <a:pPr marL="90805" marR="125095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b="1" spc="5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bid </a:t>
                      </a:r>
                      <a:r>
                        <a:rPr sz="1400" b="1" spc="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(PK)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bname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color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2870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classe</a:t>
                      </a:r>
                      <a:r>
                        <a:rPr sz="1400" b="1" spc="10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de </a:t>
                      </a:r>
                      <a:r>
                        <a:rPr sz="1400" b="1" spc="7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sécurité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latin typeface="Cambria"/>
                          <a:cs typeface="Cambria"/>
                        </a:rPr>
                        <a:t>101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75" dirty="0">
                          <a:latin typeface="Cambria"/>
                          <a:cs typeface="Cambria"/>
                        </a:rPr>
                        <a:t>Salsa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25" dirty="0">
                          <a:latin typeface="Cambria"/>
                          <a:cs typeface="Cambria"/>
                        </a:rPr>
                        <a:t>Red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25" dirty="0">
                          <a:latin typeface="Cambria"/>
                          <a:cs typeface="Cambria"/>
                        </a:rPr>
                        <a:t>S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1D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25" dirty="0">
                          <a:latin typeface="Cambria"/>
                          <a:cs typeface="Cambria"/>
                        </a:rPr>
                        <a:t>102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40" dirty="0">
                          <a:latin typeface="Cambria"/>
                          <a:cs typeface="Cambria"/>
                        </a:rPr>
                        <a:t>Pinto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10" dirty="0">
                          <a:latin typeface="Cambria"/>
                          <a:cs typeface="Cambria"/>
                        </a:rPr>
                        <a:t>Brown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170" dirty="0">
                          <a:latin typeface="Cambria"/>
                          <a:cs typeface="Cambria"/>
                        </a:rPr>
                        <a:t>C</a:t>
                      </a:r>
                      <a:endParaRPr sz="1400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1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09023" y="1982354"/>
            <a:ext cx="5452110" cy="127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50" dirty="0">
                <a:latin typeface="Cambria"/>
                <a:cs typeface="Cambria"/>
              </a:rPr>
              <a:t>Problème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poly-</a:t>
            </a:r>
            <a:r>
              <a:rPr sz="2000" spc="70" dirty="0">
                <a:latin typeface="Cambria"/>
                <a:cs typeface="Cambria"/>
              </a:rPr>
              <a:t>instanciation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225" dirty="0">
                <a:latin typeface="Cambria"/>
                <a:cs typeface="Cambria"/>
              </a:rPr>
              <a:t>MAC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000">
              <a:latin typeface="Cambria"/>
              <a:cs typeface="Cambria"/>
            </a:endParaRPr>
          </a:p>
          <a:p>
            <a:pPr marR="207645" algn="r">
              <a:lnSpc>
                <a:spcPct val="100000"/>
              </a:lnSpc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table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Boats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3787" y="4125479"/>
            <a:ext cx="7082790" cy="2387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40" dirty="0">
                <a:solidFill>
                  <a:srgbClr val="663366"/>
                </a:solidFill>
                <a:latin typeface="Wingdings"/>
                <a:cs typeface="Wingdings"/>
              </a:rPr>
              <a:t></a:t>
            </a:r>
            <a:r>
              <a:rPr sz="1400" spc="105" dirty="0">
                <a:solidFill>
                  <a:srgbClr val="663366"/>
                </a:solidFill>
                <a:latin typeface="Times New Roman"/>
                <a:cs typeface="Times New Roman"/>
              </a:rPr>
              <a:t>  </a:t>
            </a:r>
            <a:r>
              <a:rPr sz="2000" spc="170" dirty="0">
                <a:latin typeface="Cambria"/>
                <a:cs typeface="Cambria"/>
              </a:rPr>
              <a:t>Si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l’utilisateur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325" dirty="0">
                <a:latin typeface="Cambria"/>
                <a:cs typeface="Cambria"/>
              </a:rPr>
              <a:t>U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autorisation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315" dirty="0">
                <a:latin typeface="Cambria"/>
                <a:cs typeface="Cambria"/>
              </a:rPr>
              <a:t>C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veut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insérer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tuple</a:t>
            </a:r>
            <a:endParaRPr sz="2000">
              <a:latin typeface="Cambria"/>
              <a:cs typeface="Cambria"/>
            </a:endParaRPr>
          </a:p>
          <a:p>
            <a:pPr marL="279400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&lt;101,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Picante,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Scarlet,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200" dirty="0">
                <a:latin typeface="Cambria"/>
                <a:cs typeface="Cambria"/>
              </a:rPr>
              <a:t>C&gt;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soit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-640" dirty="0">
                <a:solidFill>
                  <a:srgbClr val="663366"/>
                </a:solidFill>
                <a:latin typeface="Wingdings"/>
                <a:cs typeface="Wingdings"/>
              </a:rPr>
              <a:t></a:t>
            </a:r>
            <a:r>
              <a:rPr sz="1400" spc="120" dirty="0">
                <a:solidFill>
                  <a:srgbClr val="663366"/>
                </a:solidFill>
                <a:latin typeface="Times New Roman"/>
                <a:cs typeface="Times New Roman"/>
              </a:rPr>
              <a:t>  </a:t>
            </a:r>
            <a:r>
              <a:rPr sz="2000" spc="65" dirty="0">
                <a:latin typeface="Cambria"/>
                <a:cs typeface="Cambria"/>
              </a:rPr>
              <a:t>L’insertion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est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faite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2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lignes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auront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comme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clé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101</a:t>
            </a:r>
            <a:endParaRPr sz="2000">
              <a:latin typeface="Cambria"/>
              <a:cs typeface="Cambria"/>
            </a:endParaRPr>
          </a:p>
          <a:p>
            <a:pPr marL="736600" marR="5080" indent="-266700">
              <a:lnSpc>
                <a:spcPct val="100000"/>
              </a:lnSpc>
              <a:spcBef>
                <a:spcPts val="600"/>
              </a:spcBef>
            </a:pPr>
            <a:r>
              <a:rPr sz="1400" spc="-640" dirty="0">
                <a:solidFill>
                  <a:srgbClr val="663366"/>
                </a:solidFill>
                <a:latin typeface="Wingdings"/>
                <a:cs typeface="Wingdings"/>
              </a:rPr>
              <a:t></a:t>
            </a:r>
            <a:r>
              <a:rPr sz="1400" spc="125" dirty="0">
                <a:solidFill>
                  <a:srgbClr val="663366"/>
                </a:solidFill>
                <a:latin typeface="Times New Roman"/>
                <a:cs typeface="Times New Roman"/>
              </a:rPr>
              <a:t>  </a:t>
            </a:r>
            <a:r>
              <a:rPr sz="2000" spc="65" dirty="0">
                <a:latin typeface="Cambria"/>
                <a:cs typeface="Cambria"/>
              </a:rPr>
              <a:t>L’insertion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est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rejetée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265" dirty="0">
                <a:latin typeface="Cambria"/>
                <a:cs typeface="Cambria"/>
              </a:rPr>
              <a:t>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déduit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qu’il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existe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autre </a:t>
            </a:r>
            <a:r>
              <a:rPr sz="2000" spc="85" dirty="0">
                <a:latin typeface="Cambria"/>
                <a:cs typeface="Cambria"/>
              </a:rPr>
              <a:t>bateau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comme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clé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101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qui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viole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la </a:t>
            </a:r>
            <a:r>
              <a:rPr sz="2000" spc="60" dirty="0">
                <a:latin typeface="Cambria"/>
                <a:cs typeface="Cambria"/>
              </a:rPr>
              <a:t>confidentialité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objets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classe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supérieure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-640" dirty="0">
                <a:solidFill>
                  <a:srgbClr val="663366"/>
                </a:solidFill>
                <a:latin typeface="Wingdings"/>
                <a:cs typeface="Wingdings"/>
              </a:rPr>
              <a:t></a:t>
            </a:r>
            <a:r>
              <a:rPr sz="1400" spc="114" dirty="0">
                <a:solidFill>
                  <a:srgbClr val="663366"/>
                </a:solidFill>
                <a:latin typeface="Times New Roman"/>
                <a:cs typeface="Times New Roman"/>
              </a:rPr>
              <a:t>  </a:t>
            </a:r>
            <a:r>
              <a:rPr sz="2000" spc="75" dirty="0">
                <a:latin typeface="Cambria"/>
                <a:cs typeface="Cambria"/>
              </a:rPr>
              <a:t>Solution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classes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sécurité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font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partie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clé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0" dirty="0"/>
              <a:t>RBAC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29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955790" cy="418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75945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240" dirty="0">
                <a:latin typeface="Cambria"/>
                <a:cs typeface="Cambria"/>
              </a:rPr>
              <a:t>DAC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250" dirty="0">
                <a:latin typeface="Cambria"/>
                <a:cs typeface="Cambria"/>
              </a:rPr>
              <a:t>MAC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ne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sont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applicables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systèmes </a:t>
            </a:r>
            <a:r>
              <a:rPr sz="2000" spc="10" dirty="0">
                <a:latin typeface="Cambria"/>
                <a:cs typeface="Cambria"/>
              </a:rPr>
              <a:t>complexes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des</a:t>
            </a:r>
            <a:r>
              <a:rPr sz="2000" spc="33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centaines/milliers</a:t>
            </a:r>
            <a:r>
              <a:rPr sz="2000" spc="33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d’utilisateurs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5" dirty="0">
                <a:latin typeface="Cambria"/>
                <a:cs typeface="Cambria"/>
              </a:rPr>
              <a:t>Inconvénients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190" dirty="0">
                <a:latin typeface="Cambria"/>
                <a:cs typeface="Cambria"/>
              </a:rPr>
              <a:t>DAC</a:t>
            </a:r>
            <a:endParaRPr sz="1800">
              <a:latin typeface="Cambria"/>
              <a:cs typeface="Cambria"/>
            </a:endParaRPr>
          </a:p>
          <a:p>
            <a:pPr marL="698500" marR="335280" lvl="2" indent="-228600">
              <a:lnSpc>
                <a:spcPct val="99500"/>
              </a:lnSpc>
              <a:spcBef>
                <a:spcPts val="55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dirty="0">
                <a:latin typeface="Cambria"/>
                <a:cs typeface="Cambria"/>
              </a:rPr>
              <a:t>Approche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basée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l’attribution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sujet (utilisateur)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donc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difficulté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pour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gérer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dynamicité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des </a:t>
            </a:r>
            <a:r>
              <a:rPr sz="1800" spc="35" dirty="0">
                <a:latin typeface="Cambria"/>
                <a:cs typeface="Cambria"/>
              </a:rPr>
              <a:t>privilèges</a:t>
            </a:r>
            <a:endParaRPr sz="1800">
              <a:latin typeface="Cambria"/>
              <a:cs typeface="Cambria"/>
            </a:endParaRPr>
          </a:p>
          <a:p>
            <a:pPr marL="926465" lvl="3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spc="60" dirty="0">
                <a:latin typeface="Cambria"/>
                <a:cs typeface="Cambria"/>
              </a:rPr>
              <a:t>Sorties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du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système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(entreprise)</a:t>
            </a:r>
            <a:endParaRPr sz="1800">
              <a:latin typeface="Cambria"/>
              <a:cs typeface="Cambria"/>
            </a:endParaRPr>
          </a:p>
          <a:p>
            <a:pPr marL="926465" lvl="3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spc="55" dirty="0">
                <a:latin typeface="Cambria"/>
                <a:cs typeface="Cambria"/>
              </a:rPr>
              <a:t>Modification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(changement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responsabilités)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5" dirty="0">
                <a:latin typeface="Cambria"/>
                <a:cs typeface="Cambria"/>
              </a:rPr>
              <a:t>Inconvénients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200" dirty="0">
                <a:latin typeface="Cambria"/>
                <a:cs typeface="Cambria"/>
              </a:rPr>
              <a:t>MAC</a:t>
            </a:r>
            <a:endParaRPr sz="1800">
              <a:latin typeface="Cambria"/>
              <a:cs typeface="Cambria"/>
            </a:endParaRPr>
          </a:p>
          <a:p>
            <a:pPr marL="698500" marR="513080" lvl="2" indent="-228600">
              <a:lnSpc>
                <a:spcPts val="2100"/>
              </a:lnSpc>
              <a:spcBef>
                <a:spcPts val="7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8500" algn="l"/>
              </a:tabLst>
            </a:pPr>
            <a:r>
              <a:rPr sz="1800" dirty="0">
                <a:latin typeface="Cambria"/>
                <a:cs typeface="Cambria"/>
              </a:rPr>
              <a:t>Approche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basée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organisation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hiérarchique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des </a:t>
            </a:r>
            <a:r>
              <a:rPr sz="1800" spc="35" dirty="0">
                <a:latin typeface="Cambria"/>
                <a:cs typeface="Cambria"/>
              </a:rPr>
              <a:t>privilèges</a:t>
            </a:r>
            <a:endParaRPr sz="1800">
              <a:latin typeface="Cambria"/>
              <a:cs typeface="Cambria"/>
            </a:endParaRPr>
          </a:p>
          <a:p>
            <a:pPr marL="927100" marR="5080" lvl="3" indent="-228600">
              <a:lnSpc>
                <a:spcPct val="101899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7100" algn="l"/>
              </a:tabLst>
            </a:pPr>
            <a:r>
              <a:rPr sz="1800" spc="65" dirty="0">
                <a:latin typeface="Cambria"/>
                <a:cs typeface="Cambria"/>
              </a:rPr>
              <a:t>Difficilement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grande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organisation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organiser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ses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hiérarchiquement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20" dirty="0"/>
              <a:t>RBAC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56954"/>
            <a:ext cx="7157720" cy="44577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139700" indent="-228600">
              <a:lnSpc>
                <a:spcPts val="2100"/>
              </a:lnSpc>
              <a:spcBef>
                <a:spcPts val="4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latin typeface="Cambria"/>
                <a:cs typeface="Cambria"/>
              </a:rPr>
              <a:t>Proposé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pour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systèmes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très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grands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avec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important </a:t>
            </a:r>
            <a:r>
              <a:rPr sz="2000" dirty="0">
                <a:latin typeface="Cambria"/>
                <a:cs typeface="Cambria"/>
              </a:rPr>
              <a:t>nombre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d’utilisateurs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données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Contrôle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d’accès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à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base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rôles</a:t>
            </a:r>
            <a:endParaRPr sz="2000">
              <a:latin typeface="Cambria"/>
              <a:cs typeface="Cambria"/>
            </a:endParaRPr>
          </a:p>
          <a:p>
            <a:pPr marL="469900" marR="511809" lvl="1" indent="-228600">
              <a:lnSpc>
                <a:spcPts val="2000"/>
              </a:lnSpc>
              <a:spcBef>
                <a:spcPts val="5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50" dirty="0">
                <a:latin typeface="Cambria"/>
                <a:cs typeface="Cambria"/>
              </a:rPr>
              <a:t>Modèle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dans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lequel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décisions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d’accès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dépendent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du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rôle </a:t>
            </a:r>
            <a:r>
              <a:rPr sz="1800" spc="65" dirty="0">
                <a:latin typeface="Cambria"/>
                <a:cs typeface="Cambria"/>
              </a:rPr>
              <a:t>auquel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l’utilisateur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attaché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6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Concepts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base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Utilisateur</a:t>
            </a:r>
            <a:r>
              <a:rPr sz="18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(pas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processus)</a:t>
            </a:r>
            <a:endParaRPr sz="1800">
              <a:latin typeface="Cambria"/>
              <a:cs typeface="Cambria"/>
            </a:endParaRPr>
          </a:p>
          <a:p>
            <a:pPr marL="469900" marR="5080" lvl="1" indent="-228600">
              <a:lnSpc>
                <a:spcPct val="90300"/>
              </a:lnSpc>
              <a:spcBef>
                <a:spcPts val="55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Privilège</a:t>
            </a:r>
            <a:r>
              <a:rPr sz="1800" spc="65" dirty="0">
                <a:latin typeface="Cambria"/>
                <a:cs typeface="Cambria"/>
              </a:rPr>
              <a:t>.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Concerne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(opération)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quelconque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une </a:t>
            </a:r>
            <a:r>
              <a:rPr sz="1800" spc="45" dirty="0">
                <a:latin typeface="Cambria"/>
                <a:cs typeface="Cambria"/>
              </a:rPr>
              <a:t>donnée,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plusieurs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sur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donnée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ou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plusieurs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droits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sur </a:t>
            </a:r>
            <a:r>
              <a:rPr sz="1800" spc="55" dirty="0">
                <a:latin typeface="Cambria"/>
                <a:cs typeface="Cambria"/>
              </a:rPr>
              <a:t>plusieurs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données</a:t>
            </a:r>
            <a:endParaRPr sz="1800">
              <a:latin typeface="Cambria"/>
              <a:cs typeface="Cambria"/>
            </a:endParaRPr>
          </a:p>
          <a:p>
            <a:pPr marL="469900" marR="11430" lvl="1" indent="-228600">
              <a:lnSpc>
                <a:spcPts val="19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5" dirty="0">
                <a:solidFill>
                  <a:srgbClr val="FF0000"/>
                </a:solidFill>
                <a:latin typeface="Cambria"/>
                <a:cs typeface="Cambria"/>
              </a:rPr>
              <a:t>Rôles</a:t>
            </a:r>
            <a:r>
              <a:rPr sz="1800" spc="65" dirty="0">
                <a:latin typeface="Cambria"/>
                <a:cs typeface="Cambria"/>
              </a:rPr>
              <a:t>.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Entité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déterminant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une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activité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d’entreprise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(comptable, </a:t>
            </a:r>
            <a:r>
              <a:rPr sz="1800" dirty="0">
                <a:latin typeface="Cambria"/>
                <a:cs typeface="Cambria"/>
              </a:rPr>
              <a:t>chef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projet,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chef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département,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cassier,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etc.)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14" dirty="0">
                <a:latin typeface="Cambria"/>
                <a:cs typeface="Cambria"/>
              </a:rPr>
              <a:t>Deux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approches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modèles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215" dirty="0">
                <a:latin typeface="Cambria"/>
                <a:cs typeface="Cambria"/>
              </a:rPr>
              <a:t>ANSI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et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role</a:t>
            </a:r>
            <a:r>
              <a:rPr sz="2000" i="1" u="sng" spc="2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graphe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72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204" dirty="0">
                <a:latin typeface="Cambria"/>
                <a:cs typeface="Cambria"/>
              </a:rPr>
              <a:t>Les</a:t>
            </a:r>
            <a:r>
              <a:rPr sz="3600" spc="229" dirty="0">
                <a:latin typeface="Cambria"/>
                <a:cs typeface="Cambria"/>
              </a:rPr>
              <a:t> </a:t>
            </a:r>
            <a:r>
              <a:rPr sz="3600" spc="4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56954"/>
            <a:ext cx="6772909" cy="433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00" dirty="0">
                <a:latin typeface="Cambria"/>
                <a:cs typeface="Cambria"/>
              </a:rPr>
              <a:t>Sont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définis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une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autorité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centrale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00" dirty="0">
                <a:latin typeface="Cambria"/>
                <a:cs typeface="Cambria"/>
              </a:rPr>
              <a:t>Sont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identifiés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par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nom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unique</a:t>
            </a:r>
            <a:endParaRPr sz="2000">
              <a:latin typeface="Cambria"/>
              <a:cs typeface="Cambria"/>
            </a:endParaRPr>
          </a:p>
          <a:p>
            <a:pPr marL="241300" marR="5080" indent="-228600">
              <a:lnSpc>
                <a:spcPts val="2100"/>
              </a:lnSpc>
              <a:spcBef>
                <a:spcPts val="21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85" dirty="0">
                <a:latin typeface="Cambria"/>
                <a:cs typeface="Cambria"/>
              </a:rPr>
              <a:t>Peuvent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être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organisés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en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une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hiérarchie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graphe. </a:t>
            </a:r>
            <a:r>
              <a:rPr sz="2000" spc="80" dirty="0">
                <a:latin typeface="Cambria"/>
                <a:cs typeface="Cambria"/>
              </a:rPr>
              <a:t>Attention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aux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80" dirty="0">
                <a:latin typeface="Cambria"/>
                <a:cs typeface="Cambria"/>
              </a:rPr>
              <a:t>Cycles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(redondance)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5" dirty="0">
                <a:latin typeface="Cambria"/>
                <a:cs typeface="Cambria"/>
              </a:rPr>
              <a:t>Conflits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d’intérêt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00" dirty="0">
                <a:latin typeface="Cambria"/>
                <a:cs typeface="Cambria"/>
              </a:rPr>
              <a:t>Sont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attribués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14" dirty="0">
                <a:latin typeface="Cambria"/>
                <a:cs typeface="Cambria"/>
              </a:rPr>
              <a:t>aux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utilisateurs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ou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groups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d’utilisateurs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90" dirty="0">
                <a:latin typeface="Cambria"/>
                <a:cs typeface="Cambria"/>
              </a:rPr>
              <a:t>Mapping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rôle-</a:t>
            </a:r>
            <a:r>
              <a:rPr sz="1800" spc="55" dirty="0">
                <a:latin typeface="Cambria"/>
                <a:cs typeface="Cambria"/>
              </a:rPr>
              <a:t>utilisateur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39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0" dirty="0">
                <a:latin typeface="Cambria"/>
                <a:cs typeface="Cambria"/>
              </a:rPr>
              <a:t>Plusieurs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peuvent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attribués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utilisateur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70" dirty="0">
                <a:latin typeface="Cambria"/>
                <a:cs typeface="Cambria"/>
              </a:rPr>
              <a:t>Plusieurs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utilisateurs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peuvent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partager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plusieurs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rôles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90" dirty="0">
                <a:latin typeface="Cambria"/>
                <a:cs typeface="Cambria"/>
              </a:rPr>
              <a:t>Facilité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gestion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rôle-</a:t>
            </a:r>
            <a:r>
              <a:rPr sz="2000" spc="65" dirty="0">
                <a:latin typeface="Cambria"/>
                <a:cs typeface="Cambria"/>
              </a:rPr>
              <a:t>utilisateur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8821" y="866343"/>
            <a:ext cx="7157084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03860" marR="304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204" dirty="0">
                <a:latin typeface="Cambria"/>
                <a:cs typeface="Cambria"/>
              </a:rPr>
              <a:t>Les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75" dirty="0">
                <a:latin typeface="Cambria"/>
                <a:cs typeface="Cambria"/>
              </a:rPr>
              <a:t>groupes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120" dirty="0">
                <a:latin typeface="Cambria"/>
                <a:cs typeface="Cambria"/>
              </a:rPr>
              <a:t>d’utilisateurs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114" dirty="0">
                <a:latin typeface="Cambria"/>
                <a:cs typeface="Cambria"/>
              </a:rPr>
              <a:t>et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80" dirty="0">
                <a:latin typeface="Cambria"/>
                <a:cs typeface="Cambria"/>
              </a:rPr>
              <a:t>les </a:t>
            </a:r>
            <a:r>
              <a:rPr sz="3600" spc="4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2631112"/>
            <a:ext cx="7188200" cy="33439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0" dirty="0">
                <a:latin typeface="Cambria"/>
                <a:cs typeface="Cambria"/>
              </a:rPr>
              <a:t>Groupes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d’utilisateurs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80" dirty="0">
                <a:latin typeface="Cambria"/>
                <a:cs typeface="Cambria"/>
              </a:rPr>
              <a:t>Facilite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gestion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utilisateurs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membres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du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group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peuvent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changer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fréquemment</a:t>
            </a:r>
            <a:endParaRPr sz="1800">
              <a:latin typeface="Cambria"/>
              <a:cs typeface="Cambria"/>
            </a:endParaRPr>
          </a:p>
          <a:p>
            <a:pPr marL="469900" marR="461645" lvl="1" indent="-228600">
              <a:lnSpc>
                <a:spcPts val="2100"/>
              </a:lnSpc>
              <a:spcBef>
                <a:spcPts val="76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gestion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groupes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peut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faire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gestionnaire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des </a:t>
            </a:r>
            <a:r>
              <a:rPr sz="1800" dirty="0">
                <a:latin typeface="Cambria"/>
                <a:cs typeface="Cambria"/>
              </a:rPr>
              <a:t>ressources</a:t>
            </a:r>
            <a:r>
              <a:rPr sz="1800" spc="43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humaines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9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45" dirty="0">
                <a:latin typeface="Cambria"/>
                <a:cs typeface="Cambria"/>
              </a:rPr>
              <a:t>Rôles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sont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définis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avant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mise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en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place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du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système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00" dirty="0">
                <a:latin typeface="Cambria"/>
                <a:cs typeface="Cambria"/>
              </a:rPr>
              <a:t>Les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attribués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aux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varient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très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peu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70" dirty="0">
                <a:latin typeface="Cambria"/>
                <a:cs typeface="Cambria"/>
              </a:rPr>
              <a:t>La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gestion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faire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un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utilisateur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confiance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821" y="866343"/>
            <a:ext cx="7225030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03860" marR="304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35" dirty="0">
                <a:latin typeface="Cambria"/>
                <a:cs typeface="Cambria"/>
              </a:rPr>
              <a:t>Composants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125" dirty="0">
                <a:latin typeface="Cambria"/>
                <a:cs typeface="Cambria"/>
              </a:rPr>
              <a:t>du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50" dirty="0">
                <a:latin typeface="Cambria"/>
                <a:cs typeface="Cambria"/>
              </a:rPr>
              <a:t>modèle</a:t>
            </a:r>
            <a:r>
              <a:rPr sz="3600" spc="215" dirty="0">
                <a:latin typeface="Cambria"/>
                <a:cs typeface="Cambria"/>
              </a:rPr>
              <a:t> </a:t>
            </a:r>
            <a:r>
              <a:rPr sz="3600" spc="95" dirty="0">
                <a:latin typeface="Cambria"/>
                <a:cs typeface="Cambria"/>
              </a:rPr>
              <a:t>basé</a:t>
            </a:r>
            <a:r>
              <a:rPr sz="3600" spc="220" dirty="0">
                <a:latin typeface="Cambria"/>
                <a:cs typeface="Cambria"/>
              </a:rPr>
              <a:t> </a:t>
            </a:r>
            <a:r>
              <a:rPr sz="3600" spc="110" dirty="0">
                <a:latin typeface="Cambria"/>
                <a:cs typeface="Cambria"/>
              </a:rPr>
              <a:t>sur </a:t>
            </a:r>
            <a:r>
              <a:rPr sz="3600" spc="105" dirty="0">
                <a:latin typeface="Cambria"/>
                <a:cs typeface="Cambria"/>
              </a:rPr>
              <a:t>les</a:t>
            </a:r>
            <a:r>
              <a:rPr sz="3600" spc="204" dirty="0">
                <a:latin typeface="Cambria"/>
                <a:cs typeface="Cambria"/>
              </a:rPr>
              <a:t> </a:t>
            </a:r>
            <a:r>
              <a:rPr sz="3600" spc="4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9182" y="631709"/>
            <a:ext cx="685800" cy="1600200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36195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285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33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59187" y="3466407"/>
            <a:ext cx="794385" cy="644525"/>
            <a:chOff x="8059187" y="3466407"/>
            <a:chExt cx="794385" cy="644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9187" y="3466407"/>
              <a:ext cx="573578" cy="3616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4784" y="3715789"/>
              <a:ext cx="87283" cy="2036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0627" y="3736570"/>
              <a:ext cx="702425" cy="3740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252278" y="3510355"/>
            <a:ext cx="46228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P1</a:t>
            </a:r>
            <a:endParaRPr sz="1200">
              <a:latin typeface="Cambria"/>
              <a:cs typeface="Cambria"/>
            </a:endParaRPr>
          </a:p>
          <a:p>
            <a:pPr marL="58419">
              <a:lnSpc>
                <a:spcPct val="100000"/>
              </a:lnSpc>
              <a:spcBef>
                <a:spcPts val="985"/>
              </a:spcBef>
            </a:pPr>
            <a:r>
              <a:rPr sz="800" spc="-10" dirty="0">
                <a:latin typeface="Cambria"/>
                <a:cs typeface="Cambria"/>
              </a:rPr>
              <a:t>Lire(O1)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150627" y="3715789"/>
            <a:ext cx="711200" cy="657225"/>
            <a:chOff x="8150627" y="3715789"/>
            <a:chExt cx="711200" cy="65722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4784" y="3715789"/>
              <a:ext cx="87283" cy="46966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0627" y="4002577"/>
              <a:ext cx="710737" cy="36991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244079" y="4083561"/>
            <a:ext cx="52451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Cambria"/>
                <a:cs typeface="Cambria"/>
              </a:rPr>
              <a:t>Écrire(O1)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92440" y="4347556"/>
            <a:ext cx="789940" cy="644525"/>
            <a:chOff x="8092440" y="4347556"/>
            <a:chExt cx="789940" cy="64452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92440" y="4347556"/>
              <a:ext cx="569421" cy="36160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3878" y="4596938"/>
              <a:ext cx="87283" cy="20366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79722" y="4617720"/>
              <a:ext cx="702425" cy="3740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281860" y="4391545"/>
            <a:ext cx="448945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P2</a:t>
            </a:r>
            <a:endParaRPr sz="1200">
              <a:latin typeface="Cambria"/>
              <a:cs typeface="Cambria"/>
            </a:endParaRPr>
          </a:p>
          <a:p>
            <a:pPr marL="71120">
              <a:lnSpc>
                <a:spcPct val="100000"/>
              </a:lnSpc>
              <a:spcBef>
                <a:spcPts val="985"/>
              </a:spcBef>
            </a:pPr>
            <a:r>
              <a:rPr sz="800" spc="-10" dirty="0">
                <a:latin typeface="Cambria"/>
                <a:cs typeface="Cambria"/>
              </a:rPr>
              <a:t>Lire(02)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183878" y="4596938"/>
            <a:ext cx="885825" cy="698500"/>
            <a:chOff x="8183878" y="4596938"/>
            <a:chExt cx="885825" cy="69850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83878" y="4596938"/>
              <a:ext cx="95596" cy="5070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88035" y="4921135"/>
              <a:ext cx="881148" cy="374072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317803" y="5002996"/>
            <a:ext cx="62928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Cambria"/>
                <a:cs typeface="Cambria"/>
              </a:rPr>
              <a:t>partage</a:t>
            </a:r>
            <a:r>
              <a:rPr sz="800" spc="195" dirty="0">
                <a:latin typeface="Cambria"/>
                <a:cs typeface="Cambria"/>
              </a:rPr>
              <a:t> </a:t>
            </a:r>
            <a:r>
              <a:rPr sz="800" spc="-20" dirty="0">
                <a:latin typeface="Cambria"/>
                <a:cs typeface="Cambria"/>
              </a:rPr>
              <a:t>(O2)</a:t>
            </a:r>
            <a:endParaRPr sz="8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142315" y="5282738"/>
            <a:ext cx="781685" cy="631825"/>
            <a:chOff x="8142315" y="5282738"/>
            <a:chExt cx="781685" cy="631825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42315" y="5282738"/>
              <a:ext cx="573578" cy="3616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37912" y="5536276"/>
              <a:ext cx="74814" cy="1911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21286" y="5544589"/>
              <a:ext cx="702425" cy="36991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317033" y="5327813"/>
            <a:ext cx="519430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P3</a:t>
            </a:r>
            <a:endParaRPr sz="1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800" spc="-10" dirty="0">
                <a:latin typeface="Cambria"/>
                <a:cs typeface="Cambria"/>
              </a:rPr>
              <a:t>écrire(O2)</a:t>
            </a:r>
            <a:endParaRPr sz="8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92876" y="3470564"/>
            <a:ext cx="947650" cy="45304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530326" y="3600651"/>
            <a:ext cx="2774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FFFFF"/>
                </a:solidFill>
                <a:latin typeface="Cambria"/>
                <a:cs typeface="Cambria"/>
              </a:rPr>
              <a:t>Lisa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90403" y="3470564"/>
            <a:ext cx="951806" cy="453043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557156" y="3600651"/>
            <a:ext cx="22415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Cambria"/>
                <a:cs typeface="Cambria"/>
              </a:rPr>
              <a:t>Joe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2086" y="3470564"/>
            <a:ext cx="947650" cy="45304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3530540" y="3600651"/>
            <a:ext cx="2774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FFFFFF"/>
                </a:solidFill>
                <a:latin typeface="Cambria"/>
                <a:cs typeface="Cambria"/>
              </a:rPr>
              <a:t>Bob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50323" y="4613564"/>
            <a:ext cx="947650" cy="453043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696551" y="4743651"/>
            <a:ext cx="659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mbria"/>
                <a:cs typeface="Cambria"/>
              </a:rPr>
              <a:t>Ingénieur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763981" y="4613564"/>
            <a:ext cx="947650" cy="453043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908328" y="4659831"/>
            <a:ext cx="6648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92100" marR="5080" indent="-280035">
              <a:lnSpc>
                <a:spcPts val="1300"/>
              </a:lnSpc>
              <a:spcBef>
                <a:spcPts val="160"/>
              </a:spcBef>
            </a:pPr>
            <a:r>
              <a:rPr sz="1100" spc="45" dirty="0">
                <a:solidFill>
                  <a:srgbClr val="FFFFFF"/>
                </a:solidFill>
                <a:latin typeface="Cambria"/>
                <a:cs typeface="Cambria"/>
              </a:rPr>
              <a:t>Comptabl </a:t>
            </a:r>
            <a:r>
              <a:rPr sz="1100" spc="40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19745" y="5756562"/>
            <a:ext cx="951807" cy="453043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2421415" y="5879031"/>
            <a:ext cx="3524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FFFFFF"/>
                </a:solidFill>
                <a:latin typeface="Cambria"/>
                <a:cs typeface="Cambria"/>
              </a:rPr>
              <a:t>Base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660497" y="3187931"/>
            <a:ext cx="6548755" cy="2581275"/>
            <a:chOff x="1660497" y="3187931"/>
            <a:chExt cx="6548755" cy="2581275"/>
          </a:xfrm>
        </p:grpSpPr>
        <p:sp>
          <p:nvSpPr>
            <p:cNvPr id="40" name="object 40"/>
            <p:cNvSpPr/>
            <p:nvPr/>
          </p:nvSpPr>
          <p:spPr>
            <a:xfrm>
              <a:off x="1666847" y="3911484"/>
              <a:ext cx="346075" cy="692150"/>
            </a:xfrm>
            <a:custGeom>
              <a:avLst/>
              <a:gdLst/>
              <a:ahLst/>
              <a:cxnLst/>
              <a:rect l="l" t="t" r="r" b="b"/>
              <a:pathLst>
                <a:path w="346075" h="692150">
                  <a:moveTo>
                    <a:pt x="0" y="0"/>
                  </a:moveTo>
                  <a:lnTo>
                    <a:pt x="345914" y="691830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24458" y="4502156"/>
              <a:ext cx="107107" cy="12370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040894" y="3911485"/>
              <a:ext cx="626110" cy="695960"/>
            </a:xfrm>
            <a:custGeom>
              <a:avLst/>
              <a:gdLst/>
              <a:ahLst/>
              <a:cxnLst/>
              <a:rect l="l" t="t" r="r" b="b"/>
              <a:pathLst>
                <a:path w="626110" h="695960">
                  <a:moveTo>
                    <a:pt x="626076" y="0"/>
                  </a:moveTo>
                  <a:lnTo>
                    <a:pt x="0" y="695640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24033" y="4506889"/>
              <a:ext cx="115108" cy="118971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251438" y="3911484"/>
              <a:ext cx="415925" cy="692785"/>
            </a:xfrm>
            <a:custGeom>
              <a:avLst/>
              <a:gdLst/>
              <a:ahLst/>
              <a:cxnLst/>
              <a:rect l="l" t="t" r="r" b="b"/>
              <a:pathLst>
                <a:path w="415925" h="692785">
                  <a:moveTo>
                    <a:pt x="415657" y="0"/>
                  </a:moveTo>
                  <a:lnTo>
                    <a:pt x="0" y="692761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38470" y="4503251"/>
              <a:ext cx="104796" cy="12260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2612394" y="5054485"/>
              <a:ext cx="626110" cy="695960"/>
            </a:xfrm>
            <a:custGeom>
              <a:avLst/>
              <a:gdLst/>
              <a:ahLst/>
              <a:cxnLst/>
              <a:rect l="l" t="t" r="r" b="b"/>
              <a:pathLst>
                <a:path w="626110" h="695960">
                  <a:moveTo>
                    <a:pt x="626076" y="0"/>
                  </a:moveTo>
                  <a:lnTo>
                    <a:pt x="0" y="695640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95533" y="5649889"/>
              <a:ext cx="115108" cy="11897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024033" y="5054485"/>
              <a:ext cx="556260" cy="694690"/>
            </a:xfrm>
            <a:custGeom>
              <a:avLst/>
              <a:gdLst/>
              <a:ahLst/>
              <a:cxnLst/>
              <a:rect l="l" t="t" r="r" b="b"/>
              <a:pathLst>
                <a:path w="556260" h="694689">
                  <a:moveTo>
                    <a:pt x="0" y="0"/>
                  </a:moveTo>
                  <a:lnTo>
                    <a:pt x="555754" y="694693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83102" y="5648319"/>
              <a:ext cx="112430" cy="12054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02020" y="3825760"/>
              <a:ext cx="2608580" cy="1014730"/>
            </a:xfrm>
            <a:custGeom>
              <a:avLst/>
              <a:gdLst/>
              <a:ahLst/>
              <a:cxnLst/>
              <a:rect l="l" t="t" r="r" b="b"/>
              <a:pathLst>
                <a:path w="2608579" h="1014729">
                  <a:moveTo>
                    <a:pt x="0" y="1014412"/>
                  </a:moveTo>
                  <a:lnTo>
                    <a:pt x="680243" y="1014412"/>
                  </a:lnTo>
                  <a:lnTo>
                    <a:pt x="680243" y="0"/>
                  </a:lnTo>
                  <a:lnTo>
                    <a:pt x="2608262" y="0"/>
                  </a:lnTo>
                  <a:lnTo>
                    <a:pt x="2608262" y="203395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51330" y="3938451"/>
              <a:ext cx="117908" cy="11590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487583" y="4840173"/>
              <a:ext cx="2606675" cy="586105"/>
            </a:xfrm>
            <a:custGeom>
              <a:avLst/>
              <a:gdLst/>
              <a:ahLst/>
              <a:cxnLst/>
              <a:rect l="l" t="t" r="r" b="b"/>
              <a:pathLst>
                <a:path w="2606675" h="586104">
                  <a:moveTo>
                    <a:pt x="0" y="0"/>
                  </a:moveTo>
                  <a:lnTo>
                    <a:pt x="181768" y="0"/>
                  </a:lnTo>
                  <a:lnTo>
                    <a:pt x="181768" y="585787"/>
                  </a:lnTo>
                  <a:lnTo>
                    <a:pt x="2606675" y="585787"/>
                  </a:lnTo>
                  <a:lnTo>
                    <a:pt x="2606675" y="382392"/>
                  </a:lnTo>
                </a:path>
              </a:pathLst>
            </a:custGeom>
            <a:ln w="12699">
              <a:solidFill>
                <a:srgbClr val="FA9F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35305" y="5197360"/>
              <a:ext cx="117908" cy="11590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584600" y="4554423"/>
              <a:ext cx="2546985" cy="428625"/>
            </a:xfrm>
            <a:custGeom>
              <a:avLst/>
              <a:gdLst/>
              <a:ahLst/>
              <a:cxnLst/>
              <a:rect l="l" t="t" r="r" b="b"/>
              <a:pathLst>
                <a:path w="2546984" h="428625">
                  <a:moveTo>
                    <a:pt x="2546545" y="0"/>
                  </a:moveTo>
                  <a:lnTo>
                    <a:pt x="125834" y="0"/>
                  </a:lnTo>
                  <a:lnTo>
                    <a:pt x="125834" y="428624"/>
                  </a:lnTo>
                  <a:lnTo>
                    <a:pt x="0" y="428624"/>
                  </a:lnTo>
                </a:path>
              </a:pathLst>
            </a:custGeom>
            <a:ln w="12699">
              <a:solidFill>
                <a:srgbClr val="421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59395" y="4924093"/>
              <a:ext cx="115909" cy="11790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941912" y="4983047"/>
              <a:ext cx="1261110" cy="500380"/>
            </a:xfrm>
            <a:custGeom>
              <a:avLst/>
              <a:gdLst/>
              <a:ahLst/>
              <a:cxnLst/>
              <a:rect l="l" t="t" r="r" b="b"/>
              <a:pathLst>
                <a:path w="1261109" h="500379">
                  <a:moveTo>
                    <a:pt x="1260669" y="500061"/>
                  </a:moveTo>
                  <a:lnTo>
                    <a:pt x="617731" y="500061"/>
                  </a:lnTo>
                  <a:lnTo>
                    <a:pt x="617731" y="0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421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16708" y="4924093"/>
              <a:ext cx="115907" cy="11790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799038" y="3625734"/>
              <a:ext cx="1332230" cy="643255"/>
            </a:xfrm>
            <a:custGeom>
              <a:avLst/>
              <a:gdLst/>
              <a:ahLst/>
              <a:cxnLst/>
              <a:rect l="l" t="t" r="r" b="b"/>
              <a:pathLst>
                <a:path w="1332229" h="643254">
                  <a:moveTo>
                    <a:pt x="1332107" y="0"/>
                  </a:moveTo>
                  <a:lnTo>
                    <a:pt x="653450" y="0"/>
                  </a:lnTo>
                  <a:lnTo>
                    <a:pt x="653450" y="642937"/>
                  </a:lnTo>
                  <a:lnTo>
                    <a:pt x="0" y="642937"/>
                  </a:lnTo>
                </a:path>
              </a:pathLst>
            </a:custGeom>
            <a:ln w="12699">
              <a:solidFill>
                <a:srgbClr val="421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73833" y="4209718"/>
              <a:ext cx="115907" cy="11790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36769" y="3187931"/>
              <a:ext cx="947650" cy="448887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7566946" y="2574493"/>
            <a:ext cx="1075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Privilèges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780885" y="2574493"/>
            <a:ext cx="16979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rôles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80487" y="2574493"/>
            <a:ext cx="201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groupes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494752" y="3307281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mbria"/>
                <a:cs typeface="Cambria"/>
              </a:rPr>
              <a:t>RoleMax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65" name="object 6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835533" y="4044141"/>
            <a:ext cx="947650" cy="448887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5980141" y="4088331"/>
            <a:ext cx="664845" cy="3581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292100" marR="5080" indent="-280035">
              <a:lnSpc>
                <a:spcPts val="1300"/>
              </a:lnSpc>
              <a:spcBef>
                <a:spcPts val="160"/>
              </a:spcBef>
            </a:pPr>
            <a:r>
              <a:rPr sz="1100" spc="45" dirty="0">
                <a:solidFill>
                  <a:srgbClr val="FFFFFF"/>
                </a:solidFill>
                <a:latin typeface="Cambria"/>
                <a:cs typeface="Cambria"/>
              </a:rPr>
              <a:t>Comptabl </a:t>
            </a:r>
            <a:r>
              <a:rPr sz="1100" spc="40" dirty="0">
                <a:solidFill>
                  <a:srgbClr val="FFFFFF"/>
                </a:solidFill>
                <a:latin typeface="Cambria"/>
                <a:cs typeface="Cambria"/>
              </a:rPr>
              <a:t>e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21875" y="4759036"/>
            <a:ext cx="947650" cy="448887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4768362" y="4886526"/>
            <a:ext cx="659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mbria"/>
                <a:cs typeface="Cambria"/>
              </a:rPr>
              <a:t>Ingénieur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764875" y="4759036"/>
            <a:ext cx="1163781" cy="448887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5891438" y="4886526"/>
            <a:ext cx="9137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mbria"/>
                <a:cs typeface="Cambria"/>
              </a:rPr>
              <a:t>Programmeur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1" name="object 7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21875" y="4044141"/>
            <a:ext cx="947650" cy="448887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4743703" y="4172151"/>
            <a:ext cx="708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mbria"/>
                <a:cs typeface="Cambria"/>
              </a:rPr>
              <a:t>ChefProjet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3" name="object 7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336769" y="5403272"/>
            <a:ext cx="947650" cy="448887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5517117" y="5529464"/>
            <a:ext cx="5905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Cambria"/>
                <a:cs typeface="Cambria"/>
              </a:rPr>
              <a:t>Stagiaire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336769" y="6188825"/>
            <a:ext cx="947650" cy="448887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5480465" y="6307657"/>
            <a:ext cx="663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mbria"/>
                <a:cs typeface="Cambria"/>
              </a:rPr>
              <a:t>RoleBase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036332" y="3624635"/>
            <a:ext cx="1369060" cy="2581275"/>
            <a:chOff x="5036332" y="3624635"/>
            <a:chExt cx="1369060" cy="2581275"/>
          </a:xfrm>
        </p:grpSpPr>
        <p:sp>
          <p:nvSpPr>
            <p:cNvPr id="78" name="object 78"/>
            <p:cNvSpPr/>
            <p:nvPr/>
          </p:nvSpPr>
          <p:spPr>
            <a:xfrm>
              <a:off x="5059333" y="3638229"/>
              <a:ext cx="729615" cy="416559"/>
            </a:xfrm>
            <a:custGeom>
              <a:avLst/>
              <a:gdLst/>
              <a:ahLst/>
              <a:cxnLst/>
              <a:rect l="l" t="t" r="r" b="b"/>
              <a:pathLst>
                <a:path w="729614" h="416560">
                  <a:moveTo>
                    <a:pt x="0" y="416129"/>
                  </a:moveTo>
                  <a:lnTo>
                    <a:pt x="72899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687352" y="3624635"/>
              <a:ext cx="122868" cy="10447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863681" y="3642814"/>
              <a:ext cx="447040" cy="412115"/>
            </a:xfrm>
            <a:custGeom>
              <a:avLst/>
              <a:gdLst/>
              <a:ahLst/>
              <a:cxnLst/>
              <a:rect l="l" t="t" r="r" b="b"/>
              <a:pathLst>
                <a:path w="447039" h="412114">
                  <a:moveTo>
                    <a:pt x="446601" y="411544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45145" y="3625734"/>
              <a:ext cx="118602" cy="11560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094258" y="4509777"/>
              <a:ext cx="1905" cy="260985"/>
            </a:xfrm>
            <a:custGeom>
              <a:avLst/>
              <a:gdLst/>
              <a:ahLst/>
              <a:cxnLst/>
              <a:rect l="l" t="t" r="r" b="b"/>
              <a:pathLst>
                <a:path w="1904" h="260985">
                  <a:moveTo>
                    <a:pt x="0" y="260545"/>
                  </a:moveTo>
                  <a:lnTo>
                    <a:pt x="14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036332" y="4484573"/>
              <a:ext cx="117905" cy="116155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083938" y="4488451"/>
              <a:ext cx="1261745" cy="280670"/>
            </a:xfrm>
            <a:custGeom>
              <a:avLst/>
              <a:gdLst/>
              <a:ahLst/>
              <a:cxnLst/>
              <a:rect l="l" t="t" r="r" b="b"/>
              <a:pathLst>
                <a:path w="1261745" h="280670">
                  <a:moveTo>
                    <a:pt x="1261269" y="280282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059333" y="4447358"/>
              <a:ext cx="122864" cy="11510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083570" y="5204277"/>
              <a:ext cx="727075" cy="207645"/>
            </a:xfrm>
            <a:custGeom>
              <a:avLst/>
              <a:gdLst/>
              <a:ahLst/>
              <a:cxnLst/>
              <a:rect l="l" t="t" r="r" b="b"/>
              <a:pathLst>
                <a:path w="727075" h="207645">
                  <a:moveTo>
                    <a:pt x="726650" y="207395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059332" y="5168407"/>
              <a:ext cx="123751" cy="11354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5808633" y="5206709"/>
              <a:ext cx="513715" cy="205104"/>
            </a:xfrm>
            <a:custGeom>
              <a:avLst/>
              <a:gdLst/>
              <a:ahLst/>
              <a:cxnLst/>
              <a:rect l="l" t="t" r="r" b="b"/>
              <a:pathLst>
                <a:path w="513714" h="205104">
                  <a:moveTo>
                    <a:pt x="0" y="204963"/>
                  </a:moveTo>
                  <a:lnTo>
                    <a:pt x="51316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20954" y="5180097"/>
              <a:ext cx="124254" cy="110481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5808633" y="5867089"/>
              <a:ext cx="1905" cy="332105"/>
            </a:xfrm>
            <a:custGeom>
              <a:avLst/>
              <a:gdLst/>
              <a:ahLst/>
              <a:cxnLst/>
              <a:rect l="l" t="t" r="r" b="b"/>
              <a:pathLst>
                <a:path w="1904" h="332104">
                  <a:moveTo>
                    <a:pt x="0" y="331983"/>
                  </a:moveTo>
                  <a:lnTo>
                    <a:pt x="1475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50818" y="5841884"/>
              <a:ext cx="117906" cy="11610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345208" y="4509776"/>
              <a:ext cx="1905" cy="259079"/>
            </a:xfrm>
            <a:custGeom>
              <a:avLst/>
              <a:gdLst/>
              <a:ahLst/>
              <a:cxnLst/>
              <a:rect l="l" t="t" r="r" b="b"/>
              <a:pathLst>
                <a:path w="1904" h="259079">
                  <a:moveTo>
                    <a:pt x="0" y="258957"/>
                  </a:moveTo>
                  <a:lnTo>
                    <a:pt x="14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87278" y="4484573"/>
              <a:ext cx="117905" cy="1161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64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95" dirty="0">
                <a:latin typeface="Cambria"/>
                <a:cs typeface="Cambria"/>
              </a:rPr>
              <a:t>Propriétés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spc="125" dirty="0">
                <a:latin typeface="Cambria"/>
                <a:cs typeface="Cambria"/>
              </a:rPr>
              <a:t>du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spc="125" dirty="0">
                <a:latin typeface="Cambria"/>
                <a:cs typeface="Cambria"/>
              </a:rPr>
              <a:t>graphe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de</a:t>
            </a:r>
            <a:r>
              <a:rPr sz="3600" spc="240" dirty="0">
                <a:latin typeface="Cambria"/>
                <a:cs typeface="Cambria"/>
              </a:rPr>
              <a:t> </a:t>
            </a:r>
            <a:r>
              <a:rPr sz="3600" spc="4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2045149"/>
            <a:ext cx="7244080" cy="45897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0" dirty="0">
                <a:latin typeface="Cambria"/>
                <a:cs typeface="Cambria"/>
              </a:rPr>
              <a:t>Héritage</a:t>
            </a:r>
            <a:endParaRPr sz="2000">
              <a:latin typeface="Cambria"/>
              <a:cs typeface="Cambria"/>
            </a:endParaRPr>
          </a:p>
          <a:p>
            <a:pPr marL="469900" marR="51435" lvl="1" indent="-228600">
              <a:lnSpc>
                <a:spcPts val="2000"/>
              </a:lnSpc>
              <a:spcBef>
                <a:spcPts val="5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Cambria"/>
                <a:cs typeface="Cambria"/>
              </a:rPr>
              <a:t>r1</a:t>
            </a:r>
            <a:r>
              <a:rPr sz="1800" dirty="0">
                <a:latin typeface="MS PGothic"/>
                <a:cs typeface="MS PGothic"/>
              </a:rPr>
              <a:t>→</a:t>
            </a:r>
            <a:r>
              <a:rPr sz="1800" dirty="0">
                <a:latin typeface="Cambria"/>
                <a:cs typeface="Cambria"/>
              </a:rPr>
              <a:t>r2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indique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r1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est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junior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r2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que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les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r1 </a:t>
            </a:r>
            <a:r>
              <a:rPr sz="1800" dirty="0">
                <a:latin typeface="Cambria"/>
                <a:cs typeface="Cambria"/>
              </a:rPr>
              <a:t>sont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hérités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r2</a:t>
            </a:r>
            <a:endParaRPr sz="18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Cambria"/>
                <a:cs typeface="Cambria"/>
              </a:rPr>
              <a:t>privilèges(r1)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MS PGothic"/>
                <a:cs typeface="MS PGothic"/>
              </a:rPr>
              <a:t>⊆</a:t>
            </a:r>
            <a:r>
              <a:rPr sz="1800" spc="120" dirty="0">
                <a:latin typeface="MS PGothic"/>
                <a:cs typeface="MS PGothic"/>
              </a:rPr>
              <a:t> </a:t>
            </a:r>
            <a:r>
              <a:rPr sz="1800" spc="-10" dirty="0">
                <a:latin typeface="Cambria"/>
                <a:cs typeface="Cambria"/>
              </a:rPr>
              <a:t>privilèges(r2)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0" dirty="0">
                <a:latin typeface="Cambria"/>
                <a:cs typeface="Cambria"/>
              </a:rPr>
              <a:t>Privilèges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directs</a:t>
            </a:r>
            <a:endParaRPr sz="2000">
              <a:latin typeface="Cambria"/>
              <a:cs typeface="Cambria"/>
            </a:endParaRPr>
          </a:p>
          <a:p>
            <a:pPr marL="469900" marR="5080" lvl="1" indent="-228600">
              <a:lnSpc>
                <a:spcPts val="1900"/>
              </a:lnSpc>
              <a:spcBef>
                <a:spcPts val="7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spc="60" dirty="0">
                <a:latin typeface="Cambria"/>
                <a:cs typeface="Cambria"/>
              </a:rPr>
              <a:t>Privilèges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attribués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directement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105" dirty="0">
                <a:latin typeface="Cambria"/>
                <a:cs typeface="Cambria"/>
              </a:rPr>
              <a:t>au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par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l’administrateur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du </a:t>
            </a:r>
            <a:r>
              <a:rPr sz="1800" spc="50" dirty="0">
                <a:latin typeface="Cambria"/>
                <a:cs typeface="Cambria"/>
              </a:rPr>
              <a:t>graphe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70" dirty="0">
                <a:latin typeface="Cambria"/>
                <a:cs typeface="Cambria"/>
              </a:rPr>
              <a:t>Privilèges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effectifs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60" dirty="0">
                <a:latin typeface="Cambria"/>
                <a:cs typeface="Cambria"/>
              </a:rPr>
              <a:t>Privilèges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directs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hérités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7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10" dirty="0">
                <a:latin typeface="Cambria"/>
                <a:cs typeface="Cambria"/>
              </a:rPr>
              <a:t>Graphe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acyclique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120" dirty="0">
                <a:latin typeface="Cambria"/>
                <a:cs typeface="Cambria"/>
              </a:rPr>
              <a:t>Pas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redondance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25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privilèges</a:t>
            </a:r>
            <a:endParaRPr sz="20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190" dirty="0">
                <a:latin typeface="Cambria"/>
                <a:cs typeface="Cambria"/>
              </a:rPr>
              <a:t>Un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arc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r1</a:t>
            </a:r>
            <a:r>
              <a:rPr sz="1800" dirty="0">
                <a:latin typeface="MS PGothic"/>
                <a:cs typeface="MS PGothic"/>
              </a:rPr>
              <a:t>→</a:t>
            </a:r>
            <a:r>
              <a:rPr sz="1800" dirty="0">
                <a:latin typeface="Cambria"/>
                <a:cs typeface="Cambria"/>
              </a:rPr>
              <a:t>r2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doit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être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ajouté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si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privilèges(r1)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dirty="0">
                <a:latin typeface="MS PGothic"/>
                <a:cs typeface="MS PGothic"/>
              </a:rPr>
              <a:t>⊂</a:t>
            </a:r>
            <a:r>
              <a:rPr sz="1800" spc="30" dirty="0">
                <a:latin typeface="MS PGothic"/>
                <a:cs typeface="MS PGothic"/>
              </a:rPr>
              <a:t> </a:t>
            </a:r>
            <a:r>
              <a:rPr sz="1800" spc="-10" dirty="0">
                <a:latin typeface="Cambria"/>
                <a:cs typeface="Cambria"/>
              </a:rPr>
              <a:t>privilèges(r2)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Gestion du graphe de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17584"/>
            <a:ext cx="6511290" cy="472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Cambria"/>
                <a:cs typeface="Cambria"/>
              </a:rPr>
              <a:t>roleAddition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120" dirty="0">
                <a:latin typeface="Cambria"/>
                <a:cs typeface="Cambria"/>
              </a:rPr>
              <a:t>Si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pas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de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cycle,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le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rôle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est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ajouté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34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40" dirty="0">
                <a:latin typeface="Cambria"/>
                <a:cs typeface="Cambria"/>
              </a:rPr>
              <a:t>permitionAddition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155" dirty="0">
                <a:latin typeface="Cambria"/>
                <a:cs typeface="Cambria"/>
              </a:rPr>
              <a:t>Un</a:t>
            </a:r>
            <a:r>
              <a:rPr sz="1500" spc="185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nouveau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privilège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est</a:t>
            </a:r>
            <a:r>
              <a:rPr sz="1500" spc="1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ajouté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spc="95" dirty="0">
                <a:latin typeface="Cambria"/>
                <a:cs typeface="Cambria"/>
              </a:rPr>
              <a:t>à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un</a:t>
            </a:r>
            <a:r>
              <a:rPr sz="1500" spc="190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rôle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34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40" dirty="0">
                <a:latin typeface="Cambria"/>
                <a:cs typeface="Cambria"/>
              </a:rPr>
              <a:t>permitionDeletion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1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10" dirty="0">
                <a:latin typeface="Cambria"/>
                <a:cs typeface="Cambria"/>
              </a:rPr>
              <a:t>Suppression</a:t>
            </a:r>
            <a:r>
              <a:rPr sz="1500" spc="29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d’un</a:t>
            </a:r>
            <a:r>
              <a:rPr sz="1500" spc="29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privilège</a:t>
            </a:r>
            <a:r>
              <a:rPr sz="1500" spc="30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d’un</a:t>
            </a:r>
            <a:r>
              <a:rPr sz="1500" spc="295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rôle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34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Cambria"/>
                <a:cs typeface="Cambria"/>
              </a:rPr>
              <a:t>roleDeletion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10" dirty="0">
                <a:latin typeface="Cambria"/>
                <a:cs typeface="Cambria"/>
              </a:rPr>
              <a:t>Suppression</a:t>
            </a:r>
            <a:r>
              <a:rPr sz="1500" spc="33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d’un</a:t>
            </a:r>
            <a:r>
              <a:rPr sz="1500" spc="335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rôle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40" dirty="0">
                <a:latin typeface="Cambria"/>
                <a:cs typeface="Cambria"/>
              </a:rPr>
              <a:t>edgeInsertion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latin typeface="Cambria"/>
                <a:cs typeface="Cambria"/>
              </a:rPr>
              <a:t>Insertion</a:t>
            </a:r>
            <a:r>
              <a:rPr sz="1500" spc="21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d’un</a:t>
            </a:r>
            <a:r>
              <a:rPr sz="1500" spc="2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arc</a:t>
            </a:r>
            <a:r>
              <a:rPr sz="1500" spc="21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si</a:t>
            </a:r>
            <a:r>
              <a:rPr sz="1500" spc="22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pas</a:t>
            </a:r>
            <a:r>
              <a:rPr sz="1500" spc="21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de</a:t>
            </a:r>
            <a:r>
              <a:rPr sz="1500" spc="220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cycle</a:t>
            </a:r>
            <a:endParaRPr sz="15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40" dirty="0">
                <a:latin typeface="Cambria"/>
                <a:cs typeface="Cambria"/>
              </a:rPr>
              <a:t>edgeDeletion</a:t>
            </a:r>
            <a:endParaRPr sz="1700">
              <a:latin typeface="Cambria"/>
              <a:cs typeface="Cambria"/>
            </a:endParaRPr>
          </a:p>
          <a:p>
            <a:pPr marL="469265" lvl="1" indent="-227965">
              <a:lnSpc>
                <a:spcPct val="100000"/>
              </a:lnSpc>
              <a:spcBef>
                <a:spcPts val="20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10" dirty="0">
                <a:latin typeface="Cambria"/>
                <a:cs typeface="Cambria"/>
              </a:rPr>
              <a:t>Suppression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d’un</a:t>
            </a:r>
            <a:r>
              <a:rPr sz="1500" spc="200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arc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si</a:t>
            </a:r>
            <a:r>
              <a:rPr sz="1500" spc="200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pas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spc="10" dirty="0">
                <a:latin typeface="Cambria"/>
                <a:cs typeface="Cambria"/>
              </a:rPr>
              <a:t>de</a:t>
            </a:r>
            <a:r>
              <a:rPr sz="1500" spc="200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cycle</a:t>
            </a:r>
            <a:endParaRPr sz="15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Clr>
                <a:srgbClr val="B870B8"/>
              </a:buClr>
              <a:buFont typeface="Wingdings"/>
              <a:buChar char=""/>
            </a:pPr>
            <a:endParaRPr sz="15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260"/>
              </a:spcBef>
              <a:buClr>
                <a:srgbClr val="B870B8"/>
              </a:buClr>
              <a:buFont typeface="Wingdings"/>
              <a:buChar char=""/>
            </a:pPr>
            <a:endParaRPr sz="1500">
              <a:latin typeface="Cambria"/>
              <a:cs typeface="Cambria"/>
            </a:endParaRPr>
          </a:p>
          <a:p>
            <a:pPr marL="241300" marR="5080" indent="-228600">
              <a:lnSpc>
                <a:spcPct val="73500"/>
              </a:lnSpc>
              <a:buClr>
                <a:srgbClr val="663366"/>
              </a:buClr>
              <a:buSzPct val="73529"/>
              <a:buFont typeface="Wingdings"/>
              <a:buChar char=""/>
              <a:tabLst>
                <a:tab pos="241300" algn="l"/>
              </a:tabLst>
            </a:pPr>
            <a:r>
              <a:rPr sz="1700" spc="110" dirty="0">
                <a:latin typeface="Cambria"/>
                <a:cs typeface="Cambria"/>
              </a:rPr>
              <a:t>Dans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toutes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2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fonctions,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si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nécessaire,</a:t>
            </a:r>
            <a:r>
              <a:rPr sz="1700" spc="26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privilèges/arcs</a:t>
            </a:r>
            <a:r>
              <a:rPr sz="1700" spc="254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sont </a:t>
            </a:r>
            <a:r>
              <a:rPr sz="1700" spc="45" dirty="0">
                <a:latin typeface="Cambria"/>
                <a:cs typeface="Cambria"/>
              </a:rPr>
              <a:t>réorganisés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pour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éviter</a:t>
            </a:r>
            <a:r>
              <a:rPr sz="1700" spc="229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les</a:t>
            </a:r>
            <a:r>
              <a:rPr sz="1700" spc="2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redondances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40757" y="631709"/>
            <a:ext cx="92075" cy="1360805"/>
          </a:xfrm>
          <a:custGeom>
            <a:avLst/>
            <a:gdLst/>
            <a:ahLst/>
            <a:cxnLst/>
            <a:rect l="l" t="t" r="r" b="b"/>
            <a:pathLst>
              <a:path w="92075" h="1360805">
                <a:moveTo>
                  <a:pt x="0" y="1360488"/>
                </a:moveTo>
                <a:lnTo>
                  <a:pt x="92075" y="1360488"/>
                </a:lnTo>
                <a:lnTo>
                  <a:pt x="92075" y="0"/>
                </a:lnTo>
                <a:lnTo>
                  <a:pt x="0" y="0"/>
                </a:lnTo>
                <a:lnTo>
                  <a:pt x="0" y="1360488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8821" y="866343"/>
            <a:ext cx="7661275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03860" marR="304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Exemple</a:t>
            </a:r>
            <a:r>
              <a:rPr sz="3600" spc="-5" dirty="0"/>
              <a:t> </a:t>
            </a:r>
            <a:r>
              <a:rPr sz="3600" dirty="0"/>
              <a:t>1</a:t>
            </a:r>
            <a:r>
              <a:rPr sz="3600" spc="-5" dirty="0"/>
              <a:t> </a:t>
            </a:r>
            <a:r>
              <a:rPr sz="3600" dirty="0"/>
              <a:t>de gestion</a:t>
            </a:r>
            <a:r>
              <a:rPr sz="3600" spc="-5" dirty="0"/>
              <a:t> </a:t>
            </a:r>
            <a:r>
              <a:rPr sz="3600" dirty="0"/>
              <a:t>de graphe</a:t>
            </a:r>
            <a:r>
              <a:rPr sz="3600" spc="-5" dirty="0"/>
              <a:t> </a:t>
            </a:r>
            <a:r>
              <a:rPr sz="3600" spc="-25" dirty="0"/>
              <a:t>de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0156" y="2552007"/>
            <a:ext cx="590203" cy="5943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8821" y="2719330"/>
            <a:ext cx="1935480" cy="4425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R1</a:t>
            </a:r>
            <a:endParaRPr sz="1200">
              <a:latin typeface="Cambria"/>
              <a:cs typeface="Cambria"/>
            </a:endParaRPr>
          </a:p>
          <a:p>
            <a:pPr marL="447675">
              <a:lnSpc>
                <a:spcPct val="100000"/>
              </a:lnSpc>
              <a:spcBef>
                <a:spcPts val="200"/>
              </a:spcBef>
            </a:pPr>
            <a:r>
              <a:rPr sz="1200" b="1" dirty="0">
                <a:latin typeface="Cambria"/>
                <a:cs typeface="Cambria"/>
              </a:rPr>
              <a:t>p6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p2,</a:t>
            </a:r>
            <a:r>
              <a:rPr sz="1200" i="1" spc="9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p3,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p4,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p5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851" y="3624348"/>
            <a:ext cx="594360" cy="5943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04636" y="3816869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4408" y="4177096"/>
            <a:ext cx="728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p5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4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p2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2086" y="3624349"/>
            <a:ext cx="590203" cy="59020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390611" y="3816586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R3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8045" y="4167845"/>
            <a:ext cx="728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p4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4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p3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4851" y="5195454"/>
            <a:ext cx="594360" cy="59435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604567" y="5388211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R4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23323" y="5739470"/>
            <a:ext cx="49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p1,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b="1" spc="-25" dirty="0">
                <a:latin typeface="Cambria"/>
                <a:cs typeface="Cambria"/>
              </a:rPr>
              <a:t>p2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2086" y="5195454"/>
            <a:ext cx="590203" cy="59435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390505" y="5388211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R5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09260" y="5739470"/>
            <a:ext cx="49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p1,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b="1" spc="-25" dirty="0">
                <a:latin typeface="Cambria"/>
                <a:cs typeface="Cambria"/>
              </a:rPr>
              <a:t>p3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1948" y="6382904"/>
            <a:ext cx="737679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spc="110" dirty="0">
                <a:latin typeface="Cambria"/>
                <a:cs typeface="Cambria"/>
              </a:rPr>
              <a:t>Pas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cycle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ts val="2130"/>
              </a:lnSpc>
            </a:pPr>
            <a:r>
              <a:rPr sz="1800" spc="110" dirty="0">
                <a:latin typeface="Cambria"/>
                <a:cs typeface="Cambria"/>
              </a:rPr>
              <a:t>Pas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redondance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privilèges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i.e.,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MS PGothic"/>
                <a:cs typeface="MS PGothic"/>
              </a:rPr>
              <a:t>⌐</a:t>
            </a:r>
            <a:r>
              <a:rPr sz="1800" dirty="0">
                <a:latin typeface="Cambria"/>
                <a:cs typeface="Cambria"/>
              </a:rPr>
              <a:t>(privilèges(r1)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dirty="0">
                <a:latin typeface="MS PGothic"/>
                <a:cs typeface="MS PGothic"/>
              </a:rPr>
              <a:t>⊂</a:t>
            </a:r>
            <a:r>
              <a:rPr sz="1800" spc="45" dirty="0">
                <a:latin typeface="MS PGothic"/>
                <a:cs typeface="MS PGothic"/>
              </a:rPr>
              <a:t> </a:t>
            </a:r>
            <a:r>
              <a:rPr sz="1800" spc="-10" dirty="0">
                <a:latin typeface="Cambria"/>
                <a:cs typeface="Cambria"/>
              </a:rPr>
              <a:t>privilèges(r2))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642656" y="3051059"/>
            <a:ext cx="1904364" cy="2164080"/>
            <a:chOff x="1642656" y="3051059"/>
            <a:chExt cx="1904364" cy="2164080"/>
          </a:xfrm>
        </p:grpSpPr>
        <p:sp>
          <p:nvSpPr>
            <p:cNvPr id="22" name="object 22"/>
            <p:cNvSpPr/>
            <p:nvPr/>
          </p:nvSpPr>
          <p:spPr>
            <a:xfrm>
              <a:off x="1701772" y="3067470"/>
              <a:ext cx="662305" cy="568325"/>
            </a:xfrm>
            <a:custGeom>
              <a:avLst/>
              <a:gdLst/>
              <a:ahLst/>
              <a:cxnLst/>
              <a:rect l="l" t="t" r="r" b="b"/>
              <a:pathLst>
                <a:path w="662305" h="568325">
                  <a:moveTo>
                    <a:pt x="0" y="567789"/>
                  </a:moveTo>
                  <a:lnTo>
                    <a:pt x="661906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3146" y="3051059"/>
              <a:ext cx="119663" cy="11405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06973" y="3067208"/>
              <a:ext cx="681355" cy="568325"/>
            </a:xfrm>
            <a:custGeom>
              <a:avLst/>
              <a:gdLst/>
              <a:ahLst/>
              <a:cxnLst/>
              <a:rect l="l" t="t" r="r" b="b"/>
              <a:pathLst>
                <a:path w="681354" h="568325">
                  <a:moveTo>
                    <a:pt x="680734" y="568051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87622" y="3051059"/>
              <a:ext cx="120027" cy="11342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700183" y="4233553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5" h="975360">
                  <a:moveTo>
                    <a:pt x="0" y="974919"/>
                  </a:moveTo>
                  <a:lnTo>
                    <a:pt x="15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2656" y="4208348"/>
              <a:ext cx="117908" cy="11598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486120" y="4233553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4" h="975360">
                  <a:moveTo>
                    <a:pt x="0" y="974919"/>
                  </a:moveTo>
                  <a:lnTo>
                    <a:pt x="15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28593" y="4208348"/>
              <a:ext cx="117908" cy="11598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436523" y="2112591"/>
            <a:ext cx="3599179" cy="382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35"/>
              </a:lnSpc>
            </a:pP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p3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R5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supprimé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800">
              <a:latin typeface="Cambria"/>
              <a:cs typeface="Cambria"/>
            </a:endParaRPr>
          </a:p>
          <a:p>
            <a:pPr marR="205104" algn="ctr">
              <a:lnSpc>
                <a:spcPct val="100000"/>
              </a:lnSpc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R1</a:t>
            </a:r>
            <a:endParaRPr sz="1200">
              <a:latin typeface="Cambria"/>
              <a:cs typeface="Cambria"/>
            </a:endParaRPr>
          </a:p>
          <a:p>
            <a:pPr marR="74295" algn="r">
              <a:lnSpc>
                <a:spcPct val="100000"/>
              </a:lnSpc>
              <a:spcBef>
                <a:spcPts val="204"/>
              </a:spcBef>
            </a:pPr>
            <a:r>
              <a:rPr sz="1200" b="1" spc="35" dirty="0">
                <a:latin typeface="Cambria"/>
                <a:cs typeface="Cambria"/>
              </a:rPr>
              <a:t>p</a:t>
            </a:r>
            <a:r>
              <a:rPr sz="1200" b="1" spc="-1195" dirty="0">
                <a:latin typeface="Cambria"/>
                <a:cs typeface="Cambria"/>
              </a:rPr>
              <a:t>6</a:t>
            </a:r>
            <a:r>
              <a:rPr sz="1200" b="1" spc="35" dirty="0">
                <a:latin typeface="Cambria"/>
                <a:cs typeface="Cambria"/>
              </a:rPr>
              <a:t>p</a:t>
            </a:r>
            <a:r>
              <a:rPr sz="1200" b="1" spc="-170" dirty="0">
                <a:latin typeface="Cambria"/>
                <a:cs typeface="Cambria"/>
              </a:rPr>
              <a:t>6</a:t>
            </a:r>
            <a:r>
              <a:rPr sz="1200" spc="-55" dirty="0">
                <a:latin typeface="Cambria"/>
                <a:cs typeface="Cambria"/>
              </a:rPr>
              <a:t>,</a:t>
            </a:r>
            <a:r>
              <a:rPr sz="1200" spc="40" dirty="0">
                <a:latin typeface="Cambria"/>
                <a:cs typeface="Cambria"/>
              </a:rPr>
              <a:t>,</a:t>
            </a:r>
            <a:r>
              <a:rPr sz="1200" spc="-150" dirty="0">
                <a:latin typeface="Cambria"/>
                <a:cs typeface="Cambria"/>
              </a:rPr>
              <a:t> </a:t>
            </a:r>
            <a:r>
              <a:rPr sz="1200" i="1" spc="60" dirty="0">
                <a:latin typeface="Cambria"/>
                <a:cs typeface="Cambria"/>
              </a:rPr>
              <a:t>p1</a:t>
            </a:r>
            <a:r>
              <a:rPr sz="1200" i="1" spc="-1275" dirty="0">
                <a:latin typeface="Cambria"/>
                <a:cs typeface="Cambria"/>
              </a:rPr>
              <a:t>,</a:t>
            </a:r>
            <a:r>
              <a:rPr sz="1200" i="1" spc="60" dirty="0">
                <a:latin typeface="Cambria"/>
                <a:cs typeface="Cambria"/>
              </a:rPr>
              <a:t>p1,</a:t>
            </a:r>
            <a:r>
              <a:rPr sz="1200" i="1" spc="-135" dirty="0">
                <a:latin typeface="Cambria"/>
                <a:cs typeface="Cambria"/>
              </a:rPr>
              <a:t> </a:t>
            </a:r>
            <a:r>
              <a:rPr sz="1200" i="1" spc="60" dirty="0">
                <a:latin typeface="Cambria"/>
                <a:cs typeface="Cambria"/>
              </a:rPr>
              <a:t>p2</a:t>
            </a:r>
            <a:r>
              <a:rPr sz="1200" i="1" spc="-1275" dirty="0">
                <a:latin typeface="Cambria"/>
                <a:cs typeface="Cambria"/>
              </a:rPr>
              <a:t>,</a:t>
            </a:r>
            <a:r>
              <a:rPr sz="1200" i="1" spc="60" dirty="0">
                <a:latin typeface="Cambria"/>
                <a:cs typeface="Cambria"/>
              </a:rPr>
              <a:t>p2,</a:t>
            </a:r>
            <a:r>
              <a:rPr sz="1200" i="1" spc="-135" dirty="0">
                <a:latin typeface="Cambria"/>
                <a:cs typeface="Cambria"/>
              </a:rPr>
              <a:t> </a:t>
            </a:r>
            <a:r>
              <a:rPr sz="1200" i="1" spc="60" dirty="0">
                <a:latin typeface="Cambria"/>
                <a:cs typeface="Cambria"/>
              </a:rPr>
              <a:t>p4</a:t>
            </a:r>
            <a:r>
              <a:rPr sz="1200" i="1" spc="-1275" dirty="0">
                <a:latin typeface="Cambria"/>
                <a:cs typeface="Cambria"/>
              </a:rPr>
              <a:t>,</a:t>
            </a:r>
            <a:r>
              <a:rPr sz="1200" i="1" spc="60" dirty="0">
                <a:latin typeface="Cambria"/>
                <a:cs typeface="Cambria"/>
              </a:rPr>
              <a:t>p3,</a:t>
            </a:r>
            <a:r>
              <a:rPr sz="1200" i="1" spc="-135" dirty="0">
                <a:latin typeface="Cambria"/>
                <a:cs typeface="Cambria"/>
              </a:rPr>
              <a:t> </a:t>
            </a:r>
            <a:r>
              <a:rPr sz="1200" i="1" spc="45" dirty="0">
                <a:latin typeface="Cambria"/>
                <a:cs typeface="Cambria"/>
              </a:rPr>
              <a:t>p</a:t>
            </a:r>
            <a:r>
              <a:rPr sz="1200" i="1" spc="-1040" dirty="0">
                <a:latin typeface="Cambria"/>
                <a:cs typeface="Cambria"/>
              </a:rPr>
              <a:t>5</a:t>
            </a:r>
            <a:r>
              <a:rPr sz="1200" i="1" spc="45" dirty="0">
                <a:latin typeface="Cambria"/>
                <a:cs typeface="Cambria"/>
              </a:rPr>
              <a:t>p4,</a:t>
            </a:r>
            <a:r>
              <a:rPr sz="1200" i="1" spc="95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p5</a:t>
            </a: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200">
              <a:latin typeface="Cambria"/>
              <a:cs typeface="Cambria"/>
            </a:endParaRPr>
          </a:p>
          <a:p>
            <a:pPr marR="185420" algn="ctr">
              <a:lnSpc>
                <a:spcPct val="100000"/>
              </a:lnSpc>
              <a:spcBef>
                <a:spcPts val="5"/>
              </a:spcBef>
              <a:tabLst>
                <a:tab pos="1784985" algn="l"/>
              </a:tabLst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R2</a:t>
            </a:r>
            <a:r>
              <a:rPr sz="12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R3</a:t>
            </a:r>
            <a:endParaRPr sz="1200">
              <a:latin typeface="Cambria"/>
              <a:cs typeface="Cambria"/>
            </a:endParaRPr>
          </a:p>
          <a:p>
            <a:pPr marR="131445" algn="r">
              <a:lnSpc>
                <a:spcPct val="100000"/>
              </a:lnSpc>
              <a:spcBef>
                <a:spcPts val="1395"/>
              </a:spcBef>
              <a:tabLst>
                <a:tab pos="1823085" algn="l"/>
              </a:tabLst>
            </a:pPr>
            <a:r>
              <a:rPr sz="1200" b="1" dirty="0">
                <a:latin typeface="Cambria"/>
                <a:cs typeface="Cambria"/>
              </a:rPr>
              <a:t>p5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4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p2</a:t>
            </a:r>
            <a:r>
              <a:rPr sz="1200" i="1" dirty="0">
                <a:latin typeface="Cambria"/>
                <a:cs typeface="Cambria"/>
              </a:rPr>
              <a:t>	</a:t>
            </a:r>
            <a:r>
              <a:rPr sz="1800" b="1" spc="60" baseline="2314" dirty="0">
                <a:latin typeface="Cambria"/>
                <a:cs typeface="Cambria"/>
              </a:rPr>
              <a:t>p</a:t>
            </a:r>
            <a:r>
              <a:rPr sz="1800" b="1" spc="-1747" baseline="2314" dirty="0">
                <a:latin typeface="Cambria"/>
                <a:cs typeface="Cambria"/>
              </a:rPr>
              <a:t>4</a:t>
            </a:r>
            <a:r>
              <a:rPr sz="1800" b="1" spc="60" baseline="2314" dirty="0">
                <a:latin typeface="Cambria"/>
                <a:cs typeface="Cambria"/>
              </a:rPr>
              <a:t>p</a:t>
            </a:r>
            <a:r>
              <a:rPr sz="1800" b="1" spc="-284" baseline="2314" dirty="0">
                <a:latin typeface="Cambria"/>
                <a:cs typeface="Cambria"/>
              </a:rPr>
              <a:t>4</a:t>
            </a:r>
            <a:r>
              <a:rPr sz="1800" spc="-52" baseline="2314" dirty="0">
                <a:latin typeface="Cambria"/>
                <a:cs typeface="Cambria"/>
              </a:rPr>
              <a:t>,</a:t>
            </a:r>
            <a:r>
              <a:rPr sz="1800" spc="67" baseline="2314" dirty="0">
                <a:latin typeface="Cambria"/>
                <a:cs typeface="Cambria"/>
              </a:rPr>
              <a:t>,</a:t>
            </a:r>
            <a:r>
              <a:rPr sz="1800" spc="-254" baseline="2314" dirty="0">
                <a:latin typeface="Cambria"/>
                <a:cs typeface="Cambria"/>
              </a:rPr>
              <a:t> </a:t>
            </a:r>
            <a:r>
              <a:rPr sz="1800" i="1" spc="82" baseline="2314" dirty="0">
                <a:latin typeface="Cambria"/>
                <a:cs typeface="Cambria"/>
              </a:rPr>
              <a:t>p1</a:t>
            </a:r>
            <a:r>
              <a:rPr sz="1800" i="1" spc="-1889" baseline="2314" dirty="0">
                <a:latin typeface="Cambria"/>
                <a:cs typeface="Cambria"/>
              </a:rPr>
              <a:t>,</a:t>
            </a:r>
            <a:r>
              <a:rPr sz="1800" i="1" spc="82" baseline="2314" dirty="0">
                <a:latin typeface="Cambria"/>
                <a:cs typeface="Cambria"/>
              </a:rPr>
              <a:t>p1</a:t>
            </a:r>
            <a:r>
              <a:rPr sz="1800" i="1" spc="232" baseline="2314" dirty="0">
                <a:latin typeface="Cambria"/>
                <a:cs typeface="Cambria"/>
              </a:rPr>
              <a:t> </a:t>
            </a:r>
            <a:r>
              <a:rPr sz="1800" i="1" spc="-37" baseline="2314" dirty="0">
                <a:latin typeface="Cambria"/>
                <a:cs typeface="Cambria"/>
              </a:rPr>
              <a:t>p3</a:t>
            </a:r>
            <a:endParaRPr sz="1800" baseline="2314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2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>
              <a:latin typeface="Cambria"/>
              <a:cs typeface="Cambria"/>
            </a:endParaRPr>
          </a:p>
          <a:p>
            <a:pPr marR="186055" algn="ctr">
              <a:lnSpc>
                <a:spcPct val="100000"/>
              </a:lnSpc>
              <a:tabLst>
                <a:tab pos="1785620" algn="l"/>
              </a:tabLst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R4</a:t>
            </a:r>
            <a:r>
              <a:rPr sz="1200" dirty="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R5</a:t>
            </a:r>
            <a:endParaRPr sz="1200">
              <a:latin typeface="Cambria"/>
              <a:cs typeface="Cambria"/>
            </a:endParaRPr>
          </a:p>
          <a:p>
            <a:pPr marL="541020">
              <a:lnSpc>
                <a:spcPct val="100000"/>
              </a:lnSpc>
              <a:spcBef>
                <a:spcPts val="1325"/>
              </a:spcBef>
              <a:tabLst>
                <a:tab pos="2326640" algn="l"/>
              </a:tabLst>
            </a:pPr>
            <a:r>
              <a:rPr sz="1200" b="1" spc="50" dirty="0">
                <a:latin typeface="Cambria"/>
                <a:cs typeface="Cambria"/>
              </a:rPr>
              <a:t>p</a:t>
            </a:r>
            <a:r>
              <a:rPr sz="1200" b="1" spc="-1235" dirty="0">
                <a:latin typeface="Cambria"/>
                <a:cs typeface="Cambria"/>
              </a:rPr>
              <a:t>1</a:t>
            </a:r>
            <a:r>
              <a:rPr sz="1200" i="1" spc="55" dirty="0">
                <a:latin typeface="Cambria"/>
                <a:cs typeface="Cambria"/>
              </a:rPr>
              <a:t>p1</a:t>
            </a:r>
            <a:r>
              <a:rPr sz="1200" i="1" spc="-265" dirty="0">
                <a:latin typeface="Cambria"/>
                <a:cs typeface="Cambria"/>
              </a:rPr>
              <a:t>,</a:t>
            </a:r>
            <a:r>
              <a:rPr sz="1200" b="1" spc="55" dirty="0">
                <a:latin typeface="Cambria"/>
                <a:cs typeface="Cambria"/>
              </a:rPr>
              <a:t>,</a:t>
            </a:r>
            <a:r>
              <a:rPr sz="1200" b="1" spc="85" dirty="0">
                <a:latin typeface="Cambria"/>
                <a:cs typeface="Cambria"/>
              </a:rPr>
              <a:t> </a:t>
            </a:r>
            <a:r>
              <a:rPr sz="1200" b="1" spc="335" dirty="0">
                <a:latin typeface="Cambria"/>
                <a:cs typeface="Cambria"/>
              </a:rPr>
              <a:t>p</a:t>
            </a:r>
            <a:r>
              <a:rPr sz="1200" b="1" spc="-1090" dirty="0">
                <a:latin typeface="Cambria"/>
                <a:cs typeface="Cambria"/>
              </a:rPr>
              <a:t>2</a:t>
            </a:r>
            <a:r>
              <a:rPr sz="1200" b="1" spc="335" dirty="0">
                <a:latin typeface="Cambria"/>
                <a:cs typeface="Cambria"/>
              </a:rPr>
              <a:t>p</a:t>
            </a:r>
            <a:r>
              <a:rPr sz="1200" b="1" spc="340" dirty="0">
                <a:latin typeface="Cambria"/>
                <a:cs typeface="Cambria"/>
              </a:rPr>
              <a:t>2</a:t>
            </a:r>
            <a:r>
              <a:rPr sz="1200" b="1" dirty="0">
                <a:latin typeface="Cambria"/>
                <a:cs typeface="Cambria"/>
              </a:rPr>
              <a:t>	</a:t>
            </a:r>
            <a:r>
              <a:rPr sz="1200" b="1" spc="25" dirty="0">
                <a:latin typeface="Cambria"/>
                <a:cs typeface="Cambria"/>
              </a:rPr>
              <a:t>p</a:t>
            </a:r>
            <a:r>
              <a:rPr sz="1200" b="1" spc="-250" dirty="0">
                <a:latin typeface="Cambria"/>
                <a:cs typeface="Cambria"/>
              </a:rPr>
              <a:t>1</a:t>
            </a:r>
            <a:r>
              <a:rPr sz="1200" b="1" spc="25" dirty="0">
                <a:latin typeface="Cambria"/>
                <a:cs typeface="Cambria"/>
              </a:rPr>
              <a:t>p</a:t>
            </a:r>
            <a:r>
              <a:rPr sz="1200" b="1" spc="-1125" dirty="0">
                <a:latin typeface="Cambria"/>
                <a:cs typeface="Cambria"/>
              </a:rPr>
              <a:t>1</a:t>
            </a:r>
            <a:r>
              <a:rPr sz="1200" b="1" spc="30" dirty="0">
                <a:latin typeface="Cambria"/>
                <a:cs typeface="Cambria"/>
              </a:rPr>
              <a:t>,</a:t>
            </a:r>
            <a:r>
              <a:rPr sz="1200" b="1" spc="90" dirty="0">
                <a:latin typeface="Cambria"/>
                <a:cs typeface="Cambria"/>
              </a:rPr>
              <a:t> </a:t>
            </a:r>
            <a:r>
              <a:rPr sz="1200" b="1" spc="-25" dirty="0">
                <a:latin typeface="Cambria"/>
                <a:cs typeface="Cambria"/>
              </a:rPr>
              <a:t>p3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947755" y="2552007"/>
            <a:ext cx="2377440" cy="3237865"/>
            <a:chOff x="5947755" y="2552007"/>
            <a:chExt cx="2377440" cy="3237865"/>
          </a:xfrm>
        </p:grpSpPr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8904" y="2552007"/>
              <a:ext cx="594359" cy="59435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7755" y="3624349"/>
              <a:ext cx="590203" cy="59435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0835" y="3624349"/>
              <a:ext cx="594359" cy="5943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47755" y="5195454"/>
              <a:ext cx="590203" cy="5943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30835" y="5195454"/>
              <a:ext cx="594359" cy="59435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994823" y="2096654"/>
            <a:ext cx="10458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114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416520" y="1992198"/>
            <a:ext cx="3714750" cy="4143375"/>
          </a:xfrm>
          <a:custGeom>
            <a:avLst/>
            <a:gdLst/>
            <a:ahLst/>
            <a:cxnLst/>
            <a:rect l="l" t="t" r="r" b="b"/>
            <a:pathLst>
              <a:path w="3714750" h="4143375">
                <a:moveTo>
                  <a:pt x="3714750" y="0"/>
                </a:moveTo>
                <a:lnTo>
                  <a:pt x="0" y="0"/>
                </a:lnTo>
                <a:lnTo>
                  <a:pt x="0" y="4143373"/>
                </a:lnTo>
                <a:lnTo>
                  <a:pt x="3714750" y="4143373"/>
                </a:lnTo>
                <a:lnTo>
                  <a:pt x="3714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521" y="866343"/>
            <a:ext cx="7251700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91160" marR="177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75" dirty="0">
                <a:latin typeface="Cambria"/>
                <a:cs typeface="Cambria"/>
              </a:rPr>
              <a:t>Exemple</a:t>
            </a:r>
            <a:r>
              <a:rPr sz="3600" spc="114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2</a:t>
            </a:r>
            <a:r>
              <a:rPr sz="3600" spc="110" dirty="0">
                <a:latin typeface="Cambria"/>
                <a:cs typeface="Cambria"/>
              </a:rPr>
              <a:t> </a:t>
            </a:r>
            <a:r>
              <a:rPr sz="3600" spc="275" dirty="0">
                <a:latin typeface="Cambria"/>
                <a:cs typeface="Cambria"/>
              </a:rPr>
              <a:t>de</a:t>
            </a:r>
            <a:r>
              <a:rPr sz="3600" spc="110" dirty="0">
                <a:latin typeface="Cambria"/>
                <a:cs typeface="Cambria"/>
              </a:rPr>
              <a:t> </a:t>
            </a:r>
            <a:r>
              <a:rPr sz="3600" spc="120" dirty="0">
                <a:latin typeface="Cambria"/>
                <a:cs typeface="Cambria"/>
              </a:rPr>
              <a:t>gestion</a:t>
            </a:r>
            <a:r>
              <a:rPr sz="3600" spc="110" dirty="0">
                <a:latin typeface="Cambria"/>
                <a:cs typeface="Cambria"/>
              </a:rPr>
              <a:t> </a:t>
            </a:r>
            <a:r>
              <a:rPr sz="3600" spc="275" dirty="0">
                <a:latin typeface="Cambria"/>
                <a:cs typeface="Cambria"/>
              </a:rPr>
              <a:t>de</a:t>
            </a:r>
            <a:r>
              <a:rPr sz="3600" spc="114" dirty="0">
                <a:latin typeface="Cambria"/>
                <a:cs typeface="Cambria"/>
              </a:rPr>
              <a:t> </a:t>
            </a:r>
            <a:r>
              <a:rPr sz="3600" spc="175" dirty="0">
                <a:latin typeface="Cambria"/>
                <a:cs typeface="Cambria"/>
              </a:rPr>
              <a:t>graphe </a:t>
            </a:r>
            <a:r>
              <a:rPr sz="3600" spc="275" dirty="0">
                <a:latin typeface="Cambria"/>
                <a:cs typeface="Cambria"/>
              </a:rPr>
              <a:t>de</a:t>
            </a:r>
            <a:r>
              <a:rPr sz="3600" spc="110" dirty="0">
                <a:latin typeface="Cambria"/>
                <a:cs typeface="Cambria"/>
              </a:rPr>
              <a:t> </a:t>
            </a:r>
            <a:r>
              <a:rPr sz="3600" spc="10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39182" y="631709"/>
            <a:ext cx="685800" cy="1600200"/>
          </a:xfrm>
          <a:prstGeom prst="rect">
            <a:avLst/>
          </a:prstGeom>
          <a:solidFill>
            <a:srgbClr val="7A4779"/>
          </a:solidFill>
        </p:spPr>
        <p:txBody>
          <a:bodyPr vert="horz" wrap="square" lIns="0" tIns="36195" rIns="0" bIns="0" rtlCol="0">
            <a:spAutoFit/>
          </a:bodyPr>
          <a:lstStyle/>
          <a:p>
            <a:pPr marL="414020">
              <a:lnSpc>
                <a:spcPct val="100000"/>
              </a:lnSpc>
              <a:spcBef>
                <a:spcPts val="285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37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694" y="2552007"/>
            <a:ext cx="594359" cy="5943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3064" y="2745300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R1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2545" y="3624348"/>
            <a:ext cx="590203" cy="5943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60223" y="3816869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69995" y="4177096"/>
            <a:ext cx="728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p5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4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p2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625" y="3624348"/>
            <a:ext cx="594359" cy="5943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645530" y="3816870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R3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2545" y="5195454"/>
            <a:ext cx="590203" cy="59435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859579" y="5388507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R4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625" y="5195454"/>
            <a:ext cx="594359" cy="59435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645530" y="5388507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R5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98243" y="3051059"/>
            <a:ext cx="1904364" cy="2164080"/>
            <a:chOff x="1898243" y="3051059"/>
            <a:chExt cx="1904364" cy="2164080"/>
          </a:xfrm>
        </p:grpSpPr>
        <p:sp>
          <p:nvSpPr>
            <p:cNvPr id="16" name="object 16"/>
            <p:cNvSpPr/>
            <p:nvPr/>
          </p:nvSpPr>
          <p:spPr>
            <a:xfrm>
              <a:off x="1957358" y="3067470"/>
              <a:ext cx="662305" cy="568325"/>
            </a:xfrm>
            <a:custGeom>
              <a:avLst/>
              <a:gdLst/>
              <a:ahLst/>
              <a:cxnLst/>
              <a:rect l="l" t="t" r="r" b="b"/>
              <a:pathLst>
                <a:path w="662305" h="568325">
                  <a:moveTo>
                    <a:pt x="0" y="567789"/>
                  </a:moveTo>
                  <a:lnTo>
                    <a:pt x="66190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8733" y="3051059"/>
              <a:ext cx="119661" cy="11405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60992" y="3067187"/>
              <a:ext cx="682625" cy="568325"/>
            </a:xfrm>
            <a:custGeom>
              <a:avLst/>
              <a:gdLst/>
              <a:ahLst/>
              <a:cxnLst/>
              <a:rect l="l" t="t" r="r" b="b"/>
              <a:pathLst>
                <a:path w="682625" h="568325">
                  <a:moveTo>
                    <a:pt x="682304" y="568072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1622" y="3051059"/>
              <a:ext cx="120056" cy="1133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55772" y="4233553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5" h="975360">
                  <a:moveTo>
                    <a:pt x="0" y="974919"/>
                  </a:moveTo>
                  <a:lnTo>
                    <a:pt x="1546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8243" y="4208348"/>
              <a:ext cx="117908" cy="1159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741708" y="4233553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4" h="975360">
                  <a:moveTo>
                    <a:pt x="0" y="974919"/>
                  </a:moveTo>
                  <a:lnTo>
                    <a:pt x="15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4181" y="4208348"/>
              <a:ext cx="117908" cy="11598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851948" y="2096654"/>
            <a:ext cx="6873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6815" algn="l"/>
              </a:tabLst>
            </a:pPr>
            <a:r>
              <a:rPr sz="1800" spc="100" dirty="0">
                <a:latin typeface="Cambria"/>
                <a:cs typeface="Cambria"/>
              </a:rPr>
              <a:t>Graphe </a:t>
            </a:r>
            <a:r>
              <a:rPr sz="1800" spc="145" dirty="0">
                <a:latin typeface="Cambria"/>
                <a:cs typeface="Cambria"/>
              </a:rPr>
              <a:t>A,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la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suite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100" dirty="0">
                <a:latin typeface="Cambria"/>
                <a:cs typeface="Cambria"/>
              </a:rPr>
              <a:t>Graphe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65" dirty="0">
                <a:latin typeface="Cambria"/>
                <a:cs typeface="Cambria"/>
              </a:rPr>
              <a:t>A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avec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p7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ajouté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à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R5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17248" y="5739966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Cambria"/>
                <a:cs typeface="Cambria"/>
              </a:rPr>
              <a:t>p1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7962" y="5739966"/>
            <a:ext cx="473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p1,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52110" y="2953904"/>
            <a:ext cx="1243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p6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9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0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p2,</a:t>
            </a:r>
            <a:r>
              <a:rPr sz="1200" i="1" spc="10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p4,</a:t>
            </a:r>
            <a:r>
              <a:rPr sz="1200" i="1" spc="105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p5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23635" y="4168343"/>
            <a:ext cx="47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p4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95" dirty="0">
                <a:latin typeface="Cambria"/>
                <a:cs typeface="Cambria"/>
              </a:rPr>
              <a:t> </a:t>
            </a:r>
            <a:r>
              <a:rPr sz="1200" i="1" spc="-35" dirty="0">
                <a:latin typeface="Cambria"/>
                <a:cs typeface="Cambria"/>
              </a:rPr>
              <a:t>p1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273272" y="5433816"/>
            <a:ext cx="1179830" cy="118110"/>
            <a:chOff x="2273272" y="5433816"/>
            <a:chExt cx="1179830" cy="118110"/>
          </a:xfrm>
        </p:grpSpPr>
        <p:sp>
          <p:nvSpPr>
            <p:cNvPr id="30" name="object 30"/>
            <p:cNvSpPr/>
            <p:nvPr/>
          </p:nvSpPr>
          <p:spPr>
            <a:xfrm>
              <a:off x="2298476" y="5492669"/>
              <a:ext cx="1148080" cy="1905"/>
            </a:xfrm>
            <a:custGeom>
              <a:avLst/>
              <a:gdLst/>
              <a:ahLst/>
              <a:cxnLst/>
              <a:rect l="l" t="t" r="r" b="b"/>
              <a:pathLst>
                <a:path w="1148079" h="1904">
                  <a:moveTo>
                    <a:pt x="1147956" y="1553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3272" y="5433816"/>
              <a:ext cx="115968" cy="117908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78780" y="2552007"/>
            <a:ext cx="594359" cy="59435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079512" y="2745153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R1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997631" y="3624348"/>
            <a:ext cx="590203" cy="59435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196033" y="3816505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R2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05805" y="4176685"/>
            <a:ext cx="9861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p5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1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14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p2,</a:t>
            </a:r>
            <a:r>
              <a:rPr sz="1200" i="1" spc="114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p7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84869" y="3624348"/>
            <a:ext cx="590203" cy="594359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7981970" y="3816505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R3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97631" y="5195454"/>
            <a:ext cx="590203" cy="594359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6196033" y="5387819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R4</a:t>
            </a:r>
            <a:endParaRPr sz="1200">
              <a:latin typeface="Cambria"/>
              <a:cs typeface="Cambri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784869" y="5195454"/>
            <a:ext cx="590203" cy="594359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7981970" y="5387819"/>
            <a:ext cx="20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mbria"/>
                <a:cs typeface="Cambria"/>
              </a:rPr>
              <a:t>R5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35293" y="3051059"/>
            <a:ext cx="1904364" cy="2162175"/>
            <a:chOff x="6235293" y="3051059"/>
            <a:chExt cx="1904364" cy="2162175"/>
          </a:xfrm>
        </p:grpSpPr>
        <p:sp>
          <p:nvSpPr>
            <p:cNvPr id="44" name="object 44"/>
            <p:cNvSpPr/>
            <p:nvPr/>
          </p:nvSpPr>
          <p:spPr>
            <a:xfrm>
              <a:off x="6292821" y="3067470"/>
              <a:ext cx="662305" cy="568325"/>
            </a:xfrm>
            <a:custGeom>
              <a:avLst/>
              <a:gdLst/>
              <a:ahLst/>
              <a:cxnLst/>
              <a:rect l="l" t="t" r="r" b="b"/>
              <a:pathLst>
                <a:path w="662304" h="568325">
                  <a:moveTo>
                    <a:pt x="0" y="567789"/>
                  </a:moveTo>
                  <a:lnTo>
                    <a:pt x="661906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4196" y="3051059"/>
              <a:ext cx="119661" cy="114057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398023" y="3067208"/>
              <a:ext cx="681355" cy="568325"/>
            </a:xfrm>
            <a:custGeom>
              <a:avLst/>
              <a:gdLst/>
              <a:ahLst/>
              <a:cxnLst/>
              <a:rect l="l" t="t" r="r" b="b"/>
              <a:pathLst>
                <a:path w="681354" h="568325">
                  <a:moveTo>
                    <a:pt x="680734" y="568051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378670" y="3051059"/>
              <a:ext cx="120028" cy="113427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292820" y="4231964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4" h="975360">
                  <a:moveTo>
                    <a:pt x="0" y="974920"/>
                  </a:moveTo>
                  <a:lnTo>
                    <a:pt x="15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35293" y="4206759"/>
              <a:ext cx="117908" cy="11598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078756" y="4231965"/>
              <a:ext cx="1905" cy="975360"/>
            </a:xfrm>
            <a:custGeom>
              <a:avLst/>
              <a:gdLst/>
              <a:ahLst/>
              <a:cxnLst/>
              <a:rect l="l" t="t" r="r" b="b"/>
              <a:pathLst>
                <a:path w="1904" h="975360">
                  <a:moveTo>
                    <a:pt x="0" y="974920"/>
                  </a:moveTo>
                  <a:lnTo>
                    <a:pt x="1547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21230" y="4206760"/>
              <a:ext cx="117908" cy="115978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953056" y="5738479"/>
            <a:ext cx="490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p1,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b="1" spc="-25" dirty="0">
                <a:latin typeface="Cambria"/>
                <a:cs typeface="Cambria"/>
              </a:rPr>
              <a:t>p7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34098" y="5739249"/>
            <a:ext cx="730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p1,</a:t>
            </a:r>
            <a:r>
              <a:rPr sz="1200" b="1" spc="13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p2,</a:t>
            </a:r>
            <a:r>
              <a:rPr sz="1200" i="1" spc="125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p7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88843" y="2953735"/>
            <a:ext cx="15005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p6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9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p2,</a:t>
            </a:r>
            <a:r>
              <a:rPr sz="1200" i="1" spc="95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p4,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p5,</a:t>
            </a:r>
            <a:r>
              <a:rPr sz="1200" i="1" spc="10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p7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260063" y="4167935"/>
            <a:ext cx="728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mbria"/>
                <a:cs typeface="Cambria"/>
              </a:rPr>
              <a:t>p4</a:t>
            </a:r>
            <a:r>
              <a:rPr sz="1200" dirty="0">
                <a:latin typeface="Cambria"/>
                <a:cs typeface="Cambria"/>
              </a:rPr>
              <a:t>,</a:t>
            </a:r>
            <a:r>
              <a:rPr sz="1200" spc="130" dirty="0">
                <a:latin typeface="Cambria"/>
                <a:cs typeface="Cambria"/>
              </a:rPr>
              <a:t> </a:t>
            </a:r>
            <a:r>
              <a:rPr sz="1200" i="1" spc="55" dirty="0">
                <a:latin typeface="Cambria"/>
                <a:cs typeface="Cambria"/>
              </a:rPr>
              <a:t>p1,</a:t>
            </a:r>
            <a:r>
              <a:rPr sz="1200" i="1" spc="140" dirty="0">
                <a:latin typeface="Cambria"/>
                <a:cs typeface="Cambria"/>
              </a:rPr>
              <a:t> </a:t>
            </a:r>
            <a:r>
              <a:rPr sz="1200" i="1" spc="-25" dirty="0">
                <a:latin typeface="Cambria"/>
                <a:cs typeface="Cambria"/>
              </a:rPr>
              <a:t>p7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600795" y="5433816"/>
            <a:ext cx="1179830" cy="118110"/>
            <a:chOff x="6600795" y="5433816"/>
            <a:chExt cx="1179830" cy="118110"/>
          </a:xfrm>
        </p:grpSpPr>
        <p:sp>
          <p:nvSpPr>
            <p:cNvPr id="57" name="object 57"/>
            <p:cNvSpPr/>
            <p:nvPr/>
          </p:nvSpPr>
          <p:spPr>
            <a:xfrm>
              <a:off x="6626000" y="5492669"/>
              <a:ext cx="1148080" cy="1905"/>
            </a:xfrm>
            <a:custGeom>
              <a:avLst/>
              <a:gdLst/>
              <a:ahLst/>
              <a:cxnLst/>
              <a:rect l="l" t="t" r="r" b="b"/>
              <a:pathLst>
                <a:path w="1148079" h="1904">
                  <a:moveTo>
                    <a:pt x="1147957" y="1553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00795" y="5433816"/>
              <a:ext cx="115970" cy="1179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1521" y="866343"/>
            <a:ext cx="5749925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91160" marR="17780" indent="-366395">
              <a:lnSpc>
                <a:spcPts val="4300"/>
              </a:lnSpc>
              <a:spcBef>
                <a:spcPts val="22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0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140" dirty="0">
                <a:latin typeface="Cambria"/>
                <a:cs typeface="Cambria"/>
              </a:rPr>
              <a:t>Conseils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55" dirty="0">
                <a:latin typeface="Cambria"/>
                <a:cs typeface="Cambria"/>
              </a:rPr>
              <a:t>pour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100" dirty="0">
                <a:latin typeface="Cambria"/>
                <a:cs typeface="Cambria"/>
              </a:rPr>
              <a:t>définir</a:t>
            </a:r>
            <a:r>
              <a:rPr sz="3600" spc="225" dirty="0">
                <a:latin typeface="Cambria"/>
                <a:cs typeface="Cambria"/>
              </a:rPr>
              <a:t> </a:t>
            </a:r>
            <a:r>
              <a:rPr sz="3600" spc="110" dirty="0">
                <a:latin typeface="Cambria"/>
                <a:cs typeface="Cambria"/>
              </a:rPr>
              <a:t>une hiérarchie</a:t>
            </a:r>
            <a:r>
              <a:rPr sz="3600" spc="26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de</a:t>
            </a:r>
            <a:r>
              <a:rPr sz="3600" spc="260" dirty="0">
                <a:latin typeface="Cambria"/>
                <a:cs typeface="Cambria"/>
              </a:rPr>
              <a:t> </a:t>
            </a:r>
            <a:r>
              <a:rPr sz="3600" spc="45" dirty="0">
                <a:latin typeface="Cambria"/>
                <a:cs typeface="Cambria"/>
              </a:rPr>
              <a:t>rôles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39254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35" dirty="0">
                <a:latin typeface="Cambria"/>
                <a:cs typeface="Cambria"/>
              </a:rPr>
              <a:t>Ne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pas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faire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hiérarchie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rôles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un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miroir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la </a:t>
            </a:r>
            <a:r>
              <a:rPr sz="2000" spc="60" dirty="0">
                <a:latin typeface="Cambria"/>
                <a:cs typeface="Cambria"/>
              </a:rPr>
              <a:t>hiérarchie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l’entreprise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80" dirty="0">
                <a:latin typeface="Cambria"/>
                <a:cs typeface="Cambria"/>
              </a:rPr>
              <a:t>Surveiller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privilèges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rôles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Considérer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groupes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d’utilisateurs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65" dirty="0">
                <a:latin typeface="Cambria"/>
                <a:cs typeface="Cambria"/>
              </a:rPr>
              <a:t>Considérer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rôles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abstraits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5508" y="5685905"/>
            <a:ext cx="3736975" cy="378460"/>
            <a:chOff x="1475508" y="5685905"/>
            <a:chExt cx="3736975" cy="3784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508" y="5685905"/>
              <a:ext cx="1591886" cy="3782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403" y="5685905"/>
              <a:ext cx="1878675" cy="3782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02757" y="5624404"/>
            <a:ext cx="1346200" cy="7023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600" spc="40" dirty="0">
                <a:solidFill>
                  <a:srgbClr val="FFFFFF"/>
                </a:solidFill>
                <a:latin typeface="Cambria"/>
                <a:cs typeface="Cambria"/>
              </a:rPr>
              <a:t>accèsBaseInfo</a:t>
            </a:r>
            <a:endParaRPr sz="1600">
              <a:latin typeface="Cambria"/>
              <a:cs typeface="Cambria"/>
            </a:endParaRPr>
          </a:p>
          <a:p>
            <a:pPr marL="475615">
              <a:lnSpc>
                <a:spcPct val="100000"/>
              </a:lnSpc>
              <a:spcBef>
                <a:spcPts val="805"/>
              </a:spcBef>
            </a:pPr>
            <a:r>
              <a:rPr sz="1400" b="1" dirty="0">
                <a:latin typeface="Cambria"/>
                <a:cs typeface="Cambria"/>
              </a:rPr>
              <a:t>c1,</a:t>
            </a:r>
            <a:r>
              <a:rPr sz="1400" b="1" spc="235" dirty="0">
                <a:latin typeface="Cambria"/>
                <a:cs typeface="Cambria"/>
              </a:rPr>
              <a:t> </a:t>
            </a:r>
            <a:r>
              <a:rPr sz="1400" b="1" spc="-35" dirty="0">
                <a:latin typeface="Cambria"/>
                <a:cs typeface="Cambria"/>
              </a:rPr>
              <a:t>c2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1485" y="5639029"/>
            <a:ext cx="1629410" cy="68770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25"/>
              </a:spcBef>
            </a:pPr>
            <a:r>
              <a:rPr sz="1400" spc="45" dirty="0">
                <a:solidFill>
                  <a:srgbClr val="FFFFFF"/>
                </a:solidFill>
                <a:latin typeface="Cambria"/>
                <a:cs typeface="Cambria"/>
              </a:rPr>
              <a:t>accèsBaseBâtiment</a:t>
            </a:r>
            <a:endParaRPr sz="14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400" b="1" dirty="0">
                <a:latin typeface="Cambria"/>
                <a:cs typeface="Cambria"/>
              </a:rPr>
              <a:t>b1,</a:t>
            </a:r>
            <a:r>
              <a:rPr sz="1400" b="1" spc="204" dirty="0">
                <a:latin typeface="Cambria"/>
                <a:cs typeface="Cambria"/>
              </a:rPr>
              <a:t> </a:t>
            </a:r>
            <a:r>
              <a:rPr sz="1400" b="1" spc="-35" dirty="0">
                <a:latin typeface="Cambria"/>
                <a:cs typeface="Cambria"/>
              </a:rPr>
              <a:t>b2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8875" y="4688378"/>
            <a:ext cx="1591886" cy="37822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897318" y="4726174"/>
            <a:ext cx="757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payeur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0698" y="5087561"/>
            <a:ext cx="19373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p1,</a:t>
            </a:r>
            <a:r>
              <a:rPr sz="1400" b="1" spc="15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p2,</a:t>
            </a:r>
            <a:r>
              <a:rPr sz="1400" b="1" spc="15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p3</a:t>
            </a:r>
            <a:r>
              <a:rPr sz="1400" b="1" spc="160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c1,</a:t>
            </a:r>
            <a:r>
              <a:rPr sz="1400" i="1" spc="145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c2,</a:t>
            </a:r>
            <a:r>
              <a:rPr sz="1400" i="1" spc="14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b1,b2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19403" y="4688378"/>
            <a:ext cx="1591886" cy="37822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641310" y="4614303"/>
            <a:ext cx="1645920" cy="71247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80"/>
              </a:spcBef>
            </a:pP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comptable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Cambria"/>
                <a:cs typeface="Cambria"/>
              </a:rPr>
              <a:t>a1,</a:t>
            </a:r>
            <a:r>
              <a:rPr sz="1400" b="1" spc="16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a2,</a:t>
            </a:r>
            <a:r>
              <a:rPr sz="1400" b="1" spc="165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c1,</a:t>
            </a:r>
            <a:r>
              <a:rPr sz="1400" i="1" spc="150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c2,</a:t>
            </a:r>
            <a:r>
              <a:rPr sz="1400" i="1" spc="15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b1,b2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7296" y="4688378"/>
            <a:ext cx="1591886" cy="37822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455823" y="4614230"/>
            <a:ext cx="1937385" cy="71247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454659">
              <a:lnSpc>
                <a:spcPct val="100000"/>
              </a:lnSpc>
              <a:spcBef>
                <a:spcPts val="980"/>
              </a:spcBef>
            </a:pP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payeur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Cambria"/>
                <a:cs typeface="Cambria"/>
              </a:rPr>
              <a:t>p1,</a:t>
            </a:r>
            <a:r>
              <a:rPr sz="1400" b="1" spc="15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p2,</a:t>
            </a:r>
            <a:r>
              <a:rPr sz="1400" b="1" spc="15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p3</a:t>
            </a:r>
            <a:r>
              <a:rPr sz="1400" b="1" spc="160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c1,</a:t>
            </a:r>
            <a:r>
              <a:rPr sz="1400" i="1" spc="145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c2,</a:t>
            </a:r>
            <a:r>
              <a:rPr sz="1400" i="1" spc="14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b1,b2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0323" y="4688378"/>
            <a:ext cx="1591886" cy="378228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773873" y="4726174"/>
            <a:ext cx="11474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comptable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66187" y="5087561"/>
            <a:ext cx="1645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mbria"/>
                <a:cs typeface="Cambria"/>
              </a:rPr>
              <a:t>a1,</a:t>
            </a:r>
            <a:r>
              <a:rPr sz="1400" b="1" spc="16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a2,</a:t>
            </a:r>
            <a:r>
              <a:rPr sz="1400" b="1" spc="165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c1,</a:t>
            </a:r>
            <a:r>
              <a:rPr sz="1400" i="1" spc="150" dirty="0">
                <a:latin typeface="Cambria"/>
                <a:cs typeface="Cambria"/>
              </a:rPr>
              <a:t> </a:t>
            </a:r>
            <a:r>
              <a:rPr sz="1400" i="1" spc="50" dirty="0">
                <a:latin typeface="Cambria"/>
                <a:cs typeface="Cambria"/>
              </a:rPr>
              <a:t>c2,</a:t>
            </a:r>
            <a:r>
              <a:rPr sz="1400" i="1" spc="155" dirty="0">
                <a:latin typeface="Cambria"/>
                <a:cs typeface="Cambria"/>
              </a:rPr>
              <a:t> </a:t>
            </a:r>
            <a:r>
              <a:rPr sz="1400" i="1" spc="40" dirty="0">
                <a:latin typeface="Cambria"/>
                <a:cs typeface="Cambria"/>
              </a:rPr>
              <a:t>b1,b2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31743" y="5029550"/>
            <a:ext cx="2087880" cy="674370"/>
            <a:chOff x="2231743" y="5029550"/>
            <a:chExt cx="2087880" cy="674370"/>
          </a:xfrm>
        </p:grpSpPr>
        <p:sp>
          <p:nvSpPr>
            <p:cNvPr id="23" name="object 23"/>
            <p:cNvSpPr/>
            <p:nvPr/>
          </p:nvSpPr>
          <p:spPr>
            <a:xfrm>
              <a:off x="2273272" y="5079675"/>
              <a:ext cx="20320" cy="617855"/>
            </a:xfrm>
            <a:custGeom>
              <a:avLst/>
              <a:gdLst/>
              <a:ahLst/>
              <a:cxnLst/>
              <a:rect l="l" t="t" r="r" b="b"/>
              <a:pathLst>
                <a:path w="20319" h="617854">
                  <a:moveTo>
                    <a:pt x="0" y="617745"/>
                  </a:moveTo>
                  <a:lnTo>
                    <a:pt x="19828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31743" y="5054484"/>
              <a:ext cx="117847" cy="1172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73272" y="5062252"/>
              <a:ext cx="1960880" cy="635635"/>
            </a:xfrm>
            <a:custGeom>
              <a:avLst/>
              <a:gdLst/>
              <a:ahLst/>
              <a:cxnLst/>
              <a:rect l="l" t="t" r="r" b="b"/>
              <a:pathLst>
                <a:path w="1960879" h="635635">
                  <a:moveTo>
                    <a:pt x="0" y="635169"/>
                  </a:moveTo>
                  <a:lnTo>
                    <a:pt x="1960396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3575" y="5029550"/>
              <a:ext cx="124070" cy="11261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258268" y="5079681"/>
              <a:ext cx="15875" cy="617855"/>
            </a:xfrm>
            <a:custGeom>
              <a:avLst/>
              <a:gdLst/>
              <a:ahLst/>
              <a:cxnLst/>
              <a:rect l="l" t="t" r="r" b="b"/>
              <a:pathLst>
                <a:path w="15875" h="617854">
                  <a:moveTo>
                    <a:pt x="15252" y="617740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1205" y="5054484"/>
              <a:ext cx="117871" cy="11697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17881" y="5062269"/>
              <a:ext cx="1955800" cy="635635"/>
            </a:xfrm>
            <a:custGeom>
              <a:avLst/>
              <a:gdLst/>
              <a:ahLst/>
              <a:cxnLst/>
              <a:rect l="l" t="t" r="r" b="b"/>
              <a:pathLst>
                <a:path w="1955800" h="635635">
                  <a:moveTo>
                    <a:pt x="1955640" y="635152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7943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93909" y="5029631"/>
              <a:ext cx="124075" cy="112598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5328457" y="4085705"/>
            <a:ext cx="179070" cy="2643505"/>
            <a:chOff x="5328457" y="4085705"/>
            <a:chExt cx="179070" cy="2643505"/>
          </a:xfrm>
        </p:grpSpPr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28457" y="4085705"/>
              <a:ext cx="178723" cy="264344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16521" y="4136909"/>
              <a:ext cx="1905" cy="2500630"/>
            </a:xfrm>
            <a:custGeom>
              <a:avLst/>
              <a:gdLst/>
              <a:ahLst/>
              <a:cxnLst/>
              <a:rect l="l" t="t" r="r" b="b"/>
              <a:pathLst>
                <a:path w="1904" h="2500629">
                  <a:moveTo>
                    <a:pt x="1587" y="0"/>
                  </a:moveTo>
                  <a:lnTo>
                    <a:pt x="0" y="2500312"/>
                  </a:lnTo>
                </a:path>
              </a:pathLst>
            </a:custGeom>
            <a:ln w="34924">
              <a:solidFill>
                <a:srgbClr val="C240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137698" y="6587692"/>
            <a:ext cx="2523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Cambria"/>
                <a:cs typeface="Cambria"/>
              </a:rPr>
              <a:t>Avec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abstraits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930235" y="6587692"/>
            <a:ext cx="2536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Cambria"/>
                <a:cs typeface="Cambria"/>
              </a:rPr>
              <a:t>Sans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rôles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abstraits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Conclusion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39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957059" cy="188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30" dirty="0">
                <a:latin typeface="Cambria"/>
                <a:cs typeface="Cambria"/>
              </a:rPr>
              <a:t>Le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control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d’accès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est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vital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pour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assurer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la</a:t>
            </a:r>
            <a:r>
              <a:rPr sz="2000" spc="1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confidentialité </a:t>
            </a:r>
            <a:r>
              <a:rPr sz="2000" dirty="0">
                <a:latin typeface="Cambria"/>
                <a:cs typeface="Cambria"/>
              </a:rPr>
              <a:t>des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données</a:t>
            </a:r>
            <a:endParaRPr sz="20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215" dirty="0">
                <a:latin typeface="Cambria"/>
                <a:cs typeface="Cambria"/>
              </a:rPr>
              <a:t>DAC,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220" dirty="0">
                <a:latin typeface="Cambria"/>
                <a:cs typeface="Cambria"/>
              </a:rPr>
              <a:t>MAC,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225" dirty="0">
                <a:latin typeface="Cambria"/>
                <a:cs typeface="Cambria"/>
              </a:rPr>
              <a:t>RBAC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les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trois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grandes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approches</a:t>
            </a:r>
            <a:endParaRPr sz="2000">
              <a:latin typeface="Cambria"/>
              <a:cs typeface="Cambria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800" spc="110" dirty="0">
                <a:latin typeface="Cambria"/>
                <a:cs typeface="Cambria"/>
              </a:rPr>
              <a:t>Chacun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ses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avantages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et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désavantages</a:t>
            </a:r>
            <a:endParaRPr sz="1800">
              <a:latin typeface="Cambria"/>
              <a:cs typeface="Cambria"/>
            </a:endParaRPr>
          </a:p>
          <a:p>
            <a:pPr marL="755015" lvl="1" indent="-28511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755015" algn="l"/>
              </a:tabLst>
            </a:pPr>
            <a:r>
              <a:rPr sz="1800" spc="204" dirty="0">
                <a:latin typeface="Cambria"/>
                <a:cs typeface="Cambria"/>
              </a:rPr>
              <a:t>RBAC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révèle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plus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adapté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aux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systèmes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actuels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5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10" dirty="0"/>
              <a:t>Bibliographie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CCCC00"/>
                </a:solidFill>
                <a:latin typeface="Cambria"/>
                <a:cs typeface="Cambria"/>
              </a:rPr>
              <a:t>40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1982354"/>
            <a:ext cx="6985634" cy="149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90" dirty="0">
                <a:latin typeface="Cambria"/>
                <a:cs typeface="Cambria"/>
              </a:rPr>
              <a:t>Security,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Privacy,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and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Trust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in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45" dirty="0">
                <a:latin typeface="Cambria"/>
                <a:cs typeface="Cambria"/>
              </a:rPr>
              <a:t>Data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Management.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Milan </a:t>
            </a:r>
            <a:r>
              <a:rPr sz="2000" spc="65" dirty="0">
                <a:latin typeface="Cambria"/>
                <a:cs typeface="Cambria"/>
              </a:rPr>
              <a:t>Petkovic,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Willem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20" dirty="0">
                <a:latin typeface="Cambria"/>
                <a:cs typeface="Cambria"/>
              </a:rPr>
              <a:t>Jonker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Eds.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2007.</a:t>
            </a:r>
            <a:endParaRPr sz="2000">
              <a:latin typeface="Cambria"/>
              <a:cs typeface="Cambria"/>
            </a:endParaRPr>
          </a:p>
          <a:p>
            <a:pPr marL="241300" marR="144780" indent="-228600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spc="100" dirty="0">
                <a:latin typeface="Cambria"/>
                <a:cs typeface="Cambria"/>
              </a:rPr>
              <a:t>Database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105" dirty="0">
                <a:latin typeface="Cambria"/>
                <a:cs typeface="Cambria"/>
              </a:rPr>
              <a:t>Management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Systems.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Raghu</a:t>
            </a:r>
            <a:r>
              <a:rPr sz="2000" spc="125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Ramakrishnan, </a:t>
            </a:r>
            <a:r>
              <a:rPr sz="2000" spc="114" dirty="0">
                <a:latin typeface="Cambria"/>
                <a:cs typeface="Cambria"/>
              </a:rPr>
              <a:t>Johannes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Gehrke.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International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3rd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Edition,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2003.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5658" y="577735"/>
            <a:ext cx="4235450" cy="4187825"/>
          </a:xfrm>
          <a:custGeom>
            <a:avLst/>
            <a:gdLst/>
            <a:ahLst/>
            <a:cxnLst/>
            <a:rect l="l" t="t" r="r" b="b"/>
            <a:pathLst>
              <a:path w="4235450" h="4187825">
                <a:moveTo>
                  <a:pt x="4235448" y="0"/>
                </a:moveTo>
                <a:lnTo>
                  <a:pt x="0" y="0"/>
                </a:lnTo>
                <a:lnTo>
                  <a:pt x="0" y="4187823"/>
                </a:lnTo>
                <a:lnTo>
                  <a:pt x="4235448" y="4187823"/>
                </a:lnTo>
                <a:lnTo>
                  <a:pt x="4235448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75520" y="577734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97470" y="2727209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A9A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5658" y="577735"/>
            <a:ext cx="4235450" cy="418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875">
              <a:lnSpc>
                <a:spcPts val="6055"/>
              </a:lnSpc>
            </a:pPr>
            <a:r>
              <a:rPr sz="5400" spc="-50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endParaRPr sz="54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97470" y="577734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B2A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5520" y="2727209"/>
            <a:ext cx="2057400" cy="2038350"/>
          </a:xfrm>
          <a:custGeom>
            <a:avLst/>
            <a:gdLst/>
            <a:ahLst/>
            <a:cxnLst/>
            <a:rect l="l" t="t" r="r" b="b"/>
            <a:pathLst>
              <a:path w="2057400" h="2038350">
                <a:moveTo>
                  <a:pt x="2057400" y="0"/>
                </a:moveTo>
                <a:lnTo>
                  <a:pt x="0" y="0"/>
                </a:lnTo>
                <a:lnTo>
                  <a:pt x="0" y="2038350"/>
                </a:lnTo>
                <a:lnTo>
                  <a:pt x="2057400" y="2038350"/>
                </a:lnTo>
                <a:lnTo>
                  <a:pt x="2057400" y="0"/>
                </a:lnTo>
                <a:close/>
              </a:path>
            </a:pathLst>
          </a:custGeom>
          <a:solidFill>
            <a:srgbClr val="4319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863289" y="6306704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41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12668" y="1126374"/>
            <a:ext cx="3678554" cy="1534160"/>
            <a:chOff x="1612668" y="1126374"/>
            <a:chExt cx="3678554" cy="153416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4378" y="1332165"/>
              <a:ext cx="2678927" cy="4473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2668" y="1126374"/>
              <a:ext cx="2763982" cy="8104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0474" y="2063380"/>
              <a:ext cx="3597686" cy="4400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12668" y="1849581"/>
              <a:ext cx="3678382" cy="8104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Les</a:t>
            </a:r>
            <a:r>
              <a:rPr sz="3600" spc="-5" dirty="0"/>
              <a:t> </a:t>
            </a:r>
            <a:r>
              <a:rPr sz="3600" dirty="0"/>
              <a:t>rôles dans </a:t>
            </a:r>
            <a:r>
              <a:rPr sz="3600" spc="-10" dirty="0"/>
              <a:t>Oracle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7345045" cy="29248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Privilège</a:t>
            </a:r>
            <a:endParaRPr sz="2000">
              <a:latin typeface="Arial MT"/>
              <a:cs typeface="Arial MT"/>
            </a:endParaRPr>
          </a:p>
          <a:p>
            <a:pPr marL="469900" marR="102235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Droit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d’exécuter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sentence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SQL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d’accéder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(tables, </a:t>
            </a:r>
            <a:r>
              <a:rPr sz="1800" dirty="0">
                <a:latin typeface="Arial MT"/>
                <a:cs typeface="Arial MT"/>
              </a:rPr>
              <a:t>vues,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objets,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etc.)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autre</a:t>
            </a:r>
            <a:r>
              <a:rPr sz="1800" spc="-10" dirty="0">
                <a:latin typeface="Arial MT"/>
                <a:cs typeface="Arial MT"/>
              </a:rPr>
              <a:t> utilisateur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représente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couple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dirty="0">
                <a:solidFill>
                  <a:srgbClr val="669900"/>
                </a:solidFill>
                <a:latin typeface="Arial MT"/>
                <a:cs typeface="Arial MT"/>
              </a:rPr>
              <a:t>objet,</a:t>
            </a:r>
            <a:r>
              <a:rPr sz="1800" spc="-15" dirty="0">
                <a:solidFill>
                  <a:srgbClr val="6699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669900"/>
                </a:solidFill>
                <a:latin typeface="Arial MT"/>
                <a:cs typeface="Arial MT"/>
              </a:rPr>
              <a:t>privilège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173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Oracle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10g</a:t>
            </a:r>
            <a:r>
              <a:rPr sz="1800" spc="-10" dirty="0">
                <a:latin typeface="Arial MT"/>
                <a:cs typeface="Arial MT"/>
              </a:rPr>
              <a:t> (SYSTEM_PRIVILEGE_MAP)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20" dirty="0">
                <a:latin typeface="Arial MT"/>
                <a:cs typeface="Arial MT"/>
              </a:rPr>
              <a:t>Rôle</a:t>
            </a:r>
            <a:endParaRPr sz="2000">
              <a:latin typeface="Arial MT"/>
              <a:cs typeface="Arial MT"/>
            </a:endParaRPr>
          </a:p>
          <a:p>
            <a:pPr marL="469900" marR="5080" lvl="1" indent="-228600">
              <a:lnSpc>
                <a:spcPct val="101899"/>
              </a:lnSpc>
              <a:spcBef>
                <a:spcPts val="56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Ensemble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qui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utilisateurs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aux </a:t>
            </a:r>
            <a:r>
              <a:rPr sz="1800" spc="-10" dirty="0">
                <a:latin typeface="Arial MT"/>
                <a:cs typeface="Arial MT"/>
              </a:rPr>
              <a:t>rôles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Types</a:t>
            </a:r>
            <a:r>
              <a:rPr sz="3600" spc="-130" dirty="0"/>
              <a:t> </a:t>
            </a:r>
            <a:r>
              <a:rPr sz="3600" dirty="0"/>
              <a:t>de</a:t>
            </a:r>
            <a:r>
              <a:rPr sz="3600" spc="-80" dirty="0"/>
              <a:t> </a:t>
            </a:r>
            <a:r>
              <a:rPr sz="3600" spc="-10" dirty="0"/>
              <a:t>privilèges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92769"/>
            <a:ext cx="6532245" cy="40449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34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objets</a:t>
            </a:r>
            <a:endParaRPr sz="2200">
              <a:latin typeface="Arial MT"/>
              <a:cs typeface="Arial MT"/>
            </a:endParaRPr>
          </a:p>
          <a:p>
            <a:pPr marL="469900" marR="72390" lvl="1" indent="-228600">
              <a:lnSpc>
                <a:spcPts val="2100"/>
              </a:lnSpc>
              <a:spcBef>
                <a:spcPts val="509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permettant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la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gestion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objets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crées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les </a:t>
            </a:r>
            <a:r>
              <a:rPr sz="1900" spc="-10" dirty="0">
                <a:latin typeface="Arial MT"/>
                <a:cs typeface="Arial MT"/>
              </a:rPr>
              <a:t>utilisateurs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8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-20" dirty="0">
                <a:latin typeface="Arial MT"/>
                <a:cs typeface="Arial MT"/>
              </a:rPr>
              <a:t>CREATE,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SELECT,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30" dirty="0">
                <a:latin typeface="Arial MT"/>
                <a:cs typeface="Arial MT"/>
              </a:rPr>
              <a:t>INSERT,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etc.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système</a:t>
            </a:r>
            <a:endParaRPr sz="2200">
              <a:latin typeface="Arial MT"/>
              <a:cs typeface="Arial MT"/>
            </a:endParaRPr>
          </a:p>
          <a:p>
            <a:pPr marL="469900" marR="5080" lvl="1" indent="-228600">
              <a:lnSpc>
                <a:spcPts val="2000"/>
              </a:lnSpc>
              <a:spcBef>
                <a:spcPts val="69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permettant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la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gestion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du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système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bases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de </a:t>
            </a:r>
            <a:r>
              <a:rPr sz="1900" spc="-10" dirty="0">
                <a:latin typeface="Arial MT"/>
                <a:cs typeface="Arial MT"/>
              </a:rPr>
              <a:t>données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Ne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sont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pas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liés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à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un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objet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schéma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spc="-20" dirty="0">
                <a:latin typeface="Arial MT"/>
                <a:cs typeface="Arial MT"/>
              </a:rPr>
              <a:t>CREATE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SESSION,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CREATE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ROLE,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ALTER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ROLE,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etc.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Rôles</a:t>
            </a:r>
            <a:endParaRPr sz="22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9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Peuvent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contenir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objets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et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système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668433" y="2201747"/>
          <a:ext cx="7388860" cy="4230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800"/>
                <a:gridCol w="5179060"/>
              </a:tblGrid>
              <a:tr h="3346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Objet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38100">
                      <a:solidFill>
                        <a:srgbClr val="C3AFCC"/>
                      </a:solidFill>
                      <a:prstDash val="solid"/>
                    </a:lnT>
                    <a:lnB w="38100">
                      <a:solidFill>
                        <a:srgbClr val="C3AFCC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Privilège</a:t>
                      </a:r>
                      <a:endParaRPr sz="16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38100">
                      <a:solidFill>
                        <a:srgbClr val="C3AFCC"/>
                      </a:solidFill>
                      <a:prstDash val="solid"/>
                    </a:lnT>
                    <a:lnB w="38100">
                      <a:solidFill>
                        <a:srgbClr val="C3AFCC"/>
                      </a:solidFill>
                      <a:prstDash val="solid"/>
                    </a:lnB>
                    <a:solidFill>
                      <a:srgbClr val="7A4779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Tables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38100">
                      <a:solidFill>
                        <a:srgbClr val="C3AFCC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763905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select,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insert,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update,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delete,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alter,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debug,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flashback,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2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on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commit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refresh,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query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rewrite,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references,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all,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index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38100">
                      <a:solidFill>
                        <a:srgbClr val="C3AFCC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Views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588010">
                        <a:lnSpc>
                          <a:spcPts val="1600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select,</a:t>
                      </a:r>
                      <a:r>
                        <a:rPr sz="1400" spc="-5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insert,</a:t>
                      </a:r>
                      <a:r>
                        <a:rPr sz="1400" spc="-5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update,</a:t>
                      </a:r>
                      <a:r>
                        <a:rPr sz="1400" spc="-5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delete,</a:t>
                      </a:r>
                      <a:r>
                        <a:rPr sz="1400" spc="-5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under,</a:t>
                      </a:r>
                      <a:r>
                        <a:rPr sz="1400" spc="-5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references,</a:t>
                      </a:r>
                      <a:r>
                        <a:rPr sz="1400" spc="-5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flashback, debug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Sequence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alter,</a:t>
                      </a:r>
                      <a:r>
                        <a:rPr sz="1400" spc="-3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select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730885">
                <a:tc>
                  <a:txBody>
                    <a:bodyPr/>
                    <a:lstStyle/>
                    <a:p>
                      <a:pPr marL="90805" marR="219075">
                        <a:lnSpc>
                          <a:spcPct val="98200"/>
                        </a:lnSpc>
                        <a:spcBef>
                          <a:spcPts val="390"/>
                        </a:spcBef>
                      </a:pPr>
                      <a:r>
                        <a:rPr sz="1400" b="1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Packeges,</a:t>
                      </a:r>
                      <a:r>
                        <a:rPr sz="1400" b="1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Procedures, </a:t>
                      </a:r>
                      <a:r>
                        <a:rPr sz="1400" b="1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Functions</a:t>
                      </a:r>
                      <a:r>
                        <a:rPr sz="1400" b="1" spc="-3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(Java</a:t>
                      </a:r>
                      <a:r>
                        <a:rPr sz="1400" b="1" spc="-3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classes, sources...)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T="4953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execute,</a:t>
                      </a:r>
                      <a:r>
                        <a:rPr sz="1400" spc="-7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debug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Materialized</a:t>
                      </a:r>
                      <a:r>
                        <a:rPr sz="1400" b="1" spc="-6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Views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delete,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flashback,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insert,</a:t>
                      </a:r>
                      <a:r>
                        <a:rPr sz="1400" spc="-4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select,</a:t>
                      </a:r>
                      <a:r>
                        <a:rPr sz="1400" spc="-4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update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Directories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read,</a:t>
                      </a:r>
                      <a:r>
                        <a:rPr sz="1400" spc="-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write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Libraries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execute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User</a:t>
                      </a:r>
                      <a:r>
                        <a:rPr sz="1400" b="1" spc="-3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defined</a:t>
                      </a:r>
                      <a:r>
                        <a:rPr sz="1400" b="1" spc="-3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types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execute,</a:t>
                      </a:r>
                      <a:r>
                        <a:rPr sz="1400" spc="-6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debug,</a:t>
                      </a:r>
                      <a:r>
                        <a:rPr sz="1400" spc="-55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under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Operators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execute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12700">
                      <a:solidFill>
                        <a:srgbClr val="663366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b="1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Indextypes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B="0">
                    <a:lnL w="38100">
                      <a:solidFill>
                        <a:srgbClr val="C3AFCC"/>
                      </a:solidFill>
                      <a:prstDash val="solid"/>
                    </a:lnL>
                    <a:lnR w="12700">
                      <a:solidFill>
                        <a:srgbClr val="663366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38100">
                      <a:solidFill>
                        <a:srgbClr val="C3AF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  <a:tabLst>
                          <a:tab pos="4978400" algn="l"/>
                        </a:tabLst>
                      </a:pPr>
                      <a:r>
                        <a:rPr sz="1400" spc="-1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execute</a:t>
                      </a:r>
                      <a:r>
                        <a:rPr sz="1400" dirty="0">
                          <a:solidFill>
                            <a:srgbClr val="262626"/>
                          </a:solidFill>
                          <a:latin typeface="Palatino Linotype"/>
                          <a:cs typeface="Palatino Linotype"/>
                        </a:rPr>
                        <a:t>	</a:t>
                      </a:r>
                      <a:r>
                        <a:rPr sz="2100" spc="-37" baseline="-37698" dirty="0">
                          <a:solidFill>
                            <a:srgbClr val="FFFEBA"/>
                          </a:solidFill>
                          <a:latin typeface="Cambria"/>
                          <a:cs typeface="Cambria"/>
                        </a:rPr>
                        <a:t>44</a:t>
                      </a:r>
                      <a:endParaRPr sz="2100" baseline="-37698">
                        <a:latin typeface="Cambria"/>
                        <a:cs typeface="Cambria"/>
                      </a:endParaRPr>
                    </a:p>
                  </a:txBody>
                  <a:tcPr marL="0" marR="0" marB="0">
                    <a:lnL w="12700">
                      <a:solidFill>
                        <a:srgbClr val="663366"/>
                      </a:solidFill>
                      <a:prstDash val="solid"/>
                    </a:lnL>
                    <a:lnR w="38100">
                      <a:solidFill>
                        <a:srgbClr val="C3AFCC"/>
                      </a:solidFill>
                      <a:prstDash val="solid"/>
                    </a:lnR>
                    <a:lnT w="12700">
                      <a:solidFill>
                        <a:srgbClr val="663366"/>
                      </a:solidFill>
                      <a:prstDash val="solid"/>
                    </a:lnT>
                    <a:lnB w="38100">
                      <a:solidFill>
                        <a:srgbClr val="C3AF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466" rIns="0" bIns="0" rtlCol="0">
            <a:spAutoFit/>
          </a:bodyPr>
          <a:lstStyle/>
          <a:p>
            <a:pPr marL="1054100">
              <a:lnSpc>
                <a:spcPct val="100000"/>
              </a:lnSpc>
              <a:spcBef>
                <a:spcPts val="100"/>
              </a:spcBef>
            </a:pPr>
            <a:r>
              <a:rPr spc="130" dirty="0">
                <a:latin typeface="Cambria"/>
                <a:cs typeface="Cambria"/>
              </a:rPr>
              <a:t>Privilèges</a:t>
            </a:r>
            <a:r>
              <a:rPr spc="150" dirty="0">
                <a:latin typeface="Cambria"/>
                <a:cs typeface="Cambria"/>
              </a:rPr>
              <a:t> </a:t>
            </a:r>
            <a:r>
              <a:rPr spc="125" dirty="0">
                <a:latin typeface="Cambria"/>
                <a:cs typeface="Cambria"/>
              </a:rPr>
              <a:t>objets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271558" y="631709"/>
            <a:ext cx="7807325" cy="6394450"/>
            <a:chOff x="1271558" y="631709"/>
            <a:chExt cx="7807325" cy="6394450"/>
          </a:xfrm>
        </p:grpSpPr>
        <p:sp>
          <p:nvSpPr>
            <p:cNvPr id="4" name="object 4"/>
            <p:cNvSpPr/>
            <p:nvPr/>
          </p:nvSpPr>
          <p:spPr>
            <a:xfrm>
              <a:off x="8840756" y="631709"/>
              <a:ext cx="92075" cy="1600200"/>
            </a:xfrm>
            <a:custGeom>
              <a:avLst/>
              <a:gdLst/>
              <a:ahLst/>
              <a:cxnLst/>
              <a:rect l="l" t="t" r="r" b="b"/>
              <a:pathLst>
                <a:path w="92075" h="1600200">
                  <a:moveTo>
                    <a:pt x="92075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92075" y="1600200"/>
                  </a:lnTo>
                  <a:lnTo>
                    <a:pt x="92075" y="0"/>
                  </a:lnTo>
                  <a:close/>
                </a:path>
              </a:pathLst>
            </a:custGeom>
            <a:solidFill>
              <a:srgbClr val="797B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1558" y="1696922"/>
              <a:ext cx="7807323" cy="532896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Privilèges</a:t>
            </a:r>
            <a:r>
              <a:rPr sz="3600" spc="-20" dirty="0"/>
              <a:t> </a:t>
            </a:r>
            <a:r>
              <a:rPr sz="3600" dirty="0"/>
              <a:t>sur</a:t>
            </a:r>
            <a:r>
              <a:rPr sz="3600" spc="-10" dirty="0"/>
              <a:t> </a:t>
            </a:r>
            <a:r>
              <a:rPr sz="3600" dirty="0"/>
              <a:t>les</a:t>
            </a:r>
            <a:r>
              <a:rPr sz="3600" spc="-10" dirty="0"/>
              <a:t> objets</a:t>
            </a:r>
            <a:endParaRPr sz="3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Privilèges</a:t>
            </a:r>
            <a:r>
              <a:rPr sz="3600" spc="-5" dirty="0"/>
              <a:t> </a:t>
            </a:r>
            <a:r>
              <a:rPr sz="3600" spc="-10" dirty="0"/>
              <a:t>système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363354"/>
            <a:ext cx="7149465" cy="201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Définis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Oracle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modifiables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utilisateurs</a:t>
            </a:r>
            <a:endParaRPr sz="2200">
              <a:latin typeface="Arial MT"/>
              <a:cs typeface="Arial MT"/>
            </a:endParaRPr>
          </a:p>
          <a:p>
            <a:pPr marL="241300" marR="471170" indent="-228600">
              <a:lnSpc>
                <a:spcPts val="2600"/>
              </a:lnSpc>
              <a:spcBef>
                <a:spcPts val="208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Peuvent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être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attribués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uniquement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les </a:t>
            </a:r>
            <a:r>
              <a:rPr sz="2200" spc="-10" dirty="0">
                <a:latin typeface="Arial MT"/>
                <a:cs typeface="Arial MT"/>
              </a:rPr>
              <a:t>administrateurs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du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système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ayant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privilèges</a:t>
            </a:r>
            <a:endParaRPr sz="22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8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Le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à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attribuer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avec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l’option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ADMIN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OPTION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Le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général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GRANT</a:t>
            </a:r>
            <a:r>
              <a:rPr sz="1900" spc="-1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ANY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PRIVILEGE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0298" y="5195454"/>
            <a:ext cx="7383145" cy="10210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41300" marR="5080" indent="-228600">
              <a:lnSpc>
                <a:spcPts val="2600"/>
              </a:lnSpc>
              <a:spcBef>
                <a:spcPts val="21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Les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objets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peuvent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être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attribués </a:t>
            </a:r>
            <a:r>
              <a:rPr sz="2200" dirty="0">
                <a:latin typeface="Arial MT"/>
                <a:cs typeface="Arial MT"/>
              </a:rPr>
              <a:t>avec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systèmes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rôles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dans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même </a:t>
            </a:r>
            <a:r>
              <a:rPr sz="2200" dirty="0">
                <a:latin typeface="Arial MT"/>
                <a:cs typeface="Arial MT"/>
              </a:rPr>
              <a:t>sentence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GRANT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spc="-30" dirty="0"/>
              <a:t>L’option</a:t>
            </a:r>
            <a:r>
              <a:rPr sz="3600" spc="-220" dirty="0"/>
              <a:t> </a:t>
            </a:r>
            <a:r>
              <a:rPr sz="3600" dirty="0"/>
              <a:t>ADMIN</a:t>
            </a:r>
            <a:r>
              <a:rPr sz="3600" spc="-25" dirty="0"/>
              <a:t> </a:t>
            </a:r>
            <a:r>
              <a:rPr sz="3600" spc="-10" dirty="0"/>
              <a:t>OPTION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7623" y="2058554"/>
            <a:ext cx="7872730" cy="454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Utilisable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avec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rôles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système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Semblable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à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GRANT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OPTION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privilèges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objets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Le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receveur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peut</a:t>
            </a:r>
            <a:endParaRPr sz="22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6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Attribuer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révoquer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rôle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système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Attribuer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rôle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système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avec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l’option</a:t>
            </a:r>
            <a:r>
              <a:rPr sz="1900" spc="-1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ADMIN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OPTION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Modifier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(ALTER)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ou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supprimer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rôle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Pour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annuler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l’option,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faut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révoquer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privilège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6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Exemples</a:t>
            </a:r>
            <a:endParaRPr sz="22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6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GRANT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myRole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alice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WITH</a:t>
            </a:r>
            <a:r>
              <a:rPr sz="1900" spc="-1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ADMIN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OPTION;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REVOKE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myRole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alice;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Avantages</a:t>
            </a:r>
            <a:r>
              <a:rPr sz="3600" spc="-50" dirty="0"/>
              <a:t> </a:t>
            </a:r>
            <a:r>
              <a:rPr sz="3600" dirty="0"/>
              <a:t>de</a:t>
            </a:r>
            <a:r>
              <a:rPr sz="3600" spc="-25" dirty="0"/>
              <a:t> </a:t>
            </a:r>
            <a:r>
              <a:rPr sz="3600" dirty="0"/>
              <a:t>l</a:t>
            </a:r>
            <a:r>
              <a:rPr sz="3600" dirty="0">
                <a:solidFill>
                  <a:srgbClr val="7A4779"/>
                </a:solidFill>
              </a:rPr>
              <a:t>’</a:t>
            </a:r>
            <a:r>
              <a:rPr sz="3600" dirty="0"/>
              <a:t>utilisation</a:t>
            </a:r>
            <a:r>
              <a:rPr sz="3600" spc="-30" dirty="0"/>
              <a:t> </a:t>
            </a:r>
            <a:r>
              <a:rPr sz="3600" dirty="0"/>
              <a:t>de</a:t>
            </a:r>
            <a:r>
              <a:rPr sz="3600" spc="-25" dirty="0"/>
              <a:t>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7345045" cy="34074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Gestion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privilèges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réduite</a:t>
            </a:r>
            <a:endParaRPr sz="2000">
              <a:latin typeface="Arial MT"/>
              <a:cs typeface="Arial MT"/>
            </a:endParaRPr>
          </a:p>
          <a:p>
            <a:pPr marL="469900" marR="5080" lvl="1" indent="-228600">
              <a:lnSpc>
                <a:spcPct val="99500"/>
              </a:lnSpc>
              <a:spcBef>
                <a:spcPts val="61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lieu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d’attribuer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ensemble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utilisateurs,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par </a:t>
            </a:r>
            <a:r>
              <a:rPr sz="1800" dirty="0">
                <a:latin typeface="Arial MT"/>
                <a:cs typeface="Arial MT"/>
              </a:rPr>
              <a:t>un,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uniquement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est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utilisateurs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Gestion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dynamique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privilèges</a:t>
            </a:r>
            <a:endParaRPr sz="2000">
              <a:latin typeface="Arial MT"/>
              <a:cs typeface="Arial MT"/>
            </a:endParaRPr>
          </a:p>
          <a:p>
            <a:pPr marL="469900" marR="678180" lvl="1" indent="-228600">
              <a:lnSpc>
                <a:spcPct val="101899"/>
              </a:lnSpc>
              <a:spcBef>
                <a:spcPts val="56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Si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groupe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change,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uniquement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sera </a:t>
            </a:r>
            <a:r>
              <a:rPr sz="1800" spc="-10" dirty="0">
                <a:latin typeface="Arial MT"/>
                <a:cs typeface="Arial MT"/>
              </a:rPr>
              <a:t>modifié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Surveillance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plus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simple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Plus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vérifier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utilisateurs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Utilisation</a:t>
            </a:r>
            <a:r>
              <a:rPr sz="3600" spc="-15" dirty="0"/>
              <a:t> </a:t>
            </a:r>
            <a:r>
              <a:rPr sz="3600" dirty="0"/>
              <a:t>des</a:t>
            </a:r>
            <a:r>
              <a:rPr sz="3600" spc="-15" dirty="0"/>
              <a:t>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49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363354"/>
            <a:ext cx="7167245" cy="243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Pour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gestion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privilèges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d’un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d’utilisateurs</a:t>
            </a:r>
            <a:endParaRPr sz="2000">
              <a:latin typeface="Arial MT"/>
              <a:cs typeface="Arial MT"/>
            </a:endParaRPr>
          </a:p>
          <a:p>
            <a:pPr marL="241300" marR="294640" indent="-228600">
              <a:lnSpc>
                <a:spcPct val="100000"/>
              </a:lnSpc>
              <a:spcBef>
                <a:spcPts val="20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Pour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gestion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privilèges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d’une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 </a:t>
            </a:r>
            <a:r>
              <a:rPr sz="2000" spc="-10" dirty="0">
                <a:latin typeface="Arial MT"/>
                <a:cs typeface="Arial MT"/>
              </a:rPr>
              <a:t>données</a:t>
            </a:r>
            <a:endParaRPr sz="2000">
              <a:latin typeface="Arial MT"/>
              <a:cs typeface="Arial MT"/>
            </a:endParaRPr>
          </a:p>
          <a:p>
            <a:pPr marL="469900" marR="5080" lvl="1" indent="-228600">
              <a:lnSpc>
                <a:spcPts val="2100"/>
              </a:lnSpc>
              <a:spcBef>
                <a:spcPts val="7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Attribution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nécessaires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l’exécution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d’une application</a:t>
            </a:r>
            <a:endParaRPr sz="1800">
              <a:latin typeface="Arial MT"/>
              <a:cs typeface="Arial MT"/>
            </a:endParaRPr>
          </a:p>
          <a:p>
            <a:pPr marL="469900" marR="906780" lvl="1" indent="-228600">
              <a:lnSpc>
                <a:spcPts val="2100"/>
              </a:lnSpc>
              <a:spcBef>
                <a:spcPts val="7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d’application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utilisateurs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de </a:t>
            </a:r>
            <a:r>
              <a:rPr sz="1800" spc="-10" dirty="0">
                <a:latin typeface="Arial MT"/>
                <a:cs typeface="Arial MT"/>
              </a:rPr>
              <a:t>l’application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Rôles</a:t>
            </a:r>
            <a:r>
              <a:rPr sz="3600" spc="-15" dirty="0"/>
              <a:t> </a:t>
            </a:r>
            <a:r>
              <a:rPr sz="3600" dirty="0"/>
              <a:t>prédéfinis</a:t>
            </a:r>
            <a:r>
              <a:rPr sz="3600" spc="-10" dirty="0"/>
              <a:t> d</a:t>
            </a:r>
            <a:r>
              <a:rPr sz="3600" spc="-10" dirty="0">
                <a:solidFill>
                  <a:srgbClr val="7A4779"/>
                </a:solidFill>
              </a:rPr>
              <a:t>’</a:t>
            </a:r>
            <a:r>
              <a:rPr sz="3600" spc="-10" dirty="0"/>
              <a:t>Oracle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7623" y="1817254"/>
            <a:ext cx="7591425" cy="435610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5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400" dirty="0">
                <a:latin typeface="Arial MT"/>
                <a:cs typeface="Arial MT"/>
              </a:rPr>
              <a:t>Définis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automatiquement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l’installation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d’Oracle</a:t>
            </a:r>
            <a:endParaRPr sz="24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400" dirty="0">
                <a:latin typeface="Arial MT"/>
                <a:cs typeface="Arial MT"/>
              </a:rPr>
              <a:t>Aident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à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gestion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données</a:t>
            </a:r>
            <a:endParaRPr sz="2400">
              <a:latin typeface="Arial MT"/>
              <a:cs typeface="Arial MT"/>
            </a:endParaRPr>
          </a:p>
          <a:p>
            <a:pPr marL="241300" marR="548640" indent="-228600">
              <a:lnSpc>
                <a:spcPct val="79900"/>
              </a:lnSpc>
              <a:spcBef>
                <a:spcPts val="199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Peuvent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être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gérés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rôles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définis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un </a:t>
            </a:r>
            <a:r>
              <a:rPr sz="2400" spc="-10" dirty="0">
                <a:latin typeface="Arial MT"/>
                <a:cs typeface="Arial MT"/>
              </a:rPr>
              <a:t>utilisateur</a:t>
            </a:r>
            <a:endParaRPr sz="24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4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400" spc="-10" dirty="0">
                <a:latin typeface="Arial MT"/>
                <a:cs typeface="Arial MT"/>
              </a:rPr>
              <a:t>Exemples</a:t>
            </a:r>
            <a:endParaRPr sz="2400">
              <a:latin typeface="Arial MT"/>
              <a:cs typeface="Arial MT"/>
            </a:endParaRPr>
          </a:p>
          <a:p>
            <a:pPr marL="469900" marR="5080" lvl="1" indent="-228600">
              <a:lnSpc>
                <a:spcPct val="792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dirty="0">
                <a:solidFill>
                  <a:srgbClr val="669900"/>
                </a:solidFill>
                <a:latin typeface="Arial MT"/>
                <a:cs typeface="Arial MT"/>
              </a:rPr>
              <a:t>CONNECT</a:t>
            </a:r>
            <a:r>
              <a:rPr sz="2000" spc="-140" dirty="0">
                <a:solidFill>
                  <a:srgbClr val="6699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VIEW,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CREATE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TABLE,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ALTER </a:t>
            </a:r>
            <a:r>
              <a:rPr sz="2000" dirty="0">
                <a:latin typeface="Arial MT"/>
                <a:cs typeface="Arial MT"/>
              </a:rPr>
              <a:t>SESSION,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SESSION,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CREATE </a:t>
            </a:r>
            <a:r>
              <a:rPr sz="2000" dirty="0">
                <a:latin typeface="Arial MT"/>
                <a:cs typeface="Arial MT"/>
              </a:rPr>
              <a:t>SYNONYM,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SEQUENCE,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DATABASE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LINK</a:t>
            </a:r>
            <a:endParaRPr sz="2000">
              <a:latin typeface="Arial MT"/>
              <a:cs typeface="Arial MT"/>
            </a:endParaRPr>
          </a:p>
          <a:p>
            <a:pPr marL="469900" marR="155575" lvl="1" indent="-228600">
              <a:lnSpc>
                <a:spcPct val="80600"/>
              </a:lnSpc>
              <a:spcBef>
                <a:spcPts val="565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2000" dirty="0">
                <a:solidFill>
                  <a:srgbClr val="669900"/>
                </a:solidFill>
                <a:latin typeface="Arial MT"/>
                <a:cs typeface="Arial MT"/>
              </a:rPr>
              <a:t>RESOURCE</a:t>
            </a:r>
            <a:r>
              <a:rPr sz="2000" spc="-85" dirty="0">
                <a:solidFill>
                  <a:srgbClr val="669900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INDEXTYPE,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OPERATOR,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CREATE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PROCEDURE,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CREATE </a:t>
            </a:r>
            <a:r>
              <a:rPr sz="2000" dirty="0">
                <a:latin typeface="Arial MT"/>
                <a:cs typeface="Arial MT"/>
              </a:rPr>
              <a:t>SEQUENCE,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CREATE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TABLE,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CREATE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TRIGGER,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CREATE </a:t>
            </a:r>
            <a:r>
              <a:rPr sz="2000" spc="-20" dirty="0">
                <a:latin typeface="Arial MT"/>
                <a:cs typeface="Arial MT"/>
              </a:rPr>
              <a:t>TYPE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Gestion de</a:t>
            </a:r>
            <a:r>
              <a:rPr sz="3600" spc="5" dirty="0"/>
              <a:t>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51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6989445" cy="32042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Création/suppression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et</a:t>
            </a:r>
            <a:r>
              <a:rPr sz="1800" spc="-10" dirty="0">
                <a:latin typeface="Arial MT"/>
                <a:cs typeface="Arial MT"/>
              </a:rPr>
              <a:t> supprimé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Sécurisation</a:t>
            </a:r>
            <a:endParaRPr sz="2000">
              <a:latin typeface="Arial MT"/>
              <a:cs typeface="Arial MT"/>
            </a:endParaRPr>
          </a:p>
          <a:p>
            <a:pPr marL="469900" marR="5080" lvl="1" indent="-228600">
              <a:lnSpc>
                <a:spcPct val="101899"/>
              </a:lnSpc>
              <a:spcBef>
                <a:spcPts val="56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peuvent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protégés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passe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pour</a:t>
            </a:r>
            <a:r>
              <a:rPr sz="1800" spc="-10" dirty="0">
                <a:latin typeface="Arial MT"/>
                <a:cs typeface="Arial MT"/>
              </a:rPr>
              <a:t> éviter </a:t>
            </a:r>
            <a:r>
              <a:rPr sz="1800" dirty="0">
                <a:latin typeface="Arial MT"/>
                <a:cs typeface="Arial MT"/>
              </a:rPr>
              <a:t>que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n’importe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qui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ajoute/supprime/attribue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privilèges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9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Attribution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utilisateurs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rôles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rôles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Création/suppression</a:t>
            </a:r>
            <a:r>
              <a:rPr sz="3600" spc="-40" dirty="0"/>
              <a:t> </a:t>
            </a:r>
            <a:r>
              <a:rPr sz="3600" dirty="0"/>
              <a:t>de</a:t>
            </a:r>
            <a:r>
              <a:rPr sz="3600" spc="-25" dirty="0"/>
              <a:t>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92799"/>
            <a:ext cx="6183630" cy="39954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54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Création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rôles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Uniquement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</a:t>
            </a:r>
            <a:r>
              <a:rPr sz="1800" spc="-10" dirty="0">
                <a:latin typeface="Arial MT"/>
                <a:cs typeface="Arial MT"/>
              </a:rPr>
              <a:t> utilisateurs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1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CREATE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Modification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rôles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Par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0" dirty="0">
                <a:latin typeface="Arial MT"/>
                <a:cs typeface="Arial MT"/>
              </a:rPr>
              <a:t> utilisateurs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2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l’option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OPTION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1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privilège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35" dirty="0">
                <a:latin typeface="Arial MT"/>
                <a:cs typeface="Arial MT"/>
              </a:rPr>
              <a:t>ALTER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5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Suppression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rôles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1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Par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0" dirty="0">
                <a:latin typeface="Arial MT"/>
                <a:cs typeface="Arial MT"/>
              </a:rPr>
              <a:t> utilisateurs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2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créé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rôle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1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l’option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OPTION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1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DROP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Création/suppression</a:t>
            </a:r>
            <a:r>
              <a:rPr sz="3600" spc="-40" dirty="0"/>
              <a:t> </a:t>
            </a:r>
            <a:r>
              <a:rPr sz="3600" dirty="0"/>
              <a:t>de</a:t>
            </a:r>
            <a:r>
              <a:rPr sz="3600" spc="-25" dirty="0"/>
              <a:t>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6938645" cy="30772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Création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sécurisation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peuvent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passe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-10" dirty="0">
                <a:latin typeface="Arial MT"/>
                <a:cs typeface="Arial MT"/>
              </a:rPr>
              <a:t>CREATE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-10" dirty="0">
                <a:latin typeface="Arial MT"/>
                <a:cs typeface="Arial MT"/>
              </a:rPr>
              <a:t>CREATE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my_pwd;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passe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également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existant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spc="-10" dirty="0">
                <a:latin typeface="Arial MT"/>
                <a:cs typeface="Arial MT"/>
              </a:rPr>
              <a:t>ALTER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ROLE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IDENTIFIED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my_pwd;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03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Suppression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DROP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Attribution</a:t>
            </a:r>
            <a:r>
              <a:rPr sz="3600" spc="-25" dirty="0"/>
              <a:t> </a:t>
            </a:r>
            <a:r>
              <a:rPr sz="3600" dirty="0"/>
              <a:t>de</a:t>
            </a:r>
            <a:r>
              <a:rPr sz="3600" spc="-15" dirty="0"/>
              <a:t> </a:t>
            </a:r>
            <a:r>
              <a:rPr sz="3600" dirty="0"/>
              <a:t>privilèges</a:t>
            </a:r>
            <a:r>
              <a:rPr sz="3600" spc="-25" dirty="0"/>
              <a:t> </a:t>
            </a:r>
            <a:r>
              <a:rPr sz="3600" dirty="0"/>
              <a:t>à</a:t>
            </a:r>
            <a:r>
              <a:rPr sz="3600" spc="-15" dirty="0"/>
              <a:t> </a:t>
            </a:r>
            <a:r>
              <a:rPr sz="3600" dirty="0"/>
              <a:t>un</a:t>
            </a:r>
            <a:r>
              <a:rPr sz="3600" spc="-15" dirty="0"/>
              <a:t> </a:t>
            </a:r>
            <a:r>
              <a:rPr sz="3600" spc="-20" dirty="0"/>
              <a:t>rôle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54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92799"/>
            <a:ext cx="7339330" cy="34467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spc="-10" dirty="0">
                <a:latin typeface="Arial MT"/>
                <a:cs typeface="Arial MT"/>
              </a:rPr>
              <a:t>L’attribution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être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utilisateurs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créé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rôle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(avec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l’option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OPTION)</a:t>
            </a:r>
            <a:endParaRPr sz="1800">
              <a:latin typeface="Arial MT"/>
              <a:cs typeface="Arial MT"/>
            </a:endParaRPr>
          </a:p>
          <a:p>
            <a:pPr marL="469900" marR="5080" lvl="1" indent="-228600">
              <a:lnSpc>
                <a:spcPts val="1900"/>
              </a:lnSpc>
              <a:spcBef>
                <a:spcPts val="6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système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PRIVILEGE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(pour </a:t>
            </a: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objets)</a:t>
            </a:r>
            <a:endParaRPr sz="1800">
              <a:latin typeface="Arial MT"/>
              <a:cs typeface="Arial MT"/>
            </a:endParaRPr>
          </a:p>
          <a:p>
            <a:pPr marL="469900" marR="610235" lvl="1" indent="-228600">
              <a:lnSpc>
                <a:spcPts val="1900"/>
              </a:lnSpc>
              <a:spcBef>
                <a:spcPts val="7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système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PRIVILEGE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(pour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les </a:t>
            </a:r>
            <a:r>
              <a:rPr sz="1800" dirty="0">
                <a:latin typeface="Arial MT"/>
                <a:cs typeface="Arial MT"/>
              </a:rPr>
              <a:t>privilèges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système)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Exemples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3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myTable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4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myTable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myRole1,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myRole2;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3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SELECT,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UPDATE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myTable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Suppression</a:t>
            </a:r>
            <a:r>
              <a:rPr sz="3600" spc="-30" dirty="0"/>
              <a:t> </a:t>
            </a:r>
            <a:r>
              <a:rPr sz="3600" dirty="0"/>
              <a:t>de</a:t>
            </a:r>
            <a:r>
              <a:rPr sz="3600" spc="-20" dirty="0"/>
              <a:t> </a:t>
            </a:r>
            <a:r>
              <a:rPr sz="3600" dirty="0"/>
              <a:t>privilèges</a:t>
            </a:r>
            <a:r>
              <a:rPr sz="3600" spc="-25" dirty="0"/>
              <a:t> </a:t>
            </a:r>
            <a:r>
              <a:rPr sz="3600" dirty="0"/>
              <a:t>à</a:t>
            </a:r>
            <a:r>
              <a:rPr sz="3600" spc="-20" dirty="0"/>
              <a:t> </a:t>
            </a:r>
            <a:r>
              <a:rPr sz="3600" dirty="0"/>
              <a:t>un</a:t>
            </a:r>
            <a:r>
              <a:rPr sz="3600" spc="-15" dirty="0"/>
              <a:t> </a:t>
            </a:r>
            <a:r>
              <a:rPr sz="3600" spc="-20" dirty="0"/>
              <a:t>rôle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55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6741795" cy="21628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La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suppression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peut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être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utilisateurs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préalablement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</a:t>
            </a:r>
            <a:r>
              <a:rPr sz="1800" spc="-20" dirty="0">
                <a:latin typeface="Arial MT"/>
                <a:cs typeface="Arial MT"/>
              </a:rPr>
              <a:t> rôle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système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PRIVILEGE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Exemples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5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REVOKE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myTable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REVOKE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myTable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Attribution</a:t>
            </a:r>
            <a:r>
              <a:rPr sz="3600" spc="-15" dirty="0"/>
              <a:t> </a:t>
            </a:r>
            <a:r>
              <a:rPr sz="3600" dirty="0"/>
              <a:t>de</a:t>
            </a:r>
            <a:r>
              <a:rPr sz="3600" spc="-10" dirty="0"/>
              <a:t> 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56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7" y="2292799"/>
            <a:ext cx="7327900" cy="35991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rôles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peuvent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être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attribués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uniquement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utilisateurs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l’option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OPTION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général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Exemples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3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Attribution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rôle</a:t>
            </a:r>
            <a:endParaRPr sz="1800">
              <a:latin typeface="Arial MT"/>
              <a:cs typeface="Arial MT"/>
            </a:endParaRPr>
          </a:p>
          <a:p>
            <a:pPr marL="926465" lvl="3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myRole2;</a:t>
            </a:r>
            <a:endParaRPr sz="1800">
              <a:latin typeface="Arial MT"/>
              <a:cs typeface="Arial MT"/>
            </a:endParaRPr>
          </a:p>
          <a:p>
            <a:pPr marL="926465" lvl="3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myRole3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myRole2,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myRole4;</a:t>
            </a:r>
            <a:endParaRPr sz="1800">
              <a:latin typeface="Arial MT"/>
              <a:cs typeface="Arial MT"/>
            </a:endParaRPr>
          </a:p>
          <a:p>
            <a:pPr marL="926465" lvl="3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Interdiction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!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-&gt;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trike="sngStrike" dirty="0">
                <a:latin typeface="Arial MT"/>
                <a:cs typeface="Arial MT"/>
              </a:rPr>
              <a:t>GRANT</a:t>
            </a:r>
            <a:r>
              <a:rPr sz="1800" strike="sngStrike" spc="-55" dirty="0">
                <a:latin typeface="Arial MT"/>
                <a:cs typeface="Arial MT"/>
              </a:rPr>
              <a:t> </a:t>
            </a:r>
            <a:r>
              <a:rPr sz="1800" strike="sngStrike" dirty="0">
                <a:latin typeface="Arial MT"/>
                <a:cs typeface="Arial MT"/>
              </a:rPr>
              <a:t>myRole2</a:t>
            </a:r>
            <a:r>
              <a:rPr sz="1800" strike="sngStrike" spc="-55" dirty="0">
                <a:latin typeface="Arial MT"/>
                <a:cs typeface="Arial MT"/>
              </a:rPr>
              <a:t> </a:t>
            </a:r>
            <a:r>
              <a:rPr sz="1800" strike="sngStrike" dirty="0">
                <a:latin typeface="Arial MT"/>
                <a:cs typeface="Arial MT"/>
              </a:rPr>
              <a:t>TO</a:t>
            </a:r>
            <a:r>
              <a:rPr sz="1800" strike="sngStrike" spc="-20" dirty="0">
                <a:latin typeface="Arial MT"/>
                <a:cs typeface="Arial MT"/>
              </a:rPr>
              <a:t> </a:t>
            </a:r>
            <a:r>
              <a:rPr sz="1800" strike="sngStrike" spc="-10" dirty="0">
                <a:latin typeface="Arial MT"/>
                <a:cs typeface="Arial MT"/>
              </a:rPr>
              <a:t>myRole;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3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Attribution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utilisateurs</a:t>
            </a:r>
            <a:endParaRPr sz="1800">
              <a:latin typeface="Arial MT"/>
              <a:cs typeface="Arial MT"/>
            </a:endParaRPr>
          </a:p>
          <a:p>
            <a:pPr marL="926465" lvl="3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bob,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alice;</a:t>
            </a:r>
            <a:endParaRPr sz="1800">
              <a:latin typeface="Arial MT"/>
              <a:cs typeface="Arial MT"/>
            </a:endParaRPr>
          </a:p>
          <a:p>
            <a:pPr marL="926465" lvl="3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926465" algn="l"/>
              </a:tabLst>
            </a:pPr>
            <a:r>
              <a:rPr sz="1800" dirty="0">
                <a:latin typeface="Arial MT"/>
                <a:cs typeface="Arial MT"/>
              </a:rPr>
              <a:t>REVOKE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bob;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Révocation de </a:t>
            </a:r>
            <a:r>
              <a:rPr sz="3600" spc="-10" dirty="0"/>
              <a:t>rôles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57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8687"/>
            <a:ext cx="5955030" cy="251841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Un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rôle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être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révoqué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utilisateurs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20" dirty="0">
                <a:latin typeface="Arial MT"/>
                <a:cs typeface="Arial MT"/>
              </a:rPr>
              <a:t> rôle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rôle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l’option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OPTION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6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Ayant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système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ROLE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Exemples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REVOKE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bob;</a:t>
            </a:r>
            <a:endParaRPr sz="1800">
              <a:latin typeface="Arial MT"/>
              <a:cs typeface="Arial MT"/>
            </a:endParaRPr>
          </a:p>
          <a:p>
            <a:pPr marL="697865" lvl="2" indent="-227965">
              <a:lnSpc>
                <a:spcPct val="100000"/>
              </a:lnSpc>
              <a:spcBef>
                <a:spcPts val="64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REVOKE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myRole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medecins;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8821" y="764743"/>
            <a:ext cx="5903595" cy="97281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03860" marR="30480" indent="-366395">
              <a:lnSpc>
                <a:spcPct val="93800"/>
              </a:lnSpc>
              <a:spcBef>
                <a:spcPts val="365"/>
              </a:spcBef>
            </a:pPr>
            <a:r>
              <a:rPr sz="5400" baseline="23919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23919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2800" dirty="0"/>
              <a:t>Le</a:t>
            </a:r>
            <a:r>
              <a:rPr sz="2800" spc="-70" dirty="0"/>
              <a:t> </a:t>
            </a:r>
            <a:r>
              <a:rPr sz="2800" dirty="0"/>
              <a:t>privilège</a:t>
            </a:r>
            <a:r>
              <a:rPr sz="2800" spc="-30" dirty="0"/>
              <a:t> </a:t>
            </a:r>
            <a:r>
              <a:rPr sz="2800" spc="-10" dirty="0"/>
              <a:t>GRANT</a:t>
            </a:r>
            <a:r>
              <a:rPr sz="2800" spc="-204" dirty="0"/>
              <a:t> </a:t>
            </a:r>
            <a:r>
              <a:rPr sz="2800" dirty="0"/>
              <a:t>ANY</a:t>
            </a:r>
            <a:r>
              <a:rPr sz="2800" spc="-80" dirty="0"/>
              <a:t> </a:t>
            </a:r>
            <a:r>
              <a:rPr sz="2800" spc="-10" dirty="0"/>
              <a:t>OBJECT PRIVILEGE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58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7623" y="2033154"/>
            <a:ext cx="7594600" cy="342646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marR="497205" indent="-228600">
              <a:lnSpc>
                <a:spcPts val="2100"/>
              </a:lnSpc>
              <a:spcBef>
                <a:spcPts val="4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1300" algn="l"/>
              </a:tabLst>
            </a:pPr>
            <a:r>
              <a:rPr sz="2000" dirty="0">
                <a:latin typeface="Arial MT"/>
                <a:cs typeface="Arial MT"/>
              </a:rPr>
              <a:t>Permet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d’attribuer/révoquer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privilèges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à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d’autres utilisateurs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Trois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utilisateurs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  <a:p>
            <a:pPr marL="469900" marR="5080" lvl="1" indent="-228600">
              <a:lnSpc>
                <a:spcPts val="2000"/>
              </a:lnSpc>
              <a:spcBef>
                <a:spcPts val="5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administrateur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qui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possède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privilège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GRANT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ANY </a:t>
            </a:r>
            <a:r>
              <a:rPr sz="1800" dirty="0">
                <a:latin typeface="Arial MT"/>
                <a:cs typeface="Arial MT"/>
              </a:rPr>
              <a:t>OBJECT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PRIVILEGE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0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B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créé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table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table_b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L’utilisateur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exécute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Arial MT"/>
                <a:cs typeface="Arial MT"/>
              </a:rPr>
              <a:t>GRANT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SELECT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B.table_b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Cela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attribué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droit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directement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à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même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opération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être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faite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avec</a:t>
            </a:r>
            <a:r>
              <a:rPr sz="1800" spc="-10" dirty="0">
                <a:latin typeface="Arial MT"/>
                <a:cs typeface="Arial MT"/>
              </a:rPr>
              <a:t> REVOKE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1521" y="888568"/>
            <a:ext cx="6607809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6235" marR="17780" indent="-331470">
              <a:lnSpc>
                <a:spcPts val="4300"/>
              </a:lnSpc>
              <a:spcBef>
                <a:spcPts val="220"/>
              </a:spcBef>
            </a:pPr>
            <a:r>
              <a:rPr sz="5400" spc="104" baseline="39351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3600" spc="70" dirty="0"/>
              <a:t>Où</a:t>
            </a:r>
            <a:r>
              <a:rPr sz="3600" spc="-40" dirty="0"/>
              <a:t> </a:t>
            </a:r>
            <a:r>
              <a:rPr sz="3600" dirty="0"/>
              <a:t>trouver</a:t>
            </a:r>
            <a:r>
              <a:rPr sz="3600" spc="-40" dirty="0"/>
              <a:t> </a:t>
            </a:r>
            <a:r>
              <a:rPr sz="3600" dirty="0"/>
              <a:t>l</a:t>
            </a:r>
            <a:r>
              <a:rPr sz="3600" dirty="0">
                <a:solidFill>
                  <a:srgbClr val="7A4779"/>
                </a:solidFill>
              </a:rPr>
              <a:t>’</a:t>
            </a:r>
            <a:r>
              <a:rPr sz="3600" dirty="0"/>
              <a:t>information</a:t>
            </a:r>
            <a:r>
              <a:rPr sz="3600" spc="-40" dirty="0"/>
              <a:t> </a:t>
            </a:r>
            <a:r>
              <a:rPr sz="3600" dirty="0"/>
              <a:t>sur</a:t>
            </a:r>
            <a:r>
              <a:rPr sz="3600" spc="-40" dirty="0"/>
              <a:t> </a:t>
            </a:r>
            <a:r>
              <a:rPr sz="3600" spc="-25" dirty="0"/>
              <a:t>les </a:t>
            </a:r>
            <a:r>
              <a:rPr sz="3600" dirty="0"/>
              <a:t>privilèges</a:t>
            </a:r>
            <a:r>
              <a:rPr sz="3600" spc="-70" dirty="0"/>
              <a:t> </a:t>
            </a:r>
            <a:r>
              <a:rPr sz="3600" spc="-50" dirty="0"/>
              <a:t>?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59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92799"/>
            <a:ext cx="7384415" cy="3154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5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Dans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dictionnaires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d’Oracle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Un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dictionnaire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vue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gérée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automatiquement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Oracle</a:t>
            </a:r>
            <a:endParaRPr sz="1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82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Les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dictionnaires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portent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d’information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liée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à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BD</a:t>
            </a:r>
            <a:endParaRPr sz="20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2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Utilisateurs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10" dirty="0">
                <a:latin typeface="Arial MT"/>
                <a:cs typeface="Arial MT"/>
              </a:rPr>
              <a:t>Sessions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objets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privilèges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rôles</a:t>
            </a:r>
            <a:endParaRPr sz="18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340"/>
              </a:spcBef>
              <a:buClr>
                <a:srgbClr val="B870B8"/>
              </a:buClr>
              <a:buSzPct val="75000"/>
              <a:buFont typeface="Wingdings"/>
              <a:buChar char=""/>
              <a:tabLst>
                <a:tab pos="469265" algn="l"/>
              </a:tabLst>
            </a:pPr>
            <a:r>
              <a:rPr sz="1800" spc="-20" dirty="0">
                <a:latin typeface="Arial MT"/>
                <a:cs typeface="Arial MT"/>
              </a:rPr>
              <a:t>Etc.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Quelques</a:t>
            </a:r>
            <a:r>
              <a:rPr sz="3600" spc="5" dirty="0"/>
              <a:t> </a:t>
            </a:r>
            <a:r>
              <a:rPr sz="3600" spc="-10" dirty="0"/>
              <a:t>dictionnaires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60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51594"/>
            <a:ext cx="7201534" cy="419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620"/>
              </a:lnSpc>
              <a:spcBef>
                <a:spcPts val="10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Privilèges</a:t>
            </a:r>
            <a:endParaRPr sz="2200">
              <a:latin typeface="Arial MT"/>
              <a:cs typeface="Arial MT"/>
            </a:endParaRPr>
          </a:p>
          <a:p>
            <a:pPr marL="469900" marR="634365" lvl="1" indent="-228600">
              <a:lnSpc>
                <a:spcPts val="1900"/>
              </a:lnSpc>
              <a:spcBef>
                <a:spcPts val="36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dirty="0">
                <a:latin typeface="Arial MT"/>
                <a:cs typeface="Arial MT"/>
              </a:rPr>
              <a:t>USER_COL_PRIVS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colonnes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objets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sur </a:t>
            </a:r>
            <a:r>
              <a:rPr sz="1900" dirty="0">
                <a:latin typeface="Arial MT"/>
                <a:cs typeface="Arial MT"/>
              </a:rPr>
              <a:t>lesquelles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l’utilisateur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actuel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est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owner/grantor/grantee</a:t>
            </a:r>
            <a:endParaRPr sz="1900">
              <a:latin typeface="Arial MT"/>
              <a:cs typeface="Arial MT"/>
            </a:endParaRPr>
          </a:p>
          <a:p>
            <a:pPr marL="469900" marR="371475" lvl="1" indent="-228600">
              <a:lnSpc>
                <a:spcPct val="78900"/>
              </a:lnSpc>
              <a:spcBef>
                <a:spcPts val="60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spc="-10" dirty="0">
                <a:latin typeface="Arial MT"/>
                <a:cs typeface="Arial MT"/>
              </a:rPr>
              <a:t>USER_TAB_PRIVS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objets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où </a:t>
            </a:r>
            <a:r>
              <a:rPr sz="1900" dirty="0">
                <a:latin typeface="Arial MT"/>
                <a:cs typeface="Arial MT"/>
              </a:rPr>
              <a:t>l’utilisateur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est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grantee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19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Rôles</a:t>
            </a:r>
            <a:endParaRPr sz="22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25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DBA_ROLES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tous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rôles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du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système</a:t>
            </a:r>
            <a:endParaRPr sz="1900">
              <a:latin typeface="Arial MT"/>
              <a:cs typeface="Arial MT"/>
            </a:endParaRPr>
          </a:p>
          <a:p>
            <a:pPr marL="469265" lvl="1" indent="-227965">
              <a:lnSpc>
                <a:spcPct val="100000"/>
              </a:lnSpc>
              <a:spcBef>
                <a:spcPts val="42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265" algn="l"/>
              </a:tabLst>
            </a:pPr>
            <a:r>
              <a:rPr sz="1900" dirty="0">
                <a:latin typeface="Arial MT"/>
                <a:cs typeface="Arial MT"/>
              </a:rPr>
              <a:t>USER_ROLE_PRIVS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rôles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attribués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à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l’utilisateur</a:t>
            </a:r>
            <a:endParaRPr sz="19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030"/>
              </a:spcBef>
              <a:buClr>
                <a:srgbClr val="663366"/>
              </a:buClr>
              <a:buSzPct val="75000"/>
              <a:buFont typeface="Wingdings"/>
              <a:buChar char="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Système</a:t>
            </a:r>
            <a:endParaRPr sz="2200">
              <a:latin typeface="Arial MT"/>
              <a:cs typeface="Arial MT"/>
            </a:endParaRPr>
          </a:p>
          <a:p>
            <a:pPr marL="469900" marR="5080" lvl="1" indent="-228600">
              <a:lnSpc>
                <a:spcPts val="2100"/>
              </a:lnSpc>
              <a:spcBef>
                <a:spcPts val="47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dirty="0">
                <a:latin typeface="Arial MT"/>
                <a:cs typeface="Arial MT"/>
              </a:rPr>
              <a:t>USER_SYS_PRIVS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système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attribués</a:t>
            </a:r>
            <a:r>
              <a:rPr sz="1900" spc="-50" dirty="0">
                <a:latin typeface="Arial MT"/>
                <a:cs typeface="Arial MT"/>
              </a:rPr>
              <a:t> à </a:t>
            </a:r>
            <a:r>
              <a:rPr sz="1900" spc="-10" dirty="0">
                <a:latin typeface="Arial MT"/>
                <a:cs typeface="Arial MT"/>
              </a:rPr>
              <a:t>l’utilisateur</a:t>
            </a:r>
            <a:endParaRPr sz="1900">
              <a:latin typeface="Arial MT"/>
              <a:cs typeface="Arial MT"/>
            </a:endParaRPr>
          </a:p>
          <a:p>
            <a:pPr marL="469900" marR="398145" lvl="1" indent="-228600">
              <a:lnSpc>
                <a:spcPts val="2100"/>
              </a:lnSpc>
              <a:spcBef>
                <a:spcPts val="500"/>
              </a:spcBef>
              <a:buClr>
                <a:srgbClr val="B870B8"/>
              </a:buClr>
              <a:buSzPct val="73684"/>
              <a:buFont typeface="Wingdings"/>
              <a:buChar char=""/>
              <a:tabLst>
                <a:tab pos="469900" algn="l"/>
              </a:tabLst>
            </a:pPr>
            <a:r>
              <a:rPr sz="1900" spc="-10" dirty="0">
                <a:latin typeface="Arial MT"/>
                <a:cs typeface="Arial MT"/>
              </a:rPr>
              <a:t>SYSTEM_PRIVILEGE_MAP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: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montre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tous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les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privilèges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du </a:t>
            </a:r>
            <a:r>
              <a:rPr sz="1900" spc="-10" dirty="0">
                <a:latin typeface="Arial MT"/>
                <a:cs typeface="Arial MT"/>
              </a:rPr>
              <a:t>système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39182" y="631710"/>
            <a:ext cx="685800" cy="301625"/>
          </a:xfrm>
          <a:custGeom>
            <a:avLst/>
            <a:gdLst/>
            <a:ahLst/>
            <a:cxnLst/>
            <a:rect l="l" t="t" r="r" b="b"/>
            <a:pathLst>
              <a:path w="685800" h="301625">
                <a:moveTo>
                  <a:pt x="685800" y="0"/>
                </a:moveTo>
                <a:lnTo>
                  <a:pt x="0" y="0"/>
                </a:lnTo>
                <a:lnTo>
                  <a:pt x="0" y="301625"/>
                </a:lnTo>
                <a:lnTo>
                  <a:pt x="685800" y="301625"/>
                </a:lnTo>
                <a:lnTo>
                  <a:pt x="68580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61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83" y="425335"/>
            <a:ext cx="8458198" cy="6743698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62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883" y="596785"/>
            <a:ext cx="8547098" cy="3619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63596" y="958735"/>
            <a:ext cx="8639175" cy="6000750"/>
            <a:chOff x="1063596" y="958735"/>
            <a:chExt cx="8639175" cy="6000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5983" y="958735"/>
              <a:ext cx="8458198" cy="60007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77883" y="2558934"/>
              <a:ext cx="8610600" cy="3657600"/>
            </a:xfrm>
            <a:custGeom>
              <a:avLst/>
              <a:gdLst/>
              <a:ahLst/>
              <a:cxnLst/>
              <a:rect l="l" t="t" r="r" b="b"/>
              <a:pathLst>
                <a:path w="8610600" h="3657600">
                  <a:moveTo>
                    <a:pt x="0" y="0"/>
                  </a:moveTo>
                  <a:lnTo>
                    <a:pt x="8610597" y="0"/>
                  </a:lnTo>
                  <a:lnTo>
                    <a:pt x="8610597" y="3657599"/>
                  </a:lnTo>
                  <a:lnTo>
                    <a:pt x="0" y="36575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4319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83632" y="631709"/>
            <a:ext cx="641350" cy="1600200"/>
          </a:xfrm>
          <a:custGeom>
            <a:avLst/>
            <a:gdLst/>
            <a:ahLst/>
            <a:cxnLst/>
            <a:rect l="l" t="t" r="r" b="b"/>
            <a:pathLst>
              <a:path w="641350" h="1600200">
                <a:moveTo>
                  <a:pt x="641350" y="0"/>
                </a:moveTo>
                <a:lnTo>
                  <a:pt x="0" y="0"/>
                </a:lnTo>
                <a:lnTo>
                  <a:pt x="0" y="1600200"/>
                </a:lnTo>
                <a:lnTo>
                  <a:pt x="641350" y="1600200"/>
                </a:lnTo>
                <a:lnTo>
                  <a:pt x="641350" y="0"/>
                </a:lnTo>
                <a:close/>
              </a:path>
            </a:pathLst>
          </a:custGeom>
          <a:solidFill>
            <a:srgbClr val="7A4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054" rIns="0" bIns="0" rtlCol="0">
            <a:spAutoFit/>
          </a:bodyPr>
          <a:lstStyle/>
          <a:p>
            <a:pPr marL="501015">
              <a:lnSpc>
                <a:spcPct val="100000"/>
              </a:lnSpc>
              <a:spcBef>
                <a:spcPts val="100"/>
              </a:spcBef>
            </a:pPr>
            <a:r>
              <a:rPr sz="5400" baseline="36265" dirty="0">
                <a:solidFill>
                  <a:srgbClr val="B870B8"/>
                </a:solidFill>
                <a:latin typeface="Arial Black"/>
                <a:cs typeface="Arial Black"/>
              </a:rPr>
              <a:t>+</a:t>
            </a:r>
            <a:r>
              <a:rPr sz="5400" spc="-1087" baseline="36265" dirty="0">
                <a:solidFill>
                  <a:srgbClr val="B870B8"/>
                </a:solidFill>
                <a:latin typeface="Arial Black"/>
                <a:cs typeface="Arial Black"/>
              </a:rPr>
              <a:t> </a:t>
            </a:r>
            <a:r>
              <a:rPr sz="3600" dirty="0"/>
              <a:t>D’autres </a:t>
            </a:r>
            <a:r>
              <a:rPr sz="3600" spc="-10" dirty="0"/>
              <a:t>dictionnaires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40757" y="631709"/>
            <a:ext cx="92075" cy="1600200"/>
          </a:xfrm>
          <a:custGeom>
            <a:avLst/>
            <a:gdLst/>
            <a:ahLst/>
            <a:cxnLst/>
            <a:rect l="l" t="t" r="r" b="b"/>
            <a:pathLst>
              <a:path w="92075" h="1600200">
                <a:moveTo>
                  <a:pt x="92075" y="0"/>
                </a:moveTo>
                <a:lnTo>
                  <a:pt x="0" y="0"/>
                </a:lnTo>
                <a:lnTo>
                  <a:pt x="0" y="1600200"/>
                </a:lnTo>
                <a:lnTo>
                  <a:pt x="92075" y="1600200"/>
                </a:lnTo>
                <a:lnTo>
                  <a:pt x="92075" y="0"/>
                </a:lnTo>
                <a:close/>
              </a:path>
            </a:pathLst>
          </a:custGeom>
          <a:solidFill>
            <a:srgbClr val="797B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41126" y="655205"/>
            <a:ext cx="218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EBA"/>
                </a:solidFill>
                <a:latin typeface="Cambria"/>
                <a:cs typeface="Cambria"/>
              </a:rPr>
              <a:t>63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0298" y="2276994"/>
            <a:ext cx="7397115" cy="401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960"/>
              </a:lnSpc>
              <a:spcBef>
                <a:spcPts val="10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SESSION_ROLES</a:t>
            </a:r>
            <a:endParaRPr sz="1700">
              <a:latin typeface="Arial MT"/>
              <a:cs typeface="Arial MT"/>
            </a:endParaRPr>
          </a:p>
          <a:p>
            <a:pPr marL="469265" lvl="1" indent="-227965">
              <a:lnSpc>
                <a:spcPts val="1720"/>
              </a:lnSpc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-30" dirty="0">
                <a:latin typeface="Arial MT"/>
                <a:cs typeface="Arial MT"/>
              </a:rPr>
              <a:t>Tous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rôles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actifs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ts val="1960"/>
              </a:lnSpc>
              <a:spcBef>
                <a:spcPts val="122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USER_SOURCE</a:t>
            </a:r>
            <a:endParaRPr sz="1700">
              <a:latin typeface="Arial MT"/>
              <a:cs typeface="Arial MT"/>
            </a:endParaRPr>
          </a:p>
          <a:p>
            <a:pPr marL="469265" lvl="1" indent="-227965">
              <a:lnSpc>
                <a:spcPts val="1720"/>
              </a:lnSpc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Le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code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procédures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appartenant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à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l’utilisateur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ts val="1960"/>
              </a:lnSpc>
              <a:spcBef>
                <a:spcPts val="122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ALL_SOURCE</a:t>
            </a:r>
            <a:endParaRPr sz="1700">
              <a:latin typeface="Arial MT"/>
              <a:cs typeface="Arial MT"/>
            </a:endParaRPr>
          </a:p>
          <a:p>
            <a:pPr marL="469265" lvl="1" indent="-227965">
              <a:lnSpc>
                <a:spcPts val="1720"/>
              </a:lnSpc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Le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code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procédures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appartenant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à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l’utilisateur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ou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à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ceux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auxquels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il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accès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ts val="1960"/>
              </a:lnSpc>
              <a:spcBef>
                <a:spcPts val="122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DBA_SOURCE</a:t>
            </a:r>
            <a:endParaRPr sz="1700">
              <a:latin typeface="Arial MT"/>
              <a:cs typeface="Arial MT"/>
            </a:endParaRPr>
          </a:p>
          <a:p>
            <a:pPr marL="469265" lvl="1" indent="-227965">
              <a:lnSpc>
                <a:spcPts val="1720"/>
              </a:lnSpc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spc="-20" dirty="0">
                <a:latin typeface="Arial MT"/>
                <a:cs typeface="Arial MT"/>
              </a:rPr>
              <a:t>Toutes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procédures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BD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ts val="1960"/>
              </a:lnSpc>
              <a:spcBef>
                <a:spcPts val="122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USER_CATALOG</a:t>
            </a:r>
            <a:endParaRPr sz="1700">
              <a:latin typeface="Arial MT"/>
              <a:cs typeface="Arial MT"/>
            </a:endParaRPr>
          </a:p>
          <a:p>
            <a:pPr marL="469265" lvl="1" indent="-227965">
              <a:lnSpc>
                <a:spcPts val="1720"/>
              </a:lnSpc>
              <a:buClr>
                <a:srgbClr val="B870B8"/>
              </a:buClr>
              <a:buSzPct val="73333"/>
              <a:buFont typeface="Wingdings"/>
              <a:buChar char="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Information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sur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tables,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vues,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séquences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synonymes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l’utilisateur</a:t>
            </a:r>
            <a:endParaRPr sz="15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220"/>
              </a:spcBef>
              <a:buClr>
                <a:srgbClr val="663366"/>
              </a:buClr>
              <a:buSzPct val="73529"/>
              <a:buFont typeface="Wingdings"/>
              <a:buChar char="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USER_OBJECTS</a:t>
            </a:r>
            <a:endParaRPr sz="1700">
              <a:latin typeface="Arial MT"/>
              <a:cs typeface="Arial MT"/>
            </a:endParaRPr>
          </a:p>
          <a:p>
            <a:pPr marL="469900" marR="5080" lvl="1" indent="-228600">
              <a:lnSpc>
                <a:spcPct val="80600"/>
              </a:lnSpc>
              <a:spcBef>
                <a:spcPts val="489"/>
              </a:spcBef>
              <a:buClr>
                <a:srgbClr val="B870B8"/>
              </a:buClr>
              <a:buSzPct val="73333"/>
              <a:buFont typeface="Wingdings"/>
              <a:buChar char=""/>
              <a:tabLst>
                <a:tab pos="469900" algn="l"/>
              </a:tabLst>
            </a:pPr>
            <a:r>
              <a:rPr sz="1500" spc="-30" dirty="0">
                <a:latin typeface="Arial MT"/>
                <a:cs typeface="Arial MT"/>
              </a:rPr>
              <a:t>Tout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type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</a:t>
            </a:r>
            <a:r>
              <a:rPr sz="1500" dirty="0">
                <a:latin typeface="SimSun-ExtB"/>
                <a:cs typeface="SimSun-ExtB"/>
              </a:rPr>
              <a:t>ʼ</a:t>
            </a:r>
            <a:r>
              <a:rPr sz="1500" dirty="0">
                <a:latin typeface="Arial MT"/>
                <a:cs typeface="Arial MT"/>
              </a:rPr>
              <a:t>objet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Oracle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</a:t>
            </a:r>
            <a:r>
              <a:rPr sz="1500" i="1" dirty="0">
                <a:latin typeface="Arial"/>
                <a:cs typeface="Arial"/>
              </a:rPr>
              <a:t>clusters,</a:t>
            </a:r>
            <a:r>
              <a:rPr sz="1500" i="1" spc="-4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database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links,</a:t>
            </a:r>
            <a:r>
              <a:rPr sz="1500" i="1" spc="-4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directories,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functions,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indexes, </a:t>
            </a:r>
            <a:r>
              <a:rPr sz="1500" i="1" dirty="0">
                <a:latin typeface="Arial"/>
                <a:cs typeface="Arial"/>
              </a:rPr>
              <a:t>libraries,</a:t>
            </a:r>
            <a:r>
              <a:rPr sz="1500" i="1" spc="-6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packages,</a:t>
            </a:r>
            <a:r>
              <a:rPr sz="1500" i="1" spc="-5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java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classes,</a:t>
            </a:r>
            <a:r>
              <a:rPr sz="1500" i="1" spc="-5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abstract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datatypes,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resource</a:t>
            </a:r>
            <a:r>
              <a:rPr sz="1500" i="1" spc="-5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plans,</a:t>
            </a:r>
            <a:r>
              <a:rPr sz="1500" i="1" spc="-5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sequences, </a:t>
            </a:r>
            <a:r>
              <a:rPr sz="1500" i="1" dirty="0">
                <a:latin typeface="Arial"/>
                <a:cs typeface="Arial"/>
              </a:rPr>
              <a:t>synonyms,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tables,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triggers,</a:t>
            </a:r>
            <a:r>
              <a:rPr sz="1500" i="1" spc="-4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materialized</a:t>
            </a:r>
            <a:r>
              <a:rPr sz="1500" i="1" spc="-45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views,</a:t>
            </a:r>
            <a:r>
              <a:rPr sz="1500" i="1" spc="-4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LOBs,</a:t>
            </a:r>
            <a:r>
              <a:rPr sz="1500" i="1" spc="-50" dirty="0">
                <a:latin typeface="Arial"/>
                <a:cs typeface="Arial"/>
              </a:rPr>
              <a:t> </a:t>
            </a:r>
            <a:r>
              <a:rPr sz="1500" i="1" dirty="0">
                <a:latin typeface="Arial"/>
                <a:cs typeface="Arial"/>
              </a:rPr>
              <a:t>and</a:t>
            </a:r>
            <a:r>
              <a:rPr sz="1500" i="1" spc="-45" dirty="0">
                <a:latin typeface="Arial"/>
                <a:cs typeface="Arial"/>
              </a:rPr>
              <a:t> </a:t>
            </a:r>
            <a:r>
              <a:rPr sz="1500" i="1" spc="-10" dirty="0">
                <a:latin typeface="Arial"/>
                <a:cs typeface="Arial"/>
              </a:rPr>
              <a:t>views</a:t>
            </a:r>
            <a:r>
              <a:rPr sz="1500" spc="-10" dirty="0">
                <a:latin typeface="Arial MT"/>
                <a:cs typeface="Arial MT"/>
              </a:rPr>
              <a:t>)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15934</Words>
  <Application>Microsoft Office PowerPoint</Application>
  <PresentationFormat>Personnalisé</PresentationFormat>
  <Paragraphs>4253</Paragraphs>
  <Slides>211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211</vt:i4>
      </vt:variant>
    </vt:vector>
  </HeadingPairs>
  <TitlesOfParts>
    <vt:vector size="212" baseType="lpstr">
      <vt:lpstr>Office Theme</vt:lpstr>
      <vt:lpstr>Bases de Données Avancées</vt:lpstr>
      <vt:lpstr>Organisations unidimentionnelles : indexage et hachage</vt:lpstr>
      <vt:lpstr>Indexage</vt:lpstr>
      <vt:lpstr>Fichier séquentiel indexé</vt:lpstr>
      <vt:lpstr>Index séquentiel hiérarchique</vt:lpstr>
      <vt:lpstr>Indexage par Arbre-B et variantes</vt:lpstr>
      <vt:lpstr>Arbre-B+</vt:lpstr>
      <vt:lpstr>Structure d ’une feuille</vt:lpstr>
      <vt:lpstr>Structure d’un bloc interne</vt:lpstr>
      <vt:lpstr>Rechercher 43</vt:lpstr>
      <vt:lpstr>Complexité de la recherche et hauteur de l'arbre</vt:lpstr>
      <vt:lpstr>Hauteur moyenne</vt:lpstr>
      <vt:lpstr>Insertion dans un arbre-B+</vt:lpstr>
      <vt:lpstr>Débordement et division</vt:lpstr>
      <vt:lpstr>Insertion de 25</vt:lpstr>
      <vt:lpstr>Insertion de 10</vt:lpstr>
      <vt:lpstr>Insertion de 70</vt:lpstr>
      <vt:lpstr>Insertion de 50</vt:lpstr>
      <vt:lpstr>Insertion de 53</vt:lpstr>
      <vt:lpstr>Insertion de 45</vt:lpstr>
      <vt:lpstr>Suppression dans un arbre-B+</vt:lpstr>
      <vt:lpstr>Première clé du bloc et pas la première feuille</vt:lpstr>
      <vt:lpstr>Première clé du bloc et pas la première feuille</vt:lpstr>
      <vt:lpstr>Violation du minimum : redistribution si possible</vt:lpstr>
      <vt:lpstr>Violation du minimum : fusion</vt:lpstr>
      <vt:lpstr>Cas de fusion de feuilles et de redistribution au niveau du parent</vt:lpstr>
      <vt:lpstr>Cas de fusion de feuilles et de redistribution au niveau du parent (suite)</vt:lpstr>
      <vt:lpstr>Cas de fusion en cascade</vt:lpstr>
      <vt:lpstr>Cas de fusion en cascade (suite) : réduction de la hauteur</vt:lpstr>
      <vt:lpstr>Arbre-B</vt:lpstr>
      <vt:lpstr>Autres variantes du concept d'arbre-B</vt:lpstr>
      <vt:lpstr>Cas d'une clé non unique</vt:lpstr>
      <vt:lpstr>Réalisation de l'accès par IDE à l'aide d'une organisation par index</vt:lpstr>
      <vt:lpstr>Sélection par intervalle ou préfixe</vt:lpstr>
      <vt:lpstr>Index sur une clé composée</vt:lpstr>
      <vt:lpstr>Arbre digital (trie)</vt:lpstr>
      <vt:lpstr>Hachage</vt:lpstr>
      <vt:lpstr>Hachage statique</vt:lpstr>
      <vt:lpstr>Problème de débordement dû aux collisions</vt:lpstr>
      <vt:lpstr>Fonction de hachage</vt:lpstr>
      <vt:lpstr>Hachage vs indexage</vt:lpstr>
      <vt:lpstr>Calcul d ’espace</vt:lpstr>
      <vt:lpstr>Diapositive 43</vt:lpstr>
      <vt:lpstr>Hachage dynamique</vt:lpstr>
      <vt:lpstr>Hachage linéaire</vt:lpstr>
      <vt:lpstr>Insertion de h(clé) = 101012</vt:lpstr>
      <vt:lpstr>Insertion de h(clé) = 101112</vt:lpstr>
      <vt:lpstr>Insertion de 110002, 110012 et 101102</vt:lpstr>
      <vt:lpstr>Insertion de 100102</vt:lpstr>
      <vt:lpstr>Insertion de 011012</vt:lpstr>
      <vt:lpstr>Variantes du hachage linéaire</vt:lpstr>
      <vt:lpstr>Hachage extensible</vt:lpstr>
      <vt:lpstr>Analogie avec arbre digital</vt:lpstr>
      <vt:lpstr>Insertion de h(clé) = 100112</vt:lpstr>
      <vt:lpstr>«Remplacer» l'arbre digital par un répertoire</vt:lpstr>
      <vt:lpstr>Arbre digital =&gt; un répertoire</vt:lpstr>
      <vt:lpstr>Insertion de h(clé) = 100112 avec répertoire</vt:lpstr>
      <vt:lpstr>Cas de dédoublement de répertoire : insertion de h(clé) = 101102</vt:lpstr>
      <vt:lpstr>Hachage extensible (suite)</vt:lpstr>
      <vt:lpstr>Réalisation de l'accès par IDE avec le hachage</vt:lpstr>
      <vt:lpstr>Hachage sur une clé non unique et effet de grappe</vt:lpstr>
      <vt:lpstr>Hachage secondaire</vt:lpstr>
      <vt:lpstr>Tableau comparatif des organisations</vt:lpstr>
      <vt:lpstr>Bases de données avancées Évaluation et optimisation des requêtes</vt:lpstr>
      <vt:lpstr>Diapositive 65</vt:lpstr>
      <vt:lpstr>Diapositive 66</vt:lpstr>
      <vt:lpstr>Diapositive 67</vt:lpstr>
      <vt:lpstr>Diapositive 68</vt:lpstr>
      <vt:lpstr>Diapositive 69</vt:lpstr>
      <vt:lpstr>Diapositive 70</vt:lpstr>
      <vt:lpstr>Diapositive 71</vt:lpstr>
      <vt:lpstr>Diapositive 72</vt:lpstr>
      <vt:lpstr>Diapositive 73</vt:lpstr>
      <vt:lpstr>Diapositive 74</vt:lpstr>
      <vt:lpstr>Diapositive 75</vt:lpstr>
      <vt:lpstr>Diapositive 76</vt:lpstr>
      <vt:lpstr>Diapositive 77</vt:lpstr>
      <vt:lpstr>Diapositive 78</vt:lpstr>
      <vt:lpstr>Diapositive 79</vt:lpstr>
      <vt:lpstr>Diapositive 80</vt:lpstr>
      <vt:lpstr>Diapositive 81</vt:lpstr>
      <vt:lpstr>Diapositive 82</vt:lpstr>
      <vt:lpstr>Diapositive 83</vt:lpstr>
      <vt:lpstr>Diapositive 84</vt:lpstr>
      <vt:lpstr>Diapositive 85</vt:lpstr>
      <vt:lpstr>Diapositive 86</vt:lpstr>
      <vt:lpstr>Diapositive 87</vt:lpstr>
      <vt:lpstr>Diapositive 88</vt:lpstr>
      <vt:lpstr>Diapositive 89</vt:lpstr>
      <vt:lpstr>Diapositive 90</vt:lpstr>
      <vt:lpstr>Diapositive 91</vt:lpstr>
      <vt:lpstr>Diapositive 92</vt:lpstr>
      <vt:lpstr>Diapositive 93</vt:lpstr>
      <vt:lpstr>Diapositive 94</vt:lpstr>
      <vt:lpstr>Diapositive 95</vt:lpstr>
      <vt:lpstr>Gestion de transactions centralisée</vt:lpstr>
      <vt:lpstr>Transaction</vt:lpstr>
      <vt:lpstr>Cycle de vie dʼune transaction</vt:lpstr>
      <vt:lpstr>Propriétés ACID (1)</vt:lpstr>
      <vt:lpstr>Propriétés ACID (2)</vt:lpstr>
      <vt:lpstr>Le travail du gestionnaire des transactions</vt:lpstr>
      <vt:lpstr>Deux problématiques</vt:lpstr>
      <vt:lpstr>Ordonnancements</vt:lpstr>
      <vt:lpstr>SGBD centralisé Architecture abstraite</vt:lpstr>
      <vt:lpstr>Ordonnancement séquentiel</vt:lpstr>
      <vt:lpstr>Ordonnancement sérialisable</vt:lpstr>
      <vt:lpstr>Ordonnancement sérialisable</vt:lpstr>
      <vt:lpstr>Ordonnancement sérialisable</vt:lpstr>
      <vt:lpstr>Équivalence entre deux ordonnancements</vt:lpstr>
      <vt:lpstr>Équivalence entre deux ordonnancements</vt:lpstr>
      <vt:lpstr>Équivalence entre deux ordonnancements</vt:lpstr>
      <vt:lpstr>Conflit-sérialisable</vt:lpstr>
      <vt:lpstr>Conflit-sérialisable</vt:lpstr>
      <vt:lpstr>Exercice</vt:lpstr>
      <vt:lpstr>Graphes de dépendance</vt:lpstr>
      <vt:lpstr>Conflits entre transactions</vt:lpstr>
      <vt:lpstr>Écriture-écriture : perte de mise à jour</vt:lpstr>
      <vt:lpstr>Écriture - lecture : lectures impropres</vt:lpstr>
      <vt:lpstr>Lecture - écriture : lectures non reproductibles</vt:lpstr>
      <vt:lpstr>Niveaux de cohérence</vt:lpstr>
      <vt:lpstr>Comment gérer la sérialisabilité et les niveaux de cohérence ?</vt:lpstr>
      <vt:lpstr>SGBD centralisé Architecture abstraite</vt:lpstr>
      <vt:lpstr>Protocole d'exclusion mutuelle</vt:lpstr>
      <vt:lpstr>Exemple d'exclusion mutuelle</vt:lpstr>
      <vt:lpstr>Protocole d'exclusion mutuelle: Inconvénients</vt:lpstr>
      <vt:lpstr>Interblocage (deadlock)</vt:lpstr>
      <vt:lpstr>Interblocage : prévention</vt:lpstr>
      <vt:lpstr>Interblocage : détection</vt:lpstr>
      <vt:lpstr>Contrôle de concurrence avec estampilles</vt:lpstr>
      <vt:lpstr>Verrouillage à deux phases</vt:lpstr>
      <vt:lpstr>Protocole de verrouillage à deux phases (2PL)</vt:lpstr>
      <vt:lpstr>Exemple</vt:lpstr>
      <vt:lpstr>Ordonnancements non recouvrables</vt:lpstr>
      <vt:lpstr>Protocole de verrouillage à deux phases strict (S-2PL)</vt:lpstr>
      <vt:lpstr>Graphe de dépendances avec verrous exclusifs et partagés</vt:lpstr>
      <vt:lpstr>Protocole de verrouillage à deux phases strict</vt:lpstr>
      <vt:lpstr>Le problème des fantômes</vt:lpstr>
      <vt:lpstr>Fantômes (cont.)</vt:lpstr>
      <vt:lpstr>Autres techniques</vt:lpstr>
      <vt:lpstr>SQL et Transactions</vt:lpstr>
      <vt:lpstr>SQL2 : Isolation Level</vt:lpstr>
      <vt:lpstr>Gestion des transactions sous Oracle</vt:lpstr>
      <vt:lpstr>Transaction en Oracle</vt:lpstr>
      <vt:lpstr>Niveaux d’isolation</vt:lpstr>
      <vt:lpstr>Choix d’un niveau d’isolation</vt:lpstr>
      <vt:lpstr>Points de sauvegarde</vt:lpstr>
      <vt:lpstr>Suite</vt:lpstr>
      <vt:lpstr>Bibliographie</vt:lpstr>
      <vt:lpstr>Diapositive 149</vt:lpstr>
      <vt:lpstr>+ Introduction</vt:lpstr>
      <vt:lpstr>+ Techniques pour assurer la confidentialité des données</vt:lpstr>
      <vt:lpstr>+ Intégrité</vt:lpstr>
      <vt:lpstr>+ Intégrité</vt:lpstr>
      <vt:lpstr>+ Intégrité</vt:lpstr>
      <vt:lpstr>+ Gestion des contraintes d’intégrité</vt:lpstr>
      <vt:lpstr>+ Disponibilité</vt:lpstr>
      <vt:lpstr>+ Solutions pour la disponibilité</vt:lpstr>
      <vt:lpstr>+</vt:lpstr>
      <vt:lpstr>+ Control d’accès dans les SGBD</vt:lpstr>
      <vt:lpstr>+ DAC</vt:lpstr>
      <vt:lpstr>+ DAC</vt:lpstr>
      <vt:lpstr>+ Exemples</vt:lpstr>
      <vt:lpstr>+ Exemples</vt:lpstr>
      <vt:lpstr>+ Exemples</vt:lpstr>
      <vt:lpstr>+ Exemples</vt:lpstr>
      <vt:lpstr>+ Graphes d’autorisation</vt:lpstr>
      <vt:lpstr>+ Exemple de graphe d’autorisation</vt:lpstr>
      <vt:lpstr>+ Privilèges sur les vues</vt:lpstr>
      <vt:lpstr>+ Privilèges sur les vues</vt:lpstr>
      <vt:lpstr>+ Vues et confidentialité - cas d’étude</vt:lpstr>
      <vt:lpstr>+ MAC</vt:lpstr>
      <vt:lpstr>+ MAC</vt:lpstr>
      <vt:lpstr>+ MAC</vt:lpstr>
      <vt:lpstr>+ Classification multi-niveaux</vt:lpstr>
      <vt:lpstr>+ Classification multi-niveaux</vt:lpstr>
      <vt:lpstr>+ Poly-instanciation</vt:lpstr>
      <vt:lpstr>+ RBAC</vt:lpstr>
      <vt:lpstr>+ RBAC</vt:lpstr>
      <vt:lpstr>+ Les rôles</vt:lpstr>
      <vt:lpstr>+ Les groupes d’utilisateurs et les rôles</vt:lpstr>
      <vt:lpstr>+ Composants du modèle basé sur les rôles</vt:lpstr>
      <vt:lpstr>+ Propriétés du graphe de rôles</vt:lpstr>
      <vt:lpstr>+ Gestion du graphe de rôles</vt:lpstr>
      <vt:lpstr>+ Exemple 1 de gestion de graphe de rôles</vt:lpstr>
      <vt:lpstr>+ Exemple 2 de gestion de graphe de rôles</vt:lpstr>
      <vt:lpstr>+ Conseils pour définir une hiérarchie de rôles</vt:lpstr>
      <vt:lpstr>+ Conclusion</vt:lpstr>
      <vt:lpstr>+ Bibliographie</vt:lpstr>
      <vt:lpstr>Diapositive 189</vt:lpstr>
      <vt:lpstr>+ Les rôles dans Oracle</vt:lpstr>
      <vt:lpstr>+ Types de privilèges</vt:lpstr>
      <vt:lpstr>Privilèges objets</vt:lpstr>
      <vt:lpstr>+ Privilèges sur les objets</vt:lpstr>
      <vt:lpstr>+ Privilèges système</vt:lpstr>
      <vt:lpstr>+ L’option ADMIN OPTION</vt:lpstr>
      <vt:lpstr>+ Avantages de l’utilisation de rôles</vt:lpstr>
      <vt:lpstr>+ Utilisation des rôles</vt:lpstr>
      <vt:lpstr>+ Rôles prédéfinis d’Oracle</vt:lpstr>
      <vt:lpstr>+ Gestion de rôles</vt:lpstr>
      <vt:lpstr>+ Création/suppression de rôles</vt:lpstr>
      <vt:lpstr>+ Création/suppression de rôles</vt:lpstr>
      <vt:lpstr>+ Attribution de privilèges à un rôle</vt:lpstr>
      <vt:lpstr>+ Suppression de privilèges à un rôle</vt:lpstr>
      <vt:lpstr>+ Attribution de rôles</vt:lpstr>
      <vt:lpstr>+ Révocation de rôles</vt:lpstr>
      <vt:lpstr>+ Le privilège GRANT ANY OBJECT PRIVILEGE</vt:lpstr>
      <vt:lpstr>+Où trouver l’information sur les privilèges ?</vt:lpstr>
      <vt:lpstr>+ Quelques dictionnaires</vt:lpstr>
      <vt:lpstr>Diapositive 209</vt:lpstr>
      <vt:lpstr>Diapositive 210</vt:lpstr>
      <vt:lpstr>+ D’autres dictionnaires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Organisations unidimentionnelles : indexage et hachage</dc:title>
  <cp:lastModifiedBy>user</cp:lastModifiedBy>
  <cp:revision>3</cp:revision>
  <dcterms:created xsi:type="dcterms:W3CDTF">2024-11-30T15:53:50Z</dcterms:created>
  <dcterms:modified xsi:type="dcterms:W3CDTF">2024-11-30T16:01:54Z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2024-11-30T00:00:00Z</vt:filetime>
  </property>
  <property fmtid="{D5CDD505-2E9C-101B-9397-08002B2CF9AE}" pid="3" name="Producer">
    <vt:lpwstr>iLovePDF</vt:lpwstr>
  </property>
</Properties>
</file>