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8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6858000" cy="9144000" type="screen4x3"/>
  <p:notesSz cx="6858000" cy="9144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2140" y="-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C94270-EB30-46AE-BA7F-4777215C166F}" type="datetimeFigureOut">
              <a:rPr lang="fr-FR" smtClean="0"/>
              <a:t>01/12/2024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4AB66-D4EB-414F-BE45-E7FF61496DB5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1"/>
            <a:ext cx="5486400" cy="41148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769877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834640"/>
            <a:ext cx="58293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120640"/>
            <a:ext cx="48006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;p2"/>
          <p:cNvGrpSpPr/>
          <p:nvPr/>
        </p:nvGrpSpPr>
        <p:grpSpPr>
          <a:xfrm>
            <a:off x="-169" y="0"/>
            <a:ext cx="6858168" cy="9144022"/>
            <a:chOff x="-225" y="0"/>
            <a:chExt cx="9144224" cy="5143512"/>
          </a:xfrm>
        </p:grpSpPr>
        <p:sp>
          <p:nvSpPr>
            <p:cNvPr id="11" name="Google Shape;11;p2"/>
            <p:cNvSpPr/>
            <p:nvPr/>
          </p:nvSpPr>
          <p:spPr>
            <a:xfrm>
              <a:off x="0" y="0"/>
              <a:ext cx="61002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175" y="1541675"/>
              <a:ext cx="6870000" cy="206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" name="Google Shape;13;p2"/>
            <p:cNvGrpSpPr/>
            <p:nvPr/>
          </p:nvGrpSpPr>
          <p:grpSpPr>
            <a:xfrm>
              <a:off x="8477595" y="4477088"/>
              <a:ext cx="666403" cy="666424"/>
              <a:chOff x="7996345" y="980275"/>
              <a:chExt cx="666403" cy="666424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" name="Google Shape;30;p2"/>
            <p:cNvGrpSpPr/>
            <p:nvPr/>
          </p:nvGrpSpPr>
          <p:grpSpPr>
            <a:xfrm>
              <a:off x="7042555" y="1541664"/>
              <a:ext cx="730045" cy="2060087"/>
              <a:chOff x="7022220" y="1541675"/>
              <a:chExt cx="666403" cy="1880499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7022220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7224547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426873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022220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7224547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426873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022220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7224547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7426873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7022220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7224547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7426873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7629199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629199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7629199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7629224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7022220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224547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7426873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7022220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7224547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7426873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022220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7224547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7426873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7022220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7224547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7426873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7629199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7629199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7629199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7629224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7022220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7224547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7426873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7022220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7224547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7426873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7629199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629224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" name="Google Shape;71;p2"/>
            <p:cNvGrpSpPr/>
            <p:nvPr/>
          </p:nvGrpSpPr>
          <p:grpSpPr>
            <a:xfrm>
              <a:off x="-225" y="2008293"/>
              <a:ext cx="301775" cy="1126923"/>
              <a:chOff x="-225" y="1987280"/>
              <a:chExt cx="318900" cy="1190873"/>
            </a:xfrm>
          </p:grpSpPr>
          <p:sp>
            <p:nvSpPr>
              <p:cNvPr id="72" name="Google Shape;72;p2"/>
              <p:cNvSpPr/>
              <p:nvPr/>
            </p:nvSpPr>
            <p:spPr>
              <a:xfrm>
                <a:off x="-175" y="1987280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-175" y="2255817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-175" y="2524353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" name="Google Shape;77;p2"/>
            <p:cNvGrpSpPr/>
            <p:nvPr/>
          </p:nvGrpSpPr>
          <p:grpSpPr>
            <a:xfrm>
              <a:off x="8842175" y="668859"/>
              <a:ext cx="301822" cy="872807"/>
              <a:chOff x="-225" y="2255817"/>
              <a:chExt cx="318950" cy="922336"/>
            </a:xfrm>
          </p:grpSpPr>
          <p:sp>
            <p:nvSpPr>
              <p:cNvPr id="78" name="Google Shape;78;p2"/>
              <p:cNvSpPr/>
              <p:nvPr/>
            </p:nvSpPr>
            <p:spPr>
              <a:xfrm>
                <a:off x="-175" y="2255817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-175" y="25243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" name="Google Shape;82;p2"/>
            <p:cNvGrpSpPr/>
            <p:nvPr/>
          </p:nvGrpSpPr>
          <p:grpSpPr>
            <a:xfrm>
              <a:off x="5798375" y="4270684"/>
              <a:ext cx="301822" cy="872807"/>
              <a:chOff x="1611209" y="2255817"/>
              <a:chExt cx="318950" cy="922336"/>
            </a:xfrm>
          </p:grpSpPr>
          <p:sp>
            <p:nvSpPr>
              <p:cNvPr id="83" name="Google Shape;83;p2"/>
              <p:cNvSpPr/>
              <p:nvPr/>
            </p:nvSpPr>
            <p:spPr>
              <a:xfrm>
                <a:off x="1611259" y="2255817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611259" y="25243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611209" y="2792878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611209" y="30614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" name="Google Shape;87;p2"/>
            <p:cNvGrpSpPr/>
            <p:nvPr/>
          </p:nvGrpSpPr>
          <p:grpSpPr>
            <a:xfrm>
              <a:off x="685795" y="0"/>
              <a:ext cx="666403" cy="666424"/>
              <a:chOff x="7996345" y="980275"/>
              <a:chExt cx="666403" cy="666424"/>
            </a:xfrm>
          </p:grpSpPr>
          <p:sp>
            <p:nvSpPr>
              <p:cNvPr id="88" name="Google Shape;88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4" name="Google Shape;104;p2"/>
          <p:cNvSpPr txBox="1">
            <a:spLocks noGrp="1"/>
          </p:cNvSpPr>
          <p:nvPr>
            <p:ph type="ctrTitle"/>
          </p:nvPr>
        </p:nvSpPr>
        <p:spPr>
          <a:xfrm>
            <a:off x="514350" y="2740756"/>
            <a:ext cx="4305150" cy="366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2900" y="365760"/>
            <a:ext cx="6172200" cy="146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103120"/>
            <a:ext cx="61722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8503920"/>
            <a:ext cx="219456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16;p13"/>
          <p:cNvSpPr txBox="1">
            <a:spLocks/>
          </p:cNvSpPr>
          <p:nvPr/>
        </p:nvSpPr>
        <p:spPr>
          <a:xfrm>
            <a:off x="188641" y="5820139"/>
            <a:ext cx="4305150" cy="36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lt1"/>
              </a:buClr>
              <a:buSzPts val="4800"/>
            </a:pPr>
            <a:r>
              <a:rPr lang="fr-FR" sz="1800" b="1" dirty="0" smtClean="0">
                <a:solidFill>
                  <a:schemeClr val="bg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Prof. Mostafa </a:t>
            </a:r>
            <a:r>
              <a:rPr lang="fr-FR" sz="1800" b="1" dirty="0" err="1" smtClean="0">
                <a:solidFill>
                  <a:schemeClr val="bg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Ezziyyani</a:t>
            </a:r>
            <a:endParaRPr lang="fr-FR" sz="1800" b="1" dirty="0" smtClean="0">
              <a:solidFill>
                <a:schemeClr val="bg1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lvl="0">
              <a:lnSpc>
                <a:spcPct val="90000"/>
              </a:lnSpc>
              <a:buClr>
                <a:schemeClr val="lt1"/>
              </a:buClr>
              <a:buSzPts val="4800"/>
            </a:pPr>
            <a:r>
              <a:rPr lang="fr-FR" sz="1800" dirty="0" smtClean="0">
                <a:solidFill>
                  <a:schemeClr val="bg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Faculté des Sciences et Techniques de Tanger</a:t>
            </a:r>
          </a:p>
          <a:p>
            <a:pPr lvl="0">
              <a:lnSpc>
                <a:spcPct val="90000"/>
              </a:lnSpc>
              <a:buClr>
                <a:schemeClr val="lt1"/>
              </a:buClr>
              <a:buSzPts val="4800"/>
            </a:pPr>
            <a:r>
              <a:rPr lang="fr-FR" sz="1800" dirty="0" smtClean="0">
                <a:solidFill>
                  <a:schemeClr val="bg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Département Génie Informatique</a:t>
            </a: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4" name="Google Shape;516;p13"/>
          <p:cNvSpPr txBox="1">
            <a:spLocks/>
          </p:cNvSpPr>
          <p:nvPr/>
        </p:nvSpPr>
        <p:spPr bwMode="auto">
          <a:xfrm>
            <a:off x="1828800" y="-76200"/>
            <a:ext cx="4779150" cy="36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lvl="0" eaLnBrk="0" fontAlgn="base" hangingPunct="0">
              <a:buSzPts val="4800"/>
              <a:defRPr/>
            </a:pPr>
            <a:r>
              <a:rPr lang="fr-FR" sz="5400" noProof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SGBD</a:t>
            </a:r>
            <a:endParaRPr kumimoji="0" lang="fr-FR" sz="5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838924" y="3834952"/>
            <a:ext cx="4636887" cy="982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7695" marR="5080" indent="-595630">
              <a:lnSpc>
                <a:spcPct val="100200"/>
              </a:lnSpc>
              <a:spcBef>
                <a:spcPts val="100"/>
              </a:spcBef>
            </a:pPr>
            <a:r>
              <a:rPr lang="fr-FR" sz="6300" spc="5" dirty="0" smtClean="0">
                <a:solidFill>
                  <a:schemeClr val="bg1"/>
                </a:solidFill>
                <a:latin typeface="Arial MT"/>
                <a:cs typeface="Arial MT"/>
              </a:rPr>
              <a:t>Oracle</a:t>
            </a:r>
            <a:endParaRPr sz="63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-685800" y="5605378"/>
            <a:ext cx="563879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7695" marR="5080" indent="-595630" algn="r">
              <a:lnSpc>
                <a:spcPct val="100200"/>
              </a:lnSpc>
              <a:spcBef>
                <a:spcPts val="100"/>
              </a:spcBef>
            </a:pPr>
            <a:r>
              <a:rPr lang="fr-FR" sz="3600" spc="5" dirty="0" smtClean="0">
                <a:solidFill>
                  <a:srgbClr val="C00000"/>
                </a:solidFill>
                <a:latin typeface="Arial MT"/>
                <a:cs typeface="Arial MT"/>
              </a:rPr>
              <a:t>Principe &amp; Techniques</a:t>
            </a:r>
            <a:endParaRPr sz="3600" dirty="0">
              <a:solidFill>
                <a:srgbClr val="C00000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30"/>
              </a:spcBef>
            </a:pPr>
            <a:r>
              <a:rPr sz="2200" dirty="0">
                <a:latin typeface="Times New Roman"/>
                <a:cs typeface="Times New Roman"/>
              </a:rPr>
              <a:t>Le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langage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PL/SQL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50">
              <a:latin typeface="Times New Roman"/>
              <a:cs typeface="Times New Roman"/>
            </a:endParaRPr>
          </a:p>
          <a:p>
            <a:pPr marL="760095" marR="753110" indent="-1905" algn="ctr">
              <a:lnSpc>
                <a:spcPct val="120200"/>
              </a:lnSpc>
            </a:pPr>
            <a:r>
              <a:rPr sz="1400" spc="-10" dirty="0">
                <a:latin typeface="Times New Roman"/>
                <a:cs typeface="Times New Roman"/>
              </a:rPr>
              <a:t>Généralités,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structures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contrôle </a:t>
            </a:r>
            <a:r>
              <a:rPr sz="1400" dirty="0">
                <a:latin typeface="Times New Roman"/>
                <a:cs typeface="Times New Roman"/>
              </a:rPr>
              <a:t>Collections,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sous-</a:t>
            </a:r>
            <a:r>
              <a:rPr sz="1400" dirty="0">
                <a:latin typeface="Times New Roman"/>
                <a:cs typeface="Times New Roman"/>
              </a:rPr>
              <a:t>programmes,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paquetages </a:t>
            </a:r>
            <a:r>
              <a:rPr sz="1400" dirty="0">
                <a:latin typeface="Times New Roman"/>
                <a:cs typeface="Times New Roman"/>
              </a:rPr>
              <a:t>Aspects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objet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800" spc="-10" dirty="0">
                <a:latin typeface="Times New Roman"/>
                <a:cs typeface="Times New Roman"/>
              </a:rPr>
              <a:t>Généralités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Times New Roman"/>
              <a:cs typeface="Times New Roman"/>
            </a:endParaRPr>
          </a:p>
          <a:p>
            <a:pPr marL="553720" marR="625475" indent="-171450">
              <a:lnSpc>
                <a:spcPct val="1000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«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Procedural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Language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extensions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-25" dirty="0">
                <a:latin typeface="Times New Roman"/>
                <a:cs typeface="Times New Roman"/>
              </a:rPr>
              <a:t> ».</a:t>
            </a:r>
            <a:endParaRPr sz="1200">
              <a:latin typeface="Times New Roman"/>
              <a:cs typeface="Times New Roman"/>
            </a:endParaRPr>
          </a:p>
          <a:p>
            <a:pPr marL="553720" marR="490220" indent="-171450">
              <a:lnSpc>
                <a:spcPct val="100000"/>
              </a:lnSpc>
              <a:spcBef>
                <a:spcPts val="28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n’existe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langage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autonome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;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est </a:t>
            </a:r>
            <a:r>
              <a:rPr sz="1200" dirty="0">
                <a:latin typeface="Times New Roman"/>
                <a:cs typeface="Times New Roman"/>
              </a:rPr>
              <a:t>utilisé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l’intérieur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d’autres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produits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Oracle.</a:t>
            </a:r>
            <a:endParaRPr sz="1200">
              <a:latin typeface="Times New Roman"/>
              <a:cs typeface="Times New Roman"/>
            </a:endParaRPr>
          </a:p>
          <a:p>
            <a:pPr marL="553720" marR="395605" indent="-171450">
              <a:lnSpc>
                <a:spcPct val="100000"/>
              </a:lnSpc>
              <a:spcBef>
                <a:spcPts val="284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ajoute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construits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-25" dirty="0">
                <a:latin typeface="Times New Roman"/>
                <a:cs typeface="Times New Roman"/>
              </a:rPr>
              <a:t> de </a:t>
            </a:r>
            <a:r>
              <a:rPr sz="1200" dirty="0">
                <a:latin typeface="Times New Roman"/>
                <a:cs typeface="Times New Roman"/>
              </a:rPr>
              <a:t>façon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intégrée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exécuter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des </a:t>
            </a:r>
            <a:r>
              <a:rPr sz="1200" dirty="0">
                <a:latin typeface="Times New Roman"/>
                <a:cs typeface="Times New Roman"/>
              </a:rPr>
              <a:t>SELECT,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DELETE,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INSERT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contenant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des </a:t>
            </a:r>
            <a:r>
              <a:rPr sz="1200" dirty="0">
                <a:latin typeface="Times New Roman"/>
                <a:cs typeface="Times New Roman"/>
              </a:rPr>
              <a:t>construits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utiliser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opérateurs,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prédicats</a:t>
            </a:r>
            <a:r>
              <a:rPr sz="1200" spc="-25" dirty="0">
                <a:latin typeface="Times New Roman"/>
                <a:cs typeface="Times New Roman"/>
              </a:rPr>
              <a:t> et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prédéfinies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gérer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transactions, </a:t>
            </a:r>
            <a:r>
              <a:rPr sz="1200" spc="-20" dirty="0">
                <a:latin typeface="Times New Roman"/>
                <a:cs typeface="Times New Roman"/>
              </a:rPr>
              <a:t>etc.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800" spc="-10" dirty="0">
                <a:latin typeface="Times New Roman"/>
                <a:cs typeface="Times New Roman"/>
              </a:rPr>
              <a:t>Généralités</a:t>
            </a:r>
            <a:endParaRPr sz="1800">
              <a:latin typeface="Times New Roman"/>
              <a:cs typeface="Times New Roman"/>
            </a:endParaRPr>
          </a:p>
          <a:p>
            <a:pPr marL="553720" indent="-172085">
              <a:lnSpc>
                <a:spcPts val="1440"/>
              </a:lnSpc>
              <a:spcBef>
                <a:spcPts val="173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Types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 données prédéfinis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754380" lvl="1" indent="-143510">
              <a:lnSpc>
                <a:spcPts val="1200"/>
              </a:lnSpc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BINARY_INTEGER,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NUMBER,</a:t>
            </a:r>
            <a:r>
              <a:rPr sz="1000" spc="-10" dirty="0">
                <a:latin typeface="Times New Roman"/>
                <a:cs typeface="Times New Roman"/>
              </a:rPr>
              <a:t> PLS_INTEGER</a:t>
            </a:r>
            <a:endParaRPr sz="1000">
              <a:latin typeface="Times New Roman"/>
              <a:cs typeface="Times New Roman"/>
            </a:endParaRPr>
          </a:p>
          <a:p>
            <a:pPr marL="754380" lvl="1" indent="-144145">
              <a:lnSpc>
                <a:spcPct val="100000"/>
              </a:lnSpc>
              <a:buChar char="–"/>
              <a:tabLst>
                <a:tab pos="755015" algn="l"/>
              </a:tabLst>
            </a:pPr>
            <a:r>
              <a:rPr sz="1000" dirty="0">
                <a:latin typeface="Times New Roman"/>
                <a:cs typeface="Times New Roman"/>
              </a:rPr>
              <a:t>CHAR,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LONG,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VARCHAR2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buChar char="–"/>
              <a:tabLst>
                <a:tab pos="754380" algn="l"/>
              </a:tabLst>
            </a:pPr>
            <a:r>
              <a:rPr sz="1000" spc="-10" dirty="0">
                <a:latin typeface="Times New Roman"/>
                <a:cs typeface="Times New Roman"/>
              </a:rPr>
              <a:t>BOOLEAN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DATE,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TIMESTAMP,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INTERVAL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REF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&lt;nom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TDU&gt;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ts val="1200"/>
              </a:lnSpc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BLOB,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CLOB,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BFILE</a:t>
            </a:r>
            <a:endParaRPr sz="1000">
              <a:latin typeface="Times New Roman"/>
              <a:cs typeface="Times New Roman"/>
            </a:endParaRPr>
          </a:p>
          <a:p>
            <a:pPr marL="553720" indent="-172085">
              <a:lnSpc>
                <a:spcPts val="1435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Constructeurs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type</a:t>
            </a:r>
            <a:endParaRPr sz="1200">
              <a:latin typeface="Times New Roman"/>
              <a:cs typeface="Times New Roman"/>
            </a:endParaRPr>
          </a:p>
          <a:p>
            <a:pPr marL="754380" lvl="1" indent="-143510">
              <a:lnSpc>
                <a:spcPts val="1200"/>
              </a:lnSpc>
              <a:buChar char="–"/>
              <a:tabLst>
                <a:tab pos="754380" algn="l"/>
              </a:tabLst>
            </a:pPr>
            <a:r>
              <a:rPr sz="1000" spc="-10" dirty="0">
                <a:latin typeface="Times New Roman"/>
                <a:cs typeface="Times New Roman"/>
              </a:rPr>
              <a:t>RECORD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TABLE OF </a:t>
            </a:r>
            <a:r>
              <a:rPr sz="1000" spc="-25" dirty="0">
                <a:latin typeface="Times New Roman"/>
                <a:cs typeface="Times New Roman"/>
              </a:rPr>
              <a:t>...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TABLE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 ...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INDEX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 </a:t>
            </a:r>
            <a:r>
              <a:rPr sz="1000" spc="-25" dirty="0">
                <a:latin typeface="Times New Roman"/>
                <a:cs typeface="Times New Roman"/>
              </a:rPr>
              <a:t>...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buChar char="–"/>
              <a:tabLst>
                <a:tab pos="754380" algn="l"/>
              </a:tabLst>
            </a:pPr>
            <a:r>
              <a:rPr sz="1000" spc="-10" dirty="0">
                <a:latin typeface="Times New Roman"/>
                <a:cs typeface="Times New Roman"/>
              </a:rPr>
              <a:t>VARRAY(limite)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...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REF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CURSOR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800" spc="-10" dirty="0">
                <a:latin typeface="Times New Roman"/>
                <a:cs typeface="Times New Roman"/>
              </a:rPr>
              <a:t>Généralités</a:t>
            </a:r>
            <a:endParaRPr sz="1800">
              <a:latin typeface="Times New Roman"/>
              <a:cs typeface="Times New Roman"/>
            </a:endParaRPr>
          </a:p>
          <a:p>
            <a:pPr marL="553720" indent="-172085">
              <a:lnSpc>
                <a:spcPts val="1440"/>
              </a:lnSpc>
              <a:spcBef>
                <a:spcPts val="173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Types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754380" lvl="1" indent="-143510">
              <a:lnSpc>
                <a:spcPts val="1200"/>
              </a:lnSpc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Table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imbriquée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(TABLE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&lt;type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données&gt;)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Tableau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(VARRAY(limite)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&lt;type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données&gt;)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ts val="1200"/>
              </a:lnSpc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Tableau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associatif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(TABLE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...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INDEX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...)</a:t>
            </a:r>
            <a:endParaRPr sz="10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Fonctions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prédéfinies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Paquetages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prédéfinis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ts val="1435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Structures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contrôle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conditionnelle,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itérative,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etc.</a:t>
            </a:r>
            <a:endParaRPr sz="1200">
              <a:latin typeface="Times New Roman"/>
              <a:cs typeface="Times New Roman"/>
            </a:endParaRPr>
          </a:p>
          <a:p>
            <a:pPr marL="553720" marR="490855" indent="-171450">
              <a:lnSpc>
                <a:spcPts val="1150"/>
              </a:lnSpc>
              <a:spcBef>
                <a:spcPts val="27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Mécanisme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curseur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curseur,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curseur, </a:t>
            </a:r>
            <a:r>
              <a:rPr sz="1200" dirty="0">
                <a:latin typeface="Times New Roman"/>
                <a:cs typeface="Times New Roman"/>
              </a:rPr>
              <a:t>boucle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curseur,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etc.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Traitement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d’exceptions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(erreurs)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buChar char="•"/>
              <a:tabLst>
                <a:tab pos="554355" algn="l"/>
              </a:tabLst>
            </a:pPr>
            <a:r>
              <a:rPr sz="1200" spc="-10" dirty="0">
                <a:latin typeface="Times New Roman"/>
                <a:cs typeface="Times New Roman"/>
              </a:rPr>
              <a:t>Paquetage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800" spc="-10" dirty="0">
                <a:latin typeface="Times New Roman"/>
                <a:cs typeface="Times New Roman"/>
              </a:rPr>
              <a:t>Généralités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553720" marR="613410" indent="-171450">
              <a:lnSpc>
                <a:spcPts val="129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tableau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associatif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index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(arbre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de </a:t>
            </a:r>
            <a:r>
              <a:rPr sz="1200" dirty="0">
                <a:latin typeface="Times New Roman"/>
                <a:cs typeface="Times New Roman"/>
              </a:rPr>
              <a:t>recherche)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basé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l’indice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éléments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table.</a:t>
            </a:r>
            <a:endParaRPr sz="1200">
              <a:latin typeface="Times New Roman"/>
              <a:cs typeface="Times New Roman"/>
            </a:endParaRPr>
          </a:p>
          <a:p>
            <a:pPr marL="553720" marR="471805" indent="-171450">
              <a:lnSpc>
                <a:spcPts val="13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C’est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dictionnaire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ensemble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paires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«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clé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valeur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»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déclaré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suit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553720" marR="683895" indent="-171450">
              <a:lnSpc>
                <a:spcPts val="1300"/>
              </a:lnSpc>
              <a:spcBef>
                <a:spcPts val="27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nom_t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element_t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[NOT</a:t>
            </a:r>
            <a:r>
              <a:rPr sz="1200" spc="-10" dirty="0">
                <a:latin typeface="Times New Roman"/>
                <a:cs typeface="Times New Roman"/>
              </a:rPr>
              <a:t> NULL] </a:t>
            </a:r>
            <a:r>
              <a:rPr sz="1200" dirty="0">
                <a:latin typeface="Times New Roman"/>
                <a:cs typeface="Times New Roman"/>
              </a:rPr>
              <a:t>INDEX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{BINARY_INTEGER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|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PLS_INTEGER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|</a:t>
            </a:r>
            <a:endParaRPr sz="1200">
              <a:latin typeface="Times New Roman"/>
              <a:cs typeface="Times New Roman"/>
            </a:endParaRPr>
          </a:p>
          <a:p>
            <a:pPr marL="553720">
              <a:lnSpc>
                <a:spcPts val="1265"/>
              </a:lnSpc>
            </a:pPr>
            <a:r>
              <a:rPr sz="1200" dirty="0">
                <a:latin typeface="Times New Roman"/>
                <a:cs typeface="Times New Roman"/>
              </a:rPr>
              <a:t>VARCHAR2(limite)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}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;</a:t>
            </a:r>
            <a:endParaRPr sz="1200">
              <a:latin typeface="Times New Roman"/>
              <a:cs typeface="Times New Roman"/>
            </a:endParaRPr>
          </a:p>
          <a:p>
            <a:pPr marL="553720" marR="613410" indent="-171450">
              <a:lnSpc>
                <a:spcPts val="1300"/>
              </a:lnSpc>
              <a:spcBef>
                <a:spcPts val="30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tableau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associatif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;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sont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nécessairement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contigus.</a:t>
            </a:r>
            <a:endParaRPr sz="1200">
              <a:latin typeface="Times New Roman"/>
              <a:cs typeface="Times New Roman"/>
            </a:endParaRPr>
          </a:p>
          <a:p>
            <a:pPr marL="553720" marR="445770" indent="-171450">
              <a:lnSpc>
                <a:spcPts val="1300"/>
              </a:lnSpc>
              <a:spcBef>
                <a:spcPts val="27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tableau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associatif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initialisé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vide,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n’est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pas </a:t>
            </a:r>
            <a:r>
              <a:rPr sz="1200" spc="-10" dirty="0">
                <a:latin typeface="Times New Roman"/>
                <a:cs typeface="Times New Roman"/>
              </a:rPr>
              <a:t>NULL.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800" spc="-10" dirty="0">
                <a:latin typeface="Times New Roman"/>
                <a:cs typeface="Times New Roman"/>
              </a:rPr>
              <a:t>Généralités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553720" marR="561975" indent="-171450">
              <a:lnSpc>
                <a:spcPts val="129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tableau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associatif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stocké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une </a:t>
            </a:r>
            <a:r>
              <a:rPr sz="1200" dirty="0">
                <a:latin typeface="Times New Roman"/>
                <a:cs typeface="Times New Roman"/>
              </a:rPr>
              <a:t>valeur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colonne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données.</a:t>
            </a:r>
            <a:endParaRPr sz="1200">
              <a:latin typeface="Times New Roman"/>
              <a:cs typeface="Times New Roman"/>
            </a:endParaRPr>
          </a:p>
          <a:p>
            <a:pPr marL="553720" marR="489584" indent="-171450">
              <a:lnSpc>
                <a:spcPct val="89800"/>
              </a:lnSpc>
              <a:spcBef>
                <a:spcPts val="27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imbriquée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représentée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un </a:t>
            </a:r>
            <a:r>
              <a:rPr sz="1200" dirty="0">
                <a:latin typeface="Times New Roman"/>
                <a:cs typeface="Times New Roman"/>
              </a:rPr>
              <a:t>tableau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borné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(où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trous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été </a:t>
            </a:r>
            <a:r>
              <a:rPr sz="1200" dirty="0">
                <a:latin typeface="Times New Roman"/>
                <a:cs typeface="Times New Roman"/>
              </a:rPr>
              <a:t>créés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DELETE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gardent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leur</a:t>
            </a:r>
            <a:r>
              <a:rPr sz="1200" spc="-10" dirty="0">
                <a:latin typeface="Times New Roman"/>
                <a:cs typeface="Times New Roman"/>
              </a:rPr>
              <a:t> indice).</a:t>
            </a:r>
            <a:endParaRPr sz="1200">
              <a:latin typeface="Times New Roman"/>
              <a:cs typeface="Times New Roman"/>
            </a:endParaRPr>
          </a:p>
          <a:p>
            <a:pPr marL="553720" marR="597535" indent="-171450">
              <a:lnSpc>
                <a:spcPct val="898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VARRAY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représenté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tableau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borné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et </a:t>
            </a:r>
            <a:r>
              <a:rPr sz="1200" dirty="0">
                <a:latin typeface="Times New Roman"/>
                <a:cs typeface="Times New Roman"/>
              </a:rPr>
              <a:t>dense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(dont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contigus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inférieurs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un </a:t>
            </a:r>
            <a:r>
              <a:rPr sz="1200" dirty="0">
                <a:latin typeface="Times New Roman"/>
                <a:cs typeface="Times New Roman"/>
              </a:rPr>
              <a:t>maximum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déclaré).</a:t>
            </a:r>
            <a:endParaRPr sz="1200">
              <a:latin typeface="Times New Roman"/>
              <a:cs typeface="Times New Roman"/>
            </a:endParaRPr>
          </a:p>
          <a:p>
            <a:pPr marL="553720" marR="419734" indent="-171450">
              <a:lnSpc>
                <a:spcPct val="898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existe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plusieurs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méthodes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prédéfinies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gérer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les </a:t>
            </a:r>
            <a:r>
              <a:rPr sz="1200" dirty="0">
                <a:latin typeface="Times New Roman"/>
                <a:cs typeface="Times New Roman"/>
              </a:rPr>
              <a:t>tableaux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associatifs,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imbriquées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0" dirty="0">
                <a:latin typeface="Times New Roman"/>
                <a:cs typeface="Times New Roman"/>
              </a:rPr>
              <a:t> VARRAY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collections.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Elles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seront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décrites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plus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tard.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800" spc="-10" dirty="0">
                <a:latin typeface="Times New Roman"/>
                <a:cs typeface="Times New Roman"/>
              </a:rPr>
              <a:t>Généralités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blocs.</a:t>
            </a:r>
            <a:endParaRPr sz="1200">
              <a:latin typeface="Times New Roman"/>
              <a:cs typeface="Times New Roman"/>
            </a:endParaRPr>
          </a:p>
          <a:p>
            <a:pPr marL="553720" marR="406400" indent="-171450">
              <a:lnSpc>
                <a:spcPct val="100000"/>
              </a:lnSpc>
              <a:spcBef>
                <a:spcPts val="28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unité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traitement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pouvant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servir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construire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procédures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fonctions.</a:t>
            </a:r>
            <a:endParaRPr sz="1200">
              <a:latin typeface="Times New Roman"/>
              <a:cs typeface="Times New Roman"/>
            </a:endParaRPr>
          </a:p>
          <a:p>
            <a:pPr marL="553720" marR="594995" indent="-171450">
              <a:lnSpc>
                <a:spcPct val="100000"/>
              </a:lnSpc>
              <a:spcBef>
                <a:spcPts val="284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fournit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portée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scope)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un </a:t>
            </a:r>
            <a:r>
              <a:rPr sz="1200" dirty="0">
                <a:latin typeface="Times New Roman"/>
                <a:cs typeface="Times New Roman"/>
              </a:rPr>
              <a:t>contexte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éléments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(tels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énoncés, </a:t>
            </a:r>
            <a:r>
              <a:rPr sz="1200" dirty="0">
                <a:latin typeface="Times New Roman"/>
                <a:cs typeface="Times New Roman"/>
              </a:rPr>
              <a:t>etc.)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logiquement</a:t>
            </a:r>
            <a:r>
              <a:rPr sz="1200" spc="-10" dirty="0">
                <a:latin typeface="Times New Roman"/>
                <a:cs typeface="Times New Roman"/>
              </a:rPr>
              <a:t> connexes.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8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L’imbrication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limite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profondeur.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peuvent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anonymes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nommés.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800" spc="-10" dirty="0">
                <a:latin typeface="Times New Roman"/>
                <a:cs typeface="Times New Roman"/>
              </a:rPr>
              <a:t>Généralités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Times New Roman"/>
              <a:cs typeface="Times New Roman"/>
            </a:endParaRPr>
          </a:p>
          <a:p>
            <a:pPr marL="553720" marR="372745" indent="-171450">
              <a:lnSpc>
                <a:spcPct val="1000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anonyme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contenant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plusieurs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énoncés </a:t>
            </a: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lieu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seul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envoi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réseau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le</a:t>
            </a:r>
            <a:r>
              <a:rPr sz="1200" spc="5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;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résultats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intermédiaires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traités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place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et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résultat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unique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retourné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client.</a:t>
            </a:r>
            <a:endParaRPr sz="1200">
              <a:latin typeface="Times New Roman"/>
              <a:cs typeface="Times New Roman"/>
            </a:endParaRPr>
          </a:p>
          <a:p>
            <a:pPr marL="553720" marR="633095" indent="-171450">
              <a:lnSpc>
                <a:spcPct val="100000"/>
              </a:lnSpc>
              <a:spcBef>
                <a:spcPts val="27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nommé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 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sous-programme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c’est-à-dire </a:t>
            </a:r>
            <a:r>
              <a:rPr sz="1200" spc="-25" dirty="0">
                <a:latin typeface="Times New Roman"/>
                <a:cs typeface="Times New Roman"/>
              </a:rPr>
              <a:t>ou </a:t>
            </a:r>
            <a:r>
              <a:rPr sz="1200" dirty="0">
                <a:latin typeface="Times New Roman"/>
                <a:cs typeface="Times New Roman"/>
              </a:rPr>
              <a:t>bien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procédure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bien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fonction.</a:t>
            </a:r>
            <a:endParaRPr sz="1200">
              <a:latin typeface="Times New Roman"/>
              <a:cs typeface="Times New Roman"/>
            </a:endParaRPr>
          </a:p>
          <a:p>
            <a:pPr marL="553720" marR="400685" indent="-171450">
              <a:lnSpc>
                <a:spcPct val="100000"/>
              </a:lnSpc>
              <a:spcBef>
                <a:spcPts val="28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paquetage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permet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ensemble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plusieurs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types, </a:t>
            </a:r>
            <a:r>
              <a:rPr sz="1200" dirty="0">
                <a:latin typeface="Times New Roman"/>
                <a:cs typeface="Times New Roman"/>
              </a:rPr>
              <a:t>collections,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enregistrements,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constantes,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variables, </a:t>
            </a:r>
            <a:r>
              <a:rPr sz="1200" dirty="0">
                <a:latin typeface="Times New Roman"/>
                <a:cs typeface="Times New Roman"/>
              </a:rPr>
              <a:t>curseurs,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exceptions,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procédures</a:t>
            </a:r>
            <a:r>
              <a:rPr sz="1200" spc="-10" dirty="0">
                <a:latin typeface="Times New Roman"/>
                <a:cs typeface="Times New Roman"/>
              </a:rPr>
              <a:t> logiquement connexes.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800" spc="-10" dirty="0">
                <a:latin typeface="Times New Roman"/>
                <a:cs typeface="Times New Roman"/>
              </a:rPr>
              <a:t>Généralités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Times New Roman"/>
              <a:cs typeface="Times New Roman"/>
            </a:endParaRPr>
          </a:p>
          <a:p>
            <a:pPr marL="553720" marR="469265" indent="-171450">
              <a:lnSpc>
                <a:spcPct val="898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avoir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jusqu’à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quatre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(4)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sections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 </a:t>
            </a:r>
            <a:r>
              <a:rPr sz="1200" spc="-10" dirty="0">
                <a:latin typeface="Times New Roman"/>
                <a:cs typeface="Times New Roman"/>
              </a:rPr>
              <a:t>l’en-</a:t>
            </a:r>
            <a:r>
              <a:rPr sz="1200" dirty="0">
                <a:latin typeface="Times New Roman"/>
                <a:cs typeface="Times New Roman"/>
              </a:rPr>
              <a:t>tête,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déclarations,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d’exécution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d’exceptions.</a:t>
            </a:r>
            <a:endParaRPr sz="1200">
              <a:latin typeface="Times New Roman"/>
              <a:cs typeface="Times New Roman"/>
            </a:endParaRPr>
          </a:p>
          <a:p>
            <a:pPr marL="553720" marR="445770" indent="-171450">
              <a:lnSpc>
                <a:spcPts val="1290"/>
              </a:lnSpc>
              <a:spcBef>
                <a:spcPts val="315"/>
              </a:spcBef>
              <a:buChar char="•"/>
              <a:tabLst>
                <a:tab pos="554355" algn="l"/>
              </a:tabLst>
            </a:pPr>
            <a:r>
              <a:rPr sz="1200" spc="-10" dirty="0">
                <a:latin typeface="Times New Roman"/>
                <a:cs typeface="Times New Roman"/>
              </a:rPr>
              <a:t>L’en-</a:t>
            </a:r>
            <a:r>
              <a:rPr sz="1200" dirty="0">
                <a:latin typeface="Times New Roman"/>
                <a:cs typeface="Times New Roman"/>
              </a:rPr>
              <a:t>tête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seulement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nommé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(un</a:t>
            </a:r>
            <a:r>
              <a:rPr sz="1200" spc="-10" dirty="0">
                <a:latin typeface="Times New Roman"/>
                <a:cs typeface="Times New Roman"/>
              </a:rPr>
              <a:t> sous- </a:t>
            </a:r>
            <a:r>
              <a:rPr sz="1200" dirty="0">
                <a:latin typeface="Times New Roman"/>
                <a:cs typeface="Times New Roman"/>
              </a:rPr>
              <a:t>programme)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détermine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façon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l’appeler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(invoquer).</a:t>
            </a:r>
            <a:endParaRPr sz="1200">
              <a:latin typeface="Times New Roman"/>
              <a:cs typeface="Times New Roman"/>
            </a:endParaRPr>
          </a:p>
          <a:p>
            <a:pPr marL="553720" marR="375285" indent="-171450">
              <a:lnSpc>
                <a:spcPct val="89800"/>
              </a:lnSpc>
              <a:spcBef>
                <a:spcPts val="27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déclarations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permet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déclarer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variables,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curseurs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référencés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0" dirty="0">
                <a:latin typeface="Times New Roman"/>
                <a:cs typeface="Times New Roman"/>
              </a:rPr>
              <a:t> sections </a:t>
            </a:r>
            <a:r>
              <a:rPr sz="1200" dirty="0">
                <a:latin typeface="Times New Roman"/>
                <a:cs typeface="Times New Roman"/>
              </a:rPr>
              <a:t>d’exécution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d’exceptions.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d’exécution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énoncés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exécutables.</a:t>
            </a:r>
            <a:endParaRPr sz="1200">
              <a:latin typeface="Times New Roman"/>
              <a:cs typeface="Times New Roman"/>
            </a:endParaRPr>
          </a:p>
          <a:p>
            <a:pPr marL="553720" marR="900430" indent="-171450">
              <a:lnSpc>
                <a:spcPts val="1300"/>
              </a:lnSpc>
              <a:spcBef>
                <a:spcPts val="30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d’exceptions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soins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conditions </a:t>
            </a:r>
            <a:r>
              <a:rPr sz="1200" dirty="0">
                <a:latin typeface="Times New Roman"/>
                <a:cs typeface="Times New Roman"/>
              </a:rPr>
              <a:t>d’erreur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d’avertissement.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800" spc="-10" dirty="0">
                <a:latin typeface="Times New Roman"/>
                <a:cs typeface="Times New Roman"/>
              </a:rPr>
              <a:t>Généralités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Times New Roman"/>
              <a:cs typeface="Times New Roman"/>
            </a:endParaRPr>
          </a:p>
          <a:p>
            <a:pPr marL="553720" marR="796290" indent="-171450">
              <a:lnSpc>
                <a:spcPct val="1000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anonyme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présente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donc </a:t>
            </a:r>
            <a:r>
              <a:rPr sz="1200" dirty="0">
                <a:latin typeface="Times New Roman"/>
                <a:cs typeface="Times New Roman"/>
              </a:rPr>
              <a:t>comme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suit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80"/>
              </a:spcBef>
              <a:buChar char="•"/>
              <a:tabLst>
                <a:tab pos="554355" algn="l"/>
              </a:tabLst>
            </a:pPr>
            <a:r>
              <a:rPr sz="1200" spc="-10" dirty="0">
                <a:latin typeface="Times New Roman"/>
                <a:cs typeface="Times New Roman"/>
              </a:rPr>
              <a:t>DECLARE</a:t>
            </a:r>
            <a:endParaRPr sz="12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35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Section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déclarations</a:t>
            </a:r>
            <a:endParaRPr sz="10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spc="-10" dirty="0">
                <a:latin typeface="Times New Roman"/>
                <a:cs typeface="Times New Roman"/>
              </a:rPr>
              <a:t>BEGIN</a:t>
            </a:r>
            <a:endParaRPr sz="12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Section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d’exécution</a:t>
            </a:r>
            <a:endParaRPr sz="10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80"/>
              </a:spcBef>
              <a:buChar char="•"/>
              <a:tabLst>
                <a:tab pos="554355" algn="l"/>
              </a:tabLst>
            </a:pPr>
            <a:r>
              <a:rPr sz="1200" spc="-10" dirty="0">
                <a:latin typeface="Times New Roman"/>
                <a:cs typeface="Times New Roman"/>
              </a:rPr>
              <a:t>EXCEPTION</a:t>
            </a:r>
            <a:endParaRPr sz="12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Section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d’exception</a:t>
            </a:r>
            <a:endParaRPr sz="10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80"/>
              </a:spcBef>
              <a:buChar char="•"/>
              <a:tabLst>
                <a:tab pos="554355" algn="l"/>
              </a:tabLst>
            </a:pPr>
            <a:r>
              <a:rPr sz="1200" spc="-20" dirty="0">
                <a:latin typeface="Times New Roman"/>
                <a:cs typeface="Times New Roman"/>
              </a:rPr>
              <a:t>END;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800" spc="-10" dirty="0">
                <a:latin typeface="Times New Roman"/>
                <a:cs typeface="Times New Roman"/>
              </a:rPr>
              <a:t>Généralités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buChar char="•"/>
              <a:tabLst>
                <a:tab pos="554355" algn="l"/>
              </a:tabLst>
            </a:pPr>
            <a:r>
              <a:rPr sz="1200" spc="-10" dirty="0">
                <a:latin typeface="Times New Roman"/>
                <a:cs typeface="Times New Roman"/>
              </a:rPr>
              <a:t>EXCEPTION</a:t>
            </a:r>
            <a:endParaRPr sz="12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35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WHEN </a:t>
            </a:r>
            <a:r>
              <a:rPr sz="1000" spc="-10" dirty="0">
                <a:latin typeface="Times New Roman"/>
                <a:cs typeface="Times New Roman"/>
              </a:rPr>
              <a:t>NO_DATA_FOUND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spc="-20" dirty="0">
                <a:latin typeface="Times New Roman"/>
                <a:cs typeface="Times New Roman"/>
              </a:rPr>
              <a:t>THEN</a:t>
            </a:r>
            <a:endParaRPr sz="1000">
              <a:latin typeface="Times New Roman"/>
              <a:cs typeface="Times New Roman"/>
            </a:endParaRPr>
          </a:p>
          <a:p>
            <a:pPr marL="850265" lvl="1" indent="-240029">
              <a:lnSpc>
                <a:spcPct val="100000"/>
              </a:lnSpc>
              <a:spcBef>
                <a:spcPts val="240"/>
              </a:spcBef>
              <a:buChar char="–"/>
              <a:tabLst>
                <a:tab pos="850265" algn="l"/>
                <a:tab pos="850900" algn="l"/>
              </a:tabLst>
            </a:pPr>
            <a:r>
              <a:rPr sz="1000" dirty="0">
                <a:latin typeface="Times New Roman"/>
                <a:cs typeface="Times New Roman"/>
              </a:rPr>
              <a:t>sequence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statements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35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WHEN </a:t>
            </a:r>
            <a:r>
              <a:rPr sz="1000" spc="-10" dirty="0">
                <a:latin typeface="Times New Roman"/>
                <a:cs typeface="Times New Roman"/>
              </a:rPr>
              <a:t>DUP_VAL_ON_INDEX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spc="-20" dirty="0">
                <a:latin typeface="Times New Roman"/>
                <a:cs typeface="Times New Roman"/>
              </a:rPr>
              <a:t>THEN</a:t>
            </a:r>
            <a:endParaRPr sz="1000">
              <a:latin typeface="Times New Roman"/>
              <a:cs typeface="Times New Roman"/>
            </a:endParaRPr>
          </a:p>
          <a:p>
            <a:pPr marL="850265" lvl="1" indent="-240029">
              <a:lnSpc>
                <a:spcPct val="100000"/>
              </a:lnSpc>
              <a:spcBef>
                <a:spcPts val="234"/>
              </a:spcBef>
              <a:buChar char="–"/>
              <a:tabLst>
                <a:tab pos="850265" algn="l"/>
                <a:tab pos="850900" algn="l"/>
              </a:tabLst>
            </a:pPr>
            <a:r>
              <a:rPr sz="1000" dirty="0">
                <a:latin typeface="Times New Roman"/>
                <a:cs typeface="Times New Roman"/>
              </a:rPr>
              <a:t>sequence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statements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WHEN </a:t>
            </a:r>
            <a:r>
              <a:rPr sz="1000" spc="-10" dirty="0">
                <a:latin typeface="Times New Roman"/>
                <a:cs typeface="Times New Roman"/>
              </a:rPr>
              <a:t>OTHERS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29"/>
              </a:spcBef>
              <a:buChar char="–"/>
              <a:tabLst>
                <a:tab pos="754380" algn="l"/>
              </a:tabLst>
            </a:pPr>
            <a:r>
              <a:rPr sz="1000" spc="-20" dirty="0">
                <a:latin typeface="Times New Roman"/>
                <a:cs typeface="Times New Roman"/>
              </a:rPr>
              <a:t>THEN</a:t>
            </a:r>
            <a:endParaRPr sz="1000">
              <a:latin typeface="Times New Roman"/>
              <a:cs typeface="Times New Roman"/>
            </a:endParaRPr>
          </a:p>
          <a:p>
            <a:pPr marL="817880" lvl="1" indent="-207645">
              <a:lnSpc>
                <a:spcPct val="100000"/>
              </a:lnSpc>
              <a:spcBef>
                <a:spcPts val="240"/>
              </a:spcBef>
              <a:buChar char="–"/>
              <a:tabLst>
                <a:tab pos="817880" algn="l"/>
                <a:tab pos="818515" algn="l"/>
              </a:tabLst>
            </a:pPr>
            <a:r>
              <a:rPr sz="1000" dirty="0">
                <a:latin typeface="Times New Roman"/>
                <a:cs typeface="Times New Roman"/>
              </a:rPr>
              <a:t>sequence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statements</a:t>
            </a:r>
            <a:endParaRPr sz="10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spc="-25" dirty="0">
                <a:latin typeface="Times New Roman"/>
                <a:cs typeface="Times New Roman"/>
              </a:rPr>
              <a:t>END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marL="116332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Structures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contrôle</a:t>
            </a:r>
            <a:endParaRPr sz="20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185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condition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84"/>
              </a:spcBef>
              <a:buChar char="•"/>
              <a:tabLst>
                <a:tab pos="554355" algn="l"/>
              </a:tabLst>
            </a:pPr>
            <a:r>
              <a:rPr sz="1200" spc="-20" dirty="0">
                <a:latin typeface="Times New Roman"/>
                <a:cs typeface="Times New Roman"/>
              </a:rPr>
              <a:t>THEN</a:t>
            </a:r>
            <a:endParaRPr sz="1200">
              <a:latin typeface="Times New Roman"/>
              <a:cs typeface="Times New Roman"/>
            </a:endParaRPr>
          </a:p>
          <a:p>
            <a:pPr marL="668020" indent="-286385">
              <a:lnSpc>
                <a:spcPct val="100000"/>
              </a:lnSpc>
              <a:spcBef>
                <a:spcPts val="285"/>
              </a:spcBef>
              <a:buChar char="•"/>
              <a:tabLst>
                <a:tab pos="668020" algn="l"/>
                <a:tab pos="668655" algn="l"/>
              </a:tabLst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sequence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statements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84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[ELSE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10" dirty="0">
                <a:latin typeface="Times New Roman"/>
                <a:cs typeface="Times New Roman"/>
              </a:rPr>
              <a:t> condition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spc="-20" dirty="0">
                <a:latin typeface="Times New Roman"/>
                <a:cs typeface="Times New Roman"/>
              </a:rPr>
              <a:t>THEN</a:t>
            </a:r>
            <a:endParaRPr sz="1200">
              <a:latin typeface="Times New Roman"/>
              <a:cs typeface="Times New Roman"/>
            </a:endParaRPr>
          </a:p>
          <a:p>
            <a:pPr marL="668020" indent="-286385">
              <a:lnSpc>
                <a:spcPct val="100000"/>
              </a:lnSpc>
              <a:spcBef>
                <a:spcPts val="284"/>
              </a:spcBef>
              <a:buChar char="•"/>
              <a:tabLst>
                <a:tab pos="668020" algn="l"/>
                <a:tab pos="668655" algn="l"/>
              </a:tabLst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sequence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statements]…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spc="-10" dirty="0">
                <a:latin typeface="Times New Roman"/>
                <a:cs typeface="Times New Roman"/>
              </a:rPr>
              <a:t>[ELSE</a:t>
            </a:r>
            <a:endParaRPr sz="1200">
              <a:latin typeface="Times New Roman"/>
              <a:cs typeface="Times New Roman"/>
            </a:endParaRPr>
          </a:p>
          <a:p>
            <a:pPr marL="668020" indent="-286385">
              <a:lnSpc>
                <a:spcPct val="100000"/>
              </a:lnSpc>
              <a:spcBef>
                <a:spcPts val="284"/>
              </a:spcBef>
              <a:buChar char="•"/>
              <a:tabLst>
                <a:tab pos="668020" algn="l"/>
                <a:tab pos="668655" algn="l"/>
              </a:tabLst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sequence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statements]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END</a:t>
            </a:r>
            <a:r>
              <a:rPr sz="1200" spc="-25" dirty="0">
                <a:latin typeface="Times New Roman"/>
                <a:cs typeface="Times New Roman"/>
              </a:rPr>
              <a:t> IF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marL="116332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Structures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contrôle</a:t>
            </a:r>
            <a:endParaRPr sz="20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185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[REVERSE]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lower_bound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higher_bound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84"/>
              </a:spcBef>
              <a:buChar char="•"/>
              <a:tabLst>
                <a:tab pos="554355" algn="l"/>
              </a:tabLst>
            </a:pPr>
            <a:r>
              <a:rPr sz="1200" spc="-20" dirty="0">
                <a:latin typeface="Times New Roman"/>
                <a:cs typeface="Times New Roman"/>
              </a:rPr>
              <a:t>LOOP</a:t>
            </a:r>
            <a:endParaRPr sz="1200">
              <a:latin typeface="Times New Roman"/>
              <a:cs typeface="Times New Roman"/>
            </a:endParaRPr>
          </a:p>
          <a:p>
            <a:pPr marL="668020" indent="-286385">
              <a:lnSpc>
                <a:spcPct val="100000"/>
              </a:lnSpc>
              <a:spcBef>
                <a:spcPts val="285"/>
              </a:spcBef>
              <a:buChar char="•"/>
              <a:tabLst>
                <a:tab pos="668020" algn="l"/>
                <a:tab pos="668655" algn="l"/>
              </a:tabLst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sequence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statements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84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END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LOOP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Char char="•"/>
            </a:pPr>
            <a:endParaRPr sz="17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record_index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cursor_name_or_variable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spc="-20" dirty="0">
                <a:latin typeface="Times New Roman"/>
                <a:cs typeface="Times New Roman"/>
              </a:rPr>
              <a:t>LOOP</a:t>
            </a:r>
            <a:endParaRPr sz="1200">
              <a:latin typeface="Times New Roman"/>
              <a:cs typeface="Times New Roman"/>
            </a:endParaRPr>
          </a:p>
          <a:p>
            <a:pPr marL="668020" indent="-286385">
              <a:lnSpc>
                <a:spcPct val="100000"/>
              </a:lnSpc>
              <a:spcBef>
                <a:spcPts val="284"/>
              </a:spcBef>
              <a:buChar char="•"/>
              <a:tabLst>
                <a:tab pos="668020" algn="l"/>
                <a:tab pos="668655" algn="l"/>
              </a:tabLst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sequence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statements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END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LOOP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marL="116332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Structures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contrôle</a:t>
            </a:r>
            <a:endParaRPr sz="2000">
              <a:latin typeface="Times New Roman"/>
              <a:cs typeface="Times New Roman"/>
            </a:endParaRPr>
          </a:p>
          <a:p>
            <a:pPr marL="553720" marR="391795" indent="-171450">
              <a:lnSpc>
                <a:spcPct val="79800"/>
              </a:lnSpc>
              <a:spcBef>
                <a:spcPts val="191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extraire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résultat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requête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fois,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répète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l’opération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FETCH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curseur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ouvert</a:t>
            </a:r>
            <a:r>
              <a:rPr sz="1200" spc="-10" dirty="0">
                <a:latin typeface="Times New Roman"/>
                <a:cs typeface="Times New Roman"/>
              </a:rPr>
              <a:t> jusqu’à </a:t>
            </a:r>
            <a:r>
              <a:rPr sz="1200" dirty="0">
                <a:latin typeface="Times New Roman"/>
                <a:cs typeface="Times New Roman"/>
              </a:rPr>
              <a:t>l’épuisement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résultats.</a:t>
            </a:r>
            <a:endParaRPr sz="1200">
              <a:latin typeface="Times New Roman"/>
              <a:cs typeface="Times New Roman"/>
            </a:endParaRPr>
          </a:p>
          <a:p>
            <a:pPr marL="553720" marR="476884" indent="-171450">
              <a:lnSpc>
                <a:spcPct val="798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faut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déclarer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curseur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(DECLARE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</a:t>
            </a:r>
            <a:r>
              <a:rPr sz="1200" spc="-10" dirty="0">
                <a:latin typeface="Times New Roman"/>
                <a:cs typeface="Times New Roman"/>
              </a:rPr>
              <a:t> CURSOR) </a:t>
            </a:r>
            <a:r>
              <a:rPr sz="1200" dirty="0">
                <a:latin typeface="Times New Roman"/>
                <a:cs typeface="Times New Roman"/>
              </a:rPr>
              <a:t>avec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paramètres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nécessaire),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l’ouvrir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(OPEN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cs) </a:t>
            </a:r>
            <a:r>
              <a:rPr sz="1200" dirty="0">
                <a:latin typeface="Times New Roman"/>
                <a:cs typeface="Times New Roman"/>
              </a:rPr>
              <a:t>avec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arguments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nécessaire),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répéter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extractions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(avec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boucle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contenant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FETCH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le </a:t>
            </a:r>
            <a:r>
              <a:rPr sz="1200" dirty="0">
                <a:latin typeface="Times New Roman"/>
                <a:cs typeface="Times New Roman"/>
              </a:rPr>
              <a:t>fermer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(CLOSE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cs).</a:t>
            </a:r>
            <a:endParaRPr sz="1200">
              <a:latin typeface="Times New Roman"/>
              <a:cs typeface="Times New Roman"/>
            </a:endParaRPr>
          </a:p>
          <a:p>
            <a:pPr marL="553720" marR="558165" indent="-171450">
              <a:lnSpc>
                <a:spcPts val="1150"/>
              </a:lnSpc>
              <a:spcBef>
                <a:spcPts val="28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boucle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basée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curseur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permet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réaliser </a:t>
            </a:r>
            <a:r>
              <a:rPr sz="1200" dirty="0">
                <a:latin typeface="Times New Roman"/>
                <a:cs typeface="Times New Roman"/>
              </a:rPr>
              <a:t>facilement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traitement.</a:t>
            </a:r>
            <a:endParaRPr sz="1200">
              <a:latin typeface="Times New Roman"/>
              <a:cs typeface="Times New Roman"/>
            </a:endParaRPr>
          </a:p>
          <a:p>
            <a:pPr marL="553720" marR="394970" indent="-171450">
              <a:lnSpc>
                <a:spcPct val="80000"/>
              </a:lnSpc>
              <a:spcBef>
                <a:spcPts val="29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L’indice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boucle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RECORD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déclarée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typé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implicitement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lignes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résultat </a:t>
            </a:r>
            <a:r>
              <a:rPr sz="1200" dirty="0">
                <a:latin typeface="Times New Roman"/>
                <a:cs typeface="Times New Roman"/>
              </a:rPr>
              <a:t>associées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</a:t>
            </a:r>
            <a:r>
              <a:rPr sz="1200" spc="-10" dirty="0">
                <a:latin typeface="Times New Roman"/>
                <a:cs typeface="Times New Roman"/>
              </a:rPr>
              <a:t> curseur.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marL="116332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Structures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contrôle</a:t>
            </a:r>
            <a:endParaRPr sz="2000">
              <a:latin typeface="Times New Roman"/>
              <a:cs typeface="Times New Roman"/>
            </a:endParaRPr>
          </a:p>
          <a:p>
            <a:pPr marL="553720" marR="769620" indent="-171450">
              <a:lnSpc>
                <a:spcPct val="80000"/>
              </a:lnSpc>
              <a:spcBef>
                <a:spcPts val="191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curseur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présenter sous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de </a:t>
            </a:r>
            <a:r>
              <a:rPr sz="1200" dirty="0">
                <a:latin typeface="Times New Roman"/>
                <a:cs typeface="Times New Roman"/>
              </a:rPr>
              <a:t>curseur,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curseur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 </a:t>
            </a:r>
            <a:r>
              <a:rPr sz="1200" spc="-10" dirty="0">
                <a:latin typeface="Times New Roman"/>
                <a:cs typeface="Times New Roman"/>
              </a:rPr>
              <a:t>requête.</a:t>
            </a:r>
            <a:endParaRPr sz="1200">
              <a:latin typeface="Times New Roman"/>
              <a:cs typeface="Times New Roman"/>
            </a:endParaRPr>
          </a:p>
          <a:p>
            <a:pPr marL="553720" marR="692150" indent="-171450">
              <a:lnSpc>
                <a:spcPct val="798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contrôle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boucle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façon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 </a:t>
            </a:r>
            <a:r>
              <a:rPr sz="1200" dirty="0">
                <a:latin typeface="Times New Roman"/>
                <a:cs typeface="Times New Roman"/>
              </a:rPr>
              <a:t>l’utilisateur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n’a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soucier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l’ouverture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la </a:t>
            </a:r>
            <a:r>
              <a:rPr sz="1200" dirty="0">
                <a:latin typeface="Times New Roman"/>
                <a:cs typeface="Times New Roman"/>
              </a:rPr>
              <a:t>fermeture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curseur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répétitions.</a:t>
            </a:r>
            <a:endParaRPr sz="1200">
              <a:latin typeface="Times New Roman"/>
              <a:cs typeface="Times New Roman"/>
            </a:endParaRPr>
          </a:p>
          <a:p>
            <a:pPr marL="553720" marR="365760" indent="-171450">
              <a:lnSpc>
                <a:spcPct val="799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Au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lieu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boucle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basée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curseur,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peut </a:t>
            </a:r>
            <a:r>
              <a:rPr sz="1200" dirty="0">
                <a:latin typeface="Times New Roman"/>
                <a:cs typeface="Times New Roman"/>
              </a:rPr>
              <a:t>aussi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contrôler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répétition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traitement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lignes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de </a:t>
            </a:r>
            <a:r>
              <a:rPr sz="1200" dirty="0">
                <a:latin typeface="Times New Roman"/>
                <a:cs typeface="Times New Roman"/>
              </a:rPr>
              <a:t>résultat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curseur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boucle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conventionnelle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LOOP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LOOP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sortie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basée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l’attribut</a:t>
            </a:r>
            <a:r>
              <a:rPr sz="1200" spc="-10" dirty="0">
                <a:latin typeface="Times New Roman"/>
                <a:cs typeface="Times New Roman"/>
              </a:rPr>
              <a:t> nommé</a:t>
            </a:r>
            <a:endParaRPr sz="1200">
              <a:latin typeface="Times New Roman"/>
              <a:cs typeface="Times New Roman"/>
            </a:endParaRPr>
          </a:p>
          <a:p>
            <a:pPr marL="553720">
              <a:lnSpc>
                <a:spcPts val="1150"/>
              </a:lnSpc>
            </a:pPr>
            <a:r>
              <a:rPr sz="1200" dirty="0">
                <a:latin typeface="Times New Roman"/>
                <a:cs typeface="Times New Roman"/>
              </a:rPr>
              <a:t>%NOTFOUND du </a:t>
            </a:r>
            <a:r>
              <a:rPr sz="1200" spc="-10" dirty="0">
                <a:latin typeface="Times New Roman"/>
                <a:cs typeface="Times New Roman"/>
              </a:rPr>
              <a:t>curseur.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ts val="1295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curseur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%FOUND,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%ISOPEN,</a:t>
            </a:r>
            <a:endParaRPr sz="1200">
              <a:latin typeface="Times New Roman"/>
              <a:cs typeface="Times New Roman"/>
            </a:endParaRPr>
          </a:p>
          <a:p>
            <a:pPr marL="553720">
              <a:lnSpc>
                <a:spcPts val="1295"/>
              </a:lnSpc>
            </a:pPr>
            <a:r>
              <a:rPr sz="1200" dirty="0">
                <a:latin typeface="Times New Roman"/>
                <a:cs typeface="Times New Roman"/>
              </a:rPr>
              <a:t>%NOTFOUND et </a:t>
            </a:r>
            <a:r>
              <a:rPr sz="1200" spc="-10" dirty="0">
                <a:latin typeface="Times New Roman"/>
                <a:cs typeface="Times New Roman"/>
              </a:rPr>
              <a:t>%ROWCOUNT.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marL="116332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Structures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contrôle</a:t>
            </a:r>
            <a:endParaRPr sz="20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1855"/>
              </a:spcBef>
              <a:buChar char="•"/>
              <a:tabLst>
                <a:tab pos="554355" algn="l"/>
              </a:tabLst>
            </a:pPr>
            <a:r>
              <a:rPr sz="1200" spc="-20" dirty="0">
                <a:latin typeface="Times New Roman"/>
                <a:cs typeface="Times New Roman"/>
              </a:rPr>
              <a:t>LOOP</a:t>
            </a:r>
            <a:endParaRPr sz="1200">
              <a:latin typeface="Times New Roman"/>
              <a:cs typeface="Times New Roman"/>
            </a:endParaRPr>
          </a:p>
          <a:p>
            <a:pPr marL="668020" indent="-286385">
              <a:lnSpc>
                <a:spcPct val="100000"/>
              </a:lnSpc>
              <a:spcBef>
                <a:spcPts val="284"/>
              </a:spcBef>
              <a:buChar char="•"/>
              <a:tabLst>
                <a:tab pos="668020" algn="l"/>
                <a:tab pos="668655" algn="l"/>
              </a:tabLst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sequence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statements</a:t>
            </a:r>
            <a:endParaRPr sz="1200">
              <a:latin typeface="Times New Roman"/>
              <a:cs typeface="Times New Roman"/>
            </a:endParaRPr>
          </a:p>
          <a:p>
            <a:pPr marL="668020" indent="-286385">
              <a:lnSpc>
                <a:spcPct val="100000"/>
              </a:lnSpc>
              <a:spcBef>
                <a:spcPts val="285"/>
              </a:spcBef>
              <a:buChar char="•"/>
              <a:tabLst>
                <a:tab pos="668020" algn="l"/>
                <a:tab pos="668655" algn="l"/>
              </a:tabLst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loop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[WHEN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conditions];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84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END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LOOP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Char char="•"/>
            </a:pPr>
            <a:endParaRPr sz="17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condition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spc="-20" dirty="0">
                <a:latin typeface="Times New Roman"/>
                <a:cs typeface="Times New Roman"/>
              </a:rPr>
              <a:t>LOOP</a:t>
            </a:r>
            <a:endParaRPr sz="1200">
              <a:latin typeface="Times New Roman"/>
              <a:cs typeface="Times New Roman"/>
            </a:endParaRPr>
          </a:p>
          <a:p>
            <a:pPr marL="668020" indent="-286385">
              <a:lnSpc>
                <a:spcPct val="100000"/>
              </a:lnSpc>
              <a:spcBef>
                <a:spcPts val="284"/>
              </a:spcBef>
              <a:buChar char="•"/>
              <a:tabLst>
                <a:tab pos="668020" algn="l"/>
                <a:tab pos="668655" algn="l"/>
              </a:tabLst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sequence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statements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END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LOOP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136015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latin typeface="Times New Roman"/>
                <a:cs typeface="Times New Roman"/>
              </a:rPr>
              <a:t>Utilisation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collections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élément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initialisé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NULL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façon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atomique.</a:t>
            </a:r>
            <a:endParaRPr sz="1200">
              <a:latin typeface="Times New Roman"/>
              <a:cs typeface="Times New Roman"/>
            </a:endParaRPr>
          </a:p>
          <a:p>
            <a:pPr marL="553720" marR="746760" indent="-171450">
              <a:lnSpc>
                <a:spcPct val="89900"/>
              </a:lnSpc>
              <a:spcBef>
                <a:spcPts val="284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initialiser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élément,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possible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d’utiliser</a:t>
            </a:r>
            <a:r>
              <a:rPr sz="1200" spc="-25" dirty="0">
                <a:latin typeface="Times New Roman"/>
                <a:cs typeface="Times New Roman"/>
              </a:rPr>
              <a:t> le </a:t>
            </a:r>
            <a:r>
              <a:rPr sz="1200" dirty="0">
                <a:latin typeface="Times New Roman"/>
                <a:cs typeface="Times New Roman"/>
              </a:rPr>
              <a:t>constructeur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implicite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d’effectuer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une </a:t>
            </a:r>
            <a:r>
              <a:rPr sz="1200" dirty="0">
                <a:latin typeface="Times New Roman"/>
                <a:cs typeface="Times New Roman"/>
              </a:rPr>
              <a:t>affectation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(copier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élément)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une </a:t>
            </a:r>
            <a:r>
              <a:rPr sz="1200" dirty="0">
                <a:latin typeface="Times New Roman"/>
                <a:cs typeface="Times New Roman"/>
              </a:rPr>
              <a:t>extraction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données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(par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FETCH).</a:t>
            </a:r>
            <a:endParaRPr sz="1200">
              <a:latin typeface="Times New Roman"/>
              <a:cs typeface="Times New Roman"/>
            </a:endParaRPr>
          </a:p>
          <a:p>
            <a:pPr marL="553720" marR="690245" indent="-171450">
              <a:lnSpc>
                <a:spcPct val="898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VARRAY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(ou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table </a:t>
            </a:r>
            <a:r>
              <a:rPr sz="1200" dirty="0">
                <a:latin typeface="Times New Roman"/>
                <a:cs typeface="Times New Roman"/>
              </a:rPr>
              <a:t>imbriquée)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déclaré(e)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demeure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jusqu’à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qu’il </a:t>
            </a:r>
            <a:r>
              <a:rPr sz="1200" dirty="0">
                <a:latin typeface="Times New Roman"/>
                <a:cs typeface="Times New Roman"/>
              </a:rPr>
              <a:t>(elle)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soit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initialisé(e).</a:t>
            </a:r>
            <a:endParaRPr sz="1200">
              <a:latin typeface="Times New Roman"/>
              <a:cs typeface="Times New Roman"/>
            </a:endParaRPr>
          </a:p>
          <a:p>
            <a:pPr marL="553720" marR="454659" indent="-171450">
              <a:lnSpc>
                <a:spcPct val="898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impossible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quoi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soit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avec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une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NULL.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L’exception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COLLECTION_IS_NULL </a:t>
            </a:r>
            <a:r>
              <a:rPr sz="1200" dirty="0">
                <a:latin typeface="Times New Roman"/>
                <a:cs typeface="Times New Roman"/>
              </a:rPr>
              <a:t>survient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alors.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136015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latin typeface="Times New Roman"/>
                <a:cs typeface="Times New Roman"/>
              </a:rPr>
              <a:t>Utilisation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collections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Times New Roman"/>
              <a:cs typeface="Times New Roman"/>
            </a:endParaRPr>
          </a:p>
          <a:p>
            <a:pPr marL="553720" marR="416559" indent="-171450">
              <a:lnSpc>
                <a:spcPct val="798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Avant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(la)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manipuler,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prudent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d’effectuer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test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nom_collection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NULL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VARRAY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(ou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une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imbriquée).</a:t>
            </a:r>
            <a:endParaRPr sz="1200">
              <a:latin typeface="Times New Roman"/>
              <a:cs typeface="Times New Roman"/>
            </a:endParaRPr>
          </a:p>
          <a:p>
            <a:pPr marL="553720" marR="462915" indent="-171450">
              <a:lnSpc>
                <a:spcPct val="799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n’est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permis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deux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une </a:t>
            </a:r>
            <a:r>
              <a:rPr sz="1200" dirty="0">
                <a:latin typeface="Times New Roman"/>
                <a:cs typeface="Times New Roman"/>
              </a:rPr>
              <a:t>égalité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inégalité.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conséquent,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ne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apparaître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DISTINCT,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GROUP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ORDER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BY.</a:t>
            </a:r>
            <a:endParaRPr sz="1200">
              <a:latin typeface="Times New Roman"/>
              <a:cs typeface="Times New Roman"/>
            </a:endParaRPr>
          </a:p>
          <a:p>
            <a:pPr marL="553720" marR="400685" indent="-171450">
              <a:lnSpc>
                <a:spcPct val="799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référer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élément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d’une</a:t>
            </a:r>
            <a:r>
              <a:rPr sz="1200" spc="-10" dirty="0">
                <a:latin typeface="Times New Roman"/>
                <a:cs typeface="Times New Roman"/>
              </a:rPr>
              <a:t> collection,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construit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nom_collection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(indice)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; </a:t>
            </a:r>
            <a:r>
              <a:rPr sz="1200" dirty="0">
                <a:latin typeface="Times New Roman"/>
                <a:cs typeface="Times New Roman"/>
              </a:rPr>
              <a:t>noter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l’exception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VALUE_ERROR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surviendra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si </a:t>
            </a:r>
            <a:r>
              <a:rPr sz="1200" dirty="0">
                <a:latin typeface="Times New Roman"/>
                <a:cs typeface="Times New Roman"/>
              </a:rPr>
              <a:t>indice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convertible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INTEGER,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sauf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le </a:t>
            </a:r>
            <a:r>
              <a:rPr sz="1200" dirty="0">
                <a:latin typeface="Times New Roman"/>
                <a:cs typeface="Times New Roman"/>
              </a:rPr>
              <a:t>cas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tableaux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associatifs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l’indice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type </a:t>
            </a:r>
            <a:r>
              <a:rPr sz="1200" spc="-10" dirty="0">
                <a:latin typeface="Times New Roman"/>
                <a:cs typeface="Times New Roman"/>
              </a:rPr>
              <a:t>VARCHAR2.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136015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latin typeface="Times New Roman"/>
                <a:cs typeface="Times New Roman"/>
              </a:rPr>
              <a:t>Utilisation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collections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553720" marR="375285" indent="-171450" algn="just">
              <a:lnSpc>
                <a:spcPct val="898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manipuler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(SELECT,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INSERT,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UPDATE, </a:t>
            </a:r>
            <a:r>
              <a:rPr sz="1200" dirty="0">
                <a:latin typeface="Times New Roman"/>
                <a:cs typeface="Times New Roman"/>
              </a:rPr>
              <a:t>DELETE)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éléments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individuels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20" dirty="0">
                <a:latin typeface="Times New Roman"/>
                <a:cs typeface="Times New Roman"/>
              </a:rPr>
              <a:t> faut </a:t>
            </a:r>
            <a:r>
              <a:rPr sz="1200" dirty="0">
                <a:latin typeface="Times New Roman"/>
                <a:cs typeface="Times New Roman"/>
              </a:rPr>
              <a:t>utiliser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l’opérateur</a:t>
            </a:r>
            <a:r>
              <a:rPr sz="1200" spc="-10" dirty="0">
                <a:latin typeface="Times New Roman"/>
                <a:cs typeface="Times New Roman"/>
              </a:rPr>
              <a:t> TABLE.</a:t>
            </a:r>
            <a:endParaRPr sz="1200">
              <a:latin typeface="Times New Roman"/>
              <a:cs typeface="Times New Roman"/>
            </a:endParaRPr>
          </a:p>
          <a:p>
            <a:pPr marL="553720" marR="487045" indent="-171450" algn="just">
              <a:lnSpc>
                <a:spcPts val="1290"/>
              </a:lnSpc>
              <a:spcBef>
                <a:spcPts val="31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n’est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possible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référer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élément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 </a:t>
            </a:r>
            <a:r>
              <a:rPr sz="1200" spc="-10" dirty="0">
                <a:latin typeface="Times New Roman"/>
                <a:cs typeface="Times New Roman"/>
              </a:rPr>
              <a:t>VARRAY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INSERT,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DELETE,</a:t>
            </a:r>
            <a:r>
              <a:rPr sz="1200" spc="-10" dirty="0">
                <a:latin typeface="Times New Roman"/>
                <a:cs typeface="Times New Roman"/>
              </a:rPr>
              <a:t> présentement.</a:t>
            </a:r>
            <a:endParaRPr sz="1200">
              <a:latin typeface="Times New Roman"/>
              <a:cs typeface="Times New Roman"/>
            </a:endParaRPr>
          </a:p>
          <a:p>
            <a:pPr marL="553720" marR="462280" indent="-171450">
              <a:lnSpc>
                <a:spcPct val="89800"/>
              </a:lnSpc>
              <a:spcBef>
                <a:spcPts val="27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utiliser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énoncé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impératif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sa </a:t>
            </a:r>
            <a:r>
              <a:rPr sz="1200" dirty="0">
                <a:latin typeface="Times New Roman"/>
                <a:cs typeface="Times New Roman"/>
              </a:rPr>
              <a:t>copie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employer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cette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dernière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effectuer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un </a:t>
            </a:r>
            <a:r>
              <a:rPr sz="1200" dirty="0">
                <a:latin typeface="Times New Roman"/>
                <a:cs typeface="Times New Roman"/>
              </a:rPr>
              <a:t>UPDATE dans la base de </a:t>
            </a:r>
            <a:r>
              <a:rPr sz="1200" spc="-10" dirty="0">
                <a:latin typeface="Times New Roman"/>
                <a:cs typeface="Times New Roman"/>
              </a:rPr>
              <a:t>données.</a:t>
            </a:r>
            <a:endParaRPr sz="1200">
              <a:latin typeface="Times New Roman"/>
              <a:cs typeface="Times New Roman"/>
            </a:endParaRPr>
          </a:p>
          <a:p>
            <a:pPr marL="553720" marR="445770" indent="-171450" algn="just">
              <a:lnSpc>
                <a:spcPct val="89800"/>
              </a:lnSpc>
              <a:spcBef>
                <a:spcPts val="29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TABLE(CAST(coll_locale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0" dirty="0">
                <a:latin typeface="Times New Roman"/>
                <a:cs typeface="Times New Roman"/>
              </a:rPr>
              <a:t> SQL_coll_type)) </a:t>
            </a:r>
            <a:r>
              <a:rPr sz="1200" dirty="0">
                <a:latin typeface="Times New Roman"/>
                <a:cs typeface="Times New Roman"/>
              </a:rPr>
              <a:t>permet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manipuler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locale</a:t>
            </a:r>
            <a:r>
              <a:rPr sz="1200" spc="-10" dirty="0">
                <a:latin typeface="Times New Roman"/>
                <a:cs typeface="Times New Roman"/>
              </a:rPr>
              <a:t> comme </a:t>
            </a:r>
            <a:r>
              <a:rPr sz="1200" dirty="0">
                <a:latin typeface="Times New Roman"/>
                <a:cs typeface="Times New Roman"/>
              </a:rPr>
              <a:t>si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était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données.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136015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latin typeface="Times New Roman"/>
                <a:cs typeface="Times New Roman"/>
              </a:rPr>
              <a:t>Utilisation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collections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Times New Roman"/>
              <a:cs typeface="Times New Roman"/>
            </a:endParaRPr>
          </a:p>
          <a:p>
            <a:pPr marL="477520" marR="596265" indent="-171450">
              <a:lnSpc>
                <a:spcPct val="100000"/>
              </a:lnSpc>
              <a:buChar char="•"/>
              <a:tabLst>
                <a:tab pos="478155" algn="l"/>
              </a:tabLst>
            </a:pP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manipuler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à </a:t>
            </a:r>
            <a:r>
              <a:rPr sz="1200" dirty="0">
                <a:latin typeface="Times New Roman"/>
                <a:cs typeface="Times New Roman"/>
              </a:rPr>
              <a:t>l’aide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méthodes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suivantes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678180" lvl="1" indent="-143510">
              <a:lnSpc>
                <a:spcPct val="100000"/>
              </a:lnSpc>
              <a:spcBef>
                <a:spcPts val="235"/>
              </a:spcBef>
              <a:buChar char="–"/>
              <a:tabLst>
                <a:tab pos="678180" algn="l"/>
              </a:tabLst>
            </a:pPr>
            <a:r>
              <a:rPr sz="1000" dirty="0">
                <a:latin typeface="Times New Roman"/>
                <a:cs typeface="Times New Roman"/>
              </a:rPr>
              <a:t>EXISTS(n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INT)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retourne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TRUE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</a:t>
            </a:r>
            <a:r>
              <a:rPr sz="975" baseline="25641" dirty="0">
                <a:latin typeface="Times New Roman"/>
                <a:cs typeface="Times New Roman"/>
              </a:rPr>
              <a:t>e</a:t>
            </a:r>
            <a:r>
              <a:rPr sz="975" spc="97" baseline="25641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élément</a:t>
            </a:r>
            <a:r>
              <a:rPr sz="1000" spc="-10" dirty="0">
                <a:latin typeface="Times New Roman"/>
                <a:cs typeface="Times New Roman"/>
              </a:rPr>
              <a:t> existe.</a:t>
            </a:r>
            <a:endParaRPr sz="1000">
              <a:latin typeface="Times New Roman"/>
              <a:cs typeface="Times New Roman"/>
            </a:endParaRPr>
          </a:p>
          <a:p>
            <a:pPr marL="6781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678180" algn="l"/>
              </a:tabLst>
            </a:pPr>
            <a:r>
              <a:rPr sz="1000" dirty="0">
                <a:latin typeface="Times New Roman"/>
                <a:cs typeface="Times New Roman"/>
              </a:rPr>
              <a:t>COUNT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retourne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nombre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d’éléments.</a:t>
            </a:r>
            <a:endParaRPr sz="1000">
              <a:latin typeface="Times New Roman"/>
              <a:cs typeface="Times New Roman"/>
            </a:endParaRPr>
          </a:p>
          <a:p>
            <a:pPr marL="677545" marR="469265" lvl="1" indent="-143510">
              <a:lnSpc>
                <a:spcPct val="100000"/>
              </a:lnSpc>
              <a:spcBef>
                <a:spcPts val="235"/>
              </a:spcBef>
              <a:buChar char="–"/>
              <a:tabLst>
                <a:tab pos="678180" algn="l"/>
              </a:tabLst>
            </a:pPr>
            <a:r>
              <a:rPr sz="1000" dirty="0">
                <a:latin typeface="Times New Roman"/>
                <a:cs typeface="Times New Roman"/>
              </a:rPr>
              <a:t>LIMIT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retourne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nombre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maximal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d’éléments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d’un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VARRAY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35" dirty="0">
                <a:latin typeface="Times New Roman"/>
                <a:cs typeface="Times New Roman"/>
              </a:rPr>
              <a:t>ou </a:t>
            </a:r>
            <a:r>
              <a:rPr sz="1000" dirty="0">
                <a:latin typeface="Times New Roman"/>
                <a:cs typeface="Times New Roman"/>
              </a:rPr>
              <a:t>NULL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(s’il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s’agit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d’une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table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imbriquée).</a:t>
            </a:r>
            <a:endParaRPr sz="1000">
              <a:latin typeface="Times New Roman"/>
              <a:cs typeface="Times New Roman"/>
            </a:endParaRPr>
          </a:p>
          <a:p>
            <a:pPr marL="6781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678180" algn="l"/>
              </a:tabLst>
            </a:pPr>
            <a:r>
              <a:rPr sz="1000" dirty="0">
                <a:latin typeface="Times New Roman"/>
                <a:cs typeface="Times New Roman"/>
              </a:rPr>
              <a:t>FIRST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LAST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retournent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premier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dernier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indices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ou</a:t>
            </a:r>
            <a:r>
              <a:rPr sz="1000" spc="-10" dirty="0">
                <a:latin typeface="Times New Roman"/>
                <a:cs typeface="Times New Roman"/>
              </a:rPr>
              <a:t> NULL.</a:t>
            </a:r>
            <a:endParaRPr sz="1000">
              <a:latin typeface="Times New Roman"/>
              <a:cs typeface="Times New Roman"/>
            </a:endParaRPr>
          </a:p>
          <a:p>
            <a:pPr marL="677545" marR="772795" lvl="1" indent="-143510">
              <a:lnSpc>
                <a:spcPct val="100000"/>
              </a:lnSpc>
              <a:spcBef>
                <a:spcPts val="234"/>
              </a:spcBef>
              <a:buChar char="–"/>
              <a:tabLst>
                <a:tab pos="678180" algn="l"/>
              </a:tabLst>
            </a:pPr>
            <a:r>
              <a:rPr sz="1000" dirty="0">
                <a:latin typeface="Times New Roman"/>
                <a:cs typeface="Times New Roman"/>
              </a:rPr>
              <a:t>PRIOR(n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INT)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NEXT(n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INT)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retournent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les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indices </a:t>
            </a:r>
            <a:r>
              <a:rPr sz="1000" dirty="0">
                <a:latin typeface="Times New Roman"/>
                <a:cs typeface="Times New Roman"/>
              </a:rPr>
              <a:t>précédant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succédant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l’indice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ou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NULL.</a:t>
            </a:r>
            <a:endParaRPr sz="1000">
              <a:latin typeface="Times New Roman"/>
              <a:cs typeface="Times New Roman"/>
            </a:endParaRPr>
          </a:p>
          <a:p>
            <a:pPr marL="678180" marR="479425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678180" algn="l"/>
              </a:tabLst>
            </a:pPr>
            <a:r>
              <a:rPr sz="1000" dirty="0">
                <a:latin typeface="Times New Roman"/>
                <a:cs typeface="Times New Roman"/>
              </a:rPr>
              <a:t>EXTEND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et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EXTEND(n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INT)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ajoutent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à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collection, </a:t>
            </a:r>
            <a:r>
              <a:rPr sz="1000" dirty="0">
                <a:latin typeface="Times New Roman"/>
                <a:cs typeface="Times New Roman"/>
              </a:rPr>
              <a:t>un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ou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plusieurs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éléments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tous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NULL.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Utilisation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collections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Times New Roman"/>
              <a:cs typeface="Times New Roman"/>
            </a:endParaRPr>
          </a:p>
          <a:p>
            <a:pPr marL="754380" marR="563880" indent="-143510">
              <a:lnSpc>
                <a:spcPts val="1090"/>
              </a:lnSpc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EXTEND(n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INT,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INT)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ajoute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à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collection,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n</a:t>
            </a:r>
            <a:r>
              <a:rPr sz="1000" dirty="0">
                <a:latin typeface="Times New Roman"/>
                <a:cs typeface="Times New Roman"/>
              </a:rPr>
              <a:t> copies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l’élément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i.</a:t>
            </a:r>
            <a:endParaRPr sz="1000">
              <a:latin typeface="Times New Roman"/>
              <a:cs typeface="Times New Roman"/>
            </a:endParaRPr>
          </a:p>
          <a:p>
            <a:pPr marL="754380" marR="471170" indent="-143510">
              <a:lnSpc>
                <a:spcPts val="1090"/>
              </a:lnSpc>
              <a:spcBef>
                <a:spcPts val="220"/>
              </a:spcBef>
              <a:buChar char="–"/>
              <a:tabLst>
                <a:tab pos="755015" algn="l"/>
              </a:tabLst>
            </a:pPr>
            <a:r>
              <a:rPr sz="1000" dirty="0">
                <a:latin typeface="Times New Roman"/>
                <a:cs typeface="Times New Roman"/>
              </a:rPr>
              <a:t>TRIM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TRIM(n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INT)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suppriment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ou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plusieurs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éléments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à</a:t>
            </a:r>
            <a:r>
              <a:rPr sz="1000" dirty="0">
                <a:latin typeface="Times New Roman"/>
                <a:cs typeface="Times New Roman"/>
              </a:rPr>
              <a:t> la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fin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collection.</a:t>
            </a:r>
            <a:endParaRPr sz="1000">
              <a:latin typeface="Times New Roman"/>
              <a:cs typeface="Times New Roman"/>
            </a:endParaRPr>
          </a:p>
          <a:p>
            <a:pPr marL="754380" indent="-144145">
              <a:lnSpc>
                <a:spcPct val="100000"/>
              </a:lnSpc>
              <a:spcBef>
                <a:spcPts val="95"/>
              </a:spcBef>
              <a:buChar char="–"/>
              <a:tabLst>
                <a:tab pos="755015" algn="l"/>
              </a:tabLst>
            </a:pPr>
            <a:r>
              <a:rPr sz="1000" dirty="0">
                <a:latin typeface="Times New Roman"/>
                <a:cs typeface="Times New Roman"/>
              </a:rPr>
              <a:t>DELETE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supprime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tous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éléments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d’une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table.</a:t>
            </a:r>
            <a:endParaRPr sz="1000">
              <a:latin typeface="Times New Roman"/>
              <a:cs typeface="Times New Roman"/>
            </a:endParaRPr>
          </a:p>
          <a:p>
            <a:pPr marL="754380" indent="-144145">
              <a:lnSpc>
                <a:spcPct val="100000"/>
              </a:lnSpc>
              <a:spcBef>
                <a:spcPts val="120"/>
              </a:spcBef>
              <a:buChar char="–"/>
              <a:tabLst>
                <a:tab pos="755015" algn="l"/>
              </a:tabLst>
            </a:pPr>
            <a:r>
              <a:rPr sz="1000" dirty="0">
                <a:latin typeface="Times New Roman"/>
                <a:cs typeface="Times New Roman"/>
              </a:rPr>
              <a:t>DELETE(n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INT)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supprime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l’élément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d’une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table.</a:t>
            </a:r>
            <a:endParaRPr sz="1000">
              <a:latin typeface="Times New Roman"/>
              <a:cs typeface="Times New Roman"/>
            </a:endParaRPr>
          </a:p>
          <a:p>
            <a:pPr marL="754380" indent="-144145">
              <a:lnSpc>
                <a:spcPct val="100000"/>
              </a:lnSpc>
              <a:spcBef>
                <a:spcPts val="120"/>
              </a:spcBef>
              <a:buChar char="–"/>
              <a:tabLst>
                <a:tab pos="755015" algn="l"/>
              </a:tabLst>
            </a:pPr>
            <a:r>
              <a:rPr sz="1000" dirty="0">
                <a:latin typeface="Times New Roman"/>
                <a:cs typeface="Times New Roman"/>
              </a:rPr>
              <a:t>DELETE(m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INT,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INT)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supprime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éléments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à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n.</a:t>
            </a:r>
            <a:endParaRPr sz="1000">
              <a:latin typeface="Times New Roman"/>
              <a:cs typeface="Times New Roman"/>
            </a:endParaRPr>
          </a:p>
          <a:p>
            <a:pPr marL="553720" marR="519430" indent="-171450">
              <a:lnSpc>
                <a:spcPts val="1290"/>
              </a:lnSpc>
              <a:spcBef>
                <a:spcPts val="309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manipulation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causer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erreurs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suivantes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753745" marR="821690" indent="-143510">
              <a:lnSpc>
                <a:spcPts val="1080"/>
              </a:lnSpc>
              <a:spcBef>
                <a:spcPts val="240"/>
              </a:spcBef>
            </a:pPr>
            <a:r>
              <a:rPr sz="1000" dirty="0">
                <a:latin typeface="Times New Roman"/>
                <a:cs typeface="Times New Roman"/>
              </a:rPr>
              <a:t>–</a:t>
            </a:r>
            <a:r>
              <a:rPr sz="1000" spc="3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COLLECTION_IS_NULL,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VALUE_ERROR, SUBSCRIPT_OUTSIDE_LIMIT, </a:t>
            </a:r>
            <a:r>
              <a:rPr sz="1000" dirty="0">
                <a:latin typeface="Times New Roman"/>
                <a:cs typeface="Times New Roman"/>
              </a:rPr>
              <a:t>SUBSCRIPT_BEYOND_COUNT,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NO_DATA_FOUND.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136015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latin typeface="Times New Roman"/>
                <a:cs typeface="Times New Roman"/>
              </a:rPr>
              <a:t>Utilisation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collections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DELETE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s’applique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VARRAY.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14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L’interaction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DELETE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TRIM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complexe.</a:t>
            </a:r>
            <a:endParaRPr sz="1200">
              <a:latin typeface="Times New Roman"/>
              <a:cs typeface="Times New Roman"/>
            </a:endParaRPr>
          </a:p>
          <a:p>
            <a:pPr marL="553720" marR="452120" indent="-171450">
              <a:lnSpc>
                <a:spcPct val="898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préférable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traiter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imbriquées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les </a:t>
            </a:r>
            <a:r>
              <a:rPr sz="1200" dirty="0">
                <a:latin typeface="Times New Roman"/>
                <a:cs typeface="Times New Roman"/>
              </a:rPr>
              <a:t>tableaux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taille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fixe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d’utiliser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seulement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DELETE </a:t>
            </a:r>
            <a:r>
              <a:rPr sz="1200" dirty="0">
                <a:latin typeface="Times New Roman"/>
                <a:cs typeface="Times New Roman"/>
              </a:rPr>
              <a:t>(sans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TRIM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!).</a:t>
            </a:r>
            <a:endParaRPr sz="1200">
              <a:latin typeface="Times New Roman"/>
              <a:cs typeface="Times New Roman"/>
            </a:endParaRPr>
          </a:p>
          <a:p>
            <a:pPr marL="553720" marR="527685" indent="-171450" algn="just">
              <a:lnSpc>
                <a:spcPct val="898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possible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gérer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en </a:t>
            </a:r>
            <a:r>
              <a:rPr sz="1200" dirty="0">
                <a:latin typeface="Times New Roman"/>
                <a:cs typeface="Times New Roman"/>
              </a:rPr>
              <a:t>utilisant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méthodes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EXTEND (pour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PUSH) </a:t>
            </a:r>
            <a:r>
              <a:rPr sz="1200" spc="-25" dirty="0">
                <a:latin typeface="Times New Roman"/>
                <a:cs typeface="Times New Roman"/>
              </a:rPr>
              <a:t>et </a:t>
            </a:r>
            <a:r>
              <a:rPr sz="1200" dirty="0">
                <a:latin typeface="Times New Roman"/>
                <a:cs typeface="Times New Roman"/>
              </a:rPr>
              <a:t>TRIM (pour faire un </a:t>
            </a:r>
            <a:r>
              <a:rPr sz="1200" spc="-10" dirty="0">
                <a:latin typeface="Times New Roman"/>
                <a:cs typeface="Times New Roman"/>
              </a:rPr>
              <a:t>POP).</a:t>
            </a:r>
            <a:endParaRPr sz="1200">
              <a:latin typeface="Times New Roman"/>
              <a:cs typeface="Times New Roman"/>
            </a:endParaRPr>
          </a:p>
          <a:p>
            <a:pPr marL="553720" marR="417830" indent="-171450">
              <a:lnSpc>
                <a:spcPts val="1290"/>
              </a:lnSpc>
              <a:spcBef>
                <a:spcPts val="31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constructeur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acceptent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éléments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d’une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comme</a:t>
            </a:r>
            <a:r>
              <a:rPr sz="1200" spc="-10" dirty="0">
                <a:latin typeface="Times New Roman"/>
                <a:cs typeface="Times New Roman"/>
              </a:rPr>
              <a:t> arguments.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13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s’obtient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constructeur(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).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marL="106489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Fonctions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procédures</a:t>
            </a:r>
            <a:endParaRPr sz="2000">
              <a:latin typeface="Times New Roman"/>
              <a:cs typeface="Times New Roman"/>
            </a:endParaRPr>
          </a:p>
          <a:p>
            <a:pPr marL="553720" marR="664845" indent="-171450">
              <a:lnSpc>
                <a:spcPct val="100000"/>
              </a:lnSpc>
              <a:spcBef>
                <a:spcPts val="185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procédures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sous-programmes </a:t>
            </a:r>
            <a:r>
              <a:rPr sz="1200" dirty="0">
                <a:latin typeface="Times New Roman"/>
                <a:cs typeface="Times New Roman"/>
              </a:rPr>
              <a:t>considérées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nommés.</a:t>
            </a:r>
            <a:endParaRPr sz="1200">
              <a:latin typeface="Times New Roman"/>
              <a:cs typeface="Times New Roman"/>
            </a:endParaRPr>
          </a:p>
          <a:p>
            <a:pPr marL="553720" marR="605790" indent="-171450">
              <a:lnSpc>
                <a:spcPct val="100000"/>
              </a:lnSpc>
              <a:spcBef>
                <a:spcPts val="284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procédures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cataloguées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sous- </a:t>
            </a:r>
            <a:r>
              <a:rPr sz="1200" dirty="0">
                <a:latin typeface="Times New Roman"/>
                <a:cs typeface="Times New Roman"/>
              </a:rPr>
              <a:t>programmes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autonomes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compilés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et </a:t>
            </a:r>
            <a:r>
              <a:rPr sz="1200" dirty="0">
                <a:latin typeface="Times New Roman"/>
                <a:cs typeface="Times New Roman"/>
              </a:rPr>
              <a:t>stockées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dictionnaire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données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l’aide</a:t>
            </a:r>
            <a:r>
              <a:rPr sz="1200" spc="-20" dirty="0">
                <a:latin typeface="Times New Roman"/>
                <a:cs typeface="Times New Roman"/>
              </a:rPr>
              <a:t> d’un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REPLACE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/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PROCEDURE</a:t>
            </a:r>
            <a:endParaRPr sz="1200">
              <a:latin typeface="Times New Roman"/>
              <a:cs typeface="Times New Roman"/>
            </a:endParaRPr>
          </a:p>
          <a:p>
            <a:pPr marL="553720">
              <a:lnSpc>
                <a:spcPts val="1430"/>
              </a:lnSpc>
            </a:pPr>
            <a:r>
              <a:rPr sz="1200" dirty="0">
                <a:latin typeface="Times New Roman"/>
                <a:cs typeface="Times New Roman"/>
              </a:rPr>
              <a:t>souvent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exécuté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dialogue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travers</a:t>
            </a:r>
            <a:r>
              <a:rPr sz="1200" spc="-10" dirty="0">
                <a:latin typeface="Times New Roman"/>
                <a:cs typeface="Times New Roman"/>
              </a:rPr>
              <a:t> SQL*PLUS.</a:t>
            </a:r>
            <a:endParaRPr sz="1200">
              <a:latin typeface="Times New Roman"/>
              <a:cs typeface="Times New Roman"/>
            </a:endParaRPr>
          </a:p>
          <a:p>
            <a:pPr marL="553720" marR="421005" indent="-171450">
              <a:lnSpc>
                <a:spcPct val="1000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procédure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autonome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20" dirty="0">
                <a:latin typeface="Times New Roman"/>
                <a:cs typeface="Times New Roman"/>
              </a:rPr>
              <a:t> être </a:t>
            </a:r>
            <a:r>
              <a:rPr sz="1200" dirty="0">
                <a:latin typeface="Times New Roman"/>
                <a:cs typeface="Times New Roman"/>
              </a:rPr>
              <a:t>déclarée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sous-</a:t>
            </a:r>
            <a:r>
              <a:rPr sz="1200" dirty="0">
                <a:latin typeface="Times New Roman"/>
                <a:cs typeface="Times New Roman"/>
              </a:rPr>
              <a:t>programme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un </a:t>
            </a:r>
            <a:r>
              <a:rPr sz="1200" dirty="0">
                <a:latin typeface="Times New Roman"/>
                <a:cs typeface="Times New Roman"/>
              </a:rPr>
              <a:t>paquetage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utiliser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clause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REPLACE.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marL="106489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Fonctions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procédures</a:t>
            </a:r>
            <a:endParaRPr sz="2000">
              <a:latin typeface="Times New Roman"/>
              <a:cs typeface="Times New Roman"/>
            </a:endParaRPr>
          </a:p>
          <a:p>
            <a:pPr marL="553720" marR="690245" indent="-171450">
              <a:lnSpc>
                <a:spcPct val="100000"/>
              </a:lnSpc>
              <a:spcBef>
                <a:spcPts val="185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déclaration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procédure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alors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se </a:t>
            </a:r>
            <a:r>
              <a:rPr sz="1200" dirty="0">
                <a:latin typeface="Times New Roman"/>
                <a:cs typeface="Times New Roman"/>
              </a:rPr>
              <a:t>trouver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déclaration.</a:t>
            </a:r>
            <a:endParaRPr sz="1200">
              <a:latin typeface="Times New Roman"/>
              <a:cs typeface="Times New Roman"/>
            </a:endParaRPr>
          </a:p>
          <a:p>
            <a:pPr marL="553720" marR="535305" indent="-171450">
              <a:lnSpc>
                <a:spcPct val="100000"/>
              </a:lnSpc>
              <a:spcBef>
                <a:spcPts val="284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définition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déclaration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procédure </a:t>
            </a:r>
            <a:r>
              <a:rPr sz="1200" dirty="0">
                <a:latin typeface="Times New Roman"/>
                <a:cs typeface="Times New Roman"/>
              </a:rPr>
              <a:t>comprend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corps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spécification.</a:t>
            </a:r>
            <a:endParaRPr sz="1200">
              <a:latin typeface="Times New Roman"/>
              <a:cs typeface="Times New Roman"/>
            </a:endParaRPr>
          </a:p>
          <a:p>
            <a:pPr marL="553720" marR="432434" indent="-171450">
              <a:lnSpc>
                <a:spcPct val="100000"/>
              </a:lnSpc>
              <a:spcBef>
                <a:spcPts val="28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procédure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définie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déclarée </a:t>
            </a:r>
            <a:r>
              <a:rPr sz="1200" dirty="0">
                <a:latin typeface="Times New Roman"/>
                <a:cs typeface="Times New Roman"/>
              </a:rPr>
              <a:t>avant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d’être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appelée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 </a:t>
            </a:r>
            <a:r>
              <a:rPr sz="1200" spc="-10" dirty="0">
                <a:latin typeface="Times New Roman"/>
                <a:cs typeface="Times New Roman"/>
              </a:rPr>
              <a:t>procédure.</a:t>
            </a:r>
            <a:endParaRPr sz="1200">
              <a:latin typeface="Times New Roman"/>
              <a:cs typeface="Times New Roman"/>
            </a:endParaRPr>
          </a:p>
          <a:p>
            <a:pPr marL="553720" marR="624205" indent="-171450">
              <a:lnSpc>
                <a:spcPct val="100000"/>
              </a:lnSpc>
              <a:spcBef>
                <a:spcPts val="28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 procédures </a:t>
            </a:r>
            <a:r>
              <a:rPr sz="1200" spc="-10" dirty="0">
                <a:latin typeface="Times New Roman"/>
                <a:cs typeface="Times New Roman"/>
              </a:rPr>
              <a:t>mutuellement </a:t>
            </a:r>
            <a:r>
              <a:rPr sz="1200" dirty="0">
                <a:latin typeface="Times New Roman"/>
                <a:cs typeface="Times New Roman"/>
              </a:rPr>
              <a:t>récursive,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nécessaire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</a:t>
            </a:r>
            <a:r>
              <a:rPr sz="1200" spc="-10" dirty="0">
                <a:latin typeface="Times New Roman"/>
                <a:cs typeface="Times New Roman"/>
              </a:rPr>
              <a:t> mécanisme </a:t>
            </a:r>
            <a:r>
              <a:rPr sz="1200" dirty="0">
                <a:latin typeface="Times New Roman"/>
                <a:cs typeface="Times New Roman"/>
              </a:rPr>
              <a:t>d’annonce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forward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declaration)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donnant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</a:t>
            </a:r>
            <a:r>
              <a:rPr sz="1200" spc="-25" dirty="0">
                <a:latin typeface="Times New Roman"/>
                <a:cs typeface="Times New Roman"/>
              </a:rPr>
              <a:t> la </a:t>
            </a:r>
            <a:r>
              <a:rPr sz="1200" dirty="0">
                <a:latin typeface="Times New Roman"/>
                <a:cs typeface="Times New Roman"/>
              </a:rPr>
              <a:t>spécification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procédure.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marL="106489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Fonctions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procédures</a:t>
            </a:r>
            <a:endParaRPr sz="2000">
              <a:latin typeface="Times New Roman"/>
              <a:cs typeface="Times New Roman"/>
            </a:endParaRPr>
          </a:p>
          <a:p>
            <a:pPr marL="553720" marR="390525" indent="-171450" algn="just">
              <a:lnSpc>
                <a:spcPct val="100000"/>
              </a:lnSpc>
              <a:spcBef>
                <a:spcPts val="185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pouvoir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appelée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cataloguée </a:t>
            </a:r>
            <a:r>
              <a:rPr sz="1200" dirty="0">
                <a:latin typeface="Times New Roman"/>
                <a:cs typeface="Times New Roman"/>
              </a:rPr>
              <a:t>doit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obéir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aux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règles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«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pureté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»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ci-dessous,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à </a:t>
            </a:r>
            <a:r>
              <a:rPr sz="1200" dirty="0">
                <a:latin typeface="Times New Roman"/>
                <a:cs typeface="Times New Roman"/>
              </a:rPr>
              <a:t>contrôler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effets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bord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(side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effects).</a:t>
            </a:r>
            <a:endParaRPr sz="1200">
              <a:latin typeface="Times New Roman"/>
              <a:cs typeface="Times New Roman"/>
            </a:endParaRPr>
          </a:p>
          <a:p>
            <a:pPr marL="553720" marR="432434" indent="-171450">
              <a:lnSpc>
                <a:spcPct val="100000"/>
              </a:lnSpc>
              <a:spcBef>
                <a:spcPts val="27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Si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appelée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INSERT, </a:t>
            </a:r>
            <a:r>
              <a:rPr sz="1200" dirty="0">
                <a:latin typeface="Times New Roman"/>
                <a:cs typeface="Times New Roman"/>
              </a:rPr>
              <a:t>UPDATE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DELETE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rendu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parallèle,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20" dirty="0">
                <a:latin typeface="Times New Roman"/>
                <a:cs typeface="Times New Roman"/>
              </a:rPr>
              <a:t> peut </a:t>
            </a:r>
            <a:r>
              <a:rPr sz="1200" dirty="0">
                <a:latin typeface="Times New Roman"/>
                <a:cs typeface="Times New Roman"/>
              </a:rPr>
              <a:t>modifier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aucune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BD.</a:t>
            </a:r>
            <a:endParaRPr sz="1200">
              <a:latin typeface="Times New Roman"/>
              <a:cs typeface="Times New Roman"/>
            </a:endParaRPr>
          </a:p>
          <a:p>
            <a:pPr marL="553720" marR="382905" indent="-171450">
              <a:lnSpc>
                <a:spcPct val="1000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Si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appelée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INSERT,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ou </a:t>
            </a:r>
            <a:r>
              <a:rPr sz="1200" dirty="0">
                <a:latin typeface="Times New Roman"/>
                <a:cs typeface="Times New Roman"/>
              </a:rPr>
              <a:t>DELETE,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interroger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modifier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aucune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modifiée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cet</a:t>
            </a:r>
            <a:r>
              <a:rPr sz="1200" spc="-10" dirty="0">
                <a:latin typeface="Times New Roman"/>
                <a:cs typeface="Times New Roman"/>
              </a:rPr>
              <a:t> énoncé.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marL="106489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Fonctions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procédures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553720" marR="386080" indent="-171450">
              <a:lnSpc>
                <a:spcPct val="1000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Si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appelée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INSERT,</a:t>
            </a:r>
            <a:r>
              <a:rPr sz="1200" spc="-10" dirty="0">
                <a:latin typeface="Times New Roman"/>
                <a:cs typeface="Times New Roman"/>
              </a:rPr>
              <a:t> UPDATE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DELETE,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exécuter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d’énoncés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de </a:t>
            </a:r>
            <a:r>
              <a:rPr sz="1200" dirty="0">
                <a:latin typeface="Times New Roman"/>
                <a:cs typeface="Times New Roman"/>
              </a:rPr>
              <a:t>contrôle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séance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travail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système. </a:t>
            </a:r>
            <a:r>
              <a:rPr sz="1200" dirty="0">
                <a:latin typeface="Times New Roman"/>
                <a:cs typeface="Times New Roman"/>
              </a:rPr>
              <a:t>Elle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plus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exécuter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d’énoncés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LDD.</a:t>
            </a:r>
            <a:endParaRPr sz="1200">
              <a:latin typeface="Times New Roman"/>
              <a:cs typeface="Times New Roman"/>
            </a:endParaRPr>
          </a:p>
          <a:p>
            <a:pPr marL="553720" marR="523875" indent="-171450">
              <a:lnSpc>
                <a:spcPct val="100000"/>
              </a:lnSpc>
              <a:spcBef>
                <a:spcPts val="27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vérifier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violations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règles,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possible </a:t>
            </a:r>
            <a:r>
              <a:rPr sz="1200" dirty="0">
                <a:latin typeface="Times New Roman"/>
                <a:cs typeface="Times New Roman"/>
              </a:rPr>
              <a:t>d’utiliser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directive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compilateur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(the)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RESTRICT_ </a:t>
            </a:r>
            <a:r>
              <a:rPr sz="1200" dirty="0">
                <a:latin typeface="Times New Roman"/>
                <a:cs typeface="Times New Roman"/>
              </a:rPr>
              <a:t>REFERENCES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(pragma)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assurer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ne </a:t>
            </a:r>
            <a:r>
              <a:rPr sz="1200" dirty="0">
                <a:latin typeface="Times New Roman"/>
                <a:cs typeface="Times New Roman"/>
              </a:rPr>
              <a:t>lit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aucune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(RNDS)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aucune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de </a:t>
            </a:r>
            <a:r>
              <a:rPr sz="1200" dirty="0">
                <a:latin typeface="Times New Roman"/>
                <a:cs typeface="Times New Roman"/>
              </a:rPr>
              <a:t>paquetage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(RNPS),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n’écrit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aucune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BD </a:t>
            </a:r>
            <a:r>
              <a:rPr sz="1200" dirty="0">
                <a:latin typeface="Times New Roman"/>
                <a:cs typeface="Times New Roman"/>
              </a:rPr>
              <a:t>(WNDS) ni aucune variable de paquetage </a:t>
            </a:r>
            <a:r>
              <a:rPr sz="1200" spc="-10" dirty="0">
                <a:latin typeface="Times New Roman"/>
                <a:cs typeface="Times New Roman"/>
              </a:rPr>
              <a:t>(WNPS).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marL="106489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Fonctions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procédures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Mode IN de </a:t>
            </a:r>
            <a:r>
              <a:rPr sz="1200" spc="-10" dirty="0">
                <a:latin typeface="Times New Roman"/>
                <a:cs typeface="Times New Roman"/>
              </a:rPr>
              <a:t>paramètres/arguments</a:t>
            </a:r>
            <a:endParaRPr sz="12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35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Choix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implicite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disponible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Passage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valeur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l’appelant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à</a:t>
            </a:r>
            <a:r>
              <a:rPr sz="1000" spc="-10" dirty="0">
                <a:latin typeface="Times New Roman"/>
                <a:cs typeface="Times New Roman"/>
              </a:rPr>
              <a:t> l’appelé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Sémantique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constante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35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Affectation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valeur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défendue</a:t>
            </a:r>
            <a:endParaRPr sz="1000">
              <a:latin typeface="Times New Roman"/>
              <a:cs typeface="Times New Roman"/>
            </a:endParaRPr>
          </a:p>
          <a:p>
            <a:pPr marL="753745" marR="568325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Argument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constante,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variable</a:t>
            </a:r>
            <a:r>
              <a:rPr sz="1000" spc="-10" dirty="0">
                <a:latin typeface="Times New Roman"/>
                <a:cs typeface="Times New Roman"/>
              </a:rPr>
              <a:t> initialisée, </a:t>
            </a:r>
            <a:r>
              <a:rPr sz="1000" dirty="0">
                <a:latin typeface="Times New Roman"/>
                <a:cs typeface="Times New Roman"/>
              </a:rPr>
              <a:t>un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littéral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ou </a:t>
            </a:r>
            <a:r>
              <a:rPr sz="1000" dirty="0">
                <a:latin typeface="Times New Roman"/>
                <a:cs typeface="Times New Roman"/>
              </a:rPr>
              <a:t>une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expression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34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Passage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’argument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référence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Particularité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possibilité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valeur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initialisée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implicitement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marL="106489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Fonctions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procédures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Mode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 </a:t>
            </a:r>
            <a:r>
              <a:rPr sz="1200" spc="-10" dirty="0">
                <a:latin typeface="Times New Roman"/>
                <a:cs typeface="Times New Roman"/>
              </a:rPr>
              <a:t>paramètres/arguments</a:t>
            </a:r>
            <a:endParaRPr sz="12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35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Choix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implicite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disponible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Passage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valeur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l’appelé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à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l’appelant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Sémantique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variable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locale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35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Affectation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valeur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obligatoire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Argument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variable</a:t>
            </a:r>
            <a:endParaRPr sz="1000">
              <a:latin typeface="Times New Roman"/>
              <a:cs typeface="Times New Roman"/>
            </a:endParaRPr>
          </a:p>
          <a:p>
            <a:pPr marL="753745" marR="430530" lvl="1" indent="-143510">
              <a:lnSpc>
                <a:spcPct val="100000"/>
              </a:lnSpc>
              <a:spcBef>
                <a:spcPts val="234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Passage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d’argument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valeur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sauf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quand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NOCOPY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est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spécifié </a:t>
            </a:r>
            <a:r>
              <a:rPr sz="1000" dirty="0">
                <a:latin typeface="Times New Roman"/>
                <a:cs typeface="Times New Roman"/>
              </a:rPr>
              <a:t>(une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demande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au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compilateur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d’utiliser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passage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référence)</a:t>
            </a:r>
            <a:endParaRPr sz="1000">
              <a:latin typeface="Times New Roman"/>
              <a:cs typeface="Times New Roman"/>
            </a:endParaRPr>
          </a:p>
          <a:p>
            <a:pPr marL="753745" marR="564515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spc="-10" dirty="0">
                <a:latin typeface="Times New Roman"/>
                <a:cs typeface="Times New Roman"/>
              </a:rPr>
              <a:t>Particularités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argument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initialisé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à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NULL,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sans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valeur</a:t>
            </a:r>
            <a:r>
              <a:rPr sz="1000" spc="-10" dirty="0">
                <a:latin typeface="Times New Roman"/>
                <a:cs typeface="Times New Roman"/>
              </a:rPr>
              <a:t> affectée </a:t>
            </a:r>
            <a:r>
              <a:rPr sz="1000" dirty="0">
                <a:latin typeface="Times New Roman"/>
                <a:cs typeface="Times New Roman"/>
              </a:rPr>
              <a:t>dans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d’une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exception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traitée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marL="106489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Fonctions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procédures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Mode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OUT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 </a:t>
            </a:r>
            <a:r>
              <a:rPr sz="1200" spc="-10" dirty="0">
                <a:latin typeface="Times New Roman"/>
                <a:cs typeface="Times New Roman"/>
              </a:rPr>
              <a:t>paramètres/arguments</a:t>
            </a:r>
            <a:endParaRPr sz="12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35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Choix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implicite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disponible</a:t>
            </a:r>
            <a:endParaRPr sz="1000">
              <a:latin typeface="Times New Roman"/>
              <a:cs typeface="Times New Roman"/>
            </a:endParaRPr>
          </a:p>
          <a:p>
            <a:pPr marL="753745" marR="485775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Passage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valeur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l’appelant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à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l’appelé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d’abord,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ensuite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de </a:t>
            </a:r>
            <a:r>
              <a:rPr sz="1000" dirty="0">
                <a:latin typeface="Times New Roman"/>
                <a:cs typeface="Times New Roman"/>
              </a:rPr>
              <a:t>l’appelé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à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l’appelant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Sémantique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variable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initialisée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35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Affectation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valeur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attendue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Argument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variable</a:t>
            </a:r>
            <a:endParaRPr sz="1000">
              <a:latin typeface="Times New Roman"/>
              <a:cs typeface="Times New Roman"/>
            </a:endParaRPr>
          </a:p>
          <a:p>
            <a:pPr marL="753745" marR="430530" lvl="1" indent="-143510">
              <a:lnSpc>
                <a:spcPct val="100000"/>
              </a:lnSpc>
              <a:spcBef>
                <a:spcPts val="234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Passage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d’argument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valeur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sauf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quand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NOCOPY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est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spécifié </a:t>
            </a:r>
            <a:r>
              <a:rPr sz="1000" dirty="0">
                <a:latin typeface="Times New Roman"/>
                <a:cs typeface="Times New Roman"/>
              </a:rPr>
              <a:t>(une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demande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au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compilateur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d’utiliser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passage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référence)</a:t>
            </a:r>
            <a:endParaRPr sz="1000">
              <a:latin typeface="Times New Roman"/>
              <a:cs typeface="Times New Roman"/>
            </a:endParaRPr>
          </a:p>
          <a:p>
            <a:pPr marL="753745" marR="429895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Particularité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sans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valeur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affectée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dans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d’une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exception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non </a:t>
            </a:r>
            <a:r>
              <a:rPr sz="1000" spc="-10" dirty="0">
                <a:latin typeface="Times New Roman"/>
                <a:cs typeface="Times New Roman"/>
              </a:rPr>
              <a:t>traitée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marL="106489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Fonctions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procédures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553720" marR="405130" indent="-171450">
              <a:lnSpc>
                <a:spcPct val="1000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Quand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globale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fournie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argument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sous-programme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 ensuite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référée </a:t>
            </a:r>
            <a:r>
              <a:rPr sz="1200" spc="-20" dirty="0">
                <a:latin typeface="Times New Roman"/>
                <a:cs typeface="Times New Roman"/>
              </a:rPr>
              <a:t>dans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sous-</a:t>
            </a:r>
            <a:r>
              <a:rPr sz="1200" dirty="0">
                <a:latin typeface="Times New Roman"/>
                <a:cs typeface="Times New Roman"/>
              </a:rPr>
              <a:t>programme,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résultat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dépend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méthode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de </a:t>
            </a:r>
            <a:r>
              <a:rPr sz="1200" dirty="0">
                <a:latin typeface="Times New Roman"/>
                <a:cs typeface="Times New Roman"/>
              </a:rPr>
              <a:t>passage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d’arguments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choisie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compilateur.</a:t>
            </a:r>
            <a:endParaRPr sz="1200">
              <a:latin typeface="Times New Roman"/>
              <a:cs typeface="Times New Roman"/>
            </a:endParaRPr>
          </a:p>
          <a:p>
            <a:pPr marL="553720" marR="439420" indent="-171450" algn="just">
              <a:lnSpc>
                <a:spcPct val="100000"/>
              </a:lnSpc>
              <a:spcBef>
                <a:spcPts val="27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même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difficulté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survenir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avec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(&gt;=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2) </a:t>
            </a:r>
            <a:r>
              <a:rPr sz="1200" dirty="0">
                <a:latin typeface="Times New Roman"/>
                <a:cs typeface="Times New Roman"/>
              </a:rPr>
              <a:t>utilisations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même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argument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(variable,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curseur)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dans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sous-programme.</a:t>
            </a:r>
            <a:endParaRPr sz="1200">
              <a:latin typeface="Times New Roman"/>
              <a:cs typeface="Times New Roman"/>
            </a:endParaRPr>
          </a:p>
          <a:p>
            <a:pPr marL="553720" marR="558800" indent="-171450" algn="just">
              <a:lnSpc>
                <a:spcPct val="100000"/>
              </a:lnSpc>
              <a:spcBef>
                <a:spcPts val="28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permis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surcharger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sous-</a:t>
            </a:r>
            <a:r>
              <a:rPr sz="1200" dirty="0">
                <a:latin typeface="Times New Roman"/>
                <a:cs typeface="Times New Roman"/>
              </a:rPr>
              <a:t>programmes</a:t>
            </a:r>
            <a:r>
              <a:rPr sz="1200" spc="-10" dirty="0">
                <a:latin typeface="Times New Roman"/>
                <a:cs typeface="Times New Roman"/>
              </a:rPr>
              <a:t> (locaux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paquetage)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méthodes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TDU).</a:t>
            </a:r>
            <a:endParaRPr sz="1200">
              <a:latin typeface="Times New Roman"/>
              <a:cs typeface="Times New Roman"/>
            </a:endParaRPr>
          </a:p>
          <a:p>
            <a:pPr marL="553720" indent="-172085" algn="just">
              <a:lnSpc>
                <a:spcPct val="1000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manière 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résoudre les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appels </a:t>
            </a:r>
            <a:r>
              <a:rPr sz="1200" spc="-10" dirty="0">
                <a:latin typeface="Times New Roman"/>
                <a:cs typeface="Times New Roman"/>
              </a:rPr>
              <a:t>s’impose.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marL="106489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Fonctions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procédures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553720" marR="467359" indent="-171450" algn="just">
              <a:lnSpc>
                <a:spcPct val="1000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tabulaire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une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rangées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imbriquée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tableau).</a:t>
            </a:r>
            <a:endParaRPr sz="1200">
              <a:latin typeface="Times New Roman"/>
              <a:cs typeface="Times New Roman"/>
            </a:endParaRPr>
          </a:p>
          <a:p>
            <a:pPr marL="553720" marR="711835" indent="-171450" algn="just">
              <a:lnSpc>
                <a:spcPct val="100000"/>
              </a:lnSpc>
              <a:spcBef>
                <a:spcPts val="28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tabulaire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prendre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25" dirty="0">
                <a:latin typeface="Times New Roman"/>
                <a:cs typeface="Times New Roman"/>
              </a:rPr>
              <a:t> de </a:t>
            </a:r>
            <a:r>
              <a:rPr sz="1200" dirty="0">
                <a:latin typeface="Times New Roman"/>
                <a:cs typeface="Times New Roman"/>
              </a:rPr>
              <a:t>rangées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(sous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CURSOR,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VARRAY </a:t>
            </a:r>
            <a:r>
              <a:rPr sz="1200" spc="-25" dirty="0">
                <a:latin typeface="Times New Roman"/>
                <a:cs typeface="Times New Roman"/>
              </a:rPr>
              <a:t>ou </a:t>
            </a:r>
            <a:r>
              <a:rPr sz="1200" dirty="0">
                <a:latin typeface="Times New Roman"/>
                <a:cs typeface="Times New Roman"/>
              </a:rPr>
              <a:t>TABLE)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argument </a:t>
            </a:r>
            <a:r>
              <a:rPr sz="1200" spc="-10" dirty="0">
                <a:latin typeface="Times New Roman"/>
                <a:cs typeface="Times New Roman"/>
              </a:rPr>
              <a:t>d’entrée.</a:t>
            </a:r>
            <a:endParaRPr sz="1200">
              <a:latin typeface="Times New Roman"/>
              <a:cs typeface="Times New Roman"/>
            </a:endParaRPr>
          </a:p>
          <a:p>
            <a:pPr marL="553720" marR="401320" indent="-171450">
              <a:lnSpc>
                <a:spcPct val="100000"/>
              </a:lnSpc>
              <a:spcBef>
                <a:spcPts val="284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L’exécution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tabulaire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rendue </a:t>
            </a:r>
            <a:r>
              <a:rPr sz="1200" dirty="0">
                <a:latin typeface="Times New Roman"/>
                <a:cs typeface="Times New Roman"/>
              </a:rPr>
              <a:t>parallèle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argument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CURSOR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partitions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selon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critères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indiqués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clause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BY.</a:t>
            </a:r>
            <a:endParaRPr sz="1200">
              <a:latin typeface="Times New Roman"/>
              <a:cs typeface="Times New Roman"/>
            </a:endParaRPr>
          </a:p>
          <a:p>
            <a:pPr marL="553720" marR="602615" indent="-171450">
              <a:lnSpc>
                <a:spcPct val="100000"/>
              </a:lnSpc>
              <a:spcBef>
                <a:spcPts val="27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rangées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retournée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fonction </a:t>
            </a:r>
            <a:r>
              <a:rPr sz="1200" dirty="0">
                <a:latin typeface="Times New Roman"/>
                <a:cs typeface="Times New Roman"/>
              </a:rPr>
              <a:t>tabulaire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pipeline.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marL="106489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Fonctions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procédures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Times New Roman"/>
              <a:cs typeface="Times New Roman"/>
            </a:endParaRPr>
          </a:p>
          <a:p>
            <a:pPr marL="553720" marR="374650" indent="-171450">
              <a:lnSpc>
                <a:spcPct val="898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tabulaire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présente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la </a:t>
            </a:r>
            <a:r>
              <a:rPr sz="1200" dirty="0">
                <a:latin typeface="Times New Roman"/>
                <a:cs typeface="Times New Roman"/>
              </a:rPr>
              <a:t>clause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l’aide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TABLE </a:t>
            </a:r>
            <a:r>
              <a:rPr sz="1200" dirty="0">
                <a:latin typeface="Times New Roman"/>
                <a:cs typeface="Times New Roman"/>
              </a:rPr>
              <a:t>(&lt;un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tabulaire&gt;).</a:t>
            </a:r>
            <a:endParaRPr sz="1200">
              <a:latin typeface="Times New Roman"/>
              <a:cs typeface="Times New Roman"/>
            </a:endParaRPr>
          </a:p>
          <a:p>
            <a:pPr marL="553720" marR="474345" indent="-171450">
              <a:lnSpc>
                <a:spcPct val="898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sous-programme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autonome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méthode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peut </a:t>
            </a:r>
            <a:r>
              <a:rPr sz="1200" dirty="0">
                <a:latin typeface="Times New Roman"/>
                <a:cs typeface="Times New Roman"/>
              </a:rPr>
              <a:t>s’exécuter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avec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privilèges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réalisateur </a:t>
            </a:r>
            <a:r>
              <a:rPr sz="1200" spc="-10" dirty="0">
                <a:latin typeface="Times New Roman"/>
                <a:cs typeface="Times New Roman"/>
              </a:rPr>
              <a:t>(definer)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utilisateur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(invoker).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14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sous-</a:t>
            </a:r>
            <a:r>
              <a:rPr sz="1200" dirty="0">
                <a:latin typeface="Times New Roman"/>
                <a:cs typeface="Times New Roman"/>
              </a:rPr>
              <a:t>programme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(mutuellement)</a:t>
            </a:r>
            <a:r>
              <a:rPr sz="1200" spc="-10" dirty="0">
                <a:latin typeface="Times New Roman"/>
                <a:cs typeface="Times New Roman"/>
              </a:rPr>
              <a:t> récursif.</a:t>
            </a:r>
            <a:endParaRPr sz="1200">
              <a:latin typeface="Times New Roman"/>
              <a:cs typeface="Times New Roman"/>
            </a:endParaRPr>
          </a:p>
          <a:p>
            <a:pPr marL="553720" marR="447675" indent="-171450">
              <a:lnSpc>
                <a:spcPts val="1300"/>
              </a:lnSpc>
              <a:spcBef>
                <a:spcPts val="30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 possible d’appeler un </a:t>
            </a:r>
            <a:r>
              <a:rPr sz="1200" spc="-10" dirty="0">
                <a:latin typeface="Times New Roman"/>
                <a:cs typeface="Times New Roman"/>
              </a:rPr>
              <a:t>sous-</a:t>
            </a:r>
            <a:r>
              <a:rPr sz="1200" dirty="0">
                <a:latin typeface="Times New Roman"/>
                <a:cs typeface="Times New Roman"/>
              </a:rPr>
              <a:t>programme externe </a:t>
            </a:r>
            <a:r>
              <a:rPr sz="1200" spc="-10" dirty="0">
                <a:latin typeface="Times New Roman"/>
                <a:cs typeface="Times New Roman"/>
              </a:rPr>
              <a:t>(écrit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langage)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PL/SQL.</a:t>
            </a:r>
            <a:endParaRPr sz="1200">
              <a:latin typeface="Times New Roman"/>
              <a:cs typeface="Times New Roman"/>
            </a:endParaRPr>
          </a:p>
          <a:p>
            <a:pPr marL="553720" marR="410209" indent="-171450">
              <a:lnSpc>
                <a:spcPts val="1300"/>
              </a:lnSpc>
              <a:spcBef>
                <a:spcPts val="27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déclarer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sous-</a:t>
            </a:r>
            <a:r>
              <a:rPr sz="1200" dirty="0">
                <a:latin typeface="Times New Roman"/>
                <a:cs typeface="Times New Roman"/>
              </a:rPr>
              <a:t>programme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externe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moyen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d’un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FUNCTION/PROCEDURE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SQL.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Paquetage</a:t>
            </a:r>
            <a:endParaRPr sz="2000">
              <a:latin typeface="Times New Roman"/>
              <a:cs typeface="Times New Roman"/>
            </a:endParaRPr>
          </a:p>
          <a:p>
            <a:pPr marL="553720" marR="440690" indent="-171450">
              <a:lnSpc>
                <a:spcPct val="100000"/>
              </a:lnSpc>
              <a:spcBef>
                <a:spcPts val="185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paquetages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permettent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rassembler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de </a:t>
            </a:r>
            <a:r>
              <a:rPr sz="1200" dirty="0">
                <a:latin typeface="Times New Roman"/>
                <a:cs typeface="Times New Roman"/>
              </a:rPr>
              <a:t>données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unique.</a:t>
            </a:r>
            <a:endParaRPr sz="1200">
              <a:latin typeface="Times New Roman"/>
              <a:cs typeface="Times New Roman"/>
            </a:endParaRPr>
          </a:p>
          <a:p>
            <a:pPr marL="553720" marR="445134" indent="-171450">
              <a:lnSpc>
                <a:spcPct val="100000"/>
              </a:lnSpc>
              <a:spcBef>
                <a:spcPts val="284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paquetage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constitué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constantes, </a:t>
            </a:r>
            <a:r>
              <a:rPr sz="1200" dirty="0">
                <a:latin typeface="Times New Roman"/>
                <a:cs typeface="Times New Roman"/>
              </a:rPr>
              <a:t>curseurs,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procédures,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exceptions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utiliser.</a:t>
            </a:r>
            <a:endParaRPr sz="1200">
              <a:latin typeface="Times New Roman"/>
              <a:cs typeface="Times New Roman"/>
            </a:endParaRPr>
          </a:p>
          <a:p>
            <a:pPr marL="553720" marR="448945" indent="-171450">
              <a:lnSpc>
                <a:spcPct val="100000"/>
              </a:lnSpc>
              <a:spcBef>
                <a:spcPts val="28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paquetage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deux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partie </a:t>
            </a:r>
            <a:r>
              <a:rPr sz="1200" dirty="0">
                <a:latin typeface="Times New Roman"/>
                <a:cs typeface="Times New Roman"/>
              </a:rPr>
              <a:t>spécification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(l’interface)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corps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(la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réalisation).</a:t>
            </a:r>
            <a:endParaRPr sz="1200">
              <a:latin typeface="Times New Roman"/>
              <a:cs typeface="Times New Roman"/>
            </a:endParaRPr>
          </a:p>
          <a:p>
            <a:pPr marL="553720" marR="422909" indent="-171450">
              <a:lnSpc>
                <a:spcPct val="100000"/>
              </a:lnSpc>
              <a:spcBef>
                <a:spcPts val="28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L’interface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déclaration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composantes </a:t>
            </a:r>
            <a:r>
              <a:rPr sz="1200" dirty="0">
                <a:latin typeface="Times New Roman"/>
                <a:cs typeface="Times New Roman"/>
              </a:rPr>
              <a:t>publiques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définit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l’aide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10" dirty="0">
                <a:latin typeface="Times New Roman"/>
                <a:cs typeface="Times New Roman"/>
              </a:rPr>
              <a:t> PACKAGE.</a:t>
            </a:r>
            <a:endParaRPr sz="1200">
              <a:latin typeface="Times New Roman"/>
              <a:cs typeface="Times New Roman"/>
            </a:endParaRPr>
          </a:p>
          <a:p>
            <a:pPr marL="553720" marR="339090" indent="-171450">
              <a:lnSpc>
                <a:spcPct val="1000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corps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composantes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publiques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privées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se </a:t>
            </a:r>
            <a:r>
              <a:rPr sz="1200" dirty="0">
                <a:latin typeface="Times New Roman"/>
                <a:cs typeface="Times New Roman"/>
              </a:rPr>
              <a:t>définit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l’aide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PACKAGE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BODY.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latin typeface="Times New Roman"/>
                <a:cs typeface="Times New Roman"/>
              </a:rPr>
              <a:t>Paquetage</a:t>
            </a:r>
            <a:endParaRPr sz="2200">
              <a:latin typeface="Times New Roman"/>
              <a:cs typeface="Times New Roman"/>
            </a:endParaRPr>
          </a:p>
          <a:p>
            <a:pPr marL="553720" marR="499745" indent="-171450">
              <a:lnSpc>
                <a:spcPct val="89800"/>
              </a:lnSpc>
              <a:spcBef>
                <a:spcPts val="207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sous-programmes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paquetage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peuvent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s’exécuter </a:t>
            </a:r>
            <a:r>
              <a:rPr sz="1200" dirty="0">
                <a:latin typeface="Times New Roman"/>
                <a:cs typeface="Times New Roman"/>
              </a:rPr>
              <a:t>tous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avec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privilèges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réalisateur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paquetage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ou </a:t>
            </a:r>
            <a:r>
              <a:rPr sz="1200" dirty="0">
                <a:latin typeface="Times New Roman"/>
                <a:cs typeface="Times New Roman"/>
              </a:rPr>
              <a:t>ceux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utilisateur.</a:t>
            </a:r>
            <a:endParaRPr sz="1200">
              <a:latin typeface="Times New Roman"/>
              <a:cs typeface="Times New Roman"/>
            </a:endParaRPr>
          </a:p>
          <a:p>
            <a:pPr marL="553720" marR="504825" indent="-171450">
              <a:lnSpc>
                <a:spcPct val="899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curseurs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paquetage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persistent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pour </a:t>
            </a:r>
            <a:r>
              <a:rPr sz="1200" dirty="0">
                <a:latin typeface="Times New Roman"/>
                <a:cs typeface="Times New Roman"/>
              </a:rPr>
              <a:t>toute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durée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séance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travail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session)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;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des </a:t>
            </a:r>
            <a:r>
              <a:rPr sz="1200" dirty="0">
                <a:latin typeface="Times New Roman"/>
                <a:cs typeface="Times New Roman"/>
              </a:rPr>
              <a:t>données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peuvent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maintenues,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égard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aux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frontières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avoir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stocker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BD.</a:t>
            </a:r>
            <a:endParaRPr sz="1200">
              <a:latin typeface="Times New Roman"/>
              <a:cs typeface="Times New Roman"/>
            </a:endParaRPr>
          </a:p>
          <a:p>
            <a:pPr marL="553720" marR="721995" indent="-171450">
              <a:lnSpc>
                <a:spcPts val="1300"/>
              </a:lnSpc>
              <a:spcBef>
                <a:spcPts val="29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Seuls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sous-programmes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curseurs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ont </a:t>
            </a:r>
            <a:r>
              <a:rPr sz="1200" spc="-25" dirty="0">
                <a:latin typeface="Times New Roman"/>
                <a:cs typeface="Times New Roman"/>
              </a:rPr>
              <a:t>une </a:t>
            </a:r>
            <a:r>
              <a:rPr sz="1200" dirty="0">
                <a:latin typeface="Times New Roman"/>
                <a:cs typeface="Times New Roman"/>
              </a:rPr>
              <a:t>implantation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sous-</a:t>
            </a:r>
            <a:r>
              <a:rPr sz="1200" dirty="0">
                <a:latin typeface="Times New Roman"/>
                <a:cs typeface="Times New Roman"/>
              </a:rPr>
              <a:t>jacente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corps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paquetage.</a:t>
            </a:r>
            <a:endParaRPr sz="1200">
              <a:latin typeface="Times New Roman"/>
              <a:cs typeface="Times New Roman"/>
            </a:endParaRPr>
          </a:p>
          <a:p>
            <a:pPr marL="553720" marR="1021080" indent="-171450">
              <a:lnSpc>
                <a:spcPts val="1300"/>
              </a:lnSpc>
              <a:spcBef>
                <a:spcPts val="27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pointée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utilisée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référer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des </a:t>
            </a:r>
            <a:r>
              <a:rPr sz="1200" dirty="0">
                <a:latin typeface="Times New Roman"/>
                <a:cs typeface="Times New Roman"/>
              </a:rPr>
              <a:t>composantes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paquetage.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latin typeface="Times New Roman"/>
                <a:cs typeface="Times New Roman"/>
              </a:rPr>
              <a:t>Paquetage</a:t>
            </a:r>
            <a:endParaRPr sz="2200">
              <a:latin typeface="Times New Roman"/>
              <a:cs typeface="Times New Roman"/>
            </a:endParaRPr>
          </a:p>
          <a:p>
            <a:pPr marL="553720" marR="833119" indent="-171450">
              <a:lnSpc>
                <a:spcPts val="1290"/>
              </a:lnSpc>
              <a:spcBef>
                <a:spcPts val="20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paquetage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STANDARD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définit</a:t>
            </a:r>
            <a:r>
              <a:rPr sz="1200" spc="-10" dirty="0">
                <a:latin typeface="Times New Roman"/>
                <a:cs typeface="Times New Roman"/>
              </a:rPr>
              <a:t> l’environnement PL/SQL.</a:t>
            </a:r>
            <a:endParaRPr sz="1200">
              <a:latin typeface="Times New Roman"/>
              <a:cs typeface="Times New Roman"/>
            </a:endParaRPr>
          </a:p>
          <a:p>
            <a:pPr marL="553720" marR="511175" indent="-171450">
              <a:lnSpc>
                <a:spcPts val="13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paquetages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spécifiques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fournis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Oracle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ses </a:t>
            </a:r>
            <a:r>
              <a:rPr sz="1200" dirty="0">
                <a:latin typeface="Times New Roman"/>
                <a:cs typeface="Times New Roman"/>
              </a:rPr>
              <a:t>outils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construire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10" dirty="0">
                <a:latin typeface="Times New Roman"/>
                <a:cs typeface="Times New Roman"/>
              </a:rPr>
              <a:t> PL/SQL.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114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citer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753745" marR="593090" lvl="1" indent="-143510">
              <a:lnSpc>
                <a:spcPts val="1080"/>
              </a:lnSpc>
              <a:spcBef>
                <a:spcPts val="259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DBMS_ALERT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pour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alerter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application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quand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valeurs </a:t>
            </a:r>
            <a:r>
              <a:rPr sz="1000" dirty="0">
                <a:latin typeface="Times New Roman"/>
                <a:cs typeface="Times New Roman"/>
              </a:rPr>
              <a:t>spécifiques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BD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changent,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10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DBMS_OUTPUT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pour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afficher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résultats,</a:t>
            </a:r>
            <a:endParaRPr sz="1000">
              <a:latin typeface="Times New Roman"/>
              <a:cs typeface="Times New Roman"/>
            </a:endParaRPr>
          </a:p>
          <a:p>
            <a:pPr marL="753745" marR="375920" lvl="1" indent="-143510">
              <a:lnSpc>
                <a:spcPts val="1080"/>
              </a:lnSpc>
              <a:spcBef>
                <a:spcPts val="259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DBMS_PIPE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pour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communication </a:t>
            </a:r>
            <a:r>
              <a:rPr sz="1000" dirty="0">
                <a:latin typeface="Times New Roman"/>
                <a:cs typeface="Times New Roman"/>
              </a:rPr>
              <a:t>entre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séances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à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travers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un </a:t>
            </a:r>
            <a:r>
              <a:rPr sz="1000" dirty="0">
                <a:latin typeface="Times New Roman"/>
                <a:cs typeface="Times New Roman"/>
              </a:rPr>
              <a:t>tube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nommé,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10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UTL_FILE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pour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lire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écrire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fichiers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texte,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12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UTL_HTTP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pour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faire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appels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HTTP.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Paquetage</a:t>
            </a:r>
            <a:endParaRPr sz="20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185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Paquetage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DBMS_OUTPUT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753745" marR="736600" lvl="1" indent="-143510">
              <a:lnSpc>
                <a:spcPct val="100000"/>
              </a:lnSpc>
              <a:spcBef>
                <a:spcPts val="235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PROCEDURE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DBMS_OUTPUT.ENABLE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(buffer_size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IN </a:t>
            </a:r>
            <a:r>
              <a:rPr sz="1000" dirty="0">
                <a:latin typeface="Times New Roman"/>
                <a:cs typeface="Times New Roman"/>
              </a:rPr>
              <a:t>INTEGER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DEFAULT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2000);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PROCEDURE </a:t>
            </a:r>
            <a:r>
              <a:rPr sz="1000" spc="-10" dirty="0">
                <a:latin typeface="Times New Roman"/>
                <a:cs typeface="Times New Roman"/>
              </a:rPr>
              <a:t>DBMS_OUTPUT.NEW_LINE;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PROCEDURE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DBMS_OUTPUT.PUT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(A</a:t>
            </a:r>
            <a:r>
              <a:rPr sz="1000" spc="-10" dirty="0">
                <a:latin typeface="Times New Roman"/>
                <a:cs typeface="Times New Roman"/>
              </a:rPr>
              <a:t> VARCHAR2);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35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PROCEDURE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DBMS_OUTPUT.PUT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(A</a:t>
            </a:r>
            <a:r>
              <a:rPr sz="1000" spc="-10" dirty="0">
                <a:latin typeface="Times New Roman"/>
                <a:cs typeface="Times New Roman"/>
              </a:rPr>
              <a:t> NUMBER);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PROCEDURE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DBMS_OUTPUT.PUT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(A</a:t>
            </a:r>
            <a:r>
              <a:rPr sz="1000" spc="-10" dirty="0">
                <a:latin typeface="Times New Roman"/>
                <a:cs typeface="Times New Roman"/>
              </a:rPr>
              <a:t> DATE);</a:t>
            </a:r>
            <a:endParaRPr sz="1000">
              <a:latin typeface="Times New Roman"/>
              <a:cs typeface="Times New Roman"/>
            </a:endParaRPr>
          </a:p>
          <a:p>
            <a:pPr marL="754380" lvl="1" indent="-144145">
              <a:lnSpc>
                <a:spcPct val="100000"/>
              </a:lnSpc>
              <a:spcBef>
                <a:spcPts val="235"/>
              </a:spcBef>
              <a:buChar char="–"/>
              <a:tabLst>
                <a:tab pos="755015" algn="l"/>
              </a:tabLst>
            </a:pPr>
            <a:r>
              <a:rPr sz="1000" dirty="0">
                <a:latin typeface="Times New Roman"/>
                <a:cs typeface="Times New Roman"/>
              </a:rPr>
              <a:t>PROCEDURE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DBMS_OUTPUT.PUT_LINE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(A</a:t>
            </a:r>
            <a:r>
              <a:rPr sz="1000" spc="-10" dirty="0">
                <a:latin typeface="Times New Roman"/>
                <a:cs typeface="Times New Roman"/>
              </a:rPr>
              <a:t> VARCHAR2);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PROCEDURE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DBMS_OUTPUT.PUT_LINE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(A</a:t>
            </a:r>
            <a:r>
              <a:rPr sz="1000" spc="-10" dirty="0">
                <a:latin typeface="Times New Roman"/>
                <a:cs typeface="Times New Roman"/>
              </a:rPr>
              <a:t> NUMBER);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35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PROCEDURE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DBMS_OUTPUT.PUT_LINE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(A</a:t>
            </a:r>
            <a:r>
              <a:rPr sz="1000" spc="-10" dirty="0">
                <a:latin typeface="Times New Roman"/>
                <a:cs typeface="Times New Roman"/>
              </a:rPr>
              <a:t> DATE);</a:t>
            </a:r>
            <a:endParaRPr sz="1000">
              <a:latin typeface="Times New Roman"/>
              <a:cs typeface="Times New Roman"/>
            </a:endParaRPr>
          </a:p>
          <a:p>
            <a:pPr marL="754380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PROCEDURE </a:t>
            </a:r>
            <a:r>
              <a:rPr sz="1000" spc="-10" dirty="0">
                <a:latin typeface="Times New Roman"/>
                <a:cs typeface="Times New Roman"/>
              </a:rPr>
              <a:t>DBMS_OUTPUT.DISABLE;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Paquetage</a:t>
            </a:r>
            <a:endParaRPr sz="20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185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Paquetage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DBMS_OUTPUT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(continuation)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753745" marR="890269" lvl="1" indent="-143510">
              <a:lnSpc>
                <a:spcPct val="100000"/>
              </a:lnSpc>
              <a:spcBef>
                <a:spcPts val="235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PROCEDURE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DBMS_OUTPUT.GET_LINE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(line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OUT </a:t>
            </a:r>
            <a:r>
              <a:rPr sz="1000" dirty="0">
                <a:latin typeface="Times New Roman"/>
                <a:cs typeface="Times New Roman"/>
              </a:rPr>
              <a:t>VARCHAR2,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status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OUT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INTEGER);</a:t>
            </a:r>
            <a:endParaRPr sz="1000">
              <a:latin typeface="Times New Roman"/>
              <a:cs typeface="Times New Roman"/>
            </a:endParaRPr>
          </a:p>
          <a:p>
            <a:pPr marL="753745" marR="771525" lvl="1" indent="-143510">
              <a:lnSpc>
                <a:spcPct val="100000"/>
              </a:lnSpc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PROCEDURE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DBMS_OUTPUT.GET_LINES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(lines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OUT </a:t>
            </a:r>
            <a:r>
              <a:rPr sz="1000" dirty="0">
                <a:latin typeface="Times New Roman"/>
                <a:cs typeface="Times New Roman"/>
              </a:rPr>
              <a:t>CHARARR,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numlines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OUT </a:t>
            </a:r>
            <a:r>
              <a:rPr sz="1000" spc="-10" dirty="0">
                <a:latin typeface="Times New Roman"/>
                <a:cs typeface="Times New Roman"/>
              </a:rPr>
              <a:t>INTEGER);</a:t>
            </a:r>
            <a:endParaRPr sz="1000">
              <a:latin typeface="Times New Roman"/>
              <a:cs typeface="Times New Roman"/>
            </a:endParaRPr>
          </a:p>
          <a:p>
            <a:pPr marL="553720" marR="555625" indent="-171450">
              <a:lnSpc>
                <a:spcPct val="100000"/>
              </a:lnSpc>
              <a:spcBef>
                <a:spcPts val="28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paquetage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DBMS_OUTPUT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permet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d’afficher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de </a:t>
            </a:r>
            <a:r>
              <a:rPr sz="1200" dirty="0">
                <a:latin typeface="Times New Roman"/>
                <a:cs typeface="Times New Roman"/>
              </a:rPr>
              <a:t>l’information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terminal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session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travers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tampon </a:t>
            </a:r>
            <a:r>
              <a:rPr sz="1200" dirty="0">
                <a:latin typeface="Times New Roman"/>
                <a:cs typeface="Times New Roman"/>
              </a:rPr>
              <a:t>lors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l’exécution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programme </a:t>
            </a:r>
            <a:r>
              <a:rPr sz="1200" spc="-10" dirty="0">
                <a:latin typeface="Times New Roman"/>
                <a:cs typeface="Times New Roman"/>
              </a:rPr>
              <a:t>PL/SQL.</a:t>
            </a:r>
            <a:endParaRPr sz="1200">
              <a:latin typeface="Times New Roman"/>
              <a:cs typeface="Times New Roman"/>
            </a:endParaRPr>
          </a:p>
          <a:p>
            <a:pPr marL="553720" marR="490855" indent="-171450">
              <a:lnSpc>
                <a:spcPct val="1000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C’est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seul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moyen facilement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accessible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déboguer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programme</a:t>
            </a:r>
            <a:r>
              <a:rPr sz="1200" spc="-10" dirty="0">
                <a:latin typeface="Times New Roman"/>
                <a:cs typeface="Times New Roman"/>
              </a:rPr>
              <a:t> PL/SQL.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28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SERVEROUTPUT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latin typeface="Times New Roman"/>
                <a:cs typeface="Times New Roman"/>
              </a:rPr>
              <a:t>Paquetage</a:t>
            </a:r>
            <a:endParaRPr sz="2200">
              <a:latin typeface="Times New Roman"/>
              <a:cs typeface="Times New Roman"/>
            </a:endParaRPr>
          </a:p>
          <a:p>
            <a:pPr marL="553720" marR="600075" indent="-171450">
              <a:lnSpc>
                <a:spcPct val="89900"/>
              </a:lnSpc>
              <a:spcBef>
                <a:spcPts val="207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avantages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catalogués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des </a:t>
            </a:r>
            <a:r>
              <a:rPr sz="1200" dirty="0">
                <a:latin typeface="Times New Roman"/>
                <a:cs typeface="Times New Roman"/>
              </a:rPr>
              <a:t>paquetages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couvrent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plusieurs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aspects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SGBD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la </a:t>
            </a:r>
            <a:r>
              <a:rPr sz="1200" dirty="0">
                <a:latin typeface="Times New Roman"/>
                <a:cs typeface="Times New Roman"/>
              </a:rPr>
              <a:t>sécurité,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l’intégrité,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productivité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la </a:t>
            </a:r>
            <a:r>
              <a:rPr sz="1200" spc="-10" dirty="0">
                <a:latin typeface="Times New Roman"/>
                <a:cs typeface="Times New Roman"/>
              </a:rPr>
              <a:t>maintenance.</a:t>
            </a:r>
            <a:endParaRPr sz="1200">
              <a:latin typeface="Times New Roman"/>
              <a:cs typeface="Times New Roman"/>
            </a:endParaRPr>
          </a:p>
          <a:p>
            <a:pPr marL="553720" marR="454659" indent="-171450">
              <a:lnSpc>
                <a:spcPct val="89900"/>
              </a:lnSpc>
              <a:spcBef>
                <a:spcPts val="28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L’appel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aux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sous-programmes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(autonomes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catalogués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ou </a:t>
            </a:r>
            <a:r>
              <a:rPr sz="1200" dirty="0">
                <a:latin typeface="Times New Roman"/>
                <a:cs typeface="Times New Roman"/>
              </a:rPr>
              <a:t>mis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paquetage)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l’interface</a:t>
            </a:r>
            <a:r>
              <a:rPr sz="1200" spc="-10" dirty="0">
                <a:latin typeface="Times New Roman"/>
                <a:cs typeface="Times New Roman"/>
              </a:rPr>
              <a:t> interactive </a:t>
            </a:r>
            <a:r>
              <a:rPr sz="1200" dirty="0">
                <a:latin typeface="Times New Roman"/>
                <a:cs typeface="Times New Roman"/>
              </a:rPr>
              <a:t>SQL*PLUS,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un </a:t>
            </a:r>
            <a:r>
              <a:rPr sz="1200" dirty="0">
                <a:latin typeface="Times New Roman"/>
                <a:cs typeface="Times New Roman"/>
              </a:rPr>
              <a:t>programme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avec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l’interface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Pro*C,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etc.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Écrire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paquetages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aussi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général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possible.</a:t>
            </a:r>
            <a:endParaRPr sz="1200">
              <a:latin typeface="Times New Roman"/>
              <a:cs typeface="Times New Roman"/>
            </a:endParaRPr>
          </a:p>
          <a:p>
            <a:pPr marL="553720" marR="686435" indent="-171450">
              <a:lnSpc>
                <a:spcPts val="1300"/>
              </a:lnSpc>
              <a:spcBef>
                <a:spcPts val="30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Garder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spécification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paquetage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aussi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petite</a:t>
            </a:r>
            <a:r>
              <a:rPr sz="1200" spc="-25" dirty="0">
                <a:latin typeface="Times New Roman"/>
                <a:cs typeface="Times New Roman"/>
              </a:rPr>
              <a:t> que </a:t>
            </a:r>
            <a:r>
              <a:rPr sz="1200" spc="-10" dirty="0">
                <a:latin typeface="Times New Roman"/>
                <a:cs typeface="Times New Roman"/>
              </a:rPr>
              <a:t>possible.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Réalisation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déclencheurs</a:t>
            </a:r>
            <a:endParaRPr sz="2200">
              <a:latin typeface="Times New Roman"/>
              <a:cs typeface="Times New Roman"/>
            </a:endParaRPr>
          </a:p>
          <a:p>
            <a:pPr marL="553720" marR="483234" indent="-171450">
              <a:lnSpc>
                <a:spcPct val="79900"/>
              </a:lnSpc>
              <a:spcBef>
                <a:spcPts val="20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déclencheurs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(triggers)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introduisent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aspect </a:t>
            </a:r>
            <a:r>
              <a:rPr sz="1200" dirty="0">
                <a:latin typeface="Times New Roman"/>
                <a:cs typeface="Times New Roman"/>
              </a:rPr>
              <a:t>dynamique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données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ils</a:t>
            </a:r>
            <a:r>
              <a:rPr sz="1200" spc="-10" dirty="0">
                <a:latin typeface="Times New Roman"/>
                <a:cs typeface="Times New Roman"/>
              </a:rPr>
              <a:t> lancent </a:t>
            </a:r>
            <a:r>
              <a:rPr sz="1200" dirty="0">
                <a:latin typeface="Times New Roman"/>
                <a:cs typeface="Times New Roman"/>
              </a:rPr>
              <a:t>l’exécution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programme </a:t>
            </a:r>
            <a:r>
              <a:rPr sz="1200" spc="-10" dirty="0">
                <a:latin typeface="Times New Roman"/>
                <a:cs typeface="Times New Roman"/>
              </a:rPr>
              <a:t>automatiquement </a:t>
            </a:r>
            <a:r>
              <a:rPr sz="1200" dirty="0">
                <a:latin typeface="Times New Roman"/>
                <a:cs typeface="Times New Roman"/>
              </a:rPr>
              <a:t>quand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quelque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chose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survient.</a:t>
            </a:r>
            <a:endParaRPr sz="1200">
              <a:latin typeface="Times New Roman"/>
              <a:cs typeface="Times New Roman"/>
            </a:endParaRPr>
          </a:p>
          <a:p>
            <a:pPr marL="553720" marR="483870" indent="-171450">
              <a:lnSpc>
                <a:spcPct val="799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déclencheur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procédure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stockée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la </a:t>
            </a:r>
            <a:r>
              <a:rPr sz="1200" dirty="0">
                <a:latin typeface="Times New Roman"/>
                <a:cs typeface="Times New Roman"/>
              </a:rPr>
              <a:t>base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données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exécutée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(ou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déclenchée)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réponse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à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activités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particulières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INSERT,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UPDATE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DELETE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effectuer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table.</a:t>
            </a:r>
            <a:endParaRPr sz="1200">
              <a:latin typeface="Times New Roman"/>
              <a:cs typeface="Times New Roman"/>
            </a:endParaRPr>
          </a:p>
          <a:p>
            <a:pPr marL="553720" marR="412750" indent="-171450">
              <a:lnSpc>
                <a:spcPct val="798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mécanisme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déclencheur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activités </a:t>
            </a:r>
            <a:r>
              <a:rPr sz="1200" dirty="0">
                <a:latin typeface="Times New Roman"/>
                <a:cs typeface="Times New Roman"/>
              </a:rPr>
              <a:t>associées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celle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vue,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au </a:t>
            </a: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données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l’usage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0" dirty="0">
                <a:latin typeface="Times New Roman"/>
                <a:cs typeface="Times New Roman"/>
              </a:rPr>
              <a:t> schéma.</a:t>
            </a:r>
            <a:endParaRPr sz="1200">
              <a:latin typeface="Times New Roman"/>
              <a:cs typeface="Times New Roman"/>
            </a:endParaRPr>
          </a:p>
          <a:p>
            <a:pPr marL="553720" marR="892175" indent="-171450">
              <a:lnSpc>
                <a:spcPct val="800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L’activité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causant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l’exécution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déclencheur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est </a:t>
            </a:r>
            <a:r>
              <a:rPr sz="1200" dirty="0">
                <a:latin typeface="Times New Roman"/>
                <a:cs typeface="Times New Roman"/>
              </a:rPr>
              <a:t>associée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énoncé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(SQL)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déclencheur.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Réalisation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déclencheurs</a:t>
            </a:r>
            <a:endParaRPr sz="2200">
              <a:latin typeface="Times New Roman"/>
              <a:cs typeface="Times New Roman"/>
            </a:endParaRPr>
          </a:p>
          <a:p>
            <a:pPr marL="553720" marR="419734" indent="-171450">
              <a:lnSpc>
                <a:spcPct val="79800"/>
              </a:lnSpc>
              <a:spcBef>
                <a:spcPts val="209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déclencheur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créé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remplacé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(avec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CREATE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REPLACE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TRIGGER),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supprimé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(avec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DROP </a:t>
            </a:r>
            <a:r>
              <a:rPr sz="1200" dirty="0">
                <a:latin typeface="Times New Roman"/>
                <a:cs typeface="Times New Roman"/>
              </a:rPr>
              <a:t>TRIGGER),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activé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désactivé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avec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ALTER</a:t>
            </a:r>
            <a:r>
              <a:rPr sz="1200" spc="-10" dirty="0">
                <a:latin typeface="Times New Roman"/>
                <a:cs typeface="Times New Roman"/>
              </a:rPr>
              <a:t> TRIGGER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directives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DISABLE)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habituellement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contexte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outil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interactif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(SQL*Plus,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par </a:t>
            </a:r>
            <a:r>
              <a:rPr sz="1200" spc="-10" dirty="0">
                <a:latin typeface="Times New Roman"/>
                <a:cs typeface="Times New Roman"/>
              </a:rPr>
              <a:t>exemple).</a:t>
            </a:r>
            <a:endParaRPr sz="1200">
              <a:latin typeface="Times New Roman"/>
              <a:cs typeface="Times New Roman"/>
            </a:endParaRPr>
          </a:p>
          <a:p>
            <a:pPr marL="553720" marR="382270" indent="-171450">
              <a:lnSpc>
                <a:spcPct val="798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définition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déclencheur,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faut </a:t>
            </a:r>
            <a:r>
              <a:rPr sz="1200" spc="-10" dirty="0">
                <a:latin typeface="Times New Roman"/>
                <a:cs typeface="Times New Roman"/>
              </a:rPr>
              <a:t>préciser </a:t>
            </a:r>
            <a:r>
              <a:rPr sz="1200" dirty="0">
                <a:latin typeface="Times New Roman"/>
                <a:cs typeface="Times New Roman"/>
              </a:rPr>
              <a:t>l’énoncé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déclencheur,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moment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d’exécution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(BEFORE, </a:t>
            </a:r>
            <a:r>
              <a:rPr sz="1200" dirty="0">
                <a:latin typeface="Times New Roman"/>
                <a:cs typeface="Times New Roman"/>
              </a:rPr>
              <a:t>AFTER,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INSTEAD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OF),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d’exécution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(FOR</a:t>
            </a:r>
            <a:r>
              <a:rPr sz="1200" spc="5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ROW),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condition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d’exécution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(WHEN),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etc.</a:t>
            </a:r>
            <a:r>
              <a:rPr sz="1200" spc="5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ainsi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traitement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effectuer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(constituant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corps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sous </a:t>
            </a:r>
            <a:r>
              <a:rPr sz="1200" dirty="0">
                <a:latin typeface="Times New Roman"/>
                <a:cs typeface="Times New Roman"/>
              </a:rPr>
              <a:t>forme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 bloc </a:t>
            </a:r>
            <a:r>
              <a:rPr sz="1200" spc="-10" dirty="0">
                <a:latin typeface="Times New Roman"/>
                <a:cs typeface="Times New Roman"/>
              </a:rPr>
              <a:t>PL/SQL).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Réalisation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déclencheurs</a:t>
            </a:r>
            <a:endParaRPr sz="2200">
              <a:latin typeface="Times New Roman"/>
              <a:cs typeface="Times New Roman"/>
            </a:endParaRPr>
          </a:p>
          <a:p>
            <a:pPr marL="553720" marR="840105" indent="-171450">
              <a:lnSpc>
                <a:spcPct val="79800"/>
              </a:lnSpc>
              <a:spcBef>
                <a:spcPts val="209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corps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exécuté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avant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(BEFORE),</a:t>
            </a:r>
            <a:r>
              <a:rPr sz="1200" spc="-10" dirty="0">
                <a:latin typeface="Times New Roman"/>
                <a:cs typeface="Times New Roman"/>
              </a:rPr>
              <a:t> après </a:t>
            </a:r>
            <a:r>
              <a:rPr sz="1200" dirty="0">
                <a:latin typeface="Times New Roman"/>
                <a:cs typeface="Times New Roman"/>
              </a:rPr>
              <a:t>(AFTER)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 à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 place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 (INSTEAD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OF) </a:t>
            </a:r>
            <a:r>
              <a:rPr sz="1200" spc="-10" dirty="0">
                <a:latin typeface="Times New Roman"/>
                <a:cs typeface="Times New Roman"/>
              </a:rPr>
              <a:t>l’énoncé déclencheur.</a:t>
            </a:r>
            <a:endParaRPr sz="1200">
              <a:latin typeface="Times New Roman"/>
              <a:cs typeface="Times New Roman"/>
            </a:endParaRPr>
          </a:p>
          <a:p>
            <a:pPr marL="553720" marR="480059" indent="-171450">
              <a:lnSpc>
                <a:spcPct val="799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exécuté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chaque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(avec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ROW)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affectée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l’énoncé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déclencheur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seule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toutes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lignes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affectées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ce </a:t>
            </a:r>
            <a:r>
              <a:rPr sz="1200" dirty="0">
                <a:latin typeface="Times New Roman"/>
                <a:cs typeface="Times New Roman"/>
              </a:rPr>
              <a:t>dernier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(sans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ROW).</a:t>
            </a:r>
            <a:endParaRPr sz="1200">
              <a:latin typeface="Times New Roman"/>
              <a:cs typeface="Times New Roman"/>
            </a:endParaRPr>
          </a:p>
          <a:p>
            <a:pPr marL="553720" marR="424815" indent="-171450">
              <a:lnSpc>
                <a:spcPts val="1150"/>
              </a:lnSpc>
              <a:spcBef>
                <a:spcPts val="27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distingue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déclencheurs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(avec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ROW)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déclencheurs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énoncé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(sans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ROW).</a:t>
            </a:r>
            <a:endParaRPr sz="1200">
              <a:latin typeface="Times New Roman"/>
              <a:cs typeface="Times New Roman"/>
            </a:endParaRPr>
          </a:p>
          <a:p>
            <a:pPr marL="553720" marR="537845" indent="-171450" algn="just">
              <a:lnSpc>
                <a:spcPts val="115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traitement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associé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affectée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nécessiter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versions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ancienne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nouvelle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(désignées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et </a:t>
            </a:r>
            <a:r>
              <a:rPr sz="1200" dirty="0">
                <a:latin typeface="Times New Roman"/>
                <a:cs typeface="Times New Roman"/>
              </a:rPr>
              <a:t>NEW) 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celle-</a:t>
            </a:r>
            <a:r>
              <a:rPr sz="1200" spc="-25" dirty="0">
                <a:latin typeface="Times New Roman"/>
                <a:cs typeface="Times New Roman"/>
              </a:rPr>
              <a:t>ci.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Réalisation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déclencheurs</a:t>
            </a:r>
            <a:endParaRPr sz="2200">
              <a:latin typeface="Times New Roman"/>
              <a:cs typeface="Times New Roman"/>
            </a:endParaRPr>
          </a:p>
          <a:p>
            <a:pPr marL="553720" marR="440690" indent="-171450">
              <a:lnSpc>
                <a:spcPct val="79800"/>
              </a:lnSpc>
              <a:spcBef>
                <a:spcPts val="209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traitement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associé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toutes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lignes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affectées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peut </a:t>
            </a:r>
            <a:r>
              <a:rPr sz="1200" dirty="0">
                <a:latin typeface="Times New Roman"/>
                <a:cs typeface="Times New Roman"/>
              </a:rPr>
              <a:t>nécessiter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versions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ancienne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nouvelle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(désignées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par </a:t>
            </a:r>
            <a:r>
              <a:rPr sz="1200" dirty="0">
                <a:latin typeface="Times New Roman"/>
                <a:cs typeface="Times New Roman"/>
              </a:rPr>
              <a:t>OLD_TABLE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NEW_TABLE)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celles-</a:t>
            </a:r>
            <a:r>
              <a:rPr sz="1200" spc="-25" dirty="0">
                <a:latin typeface="Times New Roman"/>
                <a:cs typeface="Times New Roman"/>
              </a:rPr>
              <a:t>ci.</a:t>
            </a:r>
            <a:endParaRPr sz="1200">
              <a:latin typeface="Times New Roman"/>
              <a:cs typeface="Times New Roman"/>
            </a:endParaRPr>
          </a:p>
          <a:p>
            <a:pPr marL="553720" marR="524510" indent="-171450">
              <a:lnSpc>
                <a:spcPct val="796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:NEW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:OLD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doivent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utilisés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l’intérieur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corps </a:t>
            </a:r>
            <a:r>
              <a:rPr sz="1200" dirty="0">
                <a:latin typeface="Times New Roman"/>
                <a:cs typeface="Times New Roman"/>
              </a:rPr>
              <a:t>du </a:t>
            </a:r>
            <a:r>
              <a:rPr sz="1200" spc="-10" dirty="0">
                <a:latin typeface="Times New Roman"/>
                <a:cs typeface="Times New Roman"/>
              </a:rPr>
              <a:t>déclencheur.</a:t>
            </a:r>
            <a:endParaRPr sz="1200">
              <a:latin typeface="Times New Roman"/>
              <a:cs typeface="Times New Roman"/>
            </a:endParaRPr>
          </a:p>
          <a:p>
            <a:pPr marL="553720" marR="391795" indent="-171450">
              <a:lnSpc>
                <a:spcPct val="79800"/>
              </a:lnSpc>
              <a:spcBef>
                <a:spcPts val="29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doivent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utilisés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condition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d’une </a:t>
            </a:r>
            <a:r>
              <a:rPr sz="1200" dirty="0">
                <a:latin typeface="Times New Roman"/>
                <a:cs typeface="Times New Roman"/>
              </a:rPr>
              <a:t>clause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l’option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REFERENCING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nom_1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nom_2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(pour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résoudre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conflit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nom).</a:t>
            </a:r>
            <a:endParaRPr sz="1200">
              <a:latin typeface="Times New Roman"/>
              <a:cs typeface="Times New Roman"/>
            </a:endParaRPr>
          </a:p>
          <a:p>
            <a:pPr marL="553720" marR="568325" indent="-171450">
              <a:lnSpc>
                <a:spcPct val="800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mêmes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règles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s’appliquent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aussi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aux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deux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symboles </a:t>
            </a:r>
            <a:r>
              <a:rPr sz="1200" dirty="0">
                <a:latin typeface="Times New Roman"/>
                <a:cs typeface="Times New Roman"/>
              </a:rPr>
              <a:t>OLD_TABLE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NEW_TABLE.</a:t>
            </a:r>
            <a:endParaRPr sz="1200">
              <a:latin typeface="Times New Roman"/>
              <a:cs typeface="Times New Roman"/>
            </a:endParaRPr>
          </a:p>
          <a:p>
            <a:pPr marL="553720" marR="421005" indent="-171450">
              <a:lnSpc>
                <a:spcPct val="80000"/>
              </a:lnSpc>
              <a:spcBef>
                <a:spcPts val="284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possible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regrouper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programmation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différents </a:t>
            </a:r>
            <a:r>
              <a:rPr sz="1200" dirty="0">
                <a:latin typeface="Times New Roman"/>
                <a:cs typeface="Times New Roman"/>
              </a:rPr>
              <a:t>déclencheurs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associés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même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table.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Réalisation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déclencheurs</a:t>
            </a:r>
            <a:endParaRPr sz="2200">
              <a:latin typeface="Times New Roman"/>
              <a:cs typeface="Times New Roman"/>
            </a:endParaRPr>
          </a:p>
          <a:p>
            <a:pPr marL="553720" marR="553720" indent="-171450">
              <a:lnSpc>
                <a:spcPct val="79800"/>
              </a:lnSpc>
              <a:spcBef>
                <a:spcPts val="209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prédicats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INSERTING,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DELETING </a:t>
            </a:r>
            <a:r>
              <a:rPr sz="1200" dirty="0">
                <a:latin typeface="Times New Roman"/>
                <a:cs typeface="Times New Roman"/>
              </a:rPr>
              <a:t>permettent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dissocier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traitements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</a:t>
            </a:r>
            <a:r>
              <a:rPr sz="1200" spc="-25" dirty="0">
                <a:latin typeface="Times New Roman"/>
                <a:cs typeface="Times New Roman"/>
              </a:rPr>
              <a:t> de </a:t>
            </a:r>
            <a:r>
              <a:rPr sz="1200" dirty="0">
                <a:latin typeface="Times New Roman"/>
                <a:cs typeface="Times New Roman"/>
              </a:rPr>
              <a:t>l’événement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réveille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 mécanisme.</a:t>
            </a:r>
            <a:endParaRPr sz="1200">
              <a:latin typeface="Times New Roman"/>
              <a:cs typeface="Times New Roman"/>
            </a:endParaRPr>
          </a:p>
          <a:p>
            <a:pPr marL="553720" marR="427355" indent="-171450">
              <a:lnSpc>
                <a:spcPct val="796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corps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déclencheur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contenir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énoncés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du </a:t>
            </a:r>
            <a:r>
              <a:rPr sz="1200" dirty="0">
                <a:latin typeface="Times New Roman"/>
                <a:cs typeface="Times New Roman"/>
              </a:rPr>
              <a:t>LMD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(DELETE,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INSERT,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UPDATE),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il</a:t>
            </a:r>
            <a:endParaRPr sz="1200">
              <a:latin typeface="Times New Roman"/>
              <a:cs typeface="Times New Roman"/>
            </a:endParaRPr>
          </a:p>
          <a:p>
            <a:pPr marL="553720" marR="535305">
              <a:lnSpc>
                <a:spcPct val="798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contenir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énoncés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LDD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(ALTER,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DROP)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énoncés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contrôle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de </a:t>
            </a:r>
            <a:r>
              <a:rPr sz="1200" dirty="0">
                <a:latin typeface="Times New Roman"/>
                <a:cs typeface="Times New Roman"/>
              </a:rPr>
              <a:t>transactions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(COMMIT,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ROLLBACK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0" dirty="0">
                <a:latin typeface="Times New Roman"/>
                <a:cs typeface="Times New Roman"/>
              </a:rPr>
              <a:t> SAVEPOINT).</a:t>
            </a:r>
            <a:endParaRPr sz="1200">
              <a:latin typeface="Times New Roman"/>
              <a:cs typeface="Times New Roman"/>
            </a:endParaRPr>
          </a:p>
          <a:p>
            <a:pPr marL="553720" marR="407034" indent="-171450">
              <a:lnSpc>
                <a:spcPct val="799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déclencheur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INSTEAD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permet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l’insertion,</a:t>
            </a:r>
            <a:r>
              <a:rPr sz="1200" spc="-25" dirty="0">
                <a:latin typeface="Times New Roman"/>
                <a:cs typeface="Times New Roman"/>
              </a:rPr>
              <a:t> la </a:t>
            </a:r>
            <a:r>
              <a:rPr sz="1200" dirty="0">
                <a:latin typeface="Times New Roman"/>
                <a:cs typeface="Times New Roman"/>
              </a:rPr>
              <a:t>modification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suppression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lignes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objet </a:t>
            </a:r>
            <a:r>
              <a:rPr sz="1200" dirty="0">
                <a:latin typeface="Times New Roman"/>
                <a:cs typeface="Times New Roman"/>
              </a:rPr>
              <a:t>relationnelle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basée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plusieurs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programmant </a:t>
            </a:r>
            <a:r>
              <a:rPr sz="1200" dirty="0">
                <a:latin typeface="Times New Roman"/>
                <a:cs typeface="Times New Roman"/>
              </a:rPr>
              <a:t>avec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 opérations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vues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sous-jacentes.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750">
              <a:latin typeface="Times New Roman"/>
              <a:cs typeface="Times New Roman"/>
            </a:endParaRPr>
          </a:p>
          <a:p>
            <a:pPr marL="72009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Réalisation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déclencheurs</a:t>
            </a:r>
            <a:endParaRPr sz="2200">
              <a:latin typeface="Times New Roman"/>
              <a:cs typeface="Times New Roman"/>
            </a:endParaRPr>
          </a:p>
          <a:p>
            <a:pPr marL="553720" marR="688975" indent="-171450">
              <a:lnSpc>
                <a:spcPts val="1290"/>
              </a:lnSpc>
              <a:spcBef>
                <a:spcPts val="20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L’exécution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corps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déclencheur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INSTEAD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remplace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celle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l’énoncé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déclencheur.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spcBef>
                <a:spcPts val="12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mutante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table</a:t>
            </a:r>
            <a:endParaRPr sz="1200">
              <a:latin typeface="Times New Roman"/>
              <a:cs typeface="Times New Roman"/>
            </a:endParaRPr>
          </a:p>
          <a:p>
            <a:pPr marL="754380" lvl="1" indent="-143510">
              <a:lnSpc>
                <a:spcPts val="1140"/>
              </a:lnSpc>
              <a:spcBef>
                <a:spcPts val="125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qui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est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actuellement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modifiée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énoncé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DELETE</a:t>
            </a:r>
            <a:r>
              <a:rPr sz="1000" spc="-10" dirty="0">
                <a:latin typeface="Times New Roman"/>
                <a:cs typeface="Times New Roman"/>
              </a:rPr>
              <a:t> (INSERT,</a:t>
            </a:r>
            <a:endParaRPr sz="1000">
              <a:latin typeface="Times New Roman"/>
              <a:cs typeface="Times New Roman"/>
            </a:endParaRPr>
          </a:p>
          <a:p>
            <a:pPr marL="753745">
              <a:lnSpc>
                <a:spcPts val="1140"/>
              </a:lnSpc>
            </a:pPr>
            <a:r>
              <a:rPr sz="1000" dirty="0">
                <a:latin typeface="Times New Roman"/>
                <a:cs typeface="Times New Roman"/>
              </a:rPr>
              <a:t>UPDATE)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ou</a:t>
            </a:r>
            <a:endParaRPr sz="1000">
              <a:latin typeface="Times New Roman"/>
              <a:cs typeface="Times New Roman"/>
            </a:endParaRPr>
          </a:p>
          <a:p>
            <a:pPr marL="753745" marR="446405" lvl="1" indent="-143510">
              <a:lnSpc>
                <a:spcPts val="1080"/>
              </a:lnSpc>
              <a:spcBef>
                <a:spcPts val="254"/>
              </a:spcBef>
              <a:buChar char="–"/>
              <a:tabLst>
                <a:tab pos="754380" algn="l"/>
              </a:tabLst>
            </a:pPr>
            <a:r>
              <a:rPr sz="1000" dirty="0">
                <a:latin typeface="Times New Roman"/>
                <a:cs typeface="Times New Roman"/>
              </a:rPr>
              <a:t>qui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pourrait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être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modifiée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effets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d’une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contrainte</a:t>
            </a:r>
            <a:r>
              <a:rPr sz="1000" spc="-10" dirty="0">
                <a:latin typeface="Times New Roman"/>
                <a:cs typeface="Times New Roman"/>
              </a:rPr>
              <a:t> DELETE CASCADE.</a:t>
            </a:r>
            <a:endParaRPr sz="1000">
              <a:latin typeface="Times New Roman"/>
              <a:cs typeface="Times New Roman"/>
            </a:endParaRPr>
          </a:p>
          <a:p>
            <a:pPr marL="553720" marR="474980" indent="-171450">
              <a:lnSpc>
                <a:spcPts val="1290"/>
              </a:lnSpc>
              <a:spcBef>
                <a:spcPts val="29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séance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travail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comprend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l’énoncé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déclencheur </a:t>
            </a: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interroger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modifier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10" dirty="0">
                <a:latin typeface="Times New Roman"/>
                <a:cs typeface="Times New Roman"/>
              </a:rPr>
              <a:t> mutante.</a:t>
            </a:r>
            <a:endParaRPr sz="1200">
              <a:latin typeface="Times New Roman"/>
              <a:cs typeface="Times New Roman"/>
            </a:endParaRPr>
          </a:p>
          <a:p>
            <a:pPr marL="553720" marR="534035" indent="-171450">
              <a:lnSpc>
                <a:spcPts val="129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vues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d’être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modifiée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 </a:t>
            </a:r>
            <a:r>
              <a:rPr sz="1200" spc="-10" dirty="0">
                <a:latin typeface="Times New Roman"/>
                <a:cs typeface="Times New Roman"/>
              </a:rPr>
              <a:t>déclencheurs </a:t>
            </a:r>
            <a:r>
              <a:rPr sz="1200" dirty="0">
                <a:latin typeface="Times New Roman"/>
                <a:cs typeface="Times New Roman"/>
              </a:rPr>
              <a:t>INSTEAD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considérées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mutantes.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Réalisation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déclencheurs</a:t>
            </a:r>
            <a:endParaRPr sz="2000">
              <a:latin typeface="Times New Roman"/>
              <a:cs typeface="Times New Roman"/>
            </a:endParaRPr>
          </a:p>
          <a:p>
            <a:pPr marL="553720" marR="533400" indent="-171450">
              <a:lnSpc>
                <a:spcPct val="80000"/>
              </a:lnSpc>
              <a:spcBef>
                <a:spcPts val="191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L’option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INSTEAD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utilisée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les </a:t>
            </a:r>
            <a:r>
              <a:rPr sz="1200" dirty="0">
                <a:latin typeface="Times New Roman"/>
                <a:cs typeface="Times New Roman"/>
              </a:rPr>
              <a:t>déclencheurs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créés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vue.</a:t>
            </a:r>
            <a:endParaRPr sz="1200">
              <a:latin typeface="Times New Roman"/>
              <a:cs typeface="Times New Roman"/>
            </a:endParaRPr>
          </a:p>
          <a:p>
            <a:pPr marL="553720" marR="790575" indent="-171450">
              <a:lnSpc>
                <a:spcPts val="1150"/>
              </a:lnSpc>
              <a:spcBef>
                <a:spcPts val="27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options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BEFORE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AFTER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peuvent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être </a:t>
            </a:r>
            <a:r>
              <a:rPr sz="1200" dirty="0">
                <a:latin typeface="Times New Roman"/>
                <a:cs typeface="Times New Roman"/>
              </a:rPr>
              <a:t>utilisées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déclencheurs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créés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0" dirty="0">
                <a:latin typeface="Times New Roman"/>
                <a:cs typeface="Times New Roman"/>
              </a:rPr>
              <a:t> vue.</a:t>
            </a:r>
            <a:endParaRPr sz="1200">
              <a:latin typeface="Times New Roman"/>
              <a:cs typeface="Times New Roman"/>
            </a:endParaRPr>
          </a:p>
          <a:p>
            <a:pPr marL="553720" marR="408940" indent="-171450">
              <a:lnSpc>
                <a:spcPts val="115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corps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déclencheur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INSTEAD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doit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assurer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le </a:t>
            </a:r>
            <a:r>
              <a:rPr sz="1200" dirty="0">
                <a:latin typeface="Times New Roman"/>
                <a:cs typeface="Times New Roman"/>
              </a:rPr>
              <a:t>renforcement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contrainte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l’option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CHECK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déclarée </a:t>
            </a:r>
            <a:r>
              <a:rPr sz="1200" dirty="0">
                <a:latin typeface="Times New Roman"/>
                <a:cs typeface="Times New Roman"/>
              </a:rPr>
              <a:t>dans le CREATE VIEW</a:t>
            </a:r>
            <a:r>
              <a:rPr sz="1200" spc="-10" dirty="0">
                <a:latin typeface="Times New Roman"/>
                <a:cs typeface="Times New Roman"/>
              </a:rPr>
              <a:t> associé.</a:t>
            </a:r>
            <a:endParaRPr sz="1200">
              <a:latin typeface="Times New Roman"/>
              <a:cs typeface="Times New Roman"/>
            </a:endParaRPr>
          </a:p>
          <a:p>
            <a:pPr marL="553720" marR="373380" indent="-171450">
              <a:lnSpc>
                <a:spcPct val="79900"/>
              </a:lnSpc>
              <a:spcBef>
                <a:spcPts val="30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Applications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déclencheurs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audit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évolué,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œuvre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règles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d’affaires,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autorisation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sécurité,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intégrité </a:t>
            </a:r>
            <a:r>
              <a:rPr sz="1200" dirty="0">
                <a:latin typeface="Times New Roman"/>
                <a:cs typeface="Times New Roman"/>
              </a:rPr>
              <a:t>référentielle,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données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transactions,</a:t>
            </a:r>
            <a:r>
              <a:rPr sz="1200" spc="5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calcul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valeurs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dérivées,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vues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complexes, </a:t>
            </a:r>
            <a:r>
              <a:rPr sz="1200" dirty="0">
                <a:latin typeface="Times New Roman"/>
                <a:cs typeface="Times New Roman"/>
              </a:rPr>
              <a:t>suivi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journaux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d’opérations,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etc.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latin typeface="Times New Roman"/>
                <a:cs typeface="Times New Roman"/>
              </a:rPr>
              <a:t>Aspects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objet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439420" marR="351790" indent="-171450">
              <a:lnSpc>
                <a:spcPts val="1290"/>
              </a:lnSpc>
              <a:buChar char="•"/>
              <a:tabLst>
                <a:tab pos="440055" algn="l"/>
              </a:tabLst>
            </a:pP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TDU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utilisé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désigner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TDU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qui </a:t>
            </a:r>
            <a:r>
              <a:rPr sz="1200" dirty="0">
                <a:latin typeface="Times New Roman"/>
                <a:cs typeface="Times New Roman"/>
              </a:rPr>
              <a:t>sert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d’objets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BD.</a:t>
            </a:r>
            <a:endParaRPr sz="1200">
              <a:latin typeface="Times New Roman"/>
              <a:cs typeface="Times New Roman"/>
            </a:endParaRPr>
          </a:p>
          <a:p>
            <a:pPr marL="439420" marR="525145" indent="-171450">
              <a:lnSpc>
                <a:spcPts val="1300"/>
              </a:lnSpc>
              <a:spcBef>
                <a:spcPts val="285"/>
              </a:spcBef>
              <a:buChar char="•"/>
              <a:tabLst>
                <a:tab pos="4400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persistant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(stocké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BD)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d’une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d’objets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instance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TDU</a:t>
            </a:r>
            <a:r>
              <a:rPr sz="1200" spc="-10" dirty="0">
                <a:latin typeface="Times New Roman"/>
                <a:cs typeface="Times New Roman"/>
              </a:rPr>
              <a:t> objet.</a:t>
            </a:r>
            <a:endParaRPr sz="1200">
              <a:latin typeface="Times New Roman"/>
              <a:cs typeface="Times New Roman"/>
            </a:endParaRPr>
          </a:p>
          <a:p>
            <a:pPr marL="439420" marR="455295" indent="-171450">
              <a:lnSpc>
                <a:spcPct val="89800"/>
              </a:lnSpc>
              <a:spcBef>
                <a:spcPts val="260"/>
              </a:spcBef>
              <a:buChar char="•"/>
              <a:tabLst>
                <a:tab pos="440055" algn="l"/>
              </a:tabLst>
            </a:pP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instance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TDU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n’est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nécessairement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un </a:t>
            </a:r>
            <a:r>
              <a:rPr sz="1200" dirty="0">
                <a:latin typeface="Times New Roman"/>
                <a:cs typeface="Times New Roman"/>
              </a:rPr>
              <a:t>objet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persistant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PL/SQL </a:t>
            </a:r>
            <a:r>
              <a:rPr sz="1200" dirty="0">
                <a:latin typeface="Times New Roman"/>
                <a:cs typeface="Times New Roman"/>
              </a:rPr>
              <a:t>locale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adéquatement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typée.</a:t>
            </a:r>
            <a:endParaRPr sz="1200">
              <a:latin typeface="Times New Roman"/>
              <a:cs typeface="Times New Roman"/>
            </a:endParaRPr>
          </a:p>
          <a:p>
            <a:pPr marL="439420" marR="487045" indent="-171450">
              <a:lnSpc>
                <a:spcPts val="1300"/>
              </a:lnSpc>
              <a:spcBef>
                <a:spcPts val="305"/>
              </a:spcBef>
              <a:buChar char="•"/>
              <a:tabLst>
                <a:tab pos="440055" algn="l"/>
              </a:tabLst>
            </a:pPr>
            <a:r>
              <a:rPr sz="1200" dirty="0">
                <a:latin typeface="Times New Roman"/>
                <a:cs typeface="Times New Roman"/>
              </a:rPr>
              <a:t>Elle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n’a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alors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aucun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OID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associé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pointée </a:t>
            </a:r>
            <a:r>
              <a:rPr sz="1200" dirty="0">
                <a:latin typeface="Times New Roman"/>
                <a:cs typeface="Times New Roman"/>
              </a:rPr>
              <a:t>par un </a:t>
            </a:r>
            <a:r>
              <a:rPr sz="1200" spc="-20" dirty="0">
                <a:latin typeface="Times New Roman"/>
                <a:cs typeface="Times New Roman"/>
              </a:rPr>
              <a:t>REF.</a:t>
            </a:r>
            <a:endParaRPr sz="1200">
              <a:latin typeface="Times New Roman"/>
              <a:cs typeface="Times New Roman"/>
            </a:endParaRPr>
          </a:p>
          <a:p>
            <a:pPr marL="439420" marR="349885" indent="-171450">
              <a:lnSpc>
                <a:spcPts val="1300"/>
              </a:lnSpc>
              <a:spcBef>
                <a:spcPts val="275"/>
              </a:spcBef>
              <a:buChar char="•"/>
              <a:tabLst>
                <a:tab pos="440055" algn="l"/>
              </a:tabLst>
            </a:pP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très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contenir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vers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persistant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(une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d’objets).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latin typeface="Times New Roman"/>
                <a:cs typeface="Times New Roman"/>
              </a:rPr>
              <a:t>Aspects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objet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439420" marR="364490" indent="-171450">
              <a:lnSpc>
                <a:spcPct val="79800"/>
              </a:lnSpc>
              <a:spcBef>
                <a:spcPts val="5"/>
              </a:spcBef>
              <a:buChar char="•"/>
              <a:tabLst>
                <a:tab pos="4400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persistant,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étant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donné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OID,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pointé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par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référence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pointeur)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déclarée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avec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modificateur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de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modifier)</a:t>
            </a:r>
            <a:r>
              <a:rPr sz="1200" spc="-20" dirty="0">
                <a:latin typeface="Times New Roman"/>
                <a:cs typeface="Times New Roman"/>
              </a:rPr>
              <a:t> REF.</a:t>
            </a:r>
            <a:endParaRPr sz="1200">
              <a:latin typeface="Times New Roman"/>
              <a:cs typeface="Times New Roman"/>
            </a:endParaRPr>
          </a:p>
          <a:p>
            <a:pPr marL="439420" marR="365125" indent="-171450">
              <a:lnSpc>
                <a:spcPct val="79800"/>
              </a:lnSpc>
              <a:spcBef>
                <a:spcPts val="290"/>
              </a:spcBef>
              <a:buChar char="•"/>
              <a:tabLst>
                <a:tab pos="440055" algn="l"/>
              </a:tabLst>
            </a:pP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association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binaire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deux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persistants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B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souvent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représentée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référence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(attribut </a:t>
            </a:r>
            <a:r>
              <a:rPr sz="1200" dirty="0">
                <a:latin typeface="Times New Roman"/>
                <a:cs typeface="Times New Roman"/>
              </a:rPr>
              <a:t>toB)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référence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(attribut</a:t>
            </a:r>
            <a:r>
              <a:rPr sz="1200" spc="-10" dirty="0">
                <a:latin typeface="Times New Roman"/>
                <a:cs typeface="Times New Roman"/>
              </a:rPr>
              <a:t> toA).</a:t>
            </a:r>
            <a:endParaRPr sz="1200">
              <a:latin typeface="Times New Roman"/>
              <a:cs typeface="Times New Roman"/>
            </a:endParaRPr>
          </a:p>
          <a:p>
            <a:pPr marL="439420" marR="488950" indent="-171450">
              <a:lnSpc>
                <a:spcPct val="79800"/>
              </a:lnSpc>
              <a:spcBef>
                <a:spcPts val="290"/>
              </a:spcBef>
              <a:buChar char="•"/>
              <a:tabLst>
                <a:tab pos="440055" algn="l"/>
              </a:tabLst>
            </a:pP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manifeste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pointée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les </a:t>
            </a:r>
            <a:r>
              <a:rPr sz="1200" dirty="0">
                <a:latin typeface="Times New Roman"/>
                <a:cs typeface="Times New Roman"/>
              </a:rPr>
              <a:t>formes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«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A.toB.attr_B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»,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«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B.toA.attr_A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»,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etc.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un </a:t>
            </a:r>
            <a:r>
              <a:rPr sz="1200" dirty="0">
                <a:latin typeface="Times New Roman"/>
                <a:cs typeface="Times New Roman"/>
              </a:rPr>
              <a:t>énoncé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LMD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SQL.</a:t>
            </a:r>
            <a:endParaRPr sz="1200">
              <a:latin typeface="Times New Roman"/>
              <a:cs typeface="Times New Roman"/>
            </a:endParaRPr>
          </a:p>
          <a:p>
            <a:pPr marL="439420" marR="330200" indent="-171450">
              <a:lnSpc>
                <a:spcPct val="79800"/>
              </a:lnSpc>
              <a:spcBef>
                <a:spcPts val="290"/>
              </a:spcBef>
              <a:buChar char="•"/>
              <a:tabLst>
                <a:tab pos="440055" algn="l"/>
              </a:tabLst>
            </a:pPr>
            <a:r>
              <a:rPr sz="1200" dirty="0">
                <a:latin typeface="Times New Roman"/>
                <a:cs typeface="Times New Roman"/>
              </a:rPr>
              <a:t>Si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copie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non </a:t>
            </a:r>
            <a:r>
              <a:rPr sz="1200" dirty="0">
                <a:latin typeface="Times New Roman"/>
                <a:cs typeface="Times New Roman"/>
              </a:rPr>
              <a:t>persistante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s’applique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toB </a:t>
            </a:r>
            <a:r>
              <a:rPr sz="1200" dirty="0">
                <a:latin typeface="Times New Roman"/>
                <a:cs typeface="Times New Roman"/>
              </a:rPr>
              <a:t>contenu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n’est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permis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d’écrire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«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vA.toB.attr_B</a:t>
            </a:r>
            <a:endParaRPr sz="1200">
              <a:latin typeface="Times New Roman"/>
              <a:cs typeface="Times New Roman"/>
            </a:endParaRPr>
          </a:p>
          <a:p>
            <a:pPr marL="439420">
              <a:lnSpc>
                <a:spcPts val="1150"/>
              </a:lnSpc>
            </a:pPr>
            <a:r>
              <a:rPr sz="1200" dirty="0">
                <a:latin typeface="Times New Roman"/>
                <a:cs typeface="Times New Roman"/>
              </a:rPr>
              <a:t>»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énoncé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procédurale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(PL)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PL/SQL.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latin typeface="Times New Roman"/>
                <a:cs typeface="Times New Roman"/>
              </a:rPr>
              <a:t>Aspects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objet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439420" marR="370205" indent="-171450">
              <a:lnSpc>
                <a:spcPct val="79900"/>
              </a:lnSpc>
              <a:buChar char="•"/>
              <a:tabLst>
                <a:tab pos="440055" algn="l"/>
              </a:tabLst>
            </a:pPr>
            <a:r>
              <a:rPr sz="1200" dirty="0">
                <a:latin typeface="Times New Roman"/>
                <a:cs typeface="Times New Roman"/>
              </a:rPr>
              <a:t>Afin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manipuler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l’objet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pointé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vA.toB,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il </a:t>
            </a:r>
            <a:r>
              <a:rPr sz="1200" dirty="0">
                <a:latin typeface="Times New Roman"/>
                <a:cs typeface="Times New Roman"/>
              </a:rPr>
              <a:t>faut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utiliser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l’opérateur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DEREF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énoncé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pour </a:t>
            </a:r>
            <a:r>
              <a:rPr sz="1200" dirty="0">
                <a:latin typeface="Times New Roman"/>
                <a:cs typeface="Times New Roman"/>
              </a:rPr>
              <a:t>obtenir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copie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l’objet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pointé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PL/SQL </a:t>
            </a:r>
            <a:r>
              <a:rPr sz="1200" dirty="0">
                <a:latin typeface="Times New Roman"/>
                <a:cs typeface="Times New Roman"/>
              </a:rPr>
              <a:t>locale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vB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typée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TDU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l’objet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vA).</a:t>
            </a:r>
            <a:endParaRPr sz="1200">
              <a:latin typeface="Times New Roman"/>
              <a:cs typeface="Times New Roman"/>
            </a:endParaRPr>
          </a:p>
          <a:p>
            <a:pPr marL="496570">
              <a:lnSpc>
                <a:spcPts val="1195"/>
              </a:lnSpc>
            </a:pPr>
            <a:r>
              <a:rPr sz="1000" dirty="0">
                <a:latin typeface="Times New Roman"/>
                <a:cs typeface="Times New Roman"/>
              </a:rPr>
              <a:t>–</a:t>
            </a:r>
            <a:r>
              <a:rPr sz="1000" spc="3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SELECT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DEREF(vA.toB)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INTO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vB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FROM</a:t>
            </a:r>
            <a:r>
              <a:rPr sz="1000" spc="-10" dirty="0">
                <a:latin typeface="Times New Roman"/>
                <a:cs typeface="Times New Roman"/>
              </a:rPr>
              <a:t> dual;</a:t>
            </a:r>
            <a:endParaRPr sz="1000">
              <a:latin typeface="Times New Roman"/>
              <a:cs typeface="Times New Roman"/>
            </a:endParaRPr>
          </a:p>
          <a:p>
            <a:pPr marL="439420" marR="418465" indent="-171450" algn="just">
              <a:lnSpc>
                <a:spcPts val="1150"/>
              </a:lnSpc>
              <a:spcBef>
                <a:spcPts val="280"/>
              </a:spcBef>
              <a:buChar char="•"/>
              <a:tabLst>
                <a:tab pos="440055" algn="l"/>
              </a:tabLst>
            </a:pPr>
            <a:r>
              <a:rPr sz="1200" dirty="0">
                <a:latin typeface="Times New Roman"/>
                <a:cs typeface="Times New Roman"/>
              </a:rPr>
              <a:t>Autrement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s’applique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directement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instance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TDU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objet</a:t>
            </a:r>
            <a:r>
              <a:rPr sz="1200" spc="-10" dirty="0">
                <a:latin typeface="Times New Roman"/>
                <a:cs typeface="Times New Roman"/>
              </a:rPr>
              <a:t> tenue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locale.</a:t>
            </a:r>
            <a:endParaRPr sz="1200">
              <a:latin typeface="Times New Roman"/>
              <a:cs typeface="Times New Roman"/>
            </a:endParaRPr>
          </a:p>
          <a:p>
            <a:pPr marL="439420" marR="428625" indent="-171450">
              <a:lnSpc>
                <a:spcPct val="80000"/>
              </a:lnSpc>
              <a:spcBef>
                <a:spcPts val="295"/>
              </a:spcBef>
              <a:buChar char="•"/>
              <a:tabLst>
                <a:tab pos="440055" algn="l"/>
              </a:tabLst>
            </a:pP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façon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plus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générale,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impossible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naviguer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la </a:t>
            </a:r>
            <a:r>
              <a:rPr sz="1200" dirty="0">
                <a:latin typeface="Times New Roman"/>
                <a:cs typeface="Times New Roman"/>
              </a:rPr>
              <a:t>base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données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PL/SQL.</a:t>
            </a:r>
            <a:endParaRPr sz="1200">
              <a:latin typeface="Times New Roman"/>
              <a:cs typeface="Times New Roman"/>
            </a:endParaRPr>
          </a:p>
          <a:p>
            <a:pPr marL="439420" marR="668655" indent="-171450">
              <a:lnSpc>
                <a:spcPct val="79600"/>
              </a:lnSpc>
              <a:spcBef>
                <a:spcPts val="295"/>
              </a:spcBef>
              <a:buChar char="•"/>
              <a:tabLst>
                <a:tab pos="440055" algn="l"/>
              </a:tabLst>
            </a:pP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DEREF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utilisé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un </a:t>
            </a:r>
            <a:r>
              <a:rPr sz="1200" dirty="0">
                <a:latin typeface="Times New Roman"/>
                <a:cs typeface="Times New Roman"/>
              </a:rPr>
              <a:t>énoncé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PL/SQL.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latin typeface="Times New Roman"/>
                <a:cs typeface="Times New Roman"/>
              </a:rPr>
              <a:t>Aspects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objet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553720" marR="506730" indent="-171450">
              <a:lnSpc>
                <a:spcPct val="800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n’est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permis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définir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TDU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bloc </a:t>
            </a:r>
            <a:r>
              <a:rPr sz="1200" dirty="0">
                <a:latin typeface="Times New Roman"/>
                <a:cs typeface="Times New Roman"/>
              </a:rPr>
              <a:t>anonyme,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sous-</a:t>
            </a:r>
            <a:r>
              <a:rPr sz="1200" dirty="0">
                <a:latin typeface="Times New Roman"/>
                <a:cs typeface="Times New Roman"/>
              </a:rPr>
              <a:t>programme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paquetage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PL/SQL.</a:t>
            </a:r>
            <a:endParaRPr sz="1200">
              <a:latin typeface="Times New Roman"/>
              <a:cs typeface="Times New Roman"/>
            </a:endParaRPr>
          </a:p>
          <a:p>
            <a:pPr marL="553720" marR="391160" indent="-171450">
              <a:lnSpc>
                <a:spcPts val="1150"/>
              </a:lnSpc>
              <a:spcBef>
                <a:spcPts val="27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définition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TDU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l’aide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l’énoncé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souvent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exécuté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avec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SQL*PLUS.</a:t>
            </a:r>
            <a:endParaRPr sz="1200">
              <a:latin typeface="Times New Roman"/>
              <a:cs typeface="Times New Roman"/>
            </a:endParaRPr>
          </a:p>
          <a:p>
            <a:pPr marL="553720" marR="676910" indent="-171450">
              <a:lnSpc>
                <a:spcPts val="115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réalisation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toutes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méthodes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TDU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fait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contexte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énoncé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TYPE </a:t>
            </a:r>
            <a:r>
              <a:rPr sz="1200" dirty="0">
                <a:latin typeface="Times New Roman"/>
                <a:cs typeface="Times New Roman"/>
              </a:rPr>
              <a:t>BODY,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souvent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exécuté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avec</a:t>
            </a:r>
            <a:r>
              <a:rPr sz="1200" spc="-10" dirty="0">
                <a:latin typeface="Times New Roman"/>
                <a:cs typeface="Times New Roman"/>
              </a:rPr>
              <a:t> SQL*PLUS.</a:t>
            </a:r>
            <a:endParaRPr sz="1200">
              <a:latin typeface="Times New Roman"/>
              <a:cs typeface="Times New Roman"/>
            </a:endParaRPr>
          </a:p>
          <a:p>
            <a:pPr marL="553720" marR="497840" indent="-171450">
              <a:lnSpc>
                <a:spcPts val="115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méthode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TDU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écrite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PL/SQL,</a:t>
            </a:r>
            <a:r>
              <a:rPr sz="1200" spc="-20" dirty="0">
                <a:latin typeface="Times New Roman"/>
                <a:cs typeface="Times New Roman"/>
              </a:rPr>
              <a:t> Java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C.</a:t>
            </a:r>
            <a:endParaRPr sz="1200">
              <a:latin typeface="Times New Roman"/>
              <a:cs typeface="Times New Roman"/>
            </a:endParaRPr>
          </a:p>
          <a:p>
            <a:pPr marL="553720" marR="415290" indent="-171450">
              <a:lnSpc>
                <a:spcPct val="79900"/>
              </a:lnSpc>
              <a:spcBef>
                <a:spcPts val="30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méthode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écrite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faut</a:t>
            </a:r>
            <a:r>
              <a:rPr sz="1200" spc="-10" dirty="0">
                <a:latin typeface="Times New Roman"/>
                <a:cs typeface="Times New Roman"/>
              </a:rPr>
              <a:t> introduire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dictionnaire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données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requises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l’appeler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spécification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d’appel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dans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(BODY).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latin typeface="Times New Roman"/>
                <a:cs typeface="Times New Roman"/>
              </a:rPr>
              <a:t>Aspects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objet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553085" indent="-172085">
              <a:lnSpc>
                <a:spcPct val="100000"/>
              </a:lnSpc>
              <a:buChar char="•"/>
              <a:tabLst>
                <a:tab pos="553720" algn="l"/>
              </a:tabLst>
            </a:pP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permet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surcharger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0" dirty="0">
                <a:latin typeface="Times New Roman"/>
                <a:cs typeface="Times New Roman"/>
              </a:rPr>
              <a:t> opérateurs.</a:t>
            </a:r>
            <a:endParaRPr sz="1200">
              <a:latin typeface="Times New Roman"/>
              <a:cs typeface="Times New Roman"/>
            </a:endParaRPr>
          </a:p>
          <a:p>
            <a:pPr marL="553085" marR="591820" indent="-171450">
              <a:lnSpc>
                <a:spcPct val="89800"/>
              </a:lnSpc>
              <a:spcBef>
                <a:spcPts val="290"/>
              </a:spcBef>
              <a:buChar char="•"/>
              <a:tabLst>
                <a:tab pos="553720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TDU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existant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utilisé pour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typer un </a:t>
            </a:r>
            <a:r>
              <a:rPr sz="1200" spc="-10" dirty="0">
                <a:latin typeface="Times New Roman"/>
                <a:cs typeface="Times New Roman"/>
              </a:rPr>
              <a:t>élément </a:t>
            </a:r>
            <a:r>
              <a:rPr sz="1200" dirty="0">
                <a:latin typeface="Times New Roman"/>
                <a:cs typeface="Times New Roman"/>
              </a:rPr>
              <a:t>(une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ex.)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 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bloc, un </a:t>
            </a:r>
            <a:r>
              <a:rPr sz="1200" spc="-10" dirty="0">
                <a:latin typeface="Times New Roman"/>
                <a:cs typeface="Times New Roman"/>
              </a:rPr>
              <a:t>sous- </a:t>
            </a:r>
            <a:r>
              <a:rPr sz="1200" dirty="0">
                <a:latin typeface="Times New Roman"/>
                <a:cs typeface="Times New Roman"/>
              </a:rPr>
              <a:t>programme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paquetage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PL/SQL.</a:t>
            </a:r>
            <a:endParaRPr sz="1200">
              <a:latin typeface="Times New Roman"/>
              <a:cs typeface="Times New Roman"/>
            </a:endParaRPr>
          </a:p>
          <a:p>
            <a:pPr marL="553085" marR="572135" indent="-171450">
              <a:lnSpc>
                <a:spcPts val="1300"/>
              </a:lnSpc>
              <a:spcBef>
                <a:spcPts val="300"/>
              </a:spcBef>
              <a:buChar char="•"/>
              <a:tabLst>
                <a:tab pos="553720" algn="l"/>
              </a:tabLst>
            </a:pP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constructeur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TDU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utilisé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initialiser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une </a:t>
            </a:r>
            <a:r>
              <a:rPr sz="1200" dirty="0">
                <a:latin typeface="Times New Roman"/>
                <a:cs typeface="Times New Roman"/>
              </a:rPr>
              <a:t>instance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TDU.</a:t>
            </a:r>
            <a:endParaRPr sz="1200">
              <a:latin typeface="Times New Roman"/>
              <a:cs typeface="Times New Roman"/>
            </a:endParaRPr>
          </a:p>
          <a:p>
            <a:pPr marL="553085" marR="565785" indent="-171450">
              <a:lnSpc>
                <a:spcPts val="1290"/>
              </a:lnSpc>
              <a:spcBef>
                <a:spcPts val="285"/>
              </a:spcBef>
              <a:buChar char="•"/>
              <a:tabLst>
                <a:tab pos="553720" algn="l"/>
              </a:tabLst>
            </a:pP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constructeur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implicite,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faut</a:t>
            </a:r>
            <a:r>
              <a:rPr sz="1200" spc="-10" dirty="0">
                <a:latin typeface="Times New Roman"/>
                <a:cs typeface="Times New Roman"/>
              </a:rPr>
              <a:t> fournir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valeur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explicite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chacun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attributs.</a:t>
            </a:r>
            <a:endParaRPr sz="1200">
              <a:latin typeface="Times New Roman"/>
              <a:cs typeface="Times New Roman"/>
            </a:endParaRPr>
          </a:p>
          <a:p>
            <a:pPr marL="553085" marR="430530" indent="-171450">
              <a:lnSpc>
                <a:spcPts val="1290"/>
              </a:lnSpc>
              <a:spcBef>
                <a:spcPts val="295"/>
              </a:spcBef>
              <a:buChar char="•"/>
              <a:tabLst>
                <a:tab pos="553720" algn="l"/>
              </a:tabLst>
            </a:pP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instance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initialisée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TDU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NULL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façon </a:t>
            </a:r>
            <a:r>
              <a:rPr sz="1200" dirty="0">
                <a:latin typeface="Times New Roman"/>
                <a:cs typeface="Times New Roman"/>
              </a:rPr>
              <a:t>atomique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(dans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son</a:t>
            </a:r>
            <a:r>
              <a:rPr sz="1200" spc="-10" dirty="0">
                <a:latin typeface="Times New Roman"/>
                <a:cs typeface="Times New Roman"/>
              </a:rPr>
              <a:t> entier).</a:t>
            </a:r>
            <a:endParaRPr sz="1200">
              <a:latin typeface="Times New Roman"/>
              <a:cs typeface="Times New Roman"/>
            </a:endParaRPr>
          </a:p>
          <a:p>
            <a:pPr marL="553085" indent="-172085">
              <a:lnSpc>
                <a:spcPct val="100000"/>
              </a:lnSpc>
              <a:spcBef>
                <a:spcPts val="125"/>
              </a:spcBef>
              <a:buChar char="•"/>
              <a:tabLst>
                <a:tab pos="553720" algn="l"/>
              </a:tabLst>
            </a:pP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s’évaluent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tous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NULL.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latin typeface="Times New Roman"/>
                <a:cs typeface="Times New Roman"/>
              </a:rPr>
              <a:t>Aspects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objet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553720" marR="713105" indent="-171450">
              <a:lnSpc>
                <a:spcPts val="129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prédicat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NULL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permet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vérifier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élément </a:t>
            </a:r>
            <a:r>
              <a:rPr sz="1200" dirty="0">
                <a:latin typeface="Times New Roman"/>
                <a:cs typeface="Times New Roman"/>
              </a:rPr>
              <a:t>PL/SQL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10" dirty="0">
                <a:latin typeface="Times New Roman"/>
                <a:cs typeface="Times New Roman"/>
              </a:rPr>
              <a:t> NULL.</a:t>
            </a:r>
            <a:endParaRPr sz="1200">
              <a:latin typeface="Times New Roman"/>
              <a:cs typeface="Times New Roman"/>
            </a:endParaRPr>
          </a:p>
          <a:p>
            <a:pPr marL="553720" marR="845185" indent="-171450">
              <a:lnSpc>
                <a:spcPts val="130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Affecter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valeur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NULL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donne </a:t>
            </a:r>
            <a:r>
              <a:rPr sz="1200" dirty="0">
                <a:latin typeface="Times New Roman"/>
                <a:cs typeface="Times New Roman"/>
              </a:rPr>
              <a:t>naissance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exception</a:t>
            </a:r>
            <a:r>
              <a:rPr sz="1200" spc="-10" dirty="0">
                <a:latin typeface="Times New Roman"/>
                <a:cs typeface="Times New Roman"/>
              </a:rPr>
              <a:t> ACCESS_INTO_NULL.</a:t>
            </a:r>
            <a:endParaRPr sz="1200">
              <a:latin typeface="Times New Roman"/>
              <a:cs typeface="Times New Roman"/>
            </a:endParaRPr>
          </a:p>
          <a:p>
            <a:pPr marL="553720" marR="685165" indent="-171450">
              <a:lnSpc>
                <a:spcPts val="1300"/>
              </a:lnSpc>
              <a:spcBef>
                <a:spcPts val="27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méthode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destiné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NULL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donne </a:t>
            </a:r>
            <a:r>
              <a:rPr sz="1200" dirty="0">
                <a:latin typeface="Times New Roman"/>
                <a:cs typeface="Times New Roman"/>
              </a:rPr>
              <a:t>naissance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exception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NULL_SELF_DISPATCH.</a:t>
            </a:r>
            <a:endParaRPr sz="1200">
              <a:latin typeface="Times New Roman"/>
              <a:cs typeface="Times New Roman"/>
            </a:endParaRPr>
          </a:p>
          <a:p>
            <a:pPr marL="553720" marR="638175" indent="-171450">
              <a:lnSpc>
                <a:spcPts val="1300"/>
              </a:lnSpc>
              <a:spcBef>
                <a:spcPts val="27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pointée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utilisée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accéder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valeur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instance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TDU.</a:t>
            </a:r>
            <a:endParaRPr sz="1200">
              <a:latin typeface="Times New Roman"/>
              <a:cs typeface="Times New Roman"/>
            </a:endParaRPr>
          </a:p>
          <a:p>
            <a:pPr marL="553720" marR="475615" indent="-171450">
              <a:lnSpc>
                <a:spcPct val="89800"/>
              </a:lnSpc>
              <a:spcBef>
                <a:spcPts val="26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noms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d’attributs peuvent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enchaînés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la </a:t>
            </a:r>
            <a:r>
              <a:rPr sz="1200" dirty="0">
                <a:latin typeface="Times New Roman"/>
                <a:cs typeface="Times New Roman"/>
              </a:rPr>
              <a:t>notation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pointée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accéder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aux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instance </a:t>
            </a:r>
            <a:r>
              <a:rPr sz="1200" dirty="0">
                <a:latin typeface="Times New Roman"/>
                <a:cs typeface="Times New Roman"/>
              </a:rPr>
              <a:t>de TDU </a:t>
            </a:r>
            <a:r>
              <a:rPr sz="1200" spc="-10" dirty="0">
                <a:latin typeface="Times New Roman"/>
                <a:cs typeface="Times New Roman"/>
              </a:rPr>
              <a:t>imbriquée.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latin typeface="Times New Roman"/>
                <a:cs typeface="Times New Roman"/>
              </a:rPr>
              <a:t>Aspects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objet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553720" marR="452120" indent="-171450">
              <a:lnSpc>
                <a:spcPct val="800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méthodes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peuvent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être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appelées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l’aide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notation pointée.</a:t>
            </a:r>
            <a:endParaRPr sz="1200">
              <a:latin typeface="Times New Roman"/>
              <a:cs typeface="Times New Roman"/>
            </a:endParaRPr>
          </a:p>
          <a:p>
            <a:pPr marL="553720" marR="564515" indent="-171450">
              <a:lnSpc>
                <a:spcPts val="1150"/>
              </a:lnSpc>
              <a:spcBef>
                <a:spcPts val="27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appels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méthodes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natation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pointée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peuvent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être </a:t>
            </a:r>
            <a:r>
              <a:rPr sz="1200" spc="-10" dirty="0">
                <a:latin typeface="Times New Roman"/>
                <a:cs typeface="Times New Roman"/>
              </a:rPr>
              <a:t>chaînés</a:t>
            </a:r>
            <a:endParaRPr sz="1200">
              <a:latin typeface="Times New Roman"/>
              <a:cs typeface="Times New Roman"/>
            </a:endParaRPr>
          </a:p>
          <a:p>
            <a:pPr marL="553720" marR="721360" indent="-171450">
              <a:lnSpc>
                <a:spcPts val="1150"/>
              </a:lnSpc>
              <a:spcBef>
                <a:spcPts val="28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énoncés SQL,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appels à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méthode </a:t>
            </a:r>
            <a:r>
              <a:rPr sz="1200" spc="-20" dirty="0">
                <a:latin typeface="Times New Roman"/>
                <a:cs typeface="Times New Roman"/>
              </a:rPr>
              <a:t>sans </a:t>
            </a:r>
            <a:r>
              <a:rPr sz="1200" dirty="0">
                <a:latin typeface="Times New Roman"/>
                <a:cs typeface="Times New Roman"/>
              </a:rPr>
              <a:t>paramètre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doivent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contenir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).</a:t>
            </a:r>
            <a:endParaRPr sz="1200">
              <a:latin typeface="Times New Roman"/>
              <a:cs typeface="Times New Roman"/>
            </a:endParaRPr>
          </a:p>
          <a:p>
            <a:pPr marL="553720" marR="412115" indent="-171450">
              <a:lnSpc>
                <a:spcPct val="79600"/>
              </a:lnSpc>
              <a:spcBef>
                <a:spcPts val="305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même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restriction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s’applique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aux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appels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chaînés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un </a:t>
            </a:r>
            <a:r>
              <a:rPr sz="1200" dirty="0">
                <a:latin typeface="Times New Roman"/>
                <a:cs typeface="Times New Roman"/>
              </a:rPr>
              <a:t>énoncé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sauf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dernier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0" dirty="0">
                <a:latin typeface="Times New Roman"/>
                <a:cs typeface="Times New Roman"/>
              </a:rPr>
              <a:t> chaîne.</a:t>
            </a:r>
            <a:endParaRPr sz="1200">
              <a:latin typeface="Times New Roman"/>
              <a:cs typeface="Times New Roman"/>
            </a:endParaRPr>
          </a:p>
          <a:p>
            <a:pPr marL="553720" marR="564515" indent="-171450">
              <a:lnSpc>
                <a:spcPct val="79800"/>
              </a:lnSpc>
              <a:spcBef>
                <a:spcPts val="29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Après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procédure,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chaîne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d’appels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de </a:t>
            </a:r>
            <a:r>
              <a:rPr sz="1200" dirty="0">
                <a:latin typeface="Times New Roman"/>
                <a:cs typeface="Times New Roman"/>
              </a:rPr>
              <a:t>méthodes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terminer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procédure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</a:t>
            </a:r>
            <a:r>
              <a:rPr sz="1200" spc="-10" dirty="0">
                <a:latin typeface="Times New Roman"/>
                <a:cs typeface="Times New Roman"/>
              </a:rPr>
              <a:t> retourne </a:t>
            </a:r>
            <a:r>
              <a:rPr sz="1200" dirty="0">
                <a:latin typeface="Times New Roman"/>
                <a:cs typeface="Times New Roman"/>
              </a:rPr>
              <a:t>aucun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effectuer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méthode </a:t>
            </a:r>
            <a:r>
              <a:rPr sz="1200" spc="-10" dirty="0">
                <a:latin typeface="Times New Roman"/>
                <a:cs typeface="Times New Roman"/>
              </a:rPr>
              <a:t>subséquente.</a:t>
            </a:r>
            <a:endParaRPr sz="1200">
              <a:latin typeface="Times New Roman"/>
              <a:cs typeface="Times New Roman"/>
            </a:endParaRPr>
          </a:p>
          <a:p>
            <a:pPr marL="553720" indent="-172085">
              <a:lnSpc>
                <a:spcPct val="1000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prédicat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DANGLING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vérifie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l’état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REF.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latin typeface="Times New Roman"/>
                <a:cs typeface="Times New Roman"/>
              </a:rPr>
              <a:t>Aspects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objet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Times New Roman"/>
              <a:cs typeface="Times New Roman"/>
            </a:endParaRPr>
          </a:p>
          <a:p>
            <a:pPr marL="553720" marR="377825" indent="-171450">
              <a:lnSpc>
                <a:spcPct val="89900"/>
              </a:lnSpc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L’opérateur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accepter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alias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table</a:t>
            </a:r>
            <a:r>
              <a:rPr sz="1200" spc="5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argument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chercher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travers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valeur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faisant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copie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dernier)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affecter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typée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TDU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objet</a:t>
            </a:r>
            <a:r>
              <a:rPr sz="1200" spc="-10" dirty="0">
                <a:latin typeface="Times New Roman"/>
                <a:cs typeface="Times New Roman"/>
              </a:rPr>
              <a:t> associé.</a:t>
            </a:r>
            <a:endParaRPr sz="1200">
              <a:latin typeface="Times New Roman"/>
              <a:cs typeface="Times New Roman"/>
            </a:endParaRPr>
          </a:p>
          <a:p>
            <a:pPr marL="553720" marR="440055" indent="-171450">
              <a:lnSpc>
                <a:spcPts val="1300"/>
              </a:lnSpc>
              <a:spcBef>
                <a:spcPts val="30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L’opérateur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fonctionne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avec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la </a:t>
            </a:r>
            <a:r>
              <a:rPr sz="1200" dirty="0">
                <a:latin typeface="Times New Roman"/>
                <a:cs typeface="Times New Roman"/>
              </a:rPr>
              <a:t>référence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place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valeur.</a:t>
            </a:r>
            <a:endParaRPr sz="1200">
              <a:latin typeface="Times New Roman"/>
              <a:cs typeface="Times New Roman"/>
            </a:endParaRPr>
          </a:p>
          <a:p>
            <a:pPr marL="553720" marR="414655" indent="-171450">
              <a:lnSpc>
                <a:spcPts val="1300"/>
              </a:lnSpc>
              <a:spcBef>
                <a:spcPts val="27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L’opérateur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retourne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seulement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sont </a:t>
            </a:r>
            <a:r>
              <a:rPr sz="1200" dirty="0">
                <a:latin typeface="Times New Roman"/>
                <a:cs typeface="Times New Roman"/>
              </a:rPr>
              <a:t>d’un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sous-</a:t>
            </a:r>
            <a:r>
              <a:rPr sz="1200" dirty="0">
                <a:latin typeface="Times New Roman"/>
                <a:cs typeface="Times New Roman"/>
              </a:rPr>
              <a:t>type </a:t>
            </a:r>
            <a:r>
              <a:rPr sz="1200" spc="-10" dirty="0">
                <a:latin typeface="Times New Roman"/>
                <a:cs typeface="Times New Roman"/>
              </a:rPr>
              <a:t>spécifié.</a:t>
            </a:r>
            <a:endParaRPr sz="1200">
              <a:latin typeface="Times New Roman"/>
              <a:cs typeface="Times New Roman"/>
            </a:endParaRPr>
          </a:p>
          <a:p>
            <a:pPr marL="553720" marR="443230" indent="-171450">
              <a:lnSpc>
                <a:spcPct val="89800"/>
              </a:lnSpc>
              <a:spcBef>
                <a:spcPts val="270"/>
              </a:spcBef>
              <a:buChar char="•"/>
              <a:tabLst>
                <a:tab pos="554355" algn="l"/>
              </a:tabLst>
            </a:pPr>
            <a:r>
              <a:rPr sz="1200" dirty="0">
                <a:latin typeface="Times New Roman"/>
                <a:cs typeface="Times New Roman"/>
              </a:rPr>
              <a:t>Pour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obtenir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erreurs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compilation des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méthodes </a:t>
            </a:r>
            <a:r>
              <a:rPr sz="1200" spc="-20" dirty="0">
                <a:latin typeface="Times New Roman"/>
                <a:cs typeface="Times New Roman"/>
              </a:rPr>
              <a:t>d’un </a:t>
            </a:r>
            <a:r>
              <a:rPr sz="1200" dirty="0">
                <a:latin typeface="Times New Roman"/>
                <a:cs typeface="Times New Roman"/>
              </a:rPr>
              <a:t>TDU,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faut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utiliser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commande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« show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errors » </a:t>
            </a:r>
            <a:r>
              <a:rPr sz="1200" spc="-25" dirty="0">
                <a:latin typeface="Times New Roman"/>
                <a:cs typeface="Times New Roman"/>
              </a:rPr>
              <a:t>de </a:t>
            </a:r>
            <a:r>
              <a:rPr sz="1200" spc="-10" dirty="0">
                <a:latin typeface="Times New Roman"/>
                <a:cs typeface="Times New Roman"/>
              </a:rPr>
              <a:t>SQL*PLUS.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4601</Words>
  <Application>Microsoft Office PowerPoint</Application>
  <PresentationFormat>Affichage à l'écran (4:3)</PresentationFormat>
  <Paragraphs>439</Paragraphs>
  <Slides>28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29" baseType="lpstr">
      <vt:lpstr>Office Theme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plsql.ppt</dc:title>
  <dc:creator>hoang</dc:creator>
  <cp:lastModifiedBy>user</cp:lastModifiedBy>
  <cp:revision>1</cp:revision>
  <dcterms:created xsi:type="dcterms:W3CDTF">2024-12-01T12:41:16Z</dcterms:created>
  <dcterms:modified xsi:type="dcterms:W3CDTF">2024-12-01T12:41:55Z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2004-10-31T00:00:00Z</vt:filetime>
  </property>
  <property fmtid="{D5CDD505-2E9C-101B-9397-08002B2CF9AE}" pid="3" name="Creator">
    <vt:lpwstr>PScript5.dll Version 5.2</vt:lpwstr>
  </property>
  <property fmtid="{D5CDD505-2E9C-101B-9397-08002B2CF9AE}" pid="4" name="LastSaved">
    <vt:filetime>2024-12-01T00:00:00Z</vt:filetime>
  </property>
  <property fmtid="{D5CDD505-2E9C-101B-9397-08002B2CF9AE}" pid="5" name="Producer">
    <vt:lpwstr>Acrobat Distiller 5.0 (Windows)</vt:lpwstr>
  </property>
</Properties>
</file>